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19"/>
  </p:notesMasterIdLst>
  <p:sldIdLst>
    <p:sldId id="256" r:id="rId2"/>
    <p:sldId id="257" r:id="rId3"/>
    <p:sldId id="258" r:id="rId4"/>
    <p:sldId id="274" r:id="rId5"/>
    <p:sldId id="277" r:id="rId6"/>
    <p:sldId id="259" r:id="rId7"/>
    <p:sldId id="279" r:id="rId8"/>
    <p:sldId id="260" r:id="rId9"/>
    <p:sldId id="281" r:id="rId10"/>
    <p:sldId id="284" r:id="rId11"/>
    <p:sldId id="282" r:id="rId12"/>
    <p:sldId id="285" r:id="rId13"/>
    <p:sldId id="286" r:id="rId14"/>
    <p:sldId id="287" r:id="rId15"/>
    <p:sldId id="262" r:id="rId16"/>
    <p:sldId id="289" r:id="rId17"/>
    <p:sldId id="290"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4660"/>
  </p:normalViewPr>
  <p:slideViewPr>
    <p:cSldViewPr snapToGrid="0">
      <p:cViewPr varScale="1">
        <p:scale>
          <a:sx n="75" d="100"/>
          <a:sy n="75" d="100"/>
        </p:scale>
        <p:origin x="1056"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51632E-8D02-4620-B640-0E5392B2D29D}" type="datetimeFigureOut">
              <a:rPr lang="en-US" smtClean="0"/>
              <a:t>2/11/2025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A1F6BF-FCE0-4F4F-9A9A-6BAA82E7620E}" type="slidenum">
              <a:rPr lang="en-US" smtClean="0"/>
              <a:t>‹#›</a:t>
            </a:fld>
            <a:endParaRPr lang="en-US"/>
          </a:p>
        </p:txBody>
      </p:sp>
    </p:spTree>
    <p:extLst>
      <p:ext uri="{BB962C8B-B14F-4D97-AF65-F5344CB8AC3E}">
        <p14:creationId xmlns:p14="http://schemas.microsoft.com/office/powerpoint/2010/main" val="2338623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A1F6BF-FCE0-4F4F-9A9A-6BAA82E7620E}" type="slidenum">
              <a:rPr lang="en-US" smtClean="0"/>
              <a:t>6</a:t>
            </a:fld>
            <a:endParaRPr lang="en-US"/>
          </a:p>
        </p:txBody>
      </p:sp>
    </p:spTree>
    <p:extLst>
      <p:ext uri="{BB962C8B-B14F-4D97-AF65-F5344CB8AC3E}">
        <p14:creationId xmlns:p14="http://schemas.microsoft.com/office/powerpoint/2010/main" val="6955703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6093278F-8813-49B7-A2E4-9FE0EF4652B5}" type="datetimeFigureOut">
              <a:rPr lang="en-US" smtClean="0"/>
              <a:t>2/11/2025</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29B7BB17-FEA6-434E-9EDB-AA168B6F12E1}"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516973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93278F-8813-49B7-A2E4-9FE0EF4652B5}"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B7BB17-FEA6-434E-9EDB-AA168B6F12E1}" type="slidenum">
              <a:rPr lang="en-US" smtClean="0"/>
              <a:t>‹#›</a:t>
            </a:fld>
            <a:endParaRPr lang="en-US"/>
          </a:p>
        </p:txBody>
      </p:sp>
    </p:spTree>
    <p:extLst>
      <p:ext uri="{BB962C8B-B14F-4D97-AF65-F5344CB8AC3E}">
        <p14:creationId xmlns:p14="http://schemas.microsoft.com/office/powerpoint/2010/main" val="929202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93278F-8813-49B7-A2E4-9FE0EF4652B5}"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B7BB17-FEA6-434E-9EDB-AA168B6F12E1}"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7372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093278F-8813-49B7-A2E4-9FE0EF4652B5}" type="datetimeFigureOut">
              <a:rPr lang="en-US" smtClean="0"/>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B7BB17-FEA6-434E-9EDB-AA168B6F12E1}" type="slidenum">
              <a:rPr lang="en-US" smtClean="0"/>
              <a:t>‹#›</a:t>
            </a:fld>
            <a:endParaRPr lang="en-US"/>
          </a:p>
        </p:txBody>
      </p:sp>
    </p:spTree>
    <p:extLst>
      <p:ext uri="{BB962C8B-B14F-4D97-AF65-F5344CB8AC3E}">
        <p14:creationId xmlns:p14="http://schemas.microsoft.com/office/powerpoint/2010/main" val="2827657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093278F-8813-49B7-A2E4-9FE0EF4652B5}" type="datetimeFigureOut">
              <a:rPr lang="en-US" smtClean="0"/>
              <a:t>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B7BB17-FEA6-434E-9EDB-AA168B6F12E1}"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2380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093278F-8813-49B7-A2E4-9FE0EF4652B5}" type="datetimeFigureOut">
              <a:rPr lang="en-US" smtClean="0"/>
              <a:t>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B7BB17-FEA6-434E-9EDB-AA168B6F12E1}"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911116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93278F-8813-49B7-A2E4-9FE0EF4652B5}" type="datetimeFigureOut">
              <a:rPr lang="en-US" smtClean="0"/>
              <a:t>2/11/2025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B7BB17-FEA6-434E-9EDB-AA168B6F12E1}" type="slidenum">
              <a:rPr lang="en-US" smtClean="0"/>
              <a:t>‹#›</a:t>
            </a:fld>
            <a:endParaRPr lang="en-US"/>
          </a:p>
        </p:txBody>
      </p:sp>
    </p:spTree>
    <p:extLst>
      <p:ext uri="{BB962C8B-B14F-4D97-AF65-F5344CB8AC3E}">
        <p14:creationId xmlns:p14="http://schemas.microsoft.com/office/powerpoint/2010/main" val="166679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93278F-8813-49B7-A2E4-9FE0EF4652B5}" type="datetimeFigureOut">
              <a:rPr lang="en-US" smtClean="0"/>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B7BB17-FEA6-434E-9EDB-AA168B6F12E1}"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12151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93278F-8813-49B7-A2E4-9FE0EF4652B5}" type="datetimeFigureOut">
              <a:rPr lang="en-US" smtClean="0"/>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B7BB17-FEA6-434E-9EDB-AA168B6F12E1}" type="slidenum">
              <a:rPr lang="en-US" smtClean="0"/>
              <a:t>‹#›</a:t>
            </a:fld>
            <a:endParaRPr lang="en-US"/>
          </a:p>
        </p:txBody>
      </p:sp>
    </p:spTree>
    <p:extLst>
      <p:ext uri="{BB962C8B-B14F-4D97-AF65-F5344CB8AC3E}">
        <p14:creationId xmlns:p14="http://schemas.microsoft.com/office/powerpoint/2010/main" val="1846335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93278F-8813-49B7-A2E4-9FE0EF4652B5}" type="datetimeFigureOut">
              <a:rPr lang="en-US" smtClean="0"/>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B7BB17-FEA6-434E-9EDB-AA168B6F12E1}" type="slidenum">
              <a:rPr lang="en-US" smtClean="0"/>
              <a:t>‹#›</a:t>
            </a:fld>
            <a:endParaRPr lang="en-US"/>
          </a:p>
        </p:txBody>
      </p:sp>
    </p:spTree>
    <p:extLst>
      <p:ext uri="{BB962C8B-B14F-4D97-AF65-F5344CB8AC3E}">
        <p14:creationId xmlns:p14="http://schemas.microsoft.com/office/powerpoint/2010/main" val="2833787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93278F-8813-49B7-A2E4-9FE0EF4652B5}"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B7BB17-FEA6-434E-9EDB-AA168B6F12E1}"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56398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93278F-8813-49B7-A2E4-9FE0EF4652B5}"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B7BB17-FEA6-434E-9EDB-AA168B6F12E1}"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11248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93278F-8813-49B7-A2E4-9FE0EF4652B5}"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B7BB17-FEA6-434E-9EDB-AA168B6F12E1}" type="slidenum">
              <a:rPr lang="en-US" smtClean="0"/>
              <a:t>‹#›</a:t>
            </a:fld>
            <a:endParaRPr lang="en-US"/>
          </a:p>
        </p:txBody>
      </p:sp>
    </p:spTree>
    <p:extLst>
      <p:ext uri="{BB962C8B-B14F-4D97-AF65-F5344CB8AC3E}">
        <p14:creationId xmlns:p14="http://schemas.microsoft.com/office/powerpoint/2010/main" val="3046705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93278F-8813-49B7-A2E4-9FE0EF4652B5}"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B7BB17-FEA6-434E-9EDB-AA168B6F12E1}"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05470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93278F-8813-49B7-A2E4-9FE0EF4652B5}"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B7BB17-FEA6-434E-9EDB-AA168B6F12E1}"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065738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93278F-8813-49B7-A2E4-9FE0EF4652B5}"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B7BB17-FEA6-434E-9EDB-AA168B6F12E1}"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916615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93278F-8813-49B7-A2E4-9FE0EF4652B5}"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B7BB17-FEA6-434E-9EDB-AA168B6F12E1}"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274656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093278F-8813-49B7-A2E4-9FE0EF4652B5}" type="datetimeFigureOut">
              <a:rPr lang="en-US" smtClean="0"/>
              <a:t>2/11/2025</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9B7BB17-FEA6-434E-9EDB-AA168B6F12E1}" type="slidenum">
              <a:rPr lang="en-US" smtClean="0"/>
              <a:t>‹#›</a:t>
            </a:fld>
            <a:endParaRPr lang="en-US"/>
          </a:p>
        </p:txBody>
      </p:sp>
    </p:spTree>
    <p:extLst>
      <p:ext uri="{BB962C8B-B14F-4D97-AF65-F5344CB8AC3E}">
        <p14:creationId xmlns:p14="http://schemas.microsoft.com/office/powerpoint/2010/main" val="15916444"/>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D2ABF-8A45-298D-FE93-12334B486AC7}"/>
              </a:ext>
            </a:extLst>
          </p:cNvPr>
          <p:cNvSpPr>
            <a:spLocks noGrp="1"/>
          </p:cNvSpPr>
          <p:nvPr>
            <p:ph type="ctrTitle"/>
          </p:nvPr>
        </p:nvSpPr>
        <p:spPr/>
        <p:txBody>
          <a:bodyPr/>
          <a:lstStyle/>
          <a:p>
            <a:r>
              <a:rPr lang="en-US" dirty="0"/>
              <a:t>Technical communication</a:t>
            </a:r>
          </a:p>
        </p:txBody>
      </p:sp>
    </p:spTree>
    <p:extLst>
      <p:ext uri="{BB962C8B-B14F-4D97-AF65-F5344CB8AC3E}">
        <p14:creationId xmlns:p14="http://schemas.microsoft.com/office/powerpoint/2010/main" val="1857295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8D9FCA-F4F6-9239-372D-8FF7727A4F99}"/>
              </a:ext>
            </a:extLst>
          </p:cNvPr>
          <p:cNvSpPr>
            <a:spLocks noGrp="1"/>
          </p:cNvSpPr>
          <p:nvPr>
            <p:ph idx="1"/>
          </p:nvPr>
        </p:nvSpPr>
        <p:spPr>
          <a:xfrm>
            <a:off x="1041892" y="1628631"/>
            <a:ext cx="10697496" cy="5592097"/>
          </a:xfrm>
        </p:spPr>
        <p:txBody>
          <a:bodyPr>
            <a:normAutofit/>
          </a:bodyPr>
          <a:lstStyle/>
          <a:p>
            <a:pPr marL="0" indent="0">
              <a:buNone/>
            </a:pPr>
            <a:r>
              <a:rPr lang="en-US" sz="4400" b="1" dirty="0">
                <a:highlight>
                  <a:srgbClr val="00FFFF"/>
                </a:highlight>
              </a:rPr>
              <a:t>Communicating technical information is not like casual chatting or even writing an essay. It requires a </a:t>
            </a:r>
            <a:r>
              <a:rPr lang="en-US" sz="4400" b="1" dirty="0">
                <a:solidFill>
                  <a:srgbClr val="FF0000"/>
                </a:solidFill>
                <a:highlight>
                  <a:srgbClr val="00FFFF"/>
                </a:highlight>
              </a:rPr>
              <a:t>structured and specialized approach</a:t>
            </a:r>
            <a:r>
              <a:rPr lang="en-US" sz="4400" b="1" dirty="0">
                <a:highlight>
                  <a:srgbClr val="00FFFF"/>
                </a:highlight>
              </a:rPr>
              <a:t>. This is what we call </a:t>
            </a:r>
            <a:r>
              <a:rPr lang="en-US" sz="4400" b="1" i="1" dirty="0">
                <a:highlight>
                  <a:srgbClr val="00FFFF"/>
                </a:highlight>
              </a:rPr>
              <a:t>Technical Communication</a:t>
            </a:r>
            <a:r>
              <a:rPr lang="en-US" sz="4400" b="1" dirty="0">
                <a:highlight>
                  <a:srgbClr val="00FFFF"/>
                </a:highlight>
              </a:rPr>
              <a:t>.</a:t>
            </a:r>
          </a:p>
          <a:p>
            <a:pPr marL="0" indent="0">
              <a:buNone/>
            </a:pPr>
            <a:endParaRPr lang="en-US" sz="4400" dirty="0"/>
          </a:p>
        </p:txBody>
      </p:sp>
    </p:spTree>
    <p:extLst>
      <p:ext uri="{BB962C8B-B14F-4D97-AF65-F5344CB8AC3E}">
        <p14:creationId xmlns:p14="http://schemas.microsoft.com/office/powerpoint/2010/main" val="12738118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C0E991-971B-96EC-4D62-FBF87CF1BDF0}"/>
              </a:ext>
            </a:extLst>
          </p:cNvPr>
          <p:cNvSpPr>
            <a:spLocks noGrp="1"/>
          </p:cNvSpPr>
          <p:nvPr>
            <p:ph idx="1"/>
          </p:nvPr>
        </p:nvSpPr>
        <p:spPr>
          <a:xfrm>
            <a:off x="825910" y="973394"/>
            <a:ext cx="10392697" cy="5572431"/>
          </a:xfrm>
        </p:spPr>
        <p:txBody>
          <a:bodyPr>
            <a:normAutofit/>
          </a:bodyPr>
          <a:lstStyle/>
          <a:p>
            <a:r>
              <a:rPr lang="en-US" b="1" dirty="0"/>
              <a:t>What is Technical Communication?</a:t>
            </a:r>
            <a:r>
              <a:rPr lang="en-US" dirty="0"/>
              <a:t>.</a:t>
            </a:r>
          </a:p>
          <a:p>
            <a:endParaRPr lang="en-US" dirty="0"/>
          </a:p>
          <a:p>
            <a:r>
              <a:rPr lang="en-US" b="1" dirty="0"/>
              <a:t>Definition:</a:t>
            </a:r>
            <a:br>
              <a:rPr lang="en-US" dirty="0"/>
            </a:br>
            <a:r>
              <a:rPr lang="en-US" dirty="0"/>
              <a:t>Technical communication is the process of </a:t>
            </a:r>
            <a:r>
              <a:rPr lang="en-US" b="1" dirty="0"/>
              <a:t>creating, designing, and sharing information</a:t>
            </a:r>
            <a:r>
              <a:rPr lang="en-US" dirty="0"/>
              <a:t> that is clear, concise, and useful </a:t>
            </a:r>
            <a:r>
              <a:rPr lang="en-US" b="1" dirty="0"/>
              <a:t>for a specific audience</a:t>
            </a:r>
            <a:r>
              <a:rPr lang="en-US" dirty="0"/>
              <a:t>.</a:t>
            </a:r>
          </a:p>
          <a:p>
            <a:r>
              <a:rPr lang="en-US" sz="2800" b="1" dirty="0">
                <a:highlight>
                  <a:srgbClr val="00FFFF"/>
                </a:highlight>
              </a:rPr>
              <a:t>1. Technical communication is the study of the targeted audience and then finding out the best way to present the information.</a:t>
            </a:r>
          </a:p>
          <a:p>
            <a:r>
              <a:rPr lang="en-US" sz="2800" b="1" dirty="0">
                <a:highlight>
                  <a:srgbClr val="00FFFF"/>
                </a:highlight>
              </a:rPr>
              <a:t>2. It involves gathering knowledge from experts and customers by conducting interviews, testing their topics, studying existing information and finally reshaping this information, so that the correct audience can access, understand and use it. </a:t>
            </a:r>
          </a:p>
          <a:p>
            <a:endParaRPr lang="en-US" dirty="0"/>
          </a:p>
          <a:p>
            <a:endParaRPr lang="en-US" dirty="0"/>
          </a:p>
        </p:txBody>
      </p:sp>
    </p:spTree>
    <p:extLst>
      <p:ext uri="{BB962C8B-B14F-4D97-AF65-F5344CB8AC3E}">
        <p14:creationId xmlns:p14="http://schemas.microsoft.com/office/powerpoint/2010/main" val="2150960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3A1276-4A9C-15BF-466E-7846EE1081B1}"/>
              </a:ext>
            </a:extLst>
          </p:cNvPr>
          <p:cNvSpPr>
            <a:spLocks noGrp="1"/>
          </p:cNvSpPr>
          <p:nvPr>
            <p:ph idx="1"/>
          </p:nvPr>
        </p:nvSpPr>
        <p:spPr>
          <a:xfrm>
            <a:off x="704235" y="721682"/>
            <a:ext cx="10783529" cy="5577195"/>
          </a:xfrm>
        </p:spPr>
        <p:txBody>
          <a:bodyPr>
            <a:normAutofit/>
          </a:bodyPr>
          <a:lstStyle/>
          <a:p>
            <a:pPr marL="0" indent="0" algn="ctr">
              <a:buNone/>
            </a:pPr>
            <a:r>
              <a:rPr lang="en-US" sz="6000" dirty="0"/>
              <a:t>Features of technical communication are :</a:t>
            </a:r>
          </a:p>
          <a:p>
            <a:pPr marL="571500" indent="-571500">
              <a:buFont typeface="+mj-lt"/>
              <a:buAutoNum type="romanUcPeriod"/>
            </a:pPr>
            <a:r>
              <a:rPr lang="en-US" dirty="0"/>
              <a:t>Technical communication has </a:t>
            </a:r>
            <a:r>
              <a:rPr lang="en-US" b="1" dirty="0" err="1">
                <a:solidFill>
                  <a:srgbClr val="FF0000"/>
                </a:solidFill>
              </a:rPr>
              <a:t>specialised</a:t>
            </a:r>
            <a:r>
              <a:rPr lang="en-US" b="1" dirty="0">
                <a:solidFill>
                  <a:srgbClr val="FF0000"/>
                </a:solidFill>
              </a:rPr>
              <a:t> content </a:t>
            </a:r>
            <a:r>
              <a:rPr lang="en-US" dirty="0"/>
              <a:t>i.e., specific subject matter. However, technical communication is not communication about a specific technical topic, but about any technical topic.</a:t>
            </a:r>
          </a:p>
          <a:p>
            <a:pPr marL="571500" indent="-571500">
              <a:buFont typeface="+mj-lt"/>
              <a:buAutoNum type="romanUcPeriod"/>
            </a:pPr>
            <a:r>
              <a:rPr lang="en-US" dirty="0"/>
              <a:t>In Technical communication the receiver of the information is the audience. Technical communication is the </a:t>
            </a:r>
            <a:r>
              <a:rPr lang="en-US" b="1" dirty="0" err="1">
                <a:solidFill>
                  <a:srgbClr val="FF0000"/>
                </a:solidFill>
              </a:rPr>
              <a:t>delivéry</a:t>
            </a:r>
            <a:r>
              <a:rPr lang="en-US" b="1" dirty="0">
                <a:solidFill>
                  <a:srgbClr val="FF0000"/>
                </a:solidFill>
              </a:rPr>
              <a:t> of technical information to a specific audience in a way which is adopted to the needs, level of understanding and background of the audience.</a:t>
            </a:r>
          </a:p>
          <a:p>
            <a:pPr marL="571500" indent="-571500">
              <a:buFont typeface="+mj-lt"/>
              <a:buAutoNum type="romanUcPeriod"/>
            </a:pPr>
            <a:endParaRPr lang="en-US" dirty="0"/>
          </a:p>
        </p:txBody>
      </p:sp>
    </p:spTree>
    <p:extLst>
      <p:ext uri="{BB962C8B-B14F-4D97-AF65-F5344CB8AC3E}">
        <p14:creationId xmlns:p14="http://schemas.microsoft.com/office/powerpoint/2010/main" val="2133475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F56987-7EE6-1EEE-A0B2-EE085AD0C83E}"/>
              </a:ext>
            </a:extLst>
          </p:cNvPr>
          <p:cNvSpPr txBox="1"/>
          <p:nvPr/>
        </p:nvSpPr>
        <p:spPr>
          <a:xfrm>
            <a:off x="914400" y="1386349"/>
            <a:ext cx="10078065" cy="3416320"/>
          </a:xfrm>
          <a:prstGeom prst="rect">
            <a:avLst/>
          </a:prstGeom>
          <a:noFill/>
        </p:spPr>
        <p:txBody>
          <a:bodyPr wrap="square" rtlCol="0">
            <a:spAutoFit/>
          </a:bodyPr>
          <a:lstStyle/>
          <a:p>
            <a:r>
              <a:rPr lang="en-US" sz="3600" dirty="0"/>
              <a:t>III. Technical communication has the </a:t>
            </a:r>
            <a:r>
              <a:rPr lang="en-US" sz="3600" b="1" dirty="0">
                <a:solidFill>
                  <a:srgbClr val="FF0000"/>
                </a:solidFill>
              </a:rPr>
              <a:t>specific purpose </a:t>
            </a:r>
            <a:r>
              <a:rPr lang="en-US" sz="3600" dirty="0"/>
              <a:t>i.e., it is always purposive.</a:t>
            </a:r>
          </a:p>
          <a:p>
            <a:r>
              <a:rPr lang="en-US" sz="3600" dirty="0"/>
              <a:t>IV. It provides </a:t>
            </a:r>
            <a:r>
              <a:rPr lang="en-US" sz="3600" b="1" dirty="0">
                <a:solidFill>
                  <a:srgbClr val="FF0000"/>
                </a:solidFill>
              </a:rPr>
              <a:t>organized information </a:t>
            </a:r>
            <a:r>
              <a:rPr lang="en-US" sz="3600" dirty="0"/>
              <a:t>that aids in quick decision-making.</a:t>
            </a:r>
          </a:p>
          <a:p>
            <a:r>
              <a:rPr lang="en-US" sz="3600" dirty="0"/>
              <a:t>V. It disseminates knowledge in </a:t>
            </a:r>
            <a:r>
              <a:rPr lang="en-US" sz="3600" b="1" dirty="0">
                <a:solidFill>
                  <a:srgbClr val="FF0000"/>
                </a:solidFill>
              </a:rPr>
              <a:t>oral or written form.</a:t>
            </a:r>
          </a:p>
          <a:p>
            <a:endParaRPr lang="en-US" sz="3600" dirty="0"/>
          </a:p>
        </p:txBody>
      </p:sp>
    </p:spTree>
    <p:extLst>
      <p:ext uri="{BB962C8B-B14F-4D97-AF65-F5344CB8AC3E}">
        <p14:creationId xmlns:p14="http://schemas.microsoft.com/office/powerpoint/2010/main" val="2683029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C49585-B722-751E-C8E8-75D023548809}"/>
              </a:ext>
            </a:extLst>
          </p:cNvPr>
          <p:cNvSpPr>
            <a:spLocks noGrp="1"/>
          </p:cNvSpPr>
          <p:nvPr>
            <p:ph idx="1"/>
          </p:nvPr>
        </p:nvSpPr>
        <p:spPr>
          <a:xfrm>
            <a:off x="953729" y="806243"/>
            <a:ext cx="10284542" cy="5397911"/>
          </a:xfrm>
        </p:spPr>
        <p:txBody>
          <a:bodyPr>
            <a:normAutofit fontScale="70000" lnSpcReduction="20000"/>
          </a:bodyPr>
          <a:lstStyle/>
          <a:p>
            <a:r>
              <a:rPr lang="en-US" sz="4100" b="1" dirty="0"/>
              <a:t>Nature of Technical Communication</a:t>
            </a:r>
          </a:p>
          <a:p>
            <a:pPr marL="0" indent="0">
              <a:buNone/>
            </a:pPr>
            <a:r>
              <a:rPr lang="en-US" sz="4100" dirty="0"/>
              <a:t>The nature of technical communication refers to its fundamental characteristics, which distinguish it from other forms of communication. These are:</a:t>
            </a:r>
          </a:p>
          <a:p>
            <a:pPr>
              <a:buFont typeface="+mj-lt"/>
              <a:buAutoNum type="arabicPeriod"/>
            </a:pPr>
            <a:r>
              <a:rPr lang="en-US" sz="2300" b="1" dirty="0"/>
              <a:t>Purpose-Oriented:</a:t>
            </a:r>
            <a:endParaRPr lang="en-US" sz="2300" dirty="0"/>
          </a:p>
          <a:p>
            <a:pPr marL="742950" lvl="1" indent="-285750">
              <a:buFont typeface="+mj-lt"/>
              <a:buAutoNum type="arabicPeriod"/>
            </a:pPr>
            <a:r>
              <a:rPr lang="en-US" sz="2300" dirty="0"/>
              <a:t>The primary goal of technical communication is to inform, instruct, or persuade the audience to achieve a specific objective.</a:t>
            </a:r>
          </a:p>
          <a:p>
            <a:pPr marL="742950" lvl="1" indent="-285750">
              <a:buFont typeface="+mj-lt"/>
              <a:buAutoNum type="arabicPeriod"/>
            </a:pPr>
            <a:r>
              <a:rPr lang="en-US" sz="2300" dirty="0"/>
              <a:t>For example, a user manual explains how to operate a device, and a project report presents findings to stakeholders.</a:t>
            </a:r>
          </a:p>
          <a:p>
            <a:pPr>
              <a:buFont typeface="+mj-lt"/>
              <a:buAutoNum type="arabicPeriod"/>
            </a:pPr>
            <a:r>
              <a:rPr lang="en-US" sz="2300" b="1" dirty="0"/>
              <a:t>Audience-Centric:</a:t>
            </a:r>
            <a:endParaRPr lang="en-US" sz="2300" dirty="0"/>
          </a:p>
          <a:p>
            <a:pPr marL="742950" lvl="1" indent="-285750">
              <a:buFont typeface="+mj-lt"/>
              <a:buAutoNum type="arabicPeriod"/>
            </a:pPr>
            <a:r>
              <a:rPr lang="en-US" sz="2300" dirty="0"/>
              <a:t>The success of technical communication depends on understanding the audience.</a:t>
            </a:r>
          </a:p>
          <a:p>
            <a:pPr marL="742950" lvl="1" indent="-285750">
              <a:buFont typeface="+mj-lt"/>
              <a:buAutoNum type="arabicPeriod"/>
            </a:pPr>
            <a:r>
              <a:rPr lang="en-US" sz="2300" dirty="0"/>
              <a:t>You must consider their level of expertise, needs, and expectations. For instance, a software manual for beginners uses simpler language than one for advanced users.</a:t>
            </a:r>
          </a:p>
          <a:p>
            <a:pPr>
              <a:buFont typeface="+mj-lt"/>
              <a:buAutoNum type="arabicPeriod"/>
            </a:pPr>
            <a:r>
              <a:rPr lang="en-US" sz="2300" b="1" dirty="0"/>
              <a:t>Clarity and Precision:</a:t>
            </a:r>
            <a:endParaRPr lang="en-US" sz="2300" dirty="0"/>
          </a:p>
          <a:p>
            <a:pPr marL="742950" lvl="1" indent="-285750">
              <a:buFont typeface="+mj-lt"/>
              <a:buAutoNum type="arabicPeriod"/>
            </a:pPr>
            <a:r>
              <a:rPr lang="en-US" sz="2300" dirty="0"/>
              <a:t>Technical communication avoids ambiguity and uses precise terms to convey information accurately.</a:t>
            </a:r>
          </a:p>
          <a:p>
            <a:pPr marL="742950" lvl="1" indent="-285750">
              <a:buFont typeface="+mj-lt"/>
              <a:buAutoNum type="arabicPeriod"/>
            </a:pPr>
            <a:r>
              <a:rPr lang="en-US" sz="2300" dirty="0"/>
              <a:t>For example, in a machine's operating guide, instructions like "Set the temperature to 150°C" are much clearer than saying "Set the temperature high."</a:t>
            </a:r>
          </a:p>
        </p:txBody>
      </p:sp>
    </p:spTree>
    <p:extLst>
      <p:ext uri="{BB962C8B-B14F-4D97-AF65-F5344CB8AC3E}">
        <p14:creationId xmlns:p14="http://schemas.microsoft.com/office/powerpoint/2010/main" val="2235110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167C56-F76F-E000-62CF-942D4BC8FE2C}"/>
              </a:ext>
            </a:extLst>
          </p:cNvPr>
          <p:cNvSpPr txBox="1"/>
          <p:nvPr/>
        </p:nvSpPr>
        <p:spPr>
          <a:xfrm>
            <a:off x="796413" y="757084"/>
            <a:ext cx="10697497" cy="6001643"/>
          </a:xfrm>
          <a:prstGeom prst="rect">
            <a:avLst/>
          </a:prstGeom>
          <a:noFill/>
        </p:spPr>
        <p:txBody>
          <a:bodyPr wrap="square" rtlCol="0">
            <a:spAutoFit/>
          </a:bodyPr>
          <a:lstStyle/>
          <a:p>
            <a:pPr marL="0" indent="0">
              <a:buNone/>
            </a:pPr>
            <a:r>
              <a:rPr lang="en-US" sz="2400" b="1" dirty="0"/>
              <a:t>4.Collaborative Nature:</a:t>
            </a:r>
            <a:endParaRPr lang="en-US" sz="2400" dirty="0"/>
          </a:p>
          <a:p>
            <a:pPr marL="742950" lvl="1" indent="-285750">
              <a:buFont typeface="+mj-lt"/>
              <a:buAutoNum type="arabicPeriod"/>
            </a:pPr>
            <a:r>
              <a:rPr lang="en-US" sz="2400" dirty="0"/>
              <a:t>Often, technical communication involves teamwork. </a:t>
            </a:r>
            <a:r>
              <a:rPr lang="en-US" sz="2400" b="1" dirty="0">
                <a:solidFill>
                  <a:srgbClr val="FF0000"/>
                </a:solidFill>
              </a:rPr>
              <a:t>Experts from different fields contribute to creating a comprehensive document or presentation</a:t>
            </a:r>
            <a:r>
              <a:rPr lang="en-US" sz="2400" dirty="0"/>
              <a:t>.</a:t>
            </a:r>
          </a:p>
          <a:p>
            <a:pPr marL="742950" lvl="1" indent="-285750">
              <a:buFont typeface="+mj-lt"/>
              <a:buAutoNum type="arabicPeriod"/>
            </a:pPr>
            <a:r>
              <a:rPr lang="en-US" sz="2400" dirty="0"/>
              <a:t>For example, engineers, designers, and marketing professionals may collaborate on a product brochure.</a:t>
            </a:r>
          </a:p>
          <a:p>
            <a:pPr marL="0" indent="0">
              <a:buNone/>
            </a:pPr>
            <a:r>
              <a:rPr lang="en-US" sz="2400" b="1" dirty="0"/>
              <a:t>5.Visual and Verbal Balance:</a:t>
            </a:r>
            <a:endParaRPr lang="en-US" sz="2400" dirty="0"/>
          </a:p>
          <a:p>
            <a:pPr marL="742950" lvl="1" indent="-285750">
              <a:buFont typeface="+mj-lt"/>
              <a:buAutoNum type="arabicPeriod"/>
            </a:pPr>
            <a:r>
              <a:rPr lang="en-US" sz="2400" dirty="0"/>
              <a:t>Effective technical communication often integrates visuals </a:t>
            </a:r>
            <a:r>
              <a:rPr lang="en-US" sz="2400" b="1" dirty="0">
                <a:solidFill>
                  <a:srgbClr val="FF0000"/>
                </a:solidFill>
              </a:rPr>
              <a:t>(charts, diagrams, graphs) </a:t>
            </a:r>
            <a:r>
              <a:rPr lang="en-US" sz="2400" dirty="0"/>
              <a:t>with text to enhance understanding.</a:t>
            </a:r>
          </a:p>
          <a:p>
            <a:pPr marL="742950" lvl="1" indent="-285750">
              <a:buFont typeface="+mj-lt"/>
              <a:buAutoNum type="arabicPeriod"/>
            </a:pPr>
            <a:r>
              <a:rPr lang="en-US" sz="2400" dirty="0"/>
              <a:t>Example: An infographic explaining data trends in a report.</a:t>
            </a:r>
          </a:p>
          <a:p>
            <a:pPr marL="0" indent="0">
              <a:buNone/>
            </a:pPr>
            <a:r>
              <a:rPr lang="en-US" sz="2400" b="1" dirty="0"/>
              <a:t>6.Objective and Ethical:</a:t>
            </a:r>
            <a:endParaRPr lang="en-US" sz="2400" dirty="0"/>
          </a:p>
          <a:p>
            <a:pPr marL="742950" lvl="1" indent="-285750">
              <a:buFont typeface="+mj-lt"/>
              <a:buAutoNum type="arabicPeriod"/>
            </a:pPr>
            <a:r>
              <a:rPr lang="en-US" sz="2400" dirty="0"/>
              <a:t>It must be </a:t>
            </a:r>
            <a:r>
              <a:rPr lang="en-US" sz="2400" b="1" dirty="0"/>
              <a:t>factual, unbiased, and truthful. </a:t>
            </a:r>
            <a:r>
              <a:rPr lang="en-US" sz="2400" dirty="0"/>
              <a:t>Inaccurate or misleading information can lead to significant problems, including legal issues and safety risks.</a:t>
            </a:r>
          </a:p>
          <a:p>
            <a:pPr marL="742950" lvl="1" indent="-285750">
              <a:buFont typeface="+mj-lt"/>
              <a:buAutoNum type="arabicPeriod"/>
            </a:pPr>
            <a:r>
              <a:rPr lang="en-US" sz="2400" dirty="0"/>
              <a:t>Example: Safety manuals in industries like aviation must present accurate guidelines to prevent accidents.</a:t>
            </a:r>
          </a:p>
          <a:p>
            <a:endParaRPr lang="en-US" sz="2400" dirty="0"/>
          </a:p>
          <a:p>
            <a:endParaRPr lang="en-US" sz="2400" dirty="0"/>
          </a:p>
        </p:txBody>
      </p:sp>
    </p:spTree>
    <p:extLst>
      <p:ext uri="{BB962C8B-B14F-4D97-AF65-F5344CB8AC3E}">
        <p14:creationId xmlns:p14="http://schemas.microsoft.com/office/powerpoint/2010/main" val="3026292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8F4AF6B-4339-0EE5-6B2B-88BE753BD1D8}"/>
              </a:ext>
            </a:extLst>
          </p:cNvPr>
          <p:cNvSpPr>
            <a:spLocks noChangeArrowheads="1"/>
          </p:cNvSpPr>
          <p:nvPr/>
        </p:nvSpPr>
        <p:spPr bwMode="auto">
          <a:xfrm>
            <a:off x="732503" y="812467"/>
            <a:ext cx="10726994"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Scope of Technical Communication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The scope refers to the range of areas and activities where technical communication is applied. It is broad and continues to expand with advancements in technology and globalization.</a:t>
            </a: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20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a:ln>
                  <a:noFill/>
                </a:ln>
                <a:solidFill>
                  <a:schemeClr val="tx1"/>
                </a:solidFill>
                <a:effectLst/>
                <a:latin typeface="Arial" panose="020B0604020202020204" pitchFamily="34" charset="0"/>
              </a:rPr>
              <a:t>Written Communication:</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Examples:</a:t>
            </a:r>
            <a:r>
              <a:rPr kumimoji="0" lang="en-US" altLang="en-US" sz="2000" b="0" i="0" u="none" strike="noStrike" cap="none" normalizeH="0" baseline="0" dirty="0">
                <a:ln>
                  <a:noFill/>
                </a:ln>
                <a:solidFill>
                  <a:schemeClr val="tx1"/>
                </a:solidFill>
                <a:effectLst/>
                <a:latin typeface="Arial" panose="020B0604020202020204" pitchFamily="34" charset="0"/>
              </a:rPr>
              <a:t> Reports, proposals, user manuals, memos, emails.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Purpose:</a:t>
            </a:r>
            <a:r>
              <a:rPr kumimoji="0" lang="en-US" altLang="en-US" sz="2000" b="0" i="0" u="none" strike="noStrike" cap="none" normalizeH="0" baseline="0" dirty="0">
                <a:ln>
                  <a:noFill/>
                </a:ln>
                <a:solidFill>
                  <a:schemeClr val="tx1"/>
                </a:solidFill>
                <a:effectLst/>
                <a:latin typeface="Arial" panose="020B0604020202020204" pitchFamily="34" charset="0"/>
              </a:rPr>
              <a:t> Provides detailed information in a structured format. For instance, project reports document progress and outcomes for stakeholders.</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dirty="0">
                <a:ln>
                  <a:noFill/>
                </a:ln>
                <a:solidFill>
                  <a:schemeClr val="tx1"/>
                </a:solidFill>
                <a:effectLst/>
                <a:latin typeface="Arial" panose="020B0604020202020204" pitchFamily="34" charset="0"/>
              </a:rPr>
              <a:t>Oral Communication:</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Examples:</a:t>
            </a:r>
            <a:r>
              <a:rPr kumimoji="0" lang="en-US" altLang="en-US" sz="2000" b="0" i="0" u="none" strike="noStrike" cap="none" normalizeH="0" baseline="0" dirty="0">
                <a:ln>
                  <a:noFill/>
                </a:ln>
                <a:solidFill>
                  <a:schemeClr val="tx1"/>
                </a:solidFill>
                <a:effectLst/>
                <a:latin typeface="Arial" panose="020B0604020202020204" pitchFamily="34" charset="0"/>
              </a:rPr>
              <a:t> Presentations, meetings, and interviews.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Purpose:</a:t>
            </a:r>
            <a:r>
              <a:rPr kumimoji="0" lang="en-US" altLang="en-US" sz="2000" b="0" i="0" u="none" strike="noStrike" cap="none" normalizeH="0" baseline="0" dirty="0">
                <a:ln>
                  <a:noFill/>
                </a:ln>
                <a:solidFill>
                  <a:schemeClr val="tx1"/>
                </a:solidFill>
                <a:effectLst/>
                <a:latin typeface="Arial" panose="020B0604020202020204" pitchFamily="34" charset="0"/>
              </a:rPr>
              <a:t> Helps share ideas, present findings, and facilitate discussions.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Example: An engineer explaining a design concept to a client during a meeting.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85642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2046A4-9483-A6C5-2DA5-455E7F0D4491}"/>
              </a:ext>
            </a:extLst>
          </p:cNvPr>
          <p:cNvSpPr txBox="1"/>
          <p:nvPr/>
        </p:nvSpPr>
        <p:spPr>
          <a:xfrm>
            <a:off x="727588" y="688257"/>
            <a:ext cx="11336593" cy="6001643"/>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400" b="1" i="0" u="none" strike="noStrike" cap="none" normalizeH="0" baseline="0" dirty="0">
                <a:ln>
                  <a:noFill/>
                </a:ln>
                <a:solidFill>
                  <a:schemeClr val="tx1"/>
                </a:solidFill>
                <a:effectLst/>
                <a:latin typeface="Arial" panose="020B0604020202020204" pitchFamily="34" charset="0"/>
              </a:rPr>
              <a:t>Visual Communication:</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Examples:</a:t>
            </a:r>
            <a:r>
              <a:rPr kumimoji="0" lang="en-US" altLang="en-US" sz="2400" b="0" i="0" u="none" strike="noStrike" cap="none" normalizeH="0" baseline="0" dirty="0">
                <a:ln>
                  <a:noFill/>
                </a:ln>
                <a:solidFill>
                  <a:schemeClr val="tx1"/>
                </a:solidFill>
                <a:effectLst/>
                <a:latin typeface="Arial" panose="020B0604020202020204" pitchFamily="34" charset="0"/>
              </a:rPr>
              <a:t> Diagrams, charts, infographics, and schematics.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Purpose:</a:t>
            </a:r>
            <a:r>
              <a:rPr kumimoji="0" lang="en-US" altLang="en-US" sz="2400" b="0" i="0" u="none" strike="noStrike" cap="none" normalizeH="0" baseline="0" dirty="0">
                <a:ln>
                  <a:noFill/>
                </a:ln>
                <a:solidFill>
                  <a:schemeClr val="tx1"/>
                </a:solidFill>
                <a:effectLst/>
                <a:latin typeface="Arial" panose="020B0604020202020204" pitchFamily="34" charset="0"/>
              </a:rPr>
              <a:t> Makes complex information easier to understand and more engaging.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Example: A flowchart showing the steps in a manufacturing process.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400" b="1" i="0" u="none" strike="noStrike" cap="none" normalizeH="0" baseline="0" dirty="0">
                <a:ln>
                  <a:noFill/>
                </a:ln>
                <a:solidFill>
                  <a:schemeClr val="tx1"/>
                </a:solidFill>
                <a:effectLst/>
                <a:latin typeface="Arial" panose="020B0604020202020204" pitchFamily="34" charset="0"/>
              </a:rPr>
              <a:t>Digital Communication:</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Examples:</a:t>
            </a:r>
            <a:r>
              <a:rPr kumimoji="0" lang="en-US" altLang="en-US" sz="2400" b="0" i="0" u="none" strike="noStrike" cap="none" normalizeH="0" baseline="0" dirty="0">
                <a:ln>
                  <a:noFill/>
                </a:ln>
                <a:solidFill>
                  <a:schemeClr val="tx1"/>
                </a:solidFill>
                <a:effectLst/>
                <a:latin typeface="Arial" panose="020B0604020202020204" pitchFamily="34" charset="0"/>
              </a:rPr>
              <a:t> Websites, blogs, e-learning modules, and videos.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Purpose:</a:t>
            </a:r>
            <a:r>
              <a:rPr kumimoji="0" lang="en-US" altLang="en-US" sz="2400" b="0" i="0" u="none" strike="noStrike" cap="none" normalizeH="0" baseline="0" dirty="0">
                <a:ln>
                  <a:noFill/>
                </a:ln>
                <a:solidFill>
                  <a:schemeClr val="tx1"/>
                </a:solidFill>
                <a:effectLst/>
                <a:latin typeface="Arial" panose="020B0604020202020204" pitchFamily="34" charset="0"/>
              </a:rPr>
              <a:t> Leverages technology to reach wider audiences and enhance interactivity.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Example: An online tutorial on how to use a software application.</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2400" b="1" i="0" u="none" strike="noStrike" cap="none" normalizeH="0" baseline="0" dirty="0">
                <a:ln>
                  <a:noFill/>
                </a:ln>
                <a:solidFill>
                  <a:schemeClr val="tx1"/>
                </a:solidFill>
                <a:effectLst/>
                <a:latin typeface="Arial" panose="020B0604020202020204" pitchFamily="34" charset="0"/>
              </a:rPr>
              <a:t>Scientific and Technical Documentation:</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Examples:</a:t>
            </a:r>
            <a:r>
              <a:rPr kumimoji="0" lang="en-US" altLang="en-US" sz="2400" b="0" i="0" u="none" strike="noStrike" cap="none" normalizeH="0" baseline="0" dirty="0">
                <a:ln>
                  <a:noFill/>
                </a:ln>
                <a:solidFill>
                  <a:schemeClr val="tx1"/>
                </a:solidFill>
                <a:effectLst/>
                <a:latin typeface="Arial" panose="020B0604020202020204" pitchFamily="34" charset="0"/>
              </a:rPr>
              <a:t> Research papers, lab reports, technical specifications, and data sheets.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Purpose:</a:t>
            </a:r>
            <a:r>
              <a:rPr kumimoji="0" lang="en-US" altLang="en-US" sz="2400" b="0" i="0" u="none" strike="noStrike" cap="none" normalizeH="0" baseline="0" dirty="0">
                <a:ln>
                  <a:noFill/>
                </a:ln>
                <a:solidFill>
                  <a:schemeClr val="tx1"/>
                </a:solidFill>
                <a:effectLst/>
                <a:latin typeface="Arial" panose="020B0604020202020204" pitchFamily="34" charset="0"/>
              </a:rPr>
              <a:t> Records and communicates technical knowledge for reference or replication.</a:t>
            </a:r>
          </a:p>
          <a:p>
            <a:endParaRPr lang="en-US" sz="2400" dirty="0"/>
          </a:p>
        </p:txBody>
      </p:sp>
    </p:spTree>
    <p:extLst>
      <p:ext uri="{BB962C8B-B14F-4D97-AF65-F5344CB8AC3E}">
        <p14:creationId xmlns:p14="http://schemas.microsoft.com/office/powerpoint/2010/main" val="1217660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7AA258-6252-79EF-7BF8-26E746A3830D}"/>
              </a:ext>
            </a:extLst>
          </p:cNvPr>
          <p:cNvSpPr txBox="1"/>
          <p:nvPr/>
        </p:nvSpPr>
        <p:spPr>
          <a:xfrm>
            <a:off x="1278194" y="1120877"/>
            <a:ext cx="10107561" cy="4893647"/>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2400" b="1" i="0" u="none" strike="noStrike" cap="none" normalizeH="0" baseline="0" dirty="0">
                <a:ln>
                  <a:noFill/>
                </a:ln>
                <a:solidFill>
                  <a:schemeClr val="tx1"/>
                </a:solidFill>
                <a:effectLst/>
                <a:latin typeface="Arial" panose="020B0604020202020204" pitchFamily="34" charset="0"/>
              </a:rPr>
              <a:t>Instructional Communication:</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Examples:</a:t>
            </a:r>
            <a:r>
              <a:rPr kumimoji="0" lang="en-US" altLang="en-US" sz="2400" b="0" i="0" u="none" strike="noStrike" cap="none" normalizeH="0" baseline="0" dirty="0">
                <a:ln>
                  <a:noFill/>
                </a:ln>
                <a:solidFill>
                  <a:schemeClr val="tx1"/>
                </a:solidFill>
                <a:effectLst/>
                <a:latin typeface="Arial" panose="020B0604020202020204" pitchFamily="34" charset="0"/>
              </a:rPr>
              <a:t> Training manuals, how-to guides, and troubleshooting documents.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Purpose:</a:t>
            </a:r>
            <a:r>
              <a:rPr kumimoji="0" lang="en-US" altLang="en-US" sz="2400" b="0" i="0" u="none" strike="noStrike" cap="none" normalizeH="0" baseline="0" dirty="0">
                <a:ln>
                  <a:noFill/>
                </a:ln>
                <a:solidFill>
                  <a:schemeClr val="tx1"/>
                </a:solidFill>
                <a:effectLst/>
                <a:latin typeface="Arial" panose="020B0604020202020204" pitchFamily="34" charset="0"/>
              </a:rPr>
              <a:t> Provides step-by-step instructions for tasks or operations.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Example: A manual for assembling furniture.</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2400" b="1" i="0" u="none" strike="noStrike" cap="none" normalizeH="0" baseline="0" dirty="0">
                <a:ln>
                  <a:noFill/>
                </a:ln>
                <a:solidFill>
                  <a:schemeClr val="tx1"/>
                </a:solidFill>
                <a:effectLst/>
                <a:latin typeface="Arial" panose="020B0604020202020204" pitchFamily="34" charset="0"/>
              </a:rPr>
              <a:t>Global and Multicultural Communication:</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Technical communication often involves international audiences. It must account for language differences, cultural norms, and diverse expectations.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Example: A product manual translated into multiple languages for global markets.</a:t>
            </a:r>
          </a:p>
          <a:p>
            <a:endParaRPr lang="en-US" sz="2400" dirty="0"/>
          </a:p>
          <a:p>
            <a:endParaRPr lang="en-US" sz="2400" dirty="0"/>
          </a:p>
        </p:txBody>
      </p:sp>
    </p:spTree>
    <p:extLst>
      <p:ext uri="{BB962C8B-B14F-4D97-AF65-F5344CB8AC3E}">
        <p14:creationId xmlns:p14="http://schemas.microsoft.com/office/powerpoint/2010/main" val="2802924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AACF5B-ECB7-1295-DE65-D9DA406734D7}"/>
              </a:ext>
            </a:extLst>
          </p:cNvPr>
          <p:cNvPicPr>
            <a:picLocks noChangeAspect="1"/>
          </p:cNvPicPr>
          <p:nvPr/>
        </p:nvPicPr>
        <p:blipFill>
          <a:blip r:embed="rId2">
            <a:extLst>
              <a:ext uri="{28A0092B-C50C-407E-A947-70E740481C1C}">
                <a14:useLocalDpi xmlns:a14="http://schemas.microsoft.com/office/drawing/2010/main" val="0"/>
              </a:ext>
            </a:extLst>
          </a:blip>
          <a:srcRect l="42823" t="35412" r="19758" b="6667"/>
          <a:stretch/>
        </p:blipFill>
        <p:spPr>
          <a:xfrm>
            <a:off x="108154" y="68825"/>
            <a:ext cx="12005188" cy="6656439"/>
          </a:xfrm>
          <a:prstGeom prst="rect">
            <a:avLst/>
          </a:prstGeom>
        </p:spPr>
      </p:pic>
    </p:spTree>
    <p:extLst>
      <p:ext uri="{BB962C8B-B14F-4D97-AF65-F5344CB8AC3E}">
        <p14:creationId xmlns:p14="http://schemas.microsoft.com/office/powerpoint/2010/main" val="2440771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5ED5E5-F439-0EB8-B734-B1426D686556}"/>
              </a:ext>
            </a:extLst>
          </p:cNvPr>
          <p:cNvSpPr txBox="1"/>
          <p:nvPr/>
        </p:nvSpPr>
        <p:spPr>
          <a:xfrm>
            <a:off x="786579" y="550607"/>
            <a:ext cx="10294375" cy="6001643"/>
          </a:xfrm>
          <a:prstGeom prst="rect">
            <a:avLst/>
          </a:prstGeom>
          <a:noFill/>
        </p:spPr>
        <p:txBody>
          <a:bodyPr wrap="square" rtlCol="0">
            <a:spAutoFit/>
          </a:bodyPr>
          <a:lstStyle/>
          <a:p>
            <a:pPr algn="l"/>
            <a:r>
              <a:rPr lang="en-US" sz="3600" b="1" i="0" dirty="0">
                <a:solidFill>
                  <a:srgbClr val="993300"/>
                </a:solidFill>
                <a:effectLst/>
                <a:latin typeface="Spectral"/>
              </a:rPr>
              <a:t>Common Characteristics of Technical Writing</a:t>
            </a:r>
            <a:endParaRPr lang="en-US" sz="3600" b="1" i="0" dirty="0">
              <a:solidFill>
                <a:srgbClr val="373D3F"/>
              </a:solidFill>
              <a:effectLst/>
              <a:latin typeface="Encode Sans"/>
            </a:endParaRPr>
          </a:p>
          <a:p>
            <a:pPr algn="l"/>
            <a:endParaRPr lang="en-US" b="1" dirty="0">
              <a:solidFill>
                <a:srgbClr val="373D3F"/>
              </a:solidFill>
              <a:latin typeface="Encode Sans"/>
            </a:endParaRPr>
          </a:p>
          <a:p>
            <a:pPr algn="l"/>
            <a:r>
              <a:rPr lang="en-US" sz="2400" b="1" i="0" dirty="0">
                <a:solidFill>
                  <a:srgbClr val="373D3F"/>
                </a:solidFill>
                <a:effectLst/>
                <a:latin typeface="Encode Sans"/>
              </a:rPr>
              <a:t>Focused on audience:</a:t>
            </a:r>
            <a:r>
              <a:rPr lang="en-US" sz="2400" b="0" i="0" dirty="0">
                <a:solidFill>
                  <a:srgbClr val="373D3F"/>
                </a:solidFill>
                <a:effectLst/>
                <a:latin typeface="Encode Sans"/>
              </a:rPr>
              <a:t> Technical and workplace documents address a </a:t>
            </a:r>
            <a:r>
              <a:rPr lang="en-US" sz="2400" b="1" i="0" dirty="0">
                <a:solidFill>
                  <a:srgbClr val="373D3F"/>
                </a:solidFill>
                <a:effectLst/>
                <a:latin typeface="Encode Sans"/>
              </a:rPr>
              <a:t>specific audience</a:t>
            </a:r>
            <a:r>
              <a:rPr lang="en-US" sz="2400" b="0" i="0" dirty="0">
                <a:solidFill>
                  <a:srgbClr val="373D3F"/>
                </a:solidFill>
                <a:effectLst/>
                <a:latin typeface="Encode Sans"/>
              </a:rPr>
              <a:t>. The audience may be an individual or a group, and it may or may not be known to the writer. While there is always a primary audience addressed, there may be a secondary audience. Thus, an understanding of the reader or user of a technical document is important.</a:t>
            </a:r>
          </a:p>
          <a:p>
            <a:pPr algn="l"/>
            <a:r>
              <a:rPr lang="en-US" sz="2400" b="1" i="0" dirty="0">
                <a:solidFill>
                  <a:srgbClr val="373D3F"/>
                </a:solidFill>
                <a:effectLst/>
                <a:latin typeface="Encode Sans"/>
              </a:rPr>
              <a:t>Rhetorical, persuasive, purposeful, and problem-oriented:</a:t>
            </a:r>
            <a:r>
              <a:rPr lang="en-US" sz="2400" b="0" i="0" dirty="0">
                <a:solidFill>
                  <a:srgbClr val="373D3F"/>
                </a:solidFill>
                <a:effectLst/>
                <a:latin typeface="Encode Sans"/>
              </a:rPr>
              <a:t> Technical communication is all about helping the reader or user of a document solve a problem or compel others to act or do. For example, the syllabus of your calculus class informs the students what is expected of them; the university’s web site provides information to potential students about how to apply or to current students about where to seek assistance. Identification of a specific purpose and a particular audience are the first two steps of technical writing.</a:t>
            </a:r>
          </a:p>
          <a:p>
            <a:pPr algn="l"/>
            <a:r>
              <a:rPr lang="en-US" sz="2400" b="0" i="0" dirty="0">
                <a:solidFill>
                  <a:srgbClr val="373D3F"/>
                </a:solidFill>
                <a:effectLst/>
                <a:latin typeface="Encode Sans"/>
              </a:rPr>
              <a:t>.</a:t>
            </a:r>
          </a:p>
          <a:p>
            <a:endParaRPr lang="en-US" dirty="0"/>
          </a:p>
        </p:txBody>
      </p:sp>
    </p:spTree>
    <p:extLst>
      <p:ext uri="{BB962C8B-B14F-4D97-AF65-F5344CB8AC3E}">
        <p14:creationId xmlns:p14="http://schemas.microsoft.com/office/powerpoint/2010/main" val="17196807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7C3573-B776-4BF0-94EB-DBFD090FE0D3}"/>
              </a:ext>
            </a:extLst>
          </p:cNvPr>
          <p:cNvSpPr txBox="1"/>
          <p:nvPr/>
        </p:nvSpPr>
        <p:spPr>
          <a:xfrm>
            <a:off x="737419" y="698090"/>
            <a:ext cx="10609007" cy="4708981"/>
          </a:xfrm>
          <a:prstGeom prst="rect">
            <a:avLst/>
          </a:prstGeom>
          <a:noFill/>
        </p:spPr>
        <p:txBody>
          <a:bodyPr wrap="square" rtlCol="0">
            <a:spAutoFit/>
          </a:bodyPr>
          <a:lstStyle/>
          <a:p>
            <a:pPr algn="l"/>
            <a:r>
              <a:rPr lang="en-US" sz="2500" b="1" i="0" dirty="0">
                <a:solidFill>
                  <a:srgbClr val="373D3F"/>
                </a:solidFill>
                <a:effectLst/>
                <a:latin typeface="Encode Sans"/>
              </a:rPr>
              <a:t>Professional:</a:t>
            </a:r>
            <a:r>
              <a:rPr lang="en-US" sz="2500" b="0" i="0" dirty="0">
                <a:solidFill>
                  <a:srgbClr val="373D3F"/>
                </a:solidFill>
                <a:effectLst/>
                <a:latin typeface="Encode Sans"/>
              </a:rPr>
              <a:t> Technical communication reflects the values, goals, and culture of the organization and as such, creates and maintains the public image of the organization. Look at your university’s website to see what picture it conveys, or consider the Government. In 2010, the Plain Writing Act was enacted to promote clear government communication that the public can understand and use. The Act calls for writing that is clear, concise, and well-organized.</a:t>
            </a:r>
          </a:p>
          <a:p>
            <a:pPr algn="l"/>
            <a:r>
              <a:rPr lang="en-US" sz="2500" b="1" i="0" dirty="0">
                <a:solidFill>
                  <a:srgbClr val="373D3F"/>
                </a:solidFill>
                <a:effectLst/>
                <a:latin typeface="Encode Sans"/>
              </a:rPr>
              <a:t>Design Centered:</a:t>
            </a:r>
            <a:r>
              <a:rPr lang="en-US" sz="2500" b="0" i="0" dirty="0">
                <a:solidFill>
                  <a:srgbClr val="373D3F"/>
                </a:solidFill>
                <a:effectLst/>
                <a:latin typeface="Encode Sans"/>
              </a:rPr>
              <a:t> Technical communication uses elements of document design such as visuals, graphics, typography, color, and spacing to make a document interesting, attractive, usable, and comprehensible. While some documents may be totally in print, many more use images such as charts, photographs, and illustrations to enhance readability and understanding and simplify complex information.</a:t>
            </a:r>
          </a:p>
        </p:txBody>
      </p:sp>
    </p:spTree>
    <p:extLst>
      <p:ext uri="{BB962C8B-B14F-4D97-AF65-F5344CB8AC3E}">
        <p14:creationId xmlns:p14="http://schemas.microsoft.com/office/powerpoint/2010/main" val="2342987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1C9AC2-6735-6381-D903-EC5B7D67D76B}"/>
              </a:ext>
            </a:extLst>
          </p:cNvPr>
          <p:cNvSpPr txBox="1"/>
          <p:nvPr/>
        </p:nvSpPr>
        <p:spPr>
          <a:xfrm>
            <a:off x="727588" y="806245"/>
            <a:ext cx="10353368" cy="4524315"/>
          </a:xfrm>
          <a:prstGeom prst="rect">
            <a:avLst/>
          </a:prstGeom>
          <a:noFill/>
        </p:spPr>
        <p:txBody>
          <a:bodyPr wrap="square" rtlCol="0">
            <a:spAutoFit/>
          </a:bodyPr>
          <a:lstStyle/>
          <a:p>
            <a:pPr algn="just"/>
            <a:r>
              <a:rPr lang="en-US" sz="3200" b="1" i="0" dirty="0">
                <a:solidFill>
                  <a:srgbClr val="373D3F"/>
                </a:solidFill>
                <a:effectLst/>
                <a:latin typeface="Encode Sans"/>
              </a:rPr>
              <a:t>Research and Technology Oriented:</a:t>
            </a:r>
            <a:r>
              <a:rPr lang="en-US" sz="3200" b="0" i="0" dirty="0">
                <a:solidFill>
                  <a:srgbClr val="373D3F"/>
                </a:solidFill>
                <a:effectLst/>
                <a:latin typeface="Encode Sans"/>
              </a:rPr>
              <a:t> Because of workplace demands, technical and workplace writing is often created in collaboration with others through a network of experts and designers and depends on sound research practices to ensure that information provided is correct, accurate, and complete.</a:t>
            </a:r>
          </a:p>
          <a:p>
            <a:pPr algn="just"/>
            <a:r>
              <a:rPr lang="en-US" sz="3200" b="1" i="0" dirty="0">
                <a:solidFill>
                  <a:srgbClr val="373D3F"/>
                </a:solidFill>
                <a:effectLst/>
                <a:latin typeface="Encode Sans"/>
              </a:rPr>
              <a:t>Ethical:</a:t>
            </a:r>
            <a:r>
              <a:rPr lang="en-US" sz="3200" b="0" i="0" dirty="0">
                <a:solidFill>
                  <a:srgbClr val="373D3F"/>
                </a:solidFill>
                <a:effectLst/>
                <a:latin typeface="Encode Sans"/>
              </a:rPr>
              <a:t> Lastly, technical communication is ethical. All workplace writers have ethical obligations, many of which are closely linked to legal obligations that include liability laws, copyright laws, contract laws, and trademark laws. </a:t>
            </a:r>
          </a:p>
        </p:txBody>
      </p:sp>
    </p:spTree>
    <p:extLst>
      <p:ext uri="{BB962C8B-B14F-4D97-AF65-F5344CB8AC3E}">
        <p14:creationId xmlns:p14="http://schemas.microsoft.com/office/powerpoint/2010/main" val="7942017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B75BA4-8078-9EB6-783F-D07054B0311E}"/>
              </a:ext>
            </a:extLst>
          </p:cNvPr>
          <p:cNvSpPr>
            <a:spLocks noGrp="1"/>
          </p:cNvSpPr>
          <p:nvPr>
            <p:ph idx="1"/>
          </p:nvPr>
        </p:nvSpPr>
        <p:spPr>
          <a:xfrm>
            <a:off x="816077" y="698091"/>
            <a:ext cx="10603763" cy="5590950"/>
          </a:xfrm>
        </p:spPr>
        <p:txBody>
          <a:bodyPr>
            <a:normAutofit lnSpcReduction="10000"/>
          </a:bodyPr>
          <a:lstStyle/>
          <a:p>
            <a:pPr marL="0" indent="0" algn="ctr">
              <a:buNone/>
            </a:pPr>
            <a:r>
              <a:rPr lang="en-US" b="1" dirty="0"/>
              <a:t>Importance of technical communication</a:t>
            </a:r>
            <a:br>
              <a:rPr lang="en-US" dirty="0"/>
            </a:br>
            <a:r>
              <a:rPr lang="en-US" dirty="0"/>
              <a:t>Technical communication plays a vital role in bridging the gap between complex technical concepts and effective understanding by diverse audiences. It ensures the smooth flow of information in various professional, academic, and industrial settings. The following points highlight its significance:</a:t>
            </a:r>
          </a:p>
          <a:p>
            <a:pPr>
              <a:buFont typeface="+mj-lt"/>
              <a:buAutoNum type="arabicPeriod"/>
            </a:pPr>
            <a:r>
              <a:rPr lang="en-US" b="1" dirty="0"/>
              <a:t>Clarity in Information Sharing</a:t>
            </a:r>
            <a:br>
              <a:rPr lang="en-US" dirty="0"/>
            </a:br>
            <a:r>
              <a:rPr lang="en-US" dirty="0"/>
              <a:t>Technical communication simplifies complex ideas and data, making them accessible to a wide range of audiences, including non-technical stakeholders. This clarity ensures proper understanding and reduces misunderstandings.</a:t>
            </a:r>
          </a:p>
          <a:p>
            <a:pPr>
              <a:buFont typeface="+mj-lt"/>
              <a:buAutoNum type="arabicPeriod"/>
            </a:pPr>
            <a:r>
              <a:rPr lang="en-US" b="1" dirty="0"/>
              <a:t>Enhances Professionalism</a:t>
            </a:r>
            <a:br>
              <a:rPr lang="en-US" dirty="0"/>
            </a:br>
            <a:r>
              <a:rPr lang="en-US" dirty="0"/>
              <a:t>Well-structured technical documents such as reports, proposals, manuals, and emails reflect the professionalism and credibility of an individual or organization.</a:t>
            </a:r>
          </a:p>
          <a:p>
            <a:pPr>
              <a:buFont typeface="+mj-lt"/>
              <a:buAutoNum type="arabicPeriod"/>
            </a:pPr>
            <a:r>
              <a:rPr lang="en-US" b="1" dirty="0"/>
              <a:t>Facilitates Decision-Making</a:t>
            </a:r>
            <a:br>
              <a:rPr lang="en-US" dirty="0"/>
            </a:br>
            <a:r>
              <a:rPr lang="en-US" dirty="0"/>
              <a:t>By presenting technical data in a concise and precise manner, technical communication aids managers and stakeholders in making informed decisions.</a:t>
            </a:r>
          </a:p>
        </p:txBody>
      </p:sp>
    </p:spTree>
    <p:extLst>
      <p:ext uri="{BB962C8B-B14F-4D97-AF65-F5344CB8AC3E}">
        <p14:creationId xmlns:p14="http://schemas.microsoft.com/office/powerpoint/2010/main" val="2374024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0A5A2F-871C-E607-C271-02A9A33BC24F}"/>
              </a:ext>
            </a:extLst>
          </p:cNvPr>
          <p:cNvSpPr txBox="1"/>
          <p:nvPr/>
        </p:nvSpPr>
        <p:spPr>
          <a:xfrm>
            <a:off x="845574" y="874454"/>
            <a:ext cx="10333703" cy="5109091"/>
          </a:xfrm>
          <a:prstGeom prst="rect">
            <a:avLst/>
          </a:prstGeom>
          <a:noFill/>
        </p:spPr>
        <p:txBody>
          <a:bodyPr wrap="square" rtlCol="0">
            <a:spAutoFit/>
          </a:bodyPr>
          <a:lstStyle/>
          <a:p>
            <a:r>
              <a:rPr lang="en-US" sz="2800" b="1" dirty="0"/>
              <a:t>4. Bridges Communication Gaps</a:t>
            </a:r>
            <a:br>
              <a:rPr lang="en-US" sz="2800" dirty="0"/>
            </a:br>
            <a:r>
              <a:rPr lang="en-US" sz="2800" dirty="0"/>
              <a:t>It ensures effective communication between technical experts and non-technical individuals, fostering collaboration in multidisciplinary teams.</a:t>
            </a:r>
          </a:p>
          <a:p>
            <a:r>
              <a:rPr lang="en-US" sz="2800" b="1" dirty="0"/>
              <a:t>5. Supports Product Development and Usage</a:t>
            </a:r>
            <a:br>
              <a:rPr lang="en-US" sz="2800" dirty="0"/>
            </a:br>
            <a:r>
              <a:rPr lang="en-US" sz="2800" dirty="0"/>
              <a:t>User manuals, instructional guides, and troubleshooting documents are examples of technical communication that help consumers understand and use products efficiently.</a:t>
            </a:r>
          </a:p>
          <a:p>
            <a:r>
              <a:rPr lang="en-US" sz="2800" b="1" dirty="0"/>
              <a:t>6. Essential for Workplace Success</a:t>
            </a:r>
            <a:br>
              <a:rPr lang="en-US" sz="2800" dirty="0"/>
            </a:br>
            <a:r>
              <a:rPr lang="en-US" sz="2800" dirty="0"/>
              <a:t>Engineers, scientists, and professionals need strong technical communication skills to present their ideas, prepare reports, and interact with clients and colleagues effectively.</a:t>
            </a:r>
          </a:p>
          <a:p>
            <a:endParaRPr lang="en-US" dirty="0"/>
          </a:p>
        </p:txBody>
      </p:sp>
    </p:spTree>
    <p:extLst>
      <p:ext uri="{BB962C8B-B14F-4D97-AF65-F5344CB8AC3E}">
        <p14:creationId xmlns:p14="http://schemas.microsoft.com/office/powerpoint/2010/main" val="7934473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F20D59-F167-0024-68A0-F76937B0C034}"/>
              </a:ext>
            </a:extLst>
          </p:cNvPr>
          <p:cNvSpPr txBox="1"/>
          <p:nvPr/>
        </p:nvSpPr>
        <p:spPr>
          <a:xfrm>
            <a:off x="1071716" y="1356852"/>
            <a:ext cx="9842091" cy="3970318"/>
          </a:xfrm>
          <a:prstGeom prst="rect">
            <a:avLst/>
          </a:prstGeom>
          <a:noFill/>
        </p:spPr>
        <p:txBody>
          <a:bodyPr wrap="square" rtlCol="0">
            <a:spAutoFit/>
          </a:bodyPr>
          <a:lstStyle/>
          <a:p>
            <a:r>
              <a:rPr lang="en-US" sz="2800" b="1" dirty="0"/>
              <a:t>7. Promotes Safety and Compliance</a:t>
            </a:r>
            <a:br>
              <a:rPr lang="en-US" sz="2800" dirty="0"/>
            </a:br>
            <a:r>
              <a:rPr lang="en-US" sz="2800" dirty="0"/>
              <a:t>Accurate technical documentation ensures adherence to safety standards and regulations, minimizing risks in industries like healthcare, construction, and manufacturing.</a:t>
            </a:r>
          </a:p>
          <a:p>
            <a:r>
              <a:rPr lang="en-US" sz="2800" b="1" dirty="0"/>
              <a:t>8. Global Collaboration</a:t>
            </a:r>
            <a:br>
              <a:rPr lang="en-US" sz="2800" dirty="0"/>
            </a:br>
            <a:r>
              <a:rPr lang="en-US" sz="2800" dirty="0"/>
              <a:t>In a globalized work environment, technical communication supports collaboration across languages and cultures, ensuring uniform understanding.</a:t>
            </a:r>
          </a:p>
          <a:p>
            <a:endParaRPr lang="en-US" sz="2800" dirty="0"/>
          </a:p>
        </p:txBody>
      </p:sp>
    </p:spTree>
    <p:extLst>
      <p:ext uri="{BB962C8B-B14F-4D97-AF65-F5344CB8AC3E}">
        <p14:creationId xmlns:p14="http://schemas.microsoft.com/office/powerpoint/2010/main" val="426035664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389</TotalTime>
  <Words>1517</Words>
  <Application>Microsoft Office PowerPoint</Application>
  <PresentationFormat>Widescreen</PresentationFormat>
  <Paragraphs>82</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Encode Sans</vt:lpstr>
      <vt:lpstr>Garamond</vt:lpstr>
      <vt:lpstr>Spectral</vt:lpstr>
      <vt:lpstr>Organic</vt:lpstr>
      <vt:lpstr>Technical communication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trinath panigrahi</dc:creator>
  <cp:lastModifiedBy>trinath panigrahi</cp:lastModifiedBy>
  <cp:revision>11</cp:revision>
  <dcterms:created xsi:type="dcterms:W3CDTF">2025-01-08T09:24:45Z</dcterms:created>
  <dcterms:modified xsi:type="dcterms:W3CDTF">2025-02-11T17:34:09Z</dcterms:modified>
</cp:coreProperties>
</file>