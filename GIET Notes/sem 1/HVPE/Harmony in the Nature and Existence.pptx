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31"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 id="330" r:id="rId17"/>
    <p:sldId id="316" r:id="rId18"/>
    <p:sldId id="315" r:id="rId19"/>
    <p:sldId id="314" r:id="rId20"/>
    <p:sldId id="313" r:id="rId21"/>
    <p:sldId id="312" r:id="rId22"/>
    <p:sldId id="311" r:id="rId23"/>
    <p:sldId id="310" r:id="rId24"/>
    <p:sldId id="309" r:id="rId25"/>
    <p:sldId id="308" r:id="rId26"/>
    <p:sldId id="307" r:id="rId27"/>
    <p:sldId id="305" r:id="rId28"/>
    <p:sldId id="304" r:id="rId29"/>
    <p:sldId id="303" r:id="rId30"/>
    <p:sldId id="302" r:id="rId31"/>
    <p:sldId id="298" r:id="rId32"/>
    <p:sldId id="297" r:id="rId33"/>
    <p:sldId id="296" r:id="rId34"/>
    <p:sldId id="295" r:id="rId35"/>
    <p:sldId id="29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0B29-7E88-E35B-E002-A030126933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BFFB5E-6605-1938-C3B1-73E21B0D64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5CEE42-1D60-DB83-778A-A442E5490D59}"/>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128AB972-4DC7-8D5E-598A-AC410CEA2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6EC3D-51A6-A15E-081E-11CDF0CF58EE}"/>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4106487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0FA3-75A0-CABA-454E-B786A3E77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9CE371-A179-4175-CF68-E17A48DB4A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E5D0E6-85B8-D5D1-09EB-9C2B181C23A2}"/>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095DE6C5-BD33-21F6-686E-EFBF1264AA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8C8D55-49A5-2D83-CD79-F5DCC9592F50}"/>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150807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2E78-B99B-1F8C-BADB-32D026989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E8E608-ABE6-03AA-A91D-3A06ACF450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44328C-6ABF-FF16-DDB4-0B598AC8374F}"/>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39D885EE-0F8F-E9A3-8A75-8B136CDD90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39D610-5DA5-944E-7EFB-47EE8EA731BD}"/>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2413177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BE26D-674E-F256-319C-F417274FB1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5CC0B0-C043-57A3-7642-145968B10E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742AB9-79D0-2009-5E48-76C57F3B7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EE7F66-066C-7209-BD9D-0217C295714C}"/>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6" name="Footer Placeholder 5">
            <a:extLst>
              <a:ext uri="{FF2B5EF4-FFF2-40B4-BE49-F238E27FC236}">
                <a16:creationId xmlns:a16="http://schemas.microsoft.com/office/drawing/2014/main" id="{0F00801F-B770-B4FE-0701-BBD3699538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686F43-0AC1-D7B5-B018-C5370063682C}"/>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290223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36F-21A9-BAF3-7F00-20B243E942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025145-E9ED-F04E-CF24-8EC3A84C9D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310C2-B44A-8657-9227-0E1BC89D46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3E325B-E866-0FC0-3C1C-05C5427FF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8EBC47-C093-C5E6-B840-FD0D8702FD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05243A-B084-9EAC-E506-DEC65C5A16E8}"/>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8" name="Footer Placeholder 7">
            <a:extLst>
              <a:ext uri="{FF2B5EF4-FFF2-40B4-BE49-F238E27FC236}">
                <a16:creationId xmlns:a16="http://schemas.microsoft.com/office/drawing/2014/main" id="{BDE38D7C-80AA-76EE-6155-185A209A55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BEFCDD-502A-E5BA-5740-652A71051956}"/>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384297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5640-2534-A78D-B9FC-20A89EE5F5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1014BF-669C-3A0D-D955-34487521F8C0}"/>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4" name="Footer Placeholder 3">
            <a:extLst>
              <a:ext uri="{FF2B5EF4-FFF2-40B4-BE49-F238E27FC236}">
                <a16:creationId xmlns:a16="http://schemas.microsoft.com/office/drawing/2014/main" id="{DC5BCD6D-559C-3BA4-28E7-544920BB5A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96D92F-DBE3-4035-7477-41BA89AB518B}"/>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633023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CE5104-38DB-3300-0569-1B114F44D003}"/>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3" name="Footer Placeholder 2">
            <a:extLst>
              <a:ext uri="{FF2B5EF4-FFF2-40B4-BE49-F238E27FC236}">
                <a16:creationId xmlns:a16="http://schemas.microsoft.com/office/drawing/2014/main" id="{F4FA3C99-CE8A-3100-C4E0-E740E1A171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8A641F-A600-2295-4898-637EF1061A45}"/>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76004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8EC6-ACC5-3CBB-FA59-CA45492FD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8BA9B3-AAF6-9D45-F5D2-7DE5A0F77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460C96-B14E-2B08-A573-36032F7C66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912E2C-A5D2-A629-2EC6-BEEECB4B7F2B}"/>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6" name="Footer Placeholder 5">
            <a:extLst>
              <a:ext uri="{FF2B5EF4-FFF2-40B4-BE49-F238E27FC236}">
                <a16:creationId xmlns:a16="http://schemas.microsoft.com/office/drawing/2014/main" id="{6E57378F-F2B4-0750-0868-EACA2B06B3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26348-1CCB-EB55-6C4C-7F634FA4982E}"/>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3589281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B962D-F3A9-68BF-724D-6C1FF3E53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45F169-2CC7-30F2-E255-B1EA6C00B5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7CD2B8-766C-7FA1-4A76-1D765AAF4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8950A-4DAE-3163-DBF5-D0EB704643C6}"/>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6" name="Footer Placeholder 5">
            <a:extLst>
              <a:ext uri="{FF2B5EF4-FFF2-40B4-BE49-F238E27FC236}">
                <a16:creationId xmlns:a16="http://schemas.microsoft.com/office/drawing/2014/main" id="{919A855B-FAC3-C8E8-2B7D-EB26CD9B53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B8A8DE-1124-2B1F-6BD6-3A1DD166445D}"/>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3246473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38721-363D-99C2-0BD5-A8B840761D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C3712A-4CEE-8FE1-684A-C0D2C1B4A2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BEC15A-D969-AB3A-3443-E86625FD648A}"/>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3869DFAF-2163-FB27-50D1-BB5ABB560F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6EB3D1-DFA4-1B1E-1711-23C2530D556B}"/>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366518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78C1E8-46B3-E7A1-5E86-C2A65EED3A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6B7DFE-4017-39D7-07D9-A2E6D1CD2F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D04842-267D-723C-88C0-A67D044C3EF0}"/>
              </a:ext>
            </a:extLst>
          </p:cNvPr>
          <p:cNvSpPr>
            <a:spLocks noGrp="1"/>
          </p:cNvSpPr>
          <p:nvPr>
            <p:ph type="dt" sz="half" idx="10"/>
          </p:nvPr>
        </p:nvSpPr>
        <p:spPr/>
        <p:txBody>
          <a:body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9BEDDA55-B464-8CB6-DC1F-CDA6B401B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8B2981-5678-5CC8-B1D8-5336F27CD476}"/>
              </a:ext>
            </a:extLst>
          </p:cNvPr>
          <p:cNvSpPr>
            <a:spLocks noGrp="1"/>
          </p:cNvSpPr>
          <p:nvPr>
            <p:ph type="sldNum" sz="quarter" idx="12"/>
          </p:nvPr>
        </p:nvSpPr>
        <p:spPr/>
        <p:txBody>
          <a:bodyPr/>
          <a:lstStyle/>
          <a:p>
            <a:fld id="{CB2D2111-6451-4863-82F4-D03A88C08916}" type="slidenum">
              <a:rPr lang="en-IN" smtClean="0"/>
              <a:t>‹#›</a:t>
            </a:fld>
            <a:endParaRPr lang="en-IN"/>
          </a:p>
        </p:txBody>
      </p:sp>
    </p:spTree>
    <p:extLst>
      <p:ext uri="{BB962C8B-B14F-4D97-AF65-F5344CB8AC3E}">
        <p14:creationId xmlns:p14="http://schemas.microsoft.com/office/powerpoint/2010/main" val="3005663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4E34EF-A811-2305-2D82-9724BAE372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81096C-EDEB-48D1-5F9C-EB05C19EF0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854485-60A2-19F1-DDFF-508AF6C0CE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9297A0-669D-41D5-8BEB-AA1A85ADF9FF}" type="datetimeFigureOut">
              <a:rPr lang="en-IN" smtClean="0"/>
              <a:t>30-11-2024</a:t>
            </a:fld>
            <a:endParaRPr lang="en-IN"/>
          </a:p>
        </p:txBody>
      </p:sp>
      <p:sp>
        <p:nvSpPr>
          <p:cNvPr id="5" name="Footer Placeholder 4">
            <a:extLst>
              <a:ext uri="{FF2B5EF4-FFF2-40B4-BE49-F238E27FC236}">
                <a16:creationId xmlns:a16="http://schemas.microsoft.com/office/drawing/2014/main" id="{04B048E8-4218-F59B-D46A-376AB9598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D4B7A7-FFC4-527B-3390-F68E7A275F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2D2111-6451-4863-82F4-D03A88C08916}" type="slidenum">
              <a:rPr lang="en-IN" smtClean="0"/>
              <a:t>‹#›</a:t>
            </a:fld>
            <a:endParaRPr lang="en-IN"/>
          </a:p>
        </p:txBody>
      </p:sp>
    </p:spTree>
    <p:extLst>
      <p:ext uri="{BB962C8B-B14F-4D97-AF65-F5344CB8AC3E}">
        <p14:creationId xmlns:p14="http://schemas.microsoft.com/office/powerpoint/2010/main" val="3217725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75011"/>
            <a:ext cx="9144000" cy="1734951"/>
          </a:xfrm>
        </p:spPr>
        <p:txBody>
          <a:bodyPr>
            <a:normAutofit/>
          </a:bodyPr>
          <a:lstStyle/>
          <a:p>
            <a:r>
              <a:rPr lang="en-US" sz="3600" dirty="0"/>
              <a:t>Harmony in the Nature and Existence </a:t>
            </a:r>
          </a:p>
        </p:txBody>
      </p:sp>
      <p:sp>
        <p:nvSpPr>
          <p:cNvPr id="3" name="Subtitle 2"/>
          <p:cNvSpPr>
            <a:spLocks noGrp="1"/>
          </p:cNvSpPr>
          <p:nvPr>
            <p:ph type="subTitle" idx="1"/>
          </p:nvPr>
        </p:nvSpPr>
        <p:spPr/>
        <p:txBody>
          <a:bodyPr/>
          <a:lstStyle/>
          <a:p>
            <a:r>
              <a:rPr lang="en-US" dirty="0"/>
              <a:t>Unit 04</a:t>
            </a:r>
          </a:p>
        </p:txBody>
      </p:sp>
    </p:spTree>
    <p:extLst>
      <p:ext uri="{BB962C8B-B14F-4D97-AF65-F5344CB8AC3E}">
        <p14:creationId xmlns:p14="http://schemas.microsoft.com/office/powerpoint/2010/main" val="3259039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Harmony with the Nature</a:t>
            </a:r>
          </a:p>
        </p:txBody>
      </p:sp>
      <p:sp>
        <p:nvSpPr>
          <p:cNvPr id="3" name="Content Placeholder 2"/>
          <p:cNvSpPr>
            <a:spLocks noGrp="1"/>
          </p:cNvSpPr>
          <p:nvPr>
            <p:ph sz="half" idx="1"/>
          </p:nvPr>
        </p:nvSpPr>
        <p:spPr/>
        <p:txBody>
          <a:bodyPr>
            <a:normAutofit fontScale="92500"/>
          </a:bodyPr>
          <a:lstStyle/>
          <a:p>
            <a:r>
              <a:rPr lang="en-US" dirty="0"/>
              <a:t>We get all basic needs as air, water, food and physical facilities from the nature.</a:t>
            </a:r>
          </a:p>
          <a:p>
            <a:endParaRPr lang="en-US" dirty="0"/>
          </a:p>
          <a:p>
            <a:r>
              <a:rPr lang="en-US" dirty="0"/>
              <a:t>Our existence is not possible without nature for a moment also.</a:t>
            </a:r>
          </a:p>
          <a:p>
            <a:endParaRPr lang="en-US" dirty="0"/>
          </a:p>
          <a:p>
            <a:r>
              <a:rPr lang="en-US" dirty="0"/>
              <a:t>So if all the things in the nature are balanced or enriched  one then we will get happiness.</a:t>
            </a:r>
          </a:p>
        </p:txBody>
      </p:sp>
      <p:pic>
        <p:nvPicPr>
          <p:cNvPr id="5" name="Content Placeholder 4" descr="download.jpg"/>
          <p:cNvPicPr>
            <a:picLocks noGrp="1" noChangeAspect="1"/>
          </p:cNvPicPr>
          <p:nvPr>
            <p:ph sz="half" idx="2"/>
          </p:nvPr>
        </p:nvPicPr>
        <p:blipFill>
          <a:blip r:embed="rId2"/>
          <a:stretch>
            <a:fillRect/>
          </a:stretch>
        </p:blipFill>
        <p:spPr>
          <a:xfrm>
            <a:off x="6596743" y="1985554"/>
            <a:ext cx="4441371" cy="3566160"/>
          </a:xfrm>
        </p:spPr>
      </p:pic>
    </p:spTree>
    <p:extLst>
      <p:ext uri="{BB962C8B-B14F-4D97-AF65-F5344CB8AC3E}">
        <p14:creationId xmlns:p14="http://schemas.microsoft.com/office/powerpoint/2010/main" val="159156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03914"/>
          </a:xfrm>
        </p:spPr>
        <p:txBody>
          <a:bodyPr>
            <a:normAutofit/>
          </a:bodyPr>
          <a:lstStyle/>
          <a:p>
            <a:pPr algn="ctr"/>
            <a:r>
              <a:rPr lang="en-US" sz="4000" dirty="0"/>
              <a:t>Understanding Harmony in Nature &amp; Existence.</a:t>
            </a:r>
            <a:br>
              <a:rPr lang="en-US" sz="4000" dirty="0"/>
            </a:br>
            <a:br>
              <a:rPr lang="en-US" sz="4000" dirty="0"/>
            </a:br>
            <a:r>
              <a:rPr lang="en-US" sz="4000" dirty="0"/>
              <a:t>Whole Existence as Co-existence</a:t>
            </a:r>
            <a:br>
              <a:rPr lang="en-US" sz="4000" dirty="0"/>
            </a:br>
            <a:endParaRPr lang="en-US" sz="4000" dirty="0"/>
          </a:p>
        </p:txBody>
      </p:sp>
    </p:spTree>
    <p:extLst>
      <p:ext uri="{BB962C8B-B14F-4D97-AF65-F5344CB8AC3E}">
        <p14:creationId xmlns:p14="http://schemas.microsoft.com/office/powerpoint/2010/main" val="196504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Nature is the collection of units</a:t>
            </a:r>
          </a:p>
        </p:txBody>
      </p:sp>
      <p:sp>
        <p:nvSpPr>
          <p:cNvPr id="3" name="Content Placeholder 2"/>
          <p:cNvSpPr>
            <a:spLocks noGrp="1"/>
          </p:cNvSpPr>
          <p:nvPr>
            <p:ph idx="1"/>
          </p:nvPr>
        </p:nvSpPr>
        <p:spPr/>
        <p:txBody>
          <a:bodyPr/>
          <a:lstStyle/>
          <a:p>
            <a:pPr marL="0" indent="0">
              <a:buNone/>
            </a:pPr>
            <a:endParaRPr lang="en-US" dirty="0"/>
          </a:p>
        </p:txBody>
      </p:sp>
      <p:sp>
        <p:nvSpPr>
          <p:cNvPr id="4" name="Oval 3"/>
          <p:cNvSpPr/>
          <p:nvPr/>
        </p:nvSpPr>
        <p:spPr>
          <a:xfrm>
            <a:off x="1869743" y="2361063"/>
            <a:ext cx="8911988" cy="36303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p:cNvSpPr txBox="1"/>
          <p:nvPr/>
        </p:nvSpPr>
        <p:spPr>
          <a:xfrm>
            <a:off x="3173104" y="2825087"/>
            <a:ext cx="6305265" cy="3046988"/>
          </a:xfrm>
          <a:prstGeom prst="rect">
            <a:avLst/>
          </a:prstGeom>
          <a:noFill/>
        </p:spPr>
        <p:txBody>
          <a:bodyPr wrap="square" rtlCol="0">
            <a:spAutoFit/>
          </a:bodyPr>
          <a:lstStyle/>
          <a:p>
            <a:pPr algn="ctr">
              <a:lnSpc>
                <a:spcPct val="200000"/>
              </a:lnSpc>
            </a:pPr>
            <a:r>
              <a:rPr lang="en-US" sz="2400" dirty="0"/>
              <a:t>Air		Water		Trees</a:t>
            </a:r>
          </a:p>
          <a:p>
            <a:pPr algn="ctr">
              <a:lnSpc>
                <a:spcPct val="200000"/>
              </a:lnSpc>
            </a:pPr>
            <a:r>
              <a:rPr lang="en-US" sz="2400" dirty="0"/>
              <a:t>Animals 	Human being		Metals</a:t>
            </a:r>
          </a:p>
          <a:p>
            <a:pPr algn="ctr">
              <a:lnSpc>
                <a:spcPct val="200000"/>
              </a:lnSpc>
            </a:pPr>
            <a:r>
              <a:rPr lang="en-US" sz="2400" dirty="0"/>
              <a:t>Moon		Sun 		Stars	etc.</a:t>
            </a:r>
          </a:p>
          <a:p>
            <a:pPr algn="ctr">
              <a:lnSpc>
                <a:spcPct val="200000"/>
              </a:lnSpc>
            </a:pPr>
            <a:r>
              <a:rPr lang="en-US" sz="2400" dirty="0">
                <a:solidFill>
                  <a:srgbClr val="00B0F0"/>
                </a:solidFill>
              </a:rPr>
              <a:t>All are units in nature</a:t>
            </a:r>
          </a:p>
        </p:txBody>
      </p:sp>
    </p:spTree>
    <p:extLst>
      <p:ext uri="{BB962C8B-B14F-4D97-AF65-F5344CB8AC3E}">
        <p14:creationId xmlns:p14="http://schemas.microsoft.com/office/powerpoint/2010/main" val="3418229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 these units can be divided into four orders</a:t>
            </a:r>
          </a:p>
        </p:txBody>
      </p:sp>
      <p:sp>
        <p:nvSpPr>
          <p:cNvPr id="3" name="Content Placeholder 2"/>
          <p:cNvSpPr>
            <a:spLocks noGrp="1"/>
          </p:cNvSpPr>
          <p:nvPr>
            <p:ph idx="1"/>
          </p:nvPr>
        </p:nvSpPr>
        <p:spPr/>
        <p:txBody>
          <a:bodyPr anchor="ctr"/>
          <a:lstStyle/>
          <a:p>
            <a:pPr marL="514350" indent="-514350">
              <a:lnSpc>
                <a:spcPct val="150000"/>
              </a:lnSpc>
              <a:buFont typeface="+mj-lt"/>
              <a:buAutoNum type="arabicPeriod"/>
            </a:pPr>
            <a:r>
              <a:rPr lang="en-US" dirty="0"/>
              <a:t>Physical Order</a:t>
            </a:r>
          </a:p>
          <a:p>
            <a:pPr marL="514350" indent="-514350">
              <a:lnSpc>
                <a:spcPct val="150000"/>
              </a:lnSpc>
              <a:buFont typeface="+mj-lt"/>
              <a:buAutoNum type="arabicPeriod"/>
            </a:pPr>
            <a:r>
              <a:rPr lang="en-US" dirty="0" err="1"/>
              <a:t>Pranic</a:t>
            </a:r>
            <a:r>
              <a:rPr lang="en-US" dirty="0"/>
              <a:t> Order</a:t>
            </a:r>
          </a:p>
          <a:p>
            <a:pPr marL="514350" indent="-514350">
              <a:lnSpc>
                <a:spcPct val="150000"/>
              </a:lnSpc>
              <a:buFont typeface="+mj-lt"/>
              <a:buAutoNum type="arabicPeriod"/>
            </a:pPr>
            <a:r>
              <a:rPr lang="en-US" dirty="0"/>
              <a:t>Animal Order</a:t>
            </a:r>
          </a:p>
          <a:p>
            <a:pPr marL="514350" indent="-514350">
              <a:lnSpc>
                <a:spcPct val="150000"/>
              </a:lnSpc>
              <a:buFont typeface="+mj-lt"/>
              <a:buAutoNum type="arabicPeriod"/>
            </a:pPr>
            <a:r>
              <a:rPr lang="en-US" dirty="0"/>
              <a:t>Human Order</a:t>
            </a:r>
          </a:p>
        </p:txBody>
      </p:sp>
    </p:spTree>
    <p:extLst>
      <p:ext uri="{BB962C8B-B14F-4D97-AF65-F5344CB8AC3E}">
        <p14:creationId xmlns:p14="http://schemas.microsoft.com/office/powerpoint/2010/main" val="979491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Orders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3201" y="1801504"/>
            <a:ext cx="7014948" cy="4804012"/>
          </a:xfrm>
        </p:spPr>
      </p:pic>
    </p:spTree>
    <p:extLst>
      <p:ext uri="{BB962C8B-B14F-4D97-AF65-F5344CB8AC3E}">
        <p14:creationId xmlns:p14="http://schemas.microsoft.com/office/powerpoint/2010/main" val="2805947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Order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9994" y="1965278"/>
            <a:ext cx="9183806" cy="4490113"/>
          </a:xfrm>
        </p:spPr>
      </p:pic>
    </p:spTree>
    <p:extLst>
      <p:ext uri="{BB962C8B-B14F-4D97-AF65-F5344CB8AC3E}">
        <p14:creationId xmlns:p14="http://schemas.microsoft.com/office/powerpoint/2010/main" val="3819397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Pranic</a:t>
            </a:r>
            <a:r>
              <a:rPr lang="en-US" dirty="0"/>
              <a:t> Order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4656" y="1825625"/>
            <a:ext cx="8622688" cy="4351338"/>
          </a:xfrm>
        </p:spPr>
      </p:pic>
    </p:spTree>
    <p:extLst>
      <p:ext uri="{BB962C8B-B14F-4D97-AF65-F5344CB8AC3E}">
        <p14:creationId xmlns:p14="http://schemas.microsoft.com/office/powerpoint/2010/main" val="473127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Animal Order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102364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Order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4738948"/>
          </a:xfrm>
        </p:spPr>
      </p:pic>
    </p:spTree>
    <p:extLst>
      <p:ext uri="{BB962C8B-B14F-4D97-AF65-F5344CB8AC3E}">
        <p14:creationId xmlns:p14="http://schemas.microsoft.com/office/powerpoint/2010/main" val="716440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62218"/>
          </a:xfrm>
        </p:spPr>
        <p:txBody>
          <a:bodyPr/>
          <a:lstStyle/>
          <a:p>
            <a:pPr algn="ctr">
              <a:lnSpc>
                <a:spcPct val="150000"/>
              </a:lnSpc>
            </a:pPr>
            <a:r>
              <a:rPr lang="en-US" dirty="0"/>
              <a:t>Interconnectedness</a:t>
            </a:r>
            <a:br>
              <a:rPr lang="en-US" dirty="0"/>
            </a:br>
            <a:r>
              <a:rPr lang="en-US" dirty="0"/>
              <a:t>and</a:t>
            </a:r>
            <a:br>
              <a:rPr lang="en-US" dirty="0"/>
            </a:br>
            <a:r>
              <a:rPr lang="en-US" dirty="0"/>
              <a:t>Mutual Fulfillment Among The Four Orders</a:t>
            </a:r>
          </a:p>
        </p:txBody>
      </p:sp>
    </p:spTree>
    <p:extLst>
      <p:ext uri="{BB962C8B-B14F-4D97-AF65-F5344CB8AC3E}">
        <p14:creationId xmlns:p14="http://schemas.microsoft.com/office/powerpoint/2010/main" val="1761978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Order</a:t>
            </a:r>
          </a:p>
        </p:txBody>
      </p:sp>
      <p:sp>
        <p:nvSpPr>
          <p:cNvPr id="3" name="Content Placeholder 2"/>
          <p:cNvSpPr>
            <a:spLocks noGrp="1"/>
          </p:cNvSpPr>
          <p:nvPr>
            <p:ph sz="half" idx="1"/>
          </p:nvPr>
        </p:nvSpPr>
        <p:spPr/>
        <p:txBody>
          <a:bodyPr>
            <a:normAutofit lnSpcReduction="10000"/>
          </a:bodyPr>
          <a:lstStyle/>
          <a:p>
            <a:pPr>
              <a:lnSpc>
                <a:spcPct val="150000"/>
              </a:lnSpc>
            </a:pPr>
            <a:r>
              <a:rPr lang="en-US" dirty="0"/>
              <a:t>Physical order includes nonliving things as air, water, minerals and so on. It provides mineral and water to plants and animals. As the plants and animals die and decompose, the material returns back to soil and environment</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84132"/>
            <a:ext cx="5181600" cy="4234323"/>
          </a:xfrm>
        </p:spPr>
      </p:pic>
    </p:spTree>
    <p:extLst>
      <p:ext uri="{BB962C8B-B14F-4D97-AF65-F5344CB8AC3E}">
        <p14:creationId xmlns:p14="http://schemas.microsoft.com/office/powerpoint/2010/main" val="1290843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Pranic</a:t>
            </a:r>
            <a:r>
              <a:rPr lang="en-US" dirty="0"/>
              <a:t> Order</a:t>
            </a:r>
          </a:p>
        </p:txBody>
      </p:sp>
      <p:sp>
        <p:nvSpPr>
          <p:cNvPr id="3" name="Content Placeholder 2"/>
          <p:cNvSpPr>
            <a:spLocks noGrp="1"/>
          </p:cNvSpPr>
          <p:nvPr>
            <p:ph sz="half" idx="1"/>
          </p:nvPr>
        </p:nvSpPr>
        <p:spPr/>
        <p:txBody>
          <a:bodyPr anchor="ctr">
            <a:normAutofit fontScale="92500"/>
          </a:bodyPr>
          <a:lstStyle/>
          <a:p>
            <a:pPr>
              <a:lnSpc>
                <a:spcPct val="150000"/>
              </a:lnSpc>
            </a:pPr>
            <a:r>
              <a:rPr lang="en-US" dirty="0" err="1">
                <a:solidFill>
                  <a:srgbClr val="00B0F0"/>
                </a:solidFill>
              </a:rPr>
              <a:t>Pranic</a:t>
            </a:r>
            <a:r>
              <a:rPr lang="en-US" dirty="0">
                <a:solidFill>
                  <a:srgbClr val="00B0F0"/>
                </a:solidFill>
              </a:rPr>
              <a:t> Order includes </a:t>
            </a:r>
            <a:r>
              <a:rPr lang="en-US" dirty="0"/>
              <a:t>all plants as herbs, shrubs, trees etc</a:t>
            </a:r>
            <a:r>
              <a:rPr lang="en-US" dirty="0">
                <a:solidFill>
                  <a:srgbClr val="00B0F0"/>
                </a:solidFill>
              </a:rPr>
              <a:t>. Plants take up minerals and water from soil and </a:t>
            </a:r>
            <a:r>
              <a:rPr lang="en-US" dirty="0"/>
              <a:t>carbon dioxide from air </a:t>
            </a:r>
            <a:r>
              <a:rPr lang="en-US" dirty="0">
                <a:solidFill>
                  <a:srgbClr val="00B0F0"/>
                </a:solidFill>
              </a:rPr>
              <a:t>and convert solar energy into biochemical energy. Plants </a:t>
            </a:r>
            <a:r>
              <a:rPr lang="en-US" dirty="0"/>
              <a:t>provide food for animals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73774"/>
            <a:ext cx="5181600" cy="3855039"/>
          </a:xfrm>
        </p:spPr>
      </p:pic>
    </p:spTree>
    <p:extLst>
      <p:ext uri="{BB962C8B-B14F-4D97-AF65-F5344CB8AC3E}">
        <p14:creationId xmlns:p14="http://schemas.microsoft.com/office/powerpoint/2010/main" val="2811965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half" idx="1"/>
          </p:nvPr>
        </p:nvSpPr>
        <p:spPr/>
        <p:txBody>
          <a:bodyPr anchor="ctr">
            <a:normAutofit/>
          </a:bodyPr>
          <a:lstStyle/>
          <a:p>
            <a:pPr>
              <a:lnSpc>
                <a:spcPct val="150000"/>
              </a:lnSpc>
            </a:pPr>
            <a:r>
              <a:rPr lang="en-US" dirty="0"/>
              <a:t>The material units of Physical Order and </a:t>
            </a:r>
            <a:r>
              <a:rPr lang="en-US" dirty="0" err="1"/>
              <a:t>Pranic</a:t>
            </a:r>
            <a:r>
              <a:rPr lang="en-US" dirty="0"/>
              <a:t> Order are </a:t>
            </a:r>
            <a:r>
              <a:rPr lang="en-US" dirty="0">
                <a:solidFill>
                  <a:srgbClr val="00B0F0"/>
                </a:solidFill>
              </a:rPr>
              <a:t>transformable</a:t>
            </a:r>
            <a:r>
              <a:rPr lang="en-US" dirty="0"/>
              <a:t>, and their composition keeps on charging, hence these are </a:t>
            </a:r>
            <a:r>
              <a:rPr lang="en-US" dirty="0" err="1">
                <a:solidFill>
                  <a:srgbClr val="00B0F0"/>
                </a:solidFill>
              </a:rPr>
              <a:t>Gathansheel</a:t>
            </a:r>
            <a:r>
              <a:rPr lang="en-US" dirty="0">
                <a:solidFill>
                  <a:srgbClr val="00B0F0"/>
                </a:solidFill>
              </a:rPr>
              <a:t>.</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73774"/>
            <a:ext cx="5181600" cy="3855039"/>
          </a:xfrm>
        </p:spPr>
      </p:pic>
    </p:spTree>
    <p:extLst>
      <p:ext uri="{BB962C8B-B14F-4D97-AF65-F5344CB8AC3E}">
        <p14:creationId xmlns:p14="http://schemas.microsoft.com/office/powerpoint/2010/main" val="330906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Animal Order</a:t>
            </a:r>
          </a:p>
        </p:txBody>
      </p:sp>
      <p:sp>
        <p:nvSpPr>
          <p:cNvPr id="3" name="Content Placeholder 2"/>
          <p:cNvSpPr>
            <a:spLocks noGrp="1"/>
          </p:cNvSpPr>
          <p:nvPr>
            <p:ph sz="half" idx="1"/>
          </p:nvPr>
        </p:nvSpPr>
        <p:spPr/>
        <p:txBody>
          <a:bodyPr anchor="ctr"/>
          <a:lstStyle/>
          <a:p>
            <a:pPr>
              <a:lnSpc>
                <a:spcPct val="150000"/>
              </a:lnSpc>
            </a:pPr>
            <a:r>
              <a:rPr lang="en-US" dirty="0">
                <a:solidFill>
                  <a:srgbClr val="00B0F0"/>
                </a:solidFill>
              </a:rPr>
              <a:t>Animal order includes </a:t>
            </a:r>
            <a:r>
              <a:rPr lang="en-US" dirty="0"/>
              <a:t>all animals as fishes, birds, mammals etc.</a:t>
            </a:r>
          </a:p>
          <a:p>
            <a:pPr>
              <a:lnSpc>
                <a:spcPct val="150000"/>
              </a:lnSpc>
            </a:pPr>
            <a:r>
              <a:rPr lang="en-US" dirty="0">
                <a:solidFill>
                  <a:srgbClr val="00B0F0"/>
                </a:solidFill>
              </a:rPr>
              <a:t>Animals take food from plants.</a:t>
            </a:r>
            <a:r>
              <a:rPr lang="en-US" dirty="0"/>
              <a:t> After death they decompose and provide minerals and nutrients, to plants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5647" y="1825626"/>
            <a:ext cx="4477871" cy="3856226"/>
          </a:xfrm>
        </p:spPr>
      </p:pic>
    </p:spTree>
    <p:extLst>
      <p:ext uri="{BB962C8B-B14F-4D97-AF65-F5344CB8AC3E}">
        <p14:creationId xmlns:p14="http://schemas.microsoft.com/office/powerpoint/2010/main" val="4218957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0612" y="1169894"/>
            <a:ext cx="10273553" cy="5195328"/>
          </a:xfrm>
        </p:spPr>
      </p:pic>
    </p:spTree>
    <p:extLst>
      <p:ext uri="{BB962C8B-B14F-4D97-AF65-F5344CB8AC3E}">
        <p14:creationId xmlns:p14="http://schemas.microsoft.com/office/powerpoint/2010/main" val="3394689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chor="ctr">
            <a:normAutofit lnSpcReduction="10000"/>
          </a:bodyPr>
          <a:lstStyle/>
          <a:p>
            <a:pPr>
              <a:lnSpc>
                <a:spcPct val="150000"/>
              </a:lnSpc>
            </a:pPr>
            <a:r>
              <a:rPr lang="en-US" dirty="0">
                <a:solidFill>
                  <a:srgbClr val="00B050"/>
                </a:solidFill>
              </a:rPr>
              <a:t>Human order includes Human Beings</a:t>
            </a:r>
            <a:r>
              <a:rPr lang="en-US" dirty="0"/>
              <a:t>. Human beings fulfill their needs from Material Order.</a:t>
            </a:r>
          </a:p>
          <a:p>
            <a:pPr>
              <a:lnSpc>
                <a:spcPct val="150000"/>
              </a:lnSpc>
            </a:pPr>
            <a:r>
              <a:rPr lang="en-US" dirty="0" err="1"/>
              <a:t>Pranic</a:t>
            </a:r>
            <a:r>
              <a:rPr lang="en-US" dirty="0"/>
              <a:t> Order and Animal Order but </a:t>
            </a:r>
            <a:r>
              <a:rPr lang="en-US" dirty="0">
                <a:solidFill>
                  <a:srgbClr val="00B050"/>
                </a:solidFill>
              </a:rPr>
              <a:t>do not return back in right proportion </a:t>
            </a:r>
            <a:r>
              <a:rPr lang="en-US" dirty="0"/>
              <a:t>so that ecological balance is disturbed.</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19164" y="2006221"/>
            <a:ext cx="3998793" cy="3930555"/>
          </a:xfrm>
        </p:spPr>
      </p:pic>
    </p:spTree>
    <p:extLst>
      <p:ext uri="{BB962C8B-B14F-4D97-AF65-F5344CB8AC3E}">
        <p14:creationId xmlns:p14="http://schemas.microsoft.com/office/powerpoint/2010/main" val="880675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chor="ctr"/>
          <a:lstStyle/>
          <a:p>
            <a:pPr>
              <a:lnSpc>
                <a:spcPct val="150000"/>
              </a:lnSpc>
            </a:pPr>
            <a:r>
              <a:rPr lang="en-US" dirty="0"/>
              <a:t>The units of animal order and human order are the </a:t>
            </a:r>
            <a:r>
              <a:rPr lang="en-US" dirty="0">
                <a:solidFill>
                  <a:srgbClr val="00B050"/>
                </a:solidFill>
              </a:rPr>
              <a:t>sentient (‘I’)</a:t>
            </a:r>
            <a:r>
              <a:rPr lang="en-US" dirty="0"/>
              <a:t> units, which does not transform and are complete in composition, hence </a:t>
            </a:r>
            <a:r>
              <a:rPr lang="en-US" dirty="0" err="1">
                <a:solidFill>
                  <a:srgbClr val="00B050"/>
                </a:solidFill>
              </a:rPr>
              <a:t>Gathanpurna</a:t>
            </a:r>
            <a:endParaRPr lang="en-US" dirty="0">
              <a:solidFill>
                <a:srgbClr val="00B050"/>
              </a:solidFill>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01301" y="1924334"/>
            <a:ext cx="3944203" cy="3957851"/>
          </a:xfrm>
        </p:spPr>
      </p:pic>
    </p:spTree>
    <p:extLst>
      <p:ext uri="{BB962C8B-B14F-4D97-AF65-F5344CB8AC3E}">
        <p14:creationId xmlns:p14="http://schemas.microsoft.com/office/powerpoint/2010/main" val="1569278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91922"/>
          </a:xfrm>
        </p:spPr>
        <p:txBody>
          <a:bodyPr>
            <a:normAutofit/>
          </a:bodyPr>
          <a:lstStyle/>
          <a:p>
            <a:pPr marL="0" indent="0" algn="ctr">
              <a:lnSpc>
                <a:spcPct val="150000"/>
              </a:lnSpc>
            </a:pPr>
            <a:r>
              <a:rPr lang="en-US" dirty="0"/>
              <a:t>Human beings </a:t>
            </a:r>
            <a:r>
              <a:rPr lang="en-US" dirty="0">
                <a:solidFill>
                  <a:srgbClr val="00B050"/>
                </a:solidFill>
              </a:rPr>
              <a:t>have Natural Acceptance </a:t>
            </a:r>
            <a:r>
              <a:rPr lang="en-US" dirty="0"/>
              <a:t>to be mutually fulfilling.</a:t>
            </a:r>
            <a:br>
              <a:rPr lang="en-US" dirty="0"/>
            </a:br>
            <a:r>
              <a:rPr lang="en-US" dirty="0">
                <a:solidFill>
                  <a:srgbClr val="00B050"/>
                </a:solidFill>
              </a:rPr>
              <a:t>Once human beings understand </a:t>
            </a:r>
            <a:r>
              <a:rPr lang="en-US" dirty="0"/>
              <a:t>the mutual fulfillment they can be fulfilling of all</a:t>
            </a:r>
            <a:br>
              <a:rPr lang="en-US" dirty="0"/>
            </a:br>
            <a:endParaRPr lang="en-US" dirty="0"/>
          </a:p>
        </p:txBody>
      </p:sp>
    </p:spTree>
    <p:extLst>
      <p:ext uri="{BB962C8B-B14F-4D97-AF65-F5344CB8AC3E}">
        <p14:creationId xmlns:p14="http://schemas.microsoft.com/office/powerpoint/2010/main" val="299035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of Human Being in Entire Nature</a:t>
            </a:r>
          </a:p>
        </p:txBody>
      </p:sp>
      <p:sp>
        <p:nvSpPr>
          <p:cNvPr id="3" name="Content Placeholder 2"/>
          <p:cNvSpPr>
            <a:spLocks noGrp="1"/>
          </p:cNvSpPr>
          <p:nvPr>
            <p:ph idx="1"/>
          </p:nvPr>
        </p:nvSpPr>
        <p:spPr/>
        <p:txBody>
          <a:bodyPr/>
          <a:lstStyle/>
          <a:p>
            <a:pPr>
              <a:lnSpc>
                <a:spcPct val="150000"/>
              </a:lnSpc>
            </a:pPr>
            <a:r>
              <a:rPr lang="en-US" dirty="0"/>
              <a:t>To Understand the inherent harmony in nature : </a:t>
            </a:r>
            <a:r>
              <a:rPr lang="en-US" dirty="0">
                <a:solidFill>
                  <a:srgbClr val="00B050"/>
                </a:solidFill>
              </a:rPr>
              <a:t>There is already Harmony &amp; balance in Nature. We do not have to create it.</a:t>
            </a:r>
          </a:p>
          <a:p>
            <a:pPr>
              <a:lnSpc>
                <a:spcPct val="150000"/>
              </a:lnSpc>
            </a:pPr>
            <a:r>
              <a:rPr lang="en-US" dirty="0"/>
              <a:t>To facilitate the innateness of all orders</a:t>
            </a:r>
          </a:p>
          <a:p>
            <a:pPr>
              <a:lnSpc>
                <a:spcPct val="150000"/>
              </a:lnSpc>
            </a:pPr>
            <a:r>
              <a:rPr lang="en-US" dirty="0"/>
              <a:t>To ensure the inheritance of all orders</a:t>
            </a:r>
          </a:p>
        </p:txBody>
      </p:sp>
    </p:spTree>
    <p:extLst>
      <p:ext uri="{BB962C8B-B14F-4D97-AF65-F5344CB8AC3E}">
        <p14:creationId xmlns:p14="http://schemas.microsoft.com/office/powerpoint/2010/main" val="2238787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90969"/>
          </a:xfrm>
        </p:spPr>
        <p:txBody>
          <a:bodyPr/>
          <a:lstStyle/>
          <a:p>
            <a:pPr algn="ctr">
              <a:lnSpc>
                <a:spcPct val="150000"/>
              </a:lnSpc>
            </a:pPr>
            <a:r>
              <a:rPr lang="en-US" dirty="0"/>
              <a:t>Human participation for mutual fulfillment of all four orders.</a:t>
            </a:r>
          </a:p>
        </p:txBody>
      </p:sp>
    </p:spTree>
    <p:extLst>
      <p:ext uri="{BB962C8B-B14F-4D97-AF65-F5344CB8AC3E}">
        <p14:creationId xmlns:p14="http://schemas.microsoft.com/office/powerpoint/2010/main" val="3291352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Order</a:t>
            </a:r>
          </a:p>
        </p:txBody>
      </p:sp>
      <p:sp>
        <p:nvSpPr>
          <p:cNvPr id="3" name="Content Placeholder 2"/>
          <p:cNvSpPr>
            <a:spLocks noGrp="1"/>
          </p:cNvSpPr>
          <p:nvPr>
            <p:ph idx="1"/>
          </p:nvPr>
        </p:nvSpPr>
        <p:spPr/>
        <p:txBody>
          <a:bodyPr anchor="ctr"/>
          <a:lstStyle/>
          <a:p>
            <a:pPr>
              <a:lnSpc>
                <a:spcPct val="150000"/>
              </a:lnSpc>
            </a:pPr>
            <a:r>
              <a:rPr lang="en-US" dirty="0"/>
              <a:t>Facilitate its existence by </a:t>
            </a:r>
            <a:r>
              <a:rPr lang="en-US" dirty="0">
                <a:solidFill>
                  <a:srgbClr val="00B050"/>
                </a:solidFill>
              </a:rPr>
              <a:t>ensuring conducive environment </a:t>
            </a:r>
            <a:r>
              <a:rPr lang="en-US" dirty="0"/>
              <a:t>and maintaining / </a:t>
            </a:r>
            <a:r>
              <a:rPr lang="en-US" dirty="0">
                <a:solidFill>
                  <a:srgbClr val="00B050"/>
                </a:solidFill>
              </a:rPr>
              <a:t>ensuring its composition </a:t>
            </a:r>
            <a:r>
              <a:rPr lang="en-US" dirty="0"/>
              <a:t>(e.g. constitution of Earth)</a:t>
            </a:r>
          </a:p>
        </p:txBody>
      </p:sp>
    </p:spTree>
    <p:extLst>
      <p:ext uri="{BB962C8B-B14F-4D97-AF65-F5344CB8AC3E}">
        <p14:creationId xmlns:p14="http://schemas.microsoft.com/office/powerpoint/2010/main" val="4057374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Pranic</a:t>
            </a:r>
            <a:r>
              <a:rPr lang="en-US" dirty="0"/>
              <a:t> Order</a:t>
            </a:r>
          </a:p>
        </p:txBody>
      </p:sp>
      <p:sp>
        <p:nvSpPr>
          <p:cNvPr id="3" name="Content Placeholder 2"/>
          <p:cNvSpPr>
            <a:spLocks noGrp="1"/>
          </p:cNvSpPr>
          <p:nvPr>
            <p:ph idx="1"/>
          </p:nvPr>
        </p:nvSpPr>
        <p:spPr/>
        <p:txBody>
          <a:bodyPr anchor="ctr"/>
          <a:lstStyle/>
          <a:p>
            <a:pPr>
              <a:lnSpc>
                <a:spcPct val="150000"/>
              </a:lnSpc>
            </a:pPr>
            <a:r>
              <a:rPr lang="en-US" dirty="0">
                <a:solidFill>
                  <a:srgbClr val="00B050"/>
                </a:solidFill>
              </a:rPr>
              <a:t>Facilitate its growth </a:t>
            </a:r>
            <a:r>
              <a:rPr lang="en-US" dirty="0"/>
              <a:t>by ensuring conducive environment and maintaining </a:t>
            </a:r>
            <a:r>
              <a:rPr lang="en-US" dirty="0">
                <a:solidFill>
                  <a:srgbClr val="00B050"/>
                </a:solidFill>
              </a:rPr>
              <a:t>/ ensuring its seed. Preserving Biodiversity</a:t>
            </a:r>
            <a:r>
              <a:rPr lang="en-US" dirty="0"/>
              <a:t>.</a:t>
            </a:r>
          </a:p>
        </p:txBody>
      </p:sp>
    </p:spTree>
    <p:extLst>
      <p:ext uri="{BB962C8B-B14F-4D97-AF65-F5344CB8AC3E}">
        <p14:creationId xmlns:p14="http://schemas.microsoft.com/office/powerpoint/2010/main" val="14403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Animal Order</a:t>
            </a:r>
          </a:p>
        </p:txBody>
      </p:sp>
      <p:sp>
        <p:nvSpPr>
          <p:cNvPr id="3" name="Content Placeholder 2"/>
          <p:cNvSpPr>
            <a:spLocks noGrp="1"/>
          </p:cNvSpPr>
          <p:nvPr>
            <p:ph idx="1"/>
          </p:nvPr>
        </p:nvSpPr>
        <p:spPr/>
        <p:txBody>
          <a:bodyPr anchor="ctr"/>
          <a:lstStyle/>
          <a:p>
            <a:pPr marL="514350" indent="-514350">
              <a:lnSpc>
                <a:spcPct val="150000"/>
              </a:lnSpc>
              <a:buFont typeface="+mj-lt"/>
              <a:buAutoNum type="arabicPeriod"/>
            </a:pPr>
            <a:r>
              <a:rPr lang="en-US" dirty="0"/>
              <a:t>Facilitate </a:t>
            </a:r>
            <a:r>
              <a:rPr lang="en-US" dirty="0">
                <a:solidFill>
                  <a:srgbClr val="00B050"/>
                </a:solidFill>
              </a:rPr>
              <a:t>care of the body </a:t>
            </a:r>
            <a:r>
              <a:rPr lang="en-US" dirty="0"/>
              <a:t>by ensuring physical facility, environment for existence and growth of body.</a:t>
            </a:r>
          </a:p>
          <a:p>
            <a:pPr marL="514350" indent="-514350">
              <a:lnSpc>
                <a:spcPct val="150000"/>
              </a:lnSpc>
              <a:buFont typeface="+mj-lt"/>
              <a:buAutoNum type="arabicPeriod"/>
            </a:pPr>
            <a:r>
              <a:rPr lang="en-US" dirty="0"/>
              <a:t>Facilitate its will to live by maintaining and showing its breed. </a:t>
            </a:r>
            <a:r>
              <a:rPr lang="en-US" dirty="0">
                <a:solidFill>
                  <a:srgbClr val="00B050"/>
                </a:solidFill>
              </a:rPr>
              <a:t>Preserving Biodiversity.</a:t>
            </a:r>
          </a:p>
        </p:txBody>
      </p:sp>
    </p:spTree>
    <p:extLst>
      <p:ext uri="{BB962C8B-B14F-4D97-AF65-F5344CB8AC3E}">
        <p14:creationId xmlns:p14="http://schemas.microsoft.com/office/powerpoint/2010/main" val="343848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Order</a:t>
            </a:r>
          </a:p>
        </p:txBody>
      </p:sp>
      <p:sp>
        <p:nvSpPr>
          <p:cNvPr id="3" name="Content Placeholder 2"/>
          <p:cNvSpPr>
            <a:spLocks noGrp="1"/>
          </p:cNvSpPr>
          <p:nvPr>
            <p:ph idx="1"/>
          </p:nvPr>
        </p:nvSpPr>
        <p:spPr/>
        <p:txBody>
          <a:bodyPr/>
          <a:lstStyle/>
          <a:p>
            <a:pPr marL="514350" indent="-514350">
              <a:lnSpc>
                <a:spcPct val="150000"/>
              </a:lnSpc>
              <a:buFont typeface="+mj-lt"/>
              <a:buAutoNum type="arabicPeriod"/>
            </a:pPr>
            <a:r>
              <a:rPr lang="en-US" dirty="0"/>
              <a:t>Facilitate </a:t>
            </a:r>
            <a:r>
              <a:rPr lang="en-US" dirty="0">
                <a:solidFill>
                  <a:srgbClr val="00B050"/>
                </a:solidFill>
              </a:rPr>
              <a:t>care of the body </a:t>
            </a:r>
            <a:r>
              <a:rPr lang="en-US" dirty="0"/>
              <a:t>by ensuring physical facility, environment for existence and growth of body.</a:t>
            </a:r>
          </a:p>
          <a:p>
            <a:pPr marL="514350" indent="-514350">
              <a:lnSpc>
                <a:spcPct val="150000"/>
              </a:lnSpc>
              <a:buFont typeface="+mj-lt"/>
              <a:buAutoNum type="arabicPeriod"/>
            </a:pPr>
            <a:r>
              <a:rPr lang="en-US" dirty="0"/>
              <a:t>Facilitate </a:t>
            </a:r>
            <a:r>
              <a:rPr lang="en-US" dirty="0">
                <a:solidFill>
                  <a:srgbClr val="00B050"/>
                </a:solidFill>
              </a:rPr>
              <a:t>its will be live with continuous happiness </a:t>
            </a:r>
            <a:r>
              <a:rPr lang="en-US" dirty="0"/>
              <a:t>by ensuring human </a:t>
            </a:r>
            <a:r>
              <a:rPr lang="en-US" dirty="0">
                <a:solidFill>
                  <a:srgbClr val="00B050"/>
                </a:solidFill>
              </a:rPr>
              <a:t>Education – </a:t>
            </a:r>
            <a:r>
              <a:rPr lang="en-US" dirty="0" err="1">
                <a:solidFill>
                  <a:srgbClr val="00B050"/>
                </a:solidFill>
              </a:rPr>
              <a:t>Sanskar</a:t>
            </a:r>
            <a:r>
              <a:rPr lang="en-US" dirty="0"/>
              <a:t>.</a:t>
            </a:r>
          </a:p>
          <a:p>
            <a:pPr marL="514350" indent="-514350">
              <a:lnSpc>
                <a:spcPct val="150000"/>
              </a:lnSpc>
              <a:buFont typeface="+mj-lt"/>
              <a:buAutoNum type="arabicPeriod"/>
            </a:pPr>
            <a:r>
              <a:rPr lang="en-US" dirty="0"/>
              <a:t>Participating in developing, maintaining undivided Society and </a:t>
            </a:r>
            <a:r>
              <a:rPr lang="en-US" dirty="0">
                <a:solidFill>
                  <a:srgbClr val="00B050"/>
                </a:solidFill>
              </a:rPr>
              <a:t>Universal Human Order.</a:t>
            </a:r>
          </a:p>
        </p:txBody>
      </p:sp>
    </p:spTree>
    <p:extLst>
      <p:ext uri="{BB962C8B-B14F-4D97-AF65-F5344CB8AC3E}">
        <p14:creationId xmlns:p14="http://schemas.microsoft.com/office/powerpoint/2010/main" val="291793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68475"/>
          </a:xfrm>
        </p:spPr>
        <p:txBody>
          <a:bodyPr/>
          <a:lstStyle/>
          <a:p>
            <a:pPr algn="ctr"/>
            <a:r>
              <a:rPr lang="en-US" dirty="0"/>
              <a:t>Dependence of any order is on all previous orders</a:t>
            </a:r>
          </a:p>
        </p:txBody>
      </p:sp>
      <p:sp>
        <p:nvSpPr>
          <p:cNvPr id="3" name="Content Placeholder 2"/>
          <p:cNvSpPr>
            <a:spLocks noGrp="1"/>
          </p:cNvSpPr>
          <p:nvPr>
            <p:ph sz="half" idx="1"/>
          </p:nvPr>
        </p:nvSpPr>
        <p:spPr>
          <a:xfrm>
            <a:off x="838200" y="2518352"/>
            <a:ext cx="5181600" cy="3355975"/>
          </a:xfrm>
        </p:spPr>
        <p:txBody>
          <a:bodyPr/>
          <a:lstStyle/>
          <a:p>
            <a:r>
              <a:rPr lang="en-US" dirty="0" err="1">
                <a:solidFill>
                  <a:srgbClr val="C00000"/>
                </a:solidFill>
              </a:rPr>
              <a:t>Pranic</a:t>
            </a:r>
            <a:r>
              <a:rPr lang="en-US" dirty="0">
                <a:solidFill>
                  <a:srgbClr val="C00000"/>
                </a:solidFill>
              </a:rPr>
              <a:t> Order </a:t>
            </a:r>
            <a:r>
              <a:rPr lang="en-US" dirty="0"/>
              <a:t>is dependent on </a:t>
            </a:r>
            <a:r>
              <a:rPr lang="en-US" dirty="0">
                <a:solidFill>
                  <a:srgbClr val="00B050"/>
                </a:solidFill>
              </a:rPr>
              <a:t>Physical Order</a:t>
            </a:r>
          </a:p>
          <a:p>
            <a:r>
              <a:rPr lang="en-US" dirty="0">
                <a:solidFill>
                  <a:srgbClr val="C00000"/>
                </a:solidFill>
              </a:rPr>
              <a:t>Animal Order </a:t>
            </a:r>
            <a:r>
              <a:rPr lang="en-US" dirty="0"/>
              <a:t>is dependent on </a:t>
            </a:r>
            <a:r>
              <a:rPr lang="en-US" dirty="0" err="1">
                <a:solidFill>
                  <a:srgbClr val="00B050"/>
                </a:solidFill>
              </a:rPr>
              <a:t>Pranic</a:t>
            </a:r>
            <a:r>
              <a:rPr lang="en-US" dirty="0">
                <a:solidFill>
                  <a:srgbClr val="00B050"/>
                </a:solidFill>
              </a:rPr>
              <a:t> Order </a:t>
            </a:r>
            <a:r>
              <a:rPr lang="en-US" dirty="0"/>
              <a:t>and </a:t>
            </a:r>
            <a:r>
              <a:rPr lang="en-US" dirty="0">
                <a:solidFill>
                  <a:srgbClr val="00B050"/>
                </a:solidFill>
              </a:rPr>
              <a:t>Physical Order</a:t>
            </a:r>
          </a:p>
          <a:p>
            <a:r>
              <a:rPr lang="en-US" dirty="0">
                <a:solidFill>
                  <a:srgbClr val="C00000"/>
                </a:solidFill>
              </a:rPr>
              <a:t>Human Order </a:t>
            </a:r>
            <a:r>
              <a:rPr lang="en-US" dirty="0"/>
              <a:t>depends on </a:t>
            </a:r>
            <a:r>
              <a:rPr lang="en-US" dirty="0">
                <a:solidFill>
                  <a:srgbClr val="00B050"/>
                </a:solidFill>
              </a:rPr>
              <a:t>Animal Order, </a:t>
            </a:r>
            <a:r>
              <a:rPr lang="en-US" dirty="0" err="1">
                <a:solidFill>
                  <a:srgbClr val="00B050"/>
                </a:solidFill>
              </a:rPr>
              <a:t>Pranic</a:t>
            </a:r>
            <a:r>
              <a:rPr lang="en-US" dirty="0">
                <a:solidFill>
                  <a:srgbClr val="00B050"/>
                </a:solidFill>
              </a:rPr>
              <a:t> Order </a:t>
            </a:r>
            <a:r>
              <a:rPr lang="en-US" dirty="0"/>
              <a:t>as well as </a:t>
            </a:r>
            <a:r>
              <a:rPr lang="en-US" dirty="0">
                <a:solidFill>
                  <a:srgbClr val="00B050"/>
                </a:solidFill>
              </a:rPr>
              <a:t>Physical Order.</a:t>
            </a:r>
          </a:p>
          <a:p>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74873" y="2248188"/>
            <a:ext cx="3851563" cy="3626139"/>
          </a:xfrm>
        </p:spPr>
      </p:pic>
    </p:spTree>
    <p:extLst>
      <p:ext uri="{BB962C8B-B14F-4D97-AF65-F5344CB8AC3E}">
        <p14:creationId xmlns:p14="http://schemas.microsoft.com/office/powerpoint/2010/main" val="3356146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9820"/>
          </a:xfrm>
        </p:spPr>
        <p:txBody>
          <a:bodyPr/>
          <a:lstStyle/>
          <a:p>
            <a:pPr algn="ctr">
              <a:lnSpc>
                <a:spcPct val="150000"/>
              </a:lnSpc>
            </a:pPr>
            <a:r>
              <a:rPr lang="en-US" dirty="0"/>
              <a:t>Nature is organized in such a manner that the physical facility required for any order is available in abundance.</a:t>
            </a:r>
            <a:br>
              <a:rPr lang="en-US" dirty="0"/>
            </a:br>
            <a:r>
              <a:rPr lang="en-US" sz="3200" dirty="0">
                <a:solidFill>
                  <a:srgbClr val="C00000"/>
                </a:solidFill>
              </a:rPr>
              <a:t>Physical Order &gt;&gt;</a:t>
            </a:r>
            <a:r>
              <a:rPr lang="en-US" sz="3200" dirty="0" err="1">
                <a:solidFill>
                  <a:srgbClr val="C00000"/>
                </a:solidFill>
              </a:rPr>
              <a:t>Pranic</a:t>
            </a:r>
            <a:r>
              <a:rPr lang="en-US" sz="3200" dirty="0">
                <a:solidFill>
                  <a:srgbClr val="C00000"/>
                </a:solidFill>
              </a:rPr>
              <a:t> Order&gt;&gt;Animal Order&gt;&gt;Human Order</a:t>
            </a:r>
          </a:p>
        </p:txBody>
      </p:sp>
    </p:spTree>
    <p:extLst>
      <p:ext uri="{BB962C8B-B14F-4D97-AF65-F5344CB8AC3E}">
        <p14:creationId xmlns:p14="http://schemas.microsoft.com/office/powerpoint/2010/main" val="2892208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80257"/>
          </a:xfrm>
        </p:spPr>
        <p:txBody>
          <a:bodyPr/>
          <a:lstStyle/>
          <a:p>
            <a:pPr>
              <a:lnSpc>
                <a:spcPct val="150000"/>
              </a:lnSpc>
            </a:pPr>
            <a:r>
              <a:rPr lang="en-US" dirty="0"/>
              <a:t>The </a:t>
            </a:r>
            <a:r>
              <a:rPr lang="en-US" dirty="0">
                <a:solidFill>
                  <a:srgbClr val="C00000"/>
                </a:solidFill>
              </a:rPr>
              <a:t>first three orders </a:t>
            </a:r>
            <a:r>
              <a:rPr lang="en-US" dirty="0"/>
              <a:t>are mutually fulfilling for each other. </a:t>
            </a:r>
            <a:r>
              <a:rPr lang="en-US" dirty="0">
                <a:solidFill>
                  <a:srgbClr val="C00000"/>
                </a:solidFill>
              </a:rPr>
              <a:t>They are fulfilling for human being also.</a:t>
            </a:r>
            <a:br>
              <a:rPr lang="en-US" dirty="0"/>
            </a:br>
            <a:r>
              <a:rPr lang="en-US" dirty="0"/>
              <a:t>It is naturally acceptable to human being to be </a:t>
            </a:r>
            <a:r>
              <a:rPr lang="en-US" dirty="0">
                <a:solidFill>
                  <a:srgbClr val="C00000"/>
                </a:solidFill>
              </a:rPr>
              <a:t>fulfilling for all the orders.</a:t>
            </a:r>
          </a:p>
        </p:txBody>
      </p:sp>
    </p:spTree>
    <p:extLst>
      <p:ext uri="{BB962C8B-B14F-4D97-AF65-F5344CB8AC3E}">
        <p14:creationId xmlns:p14="http://schemas.microsoft.com/office/powerpoint/2010/main" val="1681517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5620039"/>
          </a:xfrm>
        </p:spPr>
        <p:txBody>
          <a:bodyPr>
            <a:normAutofit fontScale="90000"/>
          </a:bodyPr>
          <a:lstStyle/>
          <a:p>
            <a:pPr>
              <a:lnSpc>
                <a:spcPct val="150000"/>
              </a:lnSpc>
            </a:pPr>
            <a:r>
              <a:rPr lang="en-US" dirty="0"/>
              <a:t>But due to indefinite conduct (without knowing) he is living on assumptions which is the source of problem. The definite conduct of human being can be ensured by </a:t>
            </a:r>
            <a:r>
              <a:rPr lang="en-US" dirty="0">
                <a:solidFill>
                  <a:srgbClr val="C00000"/>
                </a:solidFill>
              </a:rPr>
              <a:t>knowing </a:t>
            </a:r>
            <a:r>
              <a:rPr lang="en-US" dirty="0"/>
              <a:t>and </a:t>
            </a:r>
            <a:r>
              <a:rPr lang="en-US" dirty="0">
                <a:solidFill>
                  <a:srgbClr val="C00000"/>
                </a:solidFill>
              </a:rPr>
              <a:t>right understanding </a:t>
            </a:r>
            <a:r>
              <a:rPr lang="en-US" dirty="0"/>
              <a:t>through </a:t>
            </a:r>
            <a:r>
              <a:rPr lang="en-US" dirty="0">
                <a:solidFill>
                  <a:srgbClr val="C00000"/>
                </a:solidFill>
              </a:rPr>
              <a:t>Education</a:t>
            </a:r>
            <a:r>
              <a:rPr lang="en-US" dirty="0"/>
              <a:t> and </a:t>
            </a:r>
            <a:r>
              <a:rPr lang="en-US" dirty="0" err="1">
                <a:solidFill>
                  <a:srgbClr val="C00000"/>
                </a:solidFill>
              </a:rPr>
              <a:t>Sanskar</a:t>
            </a:r>
            <a:endParaRPr lang="en-US" dirty="0">
              <a:solidFill>
                <a:srgbClr val="C00000"/>
              </a:solidFill>
            </a:endParaRPr>
          </a:p>
        </p:txBody>
      </p:sp>
    </p:spTree>
    <p:extLst>
      <p:ext uri="{BB962C8B-B14F-4D97-AF65-F5344CB8AC3E}">
        <p14:creationId xmlns:p14="http://schemas.microsoft.com/office/powerpoint/2010/main" val="4140754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254" y="0"/>
            <a:ext cx="10515600" cy="3084657"/>
          </a:xfrm>
        </p:spPr>
        <p:txBody>
          <a:bodyPr>
            <a:normAutofit/>
          </a:bodyPr>
          <a:lstStyle/>
          <a:p>
            <a:pPr algn="ctr">
              <a:lnSpc>
                <a:spcPct val="150000"/>
              </a:lnSpc>
            </a:pPr>
            <a:r>
              <a:rPr lang="en-US" dirty="0"/>
              <a:t>The role of human being is to realize this mutual fulfillment. For this all that human beings need to do is:</a:t>
            </a:r>
          </a:p>
        </p:txBody>
      </p:sp>
      <p:sp>
        <p:nvSpPr>
          <p:cNvPr id="3" name="Content Placeholder 2"/>
          <p:cNvSpPr>
            <a:spLocks noGrp="1"/>
          </p:cNvSpPr>
          <p:nvPr>
            <p:ph idx="1"/>
          </p:nvPr>
        </p:nvSpPr>
        <p:spPr>
          <a:xfrm>
            <a:off x="838200" y="3241963"/>
            <a:ext cx="10515600" cy="2934999"/>
          </a:xfrm>
        </p:spPr>
        <p:txBody>
          <a:bodyPr/>
          <a:lstStyle/>
          <a:p>
            <a:pPr>
              <a:lnSpc>
                <a:spcPct val="150000"/>
              </a:lnSpc>
            </a:pPr>
            <a:r>
              <a:rPr lang="en-US" dirty="0"/>
              <a:t>To understand that </a:t>
            </a:r>
            <a:r>
              <a:rPr lang="en-US" dirty="0">
                <a:solidFill>
                  <a:srgbClr val="C00000"/>
                </a:solidFill>
              </a:rPr>
              <a:t>mutual fulfillment (harmony) is in inherent </a:t>
            </a:r>
            <a:r>
              <a:rPr lang="en-US" dirty="0"/>
              <a:t>in nature – we do not have to create it.</a:t>
            </a:r>
          </a:p>
          <a:p>
            <a:pPr>
              <a:lnSpc>
                <a:spcPct val="150000"/>
              </a:lnSpc>
            </a:pPr>
            <a:r>
              <a:rPr lang="en-US" dirty="0">
                <a:solidFill>
                  <a:srgbClr val="C00000"/>
                </a:solidFill>
              </a:rPr>
              <a:t>To live accordingly </a:t>
            </a:r>
            <a:r>
              <a:rPr lang="en-US" dirty="0"/>
              <a:t>– then the mutual fulfillment among the four orders will be realized.</a:t>
            </a:r>
          </a:p>
          <a:p>
            <a:endParaRPr lang="en-US" dirty="0"/>
          </a:p>
        </p:txBody>
      </p:sp>
    </p:spTree>
    <p:extLst>
      <p:ext uri="{BB962C8B-B14F-4D97-AF65-F5344CB8AC3E}">
        <p14:creationId xmlns:p14="http://schemas.microsoft.com/office/powerpoint/2010/main" val="3627539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24293"/>
          </a:xfrm>
        </p:spPr>
        <p:txBody>
          <a:bodyPr/>
          <a:lstStyle/>
          <a:p>
            <a:pPr algn="ctr">
              <a:lnSpc>
                <a:spcPct val="150000"/>
              </a:lnSpc>
            </a:pPr>
            <a:r>
              <a:rPr lang="en-US" dirty="0"/>
              <a:t>Completion of right understanding in human being is called </a:t>
            </a:r>
            <a:r>
              <a:rPr lang="en-US" dirty="0" err="1">
                <a:solidFill>
                  <a:srgbClr val="00B0F0"/>
                </a:solidFill>
              </a:rPr>
              <a:t>Kriyapurnata</a:t>
            </a:r>
            <a:r>
              <a:rPr lang="en-US" dirty="0"/>
              <a:t> and ability to live with complete understanding is called </a:t>
            </a:r>
            <a:r>
              <a:rPr lang="en-US" dirty="0" err="1">
                <a:solidFill>
                  <a:srgbClr val="00B0F0"/>
                </a:solidFill>
              </a:rPr>
              <a:t>Acharanpurnata</a:t>
            </a:r>
            <a:r>
              <a:rPr lang="en-US" dirty="0"/>
              <a:t>.</a:t>
            </a:r>
          </a:p>
        </p:txBody>
      </p:sp>
    </p:spTree>
    <p:extLst>
      <p:ext uri="{BB962C8B-B14F-4D97-AF65-F5344CB8AC3E}">
        <p14:creationId xmlns:p14="http://schemas.microsoft.com/office/powerpoint/2010/main" val="2446665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49530"/>
          </a:xfrm>
        </p:spPr>
        <p:txBody>
          <a:bodyPr/>
          <a:lstStyle/>
          <a:p>
            <a:pPr algn="ctr">
              <a:lnSpc>
                <a:spcPct val="150000"/>
              </a:lnSpc>
            </a:pPr>
            <a:r>
              <a:rPr lang="en-US" dirty="0"/>
              <a:t>Understanding </a:t>
            </a:r>
            <a:r>
              <a:rPr lang="en-US" dirty="0">
                <a:solidFill>
                  <a:srgbClr val="00B0F0"/>
                </a:solidFill>
              </a:rPr>
              <a:t>Existence as Co-existence </a:t>
            </a:r>
            <a:r>
              <a:rPr lang="en-US" dirty="0"/>
              <a:t>(</a:t>
            </a:r>
            <a:r>
              <a:rPr lang="en-US" dirty="0" err="1"/>
              <a:t>Sah-astiva</a:t>
            </a:r>
            <a:r>
              <a:rPr lang="en-US" dirty="0"/>
              <a:t>) of mutually interacting units in all-pervasive space</a:t>
            </a:r>
          </a:p>
        </p:txBody>
      </p:sp>
    </p:spTree>
    <p:extLst>
      <p:ext uri="{BB962C8B-B14F-4D97-AF65-F5344CB8AC3E}">
        <p14:creationId xmlns:p14="http://schemas.microsoft.com/office/powerpoint/2010/main" val="3228379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03166"/>
          </a:xfrm>
        </p:spPr>
        <p:txBody>
          <a:bodyPr/>
          <a:lstStyle/>
          <a:p>
            <a:r>
              <a:rPr lang="en-US" dirty="0">
                <a:solidFill>
                  <a:srgbClr val="FF0000"/>
                </a:solidFill>
              </a:rPr>
              <a:t>Existence</a:t>
            </a:r>
            <a:r>
              <a:rPr lang="en-US" dirty="0"/>
              <a:t> :  There are two kinds of realities in existence.</a:t>
            </a:r>
            <a:br>
              <a:rPr lang="en-US" dirty="0"/>
            </a:br>
            <a:br>
              <a:rPr lang="en-US" dirty="0"/>
            </a:br>
            <a:r>
              <a:rPr lang="en-US" sz="4000" dirty="0">
                <a:solidFill>
                  <a:srgbClr val="FF0000"/>
                </a:solidFill>
              </a:rPr>
              <a:t>1. Units </a:t>
            </a:r>
            <a:r>
              <a:rPr lang="en-US" sz="4000" dirty="0"/>
              <a:t>: Something that is </a:t>
            </a:r>
            <a:r>
              <a:rPr lang="en-US" sz="4000" dirty="0">
                <a:solidFill>
                  <a:srgbClr val="00B0F0"/>
                </a:solidFill>
              </a:rPr>
              <a:t>limited in size</a:t>
            </a:r>
            <a:br>
              <a:rPr lang="en-US" sz="4000" dirty="0"/>
            </a:br>
            <a:r>
              <a:rPr lang="en-US" sz="4000" dirty="0"/>
              <a:t>e.g.:  atoms, molecule, plant, animals, human beings etc.</a:t>
            </a:r>
            <a:br>
              <a:rPr lang="en-US" sz="4000" dirty="0"/>
            </a:br>
            <a:r>
              <a:rPr lang="en-US" sz="4000" dirty="0">
                <a:solidFill>
                  <a:srgbClr val="FF0000"/>
                </a:solidFill>
              </a:rPr>
              <a:t>2. Space</a:t>
            </a:r>
            <a:r>
              <a:rPr lang="en-US" sz="4000" dirty="0"/>
              <a:t>:  We </a:t>
            </a:r>
            <a:r>
              <a:rPr lang="en-US" sz="4000" dirty="0">
                <a:solidFill>
                  <a:srgbClr val="00B0F0"/>
                </a:solidFill>
              </a:rPr>
              <a:t>can’t ‘touch it’ </a:t>
            </a:r>
            <a:r>
              <a:rPr lang="en-US" sz="4000" dirty="0"/>
              <a:t>as a unit but it exists everywhere. We can </a:t>
            </a:r>
            <a:r>
              <a:rPr lang="en-US" sz="4000" dirty="0">
                <a:solidFill>
                  <a:srgbClr val="00B0F0"/>
                </a:solidFill>
              </a:rPr>
              <a:t>just ‘see through it’</a:t>
            </a:r>
          </a:p>
        </p:txBody>
      </p:sp>
    </p:spTree>
    <p:extLst>
      <p:ext uri="{BB962C8B-B14F-4D97-AF65-F5344CB8AC3E}">
        <p14:creationId xmlns:p14="http://schemas.microsoft.com/office/powerpoint/2010/main" val="2870034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2657"/>
          </a:xfrm>
        </p:spPr>
        <p:txBody>
          <a:bodyPr>
            <a:normAutofit fontScale="90000"/>
          </a:bodyPr>
          <a:lstStyle/>
          <a:p>
            <a:pPr algn="ctr"/>
            <a:r>
              <a:rPr lang="en-US" dirty="0"/>
              <a:t>The units exit in space and </a:t>
            </a:r>
            <a:br>
              <a:rPr lang="en-US" dirty="0"/>
            </a:br>
            <a:br>
              <a:rPr lang="en-US" dirty="0"/>
            </a:br>
            <a:r>
              <a:rPr lang="en-US" dirty="0"/>
              <a:t>between every two units there is a space.</a:t>
            </a:r>
            <a:br>
              <a:rPr lang="en-US" dirty="0"/>
            </a:br>
            <a:br>
              <a:rPr lang="en-US" dirty="0"/>
            </a:br>
            <a:r>
              <a:rPr lang="en-US" dirty="0"/>
              <a:t>We can say that:</a:t>
            </a:r>
            <a:br>
              <a:rPr lang="en-US" dirty="0"/>
            </a:br>
            <a:br>
              <a:rPr lang="en-US" dirty="0"/>
            </a:br>
            <a:r>
              <a:rPr lang="en-US" dirty="0"/>
              <a:t>Existence = Units in Space</a:t>
            </a:r>
            <a:br>
              <a:rPr lang="en-US" dirty="0"/>
            </a:br>
            <a:br>
              <a:rPr lang="en-US" dirty="0"/>
            </a:br>
            <a:r>
              <a:rPr lang="en-US" dirty="0"/>
              <a:t>or</a:t>
            </a:r>
            <a:br>
              <a:rPr lang="en-US" dirty="0"/>
            </a:br>
            <a:br>
              <a:rPr lang="en-US" dirty="0"/>
            </a:br>
            <a:r>
              <a:rPr lang="en-US" dirty="0"/>
              <a:t>Nature in Space</a:t>
            </a:r>
          </a:p>
        </p:txBody>
      </p:sp>
    </p:spTree>
    <p:extLst>
      <p:ext uri="{BB962C8B-B14F-4D97-AF65-F5344CB8AC3E}">
        <p14:creationId xmlns:p14="http://schemas.microsoft.com/office/powerpoint/2010/main" val="3234698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70657"/>
          </a:xfrm>
        </p:spPr>
        <p:txBody>
          <a:bodyPr>
            <a:normAutofit/>
          </a:bodyPr>
          <a:lstStyle/>
          <a:p>
            <a:pPr algn="ctr"/>
            <a:r>
              <a:rPr lang="en-US" dirty="0"/>
              <a:t>So existence is</a:t>
            </a:r>
            <a:br>
              <a:rPr lang="en-US" dirty="0"/>
            </a:br>
            <a:br>
              <a:rPr lang="en-US" dirty="0"/>
            </a:br>
            <a:r>
              <a:rPr lang="en-US" dirty="0"/>
              <a:t>actually </a:t>
            </a:r>
            <a:br>
              <a:rPr lang="en-US" dirty="0"/>
            </a:br>
            <a:br>
              <a:rPr lang="en-US" dirty="0"/>
            </a:br>
            <a:r>
              <a:rPr lang="en-US" dirty="0"/>
              <a:t>co-existence</a:t>
            </a:r>
            <a:br>
              <a:rPr lang="en-US" dirty="0"/>
            </a:br>
            <a:endParaRPr lang="en-US" dirty="0"/>
          </a:p>
        </p:txBody>
      </p:sp>
    </p:spTree>
    <p:extLst>
      <p:ext uri="{BB962C8B-B14F-4D97-AF65-F5344CB8AC3E}">
        <p14:creationId xmlns:p14="http://schemas.microsoft.com/office/powerpoint/2010/main" val="1231166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919</Words>
  <Application>Microsoft Office PowerPoint</Application>
  <PresentationFormat>Widescreen</PresentationFormat>
  <Paragraphs>69</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Harmony in the Nature and Existence </vt:lpstr>
      <vt:lpstr>Harmony with the Nature</vt:lpstr>
      <vt:lpstr>Understanding Harmony in Nature &amp; Existence.  Whole Existence as Co-existence </vt:lpstr>
      <vt:lpstr>Nature is the collection of units</vt:lpstr>
      <vt:lpstr>All these units can be divided into four orders</vt:lpstr>
      <vt:lpstr>Four Orders</vt:lpstr>
      <vt:lpstr>Physical Order</vt:lpstr>
      <vt:lpstr>Pranic Order</vt:lpstr>
      <vt:lpstr>Animal Order</vt:lpstr>
      <vt:lpstr>Human Order</vt:lpstr>
      <vt:lpstr>Interconnectedness and Mutual Fulfillment Among The Four Orders</vt:lpstr>
      <vt:lpstr>Physical Order</vt:lpstr>
      <vt:lpstr>Pranic Order</vt:lpstr>
      <vt:lpstr>Cont.</vt:lpstr>
      <vt:lpstr>Animal Order</vt:lpstr>
      <vt:lpstr>PowerPoint Presentation</vt:lpstr>
      <vt:lpstr>PowerPoint Presentation</vt:lpstr>
      <vt:lpstr>PowerPoint Presentation</vt:lpstr>
      <vt:lpstr>Human beings have Natural Acceptance to be mutually fulfilling. Once human beings understand the mutual fulfillment they can be fulfilling of all </vt:lpstr>
      <vt:lpstr>Participation of Human Being in Entire Nature</vt:lpstr>
      <vt:lpstr>Human participation for mutual fulfillment of all four orders.</vt:lpstr>
      <vt:lpstr>Physical Order</vt:lpstr>
      <vt:lpstr>Pranic Order</vt:lpstr>
      <vt:lpstr>Animal Order</vt:lpstr>
      <vt:lpstr>Human Order</vt:lpstr>
      <vt:lpstr>Dependence of any order is on all previous orders</vt:lpstr>
      <vt:lpstr>Nature is organized in such a manner that the physical facility required for any order is available in abundance. Physical Order &gt;&gt;Pranic Order&gt;&gt;Animal Order&gt;&gt;Human Order</vt:lpstr>
      <vt:lpstr>The first three orders are mutually fulfilling for each other. They are fulfilling for human being also. It is naturally acceptable to human being to be fulfilling for all the orders.</vt:lpstr>
      <vt:lpstr>But due to indefinite conduct (without knowing) he is living on assumptions which is the source of problem. The definite conduct of human being can be ensured by knowing and right understanding through Education and Sanskar</vt:lpstr>
      <vt:lpstr>The role of human being is to realize this mutual fulfillment. For this all that human beings need to do is:</vt:lpstr>
      <vt:lpstr>Completion of right understanding in human being is called Kriyapurnata and ability to live with complete understanding is called Acharanpurnata.</vt:lpstr>
      <vt:lpstr>Understanding Existence as Co-existence (Sah-astiva) of mutually interacting units in all-pervasive space</vt:lpstr>
      <vt:lpstr>Existence :  There are two kinds of realities in existence.  1. Units : Something that is limited in size e.g.:  atoms, molecule, plant, animals, human beings etc. 2. Space:  We can’t ‘touch it’ as a unit but it exists everywhere. We can just ‘see through it’</vt:lpstr>
      <vt:lpstr>The units exit in space and   between every two units there is a space.  We can say that:  Existence = Units in Space  or  Nature in Space</vt:lpstr>
      <vt:lpstr>So existence is  actually   co-existence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 Rana</dc:creator>
  <cp:lastModifiedBy>Rajesh Rana</cp:lastModifiedBy>
  <cp:revision>1</cp:revision>
  <dcterms:created xsi:type="dcterms:W3CDTF">2024-11-30T04:57:21Z</dcterms:created>
  <dcterms:modified xsi:type="dcterms:W3CDTF">2024-11-30T04:57:34Z</dcterms:modified>
</cp:coreProperties>
</file>