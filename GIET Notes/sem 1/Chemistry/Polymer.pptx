
<file path=[Content_Types].xml><?xml version="1.0" encoding="utf-8"?>
<Types xmlns="http://schemas.openxmlformats.org/package/2006/content-types">
  <Default ContentType="image/x-wmf" Extension="wmf"/>
  <Default ContentType="application/vnd.openxmlformats-officedocument.vmlDrawing" Extension="vml"/>
  <Default ContentType="image/gif" Extension="gif"/>
  <Default ContentType="application/vnd.openxmlformats-officedocument.oleObject" Extension="bin"/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33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940675A-B579-460E-94D1-54222C63F5DA}" styleName="No Style, Table Grid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tx1"/>
              </a:solidFill>
            </a:ln>
          </a:left>
          <a:right>
            <a:ln cmpd="sng" w="12700">
              <a:solidFill>
                <a:schemeClr val="tx1"/>
              </a:solidFill>
            </a:ln>
          </a:right>
          <a:top>
            <a:ln cmpd="sng" w="12700">
              <a:solidFill>
                <a:schemeClr val="tx1"/>
              </a:solidFill>
            </a:ln>
          </a:top>
          <a:bottom>
            <a:ln cmpd="sng" w="12700">
              <a:solidFill>
                <a:schemeClr val="tx1"/>
              </a:solidFill>
            </a:ln>
          </a:bottom>
          <a:insideH>
            <a:ln cmpd="sng" w="12700">
              <a:solidFill>
                <a:schemeClr val="tx1"/>
              </a:solidFill>
            </a:ln>
          </a:insideH>
          <a:insideV>
            <a:ln cmpd="sng" w="12700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4CF57-916D-4B4A-85BA-42401541C0D2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6529E-7842-47AB-A1B4-4DFF3A652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4CF57-916D-4B4A-85BA-42401541C0D2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6529E-7842-47AB-A1B4-4DFF3A652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4CF57-916D-4B4A-85BA-42401541C0D2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6529E-7842-47AB-A1B4-4DFF3A652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4CF57-916D-4B4A-85BA-42401541C0D2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6529E-7842-47AB-A1B4-4DFF3A652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4CF57-916D-4B4A-85BA-42401541C0D2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6529E-7842-47AB-A1B4-4DFF3A652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4CF57-916D-4B4A-85BA-42401541C0D2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6529E-7842-47AB-A1B4-4DFF3A652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4CF57-916D-4B4A-85BA-42401541C0D2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6529E-7842-47AB-A1B4-4DFF3A652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4CF57-916D-4B4A-85BA-42401541C0D2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6529E-7842-47AB-A1B4-4DFF3A652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4CF57-916D-4B4A-85BA-42401541C0D2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6529E-7842-47AB-A1B4-4DFF3A652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4CF57-916D-4B4A-85BA-42401541C0D2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6529E-7842-47AB-A1B4-4DFF3A652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4CF57-916D-4B4A-85BA-42401541C0D2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6529E-7842-47AB-A1B4-4DFF3A652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A81304-CE12-4C3C-8DAA-9DC2AFF507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4CF57-916D-4B4A-85BA-42401541C0D2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6529E-7842-47AB-A1B4-4DFF3A6527F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34" name="Shape 124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5" name="Google Shape;124935;p1"/>
          <p:cNvSpPr txBox="1"/>
          <p:nvPr/>
        </p:nvSpPr>
        <p:spPr>
          <a:xfrm>
            <a:off x="214282" y="357166"/>
            <a:ext cx="8643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Polymer &amp; it’s classifications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936" name="Google Shape;124936;p1"/>
          <p:cNvSpPr txBox="1"/>
          <p:nvPr/>
        </p:nvSpPr>
        <p:spPr>
          <a:xfrm>
            <a:off x="714348" y="1928802"/>
            <a:ext cx="80724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 Juhi Rath </a:t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Jitu\Desktop\download.png" id="124937" name="Google Shape;12493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14744" y="2643182"/>
            <a:ext cx="2486025" cy="2534478"/>
          </a:xfrm>
          <a:prstGeom prst="rect">
            <a:avLst/>
          </a:prstGeom>
          <a:noFill/>
          <a:ln>
            <a:noFill/>
          </a:ln>
        </p:spPr>
      </p:pic>
      <p:sp>
        <p:nvSpPr>
          <p:cNvPr id="124938" name="Google Shape;124938;p1"/>
          <p:cNvSpPr txBox="1"/>
          <p:nvPr/>
        </p:nvSpPr>
        <p:spPr>
          <a:xfrm>
            <a:off x="4357686" y="1357298"/>
            <a:ext cx="6429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39" name="Google Shape;124939;p1"/>
          <p:cNvSpPr txBox="1"/>
          <p:nvPr/>
        </p:nvSpPr>
        <p:spPr>
          <a:xfrm>
            <a:off x="0" y="5072074"/>
            <a:ext cx="91440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Basic Sciences and Humanities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GIET University, Gunupur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Odisha, 765022 India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ChangeArrowheads="1"/>
          </p:cNvSpPr>
          <p:nvPr/>
        </p:nvSpPr>
        <p:spPr bwMode="auto">
          <a:xfrm>
            <a:off x="2514600" y="228600"/>
            <a:ext cx="47180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“the greatest joy of my life”</a:t>
            </a:r>
          </a:p>
        </p:txBody>
      </p:sp>
      <p:pic>
        <p:nvPicPr>
          <p:cNvPr id="10243" name="Picture 2" descr="C:\Users\ACER\Desktop\joh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838200"/>
            <a:ext cx="3657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4" name="Rectangle 3"/>
          <p:cNvSpPr>
            <a:spLocks noChangeArrowheads="1"/>
          </p:cNvSpPr>
          <p:nvPr/>
        </p:nvSpPr>
        <p:spPr bwMode="auto">
          <a:xfrm>
            <a:off x="1524000" y="5486400"/>
            <a:ext cx="6248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 </a:t>
            </a:r>
            <a:r>
              <a:rPr lang="en-US" sz="24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term</a:t>
            </a:r>
            <a:r>
              <a:rPr 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 "</a:t>
            </a:r>
            <a:r>
              <a:rPr lang="en-US" sz="24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polymer</a:t>
            </a:r>
            <a:r>
              <a:rPr 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" was </a:t>
            </a:r>
            <a:r>
              <a:rPr lang="en-US" sz="24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coined</a:t>
            </a:r>
            <a:r>
              <a:rPr 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 in 1833 by Jöns Jakob Berzelius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715436" cy="687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Polymer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the number of monomer are joined together by covalent bond to form a long chain macromolecular structure and it is called as polymer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n CH</a:t>
            </a:r>
            <a:r>
              <a:rPr lang="en-US" sz="32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= CH</a:t>
            </a:r>
            <a:r>
              <a:rPr lang="en-US" sz="3200" baseline="-25000" dirty="0" smtClean="0">
                <a:latin typeface="Times New Roman" pitchFamily="18" charset="0"/>
                <a:cs typeface="Times New Roman" pitchFamily="18" charset="0"/>
              </a:rPr>
              <a:t>2  </a:t>
            </a:r>
            <a:r>
              <a:rPr lang="en-US" sz="3200" baseline="30000" dirty="0" err="1" smtClean="0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3200" baseline="30000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-CH</a:t>
            </a:r>
            <a:r>
              <a:rPr lang="en-US" sz="32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–CH-</a:t>
            </a:r>
            <a:r>
              <a:rPr lang="en-US" sz="3200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r>
              <a:rPr lang="en-IN" sz="3200" baseline="-25000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IN" sz="3200" baseline="-25000" dirty="0" err="1" smtClean="0">
                <a:latin typeface="Times New Roman" pitchFamily="18" charset="0"/>
                <a:cs typeface="Times New Roman" pitchFamily="18" charset="0"/>
              </a:rPr>
              <a:t>Ethene</a:t>
            </a:r>
            <a:r>
              <a:rPr lang="en-IN" sz="3200" baseline="-250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</a:t>
            </a:r>
            <a:r>
              <a:rPr lang="en-IN" sz="3200" baseline="-25000" dirty="0" err="1" smtClean="0">
                <a:latin typeface="Times New Roman" pitchFamily="18" charset="0"/>
                <a:cs typeface="Times New Roman" pitchFamily="18" charset="0"/>
              </a:rPr>
              <a:t>Polyethene</a:t>
            </a:r>
            <a:endParaRPr lang="en-IN" sz="3200" baseline="-25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200" baseline="-25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Monomer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smallest repeating unit of polymer is known as monomer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Polymerization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process of formation of polymer from monomer is known as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polymerization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428860" y="2214554"/>
            <a:ext cx="200026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Left Bracket 9"/>
          <p:cNvSpPr/>
          <p:nvPr/>
        </p:nvSpPr>
        <p:spPr>
          <a:xfrm>
            <a:off x="5072066" y="1714488"/>
            <a:ext cx="142876" cy="928694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ket 11"/>
          <p:cNvSpPr/>
          <p:nvPr/>
        </p:nvSpPr>
        <p:spPr>
          <a:xfrm>
            <a:off x="6500826" y="1785926"/>
            <a:ext cx="71438" cy="928694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:\Users\Jitu\Desktop\polyethen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5" y="3071809"/>
            <a:ext cx="4896168" cy="1744911"/>
          </a:xfrm>
          <a:prstGeom prst="rect">
            <a:avLst/>
          </a:prstGeom>
          <a:noFill/>
        </p:spPr>
      </p:pic>
      <p:pic>
        <p:nvPicPr>
          <p:cNvPr id="7" name="Picture 6" descr="800px-Polyethylene-3D-vdW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14809" y="1071546"/>
            <a:ext cx="1729191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500042"/>
            <a:ext cx="8786874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Classification of polymers</a:t>
            </a:r>
          </a:p>
          <a:p>
            <a:pPr marL="342900" indent="-342900">
              <a:buFont typeface="+mj-lt"/>
              <a:buAutoNum type="alphaUcPeriod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Classification based on the number of monomers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Classification based on source of availability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Classification based upon shape and structure.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Classification based upon molecular forces of attraction.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U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Classification based upon mode of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tacticity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or configuration.</a:t>
            </a:r>
          </a:p>
          <a:p>
            <a:pPr marL="342900" indent="-342900">
              <a:buFont typeface="+mj-lt"/>
              <a:buAutoNum type="alphaUcPeriod"/>
            </a:pPr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endParaRPr lang="en-US" dirty="0" smtClean="0"/>
          </a:p>
          <a:p>
            <a:pPr marL="342900" indent="-342900">
              <a:buFont typeface="+mj-lt"/>
              <a:buAutoNum type="alphaUcPeriod"/>
            </a:pP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8596" y="357167"/>
            <a:ext cx="8429684" cy="8740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A. Classification based on the number of monomers</a:t>
            </a:r>
          </a:p>
          <a:p>
            <a:pPr marL="342900" indent="-342900"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can be classified into two types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Homopolymer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Co-polymer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1.Homopolymer</a:t>
            </a:r>
          </a:p>
          <a:p>
            <a:pPr marL="457200" indent="-457200"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this polymer same monomer link together by covalent bond to form a 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Long chain macromolecular structure.  (Ex- Polyethene, Teflon, PVC)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olyethene is a polymer of monomer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ethene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In this, the repeating structural unit is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 CH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 CH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  </a:t>
            </a:r>
            <a:r>
              <a:rPr lang="en-US" sz="2000" baseline="30000" dirty="0" err="1" smtClean="0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-CH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–CH-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r>
              <a:rPr lang="en-IN" sz="2000" baseline="-25000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IN" sz="2000" baseline="-25000" dirty="0" err="1" smtClean="0">
                <a:latin typeface="Times New Roman" pitchFamily="18" charset="0"/>
                <a:cs typeface="Times New Roman" pitchFamily="18" charset="0"/>
              </a:rPr>
              <a:t>Ethene</a:t>
            </a:r>
            <a:r>
              <a:rPr lang="en-IN" sz="2000" baseline="-250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</a:t>
            </a:r>
            <a:r>
              <a:rPr lang="en-IN" sz="2000" baseline="-25000" dirty="0" err="1" smtClean="0">
                <a:latin typeface="Times New Roman" pitchFamily="18" charset="0"/>
                <a:cs typeface="Times New Roman" pitchFamily="18" charset="0"/>
              </a:rPr>
              <a:t>Polyethene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Left Bracket 8"/>
          <p:cNvSpPr/>
          <p:nvPr/>
        </p:nvSpPr>
        <p:spPr>
          <a:xfrm>
            <a:off x="3500430" y="4572008"/>
            <a:ext cx="142876" cy="928694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ket 9"/>
          <p:cNvSpPr/>
          <p:nvPr/>
        </p:nvSpPr>
        <p:spPr>
          <a:xfrm>
            <a:off x="4357686" y="4572008"/>
            <a:ext cx="71438" cy="928694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928794" y="5000636"/>
            <a:ext cx="107157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20" y="357166"/>
            <a:ext cx="88582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Co-polymer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this polymer different monomers link together by covalent bond to form a long  chain macro molecular structure. (Ex- nylon 6,6, Bakelite, Buna-S)</a:t>
            </a:r>
          </a:p>
        </p:txBody>
      </p:sp>
      <p:pic>
        <p:nvPicPr>
          <p:cNvPr id="1026" name="Picture 2" descr="C:\Users\Jitu\Desktop\main-qimg-44fdc59ad01e2a958d043895ffea3d9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071678"/>
            <a:ext cx="6830288" cy="421484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428604"/>
            <a:ext cx="685804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B.Classification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based on source of availability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polymer can be broadly classified as: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Natural polymers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Synthetic polymers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Semi-synthetic polymers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357166"/>
            <a:ext cx="828680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1.Natural polymers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polymers obtained from nature (plants and animals ) are called natural polymers.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Starch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Cellulose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Proteins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Nucleic acid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Natural rubber</a:t>
            </a:r>
          </a:p>
          <a:p>
            <a:pPr marL="457200" indent="-457200"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285728"/>
            <a:ext cx="850112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2.Synthetic polymers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polymers which are prepared  in the laboratories are called synthetic Polymers. These are also called as man made polymers.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Polyethylene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PVC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Nylon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Teflon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Bakelite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Terylene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4282" y="428604"/>
            <a:ext cx="8429684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3.Semisynthetic polymers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polymers are mostly derived from naturally occurring polymer by       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chemical modifications.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Cellulose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diacetate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polymer</a:t>
            </a:r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Vulcanized Rubber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214290"/>
            <a:ext cx="8643998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C. Classification based upon shape and structure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 the basis of shape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strcuture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 polymers , these can be 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classified as: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Linear chain polymer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Branch chain polymer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Cross-linked polymer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Linear chain polymer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this polymer the monomers link together by covalent bond to 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form a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longchain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structure .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Ex- -C-C-C-C-C-C-C- , high density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polyethelene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(HDP), PVC, Nylon, Polyesters</a:t>
            </a: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Curved Connector 3"/>
          <p:cNvCxnSpPr/>
          <p:nvPr/>
        </p:nvCxnSpPr>
        <p:spPr>
          <a:xfrm>
            <a:off x="1000100" y="5715016"/>
            <a:ext cx="2786082" cy="285752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urved Connector 7"/>
          <p:cNvCxnSpPr/>
          <p:nvPr/>
        </p:nvCxnSpPr>
        <p:spPr>
          <a:xfrm>
            <a:off x="1000100" y="5867416"/>
            <a:ext cx="2786082" cy="285752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urved Connector 8"/>
          <p:cNvCxnSpPr/>
          <p:nvPr/>
        </p:nvCxnSpPr>
        <p:spPr>
          <a:xfrm>
            <a:off x="1071538" y="6072206"/>
            <a:ext cx="2786082" cy="285752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214282" y="428604"/>
            <a:ext cx="8572560" cy="5909310"/>
            <a:chOff x="214282" y="428604"/>
            <a:chExt cx="8572560" cy="5909310"/>
          </a:xfrm>
        </p:grpSpPr>
        <p:sp>
          <p:nvSpPr>
            <p:cNvPr id="4" name="TextBox 3"/>
            <p:cNvSpPr txBox="1"/>
            <p:nvPr/>
          </p:nvSpPr>
          <p:spPr>
            <a:xfrm>
              <a:off x="214282" y="428604"/>
              <a:ext cx="8572560" cy="590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lnSpc>
                  <a:spcPct val="150000"/>
                </a:lnSpc>
              </a:pPr>
              <a:r>
                <a:rPr lang="en-US" sz="2400" b="1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.</a:t>
              </a:r>
              <a:r>
                <a:rPr lang="en-US" sz="2400" b="1" u="sng" dirty="0" smtClean="0">
                  <a:latin typeface="Times New Roman" pitchFamily="18" charset="0"/>
                  <a:cs typeface="Times New Roman" pitchFamily="18" charset="0"/>
                </a:rPr>
                <a:t> Branch chain polymer</a:t>
              </a:r>
            </a:p>
            <a:p>
              <a:pPr marL="457200" indent="-457200">
                <a:lnSpc>
                  <a:spcPct val="150000"/>
                </a:lnSpc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In this polymer the substituent are bonded to the skeleton of the long chain polymer.</a:t>
              </a:r>
            </a:p>
            <a:p>
              <a:pPr marL="457200" indent="-457200">
                <a:lnSpc>
                  <a:spcPct val="150000"/>
                </a:lnSpc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Ex- low density poly ethylene (LDP) , glycogen and starch</a:t>
              </a:r>
            </a:p>
            <a:p>
              <a:pPr marL="457200" indent="-457200">
                <a:lnSpc>
                  <a:spcPct val="150000"/>
                </a:lnSpc>
              </a:pPr>
              <a:endParaRPr lang="en-US" sz="2000" dirty="0" smtClean="0">
                <a:latin typeface="Times New Roman" pitchFamily="18" charset="0"/>
                <a:cs typeface="Times New Roman" pitchFamily="18" charset="0"/>
              </a:endParaRPr>
            </a:p>
            <a:p>
              <a:pPr marL="457200" indent="-457200">
                <a:lnSpc>
                  <a:spcPct val="150000"/>
                </a:lnSpc>
              </a:pPr>
              <a:endParaRPr lang="en-US" sz="2400" b="1" dirty="0" smtClean="0">
                <a:latin typeface="Times New Roman" pitchFamily="18" charset="0"/>
                <a:cs typeface="Times New Roman" pitchFamily="18" charset="0"/>
              </a:endParaRPr>
            </a:p>
            <a:p>
              <a:pPr marL="457200" indent="-457200">
                <a:lnSpc>
                  <a:spcPct val="150000"/>
                </a:lnSpc>
              </a:pPr>
              <a:r>
                <a:rPr lang="en-US" sz="2400" b="1" dirty="0" smtClean="0">
                  <a:latin typeface="Times New Roman" pitchFamily="18" charset="0"/>
                  <a:cs typeface="Times New Roman" pitchFamily="18" charset="0"/>
                </a:rPr>
                <a:t>3. </a:t>
              </a:r>
              <a:r>
                <a:rPr lang="en-US" sz="2400" b="1" u="sng" dirty="0" smtClean="0">
                  <a:latin typeface="Times New Roman" pitchFamily="18" charset="0"/>
                  <a:cs typeface="Times New Roman" pitchFamily="18" charset="0"/>
                </a:rPr>
                <a:t>Cross-linked or network polymers</a:t>
              </a:r>
            </a:p>
            <a:p>
              <a:pPr marL="457200" indent="-457200">
                <a:lnSpc>
                  <a:spcPct val="150000"/>
                </a:lnSpc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The straight chain and branch chain polymer link together to formed a  3-D structure known as cross-linked polymer.</a:t>
              </a:r>
            </a:p>
            <a:p>
              <a:pPr marL="457200" indent="-457200">
                <a:lnSpc>
                  <a:spcPct val="150000"/>
                </a:lnSpc>
              </a:pP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Ex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 Bakelite, Melamine formaldehyde resin etc.</a:t>
              </a:r>
            </a:p>
            <a:p>
              <a:pPr marL="457200" indent="-457200">
                <a:lnSpc>
                  <a:spcPct val="150000"/>
                </a:lnSpc>
              </a:pPr>
              <a:endParaRPr lang="en-US" sz="2000" dirty="0" smtClean="0">
                <a:latin typeface="Times New Roman" pitchFamily="18" charset="0"/>
                <a:cs typeface="Times New Roman" pitchFamily="18" charset="0"/>
              </a:endParaRPr>
            </a:p>
            <a:p>
              <a:pPr marL="457200" indent="-457200">
                <a:lnSpc>
                  <a:spcPct val="150000"/>
                </a:lnSpc>
              </a:pPr>
              <a:endParaRPr lang="en-US" sz="2000" dirty="0" smtClean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" name="Curved Connector 2"/>
            <p:cNvCxnSpPr/>
            <p:nvPr/>
          </p:nvCxnSpPr>
          <p:spPr>
            <a:xfrm>
              <a:off x="1714480" y="2928934"/>
              <a:ext cx="2786082" cy="285752"/>
            </a:xfrm>
            <a:prstGeom prst="curvedConnector3">
              <a:avLst>
                <a:gd name="adj1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" name="Arc 4"/>
            <p:cNvSpPr/>
            <p:nvPr/>
          </p:nvSpPr>
          <p:spPr>
            <a:xfrm>
              <a:off x="2357422" y="2928934"/>
              <a:ext cx="45719" cy="571504"/>
            </a:xfrm>
            <a:prstGeom prst="arc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Arc 5"/>
            <p:cNvSpPr/>
            <p:nvPr/>
          </p:nvSpPr>
          <p:spPr>
            <a:xfrm>
              <a:off x="2668893" y="2714620"/>
              <a:ext cx="45719" cy="571504"/>
            </a:xfrm>
            <a:prstGeom prst="arc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c 6"/>
            <p:cNvSpPr/>
            <p:nvPr/>
          </p:nvSpPr>
          <p:spPr>
            <a:xfrm>
              <a:off x="3500430" y="3143248"/>
              <a:ext cx="45719" cy="571504"/>
            </a:xfrm>
            <a:prstGeom prst="arc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/>
            <p:cNvSpPr/>
            <p:nvPr/>
          </p:nvSpPr>
          <p:spPr>
            <a:xfrm>
              <a:off x="4143372" y="2928934"/>
              <a:ext cx="45719" cy="571504"/>
            </a:xfrm>
            <a:prstGeom prst="arc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urved Connector 9"/>
          <p:cNvCxnSpPr/>
          <p:nvPr/>
        </p:nvCxnSpPr>
        <p:spPr>
          <a:xfrm>
            <a:off x="2143108" y="5572140"/>
            <a:ext cx="2786082" cy="285752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>
            <a:off x="2071670" y="6286520"/>
            <a:ext cx="2786082" cy="285752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urved Connector 11"/>
          <p:cNvCxnSpPr/>
          <p:nvPr/>
        </p:nvCxnSpPr>
        <p:spPr>
          <a:xfrm>
            <a:off x="2143108" y="5929330"/>
            <a:ext cx="2786082" cy="285752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Arc 12"/>
          <p:cNvSpPr/>
          <p:nvPr/>
        </p:nvSpPr>
        <p:spPr>
          <a:xfrm>
            <a:off x="2357422" y="5572140"/>
            <a:ext cx="142876" cy="642942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/>
          <p:cNvSpPr/>
          <p:nvPr/>
        </p:nvSpPr>
        <p:spPr>
          <a:xfrm>
            <a:off x="2928926" y="5929330"/>
            <a:ext cx="71438" cy="785818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c 14"/>
          <p:cNvSpPr/>
          <p:nvPr/>
        </p:nvSpPr>
        <p:spPr>
          <a:xfrm>
            <a:off x="3857620" y="6143644"/>
            <a:ext cx="71438" cy="785818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c 15"/>
          <p:cNvSpPr/>
          <p:nvPr/>
        </p:nvSpPr>
        <p:spPr>
          <a:xfrm>
            <a:off x="4286248" y="5786454"/>
            <a:ext cx="71438" cy="785818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5720" y="142852"/>
            <a:ext cx="79296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D. Classification based upon molecular forces of attraction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Depending upon the intermolecular forces, polymers have been classified 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into four types.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Elastomers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Fibers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Thermoplastic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Thermosetting plastic</a:t>
            </a:r>
          </a:p>
          <a:p>
            <a:pPr marL="342900" indent="-342900"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357166"/>
            <a:ext cx="821537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 err="1" smtClean="0">
                <a:latin typeface="Times New Roman" pitchFamily="18" charset="0"/>
                <a:cs typeface="Times New Roman" pitchFamily="18" charset="0"/>
              </a:rPr>
              <a:t>Elastomers</a:t>
            </a:r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this polymer the monomer are linked together by weak force of attraction </a:t>
            </a:r>
          </a:p>
          <a:p>
            <a:pPr marL="457200" indent="-457200"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can be straight ten times its original length.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:- rubber</a:t>
            </a: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Fiber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this polymer monomers are linked by hydrogen bonding or electrostatic 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force of  attraction and posses strong intermolecular force of attraction.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:- nylon 6,6</a:t>
            </a: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285728"/>
            <a:ext cx="8286808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Thermoplastic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Long chain polymer in which the monomer link together with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vanderwall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force of attraction.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are addition polymer.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has low melting point , low molecular weight and low tensile strength.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can be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remodule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number of times</a:t>
            </a:r>
          </a:p>
          <a:p>
            <a:pPr marL="457200" indent="-457200">
              <a:lnSpc>
                <a:spcPct val="15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:- polyethene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4.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Therosetting plastic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are polymer in which the semi fluid of low molecular masses are heated to form 3-D cross-linked structure.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can not be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remoduled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after getting hard solid from semi fluid.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are the condensation polymer.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has high melting point, high molecular weight , high density strength as compare thermoplastic.</a:t>
            </a: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501122" cy="623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E. Classification based upon mode of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tacticity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or configuration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Tacticity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means orientation of side chain around the main backbone chain in 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3-D structure of polymer.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Isotactic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Syndiotactic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Atactic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400" b="1" u="sng" dirty="0" err="1" smtClean="0">
                <a:latin typeface="Times New Roman" pitchFamily="18" charset="0"/>
                <a:cs typeface="Times New Roman" pitchFamily="18" charset="0"/>
              </a:rPr>
              <a:t>Isotactic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:-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this polymer all the functional group of the monomer are present the same side 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the plane.</a:t>
            </a:r>
          </a:p>
          <a:p>
            <a:pPr marL="342900" indent="-3429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             -C-C-C-C-C-C-C-C-C-C-C-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F.G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Functional group</a:t>
            </a:r>
          </a:p>
        </p:txBody>
      </p:sp>
      <p:sp>
        <p:nvSpPr>
          <p:cNvPr id="3" name="Left Bracket 2"/>
          <p:cNvSpPr/>
          <p:nvPr/>
        </p:nvSpPr>
        <p:spPr>
          <a:xfrm>
            <a:off x="2285984" y="4786322"/>
            <a:ext cx="214314" cy="1000132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ket 4"/>
          <p:cNvSpPr/>
          <p:nvPr/>
        </p:nvSpPr>
        <p:spPr>
          <a:xfrm>
            <a:off x="5000628" y="4786322"/>
            <a:ext cx="45719" cy="1071570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H="1" flipV="1">
            <a:off x="3036083" y="5036355"/>
            <a:ext cx="214314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 flipH="1" flipV="1">
            <a:off x="3535355" y="5035561"/>
            <a:ext cx="214314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 flipH="1" flipV="1">
            <a:off x="4321173" y="5035561"/>
            <a:ext cx="214314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28926" y="464344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F.G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428992" y="464344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F.G.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214810" y="4631304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F.G.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357166"/>
            <a:ext cx="8715404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 err="1" smtClean="0">
                <a:latin typeface="Times New Roman" pitchFamily="18" charset="0"/>
                <a:cs typeface="Times New Roman" pitchFamily="18" charset="0"/>
              </a:rPr>
              <a:t>Syndiotactic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:-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case of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syndiotactic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functional groups are present are the  alternative side of the plane.</a:t>
            </a:r>
          </a:p>
          <a:p>
            <a:pPr marL="342900" indent="-3429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--C-C-C-C-C-C-C-C-C-C-C-C--</a:t>
            </a:r>
            <a:r>
              <a:rPr lang="en-US" sz="24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 err="1" smtClean="0">
                <a:latin typeface="Times New Roman" pitchFamily="18" charset="0"/>
                <a:cs typeface="Times New Roman" pitchFamily="18" charset="0"/>
              </a:rPr>
              <a:t>Atactic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:-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this polymer the functional groups are randomly present on the plane of the 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polymer chain.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                 --C-C-C-C-C-C-C-C-C-C-C-C--</a:t>
            </a:r>
            <a:r>
              <a:rPr lang="en-US" sz="2000" b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15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rot="5400000">
            <a:off x="1893075" y="2463793"/>
            <a:ext cx="35719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>
            <a:off x="2535223" y="1892289"/>
            <a:ext cx="35719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5400000">
            <a:off x="3178165" y="2463793"/>
            <a:ext cx="35719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3821107" y="1892289"/>
            <a:ext cx="35719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4464049" y="2463793"/>
            <a:ext cx="35719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Left Bracket 9"/>
          <p:cNvSpPr/>
          <p:nvPr/>
        </p:nvSpPr>
        <p:spPr>
          <a:xfrm>
            <a:off x="1285852" y="1928802"/>
            <a:ext cx="71438" cy="785818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ket 10"/>
          <p:cNvSpPr/>
          <p:nvPr/>
        </p:nvSpPr>
        <p:spPr>
          <a:xfrm>
            <a:off x="5214942" y="1928802"/>
            <a:ext cx="71438" cy="928694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09250" y="2571744"/>
            <a:ext cx="476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F.G</a:t>
            </a:r>
            <a:endParaRPr lang="en-US" b="1" dirty="0"/>
          </a:p>
        </p:txBody>
      </p:sp>
      <p:sp>
        <p:nvSpPr>
          <p:cNvPr id="13" name="Rectangle 12"/>
          <p:cNvSpPr/>
          <p:nvPr/>
        </p:nvSpPr>
        <p:spPr>
          <a:xfrm>
            <a:off x="2523630" y="1500174"/>
            <a:ext cx="476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F.G</a:t>
            </a:r>
            <a:endParaRPr lang="en-US" b="1" dirty="0"/>
          </a:p>
        </p:txBody>
      </p:sp>
      <p:sp>
        <p:nvSpPr>
          <p:cNvPr id="14" name="Rectangle 13"/>
          <p:cNvSpPr/>
          <p:nvPr/>
        </p:nvSpPr>
        <p:spPr>
          <a:xfrm>
            <a:off x="3166572" y="2559602"/>
            <a:ext cx="476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F.G</a:t>
            </a:r>
            <a:endParaRPr lang="en-US" b="1" dirty="0"/>
          </a:p>
        </p:txBody>
      </p:sp>
      <p:sp>
        <p:nvSpPr>
          <p:cNvPr id="15" name="Rectangle 14"/>
          <p:cNvSpPr/>
          <p:nvPr/>
        </p:nvSpPr>
        <p:spPr>
          <a:xfrm>
            <a:off x="3786182" y="1488032"/>
            <a:ext cx="476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F.G</a:t>
            </a:r>
            <a:endParaRPr lang="en-US" b="1" dirty="0"/>
          </a:p>
        </p:txBody>
      </p:sp>
      <p:sp>
        <p:nvSpPr>
          <p:cNvPr id="16" name="Rectangle 15"/>
          <p:cNvSpPr/>
          <p:nvPr/>
        </p:nvSpPr>
        <p:spPr>
          <a:xfrm>
            <a:off x="4452456" y="2571744"/>
            <a:ext cx="476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F.G</a:t>
            </a:r>
            <a:endParaRPr lang="en-US" b="1" dirty="0"/>
          </a:p>
        </p:txBody>
      </p:sp>
      <p:sp>
        <p:nvSpPr>
          <p:cNvPr id="18" name="Left Bracket 17"/>
          <p:cNvSpPr/>
          <p:nvPr/>
        </p:nvSpPr>
        <p:spPr>
          <a:xfrm>
            <a:off x="2143108" y="5286388"/>
            <a:ext cx="71438" cy="928694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ket 18"/>
          <p:cNvSpPr/>
          <p:nvPr/>
        </p:nvSpPr>
        <p:spPr>
          <a:xfrm>
            <a:off x="5367342" y="5286388"/>
            <a:ext cx="71438" cy="928694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2392347" y="5964255"/>
            <a:ext cx="35719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>
            <a:off x="2963851" y="5392751"/>
            <a:ext cx="35719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3179753" y="5964255"/>
            <a:ext cx="35719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>
            <a:off x="3751257" y="5964255"/>
            <a:ext cx="35719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4251323" y="5392751"/>
            <a:ext cx="35719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952258" y="4988494"/>
            <a:ext cx="476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F.G</a:t>
            </a:r>
            <a:endParaRPr lang="en-US" b="1" dirty="0"/>
          </a:p>
        </p:txBody>
      </p:sp>
      <p:sp>
        <p:nvSpPr>
          <p:cNvPr id="26" name="Rectangle 25"/>
          <p:cNvSpPr/>
          <p:nvPr/>
        </p:nvSpPr>
        <p:spPr>
          <a:xfrm>
            <a:off x="4214810" y="4988494"/>
            <a:ext cx="476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F.G</a:t>
            </a:r>
            <a:endParaRPr lang="en-US" b="1" dirty="0"/>
          </a:p>
        </p:txBody>
      </p:sp>
      <p:sp>
        <p:nvSpPr>
          <p:cNvPr id="27" name="Rectangle 26"/>
          <p:cNvSpPr/>
          <p:nvPr/>
        </p:nvSpPr>
        <p:spPr>
          <a:xfrm>
            <a:off x="3143240" y="6000768"/>
            <a:ext cx="476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F.G</a:t>
            </a:r>
            <a:endParaRPr lang="en-US" b="1" dirty="0"/>
          </a:p>
        </p:txBody>
      </p:sp>
      <p:sp>
        <p:nvSpPr>
          <p:cNvPr id="28" name="Rectangle 27"/>
          <p:cNvSpPr/>
          <p:nvPr/>
        </p:nvSpPr>
        <p:spPr>
          <a:xfrm>
            <a:off x="3738076" y="6000768"/>
            <a:ext cx="476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F.G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2380754" y="5988626"/>
            <a:ext cx="476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F.G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8786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Difference between Thermo plastics and Thermo setting polymers  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8596" y="928670"/>
          <a:ext cx="8501122" cy="54073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50561"/>
                <a:gridCol w="4250561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Thermo plastics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Thermo setting </a:t>
                      </a:r>
                      <a:endParaRPr lang="en-US" sz="2000" dirty="0"/>
                    </a:p>
                  </a:txBody>
                  <a:tcPr/>
                </a:tc>
              </a:tr>
              <a:tr h="678661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They soften on heating readily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They don't soften on heating.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On prolong heating, however they burn. </a:t>
                      </a: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8661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They exhibit linear long chain structure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They have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three dimensional network structure.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8661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They are formed by addition polymerization.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They are formed by condensation polymerization.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8661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They are usually soft, weak and less brittle.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They are usually hard, strong and more brittle.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8661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Low molecular weight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and low melting point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High molecular weight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and high melting point.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8661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Recycle and reuse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Can’t  be recycle and reuse</a:t>
                      </a:r>
                    </a:p>
                    <a:p>
                      <a:pPr>
                        <a:buFont typeface="Wingdings" pitchFamily="2" charset="2"/>
                        <a:buChar char="Ø"/>
                      </a:pP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8661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EX- </a:t>
                      </a:r>
                      <a:r>
                        <a:rPr lang="en-US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Polyethene</a:t>
                      </a: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, PVC,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Poly styrene, PMMA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EX- Bakelite, Nylon-6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00232" y="142852"/>
            <a:ext cx="5072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Difference between HDPE and  LDPE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5720" y="642918"/>
          <a:ext cx="8715404" cy="5863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57702"/>
                <a:gridCol w="4357702"/>
              </a:tblGrid>
              <a:tr h="500066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HDPE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 smtClean="0">
                          <a:latin typeface="Times New Roman" pitchFamily="18" charset="0"/>
                          <a:cs typeface="Times New Roman" pitchFamily="18" charset="0"/>
                        </a:rPr>
                        <a:t>LDPE</a:t>
                      </a:r>
                      <a:endParaRPr lang="en-US" sz="2400" dirty="0"/>
                    </a:p>
                  </a:txBody>
                  <a:tcPr/>
                </a:tc>
              </a:tr>
              <a:tr h="89235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HDPE possesses low degree of branching.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LDPE possesses high degree of branching.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892350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High tensile strength in HDPE the </a:t>
                      </a:r>
                      <a:r>
                        <a:rPr lang="en-US" sz="24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subtaining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te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mperature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is 37 </a:t>
                      </a:r>
                      <a:r>
                        <a:rPr lang="en-US" sz="2400" baseline="30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  <a:r>
                        <a:rPr lang="en-US" sz="24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C.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low tensile strength.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863864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Ionic </a:t>
                      </a:r>
                      <a:r>
                        <a:rPr lang="en-US" sz="24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polymerisation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Free radical </a:t>
                      </a:r>
                      <a:r>
                        <a:rPr lang="en-US" sz="24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polymerisation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863864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Density greater than 0.94 g/cm</a:t>
                      </a:r>
                      <a:r>
                        <a:rPr lang="en-US" sz="2400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2400" baseline="30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Density greater than 0.91-0.94 g/cm</a:t>
                      </a:r>
                      <a:r>
                        <a:rPr lang="en-US" sz="2400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280328"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 Uses:</a:t>
                      </a: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It is used for prepare pipes, plastic buckets, toys, garbage container, wires, garments, Detergent bottles etc.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Ø"/>
                      </a:pPr>
                      <a:r>
                        <a:rPr lang="en-US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Uses: It is used for prepare carry bag or plastic bags, soft toys etc. 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4"/>
          <p:cNvSpPr>
            <a:spLocks noChangeArrowheads="1"/>
          </p:cNvSpPr>
          <p:nvPr/>
        </p:nvSpPr>
        <p:spPr bwMode="auto">
          <a:xfrm>
            <a:off x="381000" y="381000"/>
            <a:ext cx="4394200" cy="5842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Polymerization</a:t>
            </a:r>
          </a:p>
        </p:txBody>
      </p:sp>
      <p:sp>
        <p:nvSpPr>
          <p:cNvPr id="2052" name="Rectangle 5"/>
          <p:cNvSpPr>
            <a:spLocks noChangeArrowheads="1"/>
          </p:cNvSpPr>
          <p:nvPr/>
        </p:nvSpPr>
        <p:spPr bwMode="auto">
          <a:xfrm>
            <a:off x="381000" y="1219200"/>
            <a:ext cx="6096000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000" b="1" u="sng" dirty="0">
                <a:latin typeface="Times New Roman" pitchFamily="18" charset="0"/>
                <a:cs typeface="Times New Roman" pitchFamily="18" charset="0"/>
              </a:rPr>
              <a:t>Addition (chain Growth) </a:t>
            </a:r>
            <a:r>
              <a:rPr lang="en-US" sz="2000" b="1" u="sng" dirty="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Addition of monomers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No byproduct is formed 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usually in presence of free radical initiator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524000" y="3124200"/>
          <a:ext cx="5343525" cy="609600"/>
        </p:xfrm>
        <a:graphic>
          <a:graphicData uri="http://schemas.openxmlformats.org/presentationml/2006/ole">
            <p:oleObj spid="_x0000_s2050" name="CS ChemDraw Drawing" r:id="rId3" imgW="3340800" imgH="380520" progId="ChemDraw.Document.6.0">
              <p:embed/>
            </p:oleObj>
          </a:graphicData>
        </a:graphic>
      </p:graphicFrame>
      <p:sp>
        <p:nvSpPr>
          <p:cNvPr id="2053" name="Rectangle 7"/>
          <p:cNvSpPr>
            <a:spLocks noChangeArrowheads="1"/>
          </p:cNvSpPr>
          <p:nvPr/>
        </p:nvSpPr>
        <p:spPr bwMode="auto">
          <a:xfrm>
            <a:off x="533400" y="3886200"/>
            <a:ext cx="7753376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Main features: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Only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olefinic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/vinyl compounds undergo this polymerization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Double bond provide required bonding sites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Rapid addition of monomer takes place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Elemental composition remains same for both reactants and product</a:t>
            </a:r>
          </a:p>
        </p:txBody>
      </p:sp>
      <p:pic>
        <p:nvPicPr>
          <p:cNvPr id="118788" name="Picture 4" descr="http://tehna.com.hr/wp-content/uploads/2015/03/treger-vre%C4%87ice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1246462">
            <a:off x="5327650" y="381000"/>
            <a:ext cx="3649663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/>
          <p:cNvSpPr>
            <a:spLocks noChangeArrowheads="1"/>
          </p:cNvSpPr>
          <p:nvPr/>
        </p:nvSpPr>
        <p:spPr bwMode="auto">
          <a:xfrm>
            <a:off x="381000" y="381000"/>
            <a:ext cx="60960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Condensation (Step Growth) </a:t>
            </a:r>
            <a:r>
              <a:rPr lang="en-US" sz="2000" b="1" u="sng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Bi-functional/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Polyfunctional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monomer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Intermolecular condensation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Continuous elimination of byproduct  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usually in presence of free radical initiator</a:t>
            </a:r>
          </a:p>
        </p:txBody>
      </p:sp>
      <p:pic>
        <p:nvPicPr>
          <p:cNvPr id="123906" name="Picture 2" descr="http://blog.polymerhome.com/wp-content/uploads/2013/08/Nylon-66-Yar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0" y="228600"/>
            <a:ext cx="2590800" cy="2590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3012" name="Rectangle 9"/>
          <p:cNvSpPr>
            <a:spLocks noChangeArrowheads="1"/>
          </p:cNvSpPr>
          <p:nvPr/>
        </p:nvSpPr>
        <p:spPr bwMode="auto">
          <a:xfrm>
            <a:off x="381000" y="4848225"/>
            <a:ext cx="7013651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Main features: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Polymerization is catalyzed by acids/alkalis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Polymerization is slow &amp; stepwise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Elemental composition is different for both reactants and product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e.g. phenol-formaldehyde, epoxy resin, nylon 6,6</a:t>
            </a:r>
          </a:p>
        </p:txBody>
      </p:sp>
      <p:pic>
        <p:nvPicPr>
          <p:cNvPr id="43013" name="Picture 13" descr="nylon che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819400"/>
            <a:ext cx="678180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0" name="Picture 2" descr="http://www.meritnation.com/img/shared/discuss_editlive/2353749/2012_02_20_07_07_43/image6751350607457612405_48302789183071804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828800"/>
            <a:ext cx="5267730" cy="36004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4932" name="Picture 4" descr="http://images.fibre2fashion.com/MemberResources/LeadResources/8/2012/9/Buyer/1283643/Images/1283643_0_20130918120922766151_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1500174"/>
            <a:ext cx="2490814" cy="18700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4037" name="Picture 6" descr="http://image.dhgate.com/albu_108058204_00-1.0x0/slim-tie-men-s-necktie-terylene-mix-designs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86512" y="3445757"/>
            <a:ext cx="2714644" cy="269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 err="1" smtClean="0">
                <a:latin typeface="Times New Roman" pitchFamily="18" charset="0"/>
                <a:cs typeface="Times New Roman" pitchFamily="18" charset="0"/>
              </a:rPr>
              <a:t>Terylene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a synthetic polyester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fibre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produced by polymerizing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dimethyl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glycol and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dimethyl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terephthelic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acid which is obtained from petroleum.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5720" y="5657671"/>
            <a:ext cx="578647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Uses: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Terylene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is mainly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used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in making plastic bottles and clothing. 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Terylene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fiber is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used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as polyester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tericot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knit as a fashion garments fabric.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143977"/>
            <a:ext cx="8715404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lnSpc>
                <a:spcPct val="150000"/>
              </a:lnSpc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Polymers 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Polyethylene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Poly acetylene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Poly aniline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Poly styrene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PVC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PMMA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PTFE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Bakelite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Nylon-6, Nylon-6,6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Jitu\Desktop\p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785926"/>
            <a:ext cx="7286676" cy="228601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14282" y="285728"/>
            <a:ext cx="7500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Synthetic polymers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857232"/>
            <a:ext cx="842968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Polythene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Polythene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is made from the polymerization of ethylene (or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ethene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monomer.</a:t>
            </a:r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90" name="AutoShape 2" descr="File:RadicalPolymerization ethylene.svg - Wikimedia Comm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4282" y="4734366"/>
            <a:ext cx="842968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uses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Polythene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used in applications ranging for films, tubes, plastic parts, laminates, etc. in several markets (packaging, automotive, electrical, etc.)</a:t>
            </a: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71604" y="4038905"/>
            <a:ext cx="1428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Ethene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43636" y="4143380"/>
            <a:ext cx="1643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Polythene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4" descr="http://web.tradekorea.com/upload_file2/product/749/P00271749/cbe9caa5_6d0f9293_8b4c_4c09_b91d_eda956ddbd2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64" y="3571876"/>
            <a:ext cx="2922588" cy="157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71414"/>
            <a:ext cx="842968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Polyvinyl chloride (PVC):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prepared by the polymerization of vinyl chloride. It is Prepared by addition polymerization.</a:t>
            </a: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Jitu\Desktop\pvc03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142984"/>
            <a:ext cx="6815406" cy="2214578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285720" y="1681451"/>
            <a:ext cx="214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14282" y="3357562"/>
            <a:ext cx="842968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Properties: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hard, brittle, rigid, flexible, high heat, resistance and good electrical insulator. 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u="sng" dirty="0" smtClean="0">
                <a:latin typeface="Times New Roman" pitchFamily="18" charset="0"/>
                <a:cs typeface="Times New Roman" pitchFamily="18" charset="0"/>
              </a:rPr>
              <a:t>Uses: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PVC: manufacturing toys, packaging, coating, parts in motor vehicles, furniture, shoe soles, children's toys, handbags, luggage, seat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coveringsetc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etc. 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00892" y="1142984"/>
            <a:ext cx="1928826" cy="17673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/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71414"/>
            <a:ext cx="842968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Polystyrene 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prepared by the polymerization of Phenyl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ethene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or styrene.</a:t>
            </a: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 descr="C:\Users\Jitu\Desktop\image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928670"/>
            <a:ext cx="5214974" cy="2657311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14282" y="3603216"/>
            <a:ext cx="842968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Properties: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transparent and posses moisture resistance.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High electric insulator.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Hard and brittle. 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u="sng" dirty="0" smtClean="0">
                <a:latin typeface="Times New Roman" pitchFamily="18" charset="0"/>
                <a:cs typeface="Times New Roman" pitchFamily="18" charset="0"/>
              </a:rPr>
              <a:t>Uses: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used as electrical insulator, refrigerator parts etc. 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 descr="C:\Users\Jitu\Desktop\download (1)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72198" y="3429000"/>
            <a:ext cx="2827010" cy="20717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0" y="0"/>
            <a:ext cx="91440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 err="1" smtClean="0">
                <a:latin typeface="Times New Roman" pitchFamily="18" charset="0"/>
                <a:cs typeface="Times New Roman" pitchFamily="18" charset="0"/>
              </a:rPr>
              <a:t>Polytetrafluoroethylene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(PTFE):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prepared by addition polymerization of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tetrafluoroethylene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and also known as Teflon.    </a:t>
            </a:r>
          </a:p>
        </p:txBody>
      </p:sp>
      <p:pic>
        <p:nvPicPr>
          <p:cNvPr id="4098" name="Picture 2" descr="C:\Users\Jitu\Desktop\ptfe04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8536" y="1000108"/>
            <a:ext cx="8295430" cy="214314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14282" y="4298960"/>
            <a:ext cx="89297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Properties: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strong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nonflamable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synthetic resin, high resistance towards heat and water.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u="sng" dirty="0" smtClean="0">
                <a:latin typeface="Times New Roman" pitchFamily="18" charset="0"/>
                <a:cs typeface="Times New Roman" pitchFamily="18" charset="0"/>
              </a:rPr>
              <a:t>Uses: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used as electrical insulator, refrigerator parts etc. 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0034" y="1610013"/>
            <a:ext cx="214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</a:t>
            </a:r>
            <a:endParaRPr lang="en-US" sz="2400" b="1" dirty="0"/>
          </a:p>
        </p:txBody>
      </p:sp>
      <p:pic>
        <p:nvPicPr>
          <p:cNvPr id="9" name="Picture 11" descr="800px-100_078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8926" y="2428866"/>
            <a:ext cx="2643206" cy="1983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0" y="0"/>
            <a:ext cx="91440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 err="1" smtClean="0">
                <a:latin typeface="Times New Roman" pitchFamily="18" charset="0"/>
                <a:cs typeface="Times New Roman" pitchFamily="18" charset="0"/>
              </a:rPr>
              <a:t>Polyaniline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synthesized by chemical or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elctrochemical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oxidation of aniline in acidic medium using common oxidant such as ammonium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peroxidisulphate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..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282" y="5059648"/>
            <a:ext cx="892971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u="sng" dirty="0" smtClean="0">
                <a:latin typeface="Times New Roman" pitchFamily="18" charset="0"/>
                <a:cs typeface="Times New Roman" pitchFamily="18" charset="0"/>
              </a:rPr>
              <a:t>Uses: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used in light weight battery and non linear optical material. 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 descr="C:\Users\Jitu\Desktop\c5ra03016a-s1_hi-res.gif"/>
          <p:cNvPicPr>
            <a:picLocks noChangeAspect="1" noChangeArrowheads="1"/>
          </p:cNvPicPr>
          <p:nvPr/>
        </p:nvPicPr>
        <p:blipFill>
          <a:blip r:embed="rId2"/>
          <a:srcRect l="32104" r="55694" b="82907"/>
          <a:stretch>
            <a:fillRect/>
          </a:stretch>
        </p:blipFill>
        <p:spPr bwMode="auto">
          <a:xfrm>
            <a:off x="3071802" y="1071546"/>
            <a:ext cx="1160399" cy="1928826"/>
          </a:xfrm>
          <a:prstGeom prst="rect">
            <a:avLst/>
          </a:prstGeom>
          <a:noFill/>
        </p:spPr>
      </p:pic>
      <p:cxnSp>
        <p:nvCxnSpPr>
          <p:cNvPr id="8" name="Straight Arrow Connector 7"/>
          <p:cNvCxnSpPr/>
          <p:nvPr/>
        </p:nvCxnSpPr>
        <p:spPr>
          <a:xfrm rot="5400000">
            <a:off x="3286910" y="3142454"/>
            <a:ext cx="71438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Picture 3" descr="C:\Users\Jitu\Desktop\c5ra03016a-s1_hi-res.gif"/>
          <p:cNvPicPr>
            <a:picLocks noChangeAspect="1" noChangeArrowheads="1"/>
          </p:cNvPicPr>
          <p:nvPr/>
        </p:nvPicPr>
        <p:blipFill>
          <a:blip r:embed="rId2"/>
          <a:srcRect l="3253" t="39717" r="14587" b="50000"/>
          <a:stretch>
            <a:fillRect/>
          </a:stretch>
        </p:blipFill>
        <p:spPr bwMode="auto">
          <a:xfrm>
            <a:off x="642910" y="3786190"/>
            <a:ext cx="7215238" cy="1071570"/>
          </a:xfrm>
          <a:prstGeom prst="rect">
            <a:avLst/>
          </a:prstGeom>
          <a:noFill/>
        </p:spPr>
      </p:pic>
      <p:sp>
        <p:nvSpPr>
          <p:cNvPr id="12" name="Left Bracket 11"/>
          <p:cNvSpPr/>
          <p:nvPr/>
        </p:nvSpPr>
        <p:spPr>
          <a:xfrm>
            <a:off x="642910" y="3571876"/>
            <a:ext cx="142876" cy="1500198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ket 13"/>
          <p:cNvSpPr/>
          <p:nvPr/>
        </p:nvSpPr>
        <p:spPr>
          <a:xfrm>
            <a:off x="7643834" y="3643314"/>
            <a:ext cx="117157" cy="1357322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858148" y="4572008"/>
            <a:ext cx="71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4429124" y="2214554"/>
            <a:ext cx="114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(Aniline)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43306" y="4786322"/>
            <a:ext cx="2000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Polyaniline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0" y="0"/>
            <a:ext cx="9144000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 err="1" smtClean="0">
                <a:latin typeface="Times New Roman" pitchFamily="18" charset="0"/>
                <a:cs typeface="Times New Roman" pitchFamily="18" charset="0"/>
              </a:rPr>
              <a:t>Polymethyl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 err="1" smtClean="0">
                <a:latin typeface="Times New Roman" pitchFamily="18" charset="0"/>
                <a:cs typeface="Times New Roman" pitchFamily="18" charset="0"/>
              </a:rPr>
              <a:t>methacrylate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(PMMA):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formed by the polymerization of methyl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methacrylate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282" y="4298960"/>
            <a:ext cx="89297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Properties: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transparent, hard, light weight, high resistance power etc.  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u="sng" dirty="0" smtClean="0">
                <a:latin typeface="Times New Roman" pitchFamily="18" charset="0"/>
                <a:cs typeface="Times New Roman" pitchFamily="18" charset="0"/>
              </a:rPr>
              <a:t>Uses: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used as hard lens, optical media and 3-D optical data storage, artificial teeth, TV screen, windows of car, etc. 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0034" y="1857364"/>
            <a:ext cx="214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</a:t>
            </a:r>
            <a:endParaRPr lang="en-US" sz="2400" b="1" dirty="0"/>
          </a:p>
        </p:txBody>
      </p:sp>
      <p:pic>
        <p:nvPicPr>
          <p:cNvPr id="2050" name="Picture 2" descr="C:\Users\Jitu\Desktop\pmma02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349655"/>
            <a:ext cx="7358114" cy="2650849"/>
          </a:xfrm>
          <a:prstGeom prst="rect">
            <a:avLst/>
          </a:prstGeom>
          <a:noFill/>
        </p:spPr>
      </p:pic>
      <p:pic>
        <p:nvPicPr>
          <p:cNvPr id="2051" name="Picture 3" descr="C:\Users\Jitu\Desktop\product-262980-t-1511433527-o.jpg"/>
          <p:cNvPicPr>
            <a:picLocks noChangeAspect="1" noChangeArrowheads="1"/>
          </p:cNvPicPr>
          <p:nvPr/>
        </p:nvPicPr>
        <p:blipFill>
          <a:blip r:embed="rId3"/>
          <a:srcRect l="7692" r="12821"/>
          <a:stretch>
            <a:fillRect/>
          </a:stretch>
        </p:blipFill>
        <p:spPr bwMode="auto">
          <a:xfrm>
            <a:off x="7215206" y="500042"/>
            <a:ext cx="1857388" cy="17525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Jitu\Desktop\Cis-and-Trans-Polyacetylene-1-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500174"/>
            <a:ext cx="5500726" cy="4193803"/>
          </a:xfrm>
          <a:prstGeom prst="rect">
            <a:avLst/>
          </a:prstGeom>
          <a:noFill/>
        </p:spPr>
      </p:pic>
      <p:cxnSp>
        <p:nvCxnSpPr>
          <p:cNvPr id="7" name="Straight Arrow Connector 6"/>
          <p:cNvCxnSpPr/>
          <p:nvPr/>
        </p:nvCxnSpPr>
        <p:spPr>
          <a:xfrm rot="5400000">
            <a:off x="4071934" y="3286124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86248" y="3071810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200 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714744" y="3071810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AsF</a:t>
            </a:r>
            <a:r>
              <a:rPr lang="en-US" baseline="-25000" dirty="0" smtClean="0"/>
              <a:t>5</a:t>
            </a:r>
            <a:endParaRPr lang="en-US" baseline="-25000" dirty="0"/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-32" y="0"/>
            <a:ext cx="91440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 err="1" smtClean="0">
                <a:latin typeface="Times New Roman" pitchFamily="18" charset="0"/>
                <a:cs typeface="Times New Roman" pitchFamily="18" charset="0"/>
              </a:rPr>
              <a:t>Polyacetylene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 (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First conducting polymer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Polyacetylene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is prepared by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metathens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polymerization of AsF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(Arsenic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penta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fluoride)  is doped in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Cis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-poly acetylene at about 200 </a:t>
            </a:r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  to form trans-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polyacetylene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which has high electrical conductivity.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282" y="5134475"/>
            <a:ext cx="89297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u="sng" dirty="0" smtClean="0">
                <a:latin typeface="Times New Roman" pitchFamily="18" charset="0"/>
                <a:cs typeface="Times New Roman" pitchFamily="18" charset="0"/>
              </a:rPr>
              <a:t>Uses: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used in solar cell, sensor, and electro chromic display etc. </a:t>
            </a:r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 descr="C:\Users\Jitu\Desktop\download.jpg"/>
          <p:cNvPicPr>
            <a:picLocks noChangeAspect="1" noChangeArrowheads="1"/>
          </p:cNvPicPr>
          <p:nvPr/>
        </p:nvPicPr>
        <p:blipFill>
          <a:blip r:embed="rId3"/>
          <a:srcRect l="26631" r="8151"/>
          <a:stretch>
            <a:fillRect/>
          </a:stretch>
        </p:blipFill>
        <p:spPr bwMode="auto">
          <a:xfrm>
            <a:off x="6786578" y="1214422"/>
            <a:ext cx="2143140" cy="2178844"/>
          </a:xfrm>
          <a:prstGeom prst="rect">
            <a:avLst/>
          </a:prstGeom>
          <a:noFill/>
        </p:spPr>
      </p:pic>
      <p:pic>
        <p:nvPicPr>
          <p:cNvPr id="3076" name="Picture 4" descr="C:\Users\Jitu\Desktop\solar-cell-panel-500x500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70176" y="3643314"/>
            <a:ext cx="2259542" cy="15001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0" y="0"/>
            <a:ext cx="91440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Bakelite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formed by the condensation polymerization of phenol and formaldehyde , it gives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orthohydroxy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alcohol and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parahydroxy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alcohol. After polymerization of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ortho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para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compound to give a cross linked 3-D structure is known as Bakelite.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282" y="4298960"/>
            <a:ext cx="892971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Properties: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has high thermal stability, hard and infusible and good electrical insulator.  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u="sng" dirty="0" smtClean="0">
                <a:latin typeface="Times New Roman" pitchFamily="18" charset="0"/>
                <a:cs typeface="Times New Roman" pitchFamily="18" charset="0"/>
              </a:rPr>
              <a:t>Uses: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used to prepare switch and plucks.</a:t>
            </a: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It is used to make telephone parts, television cabinets.</a:t>
            </a: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It is used as ion exchange resin in softening of water.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Jitu\Desktop\ck_5b7d75a472eda.png"/>
          <p:cNvPicPr>
            <a:picLocks noChangeAspect="1" noChangeArrowheads="1"/>
          </p:cNvPicPr>
          <p:nvPr/>
        </p:nvPicPr>
        <p:blipFill>
          <a:blip r:embed="rId2"/>
          <a:srcRect l="10438" t="23574" r="28112" b="55186"/>
          <a:stretch>
            <a:fillRect/>
          </a:stretch>
        </p:blipFill>
        <p:spPr bwMode="auto">
          <a:xfrm>
            <a:off x="1571604" y="1500174"/>
            <a:ext cx="4000528" cy="1166821"/>
          </a:xfrm>
          <a:prstGeom prst="rect">
            <a:avLst/>
          </a:prstGeom>
          <a:noFill/>
        </p:spPr>
      </p:pic>
      <p:pic>
        <p:nvPicPr>
          <p:cNvPr id="6" name="Picture 2" descr="C:\Users\Jitu\Desktop\ck_5b7d75a472eda.png"/>
          <p:cNvPicPr>
            <a:picLocks noChangeAspect="1" noChangeArrowheads="1"/>
          </p:cNvPicPr>
          <p:nvPr/>
        </p:nvPicPr>
        <p:blipFill>
          <a:blip r:embed="rId2"/>
          <a:srcRect l="26786" t="57884" r="13340" b="4771"/>
          <a:stretch>
            <a:fillRect/>
          </a:stretch>
        </p:blipFill>
        <p:spPr bwMode="auto">
          <a:xfrm>
            <a:off x="3214677" y="3286124"/>
            <a:ext cx="2850343" cy="1500198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>
            <a:off x="3714744" y="3000372"/>
            <a:ext cx="1500198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3536943" y="2821777"/>
            <a:ext cx="35719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>
            <a:off x="5037141" y="2820983"/>
            <a:ext cx="35719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400000">
            <a:off x="4356892" y="3143248"/>
            <a:ext cx="286546" cy="7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86380" y="2059536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P-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hydroxy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methylphenol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 descr="C:\Users\Jitu\Desktop\download (1)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72302" y="5072074"/>
            <a:ext cx="2143111" cy="1785926"/>
          </a:xfrm>
          <a:prstGeom prst="rect">
            <a:avLst/>
          </a:prstGeom>
          <a:noFill/>
        </p:spPr>
      </p:pic>
      <p:pic>
        <p:nvPicPr>
          <p:cNvPr id="1028" name="Picture 4" descr="C:\Users\Jitu\Desktop\download.jpg"/>
          <p:cNvPicPr>
            <a:picLocks noChangeAspect="1" noChangeArrowheads="1"/>
          </p:cNvPicPr>
          <p:nvPr/>
        </p:nvPicPr>
        <p:blipFill>
          <a:blip r:embed="rId4"/>
          <a:srcRect l="5455" t="4098"/>
          <a:stretch>
            <a:fillRect/>
          </a:stretch>
        </p:blipFill>
        <p:spPr bwMode="auto">
          <a:xfrm>
            <a:off x="6357950" y="2786058"/>
            <a:ext cx="2571768" cy="1735944"/>
          </a:xfrm>
          <a:prstGeom prst="rect">
            <a:avLst/>
          </a:prstGeom>
          <a:noFill/>
        </p:spPr>
      </p:pic>
      <p:sp>
        <p:nvSpPr>
          <p:cNvPr id="21" name="Left Bracket 20"/>
          <p:cNvSpPr/>
          <p:nvPr/>
        </p:nvSpPr>
        <p:spPr>
          <a:xfrm>
            <a:off x="3357554" y="3286124"/>
            <a:ext cx="71438" cy="642942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ket 21"/>
          <p:cNvSpPr/>
          <p:nvPr/>
        </p:nvSpPr>
        <p:spPr>
          <a:xfrm>
            <a:off x="5643570" y="3286124"/>
            <a:ext cx="71438" cy="714380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ket 22"/>
          <p:cNvSpPr/>
          <p:nvPr/>
        </p:nvSpPr>
        <p:spPr>
          <a:xfrm>
            <a:off x="3357554" y="4000504"/>
            <a:ext cx="71438" cy="642942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Bracket 23"/>
          <p:cNvSpPr/>
          <p:nvPr/>
        </p:nvSpPr>
        <p:spPr>
          <a:xfrm>
            <a:off x="5643570" y="4071942"/>
            <a:ext cx="71438" cy="714380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715008" y="3714752"/>
            <a:ext cx="142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n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5715008" y="4416990"/>
            <a:ext cx="142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n</a:t>
            </a:r>
            <a:endParaRPr lang="en-US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0" y="0"/>
            <a:ext cx="91440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Nylon 6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prepared by the self condensation of amino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hexanoic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acid. </a:t>
            </a:r>
          </a:p>
          <a:p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Common name- </a:t>
            </a:r>
            <a:r>
              <a:rPr lang="en-IN" sz="2200" dirty="0" err="1" smtClean="0">
                <a:latin typeface="Times New Roman" pitchFamily="18" charset="0"/>
                <a:cs typeface="Times New Roman" pitchFamily="18" charset="0"/>
              </a:rPr>
              <a:t>ammino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 err="1" smtClean="0">
                <a:latin typeface="Times New Roman" pitchFamily="18" charset="0"/>
                <a:cs typeface="Times New Roman" pitchFamily="18" charset="0"/>
              </a:rPr>
              <a:t>caproic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acid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4282" y="4298960"/>
            <a:ext cx="8929718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Properties: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These are brittle, flexible, electrical insulator.  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u="sng" dirty="0" smtClean="0">
                <a:latin typeface="Times New Roman" pitchFamily="18" charset="0"/>
                <a:cs typeface="Times New Roman" pitchFamily="18" charset="0"/>
              </a:rPr>
              <a:t>Uses: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used to prepare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brushes and tooth brushes.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7158" y="1428736"/>
            <a:ext cx="64294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NH</a:t>
            </a:r>
            <a:r>
              <a:rPr lang="en-IN" sz="2400" baseline="-25000" dirty="0" smtClean="0"/>
              <a:t>2</a:t>
            </a:r>
            <a:r>
              <a:rPr lang="en-IN" sz="2400" dirty="0" smtClean="0"/>
              <a:t>-(CH</a:t>
            </a:r>
            <a:r>
              <a:rPr lang="en-IN" sz="2400" baseline="-25000" dirty="0" smtClean="0"/>
              <a:t>2</a:t>
            </a:r>
            <a:r>
              <a:rPr lang="en-IN" sz="2400" dirty="0" smtClean="0"/>
              <a:t>)</a:t>
            </a:r>
            <a:r>
              <a:rPr lang="en-IN" sz="2400" baseline="-25000" dirty="0" smtClean="0"/>
              <a:t>5</a:t>
            </a:r>
            <a:r>
              <a:rPr lang="en-IN" sz="2400" dirty="0" smtClean="0"/>
              <a:t>- COOH  + H-NH-(CH</a:t>
            </a:r>
            <a:r>
              <a:rPr lang="en-IN" sz="2400" baseline="-25000" dirty="0" smtClean="0"/>
              <a:t>2</a:t>
            </a:r>
            <a:r>
              <a:rPr lang="en-IN" sz="2400" dirty="0" smtClean="0"/>
              <a:t>)</a:t>
            </a:r>
            <a:r>
              <a:rPr lang="en-IN" sz="2400" baseline="-25000" dirty="0" smtClean="0"/>
              <a:t>5</a:t>
            </a:r>
            <a:r>
              <a:rPr lang="en-IN" sz="2400" dirty="0" smtClean="0"/>
              <a:t>- COOH</a:t>
            </a:r>
            <a:r>
              <a:rPr lang="en-IN" dirty="0" smtClean="0"/>
              <a:t>   </a:t>
            </a:r>
            <a:endParaRPr lang="en-US" dirty="0" smtClean="0"/>
          </a:p>
          <a:p>
            <a:r>
              <a:rPr lang="en-IN" dirty="0" smtClean="0"/>
              <a:t> 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643570" y="1643050"/>
            <a:ext cx="100013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85984" y="1357298"/>
            <a:ext cx="1000132" cy="71438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714876" y="2240813"/>
            <a:ext cx="4714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--NH-(CH</a:t>
            </a:r>
            <a:r>
              <a:rPr lang="en-IN" sz="2400" baseline="-25000" dirty="0" smtClean="0"/>
              <a:t>2</a:t>
            </a:r>
            <a:r>
              <a:rPr lang="en-IN" sz="2400" dirty="0" smtClean="0"/>
              <a:t>)</a:t>
            </a:r>
            <a:r>
              <a:rPr lang="en-IN" sz="2400" baseline="-25000" dirty="0" smtClean="0"/>
              <a:t>5</a:t>
            </a:r>
            <a:r>
              <a:rPr lang="en-IN" sz="2400" dirty="0" smtClean="0"/>
              <a:t>-CO-NH-(CH</a:t>
            </a:r>
            <a:r>
              <a:rPr lang="en-IN" sz="2400" baseline="-25000" dirty="0" smtClean="0"/>
              <a:t>2</a:t>
            </a:r>
            <a:r>
              <a:rPr lang="en-IN" sz="2400" dirty="0" smtClean="0"/>
              <a:t>)</a:t>
            </a:r>
            <a:r>
              <a:rPr lang="en-IN" sz="2400" baseline="-25000" dirty="0" smtClean="0"/>
              <a:t>5</a:t>
            </a:r>
            <a:r>
              <a:rPr lang="en-IN" sz="2400" dirty="0" smtClean="0"/>
              <a:t>-CO--  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15" name="Left Bracket 14"/>
          <p:cNvSpPr/>
          <p:nvPr/>
        </p:nvSpPr>
        <p:spPr>
          <a:xfrm>
            <a:off x="4929190" y="1928802"/>
            <a:ext cx="45719" cy="1143008"/>
          </a:xfrm>
          <a:prstGeom prst="lef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ket 15"/>
          <p:cNvSpPr/>
          <p:nvPr/>
        </p:nvSpPr>
        <p:spPr>
          <a:xfrm>
            <a:off x="8501090" y="2071678"/>
            <a:ext cx="71438" cy="1071570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42844" y="1395699"/>
            <a:ext cx="21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n</a:t>
            </a:r>
            <a:endParaRPr lang="en-US" sz="28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8501090" y="2620028"/>
            <a:ext cx="21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n</a:t>
            </a:r>
            <a:endParaRPr lang="en-US" sz="2800" b="1" dirty="0"/>
          </a:p>
        </p:txBody>
      </p:sp>
      <p:pic>
        <p:nvPicPr>
          <p:cNvPr id="2050" name="Picture 2" descr="C:\Users\Jitu\Desktop\nylon-6-20-638.jpg"/>
          <p:cNvPicPr>
            <a:picLocks noChangeAspect="1" noChangeArrowheads="1"/>
          </p:cNvPicPr>
          <p:nvPr/>
        </p:nvPicPr>
        <p:blipFill>
          <a:blip r:embed="rId2"/>
          <a:srcRect l="6825" t="45455" r="60414" b="7273"/>
          <a:stretch>
            <a:fillRect/>
          </a:stretch>
        </p:blipFill>
        <p:spPr bwMode="auto">
          <a:xfrm>
            <a:off x="6429388" y="4500570"/>
            <a:ext cx="1714512" cy="1857388"/>
          </a:xfrm>
          <a:prstGeom prst="rect">
            <a:avLst/>
          </a:prstGeom>
          <a:noFill/>
        </p:spPr>
      </p:pic>
      <p:pic>
        <p:nvPicPr>
          <p:cNvPr id="20" name="Picture 2" descr="C:\Users\Jitu\Desktop\nylon-6-20-638.jpg"/>
          <p:cNvPicPr>
            <a:picLocks noChangeAspect="1" noChangeArrowheads="1"/>
          </p:cNvPicPr>
          <p:nvPr/>
        </p:nvPicPr>
        <p:blipFill>
          <a:blip r:embed="rId2"/>
          <a:srcRect l="53237" b="65455"/>
          <a:stretch>
            <a:fillRect/>
          </a:stretch>
        </p:blipFill>
        <p:spPr bwMode="auto">
          <a:xfrm>
            <a:off x="5572132" y="3000372"/>
            <a:ext cx="2447236" cy="13573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/>
        </p:nvSpPr>
        <p:spPr bwMode="auto">
          <a:xfrm>
            <a:off x="0" y="0"/>
            <a:ext cx="91440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Nylon 6,6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prepared by the condensation polymerization of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adipic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acid and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hexamethylenidiamine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with eliminating of H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 molecule.  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4282" y="4298960"/>
            <a:ext cx="89297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Properties: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bad conductor of electricity, hard, flexible.</a:t>
            </a:r>
            <a:r>
              <a:rPr lang="en-US" sz="22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b="1" u="sng" dirty="0" smtClean="0">
                <a:latin typeface="Times New Roman" pitchFamily="18" charset="0"/>
                <a:cs typeface="Times New Roman" pitchFamily="18" charset="0"/>
              </a:rPr>
              <a:t>Uses: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used as fibers for clothing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It is used as electrical insulator. 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C:\Users\Jitu\Desktop\Preparation-of-Nylon-6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364" y="1214422"/>
            <a:ext cx="8420164" cy="2784964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3357554" y="3857628"/>
            <a:ext cx="22860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Nylon-6,6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406" y="71414"/>
            <a:ext cx="8858312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Biodegradable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polymers: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Biodegradable polymer means the polymer which can degrade by microorganism.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EX- All natural polymer,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polyglycolic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acid etc. 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Non-biodegradable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polymers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polymer which resist to environment and cant be degrade by microorganism is called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nonbiodegradable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polymer.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EX- Thermoplastics,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fibre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polythene etc. 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u="sng" dirty="0" err="1" smtClean="0">
                <a:latin typeface="Times New Roman" pitchFamily="18" charset="0"/>
                <a:cs typeface="Times New Roman" pitchFamily="18" charset="0"/>
              </a:rPr>
              <a:t>Fibre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reinforced polymer: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a composite material made up of polymer matrix with high strength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fibres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such as glass,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aramid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(adsorbs heat resistance) and carbon.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EX- it is used in aerospace, automatic machine, marine and construction industry.</a:t>
            </a: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Conducting polymer: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These are class of polymer which conduct electricity is called conducting polymer.   </a:t>
            </a: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4414" y="2268202"/>
            <a:ext cx="7143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 smtClean="0">
                <a:latin typeface="Arial Black" pitchFamily="34" charset="0"/>
              </a:rPr>
              <a:t>Thank You </a:t>
            </a:r>
            <a:endParaRPr lang="en-US" sz="8800" dirty="0">
              <a:latin typeface="Arial Black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