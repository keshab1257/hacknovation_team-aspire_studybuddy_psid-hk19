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5" r:id="rId19"/>
    <p:sldId id="276" r:id="rId20"/>
    <p:sldId id="277" r:id="rId21"/>
    <p:sldId id="278" r:id="rId22"/>
    <p:sldId id="279" r:id="rId23"/>
    <p:sldId id="280" r:id="rId24"/>
    <p:sldId id="282" r:id="rId25"/>
    <p:sldId id="283" r:id="rId26"/>
    <p:sldId id="284" r:id="rId27"/>
    <p:sldId id="285" r:id="rId28"/>
    <p:sldId id="286" r:id="rId29"/>
    <p:sldId id="281"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08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10/8/2025</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10/8/2025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10/8/2025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1D8BD707-D9CF-40AE-B4C6-C98DA3205C09}" type="datetimeFigureOut">
              <a:rPr lang="en-US" smtClean="0"/>
              <a:pPr/>
              <a:t>10/8/2025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10/8/2025</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905000" y="685800"/>
            <a:ext cx="5998758" cy="1754326"/>
          </a:xfrm>
          <a:prstGeom prst="rect">
            <a:avLst/>
          </a:prstGeom>
          <a:noFill/>
        </p:spPr>
        <p:txBody>
          <a:bodyPr wrap="none" lIns="91440" tIns="45720" rIns="91440" bIns="45720">
            <a:spAutoFit/>
          </a:bodyPr>
          <a:lstStyle/>
          <a:p>
            <a:pPr algn="ctr"/>
            <a:r>
              <a:rPr lang="en-US" sz="54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CONCURRENCY</a:t>
            </a:r>
          </a:p>
          <a:p>
            <a:pPr algn="ctr"/>
            <a:r>
              <a:rPr lang="en-US" sz="54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CONTROL</a:t>
            </a:r>
            <a:endParaRPr lang="en-US" sz="54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Tree>
    <p:extLst>
      <p:ext uri="{BB962C8B-B14F-4D97-AF65-F5344CB8AC3E}">
        <p14:creationId xmlns:p14="http://schemas.microsoft.com/office/powerpoint/2010/main" val="28591100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a:t>
            </a:r>
            <a:endParaRPr lang="en-US" dirty="0"/>
          </a:p>
        </p:txBody>
      </p:sp>
      <p:sp>
        <p:nvSpPr>
          <p:cNvPr id="3" name="Content Placeholder 2"/>
          <p:cNvSpPr>
            <a:spLocks noGrp="1"/>
          </p:cNvSpPr>
          <p:nvPr>
            <p:ph idx="1"/>
          </p:nvPr>
        </p:nvSpPr>
        <p:spPr/>
        <p:txBody>
          <a:bodyPr>
            <a:normAutofit/>
          </a:bodyPr>
          <a:lstStyle/>
          <a:p>
            <a:pPr algn="just">
              <a:buFont typeface="Wingdings" pitchFamily="2" charset="2"/>
              <a:buChar char="Ø"/>
            </a:pPr>
            <a:r>
              <a:rPr lang="en-US" sz="3600" dirty="0"/>
              <a:t>Concurrency Control is the management procedure that is required for controlling concurrent execution of the operations that take place on a database.</a:t>
            </a:r>
          </a:p>
          <a:p>
            <a:pPr algn="just">
              <a:buFont typeface="Wingdings" pitchFamily="2" charset="2"/>
              <a:buChar char="Ø"/>
            </a:pPr>
            <a:r>
              <a:rPr lang="en-US" sz="3600" dirty="0"/>
              <a:t>But before knowing about concurrency control, we should know about concurrent execution.</a:t>
            </a:r>
          </a:p>
          <a:p>
            <a:pPr algn="just">
              <a:buFont typeface="Wingdings" pitchFamily="2" charset="2"/>
              <a:buChar char="Ø"/>
            </a:pPr>
            <a:endParaRPr lang="en-US" sz="3600" dirty="0"/>
          </a:p>
        </p:txBody>
      </p:sp>
    </p:spTree>
    <p:extLst>
      <p:ext uri="{BB962C8B-B14F-4D97-AF65-F5344CB8AC3E}">
        <p14:creationId xmlns:p14="http://schemas.microsoft.com/office/powerpoint/2010/main" val="38951661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944562"/>
          </a:xfrm>
        </p:spPr>
        <p:txBody>
          <a:bodyPr/>
          <a:lstStyle/>
          <a:p>
            <a:r>
              <a:rPr lang="en-US" dirty="0" smtClean="0"/>
              <a:t>Concurrent Execution</a:t>
            </a:r>
            <a:endParaRPr lang="en-US" dirty="0"/>
          </a:p>
        </p:txBody>
      </p:sp>
      <p:sp>
        <p:nvSpPr>
          <p:cNvPr id="3" name="Content Placeholder 2"/>
          <p:cNvSpPr>
            <a:spLocks noGrp="1"/>
          </p:cNvSpPr>
          <p:nvPr>
            <p:ph idx="1"/>
          </p:nvPr>
        </p:nvSpPr>
        <p:spPr>
          <a:xfrm>
            <a:off x="1435608" y="1219200"/>
            <a:ext cx="7498080" cy="5562600"/>
          </a:xfrm>
        </p:spPr>
        <p:txBody>
          <a:bodyPr>
            <a:noAutofit/>
          </a:bodyPr>
          <a:lstStyle/>
          <a:p>
            <a:pPr algn="just">
              <a:buFont typeface="Wingdings" pitchFamily="2" charset="2"/>
              <a:buChar char="Ø"/>
            </a:pPr>
            <a:r>
              <a:rPr lang="en-US" sz="2700" dirty="0"/>
              <a:t>In a multi-user system, multiple users can access and use the same database at one time, which is known as the concurrent execution of the database. </a:t>
            </a:r>
            <a:endParaRPr lang="en-US" sz="2700" dirty="0" smtClean="0"/>
          </a:p>
          <a:p>
            <a:pPr algn="just">
              <a:buFont typeface="Wingdings" pitchFamily="2" charset="2"/>
              <a:buChar char="Ø"/>
            </a:pPr>
            <a:r>
              <a:rPr lang="en-US" sz="2700" dirty="0" smtClean="0"/>
              <a:t>It </a:t>
            </a:r>
            <a:r>
              <a:rPr lang="en-US" sz="2700" dirty="0"/>
              <a:t>means that the same database is </a:t>
            </a:r>
            <a:r>
              <a:rPr lang="en-US" sz="2700" dirty="0" smtClean="0"/>
              <a:t>accessed </a:t>
            </a:r>
            <a:r>
              <a:rPr lang="en-US" sz="2700" dirty="0"/>
              <a:t>simultaneously on a multi-user system by different users.</a:t>
            </a:r>
          </a:p>
          <a:p>
            <a:pPr algn="just">
              <a:buFont typeface="Wingdings" pitchFamily="2" charset="2"/>
              <a:buChar char="Ø"/>
            </a:pPr>
            <a:r>
              <a:rPr lang="en-US" sz="2700" dirty="0"/>
              <a:t>While working on the database transactions, there occurs the requirement of using the database by multiple users for performing different operations, and in that case, concurrent execution of the database is performed.</a:t>
            </a:r>
          </a:p>
          <a:p>
            <a:pPr algn="just">
              <a:buFont typeface="Wingdings" pitchFamily="2" charset="2"/>
              <a:buChar char="Ø"/>
            </a:pPr>
            <a:endParaRPr lang="en-US" sz="2700" dirty="0"/>
          </a:p>
        </p:txBody>
      </p:sp>
    </p:spTree>
    <p:extLst>
      <p:ext uri="{BB962C8B-B14F-4D97-AF65-F5344CB8AC3E}">
        <p14:creationId xmlns:p14="http://schemas.microsoft.com/office/powerpoint/2010/main" val="32882369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92162"/>
          </a:xfrm>
        </p:spPr>
        <p:txBody>
          <a:bodyPr/>
          <a:lstStyle/>
          <a:p>
            <a:r>
              <a:rPr lang="en-US" dirty="0"/>
              <a:t>Concurrent Execution</a:t>
            </a:r>
          </a:p>
        </p:txBody>
      </p:sp>
      <p:sp>
        <p:nvSpPr>
          <p:cNvPr id="3" name="Content Placeholder 2"/>
          <p:cNvSpPr>
            <a:spLocks noGrp="1"/>
          </p:cNvSpPr>
          <p:nvPr>
            <p:ph idx="1"/>
          </p:nvPr>
        </p:nvSpPr>
        <p:spPr>
          <a:xfrm>
            <a:off x="1435608" y="1066800"/>
            <a:ext cx="7498080" cy="5638800"/>
          </a:xfrm>
        </p:spPr>
        <p:txBody>
          <a:bodyPr>
            <a:normAutofit/>
          </a:bodyPr>
          <a:lstStyle/>
          <a:p>
            <a:pPr algn="just">
              <a:buFont typeface="Wingdings" pitchFamily="2" charset="2"/>
              <a:buChar char="Ø"/>
            </a:pPr>
            <a:r>
              <a:rPr lang="en-US" dirty="0"/>
              <a:t>The thing is that the simultaneous execution that is performed should be done in an interleaved manner, and no operation should affect the other executing operations, thus maintaining the consistency of the database. </a:t>
            </a:r>
            <a:endParaRPr lang="en-US" dirty="0" smtClean="0"/>
          </a:p>
          <a:p>
            <a:pPr algn="just">
              <a:buFont typeface="Wingdings" pitchFamily="2" charset="2"/>
              <a:buChar char="Ø"/>
            </a:pPr>
            <a:r>
              <a:rPr lang="en-US" dirty="0" smtClean="0"/>
              <a:t>Thus</a:t>
            </a:r>
            <a:r>
              <a:rPr lang="en-US" dirty="0"/>
              <a:t>, on making the concurrent execution of the transaction operations, there occur several challenging problems that need to be solved.</a:t>
            </a:r>
          </a:p>
          <a:p>
            <a:pPr algn="just">
              <a:buFont typeface="Wingdings" pitchFamily="2" charset="2"/>
              <a:buChar char="Ø"/>
            </a:pPr>
            <a:endParaRPr lang="en-US" dirty="0"/>
          </a:p>
        </p:txBody>
      </p:sp>
    </p:spTree>
    <p:extLst>
      <p:ext uri="{BB962C8B-B14F-4D97-AF65-F5344CB8AC3E}">
        <p14:creationId xmlns:p14="http://schemas.microsoft.com/office/powerpoint/2010/main" val="3518952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Problems with concurrent execution</a:t>
            </a:r>
            <a:endParaRPr lang="en-US" sz="3600" dirty="0"/>
          </a:p>
        </p:txBody>
      </p:sp>
      <p:sp>
        <p:nvSpPr>
          <p:cNvPr id="3" name="Content Placeholder 2"/>
          <p:cNvSpPr>
            <a:spLocks noGrp="1"/>
          </p:cNvSpPr>
          <p:nvPr>
            <p:ph idx="1"/>
          </p:nvPr>
        </p:nvSpPr>
        <p:spPr/>
        <p:txBody>
          <a:bodyPr>
            <a:normAutofit/>
          </a:bodyPr>
          <a:lstStyle/>
          <a:p>
            <a:pPr marL="82296" indent="0">
              <a:buNone/>
            </a:pPr>
            <a:r>
              <a:rPr lang="en-US" sz="3600" dirty="0" smtClean="0"/>
              <a:t>Some problems may occur during concurrent execution. Such as:</a:t>
            </a:r>
          </a:p>
          <a:p>
            <a:pPr marL="596646" indent="-514350">
              <a:buAutoNum type="arabicPeriod"/>
            </a:pPr>
            <a:r>
              <a:rPr lang="en-US" sz="3600" dirty="0" smtClean="0"/>
              <a:t>Lost Update Problem</a:t>
            </a:r>
            <a:r>
              <a:rPr lang="en-US" dirty="0" smtClean="0"/>
              <a:t>(W-W Conflict)</a:t>
            </a:r>
            <a:endParaRPr lang="en-US" sz="3600" dirty="0" smtClean="0"/>
          </a:p>
          <a:p>
            <a:pPr marL="596646" indent="-514350">
              <a:buAutoNum type="arabicPeriod"/>
            </a:pPr>
            <a:r>
              <a:rPr lang="en-US" sz="3600" dirty="0" smtClean="0"/>
              <a:t>Dirty Read Problem(W-R Conflict)</a:t>
            </a:r>
          </a:p>
          <a:p>
            <a:pPr marL="596646" indent="-514350">
              <a:buAutoNum type="arabicPeriod"/>
            </a:pPr>
            <a:r>
              <a:rPr lang="en-US" sz="3600" dirty="0" smtClean="0"/>
              <a:t>Unrepeatable </a:t>
            </a:r>
            <a:r>
              <a:rPr lang="en-US" sz="3600" smtClean="0"/>
              <a:t>Read Problem(R-W </a:t>
            </a:r>
            <a:r>
              <a:rPr lang="en-US" sz="3600" dirty="0" smtClean="0"/>
              <a:t>Conflict)</a:t>
            </a:r>
          </a:p>
          <a:p>
            <a:pPr marL="596646" indent="-514350">
              <a:buAutoNum type="arabicPeriod"/>
            </a:pPr>
            <a:endParaRPr lang="en-US" sz="3600" dirty="0"/>
          </a:p>
        </p:txBody>
      </p:sp>
    </p:spTree>
    <p:extLst>
      <p:ext uri="{BB962C8B-B14F-4D97-AF65-F5344CB8AC3E}">
        <p14:creationId xmlns:p14="http://schemas.microsoft.com/office/powerpoint/2010/main" val="2513451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Lost Update Problem</a:t>
            </a:r>
            <a:endParaRPr lang="en-US" dirty="0"/>
          </a:p>
        </p:txBody>
      </p:sp>
      <p:sp>
        <p:nvSpPr>
          <p:cNvPr id="3" name="Content Placeholder 2"/>
          <p:cNvSpPr>
            <a:spLocks noGrp="1"/>
          </p:cNvSpPr>
          <p:nvPr>
            <p:ph idx="1"/>
          </p:nvPr>
        </p:nvSpPr>
        <p:spPr/>
        <p:txBody>
          <a:bodyPr>
            <a:normAutofit/>
          </a:bodyPr>
          <a:lstStyle/>
          <a:p>
            <a:pPr marL="82296" indent="0" algn="just">
              <a:buNone/>
            </a:pPr>
            <a:r>
              <a:rPr lang="en-US" sz="3600" dirty="0"/>
              <a:t>The problem occurs </a:t>
            </a:r>
            <a:r>
              <a:rPr lang="en-US" sz="3600" i="1" dirty="0"/>
              <a:t>when two different database transactions perform the read/write operations on the same database items in an interleaved manner (i.e., concurrent execution) that makes the values of the items incorrect hence making the database inconsistent</a:t>
            </a:r>
            <a:r>
              <a:rPr lang="en-US" sz="3600" dirty="0"/>
              <a:t>.</a:t>
            </a:r>
          </a:p>
        </p:txBody>
      </p:sp>
    </p:spTree>
    <p:extLst>
      <p:ext uri="{BB962C8B-B14F-4D97-AF65-F5344CB8AC3E}">
        <p14:creationId xmlns:p14="http://schemas.microsoft.com/office/powerpoint/2010/main" val="3282543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Lost Update Problem</a:t>
            </a:r>
            <a:endParaRPr lang="en-US"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09800" y="1600342"/>
            <a:ext cx="6252695" cy="4724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91800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Dirty Read Problem</a:t>
            </a:r>
            <a:endParaRPr lang="en-US" dirty="0"/>
          </a:p>
        </p:txBody>
      </p:sp>
      <p:sp>
        <p:nvSpPr>
          <p:cNvPr id="3" name="Content Placeholder 2"/>
          <p:cNvSpPr>
            <a:spLocks noGrp="1"/>
          </p:cNvSpPr>
          <p:nvPr>
            <p:ph idx="1"/>
          </p:nvPr>
        </p:nvSpPr>
        <p:spPr/>
        <p:txBody>
          <a:bodyPr>
            <a:normAutofit/>
          </a:bodyPr>
          <a:lstStyle/>
          <a:p>
            <a:pPr marL="82296" indent="0" algn="just">
              <a:buNone/>
            </a:pPr>
            <a:r>
              <a:rPr lang="en-US" sz="3600" dirty="0"/>
              <a:t>The dirty read problem occurs </a:t>
            </a:r>
            <a:r>
              <a:rPr lang="en-US" sz="3600" i="1" dirty="0"/>
              <a:t>when one transaction updates an item of the database, and somehow the transaction fails, and before the data gets rollback, the updated database item is accessed by another transaction. There comes the Read-Write Conflict between both transactions.</a:t>
            </a:r>
            <a:endParaRPr lang="en-US" sz="3600" dirty="0"/>
          </a:p>
        </p:txBody>
      </p:sp>
    </p:spTree>
    <p:extLst>
      <p:ext uri="{BB962C8B-B14F-4D97-AF65-F5344CB8AC3E}">
        <p14:creationId xmlns:p14="http://schemas.microsoft.com/office/powerpoint/2010/main" val="2504015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944562"/>
          </a:xfrm>
        </p:spPr>
        <p:txBody>
          <a:bodyPr/>
          <a:lstStyle/>
          <a:p>
            <a:r>
              <a:rPr lang="en-US" dirty="0" smtClean="0"/>
              <a:t>Dirty Read Problem</a:t>
            </a:r>
            <a:endParaRPr lang="en-US"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0" y="1275520"/>
            <a:ext cx="6715178" cy="4439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97921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944562"/>
          </a:xfrm>
        </p:spPr>
        <p:txBody>
          <a:bodyPr/>
          <a:lstStyle/>
          <a:p>
            <a:r>
              <a:rPr lang="en-US" dirty="0" smtClean="0"/>
              <a:t>Unrepeatable Read Problem</a:t>
            </a:r>
            <a:endParaRPr lang="en-US" dirty="0"/>
          </a:p>
        </p:txBody>
      </p:sp>
      <p:sp>
        <p:nvSpPr>
          <p:cNvPr id="3" name="Content Placeholder 2"/>
          <p:cNvSpPr>
            <a:spLocks noGrp="1"/>
          </p:cNvSpPr>
          <p:nvPr>
            <p:ph idx="1"/>
          </p:nvPr>
        </p:nvSpPr>
        <p:spPr>
          <a:xfrm>
            <a:off x="1435608" y="1219200"/>
            <a:ext cx="7498080" cy="5029200"/>
          </a:xfrm>
        </p:spPr>
        <p:txBody>
          <a:bodyPr/>
          <a:lstStyle/>
          <a:p>
            <a:pPr marL="82296" indent="0" algn="just">
              <a:buNone/>
            </a:pPr>
            <a:r>
              <a:rPr lang="en-US" i="1" dirty="0"/>
              <a:t>Also known as Inconsistent Retrievals Problem that occurs when in a transaction, two different values are read for the same database item.</a:t>
            </a: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8520" y="3048000"/>
            <a:ext cx="6362480" cy="367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557636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Concurrency Control</a:t>
            </a:r>
            <a:endParaRPr lang="en-US" dirty="0"/>
          </a:p>
        </p:txBody>
      </p:sp>
      <p:sp>
        <p:nvSpPr>
          <p:cNvPr id="3" name="Content Placeholder 2"/>
          <p:cNvSpPr>
            <a:spLocks noGrp="1"/>
          </p:cNvSpPr>
          <p:nvPr>
            <p:ph idx="1"/>
          </p:nvPr>
        </p:nvSpPr>
        <p:spPr>
          <a:xfrm>
            <a:off x="1435608" y="1447800"/>
            <a:ext cx="7498080" cy="5181600"/>
          </a:xfrm>
        </p:spPr>
        <p:txBody>
          <a:bodyPr>
            <a:noAutofit/>
          </a:bodyPr>
          <a:lstStyle/>
          <a:p>
            <a:pPr algn="just">
              <a:buFont typeface="Wingdings" pitchFamily="2" charset="2"/>
              <a:buChar char="Ø"/>
            </a:pPr>
            <a:r>
              <a:rPr lang="en-US" sz="3600" dirty="0"/>
              <a:t>Concurrency Control is the working concept that is required for controlling and managing the concurrent execution of database operations and thus avoiding the inconsistencies in the database. </a:t>
            </a:r>
            <a:endParaRPr lang="en-US" sz="3600" dirty="0" smtClean="0"/>
          </a:p>
          <a:p>
            <a:pPr algn="just">
              <a:buFont typeface="Wingdings" pitchFamily="2" charset="2"/>
              <a:buChar char="Ø"/>
            </a:pPr>
            <a:r>
              <a:rPr lang="en-US" sz="3600" dirty="0" smtClean="0"/>
              <a:t>Thus</a:t>
            </a:r>
            <a:r>
              <a:rPr lang="en-US" sz="3600" dirty="0"/>
              <a:t>, for maintaining the concurrency of the database, we have the concurrency control protocols.</a:t>
            </a:r>
          </a:p>
        </p:txBody>
      </p:sp>
    </p:spTree>
    <p:extLst>
      <p:ext uri="{BB962C8B-B14F-4D97-AF65-F5344CB8AC3E}">
        <p14:creationId xmlns:p14="http://schemas.microsoft.com/office/powerpoint/2010/main" val="33651605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Concurrency Control Protocols</a:t>
            </a:r>
            <a:endParaRPr lang="en-US" dirty="0"/>
          </a:p>
        </p:txBody>
      </p:sp>
      <p:sp>
        <p:nvSpPr>
          <p:cNvPr id="3" name="Content Placeholder 2"/>
          <p:cNvSpPr>
            <a:spLocks noGrp="1"/>
          </p:cNvSpPr>
          <p:nvPr>
            <p:ph idx="1"/>
          </p:nvPr>
        </p:nvSpPr>
        <p:spPr/>
        <p:txBody>
          <a:bodyPr>
            <a:normAutofit fontScale="92500"/>
          </a:bodyPr>
          <a:lstStyle/>
          <a:p>
            <a:pPr marL="82296" indent="0" algn="just">
              <a:buNone/>
            </a:pPr>
            <a:r>
              <a:rPr lang="en-US" dirty="0"/>
              <a:t>The concurrency control protocols ensure the </a:t>
            </a:r>
            <a:r>
              <a:rPr lang="en-US" i="1" dirty="0"/>
              <a:t>atomicity, consistency, isolation, durability</a:t>
            </a:r>
            <a:r>
              <a:rPr lang="en-US" dirty="0"/>
              <a:t> and </a:t>
            </a:r>
            <a:r>
              <a:rPr lang="en-US" i="1" dirty="0" err="1"/>
              <a:t>serializability</a:t>
            </a:r>
            <a:r>
              <a:rPr lang="en-US" dirty="0"/>
              <a:t> of the concurrent execution of the database transactions. </a:t>
            </a:r>
            <a:r>
              <a:rPr lang="en-US" dirty="0" smtClean="0"/>
              <a:t>The protocols </a:t>
            </a:r>
            <a:r>
              <a:rPr lang="en-US" dirty="0"/>
              <a:t>are categorized as:</a:t>
            </a:r>
          </a:p>
          <a:p>
            <a:pPr algn="just">
              <a:buFont typeface="Wingdings" pitchFamily="2" charset="2"/>
              <a:buChar char="Ø"/>
            </a:pPr>
            <a:r>
              <a:rPr lang="en-US" dirty="0"/>
              <a:t>Lock Based Concurrency Control Protocol</a:t>
            </a:r>
          </a:p>
          <a:p>
            <a:pPr algn="just">
              <a:buFont typeface="Wingdings" pitchFamily="2" charset="2"/>
              <a:buChar char="Ø"/>
            </a:pPr>
            <a:r>
              <a:rPr lang="en-US" dirty="0"/>
              <a:t>Time Stamp Concurrency Control Protocol</a:t>
            </a:r>
          </a:p>
          <a:p>
            <a:pPr algn="just">
              <a:buFont typeface="Wingdings" pitchFamily="2" charset="2"/>
              <a:buChar char="Ø"/>
            </a:pPr>
            <a:r>
              <a:rPr lang="en-US" dirty="0"/>
              <a:t>Validation Based Concurrency Control Protocol</a:t>
            </a:r>
          </a:p>
          <a:p>
            <a:pPr marL="82296" indent="0" algn="just">
              <a:buNone/>
            </a:pPr>
            <a:endParaRPr lang="en-US" dirty="0"/>
          </a:p>
        </p:txBody>
      </p:sp>
    </p:spTree>
    <p:extLst>
      <p:ext uri="{BB962C8B-B14F-4D97-AF65-F5344CB8AC3E}">
        <p14:creationId xmlns:p14="http://schemas.microsoft.com/office/powerpoint/2010/main" val="3881585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Lock Based Protocols</a:t>
            </a:r>
            <a:endParaRPr lang="en-US" dirty="0"/>
          </a:p>
        </p:txBody>
      </p:sp>
      <p:sp>
        <p:nvSpPr>
          <p:cNvPr id="3" name="Content Placeholder 2"/>
          <p:cNvSpPr>
            <a:spLocks noGrp="1"/>
          </p:cNvSpPr>
          <p:nvPr>
            <p:ph idx="1"/>
          </p:nvPr>
        </p:nvSpPr>
        <p:spPr/>
        <p:txBody>
          <a:bodyPr/>
          <a:lstStyle/>
          <a:p>
            <a:pPr marL="82296" indent="0" algn="just">
              <a:buNone/>
            </a:pPr>
            <a:r>
              <a:rPr lang="en-US" dirty="0"/>
              <a:t>In this type of protocol, any transaction cannot read or write data until it acquires an appropriate lock on it. There are two types of lock</a:t>
            </a:r>
            <a:r>
              <a:rPr lang="en-US" dirty="0" smtClean="0"/>
              <a:t>:</a:t>
            </a:r>
          </a:p>
          <a:p>
            <a:pPr marL="596646" indent="-514350" algn="just">
              <a:buAutoNum type="alphaLcParenR"/>
            </a:pPr>
            <a:r>
              <a:rPr lang="en-US" dirty="0" smtClean="0"/>
              <a:t>Shared Lock</a:t>
            </a:r>
          </a:p>
          <a:p>
            <a:pPr marL="596646" indent="-514350" algn="just">
              <a:buAutoNum type="alphaLcParenR"/>
            </a:pPr>
            <a:r>
              <a:rPr lang="en-US" dirty="0" smtClean="0"/>
              <a:t>Exclusive Lock</a:t>
            </a:r>
            <a:endParaRPr lang="en-US" dirty="0"/>
          </a:p>
        </p:txBody>
      </p:sp>
    </p:spTree>
    <p:extLst>
      <p:ext uri="{BB962C8B-B14F-4D97-AF65-F5344CB8AC3E}">
        <p14:creationId xmlns:p14="http://schemas.microsoft.com/office/powerpoint/2010/main" val="1538423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Shared Locks</a:t>
            </a:r>
            <a:endParaRPr lang="en-US" dirty="0"/>
          </a:p>
        </p:txBody>
      </p:sp>
      <p:sp>
        <p:nvSpPr>
          <p:cNvPr id="3" name="Content Placeholder 2"/>
          <p:cNvSpPr>
            <a:spLocks noGrp="1"/>
          </p:cNvSpPr>
          <p:nvPr>
            <p:ph idx="1"/>
          </p:nvPr>
        </p:nvSpPr>
        <p:spPr/>
        <p:txBody>
          <a:bodyPr/>
          <a:lstStyle/>
          <a:p>
            <a:pPr algn="just">
              <a:buFont typeface="Wingdings" pitchFamily="2" charset="2"/>
              <a:buChar char="Ø"/>
            </a:pPr>
            <a:r>
              <a:rPr lang="en-US" sz="3600" dirty="0" smtClean="0"/>
              <a:t>It </a:t>
            </a:r>
            <a:r>
              <a:rPr lang="en-US" sz="3600" dirty="0"/>
              <a:t>is also known as a Read-only lock. </a:t>
            </a:r>
            <a:endParaRPr lang="en-US" sz="3600" dirty="0" smtClean="0"/>
          </a:p>
          <a:p>
            <a:pPr algn="just">
              <a:buFont typeface="Wingdings" pitchFamily="2" charset="2"/>
              <a:buChar char="Ø"/>
            </a:pPr>
            <a:r>
              <a:rPr lang="en-US" sz="3600" dirty="0" smtClean="0"/>
              <a:t>In </a:t>
            </a:r>
            <a:r>
              <a:rPr lang="en-US" sz="3600" dirty="0"/>
              <a:t>a shared lock, the data item can only read by the transaction.</a:t>
            </a:r>
          </a:p>
          <a:p>
            <a:pPr algn="just">
              <a:buFont typeface="Wingdings" pitchFamily="2" charset="2"/>
              <a:buChar char="Ø"/>
            </a:pPr>
            <a:r>
              <a:rPr lang="en-US" sz="3600" dirty="0"/>
              <a:t>It can be shared between the transactions because when the transaction holds a lock, then it can't update the data on the data item.</a:t>
            </a:r>
          </a:p>
          <a:p>
            <a:pPr marL="82296" indent="0">
              <a:buNone/>
            </a:pPr>
            <a:endParaRPr lang="en-US" dirty="0"/>
          </a:p>
        </p:txBody>
      </p:sp>
    </p:spTree>
    <p:extLst>
      <p:ext uri="{BB962C8B-B14F-4D97-AF65-F5344CB8AC3E}">
        <p14:creationId xmlns:p14="http://schemas.microsoft.com/office/powerpoint/2010/main" val="6982693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Exclusive Lock</a:t>
            </a:r>
            <a:endParaRPr lang="en-US" dirty="0"/>
          </a:p>
        </p:txBody>
      </p:sp>
      <p:sp>
        <p:nvSpPr>
          <p:cNvPr id="3" name="Content Placeholder 2"/>
          <p:cNvSpPr>
            <a:spLocks noGrp="1"/>
          </p:cNvSpPr>
          <p:nvPr>
            <p:ph idx="1"/>
          </p:nvPr>
        </p:nvSpPr>
        <p:spPr/>
        <p:txBody>
          <a:bodyPr>
            <a:normAutofit/>
          </a:bodyPr>
          <a:lstStyle/>
          <a:p>
            <a:pPr algn="just">
              <a:buFont typeface="Wingdings" pitchFamily="2" charset="2"/>
              <a:buChar char="Ø"/>
            </a:pPr>
            <a:r>
              <a:rPr lang="en-US" sz="3600" dirty="0"/>
              <a:t>In the exclusive lock, the data item can be both reads as well as written by the transaction.</a:t>
            </a:r>
          </a:p>
          <a:p>
            <a:pPr algn="just">
              <a:buFont typeface="Wingdings" pitchFamily="2" charset="2"/>
              <a:buChar char="Ø"/>
            </a:pPr>
            <a:r>
              <a:rPr lang="en-US" sz="3600" dirty="0"/>
              <a:t>This lock is exclusive, and in this lock, multiple transactions do not modify the same data simultaneously.</a:t>
            </a:r>
          </a:p>
          <a:p>
            <a:pPr algn="just">
              <a:buFont typeface="Wingdings" pitchFamily="2" charset="2"/>
              <a:buChar char="Ø"/>
            </a:pPr>
            <a:endParaRPr lang="en-US" sz="3600" dirty="0"/>
          </a:p>
        </p:txBody>
      </p:sp>
    </p:spTree>
    <p:extLst>
      <p:ext uri="{BB962C8B-B14F-4D97-AF65-F5344CB8AC3E}">
        <p14:creationId xmlns:p14="http://schemas.microsoft.com/office/powerpoint/2010/main" val="3634516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Locking Protocols</a:t>
            </a:r>
            <a:endParaRPr lang="en-US" dirty="0"/>
          </a:p>
        </p:txBody>
      </p:sp>
      <p:sp>
        <p:nvSpPr>
          <p:cNvPr id="3" name="Content Placeholder 2"/>
          <p:cNvSpPr>
            <a:spLocks noGrp="1"/>
          </p:cNvSpPr>
          <p:nvPr>
            <p:ph idx="1"/>
          </p:nvPr>
        </p:nvSpPr>
        <p:spPr/>
        <p:txBody>
          <a:bodyPr/>
          <a:lstStyle/>
          <a:p>
            <a:pPr marL="82296" indent="0">
              <a:buNone/>
            </a:pPr>
            <a:r>
              <a:rPr lang="en-US" dirty="0" smtClean="0"/>
              <a:t>There are four types of locking protocols available. Such as:</a:t>
            </a:r>
          </a:p>
          <a:p>
            <a:pPr marL="596646" indent="-514350">
              <a:buAutoNum type="alphaLcParenR"/>
            </a:pPr>
            <a:r>
              <a:rPr lang="en-US" dirty="0" smtClean="0"/>
              <a:t>Simplistic Lock </a:t>
            </a:r>
            <a:r>
              <a:rPr lang="en-US" dirty="0" smtClean="0"/>
              <a:t>Protocol</a:t>
            </a:r>
            <a:endParaRPr lang="en-US" dirty="0" smtClean="0"/>
          </a:p>
          <a:p>
            <a:pPr marL="596646" indent="-514350">
              <a:buAutoNum type="alphaLcParenR"/>
            </a:pPr>
            <a:r>
              <a:rPr lang="en-US" dirty="0" smtClean="0"/>
              <a:t>Two-Phase Locking Protocol</a:t>
            </a:r>
          </a:p>
          <a:p>
            <a:pPr marL="596646" indent="-514350">
              <a:buAutoNum type="alphaLcParenR"/>
            </a:pPr>
            <a:r>
              <a:rPr lang="en-US" dirty="0" smtClean="0"/>
              <a:t>Strict Two-Phase Locking </a:t>
            </a:r>
            <a:r>
              <a:rPr lang="en-US" dirty="0" smtClean="0"/>
              <a:t>Protocol</a:t>
            </a:r>
          </a:p>
          <a:p>
            <a:pPr marL="596646" indent="-514350">
              <a:buAutoNum type="alphaLcParenR"/>
            </a:pPr>
            <a:r>
              <a:rPr lang="en-US" dirty="0" smtClean="0"/>
              <a:t>Rigorous Locking</a:t>
            </a:r>
            <a:endParaRPr lang="en-US" dirty="0"/>
          </a:p>
        </p:txBody>
      </p:sp>
    </p:spTree>
    <p:extLst>
      <p:ext uri="{BB962C8B-B14F-4D97-AF65-F5344CB8AC3E}">
        <p14:creationId xmlns:p14="http://schemas.microsoft.com/office/powerpoint/2010/main" val="28853357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Simplistic Lock </a:t>
            </a:r>
            <a:r>
              <a:rPr lang="en-US" dirty="0" smtClean="0"/>
              <a:t>Protocol</a:t>
            </a:r>
            <a:endParaRPr lang="en-US" dirty="0"/>
          </a:p>
        </p:txBody>
      </p:sp>
      <p:sp>
        <p:nvSpPr>
          <p:cNvPr id="3" name="Content Placeholder 2"/>
          <p:cNvSpPr>
            <a:spLocks noGrp="1"/>
          </p:cNvSpPr>
          <p:nvPr>
            <p:ph idx="1"/>
          </p:nvPr>
        </p:nvSpPr>
        <p:spPr/>
        <p:txBody>
          <a:bodyPr>
            <a:normAutofit/>
          </a:bodyPr>
          <a:lstStyle/>
          <a:p>
            <a:pPr algn="just">
              <a:buFont typeface="Wingdings" pitchFamily="2" charset="2"/>
              <a:buChar char="Ø"/>
            </a:pPr>
            <a:r>
              <a:rPr lang="en-US" sz="3600" dirty="0"/>
              <a:t>It is the simplest way of locking the data while transaction. </a:t>
            </a:r>
            <a:endParaRPr lang="en-US" sz="3600" dirty="0" smtClean="0"/>
          </a:p>
          <a:p>
            <a:pPr algn="just">
              <a:buFont typeface="Wingdings" pitchFamily="2" charset="2"/>
              <a:buChar char="Ø"/>
            </a:pPr>
            <a:r>
              <a:rPr lang="en-US" sz="3600" dirty="0" smtClean="0"/>
              <a:t>Simplistic </a:t>
            </a:r>
            <a:r>
              <a:rPr lang="en-US" sz="3600" dirty="0"/>
              <a:t>lock-based protocols allow all the transactions to get the lock on the data before insert or delete or update on it. </a:t>
            </a:r>
            <a:endParaRPr lang="en-US" sz="3600" dirty="0" smtClean="0"/>
          </a:p>
          <a:p>
            <a:pPr algn="just">
              <a:buFont typeface="Wingdings" pitchFamily="2" charset="2"/>
              <a:buChar char="Ø"/>
            </a:pPr>
            <a:r>
              <a:rPr lang="en-US" sz="3600" dirty="0" smtClean="0"/>
              <a:t>It </a:t>
            </a:r>
            <a:r>
              <a:rPr lang="en-US" sz="3600" dirty="0"/>
              <a:t>will unlock the data item after completing the transaction.</a:t>
            </a:r>
          </a:p>
        </p:txBody>
      </p:sp>
    </p:spTree>
    <p:extLst>
      <p:ext uri="{BB962C8B-B14F-4D97-AF65-F5344CB8AC3E}">
        <p14:creationId xmlns:p14="http://schemas.microsoft.com/office/powerpoint/2010/main" val="24934188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0"/>
            <a:ext cx="7498080" cy="990600"/>
          </a:xfrm>
        </p:spPr>
        <p:txBody>
          <a:bodyPr>
            <a:normAutofit/>
          </a:bodyPr>
          <a:lstStyle/>
          <a:p>
            <a:r>
              <a:rPr lang="en-US" dirty="0" smtClean="0"/>
              <a:t>Two Phase Locking Protocol</a:t>
            </a:r>
            <a:endParaRPr lang="en-US" dirty="0"/>
          </a:p>
        </p:txBody>
      </p:sp>
      <p:sp>
        <p:nvSpPr>
          <p:cNvPr id="3" name="Content Placeholder 2"/>
          <p:cNvSpPr>
            <a:spLocks noGrp="1"/>
          </p:cNvSpPr>
          <p:nvPr>
            <p:ph idx="1"/>
          </p:nvPr>
        </p:nvSpPr>
        <p:spPr>
          <a:xfrm>
            <a:off x="1435608" y="990600"/>
            <a:ext cx="7498080" cy="5638800"/>
          </a:xfrm>
        </p:spPr>
        <p:txBody>
          <a:bodyPr>
            <a:normAutofit fontScale="92500" lnSpcReduction="10000"/>
          </a:bodyPr>
          <a:lstStyle/>
          <a:p>
            <a:pPr algn="just">
              <a:buFont typeface="Wingdings" pitchFamily="2" charset="2"/>
              <a:buChar char="Ø"/>
            </a:pPr>
            <a:r>
              <a:rPr lang="en-US" dirty="0"/>
              <a:t>The two-phase locking protocol divides the execution phase of the transaction into three parts.</a:t>
            </a:r>
          </a:p>
          <a:p>
            <a:pPr algn="just">
              <a:buFont typeface="Wingdings" pitchFamily="2" charset="2"/>
              <a:buChar char="Ø"/>
            </a:pPr>
            <a:r>
              <a:rPr lang="en-US" dirty="0"/>
              <a:t>In the first part, when the execution of the transaction starts, it seeks permission for the lock it requires.</a:t>
            </a:r>
          </a:p>
          <a:p>
            <a:pPr algn="just">
              <a:buFont typeface="Wingdings" pitchFamily="2" charset="2"/>
              <a:buChar char="Ø"/>
            </a:pPr>
            <a:r>
              <a:rPr lang="en-US" dirty="0"/>
              <a:t>In the second part, the transaction acquires all the locks. The third phase is started as soon as the transaction releases its first lock.</a:t>
            </a:r>
          </a:p>
          <a:p>
            <a:pPr algn="just">
              <a:buFont typeface="Wingdings" pitchFamily="2" charset="2"/>
              <a:buChar char="Ø"/>
            </a:pPr>
            <a:r>
              <a:rPr lang="en-US" dirty="0"/>
              <a:t>In the third phase, the transaction cannot demand any new locks. It only releases the acquired locks.</a:t>
            </a:r>
          </a:p>
          <a:p>
            <a:pPr algn="just">
              <a:buFont typeface="Wingdings" pitchFamily="2" charset="2"/>
              <a:buChar char="Ø"/>
            </a:pPr>
            <a:endParaRPr lang="en-US" dirty="0"/>
          </a:p>
        </p:txBody>
      </p:sp>
    </p:spTree>
    <p:extLst>
      <p:ext uri="{BB962C8B-B14F-4D97-AF65-F5344CB8AC3E}">
        <p14:creationId xmlns:p14="http://schemas.microsoft.com/office/powerpoint/2010/main" val="9169959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 Phase Locking Protocol</a:t>
            </a: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92664" y="2209800"/>
            <a:ext cx="7212496"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018640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944562"/>
          </a:xfrm>
        </p:spPr>
        <p:txBody>
          <a:bodyPr/>
          <a:lstStyle/>
          <a:p>
            <a:r>
              <a:rPr lang="en-US" dirty="0"/>
              <a:t>Two Phase Locking Protocol</a:t>
            </a:r>
          </a:p>
        </p:txBody>
      </p:sp>
      <p:sp>
        <p:nvSpPr>
          <p:cNvPr id="3" name="Content Placeholder 2"/>
          <p:cNvSpPr>
            <a:spLocks noGrp="1"/>
          </p:cNvSpPr>
          <p:nvPr>
            <p:ph idx="1"/>
          </p:nvPr>
        </p:nvSpPr>
        <p:spPr>
          <a:xfrm>
            <a:off x="1435608" y="1219200"/>
            <a:ext cx="7498080" cy="5486400"/>
          </a:xfrm>
        </p:spPr>
        <p:txBody>
          <a:bodyPr>
            <a:normAutofit/>
          </a:bodyPr>
          <a:lstStyle/>
          <a:p>
            <a:pPr marL="82296" indent="0" algn="just">
              <a:buNone/>
            </a:pPr>
            <a:r>
              <a:rPr lang="en-US" sz="3600" dirty="0"/>
              <a:t>There are two phases of 2PL:</a:t>
            </a:r>
          </a:p>
          <a:p>
            <a:pPr marL="82296" indent="0" algn="just">
              <a:buNone/>
            </a:pPr>
            <a:r>
              <a:rPr lang="en-US" sz="3600" b="1" dirty="0" smtClean="0"/>
              <a:t>a) Growing </a:t>
            </a:r>
            <a:r>
              <a:rPr lang="en-US" sz="3600" b="1" dirty="0"/>
              <a:t>phase:</a:t>
            </a:r>
            <a:r>
              <a:rPr lang="en-US" sz="3600" dirty="0"/>
              <a:t> In the growing phase, a new lock on the data item may be acquired by the transaction, but none can be released.</a:t>
            </a:r>
          </a:p>
          <a:p>
            <a:pPr marL="82296" indent="0" algn="just">
              <a:buNone/>
            </a:pPr>
            <a:r>
              <a:rPr lang="en-US" sz="3600" b="1" dirty="0" smtClean="0"/>
              <a:t>b) Shrinking </a:t>
            </a:r>
            <a:r>
              <a:rPr lang="en-US" sz="3600" b="1" dirty="0"/>
              <a:t>phase:</a:t>
            </a:r>
            <a:r>
              <a:rPr lang="en-US" sz="3600" dirty="0"/>
              <a:t> In the shrinking phase, existing lock held by the transaction may be released, but no new locks can be acquired.</a:t>
            </a:r>
          </a:p>
          <a:p>
            <a:pPr algn="just"/>
            <a:endParaRPr lang="en-US" sz="3600" dirty="0"/>
          </a:p>
        </p:txBody>
      </p:sp>
    </p:spTree>
    <p:extLst>
      <p:ext uri="{BB962C8B-B14F-4D97-AF65-F5344CB8AC3E}">
        <p14:creationId xmlns:p14="http://schemas.microsoft.com/office/powerpoint/2010/main" val="10912959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Growing and Shrinking Phase</a:t>
            </a:r>
            <a:endParaRPr lang="en-US"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57400" y="1619249"/>
            <a:ext cx="6248400" cy="5161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105522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76200"/>
            <a:ext cx="7498080" cy="914400"/>
          </a:xfrm>
        </p:spPr>
        <p:txBody>
          <a:bodyPr/>
          <a:lstStyle/>
          <a:p>
            <a:r>
              <a:rPr lang="en-US" dirty="0" smtClean="0"/>
              <a:t>Strict Two-Phase Locking</a:t>
            </a:r>
            <a:endParaRPr lang="en-US" dirty="0"/>
          </a:p>
        </p:txBody>
      </p:sp>
      <p:sp>
        <p:nvSpPr>
          <p:cNvPr id="3" name="Content Placeholder 2"/>
          <p:cNvSpPr>
            <a:spLocks noGrp="1"/>
          </p:cNvSpPr>
          <p:nvPr>
            <p:ph idx="1"/>
          </p:nvPr>
        </p:nvSpPr>
        <p:spPr>
          <a:xfrm>
            <a:off x="1435608" y="838200"/>
            <a:ext cx="7498080" cy="5791200"/>
          </a:xfrm>
        </p:spPr>
        <p:txBody>
          <a:bodyPr>
            <a:noAutofit/>
          </a:bodyPr>
          <a:lstStyle/>
          <a:p>
            <a:pPr algn="just">
              <a:buFont typeface="Wingdings" pitchFamily="2" charset="2"/>
              <a:buChar char="Ø"/>
            </a:pPr>
            <a:r>
              <a:rPr lang="en-US" sz="3000" dirty="0"/>
              <a:t>The first phase of Strict-2PL is similar to 2PL. In the first phase, after acquiring all the locks, the transaction continues to execute normally.</a:t>
            </a:r>
          </a:p>
          <a:p>
            <a:pPr algn="just">
              <a:buFont typeface="Wingdings" pitchFamily="2" charset="2"/>
              <a:buChar char="Ø"/>
            </a:pPr>
            <a:r>
              <a:rPr lang="en-US" sz="3000" dirty="0"/>
              <a:t>The only difference between 2PL and strict 2PL is that Strict-2PL does not release a lock after using it.</a:t>
            </a:r>
          </a:p>
          <a:p>
            <a:pPr algn="just">
              <a:buFont typeface="Wingdings" pitchFamily="2" charset="2"/>
              <a:buChar char="Ø"/>
            </a:pPr>
            <a:r>
              <a:rPr lang="en-US" sz="3000" dirty="0"/>
              <a:t>Strict-2PL waits until the whole transaction to commit, and then it releases all the locks at a time.</a:t>
            </a:r>
          </a:p>
          <a:p>
            <a:pPr algn="just">
              <a:buFont typeface="Wingdings" pitchFamily="2" charset="2"/>
              <a:buChar char="Ø"/>
            </a:pPr>
            <a:r>
              <a:rPr lang="en-US" sz="3000" dirty="0"/>
              <a:t>Strict-2PL protocol does not have shrinking phase of lock release</a:t>
            </a:r>
            <a:r>
              <a:rPr lang="en-US" sz="3000" dirty="0" smtClean="0"/>
              <a:t>.</a:t>
            </a:r>
            <a:endParaRPr lang="en-US" sz="3000" dirty="0"/>
          </a:p>
        </p:txBody>
      </p:sp>
    </p:spTree>
    <p:extLst>
      <p:ext uri="{BB962C8B-B14F-4D97-AF65-F5344CB8AC3E}">
        <p14:creationId xmlns:p14="http://schemas.microsoft.com/office/powerpoint/2010/main" val="1672666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Strict Two-Phase Locking</a:t>
            </a:r>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44672" y="2362200"/>
            <a:ext cx="7680207"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669076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152400"/>
            <a:ext cx="7498080" cy="990600"/>
          </a:xfrm>
        </p:spPr>
        <p:txBody>
          <a:bodyPr>
            <a:normAutofit/>
          </a:bodyPr>
          <a:lstStyle/>
          <a:p>
            <a:r>
              <a:rPr lang="en-US" sz="4000" dirty="0" smtClean="0"/>
              <a:t>Timestamp Concurrency Control</a:t>
            </a:r>
            <a:endParaRPr lang="en-US" sz="4000" dirty="0"/>
          </a:p>
        </p:txBody>
      </p:sp>
      <p:sp>
        <p:nvSpPr>
          <p:cNvPr id="3" name="Content Placeholder 2"/>
          <p:cNvSpPr>
            <a:spLocks noGrp="1"/>
          </p:cNvSpPr>
          <p:nvPr>
            <p:ph idx="1"/>
          </p:nvPr>
        </p:nvSpPr>
        <p:spPr>
          <a:xfrm>
            <a:off x="1435608" y="1066800"/>
            <a:ext cx="7498080" cy="5181600"/>
          </a:xfrm>
        </p:spPr>
        <p:txBody>
          <a:bodyPr>
            <a:noAutofit/>
          </a:bodyPr>
          <a:lstStyle/>
          <a:p>
            <a:pPr algn="just">
              <a:buFont typeface="Wingdings" pitchFamily="2" charset="2"/>
              <a:buChar char="Ø"/>
            </a:pPr>
            <a:r>
              <a:rPr lang="en-US" sz="3600" dirty="0" smtClean="0"/>
              <a:t>Timestamp is a unique identifier created by DBMS to identify a transaction.</a:t>
            </a:r>
          </a:p>
          <a:p>
            <a:pPr algn="just">
              <a:buFont typeface="Wingdings" pitchFamily="2" charset="2"/>
              <a:buChar char="Ø"/>
            </a:pPr>
            <a:r>
              <a:rPr lang="en-US" sz="3600" dirty="0" smtClean="0"/>
              <a:t>Timestamp values are assigned in the order of creation of transaction.</a:t>
            </a:r>
          </a:p>
          <a:p>
            <a:pPr algn="just">
              <a:buFont typeface="Wingdings" pitchFamily="2" charset="2"/>
              <a:buChar char="Ø"/>
            </a:pPr>
            <a:r>
              <a:rPr lang="en-US" sz="3600" dirty="0" smtClean="0"/>
              <a:t>Timestamp of a transaction T is denoted as TS(T).</a:t>
            </a:r>
          </a:p>
          <a:p>
            <a:pPr algn="just">
              <a:buFont typeface="Wingdings" pitchFamily="2" charset="2"/>
              <a:buChar char="Ø"/>
            </a:pPr>
            <a:r>
              <a:rPr lang="en-US" sz="3600" dirty="0" smtClean="0"/>
              <a:t>This method of concurrency control never uses locks.</a:t>
            </a:r>
            <a:endParaRPr lang="en-US" sz="3600" dirty="0"/>
          </a:p>
        </p:txBody>
      </p:sp>
    </p:spTree>
    <p:extLst>
      <p:ext uri="{BB962C8B-B14F-4D97-AF65-F5344CB8AC3E}">
        <p14:creationId xmlns:p14="http://schemas.microsoft.com/office/powerpoint/2010/main" val="26304967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152400"/>
            <a:ext cx="7498080" cy="838200"/>
          </a:xfrm>
        </p:spPr>
        <p:txBody>
          <a:bodyPr>
            <a:normAutofit fontScale="90000"/>
          </a:bodyPr>
          <a:lstStyle/>
          <a:p>
            <a:r>
              <a:rPr lang="en-US" sz="4400" dirty="0"/>
              <a:t>Timestamp Concurrency Control</a:t>
            </a:r>
            <a:endParaRPr lang="en-US" dirty="0"/>
          </a:p>
        </p:txBody>
      </p:sp>
      <p:sp>
        <p:nvSpPr>
          <p:cNvPr id="3" name="Content Placeholder 2"/>
          <p:cNvSpPr>
            <a:spLocks noGrp="1"/>
          </p:cNvSpPr>
          <p:nvPr>
            <p:ph idx="1"/>
          </p:nvPr>
        </p:nvSpPr>
        <p:spPr>
          <a:xfrm>
            <a:off x="1435608" y="1066800"/>
            <a:ext cx="7498080" cy="5638800"/>
          </a:xfrm>
        </p:spPr>
        <p:txBody>
          <a:bodyPr>
            <a:normAutofit/>
          </a:bodyPr>
          <a:lstStyle/>
          <a:p>
            <a:pPr algn="just">
              <a:buFont typeface="Wingdings" pitchFamily="2" charset="2"/>
              <a:buChar char="Ø"/>
            </a:pPr>
            <a:r>
              <a:rPr lang="en-US" dirty="0"/>
              <a:t>The priority of the older transaction is higher that's why it executes first. </a:t>
            </a:r>
            <a:r>
              <a:rPr lang="en-US" dirty="0" smtClean="0"/>
              <a:t>To </a:t>
            </a:r>
            <a:r>
              <a:rPr lang="en-US" dirty="0"/>
              <a:t>determine the timestamp of the transaction, this protocol uses system time or logical counter.</a:t>
            </a:r>
          </a:p>
          <a:p>
            <a:pPr algn="just">
              <a:buFont typeface="Wingdings" pitchFamily="2" charset="2"/>
              <a:buChar char="Ø"/>
            </a:pPr>
            <a:r>
              <a:rPr lang="en-US" dirty="0"/>
              <a:t>The lock-based protocol is used to manage the order between conflicting pairs among transactions at the execution time. But Timestamp based protocols start working as soon as a transaction is created.</a:t>
            </a:r>
          </a:p>
          <a:p>
            <a:pPr algn="just">
              <a:buFont typeface="Wingdings" pitchFamily="2" charset="2"/>
              <a:buChar char="Ø"/>
            </a:pPr>
            <a:endParaRPr lang="en-US" dirty="0"/>
          </a:p>
        </p:txBody>
      </p:sp>
    </p:spTree>
    <p:extLst>
      <p:ext uri="{BB962C8B-B14F-4D97-AF65-F5344CB8AC3E}">
        <p14:creationId xmlns:p14="http://schemas.microsoft.com/office/powerpoint/2010/main" val="25498620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944562"/>
          </a:xfrm>
        </p:spPr>
        <p:txBody>
          <a:bodyPr/>
          <a:lstStyle/>
          <a:p>
            <a:r>
              <a:rPr lang="en-US" dirty="0" smtClean="0"/>
              <a:t>Working Principle of TSO</a:t>
            </a:r>
            <a:endParaRPr lang="en-US"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7407" t="32649" r="35236" b="39038"/>
          <a:stretch/>
        </p:blipFill>
        <p:spPr bwMode="auto">
          <a:xfrm>
            <a:off x="1053579" y="1219200"/>
            <a:ext cx="7975826"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524000" y="5410200"/>
            <a:ext cx="7315200" cy="923330"/>
          </a:xfrm>
          <a:prstGeom prst="rect">
            <a:avLst/>
          </a:prstGeom>
        </p:spPr>
        <p:txBody>
          <a:bodyPr wrap="square">
            <a:spAutoFit/>
          </a:bodyPr>
          <a:lstStyle/>
          <a:p>
            <a:r>
              <a:rPr lang="en-US" b="1" dirty="0"/>
              <a:t>TS(TI)</a:t>
            </a:r>
            <a:r>
              <a:rPr lang="en-US" dirty="0"/>
              <a:t> denotes the timestamp of the transaction Ti.</a:t>
            </a:r>
          </a:p>
          <a:p>
            <a:r>
              <a:rPr lang="en-US" b="1" dirty="0"/>
              <a:t>R_TS(X)</a:t>
            </a:r>
            <a:r>
              <a:rPr lang="en-US" dirty="0"/>
              <a:t> denotes the Read time-stamp of data-item X.</a:t>
            </a:r>
          </a:p>
          <a:p>
            <a:r>
              <a:rPr lang="en-US" b="1" dirty="0"/>
              <a:t>W_TS(X)</a:t>
            </a:r>
            <a:r>
              <a:rPr lang="en-US" dirty="0"/>
              <a:t> denotes the Write time-stamp of data-item X.</a:t>
            </a:r>
          </a:p>
        </p:txBody>
      </p:sp>
      <p:sp>
        <p:nvSpPr>
          <p:cNvPr id="5" name="TextBox 4"/>
          <p:cNvSpPr txBox="1"/>
          <p:nvPr/>
        </p:nvSpPr>
        <p:spPr>
          <a:xfrm>
            <a:off x="1524000" y="5040868"/>
            <a:ext cx="660950" cy="369332"/>
          </a:xfrm>
          <a:prstGeom prst="rect">
            <a:avLst/>
          </a:prstGeom>
          <a:noFill/>
        </p:spPr>
        <p:txBody>
          <a:bodyPr wrap="none" rtlCol="0">
            <a:spAutoFit/>
          </a:bodyPr>
          <a:lstStyle/>
          <a:p>
            <a:r>
              <a:rPr lang="en-US" dirty="0" smtClean="0"/>
              <a:t>Here</a:t>
            </a:r>
            <a:endParaRPr lang="en-US" dirty="0"/>
          </a:p>
        </p:txBody>
      </p:sp>
    </p:spTree>
    <p:extLst>
      <p:ext uri="{BB962C8B-B14F-4D97-AF65-F5344CB8AC3E}">
        <p14:creationId xmlns:p14="http://schemas.microsoft.com/office/powerpoint/2010/main" val="6142483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Advantages of Timestamp Ordering</a:t>
            </a:r>
            <a:endParaRPr lang="en-US" dirty="0"/>
          </a:p>
        </p:txBody>
      </p:sp>
      <p:sp>
        <p:nvSpPr>
          <p:cNvPr id="3" name="Content Placeholder 2"/>
          <p:cNvSpPr>
            <a:spLocks noGrp="1"/>
          </p:cNvSpPr>
          <p:nvPr>
            <p:ph idx="1"/>
          </p:nvPr>
        </p:nvSpPr>
        <p:spPr/>
        <p:txBody>
          <a:bodyPr>
            <a:normAutofit/>
          </a:bodyPr>
          <a:lstStyle/>
          <a:p>
            <a:pPr algn="just">
              <a:buFont typeface="Wingdings" pitchFamily="2" charset="2"/>
              <a:buChar char="Ø"/>
            </a:pPr>
            <a:r>
              <a:rPr lang="en-US" sz="3600" dirty="0" smtClean="0"/>
              <a:t>It ensures </a:t>
            </a:r>
            <a:r>
              <a:rPr lang="en-US" sz="3600" dirty="0" err="1" smtClean="0"/>
              <a:t>serializability</a:t>
            </a:r>
            <a:endParaRPr lang="en-US" sz="3600" dirty="0" smtClean="0"/>
          </a:p>
          <a:p>
            <a:pPr algn="just">
              <a:buFont typeface="Wingdings" pitchFamily="2" charset="2"/>
              <a:buChar char="Ø"/>
            </a:pPr>
            <a:r>
              <a:rPr lang="en-US" sz="3600" dirty="0"/>
              <a:t>TS protocol ensures freedom from deadlock that means no transaction ever waits.</a:t>
            </a:r>
          </a:p>
          <a:p>
            <a:pPr algn="just">
              <a:buFont typeface="Wingdings" pitchFamily="2" charset="2"/>
              <a:buChar char="Ø"/>
            </a:pPr>
            <a:endParaRPr lang="en-US" sz="3600" dirty="0"/>
          </a:p>
        </p:txBody>
      </p:sp>
    </p:spTree>
    <p:extLst>
      <p:ext uri="{BB962C8B-B14F-4D97-AF65-F5344CB8AC3E}">
        <p14:creationId xmlns:p14="http://schemas.microsoft.com/office/powerpoint/2010/main" val="17986479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Disadvantage of Timestamp Ordering</a:t>
            </a:r>
            <a:endParaRPr lang="en-US" sz="3600" dirty="0"/>
          </a:p>
        </p:txBody>
      </p:sp>
      <p:sp>
        <p:nvSpPr>
          <p:cNvPr id="3" name="Content Placeholder 2"/>
          <p:cNvSpPr>
            <a:spLocks noGrp="1"/>
          </p:cNvSpPr>
          <p:nvPr>
            <p:ph idx="1"/>
          </p:nvPr>
        </p:nvSpPr>
        <p:spPr/>
        <p:txBody>
          <a:bodyPr/>
          <a:lstStyle/>
          <a:p>
            <a:pPr>
              <a:buFont typeface="Wingdings" pitchFamily="2" charset="2"/>
              <a:buChar char="Ø"/>
            </a:pPr>
            <a:r>
              <a:rPr lang="en-US" dirty="0"/>
              <a:t>T</a:t>
            </a:r>
            <a:r>
              <a:rPr lang="en-US" dirty="0" smtClean="0"/>
              <a:t>he </a:t>
            </a:r>
            <a:r>
              <a:rPr lang="en-US" dirty="0"/>
              <a:t>schedule may not be recoverable and may not even be cascade- free.</a:t>
            </a:r>
          </a:p>
          <a:p>
            <a:pPr marL="82296" indent="0">
              <a:buNone/>
            </a:pPr>
            <a:endParaRPr lang="en-US" dirty="0"/>
          </a:p>
        </p:txBody>
      </p:sp>
    </p:spTree>
    <p:extLst>
      <p:ext uri="{BB962C8B-B14F-4D97-AF65-F5344CB8AC3E}">
        <p14:creationId xmlns:p14="http://schemas.microsoft.com/office/powerpoint/2010/main" val="37214099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11775" y="2967335"/>
            <a:ext cx="3520451" cy="923330"/>
          </a:xfrm>
          <a:prstGeom prst="rect">
            <a:avLst/>
          </a:prstGeom>
          <a:noFill/>
        </p:spPr>
        <p:txBody>
          <a:bodyPr wrap="none" lIns="91440" tIns="45720" rIns="91440" bIns="45720">
            <a:spAutoFit/>
          </a:bodyPr>
          <a:lstStyle/>
          <a:p>
            <a:pPr algn="ctr"/>
            <a:r>
              <a:rPr lang="en-US" sz="54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Thank You</a:t>
            </a:r>
            <a:endParaRPr lang="en-US" sz="54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Tree>
    <p:extLst>
      <p:ext uri="{BB962C8B-B14F-4D97-AF65-F5344CB8AC3E}">
        <p14:creationId xmlns:p14="http://schemas.microsoft.com/office/powerpoint/2010/main" val="253886365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202</TotalTime>
  <Words>883</Words>
  <Application>Microsoft Office PowerPoint</Application>
  <PresentationFormat>On-screen Show (4:3)</PresentationFormat>
  <Paragraphs>90</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Gill Sans MT</vt:lpstr>
      <vt:lpstr>Verdana</vt:lpstr>
      <vt:lpstr>Wingdings</vt:lpstr>
      <vt:lpstr>Wingdings 2</vt:lpstr>
      <vt:lpstr>Solstice</vt:lpstr>
      <vt:lpstr>PowerPoint Presentation</vt:lpstr>
      <vt:lpstr>Definition</vt:lpstr>
      <vt:lpstr>Concurrent Execution</vt:lpstr>
      <vt:lpstr>Concurrent Execution</vt:lpstr>
      <vt:lpstr>Problems with concurrent execution</vt:lpstr>
      <vt:lpstr>Lost Update Problem</vt:lpstr>
      <vt:lpstr>Lost Update Problem</vt:lpstr>
      <vt:lpstr>Dirty Read Problem</vt:lpstr>
      <vt:lpstr>Dirty Read Problem</vt:lpstr>
      <vt:lpstr>Unrepeatable Read Problem</vt:lpstr>
      <vt:lpstr>Concurrency Control</vt:lpstr>
      <vt:lpstr>Concurrency Control Protocols</vt:lpstr>
      <vt:lpstr>Lock Based Protocols</vt:lpstr>
      <vt:lpstr>Shared Locks</vt:lpstr>
      <vt:lpstr>Exclusive Lock</vt:lpstr>
      <vt:lpstr>Types of Locking Protocols</vt:lpstr>
      <vt:lpstr>Simplistic Lock Protocol</vt:lpstr>
      <vt:lpstr>Two Phase Locking Protocol</vt:lpstr>
      <vt:lpstr>Two Phase Locking Protocol</vt:lpstr>
      <vt:lpstr>Two Phase Locking Protocol</vt:lpstr>
      <vt:lpstr>Growing and Shrinking Phase</vt:lpstr>
      <vt:lpstr>Strict Two-Phase Locking</vt:lpstr>
      <vt:lpstr>Strict Two-Phase Locking</vt:lpstr>
      <vt:lpstr>Timestamp Concurrency Control</vt:lpstr>
      <vt:lpstr>Timestamp Concurrency Control</vt:lpstr>
      <vt:lpstr>Working Principle of TSO</vt:lpstr>
      <vt:lpstr>Advantages of Timestamp Ordering</vt:lpstr>
      <vt:lpstr>Disadvantage of Timestamp Ordering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SATYA</dc:creator>
  <cp:lastModifiedBy>soni2</cp:lastModifiedBy>
  <cp:revision>20</cp:revision>
  <dcterms:created xsi:type="dcterms:W3CDTF">2006-08-16T00:00:00Z</dcterms:created>
  <dcterms:modified xsi:type="dcterms:W3CDTF">2025-10-08T04:04:26Z</dcterms:modified>
</cp:coreProperties>
</file>