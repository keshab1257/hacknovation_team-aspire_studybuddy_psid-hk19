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19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4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2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0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9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0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82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58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6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0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C8B86-76A4-462E-934E-5EF583271FDC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A1C23-D912-490B-B69F-0141902E0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2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DBMS System Structure and Data Model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9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684" y="135875"/>
            <a:ext cx="8596668" cy="63530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Database System Structure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693" y="684327"/>
            <a:ext cx="9088914" cy="601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25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1097"/>
            <a:ext cx="8596668" cy="464026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Query processor helps the database system, simplify and facilitate access to data.</a:t>
            </a:r>
          </a:p>
          <a:p>
            <a:r>
              <a:rPr lang="en-US" sz="2400" dirty="0" smtClean="0"/>
              <a:t>The work of query processor is to execute the query successfully.</a:t>
            </a:r>
          </a:p>
          <a:p>
            <a:r>
              <a:rPr lang="en-US" sz="2400" dirty="0" smtClean="0"/>
              <a:t>It interprets the requests(queries) received from end user via an application program into instructions.</a:t>
            </a:r>
          </a:p>
          <a:p>
            <a:r>
              <a:rPr lang="en-US" sz="2400" dirty="0" smtClean="0"/>
              <a:t>It also execute the user request which is received from the DML compiler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4572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216" y="157908"/>
            <a:ext cx="8596668" cy="833610"/>
          </a:xfrm>
        </p:spPr>
        <p:txBody>
          <a:bodyPr/>
          <a:lstStyle/>
          <a:p>
            <a:r>
              <a:rPr lang="en-US" dirty="0" smtClean="0"/>
              <a:t>Query Processor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216" y="991518"/>
            <a:ext cx="8596668" cy="58664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DDL Interpreter</a:t>
            </a:r>
          </a:p>
          <a:p>
            <a:pPr marL="0" indent="0">
              <a:buNone/>
            </a:pPr>
            <a:r>
              <a:rPr lang="en-US" sz="2000" dirty="0" smtClean="0"/>
              <a:t>It interprets the DDL statements(like schema definition) into a table containing data(data about data)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DML Compiler</a:t>
            </a:r>
          </a:p>
          <a:p>
            <a:pPr marL="0" indent="0">
              <a:buNone/>
            </a:pPr>
            <a:r>
              <a:rPr lang="en-US" sz="2000" dirty="0" smtClean="0"/>
              <a:t>It translates the DML statements(like select, insert, update, delete)into low level instructions, so that they can be executed</a:t>
            </a:r>
          </a:p>
          <a:p>
            <a:pPr marL="0" indent="0">
              <a:buNone/>
            </a:pPr>
            <a:r>
              <a:rPr lang="en-US" sz="2000" dirty="0" smtClean="0"/>
              <a:t>A query can usually be translated into any of a number of alternative evaluation plans that all give the same result. The DML compiler also performs </a:t>
            </a:r>
            <a:r>
              <a:rPr lang="en-US" sz="2000" dirty="0" smtClean="0">
                <a:solidFill>
                  <a:srgbClr val="FF0000"/>
                </a:solidFill>
              </a:rPr>
              <a:t>query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optimizations</a:t>
            </a:r>
            <a:r>
              <a:rPr lang="en-US" sz="2000" dirty="0" smtClean="0"/>
              <a:t>, that is it picks the lowest cost evaluation plan from among the alternatives.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Compiler and Linker</a:t>
            </a:r>
          </a:p>
          <a:p>
            <a:pPr marL="0" indent="0">
              <a:buNone/>
            </a:pPr>
            <a:r>
              <a:rPr lang="en-US" sz="2000" dirty="0" smtClean="0"/>
              <a:t>It processes DML statements embedded in a application program into procedural calls.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Query evaluation Engine</a:t>
            </a:r>
          </a:p>
          <a:p>
            <a:pPr marL="0" indent="0">
              <a:buNone/>
            </a:pPr>
            <a:r>
              <a:rPr lang="en-US" sz="2000" dirty="0" smtClean="0"/>
              <a:t>It executes the low level instructions generated by DML compiler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7810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Manager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199" y="1270000"/>
            <a:ext cx="8596668" cy="5417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Authorization Manager and Integrity Manager</a:t>
            </a:r>
          </a:p>
          <a:p>
            <a:pPr marL="0" indent="0">
              <a:buNone/>
            </a:pPr>
            <a:r>
              <a:rPr lang="en-US" sz="2000" dirty="0" smtClean="0"/>
              <a:t>It checks the authority of users to access data and checks the integrity constraints when the database is modified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Transaction Manager</a:t>
            </a:r>
          </a:p>
          <a:p>
            <a:pPr marL="0" indent="0">
              <a:buNone/>
            </a:pPr>
            <a:r>
              <a:rPr lang="en-US" sz="2000" dirty="0" smtClean="0"/>
              <a:t>It ensures that the database remains in a consistent state despite system failures, and that concurrent transaction executions proceed without conflicting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File Manager</a:t>
            </a:r>
          </a:p>
          <a:p>
            <a:pPr marL="0" indent="0">
              <a:buNone/>
            </a:pPr>
            <a:r>
              <a:rPr lang="en-US" sz="2000" dirty="0" smtClean="0"/>
              <a:t>It manages the allocation of space on disk storage and the data structures used to represent information stored on disk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Buffer manager</a:t>
            </a:r>
          </a:p>
          <a:p>
            <a:pPr marL="0" indent="0">
              <a:buNone/>
            </a:pPr>
            <a:r>
              <a:rPr lang="en-US" sz="2000" dirty="0" smtClean="0"/>
              <a:t>It responsible for fetching data from disk storage into main memory, and deciding what data to cache in main memory.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4246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Disk Storage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148" y="1356357"/>
            <a:ext cx="8596668" cy="5264779"/>
          </a:xfrm>
        </p:spPr>
        <p:txBody>
          <a:bodyPr>
            <a:noAutofit/>
          </a:bodyPr>
          <a:lstStyle/>
          <a:p>
            <a:r>
              <a:rPr lang="en-US" sz="2000" dirty="0" smtClean="0"/>
              <a:t>The storage Manager implements the following data structures as a part of physical system implementations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Data Files</a:t>
            </a:r>
          </a:p>
          <a:p>
            <a:pPr marL="0" indent="0">
              <a:buNone/>
            </a:pPr>
            <a:r>
              <a:rPr lang="en-US" sz="2000" dirty="0" smtClean="0"/>
              <a:t>It stores the database itself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Data Dictionary</a:t>
            </a:r>
          </a:p>
          <a:p>
            <a:pPr marL="0" indent="0">
              <a:buNone/>
            </a:pPr>
            <a:r>
              <a:rPr lang="en-US" sz="2000" dirty="0" smtClean="0"/>
              <a:t>It contains the information about the structure of any database, Or it stores metadata about the database, in a particular the schema of the database.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Indices</a:t>
            </a:r>
          </a:p>
          <a:p>
            <a:pPr marL="0" indent="0">
              <a:buNone/>
            </a:pPr>
            <a:r>
              <a:rPr lang="en-US" sz="2000" dirty="0" smtClean="0"/>
              <a:t>It provides faster retrieval of data item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92D050"/>
                </a:solidFill>
              </a:rPr>
              <a:t>Statistical data</a:t>
            </a:r>
          </a:p>
          <a:p>
            <a:pPr marL="0" indent="0">
              <a:buNone/>
            </a:pPr>
            <a:r>
              <a:rPr lang="en-US" sz="2000" dirty="0" smtClean="0"/>
              <a:t>It stores statistical information about the data in the database. This information is used by the query processor to select efficient way to execute query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77087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Models in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83" y="1356357"/>
            <a:ext cx="8596668" cy="4383431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/>
              <a:t> </a:t>
            </a:r>
            <a:r>
              <a:rPr lang="en-IN" dirty="0"/>
              <a:t>Data models define how the logical structure of a database is modelled and defines how data will be stored, accessed, and updates in database system</a:t>
            </a:r>
            <a:r>
              <a:rPr lang="en-IN" dirty="0" smtClean="0"/>
              <a:t>. Data </a:t>
            </a:r>
            <a:r>
              <a:rPr lang="en-IN" dirty="0"/>
              <a:t>Model can be defined as an integrated collection of concepts for describing and manipulating data, relationships between data, and constraints on the data in an organization.</a:t>
            </a:r>
            <a:endParaRPr lang="en-US" sz="1400" dirty="0"/>
          </a:p>
          <a:p>
            <a:r>
              <a:rPr lang="en-IN" dirty="0"/>
              <a:t>The purpose of a data model is to represent data and to make the data understandable.</a:t>
            </a:r>
            <a:endParaRPr lang="en-US" sz="1400" dirty="0"/>
          </a:p>
          <a:p>
            <a:r>
              <a:rPr lang="en-IN" dirty="0"/>
              <a:t>We have different types of data models they are widely used data models.</a:t>
            </a:r>
            <a:endParaRPr lang="en-US" sz="1400" dirty="0"/>
          </a:p>
          <a:p>
            <a:pPr lvl="1"/>
            <a:r>
              <a:rPr lang="en-IN" dirty="0"/>
              <a:t>Hierarchal Model</a:t>
            </a:r>
            <a:endParaRPr lang="en-US" sz="1200" dirty="0"/>
          </a:p>
          <a:p>
            <a:pPr lvl="1"/>
            <a:r>
              <a:rPr lang="en-IN" dirty="0"/>
              <a:t>Network Model</a:t>
            </a:r>
            <a:endParaRPr lang="en-US" sz="1200" dirty="0"/>
          </a:p>
          <a:p>
            <a:pPr lvl="1"/>
            <a:r>
              <a:rPr lang="en-IN" dirty="0"/>
              <a:t>Entity-Relationship Model</a:t>
            </a:r>
            <a:endParaRPr lang="en-US" sz="1200" dirty="0"/>
          </a:p>
          <a:p>
            <a:pPr lvl="1"/>
            <a:r>
              <a:rPr lang="en-IN" dirty="0"/>
              <a:t>Relational Model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29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9746"/>
            <a:ext cx="4566695" cy="473597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Hierarchical model arranges records in hierarchy like an organizational chart.</a:t>
            </a:r>
          </a:p>
          <a:p>
            <a:r>
              <a:rPr lang="en-US" dirty="0" smtClean="0"/>
              <a:t>Each record type in this model is called node or segment.</a:t>
            </a:r>
          </a:p>
          <a:p>
            <a:r>
              <a:rPr lang="en-US" dirty="0" smtClean="0"/>
              <a:t>A node represents a particular entity, the top most node is called root. Each node is a subordinate of the node that is at the next higher level.</a:t>
            </a:r>
          </a:p>
          <a:p>
            <a:r>
              <a:rPr lang="en-US" dirty="0" smtClean="0"/>
              <a:t>A higher level node is called parent and lower level node is called child. A parent node can have one or more child nodes, but child can have only one parent node.</a:t>
            </a:r>
          </a:p>
          <a:p>
            <a:r>
              <a:rPr lang="en-US" dirty="0" smtClean="0"/>
              <a:t>This kind of structure is often called inverted tree.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029" y="1786015"/>
            <a:ext cx="4505898" cy="395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34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Drawbacks of Hierarchical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Relationship that are complex are not supported.</a:t>
            </a:r>
          </a:p>
          <a:p>
            <a:r>
              <a:rPr lang="en-US" dirty="0" smtClean="0"/>
              <a:t>Because it only supports one parent per child node, if we have a complex relationship in which a child node needs to have two parents, we won’t be able to describe using this model.</a:t>
            </a:r>
          </a:p>
          <a:p>
            <a:r>
              <a:rPr lang="en-US" dirty="0" smtClean="0"/>
              <a:t>When a parent node is removed, the child node is also removed.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176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105280" cy="388077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network model is similar to hierarchical model. The data are organized like graph</a:t>
            </a:r>
          </a:p>
          <a:p>
            <a:r>
              <a:rPr lang="en-US" dirty="0" smtClean="0"/>
              <a:t>The difference is that child node can have more than one parent nodes.</a:t>
            </a:r>
          </a:p>
          <a:p>
            <a:r>
              <a:rPr lang="en-US" dirty="0" smtClean="0"/>
              <a:t>The Child nodes are represented by arrows in network model.</a:t>
            </a:r>
          </a:p>
          <a:p>
            <a:r>
              <a:rPr lang="en-US" dirty="0" smtClean="0"/>
              <a:t>It also provides more flexibility than hierarchical model.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614" y="1210614"/>
            <a:ext cx="4284467" cy="412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12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Drawbacks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slow complex and more difficult to maintain.</a:t>
            </a:r>
          </a:p>
          <a:p>
            <a:r>
              <a:rPr lang="en-US" dirty="0" smtClean="0"/>
              <a:t>It requires more complex diagram to represent a database.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317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182" y="210355"/>
            <a:ext cx="8596668" cy="66540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Entity-relationship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182" y="875762"/>
            <a:ext cx="8596668" cy="5795493"/>
          </a:xfrm>
        </p:spPr>
        <p:txBody>
          <a:bodyPr>
            <a:noAutofit/>
          </a:bodyPr>
          <a:lstStyle/>
          <a:p>
            <a:r>
              <a:rPr lang="en-US" sz="2400" dirty="0" smtClean="0"/>
              <a:t>ER model is a high-level data model diagram.</a:t>
            </a:r>
          </a:p>
          <a:p>
            <a:r>
              <a:rPr lang="en-US" sz="2400" dirty="0" smtClean="0"/>
              <a:t>ER model describes the structure of a database with the help of a diagram, which is known as entity relationship Diagram(ER diagram)</a:t>
            </a:r>
          </a:p>
          <a:p>
            <a:r>
              <a:rPr lang="en-US" sz="2400" dirty="0" smtClean="0"/>
              <a:t>An ER model is a design or blueprint of a database that can later be implemented as a database.</a:t>
            </a:r>
          </a:p>
          <a:p>
            <a:r>
              <a:rPr lang="en-US" sz="2400" dirty="0" smtClean="0"/>
              <a:t>It is based on the notation of real world entities and relationship among them.</a:t>
            </a:r>
          </a:p>
          <a:p>
            <a:pPr marL="0" indent="0">
              <a:buNone/>
            </a:pPr>
            <a:r>
              <a:rPr lang="en-US" sz="2400" dirty="0" smtClean="0"/>
              <a:t>ER model follows 3 Component</a:t>
            </a:r>
          </a:p>
          <a:p>
            <a:pPr marL="0" indent="0">
              <a:buNone/>
            </a:pPr>
            <a:r>
              <a:rPr lang="en-US" sz="2400" dirty="0" smtClean="0"/>
              <a:t>Entities:- Entity is an real world things or object. </a:t>
            </a:r>
          </a:p>
          <a:p>
            <a:pPr marL="0" indent="0">
              <a:buNone/>
            </a:pPr>
            <a:r>
              <a:rPr lang="en-US" sz="2400" dirty="0" smtClean="0"/>
              <a:t>It can be a person, place or even a concept. It can be represented as rectangular shape.</a:t>
            </a:r>
          </a:p>
          <a:p>
            <a:pPr marL="0" indent="0">
              <a:buNone/>
            </a:pPr>
            <a:r>
              <a:rPr lang="en-US" sz="2400" dirty="0" smtClean="0"/>
              <a:t>Ex- Teacher, Student, Course, Building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880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573" y="1270000"/>
            <a:ext cx="4564367" cy="5053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Attributes:-</a:t>
            </a:r>
            <a:r>
              <a:rPr lang="en-US" sz="2000" dirty="0" smtClean="0"/>
              <a:t> An entity contains real world property called attribute. This is the characteristics of that attributes. This can be represented as eclipse.</a:t>
            </a:r>
          </a:p>
          <a:p>
            <a:pPr marL="0" indent="0">
              <a:buNone/>
            </a:pPr>
            <a:r>
              <a:rPr lang="en-US" sz="2000" dirty="0" smtClean="0"/>
              <a:t>Ex- The entity teacher has property like teacher_id, name, salary, age etc..</a:t>
            </a:r>
          </a:p>
          <a:p>
            <a:pPr marL="0" indent="0">
              <a:buNone/>
            </a:pPr>
            <a:r>
              <a:rPr lang="en-US" sz="2000" b="1" dirty="0" smtClean="0"/>
              <a:t>Relationship:-</a:t>
            </a:r>
            <a:r>
              <a:rPr lang="en-US" sz="2000" dirty="0" smtClean="0"/>
              <a:t> Relationship tells how the entities are related. Diamond or rhombus is used to represent the relationship.</a:t>
            </a:r>
          </a:p>
          <a:p>
            <a:pPr marL="0" indent="0">
              <a:buNone/>
            </a:pPr>
            <a:r>
              <a:rPr lang="en-US" sz="2000" dirty="0" smtClean="0"/>
              <a:t>Ex- Teacher works for department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271" y="2528194"/>
            <a:ext cx="5726676" cy="253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51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525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Relational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184856"/>
            <a:ext cx="8596668" cy="5370490"/>
          </a:xfrm>
        </p:spPr>
        <p:txBody>
          <a:bodyPr>
            <a:noAutofit/>
          </a:bodyPr>
          <a:lstStyle/>
          <a:p>
            <a:r>
              <a:rPr lang="en-US" sz="2000" dirty="0" smtClean="0"/>
              <a:t>This model was initially described by Edgar F.Codd in 1969.</a:t>
            </a:r>
          </a:p>
          <a:p>
            <a:r>
              <a:rPr lang="en-US" sz="2000" dirty="0" smtClean="0"/>
              <a:t>Most widely used model by commercial data processing applications.</a:t>
            </a:r>
          </a:p>
          <a:p>
            <a:r>
              <a:rPr lang="en-US" sz="2000" dirty="0" smtClean="0"/>
              <a:t>It uses collection of tables for representing data and the relationship among those data.</a:t>
            </a:r>
          </a:p>
          <a:p>
            <a:r>
              <a:rPr lang="en-US" sz="2000" dirty="0" smtClean="0"/>
              <a:t>Data is stored in tables called Relations.</a:t>
            </a:r>
          </a:p>
          <a:p>
            <a:r>
              <a:rPr lang="en-US" sz="2000" dirty="0" smtClean="0"/>
              <a:t>Each table is a group of column and rows where column represents attributes of an entity and rows represented records or tuples.</a:t>
            </a:r>
          </a:p>
          <a:p>
            <a:r>
              <a:rPr lang="en-US" sz="2000" dirty="0" smtClean="0">
                <a:solidFill>
                  <a:schemeClr val="accent1"/>
                </a:solidFill>
              </a:rPr>
              <a:t>Attribute or Field</a:t>
            </a:r>
            <a:r>
              <a:rPr lang="en-US" sz="2000" dirty="0" smtClean="0"/>
              <a:t>:- Each column in a relation is called an attribute. The values of an attribute should be form the same domain.</a:t>
            </a:r>
          </a:p>
          <a:p>
            <a:r>
              <a:rPr lang="en-US" sz="2000" dirty="0" smtClean="0"/>
              <a:t>Ex- </a:t>
            </a:r>
            <a:r>
              <a:rPr lang="en-US" sz="2000" dirty="0" err="1" smtClean="0"/>
              <a:t>Student_id</a:t>
            </a:r>
            <a:r>
              <a:rPr lang="en-US" sz="2000" dirty="0" smtClean="0"/>
              <a:t>, </a:t>
            </a:r>
            <a:r>
              <a:rPr lang="en-US" sz="2000" dirty="0" err="1" smtClean="0"/>
              <a:t>Student_name</a:t>
            </a:r>
            <a:r>
              <a:rPr lang="en-US" sz="2000" dirty="0" smtClean="0"/>
              <a:t>, </a:t>
            </a:r>
            <a:r>
              <a:rPr lang="en-US" sz="2000" dirty="0" err="1" smtClean="0"/>
              <a:t>Student_age</a:t>
            </a:r>
            <a:endParaRPr lang="en-US" sz="2000" dirty="0" smtClean="0"/>
          </a:p>
          <a:p>
            <a:r>
              <a:rPr lang="en-US" sz="2000" dirty="0" smtClean="0">
                <a:solidFill>
                  <a:schemeClr val="accent1"/>
                </a:solidFill>
              </a:rPr>
              <a:t>Tuple or record</a:t>
            </a:r>
            <a:r>
              <a:rPr lang="en-US" sz="2000" dirty="0" smtClean="0"/>
              <a:t>:- Each row in the relation called tuple. A tuple defines a collection of attribute values. So each row in a relation contains values.</a:t>
            </a:r>
          </a:p>
          <a:p>
            <a:r>
              <a:rPr lang="en-US" sz="2000" dirty="0" smtClean="0"/>
              <a:t>Each row has all the information about any specific individual.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8553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884" y="479539"/>
            <a:ext cx="8261632" cy="530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8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Office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DBMS System Structure and Data Model </vt:lpstr>
      <vt:lpstr>Database System Structure</vt:lpstr>
      <vt:lpstr>Query Processor</vt:lpstr>
      <vt:lpstr>Query Processor Components</vt:lpstr>
      <vt:lpstr>Storage Manager Components</vt:lpstr>
      <vt:lpstr>Disk Storage</vt:lpstr>
      <vt:lpstr>Data Models in Database</vt:lpstr>
      <vt:lpstr>Hierarchical Model</vt:lpstr>
      <vt:lpstr>Drawbacks of Hierarchical Model</vt:lpstr>
      <vt:lpstr>Network Model</vt:lpstr>
      <vt:lpstr>Drawbacks</vt:lpstr>
      <vt:lpstr>Entity-relationship Model</vt:lpstr>
      <vt:lpstr>Contd….</vt:lpstr>
      <vt:lpstr>Relational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System Structure and Data Model </dc:title>
  <dc:creator>soni2</dc:creator>
  <cp:lastModifiedBy>soni2</cp:lastModifiedBy>
  <cp:revision>1</cp:revision>
  <dcterms:created xsi:type="dcterms:W3CDTF">2024-07-23T13:24:45Z</dcterms:created>
  <dcterms:modified xsi:type="dcterms:W3CDTF">2024-07-23T13:24:55Z</dcterms:modified>
</cp:coreProperties>
</file>