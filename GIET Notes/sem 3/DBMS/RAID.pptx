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6" r:id="rId21"/>
    <p:sldId id="275" r:id="rId22"/>
    <p:sldId id="280" r:id="rId23"/>
    <p:sldId id="281" r:id="rId24"/>
    <p:sldId id="283" r:id="rId25"/>
    <p:sldId id="282" r:id="rId26"/>
    <p:sldId id="284" r:id="rId27"/>
    <p:sldId id="28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82787" y="762000"/>
            <a:ext cx="19784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RAID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565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RAID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RAID stands for </a:t>
            </a:r>
            <a:r>
              <a:rPr lang="en-US" dirty="0" smtClean="0"/>
              <a:t>Redundant </a:t>
            </a:r>
            <a:r>
              <a:rPr lang="en-US" dirty="0" smtClean="0"/>
              <a:t>Array of Independent Disks.</a:t>
            </a:r>
          </a:p>
          <a:p>
            <a:pPr algn="just">
              <a:buFont typeface="Wingdings" pitchFamily="2" charset="2"/>
              <a:buChar char="Ø"/>
            </a:pPr>
            <a:r>
              <a:rPr lang="en-IN" dirty="0" smtClean="0"/>
              <a:t>It is </a:t>
            </a:r>
            <a:r>
              <a:rPr lang="en-IN" dirty="0"/>
              <a:t>a technique which makes use of a combination of multiple disks instead of using a single disk for increased performance, data redundancy or both. </a:t>
            </a:r>
            <a:endParaRPr lang="en-IN" dirty="0" smtClean="0"/>
          </a:p>
          <a:p>
            <a:pPr algn="just">
              <a:buFont typeface="Wingdings" pitchFamily="2" charset="2"/>
              <a:buChar char="Ø"/>
            </a:pPr>
            <a:r>
              <a:rPr lang="en-IN" dirty="0"/>
              <a:t>The term was coined by David Patterson, Garth A. Gibson, and Randy Katz at the University of California, Berkeley in 1987.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6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 </a:t>
            </a:r>
            <a:r>
              <a:rPr lang="en-US" sz="3600" dirty="0"/>
              <a:t>It gives you the ability to survive one or more drive failure depending upon the RAID level used.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It consists of an array of disks in which multiple disks are connected to achieve different goals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There are seven RAID levels i.e. RAID0, RAID1,… </a:t>
            </a:r>
            <a:r>
              <a:rPr lang="en-US" sz="3600" dirty="0" err="1" smtClean="0"/>
              <a:t>upto</a:t>
            </a:r>
            <a:r>
              <a:rPr lang="en-US" sz="3600" dirty="0" smtClean="0"/>
              <a:t> RAID6.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01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52400"/>
            <a:ext cx="7498080" cy="868362"/>
          </a:xfrm>
        </p:spPr>
        <p:txBody>
          <a:bodyPr/>
          <a:lstStyle/>
          <a:p>
            <a:r>
              <a:rPr lang="en-US" dirty="0" smtClean="0"/>
              <a:t>Characteristics of RAID Levels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066800"/>
            <a:ext cx="7498080" cy="541020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It contains a set of physical disk drives.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In this technology, the operating system views these separate disks as a single logical disk.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In this technology, data is distributed across the physical drives of the array.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Redundancy disk capacity is used to store parity information.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In case of disk failure, the parity information can be helped to recover the data.</a:t>
            </a:r>
          </a:p>
          <a:p>
            <a:pPr algn="just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43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/>
          <a:lstStyle/>
          <a:p>
            <a:r>
              <a:rPr lang="en-US" dirty="0" smtClean="0"/>
              <a:t>RAID0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90600"/>
            <a:ext cx="7498080" cy="52578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RAID level 0 provides data stripping, i.e., a data can place across multiple disks.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</a:t>
            </a:r>
            <a:r>
              <a:rPr lang="en-US" sz="3600" dirty="0"/>
              <a:t>is based on stripping that means if one disk fails then all data in the array is lost.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This level doesn't provide fault tolerance but increases the system performance.</a:t>
            </a:r>
          </a:p>
          <a:p>
            <a:pPr algn="just">
              <a:buFont typeface="Wingdings" pitchFamily="2" charset="2"/>
              <a:buChar char="Ø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8527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/>
          <a:lstStyle/>
          <a:p>
            <a:r>
              <a:rPr lang="en-US" dirty="0" smtClean="0"/>
              <a:t>RAID0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8" t="20769" r="26046" b="11194"/>
          <a:stretch/>
        </p:blipFill>
        <p:spPr bwMode="auto">
          <a:xfrm>
            <a:off x="1447800" y="1143001"/>
            <a:ext cx="7543800" cy="5360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841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RAID0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590800"/>
            <a:ext cx="726510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8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1845"/>
            <a:ext cx="7498080" cy="944562"/>
          </a:xfrm>
        </p:spPr>
        <p:txBody>
          <a:bodyPr/>
          <a:lstStyle/>
          <a:p>
            <a:r>
              <a:rPr lang="en-US" dirty="0" smtClean="0"/>
              <a:t>Advantages of RAID0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295400"/>
            <a:ext cx="7498080" cy="4953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In </a:t>
            </a:r>
            <a:r>
              <a:rPr lang="en-US" sz="3600" dirty="0"/>
              <a:t>this level, throughput is increased because multiple data requests probably not on the same disk.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This level full utilizes the disk space and provides high performance.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It requires minimum 2 drives.</a:t>
            </a:r>
          </a:p>
          <a:p>
            <a:pPr marL="82296" indent="0" algn="just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9135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 of RAID0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572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It doesn't contain any error detection mechanism.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The </a:t>
            </a:r>
            <a:r>
              <a:rPr lang="en-US" sz="3600" dirty="0" smtClean="0"/>
              <a:t>RAID0 </a:t>
            </a:r>
            <a:r>
              <a:rPr lang="en-US" sz="3600" dirty="0"/>
              <a:t>is not a true RAID because it is not fault-tolerance.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In this level, failure of either disk results in complete data loss in respective array.</a:t>
            </a:r>
          </a:p>
          <a:p>
            <a:pPr algn="just">
              <a:buFont typeface="Wingdings" pitchFamily="2" charset="2"/>
              <a:buChar char="Ø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58774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RAID1(mirroring)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</a:t>
            </a:r>
            <a:r>
              <a:rPr lang="en-US" sz="3600" dirty="0"/>
              <a:t>provides 100% redundancy in case of a failure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More than one copy of each block is stored in a separate disk.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Thus</a:t>
            </a:r>
            <a:r>
              <a:rPr lang="en-US" sz="3600" dirty="0"/>
              <a:t>, every block has two (or more) copies, lying on different disks. 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RAID1 </a:t>
            </a:r>
            <a:r>
              <a:rPr lang="en-US" sz="3600" dirty="0"/>
              <a:t>is capable of reliability. 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uses the concept of mirroring.</a:t>
            </a:r>
            <a:endParaRPr lang="en-US" sz="3600" dirty="0"/>
          </a:p>
          <a:p>
            <a:pPr algn="just">
              <a:buFont typeface="Wingdings" pitchFamily="2" charset="2"/>
              <a:buChar char="Ø"/>
            </a:pPr>
            <a:endParaRPr lang="en-US" sz="3600" dirty="0"/>
          </a:p>
          <a:p>
            <a:pPr algn="just">
              <a:buFont typeface="Wingdings" pitchFamily="2" charset="2"/>
              <a:buChar char="Ø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6886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RAID1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8" t="35961" r="26262" b="37308"/>
          <a:stretch/>
        </p:blipFill>
        <p:spPr bwMode="auto">
          <a:xfrm>
            <a:off x="1219200" y="1981200"/>
            <a:ext cx="763754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007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RAID1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193" y="2819400"/>
            <a:ext cx="7117167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774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7498080" cy="944562"/>
          </a:xfrm>
        </p:spPr>
        <p:txBody>
          <a:bodyPr/>
          <a:lstStyle/>
          <a:p>
            <a:r>
              <a:rPr lang="en-US" dirty="0" smtClean="0"/>
              <a:t>Pros and Cons of RAID1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105400"/>
          </a:xfrm>
        </p:spPr>
        <p:txBody>
          <a:bodyPr>
            <a:noAutofit/>
          </a:bodyPr>
          <a:lstStyle/>
          <a:p>
            <a:pPr marL="82296" indent="0" algn="just">
              <a:buNone/>
            </a:pPr>
            <a:r>
              <a:rPr lang="en-US" sz="3600" dirty="0" smtClean="0"/>
              <a:t>Pros:</a:t>
            </a:r>
          </a:p>
          <a:p>
            <a:pPr algn="just" fontAlgn="base">
              <a:buFont typeface="Wingdings" pitchFamily="2" charset="2"/>
              <a:buChar char="Ø"/>
            </a:pPr>
            <a:r>
              <a:rPr lang="en-US" sz="3600" dirty="0"/>
              <a:t>It covers complete redundancy.</a:t>
            </a:r>
          </a:p>
          <a:p>
            <a:pPr algn="just" fontAlgn="base">
              <a:buFont typeface="Wingdings" pitchFamily="2" charset="2"/>
              <a:buChar char="Ø"/>
            </a:pPr>
            <a:r>
              <a:rPr lang="en-US" sz="3600" dirty="0"/>
              <a:t>It can increase data security and speed.</a:t>
            </a:r>
          </a:p>
          <a:p>
            <a:pPr marL="82296" indent="0" algn="just">
              <a:buNone/>
            </a:pPr>
            <a:endParaRPr lang="en-US" sz="2000" dirty="0" smtClean="0"/>
          </a:p>
          <a:p>
            <a:pPr marL="82296" indent="0" algn="just">
              <a:buNone/>
            </a:pPr>
            <a:r>
              <a:rPr lang="en-US" sz="3600" dirty="0" smtClean="0"/>
              <a:t>Cons: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O</a:t>
            </a:r>
            <a:r>
              <a:rPr lang="en-US" sz="3600" dirty="0" smtClean="0"/>
              <a:t>ne </a:t>
            </a:r>
            <a:r>
              <a:rPr lang="en-US" sz="3600" dirty="0"/>
              <a:t>extra drive is required per drive for mirroring, so the expense is higher.</a:t>
            </a:r>
          </a:p>
        </p:txBody>
      </p:sp>
    </p:spTree>
    <p:extLst>
      <p:ext uri="{BB962C8B-B14F-4D97-AF65-F5344CB8AC3E}">
        <p14:creationId xmlns:p14="http://schemas.microsoft.com/office/powerpoint/2010/main" val="6017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RAID2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334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dirty="0"/>
              <a:t>RAID 2 records Error Correction Code using Hamming distance for its data, striped on different disks. </a:t>
            </a:r>
            <a:endParaRPr lang="en-IN" dirty="0" smtClean="0"/>
          </a:p>
          <a:p>
            <a:pPr algn="just">
              <a:buFont typeface="Wingdings" pitchFamily="2" charset="2"/>
              <a:buChar char="Ø"/>
            </a:pPr>
            <a:r>
              <a:rPr lang="en-IN" dirty="0" smtClean="0"/>
              <a:t>Like </a:t>
            </a:r>
            <a:r>
              <a:rPr lang="en-IN" dirty="0"/>
              <a:t>level 0, each data bit in a word is recorded on a separate disk and ECC codes of the data words are stored on a different set disks. </a:t>
            </a:r>
            <a:endParaRPr lang="en-IN" dirty="0" smtClean="0"/>
          </a:p>
          <a:p>
            <a:pPr algn="just">
              <a:buFont typeface="Wingdings" pitchFamily="2" charset="2"/>
              <a:buChar char="Ø"/>
            </a:pPr>
            <a:r>
              <a:rPr lang="en-IN" dirty="0" smtClean="0"/>
              <a:t>Due </a:t>
            </a:r>
            <a:r>
              <a:rPr lang="en-IN" dirty="0"/>
              <a:t>to its complex structure and high cost, </a:t>
            </a:r>
            <a:r>
              <a:rPr lang="en-IN" dirty="0" smtClean="0"/>
              <a:t>RAID2 </a:t>
            </a:r>
            <a:r>
              <a:rPr lang="en-IN" dirty="0"/>
              <a:t>is not commercially available.</a:t>
            </a:r>
            <a:endParaRPr lang="en-US" dirty="0"/>
          </a:p>
          <a:p>
            <a:pPr algn="just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14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RAID2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466" y="3048000"/>
            <a:ext cx="6738621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52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 and Cons of RAID2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 algn="just">
              <a:buNone/>
            </a:pPr>
            <a:r>
              <a:rPr lang="en-US" dirty="0" smtClean="0"/>
              <a:t>Pros: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This level uses one designated drive to store parity.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It uses the hamming code for error detection</a:t>
            </a:r>
            <a:r>
              <a:rPr lang="en-US" dirty="0" smtClean="0"/>
              <a:t>.</a:t>
            </a:r>
          </a:p>
          <a:p>
            <a:pPr marL="82296" indent="0" algn="just">
              <a:buNone/>
            </a:pPr>
            <a:r>
              <a:rPr lang="en-US" dirty="0" smtClean="0"/>
              <a:t>Cons: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It requires an additional drive for error detection.</a:t>
            </a:r>
          </a:p>
          <a:p>
            <a:pPr marL="82296" indent="0" algn="just">
              <a:buNone/>
            </a:pPr>
            <a:endParaRPr lang="en-US" dirty="0"/>
          </a:p>
          <a:p>
            <a:pPr marL="82296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88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52400"/>
            <a:ext cx="7498080" cy="868362"/>
          </a:xfrm>
        </p:spPr>
        <p:txBody>
          <a:bodyPr/>
          <a:lstStyle/>
          <a:p>
            <a:r>
              <a:rPr lang="en-US" dirty="0" smtClean="0"/>
              <a:t>RAID3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14400"/>
            <a:ext cx="7498080" cy="55626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RAID 3 consists of byte-level striping with dedicated parity. In this level, the parity information is stored for each disk section and written to a dedicated parity drive.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In case of drive failure, the parity drive is </a:t>
            </a:r>
            <a:r>
              <a:rPr lang="en-US" dirty="0" smtClean="0"/>
              <a:t>accessed, </a:t>
            </a:r>
            <a:r>
              <a:rPr lang="en-US" dirty="0"/>
              <a:t>and data is reconstructed from the remaining devices. Once the failed drive is replaced, the missing data can be restored on the new drive.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In this level, data can be transferred in bulk. Thus high-speed data transmission is possible.</a:t>
            </a:r>
          </a:p>
          <a:p>
            <a:pPr algn="just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55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RAID3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26" y="2819400"/>
            <a:ext cx="790679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610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RAID3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8" t="47115" r="25938" b="26120"/>
          <a:stretch/>
        </p:blipFill>
        <p:spPr bwMode="auto">
          <a:xfrm>
            <a:off x="1371600" y="1828800"/>
            <a:ext cx="767206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062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7239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2265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/>
          <a:lstStyle/>
          <a:p>
            <a:r>
              <a:rPr lang="en-US" dirty="0" smtClean="0"/>
              <a:t>Pros and Cons of RAID3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562600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US" dirty="0" smtClean="0"/>
              <a:t>Pros: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In this level, data is regenerated using parity drive.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It contains high data transfer rates.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In this level, data is accessed in parallel</a:t>
            </a:r>
            <a:r>
              <a:rPr lang="en-US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If one disk fails, we can recover data from parity.</a:t>
            </a:r>
          </a:p>
          <a:p>
            <a:pPr marL="82296" indent="0" algn="just">
              <a:buNone/>
            </a:pPr>
            <a:r>
              <a:rPr lang="en-US" dirty="0" smtClean="0"/>
              <a:t>Cons: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It required an additional drive for parity.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It gives a slow performance for operating on small sized files.</a:t>
            </a:r>
          </a:p>
          <a:p>
            <a:pPr marL="82296" indent="0" algn="just">
              <a:buNone/>
            </a:pPr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00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RAID4 – Striping with Parity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090" y="1903307"/>
            <a:ext cx="6023370" cy="3889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3466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RAID5 – Striping with Parity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48"/>
          <a:stretch/>
        </p:blipFill>
        <p:spPr bwMode="auto">
          <a:xfrm>
            <a:off x="2121269" y="2115403"/>
            <a:ext cx="6127011" cy="3997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4174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 and Cons of RAID5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3600" dirty="0" smtClean="0"/>
              <a:t>Pros: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Read transactions are fast.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Data remains accessible even after the drive failure.</a:t>
            </a:r>
          </a:p>
          <a:p>
            <a:pPr marL="82296" indent="0">
              <a:buNone/>
            </a:pPr>
            <a:r>
              <a:rPr lang="en-US" sz="3600" dirty="0" smtClean="0"/>
              <a:t>Cons: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Complex technology.</a:t>
            </a:r>
          </a:p>
          <a:p>
            <a:pPr marL="82296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53140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RAID6 – Striping with Double Parity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925" y="1586288"/>
            <a:ext cx="6675699" cy="452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9657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 and Cons of RAID6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5626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dirty="0" smtClean="0"/>
              <a:t>Pros: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Read data transactions are very </a:t>
            </a:r>
            <a:r>
              <a:rPr lang="en-US" dirty="0" smtClean="0"/>
              <a:t>fast.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Data accessibility is </a:t>
            </a:r>
            <a:r>
              <a:rPr lang="en-US" dirty="0" smtClean="0"/>
              <a:t>high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Higher redundancy compared to RAID </a:t>
            </a:r>
            <a:r>
              <a:rPr lang="en-US" dirty="0" smtClean="0"/>
              <a:t>5</a:t>
            </a:r>
          </a:p>
          <a:p>
            <a:pPr marL="82296" indent="0" algn="just">
              <a:buNone/>
            </a:pPr>
            <a:r>
              <a:rPr lang="en-US" dirty="0" smtClean="0"/>
              <a:t>Cons: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Due to double parity write data transactions are slow</a:t>
            </a:r>
            <a:r>
              <a:rPr lang="en-US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Rebuilding RAID array takes longer time because of its complex structure.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48001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1775" y="2967335"/>
            <a:ext cx="35204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Thank You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00143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299</TotalTime>
  <Words>713</Words>
  <Application>Microsoft Office PowerPoint</Application>
  <PresentationFormat>On-screen Show (4:3)</PresentationFormat>
  <Paragraphs>88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Gill Sans MT</vt:lpstr>
      <vt:lpstr>Verdana</vt:lpstr>
      <vt:lpstr>Wingdings</vt:lpstr>
      <vt:lpstr>Wingdings 2</vt:lpstr>
      <vt:lpstr>Solstice</vt:lpstr>
      <vt:lpstr>PowerPoint Presentation</vt:lpstr>
      <vt:lpstr>Introduction to RAID</vt:lpstr>
      <vt:lpstr>Introduction to RAID</vt:lpstr>
      <vt:lpstr>Characteristics of RAID Levels</vt:lpstr>
      <vt:lpstr>RAID0</vt:lpstr>
      <vt:lpstr>RAID0</vt:lpstr>
      <vt:lpstr>RAID0</vt:lpstr>
      <vt:lpstr>Advantages of RAID0</vt:lpstr>
      <vt:lpstr>Disadvantages of RAID0</vt:lpstr>
      <vt:lpstr>RAID1(mirroring)</vt:lpstr>
      <vt:lpstr>RAID1</vt:lpstr>
      <vt:lpstr>RAID1</vt:lpstr>
      <vt:lpstr>Pros and Cons of RAID1</vt:lpstr>
      <vt:lpstr>RAID2</vt:lpstr>
      <vt:lpstr>RAID2</vt:lpstr>
      <vt:lpstr>Pros and Cons of RAID2</vt:lpstr>
      <vt:lpstr>RAID3</vt:lpstr>
      <vt:lpstr>RAID3</vt:lpstr>
      <vt:lpstr>RAID3</vt:lpstr>
      <vt:lpstr>PowerPoint Presentation</vt:lpstr>
      <vt:lpstr>Pros and Cons of RAID3</vt:lpstr>
      <vt:lpstr>RAID4 – Striping with Parity </vt:lpstr>
      <vt:lpstr>RAID5 – Striping with Parity</vt:lpstr>
      <vt:lpstr>Pros and Cons of RAID5</vt:lpstr>
      <vt:lpstr>RAID6 – Striping with Double Parity</vt:lpstr>
      <vt:lpstr>Pros and Cons of RAID6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SATYA</dc:creator>
  <cp:lastModifiedBy>soni2</cp:lastModifiedBy>
  <cp:revision>20</cp:revision>
  <dcterms:created xsi:type="dcterms:W3CDTF">2006-08-16T00:00:00Z</dcterms:created>
  <dcterms:modified xsi:type="dcterms:W3CDTF">2025-10-14T05:40:58Z</dcterms:modified>
</cp:coreProperties>
</file>