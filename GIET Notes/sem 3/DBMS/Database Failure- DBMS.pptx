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11/23/2023</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11/23/2023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11/23/2023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11/23/2023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11/23/2023</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D8BD707-D9CF-40AE-B4C6-C98DA3205C09}" type="datetimeFigureOut">
              <a:rPr lang="en-US" smtClean="0"/>
              <a:pPr/>
              <a:t>11/23/2023</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1D8BD707-D9CF-40AE-B4C6-C98DA3205C09}" type="datetimeFigureOut">
              <a:rPr lang="en-US" smtClean="0"/>
              <a:pPr/>
              <a:t>11/23/2023</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11/23/2023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11/23/2023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11/23/2023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11/23/2023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11/23/2023</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95400" y="609600"/>
            <a:ext cx="7240187" cy="923330"/>
          </a:xfrm>
          <a:prstGeom prst="rect">
            <a:avLst/>
          </a:prstGeom>
          <a:noFill/>
        </p:spPr>
        <p:txBody>
          <a:bodyPr wrap="none" lIns="91440" tIns="45720" rIns="91440" bIns="45720">
            <a:spAutoFit/>
          </a:bodyPr>
          <a:lstStyle/>
          <a:p>
            <a:pPr algn="ctr"/>
            <a:r>
              <a:rPr lang="en-US" sz="54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DATABASE FAILURE</a:t>
            </a:r>
            <a:endParaRPr lang="en-US" sz="54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
        <p:nvSpPr>
          <p:cNvPr id="5" name="TextBox 4"/>
          <p:cNvSpPr txBox="1"/>
          <p:nvPr/>
        </p:nvSpPr>
        <p:spPr>
          <a:xfrm>
            <a:off x="4267200" y="5527343"/>
            <a:ext cx="4691734" cy="830997"/>
          </a:xfrm>
          <a:prstGeom prst="rect">
            <a:avLst/>
          </a:prstGeom>
          <a:noFill/>
        </p:spPr>
        <p:txBody>
          <a:bodyPr wrap="none" rtlCol="0">
            <a:spAutoFit/>
          </a:bodyPr>
          <a:lstStyle/>
          <a:p>
            <a:r>
              <a:rPr lang="en-US" sz="4800" dirty="0" err="1" smtClean="0"/>
              <a:t>Satyanarayan</a:t>
            </a:r>
            <a:r>
              <a:rPr lang="en-US" sz="4800" dirty="0" smtClean="0"/>
              <a:t> </a:t>
            </a:r>
            <a:r>
              <a:rPr lang="en-US" sz="4800" dirty="0" err="1" smtClean="0"/>
              <a:t>Sahu</a:t>
            </a:r>
            <a:endParaRPr lang="en-US" sz="4800" dirty="0"/>
          </a:p>
        </p:txBody>
      </p:sp>
    </p:spTree>
    <p:extLst>
      <p:ext uri="{BB962C8B-B14F-4D97-AF65-F5344CB8AC3E}">
        <p14:creationId xmlns:p14="http://schemas.microsoft.com/office/powerpoint/2010/main" val="1773522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database failure???</a:t>
            </a:r>
            <a:endParaRPr lang="en-US" dirty="0"/>
          </a:p>
        </p:txBody>
      </p:sp>
      <p:sp>
        <p:nvSpPr>
          <p:cNvPr id="3" name="Content Placeholder 2"/>
          <p:cNvSpPr>
            <a:spLocks noGrp="1"/>
          </p:cNvSpPr>
          <p:nvPr>
            <p:ph idx="1"/>
          </p:nvPr>
        </p:nvSpPr>
        <p:spPr>
          <a:xfrm>
            <a:off x="1435608" y="1447800"/>
            <a:ext cx="7498080" cy="5105400"/>
          </a:xfrm>
        </p:spPr>
        <p:txBody>
          <a:bodyPr>
            <a:noAutofit/>
          </a:bodyPr>
          <a:lstStyle/>
          <a:p>
            <a:pPr algn="just"/>
            <a:r>
              <a:rPr lang="en-US" sz="4000" dirty="0" smtClean="0"/>
              <a:t>Database failure can be defined as </a:t>
            </a:r>
            <a:r>
              <a:rPr lang="en-US" sz="4000" dirty="0"/>
              <a:t>its inability to execute the specified transaction or loss of data from the database</a:t>
            </a:r>
            <a:r>
              <a:rPr lang="en-US" sz="4000" dirty="0" smtClean="0"/>
              <a:t>.</a:t>
            </a:r>
          </a:p>
          <a:p>
            <a:pPr algn="just"/>
            <a:r>
              <a:rPr lang="en-US" sz="4000" dirty="0" smtClean="0"/>
              <a:t>Database can fail due to several reasons like power outage, software error, a fire in the machine room etc.</a:t>
            </a:r>
            <a:endParaRPr lang="en-US" sz="4000" dirty="0"/>
          </a:p>
        </p:txBody>
      </p:sp>
    </p:spTree>
    <p:extLst>
      <p:ext uri="{BB962C8B-B14F-4D97-AF65-F5344CB8AC3E}">
        <p14:creationId xmlns:p14="http://schemas.microsoft.com/office/powerpoint/2010/main" val="2832980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Failure</a:t>
            </a:r>
            <a:endParaRPr lang="en-US" dirty="0"/>
          </a:p>
        </p:txBody>
      </p:sp>
      <p:sp>
        <p:nvSpPr>
          <p:cNvPr id="3" name="Content Placeholder 2"/>
          <p:cNvSpPr>
            <a:spLocks noGrp="1"/>
          </p:cNvSpPr>
          <p:nvPr>
            <p:ph idx="1"/>
          </p:nvPr>
        </p:nvSpPr>
        <p:spPr/>
        <p:txBody>
          <a:bodyPr>
            <a:normAutofit/>
          </a:bodyPr>
          <a:lstStyle/>
          <a:p>
            <a:pPr marL="82296" indent="0">
              <a:buNone/>
            </a:pPr>
            <a:r>
              <a:rPr lang="en-US" sz="4000" dirty="0" smtClean="0"/>
              <a:t>Database failure is of three types. Such as:</a:t>
            </a:r>
          </a:p>
          <a:p>
            <a:pPr marL="596646" indent="-514350">
              <a:buAutoNum type="alphaLcParenR"/>
            </a:pPr>
            <a:r>
              <a:rPr lang="en-US" sz="4000" dirty="0" smtClean="0"/>
              <a:t>Transaction Failure</a:t>
            </a:r>
          </a:p>
          <a:p>
            <a:pPr marL="596646" indent="-514350">
              <a:buAutoNum type="alphaLcParenR"/>
            </a:pPr>
            <a:r>
              <a:rPr lang="en-US" sz="4000" dirty="0" smtClean="0"/>
              <a:t>System Crash</a:t>
            </a:r>
          </a:p>
          <a:p>
            <a:pPr marL="596646" indent="-514350">
              <a:buAutoNum type="alphaLcParenR"/>
            </a:pPr>
            <a:r>
              <a:rPr lang="en-US" sz="4000" dirty="0" smtClean="0"/>
              <a:t>Disk Failure</a:t>
            </a:r>
            <a:endParaRPr lang="en-US" sz="4000" dirty="0"/>
          </a:p>
        </p:txBody>
      </p:sp>
    </p:spTree>
    <p:extLst>
      <p:ext uri="{BB962C8B-B14F-4D97-AF65-F5344CB8AC3E}">
        <p14:creationId xmlns:p14="http://schemas.microsoft.com/office/powerpoint/2010/main" val="744112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 Failure</a:t>
            </a:r>
            <a:endParaRPr lang="en-US" dirty="0"/>
          </a:p>
        </p:txBody>
      </p:sp>
      <p:sp>
        <p:nvSpPr>
          <p:cNvPr id="3" name="Content Placeholder 2"/>
          <p:cNvSpPr>
            <a:spLocks noGrp="1"/>
          </p:cNvSpPr>
          <p:nvPr>
            <p:ph idx="1"/>
          </p:nvPr>
        </p:nvSpPr>
        <p:spPr>
          <a:xfrm>
            <a:off x="1435608" y="1447800"/>
            <a:ext cx="7498080" cy="5181600"/>
          </a:xfrm>
        </p:spPr>
        <p:txBody>
          <a:bodyPr>
            <a:normAutofit lnSpcReduction="10000"/>
          </a:bodyPr>
          <a:lstStyle/>
          <a:p>
            <a:pPr marL="82296" indent="0" algn="just">
              <a:buNone/>
            </a:pPr>
            <a:r>
              <a:rPr lang="en-US" dirty="0"/>
              <a:t>The transaction failure occurs when it fails to execute or when it reaches a point from where it can't go any further. </a:t>
            </a:r>
            <a:r>
              <a:rPr lang="en-US" dirty="0" smtClean="0"/>
              <a:t>Reasons </a:t>
            </a:r>
            <a:r>
              <a:rPr lang="en-US" dirty="0"/>
              <a:t>for a transaction failure could be -</a:t>
            </a:r>
          </a:p>
          <a:p>
            <a:pPr lvl="1" algn="just">
              <a:buFont typeface="Wingdings" pitchFamily="2" charset="2"/>
              <a:buChar char="Ø"/>
            </a:pPr>
            <a:r>
              <a:rPr lang="en-US" b="1" dirty="0"/>
              <a:t>Logical errors:</a:t>
            </a:r>
            <a:r>
              <a:rPr lang="en-US" dirty="0"/>
              <a:t> If a transaction </a:t>
            </a:r>
            <a:r>
              <a:rPr lang="en-US" dirty="0" smtClean="0"/>
              <a:t>can no longer continue with its normal execution because of some internal condition like bad input, data not found or resource limit exceeded.</a:t>
            </a:r>
          </a:p>
          <a:p>
            <a:pPr lvl="1" algn="just">
              <a:buFont typeface="Wingdings" pitchFamily="2" charset="2"/>
              <a:buChar char="Ø"/>
            </a:pPr>
            <a:r>
              <a:rPr lang="en-US" b="1" dirty="0" smtClean="0"/>
              <a:t>System </a:t>
            </a:r>
            <a:r>
              <a:rPr lang="en-US" b="1" dirty="0"/>
              <a:t>error:</a:t>
            </a:r>
            <a:r>
              <a:rPr lang="en-US" dirty="0"/>
              <a:t> </a:t>
            </a:r>
            <a:r>
              <a:rPr lang="en-US" dirty="0" smtClean="0"/>
              <a:t>The system has </a:t>
            </a:r>
            <a:r>
              <a:rPr lang="en-US" dirty="0" smtClean="0"/>
              <a:t>entered </a:t>
            </a:r>
            <a:r>
              <a:rPr lang="en-US" dirty="0" smtClean="0"/>
              <a:t>an undesirable state(like deadlock), as a result it can’t continue its normal execution.</a:t>
            </a:r>
            <a:endParaRPr lang="en-US" dirty="0"/>
          </a:p>
        </p:txBody>
      </p:sp>
    </p:spTree>
    <p:extLst>
      <p:ext uri="{BB962C8B-B14F-4D97-AF65-F5344CB8AC3E}">
        <p14:creationId xmlns:p14="http://schemas.microsoft.com/office/powerpoint/2010/main" val="4132976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Crash</a:t>
            </a:r>
            <a:endParaRPr lang="en-US" dirty="0"/>
          </a:p>
        </p:txBody>
      </p:sp>
      <p:sp>
        <p:nvSpPr>
          <p:cNvPr id="3" name="Content Placeholder 2"/>
          <p:cNvSpPr>
            <a:spLocks noGrp="1"/>
          </p:cNvSpPr>
          <p:nvPr>
            <p:ph idx="1"/>
          </p:nvPr>
        </p:nvSpPr>
        <p:spPr/>
        <p:txBody>
          <a:bodyPr>
            <a:normAutofit/>
          </a:bodyPr>
          <a:lstStyle/>
          <a:p>
            <a:pPr marL="82296" indent="0" algn="just">
              <a:buNone/>
            </a:pPr>
            <a:r>
              <a:rPr lang="en-US" sz="3600" dirty="0" smtClean="0"/>
              <a:t>There is a hardware malfunction, or a bug in the database, software or the Operating System, that causes the loss of the content of volatile storage and brings transaction processing to a halt.</a:t>
            </a:r>
          </a:p>
          <a:p>
            <a:pPr marL="82296" indent="0" algn="just">
              <a:buNone/>
            </a:pPr>
            <a:r>
              <a:rPr lang="en-US" sz="3600" b="1" dirty="0" smtClean="0"/>
              <a:t>Fail-stop assumption</a:t>
            </a:r>
            <a:r>
              <a:rPr lang="en-US" sz="3600" dirty="0" smtClean="0"/>
              <a:t>: </a:t>
            </a:r>
            <a:r>
              <a:rPr lang="en-US" sz="3600" dirty="0"/>
              <a:t>In the system crash, non-volatile storage is assumed not to be corrupted.</a:t>
            </a:r>
          </a:p>
        </p:txBody>
      </p:sp>
    </p:spTree>
    <p:extLst>
      <p:ext uri="{BB962C8B-B14F-4D97-AF65-F5344CB8AC3E}">
        <p14:creationId xmlns:p14="http://schemas.microsoft.com/office/powerpoint/2010/main" val="2890240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Disk Failure</a:t>
            </a:r>
            <a:endParaRPr lang="en-US" dirty="0"/>
          </a:p>
        </p:txBody>
      </p:sp>
      <p:sp>
        <p:nvSpPr>
          <p:cNvPr id="3" name="Content Placeholder 2"/>
          <p:cNvSpPr>
            <a:spLocks noGrp="1"/>
          </p:cNvSpPr>
          <p:nvPr>
            <p:ph idx="1"/>
          </p:nvPr>
        </p:nvSpPr>
        <p:spPr/>
        <p:txBody>
          <a:bodyPr/>
          <a:lstStyle/>
          <a:p>
            <a:pPr algn="just">
              <a:buFont typeface="Wingdings" pitchFamily="2" charset="2"/>
              <a:buChar char="Ø"/>
            </a:pPr>
            <a:r>
              <a:rPr lang="en-US" dirty="0"/>
              <a:t>It occurs where hard-disk drives or storage drives used to fail frequently. It was a common problem in the early days of technology evolution.</a:t>
            </a:r>
          </a:p>
          <a:p>
            <a:pPr algn="just">
              <a:buFont typeface="Wingdings" pitchFamily="2" charset="2"/>
              <a:buChar char="Ø"/>
            </a:pPr>
            <a:r>
              <a:rPr lang="en-US" dirty="0"/>
              <a:t>Disk failure occurs due to the formation of bad sectors, disk head crash, and unreachability to the disk or any other failure, which destroy all or part of disk storage.</a:t>
            </a:r>
          </a:p>
          <a:p>
            <a:endParaRPr lang="en-US" dirty="0"/>
          </a:p>
        </p:txBody>
      </p:sp>
    </p:spTree>
    <p:extLst>
      <p:ext uri="{BB962C8B-B14F-4D97-AF65-F5344CB8AC3E}">
        <p14:creationId xmlns:p14="http://schemas.microsoft.com/office/powerpoint/2010/main" val="2666769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 recovery</a:t>
            </a:r>
            <a:endParaRPr lang="en-US" dirty="0"/>
          </a:p>
        </p:txBody>
      </p:sp>
      <p:sp>
        <p:nvSpPr>
          <p:cNvPr id="3" name="Content Placeholder 2"/>
          <p:cNvSpPr>
            <a:spLocks noGrp="1"/>
          </p:cNvSpPr>
          <p:nvPr>
            <p:ph idx="1"/>
          </p:nvPr>
        </p:nvSpPr>
        <p:spPr/>
        <p:txBody>
          <a:bodyPr>
            <a:noAutofit/>
          </a:bodyPr>
          <a:lstStyle/>
          <a:p>
            <a:pPr algn="just">
              <a:buFont typeface="Wingdings" pitchFamily="2" charset="2"/>
              <a:buChar char="Ø"/>
            </a:pPr>
            <a:r>
              <a:rPr lang="en-US" sz="3600" dirty="0"/>
              <a:t>Database recovery techniques are used in database management systems (DBMS) to restore a database to a consistent state after a failure or error has occurred. </a:t>
            </a:r>
            <a:endParaRPr lang="en-US" sz="3600" dirty="0" smtClean="0"/>
          </a:p>
          <a:p>
            <a:pPr algn="just">
              <a:buFont typeface="Wingdings" pitchFamily="2" charset="2"/>
              <a:buChar char="Ø"/>
            </a:pPr>
            <a:r>
              <a:rPr lang="en-US" sz="3600" dirty="0" smtClean="0"/>
              <a:t>The </a:t>
            </a:r>
            <a:r>
              <a:rPr lang="en-US" sz="3600" dirty="0"/>
              <a:t>main goal of recovery techniques is to ensure data integrity and consistency and prevent data loss.</a:t>
            </a:r>
          </a:p>
        </p:txBody>
      </p:sp>
    </p:spTree>
    <p:extLst>
      <p:ext uri="{BB962C8B-B14F-4D97-AF65-F5344CB8AC3E}">
        <p14:creationId xmlns:p14="http://schemas.microsoft.com/office/powerpoint/2010/main" val="2240110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Database Recovery</a:t>
            </a:r>
            <a:endParaRPr lang="en-US" dirty="0"/>
          </a:p>
        </p:txBody>
      </p:sp>
      <p:sp>
        <p:nvSpPr>
          <p:cNvPr id="3" name="Content Placeholder 2"/>
          <p:cNvSpPr>
            <a:spLocks noGrp="1"/>
          </p:cNvSpPr>
          <p:nvPr>
            <p:ph idx="1"/>
          </p:nvPr>
        </p:nvSpPr>
        <p:spPr/>
        <p:txBody>
          <a:bodyPr/>
          <a:lstStyle/>
          <a:p>
            <a:pPr marL="82296" indent="0" fontAlgn="base">
              <a:buNone/>
            </a:pPr>
            <a:r>
              <a:rPr lang="en-US" dirty="0"/>
              <a:t>There are mainly two types of recovery techniques used in </a:t>
            </a:r>
            <a:r>
              <a:rPr lang="en-US" dirty="0" smtClean="0"/>
              <a:t>DBMS</a:t>
            </a:r>
          </a:p>
          <a:p>
            <a:pPr marL="82296" indent="0" fontAlgn="base">
              <a:buNone/>
            </a:pPr>
            <a:endParaRPr lang="en-US" dirty="0"/>
          </a:p>
          <a:p>
            <a:pPr marL="82296" indent="0" fontAlgn="base">
              <a:buNone/>
            </a:pPr>
            <a:r>
              <a:rPr lang="en-US" b="1" dirty="0" smtClean="0"/>
              <a:t>a) Rollback/Undo </a:t>
            </a:r>
            <a:r>
              <a:rPr lang="en-US" b="1" dirty="0"/>
              <a:t>Recovery Technique</a:t>
            </a:r>
            <a:endParaRPr lang="en-US" dirty="0"/>
          </a:p>
          <a:p>
            <a:pPr marL="82296" indent="0" fontAlgn="base">
              <a:buNone/>
            </a:pPr>
            <a:r>
              <a:rPr lang="en-US" b="1" dirty="0" smtClean="0"/>
              <a:t>b) Commit/Redo </a:t>
            </a:r>
            <a:r>
              <a:rPr lang="en-US" b="1" dirty="0"/>
              <a:t>Recovery Technique</a:t>
            </a:r>
            <a:endParaRPr lang="en-US" dirty="0"/>
          </a:p>
          <a:p>
            <a:endParaRPr lang="en-US" dirty="0"/>
          </a:p>
        </p:txBody>
      </p:sp>
    </p:spTree>
    <p:extLst>
      <p:ext uri="{BB962C8B-B14F-4D97-AF65-F5344CB8AC3E}">
        <p14:creationId xmlns:p14="http://schemas.microsoft.com/office/powerpoint/2010/main" val="3909211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dirty="0"/>
              <a:t>Rollback/Undo Recovery Technique</a:t>
            </a:r>
          </a:p>
        </p:txBody>
      </p:sp>
      <p:sp>
        <p:nvSpPr>
          <p:cNvPr id="3" name="Content Placeholder 2"/>
          <p:cNvSpPr>
            <a:spLocks noGrp="1"/>
          </p:cNvSpPr>
          <p:nvPr>
            <p:ph idx="1"/>
          </p:nvPr>
        </p:nvSpPr>
        <p:spPr/>
        <p:txBody>
          <a:bodyPr/>
          <a:lstStyle/>
          <a:p>
            <a:pPr algn="just">
              <a:buFont typeface="Wingdings" pitchFamily="2" charset="2"/>
              <a:buChar char="Ø"/>
            </a:pPr>
            <a:r>
              <a:rPr lang="en-US" dirty="0"/>
              <a:t>The rollback/undo recovery technique is based on the principle of backing out or undoing the effects of a transaction that has not been completed successfully due to a system failure or error. </a:t>
            </a:r>
            <a:endParaRPr lang="en-US" dirty="0" smtClean="0"/>
          </a:p>
          <a:p>
            <a:pPr algn="just">
              <a:buFont typeface="Wingdings" pitchFamily="2" charset="2"/>
              <a:buChar char="Ø"/>
            </a:pPr>
            <a:r>
              <a:rPr lang="en-US" dirty="0" smtClean="0"/>
              <a:t>This </a:t>
            </a:r>
            <a:r>
              <a:rPr lang="en-US" dirty="0"/>
              <a:t>technique is accomplished by undoing the changes made by the transaction using the log records stored in the transaction log.</a:t>
            </a:r>
          </a:p>
        </p:txBody>
      </p:sp>
    </p:spTree>
    <p:extLst>
      <p:ext uri="{BB962C8B-B14F-4D97-AF65-F5344CB8AC3E}">
        <p14:creationId xmlns:p14="http://schemas.microsoft.com/office/powerpoint/2010/main" val="38432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Commit/Redo Recovery Technique</a:t>
            </a:r>
          </a:p>
        </p:txBody>
      </p:sp>
      <p:sp>
        <p:nvSpPr>
          <p:cNvPr id="3" name="Content Placeholder 2"/>
          <p:cNvSpPr>
            <a:spLocks noGrp="1"/>
          </p:cNvSpPr>
          <p:nvPr>
            <p:ph idx="1"/>
          </p:nvPr>
        </p:nvSpPr>
        <p:spPr/>
        <p:txBody>
          <a:bodyPr>
            <a:normAutofit lnSpcReduction="10000"/>
          </a:bodyPr>
          <a:lstStyle/>
          <a:p>
            <a:pPr algn="just">
              <a:buFont typeface="Wingdings" pitchFamily="2" charset="2"/>
              <a:buChar char="Ø"/>
            </a:pPr>
            <a:r>
              <a:rPr lang="en-US" dirty="0"/>
              <a:t>The commit/redo recovery technique is based on the principle of reapplying the changes made by a transaction that has been completed successfully to the database. </a:t>
            </a:r>
            <a:endParaRPr lang="en-US" dirty="0" smtClean="0"/>
          </a:p>
          <a:p>
            <a:pPr algn="just">
              <a:buFont typeface="Wingdings" pitchFamily="2" charset="2"/>
              <a:buChar char="Ø"/>
            </a:pPr>
            <a:r>
              <a:rPr lang="en-US" dirty="0" smtClean="0"/>
              <a:t>This </a:t>
            </a:r>
            <a:r>
              <a:rPr lang="en-US" dirty="0"/>
              <a:t>technique is accomplished by using the log records stored in the transaction log to redo the changes made by the transaction that was in progress at the time of the failure or error. </a:t>
            </a:r>
          </a:p>
        </p:txBody>
      </p:sp>
    </p:spTree>
    <p:extLst>
      <p:ext uri="{BB962C8B-B14F-4D97-AF65-F5344CB8AC3E}">
        <p14:creationId xmlns:p14="http://schemas.microsoft.com/office/powerpoint/2010/main" val="2368878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Checkpoint Recovery</a:t>
            </a:r>
            <a:endParaRPr lang="en-US" dirty="0"/>
          </a:p>
        </p:txBody>
      </p:sp>
      <p:sp>
        <p:nvSpPr>
          <p:cNvPr id="3" name="Content Placeholder 2"/>
          <p:cNvSpPr>
            <a:spLocks noGrp="1"/>
          </p:cNvSpPr>
          <p:nvPr>
            <p:ph idx="1"/>
          </p:nvPr>
        </p:nvSpPr>
        <p:spPr/>
        <p:txBody>
          <a:bodyPr>
            <a:normAutofit lnSpcReduction="10000"/>
          </a:bodyPr>
          <a:lstStyle/>
          <a:p>
            <a:pPr algn="just">
              <a:buFont typeface="Wingdings" pitchFamily="2" charset="2"/>
              <a:buChar char="Ø"/>
            </a:pPr>
            <a:r>
              <a:rPr lang="en-US" b="1" dirty="0"/>
              <a:t>Checkpoint Recovery </a:t>
            </a:r>
            <a:r>
              <a:rPr lang="en-US" dirty="0"/>
              <a:t>is a technique used to reduce the recovery time by periodically saving the state of the database in a checkpoint file. </a:t>
            </a:r>
            <a:endParaRPr lang="en-US" dirty="0" smtClean="0"/>
          </a:p>
          <a:p>
            <a:pPr algn="just">
              <a:buFont typeface="Wingdings" pitchFamily="2" charset="2"/>
              <a:buChar char="Ø"/>
            </a:pPr>
            <a:r>
              <a:rPr lang="en-US" dirty="0" smtClean="0"/>
              <a:t>In </a:t>
            </a:r>
            <a:r>
              <a:rPr lang="en-US" dirty="0"/>
              <a:t>the event of a failure, the system can use the checkpoint file to restore the database to the most recent consistent state before the failure occurred, rather than going through the entire log to recover the database.</a:t>
            </a:r>
          </a:p>
        </p:txBody>
      </p:sp>
    </p:spTree>
    <p:extLst>
      <p:ext uri="{BB962C8B-B14F-4D97-AF65-F5344CB8AC3E}">
        <p14:creationId xmlns:p14="http://schemas.microsoft.com/office/powerpoint/2010/main" val="4131749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944562"/>
          </a:xfrm>
        </p:spPr>
        <p:txBody>
          <a:bodyPr/>
          <a:lstStyle/>
          <a:p>
            <a:r>
              <a:rPr lang="en-US" dirty="0" smtClean="0"/>
              <a:t>Recovery(</a:t>
            </a:r>
            <a:r>
              <a:rPr lang="en-US" dirty="0" err="1" smtClean="0"/>
              <a:t>Contd</a:t>
            </a:r>
            <a:r>
              <a:rPr lang="en-US" dirty="0" smtClean="0"/>
              <a:t>…)</a:t>
            </a:r>
            <a:endParaRPr lang="en-US" dirty="0"/>
          </a:p>
        </p:txBody>
      </p:sp>
      <p:sp>
        <p:nvSpPr>
          <p:cNvPr id="3" name="Content Placeholder 2"/>
          <p:cNvSpPr>
            <a:spLocks noGrp="1"/>
          </p:cNvSpPr>
          <p:nvPr>
            <p:ph idx="1"/>
          </p:nvPr>
        </p:nvSpPr>
        <p:spPr>
          <a:xfrm>
            <a:off x="1435608" y="1143000"/>
            <a:ext cx="7498080" cy="5562600"/>
          </a:xfrm>
        </p:spPr>
        <p:txBody>
          <a:bodyPr>
            <a:normAutofit lnSpcReduction="10000"/>
          </a:bodyPr>
          <a:lstStyle/>
          <a:p>
            <a:pPr algn="just">
              <a:buFont typeface="Wingdings" pitchFamily="2" charset="2"/>
              <a:buChar char="Ø"/>
            </a:pPr>
            <a:r>
              <a:rPr lang="en-US" dirty="0"/>
              <a:t>There are both automatic and non-automatic ways for both, backing up data and recovery from any failure situations. </a:t>
            </a:r>
            <a:endParaRPr lang="en-US" dirty="0" smtClean="0"/>
          </a:p>
          <a:p>
            <a:pPr algn="just">
              <a:buFont typeface="Wingdings" pitchFamily="2" charset="2"/>
              <a:buChar char="Ø"/>
            </a:pPr>
            <a:r>
              <a:rPr lang="en-US" dirty="0" smtClean="0"/>
              <a:t>The </a:t>
            </a:r>
            <a:r>
              <a:rPr lang="en-US" dirty="0"/>
              <a:t>techniques used to recover lost data due to system crashes, transaction errors, viruses, catastrophic failure, incorrect command execution, etc. are database recovery techniques. </a:t>
            </a:r>
            <a:endParaRPr lang="en-US" dirty="0" smtClean="0"/>
          </a:p>
          <a:p>
            <a:pPr algn="just">
              <a:buFont typeface="Wingdings" pitchFamily="2" charset="2"/>
              <a:buChar char="Ø"/>
            </a:pPr>
            <a:r>
              <a:rPr lang="en-US" dirty="0"/>
              <a:t>So to prevent data loss recovery techniques based on deferred updates and immediate updates or backing up data can be used. </a:t>
            </a:r>
            <a:endParaRPr lang="en-US" dirty="0"/>
          </a:p>
        </p:txBody>
      </p:sp>
    </p:spTree>
    <p:extLst>
      <p:ext uri="{BB962C8B-B14F-4D97-AF65-F5344CB8AC3E}">
        <p14:creationId xmlns:p14="http://schemas.microsoft.com/office/powerpoint/2010/main" val="1083388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1020762"/>
          </a:xfrm>
        </p:spPr>
        <p:txBody>
          <a:bodyPr/>
          <a:lstStyle/>
          <a:p>
            <a:r>
              <a:rPr lang="en-US" dirty="0"/>
              <a:t>Recovery(</a:t>
            </a:r>
            <a:r>
              <a:rPr lang="en-US" dirty="0" err="1"/>
              <a:t>Contd</a:t>
            </a:r>
            <a:r>
              <a:rPr lang="en-US" dirty="0"/>
              <a:t>…)</a:t>
            </a:r>
          </a:p>
        </p:txBody>
      </p:sp>
      <p:sp>
        <p:nvSpPr>
          <p:cNvPr id="3" name="Content Placeholder 2"/>
          <p:cNvSpPr>
            <a:spLocks noGrp="1"/>
          </p:cNvSpPr>
          <p:nvPr>
            <p:ph idx="1"/>
          </p:nvPr>
        </p:nvSpPr>
        <p:spPr>
          <a:xfrm>
            <a:off x="1435608" y="1295400"/>
            <a:ext cx="7498080" cy="4953000"/>
          </a:xfrm>
        </p:spPr>
        <p:txBody>
          <a:bodyPr>
            <a:normAutofit/>
          </a:bodyPr>
          <a:lstStyle/>
          <a:p>
            <a:pPr algn="just">
              <a:buFont typeface="Wingdings" pitchFamily="2" charset="2"/>
              <a:buChar char="Ø"/>
            </a:pPr>
            <a:r>
              <a:rPr lang="en-US" sz="3600" dirty="0"/>
              <a:t>Recovery techniques are heavily dependent upon the existence of a special file known as a </a:t>
            </a:r>
            <a:r>
              <a:rPr lang="en-US" sz="3600" b="1" dirty="0"/>
              <a:t>system log</a:t>
            </a:r>
            <a:r>
              <a:rPr lang="en-US" sz="3600" dirty="0"/>
              <a:t>. </a:t>
            </a:r>
            <a:endParaRPr lang="en-US" sz="3600" dirty="0" smtClean="0"/>
          </a:p>
          <a:p>
            <a:pPr algn="just">
              <a:buFont typeface="Wingdings" pitchFamily="2" charset="2"/>
              <a:buChar char="Ø"/>
            </a:pPr>
            <a:r>
              <a:rPr lang="en-US" sz="3600" dirty="0" smtClean="0"/>
              <a:t>It </a:t>
            </a:r>
            <a:r>
              <a:rPr lang="en-US" sz="3600" dirty="0"/>
              <a:t>contains information about the start and end of each transaction and any updates which occur during the transaction. </a:t>
            </a:r>
            <a:endParaRPr lang="en-US" sz="3600" dirty="0"/>
          </a:p>
        </p:txBody>
      </p:sp>
    </p:spTree>
    <p:extLst>
      <p:ext uri="{BB962C8B-B14F-4D97-AF65-F5344CB8AC3E}">
        <p14:creationId xmlns:p14="http://schemas.microsoft.com/office/powerpoint/2010/main" val="1186040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944562"/>
          </a:xfrm>
        </p:spPr>
        <p:txBody>
          <a:bodyPr/>
          <a:lstStyle/>
          <a:p>
            <a:r>
              <a:rPr lang="en-US" dirty="0" smtClean="0"/>
              <a:t>Contents of a log</a:t>
            </a:r>
            <a:endParaRPr lang="en-US" dirty="0"/>
          </a:p>
        </p:txBody>
      </p:sp>
      <p:sp>
        <p:nvSpPr>
          <p:cNvPr id="3" name="Content Placeholder 2"/>
          <p:cNvSpPr>
            <a:spLocks noGrp="1"/>
          </p:cNvSpPr>
          <p:nvPr>
            <p:ph idx="1"/>
          </p:nvPr>
        </p:nvSpPr>
        <p:spPr/>
        <p:txBody>
          <a:bodyPr>
            <a:normAutofit fontScale="92500" lnSpcReduction="20000"/>
          </a:bodyPr>
          <a:lstStyle/>
          <a:p>
            <a:pPr algn="just" fontAlgn="base">
              <a:buFont typeface="Wingdings" pitchFamily="2" charset="2"/>
              <a:buChar char="Ø"/>
            </a:pPr>
            <a:r>
              <a:rPr lang="en-US" b="1" dirty="0" smtClean="0"/>
              <a:t>The </a:t>
            </a:r>
            <a:r>
              <a:rPr lang="en-US" b="1" dirty="0"/>
              <a:t>log is kept on disk </a:t>
            </a:r>
            <a:r>
              <a:rPr lang="en-US" b="1" dirty="0" err="1"/>
              <a:t>start_transaction</a:t>
            </a:r>
            <a:r>
              <a:rPr lang="en-US" b="1" dirty="0"/>
              <a:t>(T):</a:t>
            </a:r>
            <a:r>
              <a:rPr lang="en-US" dirty="0"/>
              <a:t> This log entry records that transaction T starts the execution.</a:t>
            </a:r>
          </a:p>
          <a:p>
            <a:pPr algn="just" fontAlgn="base">
              <a:buFont typeface="Wingdings" pitchFamily="2" charset="2"/>
              <a:buChar char="Ø"/>
            </a:pPr>
            <a:r>
              <a:rPr lang="en-US" b="1" dirty="0" err="1"/>
              <a:t>read_item</a:t>
            </a:r>
            <a:r>
              <a:rPr lang="en-US" b="1" dirty="0"/>
              <a:t>(T, X):</a:t>
            </a:r>
            <a:r>
              <a:rPr lang="en-US" dirty="0"/>
              <a:t> This log entry records that transaction T reads the value of database item X</a:t>
            </a:r>
            <a:r>
              <a:rPr lang="en-US" dirty="0" smtClean="0"/>
              <a:t>.</a:t>
            </a:r>
          </a:p>
          <a:p>
            <a:pPr algn="just" fontAlgn="base">
              <a:buFont typeface="Wingdings" pitchFamily="2" charset="2"/>
              <a:buChar char="Ø"/>
            </a:pPr>
            <a:r>
              <a:rPr lang="en-US" b="1" dirty="0" err="1"/>
              <a:t>write_item</a:t>
            </a:r>
            <a:r>
              <a:rPr lang="en-US" b="1" dirty="0"/>
              <a:t>(T, X, </a:t>
            </a:r>
            <a:r>
              <a:rPr lang="en-US" b="1" dirty="0" err="1"/>
              <a:t>old_value</a:t>
            </a:r>
            <a:r>
              <a:rPr lang="en-US" b="1" dirty="0"/>
              <a:t>, </a:t>
            </a:r>
            <a:r>
              <a:rPr lang="en-US" b="1" dirty="0" err="1"/>
              <a:t>new_value</a:t>
            </a:r>
            <a:r>
              <a:rPr lang="en-US" b="1" dirty="0"/>
              <a:t>):</a:t>
            </a:r>
            <a:r>
              <a:rPr lang="en-US" dirty="0"/>
              <a:t> This log entry records that transaction T changes the value of the database item X from </a:t>
            </a:r>
            <a:r>
              <a:rPr lang="en-US" dirty="0" err="1"/>
              <a:t>old_value</a:t>
            </a:r>
            <a:r>
              <a:rPr lang="en-US" dirty="0"/>
              <a:t> to </a:t>
            </a:r>
            <a:r>
              <a:rPr lang="en-US" dirty="0" err="1"/>
              <a:t>new_value</a:t>
            </a:r>
            <a:r>
              <a:rPr lang="en-US" dirty="0"/>
              <a:t>.</a:t>
            </a:r>
          </a:p>
          <a:p>
            <a:endParaRPr lang="en-US" dirty="0"/>
          </a:p>
        </p:txBody>
      </p:sp>
    </p:spTree>
    <p:extLst>
      <p:ext uri="{BB962C8B-B14F-4D97-AF65-F5344CB8AC3E}">
        <p14:creationId xmlns:p14="http://schemas.microsoft.com/office/powerpoint/2010/main" val="103106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92162"/>
          </a:xfrm>
        </p:spPr>
        <p:txBody>
          <a:bodyPr/>
          <a:lstStyle/>
          <a:p>
            <a:r>
              <a:rPr lang="en-US" dirty="0"/>
              <a:t>Contents of a log</a:t>
            </a:r>
          </a:p>
        </p:txBody>
      </p:sp>
      <p:sp>
        <p:nvSpPr>
          <p:cNvPr id="3" name="Content Placeholder 2"/>
          <p:cNvSpPr>
            <a:spLocks noGrp="1"/>
          </p:cNvSpPr>
          <p:nvPr>
            <p:ph idx="1"/>
          </p:nvPr>
        </p:nvSpPr>
        <p:spPr>
          <a:xfrm>
            <a:off x="1435608" y="1219200"/>
            <a:ext cx="7498080" cy="5410200"/>
          </a:xfrm>
        </p:spPr>
        <p:txBody>
          <a:bodyPr>
            <a:normAutofit fontScale="92500" lnSpcReduction="20000"/>
          </a:bodyPr>
          <a:lstStyle/>
          <a:p>
            <a:pPr algn="just" fontAlgn="base">
              <a:buFont typeface="Wingdings" pitchFamily="2" charset="2"/>
              <a:buChar char="Ø"/>
            </a:pPr>
            <a:r>
              <a:rPr lang="en-US" b="1" dirty="0"/>
              <a:t>commit(T):</a:t>
            </a:r>
            <a:r>
              <a:rPr lang="en-US" dirty="0"/>
              <a:t> This log entry records that transaction T has completed all accesses to the database successfully and its effect can be committed (recorded permanently) to the database.</a:t>
            </a:r>
          </a:p>
          <a:p>
            <a:pPr algn="just" fontAlgn="base">
              <a:buFont typeface="Wingdings" pitchFamily="2" charset="2"/>
              <a:buChar char="Ø"/>
            </a:pPr>
            <a:r>
              <a:rPr lang="en-US" b="1" dirty="0"/>
              <a:t>abort(T): </a:t>
            </a:r>
            <a:r>
              <a:rPr lang="en-US" dirty="0"/>
              <a:t>This records that transaction T has been aborted.</a:t>
            </a:r>
          </a:p>
          <a:p>
            <a:pPr algn="just">
              <a:buFont typeface="Wingdings" pitchFamily="2" charset="2"/>
              <a:buChar char="Ø"/>
            </a:pPr>
            <a:r>
              <a:rPr lang="en-US" b="1" dirty="0"/>
              <a:t>checkpoint: </a:t>
            </a:r>
            <a:r>
              <a:rPr lang="en-US" dirty="0"/>
              <a:t>A checkpoint is a mechanism where all the previous logs are removed from the system and stored permanently in a storage disk. Checkpoint declares a point before which the DBMS was in a consistent state, and all the transactions were committed</a:t>
            </a:r>
            <a:r>
              <a:rPr lang="en-US" dirty="0" smtClean="0"/>
              <a:t>.</a:t>
            </a:r>
            <a:endParaRPr lang="en-US" dirty="0"/>
          </a:p>
        </p:txBody>
      </p:sp>
    </p:spTree>
    <p:extLst>
      <p:ext uri="{BB962C8B-B14F-4D97-AF65-F5344CB8AC3E}">
        <p14:creationId xmlns:p14="http://schemas.microsoft.com/office/powerpoint/2010/main" val="30194417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944562"/>
          </a:xfrm>
        </p:spPr>
        <p:txBody>
          <a:bodyPr/>
          <a:lstStyle/>
          <a:p>
            <a:r>
              <a:rPr lang="en-US" dirty="0" smtClean="0"/>
              <a:t>Undoing</a:t>
            </a:r>
            <a:endParaRPr lang="en-US" dirty="0"/>
          </a:p>
        </p:txBody>
      </p:sp>
      <p:sp>
        <p:nvSpPr>
          <p:cNvPr id="3" name="Content Placeholder 2"/>
          <p:cNvSpPr>
            <a:spLocks noGrp="1"/>
          </p:cNvSpPr>
          <p:nvPr>
            <p:ph idx="1"/>
          </p:nvPr>
        </p:nvSpPr>
        <p:spPr>
          <a:xfrm>
            <a:off x="1435608" y="1143000"/>
            <a:ext cx="7498080" cy="5105400"/>
          </a:xfrm>
        </p:spPr>
        <p:txBody>
          <a:bodyPr/>
          <a:lstStyle/>
          <a:p>
            <a:pPr marL="82296" indent="0" algn="just">
              <a:buNone/>
            </a:pPr>
            <a:r>
              <a:rPr lang="en-US" dirty="0" smtClean="0"/>
              <a:t>If </a:t>
            </a:r>
            <a:r>
              <a:rPr lang="en-US" dirty="0"/>
              <a:t>a transaction crashes, then the recovery manager may undo transactions i.e. reverse the operations of a transaction. This involves examining a transaction for the log entry </a:t>
            </a:r>
            <a:r>
              <a:rPr lang="en-US" dirty="0" err="1"/>
              <a:t>write_item</a:t>
            </a:r>
            <a:r>
              <a:rPr lang="en-US" dirty="0"/>
              <a:t>(T, x, </a:t>
            </a:r>
            <a:r>
              <a:rPr lang="en-US" dirty="0" err="1"/>
              <a:t>old_value</a:t>
            </a:r>
            <a:r>
              <a:rPr lang="en-US" dirty="0"/>
              <a:t>, </a:t>
            </a:r>
            <a:r>
              <a:rPr lang="en-US" dirty="0" err="1"/>
              <a:t>new_value</a:t>
            </a:r>
            <a:r>
              <a:rPr lang="en-US" dirty="0"/>
              <a:t>) and setting the value of item x in the database to old-value. </a:t>
            </a:r>
            <a:endParaRPr lang="en-US" dirty="0"/>
          </a:p>
        </p:txBody>
      </p:sp>
    </p:spTree>
    <p:extLst>
      <p:ext uri="{BB962C8B-B14F-4D97-AF65-F5344CB8AC3E}">
        <p14:creationId xmlns:p14="http://schemas.microsoft.com/office/powerpoint/2010/main" val="13362882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rPr>
              <a:t>Deferred Update</a:t>
            </a:r>
            <a:endParaRPr lang="en-US" dirty="0"/>
          </a:p>
        </p:txBody>
      </p:sp>
      <p:sp>
        <p:nvSpPr>
          <p:cNvPr id="3" name="Content Placeholder 2"/>
          <p:cNvSpPr>
            <a:spLocks noGrp="1"/>
          </p:cNvSpPr>
          <p:nvPr>
            <p:ph idx="1"/>
          </p:nvPr>
        </p:nvSpPr>
        <p:spPr/>
        <p:txBody>
          <a:bodyPr>
            <a:normAutofit fontScale="92500" lnSpcReduction="20000"/>
          </a:bodyPr>
          <a:lstStyle/>
          <a:p>
            <a:pPr algn="just">
              <a:buFont typeface="Wingdings" pitchFamily="2" charset="2"/>
              <a:buChar char="Ø"/>
            </a:pPr>
            <a:r>
              <a:rPr lang="en-US" dirty="0"/>
              <a:t>This technique does not physically update the database on disk until a transaction has reached its commit point. </a:t>
            </a:r>
            <a:endParaRPr lang="en-US" dirty="0" smtClean="0"/>
          </a:p>
          <a:p>
            <a:pPr algn="just">
              <a:buFont typeface="Wingdings" pitchFamily="2" charset="2"/>
              <a:buChar char="Ø"/>
            </a:pPr>
            <a:r>
              <a:rPr lang="en-US" dirty="0" smtClean="0"/>
              <a:t>Before </a:t>
            </a:r>
            <a:r>
              <a:rPr lang="en-US" dirty="0"/>
              <a:t>reaching commit, all transaction updates are recorded in the local transaction workspace. </a:t>
            </a:r>
            <a:endParaRPr lang="en-US" dirty="0" smtClean="0"/>
          </a:p>
          <a:p>
            <a:pPr algn="just">
              <a:buFont typeface="Wingdings" pitchFamily="2" charset="2"/>
              <a:buChar char="Ø"/>
            </a:pPr>
            <a:r>
              <a:rPr lang="en-US" dirty="0" smtClean="0"/>
              <a:t>If </a:t>
            </a:r>
            <a:r>
              <a:rPr lang="en-US" dirty="0"/>
              <a:t>a transaction fails before reaching its commit point, it will not have changed the </a:t>
            </a:r>
            <a:r>
              <a:rPr lang="en-US" dirty="0" smtClean="0"/>
              <a:t>database.</a:t>
            </a:r>
          </a:p>
          <a:p>
            <a:pPr algn="just">
              <a:buFont typeface="Wingdings" pitchFamily="2" charset="2"/>
              <a:buChar char="Ø"/>
            </a:pPr>
            <a:r>
              <a:rPr lang="en-US" dirty="0"/>
              <a:t>This technique is known as </a:t>
            </a:r>
            <a:r>
              <a:rPr lang="en-US" b="1" dirty="0" smtClean="0"/>
              <a:t>no</a:t>
            </a:r>
            <a:r>
              <a:rPr lang="en-US" dirty="0" smtClean="0"/>
              <a:t> </a:t>
            </a:r>
            <a:r>
              <a:rPr lang="en-US" b="1" dirty="0" smtClean="0"/>
              <a:t>undo/redo </a:t>
            </a:r>
            <a:r>
              <a:rPr lang="en-US" b="1" dirty="0"/>
              <a:t>algorithm.</a:t>
            </a:r>
            <a:endParaRPr lang="en-US" dirty="0"/>
          </a:p>
        </p:txBody>
      </p:sp>
    </p:spTree>
    <p:extLst>
      <p:ext uri="{BB962C8B-B14F-4D97-AF65-F5344CB8AC3E}">
        <p14:creationId xmlns:p14="http://schemas.microsoft.com/office/powerpoint/2010/main" val="2927328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1020762"/>
          </a:xfrm>
        </p:spPr>
        <p:txBody>
          <a:bodyPr/>
          <a:lstStyle/>
          <a:p>
            <a:r>
              <a:rPr lang="en-US" b="1" dirty="0">
                <a:effectLst/>
              </a:rPr>
              <a:t>Immediate Update</a:t>
            </a:r>
            <a:endParaRPr lang="en-US" dirty="0"/>
          </a:p>
        </p:txBody>
      </p:sp>
      <p:sp>
        <p:nvSpPr>
          <p:cNvPr id="3" name="Content Placeholder 2"/>
          <p:cNvSpPr>
            <a:spLocks noGrp="1"/>
          </p:cNvSpPr>
          <p:nvPr>
            <p:ph idx="1"/>
          </p:nvPr>
        </p:nvSpPr>
        <p:spPr>
          <a:xfrm>
            <a:off x="1435608" y="1219200"/>
            <a:ext cx="7498080" cy="5029200"/>
          </a:xfrm>
        </p:spPr>
        <p:txBody>
          <a:bodyPr>
            <a:normAutofit lnSpcReduction="10000"/>
          </a:bodyPr>
          <a:lstStyle/>
          <a:p>
            <a:r>
              <a:rPr lang="en-US" dirty="0" smtClean="0"/>
              <a:t>In </a:t>
            </a:r>
            <a:r>
              <a:rPr lang="en-US" dirty="0"/>
              <a:t>the immediate update, the database may be updated by some operations of a transaction before the transaction reaches its commit point. </a:t>
            </a:r>
            <a:endParaRPr lang="en-US" dirty="0" smtClean="0"/>
          </a:p>
          <a:p>
            <a:r>
              <a:rPr lang="en-US" dirty="0" smtClean="0"/>
              <a:t>However</a:t>
            </a:r>
            <a:r>
              <a:rPr lang="en-US" dirty="0"/>
              <a:t>, these operations are recorded in a log on disk before they are applied to the database, making recovery still possible</a:t>
            </a:r>
            <a:r>
              <a:rPr lang="en-US" dirty="0" smtClean="0"/>
              <a:t>.</a:t>
            </a:r>
          </a:p>
          <a:p>
            <a:r>
              <a:rPr lang="en-US" dirty="0"/>
              <a:t>This technique is known as </a:t>
            </a:r>
            <a:r>
              <a:rPr lang="en-US" b="1" dirty="0"/>
              <a:t>undo/redo algorithm.</a:t>
            </a:r>
            <a:endParaRPr lang="en-US" dirty="0"/>
          </a:p>
        </p:txBody>
      </p:sp>
    </p:spTree>
    <p:extLst>
      <p:ext uri="{BB962C8B-B14F-4D97-AF65-F5344CB8AC3E}">
        <p14:creationId xmlns:p14="http://schemas.microsoft.com/office/powerpoint/2010/main" val="40746255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rPr>
              <a:t>Caching/Buffering</a:t>
            </a:r>
            <a:endParaRPr lang="en-US" dirty="0"/>
          </a:p>
        </p:txBody>
      </p:sp>
      <p:sp>
        <p:nvSpPr>
          <p:cNvPr id="3" name="Content Placeholder 2"/>
          <p:cNvSpPr>
            <a:spLocks noGrp="1"/>
          </p:cNvSpPr>
          <p:nvPr>
            <p:ph idx="1"/>
          </p:nvPr>
        </p:nvSpPr>
        <p:spPr/>
        <p:txBody>
          <a:bodyPr/>
          <a:lstStyle/>
          <a:p>
            <a:pPr algn="just">
              <a:buFont typeface="Wingdings" pitchFamily="2" charset="2"/>
              <a:buChar char="Ø"/>
            </a:pPr>
            <a:r>
              <a:rPr lang="en-US" dirty="0"/>
              <a:t>In this one or more disk pages that include data items to be updated are cached into main memory buffers and then updated in memory before being written back to disk. </a:t>
            </a:r>
            <a:endParaRPr lang="en-US" dirty="0" smtClean="0"/>
          </a:p>
          <a:p>
            <a:pPr algn="just">
              <a:buFont typeface="Wingdings" pitchFamily="2" charset="2"/>
              <a:buChar char="Ø"/>
            </a:pPr>
            <a:r>
              <a:rPr lang="en-US" dirty="0"/>
              <a:t>A collection of in-memory buffers called the DBMS cache is kept under the control of DBMS for holding these buffers. </a:t>
            </a:r>
            <a:endParaRPr lang="en-US" dirty="0"/>
          </a:p>
        </p:txBody>
      </p:sp>
    </p:spTree>
    <p:extLst>
      <p:ext uri="{BB962C8B-B14F-4D97-AF65-F5344CB8AC3E}">
        <p14:creationId xmlns:p14="http://schemas.microsoft.com/office/powerpoint/2010/main" val="6783100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792162"/>
          </a:xfrm>
        </p:spPr>
        <p:txBody>
          <a:bodyPr/>
          <a:lstStyle/>
          <a:p>
            <a:r>
              <a:rPr lang="en-US" dirty="0" smtClean="0"/>
              <a:t>Shadow Paging</a:t>
            </a:r>
            <a:endParaRPr lang="en-US" dirty="0"/>
          </a:p>
        </p:txBody>
      </p:sp>
      <p:sp>
        <p:nvSpPr>
          <p:cNvPr id="3" name="Content Placeholder 2"/>
          <p:cNvSpPr>
            <a:spLocks noGrp="1"/>
          </p:cNvSpPr>
          <p:nvPr>
            <p:ph idx="1"/>
          </p:nvPr>
        </p:nvSpPr>
        <p:spPr>
          <a:xfrm>
            <a:off x="1435608" y="1143000"/>
            <a:ext cx="7498080" cy="5486400"/>
          </a:xfrm>
        </p:spPr>
        <p:txBody>
          <a:bodyPr>
            <a:normAutofit fontScale="92500" lnSpcReduction="10000"/>
          </a:bodyPr>
          <a:lstStyle/>
          <a:p>
            <a:pPr algn="just">
              <a:buFont typeface="Wingdings" pitchFamily="2" charset="2"/>
              <a:buChar char="Ø"/>
            </a:pPr>
            <a:r>
              <a:rPr lang="en-US" dirty="0"/>
              <a:t> It provides atomicity and durability. </a:t>
            </a:r>
            <a:endParaRPr lang="en-US" dirty="0" smtClean="0"/>
          </a:p>
          <a:p>
            <a:pPr algn="just">
              <a:buFont typeface="Wingdings" pitchFamily="2" charset="2"/>
              <a:buChar char="Ø"/>
            </a:pPr>
            <a:r>
              <a:rPr lang="en-US" dirty="0" smtClean="0"/>
              <a:t>A </a:t>
            </a:r>
            <a:r>
              <a:rPr lang="en-US" dirty="0"/>
              <a:t>directory with n entries is constructed, where the </a:t>
            </a:r>
            <a:r>
              <a:rPr lang="en-US" dirty="0" err="1"/>
              <a:t>ith</a:t>
            </a:r>
            <a:r>
              <a:rPr lang="en-US" dirty="0"/>
              <a:t> entry points to the </a:t>
            </a:r>
            <a:r>
              <a:rPr lang="en-US" dirty="0" err="1"/>
              <a:t>ith</a:t>
            </a:r>
            <a:r>
              <a:rPr lang="en-US" dirty="0"/>
              <a:t> database page on the link. </a:t>
            </a:r>
            <a:endParaRPr lang="en-US" dirty="0" smtClean="0"/>
          </a:p>
          <a:p>
            <a:pPr algn="just">
              <a:buFont typeface="Wingdings" pitchFamily="2" charset="2"/>
              <a:buChar char="Ø"/>
            </a:pPr>
            <a:r>
              <a:rPr lang="en-US" dirty="0" smtClean="0"/>
              <a:t>When </a:t>
            </a:r>
            <a:r>
              <a:rPr lang="en-US" dirty="0"/>
              <a:t>a transaction began executing the current directory is copied into a shadow directory. </a:t>
            </a:r>
            <a:endParaRPr lang="en-US" dirty="0" smtClean="0"/>
          </a:p>
          <a:p>
            <a:pPr algn="just">
              <a:buFont typeface="Wingdings" pitchFamily="2" charset="2"/>
              <a:buChar char="Ø"/>
            </a:pPr>
            <a:r>
              <a:rPr lang="en-US" dirty="0" smtClean="0"/>
              <a:t>When </a:t>
            </a:r>
            <a:r>
              <a:rPr lang="en-US" dirty="0"/>
              <a:t>a page is to be modified, a shadow page is allocated in which changes are made and when it is ready to become durable, all pages that refer to the original are updated to refer new replacement page.</a:t>
            </a:r>
            <a:endParaRPr lang="en-US" dirty="0"/>
          </a:p>
        </p:txBody>
      </p:sp>
    </p:spTree>
    <p:extLst>
      <p:ext uri="{BB962C8B-B14F-4D97-AF65-F5344CB8AC3E}">
        <p14:creationId xmlns:p14="http://schemas.microsoft.com/office/powerpoint/2010/main" val="3759393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rPr>
              <a:t>Backward Recovery</a:t>
            </a:r>
            <a:endParaRPr lang="en-US" dirty="0"/>
          </a:p>
        </p:txBody>
      </p:sp>
      <p:sp>
        <p:nvSpPr>
          <p:cNvPr id="3" name="Content Placeholder 2"/>
          <p:cNvSpPr>
            <a:spLocks noGrp="1"/>
          </p:cNvSpPr>
          <p:nvPr>
            <p:ph idx="1"/>
          </p:nvPr>
        </p:nvSpPr>
        <p:spPr/>
        <p:txBody>
          <a:bodyPr>
            <a:normAutofit lnSpcReduction="10000"/>
          </a:bodyPr>
          <a:lstStyle/>
          <a:p>
            <a:pPr algn="just">
              <a:buFont typeface="Wingdings" pitchFamily="2" charset="2"/>
              <a:buChar char="Ø"/>
            </a:pPr>
            <a:r>
              <a:rPr lang="en-US" dirty="0"/>
              <a:t>The term “</a:t>
            </a:r>
            <a:r>
              <a:rPr lang="en-US" b="1" dirty="0"/>
              <a:t>Rollback</a:t>
            </a:r>
            <a:r>
              <a:rPr lang="en-US" dirty="0"/>
              <a:t>” and “</a:t>
            </a:r>
            <a:r>
              <a:rPr lang="en-US" b="1" dirty="0"/>
              <a:t>UNDO</a:t>
            </a:r>
            <a:r>
              <a:rPr lang="en-US" dirty="0"/>
              <a:t>” can also refer to backward recovery. </a:t>
            </a:r>
            <a:endParaRPr lang="en-US" dirty="0" smtClean="0"/>
          </a:p>
          <a:p>
            <a:pPr algn="just">
              <a:buFont typeface="Wingdings" pitchFamily="2" charset="2"/>
              <a:buChar char="Ø"/>
            </a:pPr>
            <a:r>
              <a:rPr lang="en-US" dirty="0" smtClean="0"/>
              <a:t>When </a:t>
            </a:r>
            <a:r>
              <a:rPr lang="en-US" dirty="0"/>
              <a:t>a backup of the data is not available and previous modifications need to be undone, this technique can be helpful. </a:t>
            </a:r>
            <a:endParaRPr lang="en-US" dirty="0" smtClean="0"/>
          </a:p>
          <a:p>
            <a:pPr algn="just">
              <a:buFont typeface="Wingdings" pitchFamily="2" charset="2"/>
              <a:buChar char="Ø"/>
            </a:pPr>
            <a:r>
              <a:rPr lang="en-US" dirty="0" smtClean="0"/>
              <a:t>With </a:t>
            </a:r>
            <a:r>
              <a:rPr lang="en-US" dirty="0"/>
              <a:t>the backward recovery method, unused modifications are removed and the database is returned to its prior condition.</a:t>
            </a:r>
            <a:endParaRPr lang="en-US" dirty="0"/>
          </a:p>
        </p:txBody>
      </p:sp>
    </p:spTree>
    <p:extLst>
      <p:ext uri="{BB962C8B-B14F-4D97-AF65-F5344CB8AC3E}">
        <p14:creationId xmlns:p14="http://schemas.microsoft.com/office/powerpoint/2010/main" val="459725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Forward Recovery</a:t>
            </a:r>
            <a:endParaRPr lang="en-US" dirty="0"/>
          </a:p>
        </p:txBody>
      </p:sp>
      <p:sp>
        <p:nvSpPr>
          <p:cNvPr id="3" name="Content Placeholder 2"/>
          <p:cNvSpPr>
            <a:spLocks noGrp="1"/>
          </p:cNvSpPr>
          <p:nvPr>
            <p:ph idx="1"/>
          </p:nvPr>
        </p:nvSpPr>
        <p:spPr/>
        <p:txBody>
          <a:bodyPr/>
          <a:lstStyle/>
          <a:p>
            <a:pPr algn="just"/>
            <a:r>
              <a:rPr lang="en-US" dirty="0"/>
              <a:t>“</a:t>
            </a:r>
            <a:r>
              <a:rPr lang="en-US" b="1" dirty="0"/>
              <a:t>Roll forward</a:t>
            </a:r>
            <a:r>
              <a:rPr lang="en-US" dirty="0"/>
              <a:t> “and “</a:t>
            </a:r>
            <a:r>
              <a:rPr lang="en-US" b="1" dirty="0"/>
              <a:t>REDO</a:t>
            </a:r>
            <a:r>
              <a:rPr lang="en-US" dirty="0"/>
              <a:t>” refers to forwarding recovery. </a:t>
            </a:r>
            <a:endParaRPr lang="en-US" dirty="0" smtClean="0"/>
          </a:p>
          <a:p>
            <a:pPr algn="just"/>
            <a:r>
              <a:rPr lang="en-US" dirty="0" smtClean="0"/>
              <a:t>When </a:t>
            </a:r>
            <a:r>
              <a:rPr lang="en-US" dirty="0"/>
              <a:t>a database needs to be updated with all changes verified, this forward recovery technique is helpful. </a:t>
            </a:r>
            <a:endParaRPr lang="en-US" dirty="0" smtClean="0"/>
          </a:p>
          <a:p>
            <a:pPr algn="just"/>
            <a:r>
              <a:rPr lang="en-US" dirty="0" smtClean="0"/>
              <a:t>Some </a:t>
            </a:r>
            <a:r>
              <a:rPr lang="en-US" dirty="0"/>
              <a:t>failed transactions in this database are applied to the database to roll those modifications forward.</a:t>
            </a:r>
            <a:endParaRPr lang="en-US" dirty="0"/>
          </a:p>
        </p:txBody>
      </p:sp>
    </p:spTree>
    <p:extLst>
      <p:ext uri="{BB962C8B-B14F-4D97-AF65-F5344CB8AC3E}">
        <p14:creationId xmlns:p14="http://schemas.microsoft.com/office/powerpoint/2010/main" val="26001425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11775" y="2967335"/>
            <a:ext cx="3520451" cy="923330"/>
          </a:xfrm>
          <a:prstGeom prst="rect">
            <a:avLst/>
          </a:prstGeom>
          <a:noFill/>
        </p:spPr>
        <p:txBody>
          <a:bodyPr wrap="none" lIns="91440" tIns="45720" rIns="91440" bIns="45720">
            <a:spAutoFit/>
          </a:bodyPr>
          <a:lstStyle/>
          <a:p>
            <a:pPr algn="ctr"/>
            <a:r>
              <a:rPr lang="en-US" sz="54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Thank You</a:t>
            </a:r>
            <a:endParaRPr lang="en-US" sz="54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Tree>
    <p:extLst>
      <p:ext uri="{BB962C8B-B14F-4D97-AF65-F5344CB8AC3E}">
        <p14:creationId xmlns:p14="http://schemas.microsoft.com/office/powerpoint/2010/main" val="4207991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102</TotalTime>
  <Words>781</Words>
  <Application>Microsoft Office PowerPoint</Application>
  <PresentationFormat>On-screen Show (4:3)</PresentationFormat>
  <Paragraphs>80</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Solstice</vt:lpstr>
      <vt:lpstr>PowerPoint Presentation</vt:lpstr>
      <vt:lpstr>What is database failure???</vt:lpstr>
      <vt:lpstr>Types of Failure</vt:lpstr>
      <vt:lpstr>Transaction Failure</vt:lpstr>
      <vt:lpstr>System Crash</vt:lpstr>
      <vt:lpstr>Disk Failure</vt:lpstr>
      <vt:lpstr>Database recovery</vt:lpstr>
      <vt:lpstr>Types of Database Recovery</vt:lpstr>
      <vt:lpstr>Rollback/Undo Recovery Technique</vt:lpstr>
      <vt:lpstr>Commit/Redo Recovery Technique</vt:lpstr>
      <vt:lpstr>Checkpoint Recovery</vt:lpstr>
      <vt:lpstr>Recovery(Contd…)</vt:lpstr>
      <vt:lpstr>Recovery(Contd…)</vt:lpstr>
      <vt:lpstr>Contents of a log</vt:lpstr>
      <vt:lpstr>Contents of a log</vt:lpstr>
      <vt:lpstr>Undoing</vt:lpstr>
      <vt:lpstr>Deferred Update</vt:lpstr>
      <vt:lpstr>Immediate Update</vt:lpstr>
      <vt:lpstr>Caching/Buffering</vt:lpstr>
      <vt:lpstr>Shadow Paging</vt:lpstr>
      <vt:lpstr>Backward Recovery</vt:lpstr>
      <vt:lpstr>Forward Recovery</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SATYA</dc:creator>
  <cp:lastModifiedBy>de</cp:lastModifiedBy>
  <cp:revision>10</cp:revision>
  <dcterms:created xsi:type="dcterms:W3CDTF">2006-08-16T00:00:00Z</dcterms:created>
  <dcterms:modified xsi:type="dcterms:W3CDTF">2023-11-23T12:08:26Z</dcterms:modified>
</cp:coreProperties>
</file>