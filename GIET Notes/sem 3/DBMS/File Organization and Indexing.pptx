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10/24/2025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95060" y="428726"/>
            <a:ext cx="8051215" cy="2585323"/>
          </a:xfrm>
          <a:prstGeom prst="rect">
            <a:avLst/>
          </a:prstGeom>
          <a:noFill/>
        </p:spPr>
        <p:txBody>
          <a:bodyPr wrap="squar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FILE ORGANIZATION AND</a:t>
            </a:r>
          </a:p>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INDEXING</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921139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Organization</a:t>
            </a:r>
            <a:endParaRPr lang="en-US" dirty="0"/>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t>It is a method of arranging data on secondary storage devices and addressing them such that it facilitates storage and read/write operations by user.</a:t>
            </a:r>
          </a:p>
          <a:p>
            <a:pPr algn="just">
              <a:buFont typeface="Wingdings" pitchFamily="2" charset="2"/>
              <a:buChar char="Ø"/>
            </a:pPr>
            <a:r>
              <a:rPr lang="en-US" dirty="0" smtClean="0"/>
              <a:t>A record is a collection of logically related data items.</a:t>
            </a:r>
          </a:p>
          <a:p>
            <a:pPr algn="just">
              <a:buFont typeface="Wingdings" pitchFamily="2" charset="2"/>
              <a:buChar char="Ø"/>
            </a:pPr>
            <a:r>
              <a:rPr lang="en-US" dirty="0" smtClean="0"/>
              <a:t>A file is a collection of related sequence of records.</a:t>
            </a:r>
            <a:endParaRPr lang="en-US" dirty="0"/>
          </a:p>
        </p:txBody>
      </p:sp>
    </p:spTree>
    <p:extLst>
      <p:ext uri="{BB962C8B-B14F-4D97-AF65-F5344CB8AC3E}">
        <p14:creationId xmlns:p14="http://schemas.microsoft.com/office/powerpoint/2010/main" val="4202295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Indexing</a:t>
            </a:r>
            <a:endParaRPr lang="en-US" dirty="0"/>
          </a:p>
        </p:txBody>
      </p:sp>
      <p:sp>
        <p:nvSpPr>
          <p:cNvPr id="3" name="Content Placeholder 2"/>
          <p:cNvSpPr>
            <a:spLocks noGrp="1"/>
          </p:cNvSpPr>
          <p:nvPr>
            <p:ph idx="1"/>
          </p:nvPr>
        </p:nvSpPr>
        <p:spPr>
          <a:xfrm>
            <a:off x="1435608" y="1447800"/>
            <a:ext cx="7498080" cy="5257800"/>
          </a:xfrm>
        </p:spPr>
        <p:txBody>
          <a:bodyPr/>
          <a:lstStyle/>
          <a:p>
            <a:pPr algn="just">
              <a:buFont typeface="Wingdings" pitchFamily="2" charset="2"/>
              <a:buChar char="Ø"/>
            </a:pPr>
            <a:r>
              <a:rPr lang="en-US" dirty="0"/>
              <a:t>Indexes are used to quickly locate data without having to search every row in a database table every time said table is accessed. </a:t>
            </a:r>
            <a:endParaRPr lang="en-US" dirty="0" smtClean="0"/>
          </a:p>
          <a:p>
            <a:pPr algn="just">
              <a:buFont typeface="Wingdings" pitchFamily="2" charset="2"/>
              <a:buChar char="Ø"/>
            </a:pPr>
            <a:r>
              <a:rPr lang="en-US" dirty="0" smtClean="0"/>
              <a:t>Indexes </a:t>
            </a:r>
            <a:r>
              <a:rPr lang="en-US" dirty="0"/>
              <a:t>can be created using one or more columns of a database table, providing the basis for both rapid random lookups and efficient access of ordered records.</a:t>
            </a:r>
          </a:p>
        </p:txBody>
      </p:sp>
    </p:spTree>
    <p:extLst>
      <p:ext uri="{BB962C8B-B14F-4D97-AF65-F5344CB8AC3E}">
        <p14:creationId xmlns:p14="http://schemas.microsoft.com/office/powerpoint/2010/main" val="1156306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Index Table</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The Index Table contains a search key and a pointer.</a:t>
            </a:r>
          </a:p>
          <a:p>
            <a:pPr>
              <a:buFont typeface="Wingdings" pitchFamily="2" charset="2"/>
              <a:buChar char="Ø"/>
            </a:pPr>
            <a:r>
              <a:rPr lang="en-US" dirty="0" smtClean="0"/>
              <a:t>A search key is an attribute or a set of attributes used to look up the records in a file.</a:t>
            </a:r>
          </a:p>
          <a:p>
            <a:pPr>
              <a:buFont typeface="Wingdings" pitchFamily="2" charset="2"/>
              <a:buChar char="Ø"/>
            </a:pPr>
            <a:r>
              <a:rPr lang="en-US" dirty="0" smtClean="0"/>
              <a:t>Pointer contains address where the record is stored in memory.</a:t>
            </a:r>
            <a:endParaRPr lang="en-US" dirty="0"/>
          </a:p>
        </p:txBody>
      </p:sp>
    </p:spTree>
    <p:extLst>
      <p:ext uri="{BB962C8B-B14F-4D97-AF65-F5344CB8AC3E}">
        <p14:creationId xmlns:p14="http://schemas.microsoft.com/office/powerpoint/2010/main" val="3979380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Index Table</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4787" y="1600200"/>
            <a:ext cx="7419975" cy="5105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1665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an Index</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An Index is a data structure that is added to a file to provide faster access to the data.</a:t>
            </a:r>
          </a:p>
          <a:p>
            <a:pPr>
              <a:buFont typeface="Wingdings" pitchFamily="2" charset="2"/>
              <a:buChar char="Ø"/>
            </a:pPr>
            <a:r>
              <a:rPr lang="en-US" dirty="0" smtClean="0"/>
              <a:t>It reduces the number of records that the DBMS has to check.</a:t>
            </a:r>
          </a:p>
          <a:p>
            <a:pPr>
              <a:buFont typeface="Wingdings" pitchFamily="2" charset="2"/>
              <a:buChar char="Ø"/>
            </a:pPr>
            <a:endParaRPr lang="en-US" dirty="0"/>
          </a:p>
        </p:txBody>
      </p:sp>
    </p:spTree>
    <p:extLst>
      <p:ext uri="{BB962C8B-B14F-4D97-AF65-F5344CB8AC3E}">
        <p14:creationId xmlns:p14="http://schemas.microsoft.com/office/powerpoint/2010/main" val="2640787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marL="82296" indent="0">
              <a:buNone/>
            </a:pPr>
            <a:r>
              <a:rPr lang="en-US" dirty="0" smtClean="0"/>
              <a:t>Select * from student where </a:t>
            </a:r>
            <a:r>
              <a:rPr lang="en-US" dirty="0" err="1" smtClean="0"/>
              <a:t>rollno</a:t>
            </a:r>
            <a:r>
              <a:rPr lang="en-US" dirty="0" smtClean="0"/>
              <a:t>=101</a:t>
            </a:r>
          </a:p>
          <a:p>
            <a:pPr marL="82296" indent="0">
              <a:buNone/>
            </a:pPr>
            <a:endParaRPr lang="en-US" dirty="0"/>
          </a:p>
          <a:p>
            <a:pPr marL="82296" indent="0">
              <a:buNone/>
            </a:pPr>
            <a:r>
              <a:rPr lang="en-US" dirty="0" smtClean="0"/>
              <a:t>This searches for the whole table row by row to </a:t>
            </a:r>
            <a:r>
              <a:rPr lang="en-US" dirty="0" err="1" smtClean="0"/>
              <a:t>findout</a:t>
            </a:r>
            <a:r>
              <a:rPr lang="en-US" dirty="0" smtClean="0"/>
              <a:t> the record.</a:t>
            </a:r>
          </a:p>
          <a:p>
            <a:pPr marL="82296" indent="0">
              <a:buNone/>
            </a:pPr>
            <a:endParaRPr lang="en-US" dirty="0"/>
          </a:p>
          <a:p>
            <a:pPr marL="82296" indent="0">
              <a:buNone/>
            </a:pPr>
            <a:r>
              <a:rPr lang="en-US" dirty="0" smtClean="0"/>
              <a:t>But indexing helps us to </a:t>
            </a:r>
            <a:r>
              <a:rPr lang="en-US" dirty="0" err="1" smtClean="0"/>
              <a:t>findout</a:t>
            </a:r>
            <a:r>
              <a:rPr lang="en-US" dirty="0" smtClean="0"/>
              <a:t> the record easily.</a:t>
            </a:r>
            <a:endParaRPr lang="en-US" dirty="0"/>
          </a:p>
        </p:txBody>
      </p:sp>
    </p:spTree>
    <p:extLst>
      <p:ext uri="{BB962C8B-B14F-4D97-AF65-F5344CB8AC3E}">
        <p14:creationId xmlns:p14="http://schemas.microsoft.com/office/powerpoint/2010/main" val="5400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an index</a:t>
            </a:r>
            <a:endParaRPr lang="en-US" dirty="0"/>
          </a:p>
        </p:txBody>
      </p:sp>
      <p:sp>
        <p:nvSpPr>
          <p:cNvPr id="3" name="Content Placeholder 2"/>
          <p:cNvSpPr>
            <a:spLocks noGrp="1"/>
          </p:cNvSpPr>
          <p:nvPr>
            <p:ph idx="1"/>
          </p:nvPr>
        </p:nvSpPr>
        <p:spPr/>
        <p:txBody>
          <a:bodyPr/>
          <a:lstStyle/>
          <a:p>
            <a:pPr marL="82296" indent="0">
              <a:buNone/>
            </a:pPr>
            <a:r>
              <a:rPr lang="en-US" dirty="0" smtClean="0"/>
              <a:t>Create index &lt;index-name&gt; on &lt;table-name&gt; (col-name ASC/DESC)</a:t>
            </a:r>
          </a:p>
          <a:p>
            <a:pPr>
              <a:buFont typeface="Wingdings" pitchFamily="2" charset="2"/>
              <a:buChar char="Ø"/>
            </a:pPr>
            <a:endParaRPr lang="en-US" dirty="0"/>
          </a:p>
          <a:p>
            <a:pPr marL="82296" indent="0">
              <a:buNone/>
            </a:pPr>
            <a:r>
              <a:rPr lang="en-US" dirty="0" smtClean="0"/>
              <a:t>Example :</a:t>
            </a:r>
          </a:p>
          <a:p>
            <a:pPr marL="82296" indent="0">
              <a:buNone/>
            </a:pPr>
            <a:r>
              <a:rPr lang="en-US" dirty="0" smtClean="0"/>
              <a:t>Create Index index1 on student (</a:t>
            </a:r>
            <a:r>
              <a:rPr lang="en-US" dirty="0" err="1" smtClean="0"/>
              <a:t>Rollno</a:t>
            </a:r>
            <a:r>
              <a:rPr lang="en-US" dirty="0" smtClean="0"/>
              <a:t> ASC)</a:t>
            </a:r>
            <a:endParaRPr lang="en-US" dirty="0"/>
          </a:p>
        </p:txBody>
      </p:sp>
    </p:spTree>
    <p:extLst>
      <p:ext uri="{BB962C8B-B14F-4D97-AF65-F5344CB8AC3E}">
        <p14:creationId xmlns:p14="http://schemas.microsoft.com/office/powerpoint/2010/main" val="1730740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 Structure</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dirty="0"/>
              <a:t>The first column of the database is the search key that contains a copy of the primary key or candidate key of the table. </a:t>
            </a:r>
          </a:p>
          <a:p>
            <a:pPr algn="just">
              <a:buFont typeface="Wingdings" pitchFamily="2" charset="2"/>
              <a:buChar char="Ø"/>
            </a:pPr>
            <a:r>
              <a:rPr lang="en-US" dirty="0"/>
              <a:t>The second column of the database is the data reference. </a:t>
            </a: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26555"/>
          <a:stretch/>
        </p:blipFill>
        <p:spPr bwMode="auto">
          <a:xfrm>
            <a:off x="2209799" y="4648200"/>
            <a:ext cx="4611757" cy="1343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0349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Index</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75195" y="1371600"/>
            <a:ext cx="781915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6265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498080" cy="868362"/>
          </a:xfrm>
        </p:spPr>
        <p:txBody>
          <a:bodyPr/>
          <a:lstStyle/>
          <a:p>
            <a:r>
              <a:rPr lang="en-US" dirty="0" smtClean="0"/>
              <a:t>Ordered Indices</a:t>
            </a:r>
            <a:endParaRPr lang="en-US" dirty="0"/>
          </a:p>
        </p:txBody>
      </p:sp>
      <p:sp>
        <p:nvSpPr>
          <p:cNvPr id="3" name="Content Placeholder 2"/>
          <p:cNvSpPr>
            <a:spLocks noGrp="1"/>
          </p:cNvSpPr>
          <p:nvPr>
            <p:ph idx="1"/>
          </p:nvPr>
        </p:nvSpPr>
        <p:spPr>
          <a:xfrm>
            <a:off x="1435608" y="990600"/>
            <a:ext cx="7498080" cy="5257800"/>
          </a:xfrm>
        </p:spPr>
        <p:txBody>
          <a:bodyPr>
            <a:normAutofit fontScale="85000" lnSpcReduction="20000"/>
          </a:bodyPr>
          <a:lstStyle/>
          <a:p>
            <a:pPr algn="just">
              <a:buFont typeface="Wingdings" pitchFamily="2" charset="2"/>
              <a:buChar char="Ø"/>
            </a:pPr>
            <a:r>
              <a:rPr lang="en-US" dirty="0"/>
              <a:t>The indices are usually sorted to make searching faster. The indices which are sorted are known as ordered indices.</a:t>
            </a:r>
          </a:p>
          <a:p>
            <a:pPr algn="just">
              <a:buFont typeface="Wingdings" pitchFamily="2" charset="2"/>
              <a:buChar char="Ø"/>
            </a:pPr>
            <a:r>
              <a:rPr lang="en-US" b="1" dirty="0"/>
              <a:t>Example</a:t>
            </a:r>
            <a:r>
              <a:rPr lang="en-US" dirty="0"/>
              <a:t>: Suppose we have an employee table with thousands of record and each of which is 10 bytes long. If their IDs start with 1, 2, 3....and so on and we have to search student with ID-543.</a:t>
            </a:r>
          </a:p>
          <a:p>
            <a:pPr algn="just">
              <a:buFont typeface="Wingdings" pitchFamily="2" charset="2"/>
              <a:buChar char="Ø"/>
            </a:pPr>
            <a:r>
              <a:rPr lang="en-US" dirty="0"/>
              <a:t>In the case of a database with no index, we have to search the disk block from starting till it reaches 543. The DBMS will read the record after reading 543*10=5430 bytes.</a:t>
            </a:r>
          </a:p>
          <a:p>
            <a:pPr algn="just">
              <a:buFont typeface="Wingdings" pitchFamily="2" charset="2"/>
              <a:buChar char="Ø"/>
            </a:pPr>
            <a:r>
              <a:rPr lang="en-US" dirty="0"/>
              <a:t>In the case of an index, we will search using indexes and the DBMS will read the record after reading 542*2= 1084 bytes which are very less compared to the previous case</a:t>
            </a:r>
            <a:r>
              <a:rPr lang="en-US" dirty="0" smtClean="0"/>
              <a:t>.</a:t>
            </a:r>
            <a:endParaRPr lang="en-US" dirty="0"/>
          </a:p>
        </p:txBody>
      </p:sp>
    </p:spTree>
    <p:extLst>
      <p:ext uri="{BB962C8B-B14F-4D97-AF65-F5344CB8AC3E}">
        <p14:creationId xmlns:p14="http://schemas.microsoft.com/office/powerpoint/2010/main" val="2987098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Index</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a:t>If the index is created on the basis of the primary key of the table, then it is known as primary indexing. These primary keys are unique to each record and contain 1:1 relation between the records.</a:t>
            </a:r>
          </a:p>
          <a:p>
            <a:pPr algn="just">
              <a:buFont typeface="Wingdings" pitchFamily="2" charset="2"/>
              <a:buChar char="Ø"/>
            </a:pPr>
            <a:r>
              <a:rPr lang="en-US" dirty="0"/>
              <a:t>As primary keys are stored in sorted order, the performance of the searching operation is quite efficient.</a:t>
            </a:r>
          </a:p>
          <a:p>
            <a:pPr algn="just">
              <a:buFont typeface="Wingdings" pitchFamily="2" charset="2"/>
              <a:buChar char="Ø"/>
            </a:pPr>
            <a:r>
              <a:rPr lang="en-US" dirty="0"/>
              <a:t>The primary index can be classified into two types: Dense index and Sparse index</a:t>
            </a:r>
            <a:r>
              <a:rPr lang="en-US" dirty="0" smtClean="0"/>
              <a:t>.</a:t>
            </a:r>
            <a:endParaRPr lang="en-US" dirty="0"/>
          </a:p>
        </p:txBody>
      </p:sp>
    </p:spTree>
    <p:extLst>
      <p:ext uri="{BB962C8B-B14F-4D97-AF65-F5344CB8AC3E}">
        <p14:creationId xmlns:p14="http://schemas.microsoft.com/office/powerpoint/2010/main" val="234574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Dense Index</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2133600"/>
            <a:ext cx="7362395"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651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Sparse Index</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2514600"/>
            <a:ext cx="749056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4144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Clustering Index</a:t>
            </a:r>
            <a:endParaRPr lang="en-US"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Ø"/>
            </a:pPr>
            <a:r>
              <a:rPr lang="en-US" dirty="0"/>
              <a:t>A clustered index can be defined as an ordered data file. Sometimes the index is created on non-primary key columns which may not be unique for each record.</a:t>
            </a:r>
          </a:p>
          <a:p>
            <a:pPr algn="just">
              <a:buFont typeface="Wingdings" pitchFamily="2" charset="2"/>
              <a:buChar char="Ø"/>
            </a:pPr>
            <a:r>
              <a:rPr lang="en-US" dirty="0"/>
              <a:t>In this case, to identify the record faster, we will group two or more columns to get the unique value and create index out of them. This method is called a clustering index.</a:t>
            </a:r>
          </a:p>
          <a:p>
            <a:pPr algn="just">
              <a:buFont typeface="Wingdings" pitchFamily="2" charset="2"/>
              <a:buChar char="Ø"/>
            </a:pPr>
            <a:r>
              <a:rPr lang="en-US" dirty="0"/>
              <a:t>The records which have similar characteristics are grouped, and indexes are created for these group.</a:t>
            </a:r>
          </a:p>
          <a:p>
            <a:pPr algn="just">
              <a:buFont typeface="Wingdings" pitchFamily="2" charset="2"/>
              <a:buChar char="Ø"/>
            </a:pPr>
            <a:endParaRPr lang="en-US" dirty="0"/>
          </a:p>
        </p:txBody>
      </p:sp>
    </p:spTree>
    <p:extLst>
      <p:ext uri="{BB962C8B-B14F-4D97-AF65-F5344CB8AC3E}">
        <p14:creationId xmlns:p14="http://schemas.microsoft.com/office/powerpoint/2010/main" val="981310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Clustering Index</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75000" y="1519237"/>
            <a:ext cx="4019550" cy="465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5842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Index</a:t>
            </a: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0951" y="1685924"/>
            <a:ext cx="6375624"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3605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5"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37735724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36</TotalTime>
  <Words>553</Words>
  <Application>Microsoft Office PowerPoint</Application>
  <PresentationFormat>On-screen Show (4:3)</PresentationFormat>
  <Paragraphs>50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Gill Sans MT</vt:lpstr>
      <vt:lpstr>Verdana</vt:lpstr>
      <vt:lpstr>Wingdings</vt:lpstr>
      <vt:lpstr>Wingdings 2</vt:lpstr>
      <vt:lpstr>Solstice</vt:lpstr>
      <vt:lpstr>PowerPoint Presentation</vt:lpstr>
      <vt:lpstr>File Organization</vt:lpstr>
      <vt:lpstr>Indexing</vt:lpstr>
      <vt:lpstr>The Index Table</vt:lpstr>
      <vt:lpstr>Structure of Index Table</vt:lpstr>
      <vt:lpstr>Use of an Index</vt:lpstr>
      <vt:lpstr>Example</vt:lpstr>
      <vt:lpstr>Creating an index</vt:lpstr>
      <vt:lpstr>Index Structure</vt:lpstr>
      <vt:lpstr>Types of Index</vt:lpstr>
      <vt:lpstr>Ordered Indices</vt:lpstr>
      <vt:lpstr>Primary Index</vt:lpstr>
      <vt:lpstr>Dense Index</vt:lpstr>
      <vt:lpstr>Sparse Index</vt:lpstr>
      <vt:lpstr>Clustering Index</vt:lpstr>
      <vt:lpstr>Clustering Index</vt:lpstr>
      <vt:lpstr>Secondary Index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soni2</cp:lastModifiedBy>
  <cp:revision>8</cp:revision>
  <dcterms:created xsi:type="dcterms:W3CDTF">2006-08-16T00:00:00Z</dcterms:created>
  <dcterms:modified xsi:type="dcterms:W3CDTF">2025-10-24T06:40:41Z</dcterms:modified>
</cp:coreProperties>
</file>