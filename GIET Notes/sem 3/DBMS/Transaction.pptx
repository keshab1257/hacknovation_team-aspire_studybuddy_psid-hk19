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2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9/15/2025</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9/15/2025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57400" y="838200"/>
            <a:ext cx="5661678"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TRANSACTION</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34428459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lstStyle/>
          <a:p>
            <a:r>
              <a:rPr lang="en-US" dirty="0" smtClean="0"/>
              <a:t>What is a transaction???</a:t>
            </a:r>
            <a:endParaRPr lang="en-US" dirty="0"/>
          </a:p>
        </p:txBody>
      </p:sp>
      <p:sp>
        <p:nvSpPr>
          <p:cNvPr id="3" name="Content Placeholder 2"/>
          <p:cNvSpPr>
            <a:spLocks noGrp="1"/>
          </p:cNvSpPr>
          <p:nvPr>
            <p:ph idx="1"/>
          </p:nvPr>
        </p:nvSpPr>
        <p:spPr>
          <a:xfrm>
            <a:off x="1435608" y="990600"/>
            <a:ext cx="7498080" cy="5715000"/>
          </a:xfrm>
        </p:spPr>
        <p:txBody>
          <a:bodyPr>
            <a:noAutofit/>
          </a:bodyPr>
          <a:lstStyle/>
          <a:p>
            <a:pPr algn="just">
              <a:buFont typeface="Wingdings" pitchFamily="2" charset="2"/>
              <a:buChar char="Ø"/>
            </a:pPr>
            <a:r>
              <a:rPr lang="en-IN" sz="3000" dirty="0"/>
              <a:t>A </a:t>
            </a:r>
            <a:r>
              <a:rPr lang="en-IN" sz="3000" b="1" dirty="0"/>
              <a:t>transaction</a:t>
            </a:r>
            <a:r>
              <a:rPr lang="en-IN" sz="3000" dirty="0"/>
              <a:t> is a logical unit of work of database processing that includes one or more database access operations. </a:t>
            </a:r>
            <a:endParaRPr lang="en-IN" sz="3000" dirty="0" smtClean="0"/>
          </a:p>
          <a:p>
            <a:pPr algn="just">
              <a:buFont typeface="Wingdings" pitchFamily="2" charset="2"/>
              <a:buChar char="Ø"/>
            </a:pPr>
            <a:r>
              <a:rPr lang="en-IN" sz="3000" dirty="0" smtClean="0"/>
              <a:t>A </a:t>
            </a:r>
            <a:r>
              <a:rPr lang="en-IN" sz="3000" dirty="0"/>
              <a:t>transaction can be defined as an action or series of actions that is carried out by a single user or application program to perform operations for accessing the contents of the database. </a:t>
            </a:r>
            <a:endParaRPr lang="en-IN" sz="3000" dirty="0" smtClean="0"/>
          </a:p>
          <a:p>
            <a:pPr algn="just">
              <a:buFont typeface="Wingdings" pitchFamily="2" charset="2"/>
              <a:buChar char="Ø"/>
            </a:pPr>
            <a:r>
              <a:rPr lang="en-IN" sz="3000" dirty="0" smtClean="0"/>
              <a:t>The </a:t>
            </a:r>
            <a:r>
              <a:rPr lang="en-IN" sz="3000" dirty="0"/>
              <a:t>operations can include </a:t>
            </a:r>
            <a:r>
              <a:rPr lang="en-IN" sz="3000" dirty="0" smtClean="0"/>
              <a:t>retrieval(Read</a:t>
            </a:r>
            <a:r>
              <a:rPr lang="en-IN" sz="3000" dirty="0"/>
              <a:t>), insertion (Write), deletion and modification.  </a:t>
            </a:r>
            <a:endParaRPr lang="en-IN" sz="3000" dirty="0" smtClean="0"/>
          </a:p>
          <a:p>
            <a:pPr algn="just">
              <a:buFont typeface="Wingdings" pitchFamily="2" charset="2"/>
              <a:buChar char="Ø"/>
            </a:pPr>
            <a:r>
              <a:rPr lang="en-IN" sz="3000" dirty="0" smtClean="0"/>
              <a:t>A </a:t>
            </a:r>
            <a:r>
              <a:rPr lang="en-IN" sz="3000" dirty="0"/>
              <a:t>transaction must be either completed or aborted. </a:t>
            </a:r>
            <a:endParaRPr lang="en-US" sz="3000" dirty="0"/>
          </a:p>
          <a:p>
            <a:pPr algn="just">
              <a:buFont typeface="Wingdings" pitchFamily="2" charset="2"/>
              <a:buChar char="Ø"/>
            </a:pPr>
            <a:endParaRPr lang="en-US" sz="3000" dirty="0"/>
          </a:p>
        </p:txBody>
      </p:sp>
    </p:spTree>
    <p:extLst>
      <p:ext uri="{BB962C8B-B14F-4D97-AF65-F5344CB8AC3E}">
        <p14:creationId xmlns:p14="http://schemas.microsoft.com/office/powerpoint/2010/main" val="2816476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68362"/>
          </a:xfrm>
        </p:spPr>
        <p:txBody>
          <a:bodyPr>
            <a:noAutofit/>
          </a:bodyPr>
          <a:lstStyle/>
          <a:p>
            <a:r>
              <a:rPr lang="en-US" sz="2900" dirty="0" smtClean="0"/>
              <a:t>Different operations performed in a transaction</a:t>
            </a:r>
            <a:endParaRPr lang="en-US" sz="29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7105888"/>
              </p:ext>
            </p:extLst>
          </p:nvPr>
        </p:nvGraphicFramePr>
        <p:xfrm>
          <a:off x="1524000" y="1143000"/>
          <a:ext cx="7239000" cy="5105400"/>
        </p:xfrm>
        <a:graphic>
          <a:graphicData uri="http://schemas.openxmlformats.org/drawingml/2006/table">
            <a:tbl>
              <a:tblPr firstRow="1" firstCol="1" bandRow="1">
                <a:tableStyleId>{5C22544A-7EE6-4342-B048-85BDC9FD1C3A}</a:tableStyleId>
              </a:tblPr>
              <a:tblGrid>
                <a:gridCol w="18288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839998">
                <a:tc>
                  <a:txBody>
                    <a:bodyPr/>
                    <a:lstStyle/>
                    <a:p>
                      <a:pPr marL="0" marR="0" algn="just">
                        <a:lnSpc>
                          <a:spcPct val="107000"/>
                        </a:lnSpc>
                        <a:spcBef>
                          <a:spcPts val="0"/>
                        </a:spcBef>
                        <a:spcAft>
                          <a:spcPts val="0"/>
                        </a:spcAft>
                      </a:pPr>
                      <a:r>
                        <a:rPr lang="en-IN" sz="2400" dirty="0">
                          <a:effectLst/>
                        </a:rPr>
                        <a:t> Operations</a:t>
                      </a:r>
                      <a:endParaRPr lang="en-US" sz="2400" dirty="0">
                        <a:effectLst/>
                        <a:latin typeface="Calibri"/>
                        <a:ea typeface="Calibri"/>
                        <a:cs typeface="Times New Roman"/>
                      </a:endParaRPr>
                    </a:p>
                  </a:txBody>
                  <a:tcPr marL="9525" marR="9525" marT="9525" marB="9525" anchor="ctr"/>
                </a:tc>
                <a:tc>
                  <a:txBody>
                    <a:bodyPr/>
                    <a:lstStyle/>
                    <a:p>
                      <a:pPr marL="0" marR="0" algn="just">
                        <a:lnSpc>
                          <a:spcPct val="107000"/>
                        </a:lnSpc>
                        <a:spcBef>
                          <a:spcPts val="0"/>
                        </a:spcBef>
                        <a:spcAft>
                          <a:spcPts val="0"/>
                        </a:spcAft>
                      </a:pPr>
                      <a:r>
                        <a:rPr lang="en-IN" sz="2400">
                          <a:effectLst/>
                        </a:rPr>
                        <a:t>Descriptions</a:t>
                      </a:r>
                      <a:endParaRPr lang="en-US" sz="2400">
                        <a:effectLst/>
                        <a:latin typeface="Calibri"/>
                        <a:ea typeface="Calibri"/>
                        <a:cs typeface="Times New Roman"/>
                      </a:endParaRPr>
                    </a:p>
                  </a:txBody>
                  <a:tcPr marL="9525" marR="9525" marT="9525" marB="9525" anchor="ctr"/>
                </a:tc>
                <a:extLst>
                  <a:ext uri="{0D108BD9-81ED-4DB2-BD59-A6C34878D82A}">
                    <a16:rowId xmlns:a16="http://schemas.microsoft.com/office/drawing/2014/main" val="10000"/>
                  </a:ext>
                </a:extLst>
              </a:tr>
              <a:tr h="1461364">
                <a:tc>
                  <a:txBody>
                    <a:bodyPr/>
                    <a:lstStyle/>
                    <a:p>
                      <a:pPr marL="0" marR="0" algn="just">
                        <a:lnSpc>
                          <a:spcPct val="107000"/>
                        </a:lnSpc>
                        <a:spcBef>
                          <a:spcPts val="0"/>
                        </a:spcBef>
                        <a:spcAft>
                          <a:spcPts val="0"/>
                        </a:spcAft>
                      </a:pPr>
                      <a:r>
                        <a:rPr lang="en-US" sz="2400" dirty="0" smtClean="0">
                          <a:effectLst/>
                          <a:latin typeface="Calibri"/>
                          <a:ea typeface="Calibri"/>
                          <a:cs typeface="Times New Roman"/>
                        </a:rPr>
                        <a:t>Read(x)</a:t>
                      </a:r>
                      <a:endParaRPr lang="en-US" sz="2400" dirty="0">
                        <a:effectLst/>
                        <a:latin typeface="Calibri"/>
                        <a:ea typeface="Calibri"/>
                        <a:cs typeface="Times New Roman"/>
                      </a:endParaRPr>
                    </a:p>
                  </a:txBody>
                  <a:tcPr marL="9525" marR="9525" marT="9525" marB="9525" anchor="ctr"/>
                </a:tc>
                <a:tc>
                  <a:txBody>
                    <a:bodyPr/>
                    <a:lstStyle/>
                    <a:p>
                      <a:pPr marL="0" marR="0" algn="just">
                        <a:lnSpc>
                          <a:spcPct val="107000"/>
                        </a:lnSpc>
                        <a:spcBef>
                          <a:spcPts val="0"/>
                        </a:spcBef>
                        <a:spcAft>
                          <a:spcPts val="0"/>
                        </a:spcAft>
                      </a:pPr>
                      <a:r>
                        <a:rPr kumimoji="0" lang="en-US" sz="2400" b="0" i="0" kern="1200" dirty="0" smtClean="0">
                          <a:solidFill>
                            <a:schemeClr val="dk1"/>
                          </a:solidFill>
                          <a:effectLst/>
                          <a:latin typeface="+mn-lt"/>
                          <a:ea typeface="+mn-ea"/>
                          <a:cs typeface="+mn-cs"/>
                        </a:rPr>
                        <a:t>Read operation is used to read the value of X from the database and stores it in a buffer in main memory.</a:t>
                      </a:r>
                      <a:endParaRPr lang="en-US" sz="2400" dirty="0">
                        <a:effectLst/>
                        <a:latin typeface="Calibri"/>
                        <a:ea typeface="Calibri"/>
                        <a:cs typeface="Times New Roman"/>
                      </a:endParaRPr>
                    </a:p>
                  </a:txBody>
                  <a:tcPr marL="9525" marR="9525" marT="9525" marB="9525" anchor="ctr"/>
                </a:tc>
                <a:extLst>
                  <a:ext uri="{0D108BD9-81ED-4DB2-BD59-A6C34878D82A}">
                    <a16:rowId xmlns:a16="http://schemas.microsoft.com/office/drawing/2014/main" val="10001"/>
                  </a:ext>
                </a:extLst>
              </a:tr>
              <a:tr h="982020">
                <a:tc>
                  <a:txBody>
                    <a:bodyPr/>
                    <a:lstStyle/>
                    <a:p>
                      <a:pPr marL="0" marR="0" algn="just">
                        <a:lnSpc>
                          <a:spcPct val="107000"/>
                        </a:lnSpc>
                        <a:spcBef>
                          <a:spcPts val="0"/>
                        </a:spcBef>
                        <a:spcAft>
                          <a:spcPts val="0"/>
                        </a:spcAft>
                      </a:pPr>
                      <a:r>
                        <a:rPr kumimoji="0" lang="en-US" sz="2400" b="1" i="0" kern="1200" dirty="0" smtClean="0">
                          <a:solidFill>
                            <a:schemeClr val="lt1"/>
                          </a:solidFill>
                          <a:effectLst/>
                          <a:latin typeface="+mn-lt"/>
                          <a:ea typeface="+mn-ea"/>
                          <a:cs typeface="+mn-cs"/>
                        </a:rPr>
                        <a:t>Write(X)</a:t>
                      </a:r>
                      <a:endParaRPr lang="en-US" sz="2400" dirty="0">
                        <a:effectLst/>
                        <a:latin typeface="Calibri"/>
                        <a:ea typeface="Calibri"/>
                        <a:cs typeface="Times New Roman"/>
                      </a:endParaRPr>
                    </a:p>
                  </a:txBody>
                  <a:tcPr marL="9525" marR="9525" marT="9525" marB="9525" anchor="ctr"/>
                </a:tc>
                <a:tc>
                  <a:txBody>
                    <a:bodyPr/>
                    <a:lstStyle/>
                    <a:p>
                      <a:pPr marL="0" marR="0" algn="just">
                        <a:lnSpc>
                          <a:spcPct val="107000"/>
                        </a:lnSpc>
                        <a:spcBef>
                          <a:spcPts val="0"/>
                        </a:spcBef>
                        <a:spcAft>
                          <a:spcPts val="0"/>
                        </a:spcAft>
                      </a:pPr>
                      <a:r>
                        <a:rPr kumimoji="0" lang="en-US" sz="2400" b="0" i="0" kern="1200" dirty="0" smtClean="0">
                          <a:solidFill>
                            <a:schemeClr val="dk1"/>
                          </a:solidFill>
                          <a:effectLst/>
                          <a:latin typeface="+mn-lt"/>
                          <a:ea typeface="+mn-ea"/>
                          <a:cs typeface="+mn-cs"/>
                        </a:rPr>
                        <a:t>Write operation is used to write the value back to the database from the buffer.</a:t>
                      </a:r>
                      <a:endParaRPr lang="en-US" sz="2400" dirty="0">
                        <a:effectLst/>
                        <a:latin typeface="Calibri"/>
                        <a:ea typeface="Calibri"/>
                        <a:cs typeface="Times New Roman"/>
                      </a:endParaRPr>
                    </a:p>
                  </a:txBody>
                  <a:tcPr marL="9525" marR="9525" marT="9525" marB="9525" anchor="ctr"/>
                </a:tc>
                <a:extLst>
                  <a:ext uri="{0D108BD9-81ED-4DB2-BD59-A6C34878D82A}">
                    <a16:rowId xmlns:a16="http://schemas.microsoft.com/office/drawing/2014/main" val="10002"/>
                  </a:ext>
                </a:extLst>
              </a:tr>
              <a:tr h="982020">
                <a:tc>
                  <a:txBody>
                    <a:bodyPr/>
                    <a:lstStyle/>
                    <a:p>
                      <a:pPr marL="0" marR="0" algn="just">
                        <a:lnSpc>
                          <a:spcPct val="107000"/>
                        </a:lnSpc>
                        <a:spcBef>
                          <a:spcPts val="0"/>
                        </a:spcBef>
                        <a:spcAft>
                          <a:spcPts val="0"/>
                        </a:spcAft>
                      </a:pPr>
                      <a:r>
                        <a:rPr kumimoji="0" lang="en-US" sz="2400" b="1" i="0" kern="1200" dirty="0" smtClean="0">
                          <a:solidFill>
                            <a:schemeClr val="lt1"/>
                          </a:solidFill>
                          <a:effectLst/>
                          <a:latin typeface="+mn-lt"/>
                          <a:ea typeface="+mn-ea"/>
                          <a:cs typeface="+mn-cs"/>
                        </a:rPr>
                        <a:t>Commit</a:t>
                      </a:r>
                      <a:endParaRPr lang="en-US" sz="2400" dirty="0">
                        <a:effectLst/>
                        <a:latin typeface="Calibri"/>
                        <a:ea typeface="Calibri"/>
                        <a:cs typeface="Times New Roman"/>
                      </a:endParaRPr>
                    </a:p>
                  </a:txBody>
                  <a:tcPr marL="9525" marR="9525" marT="9525" marB="9525" anchor="ctr"/>
                </a:tc>
                <a:tc>
                  <a:txBody>
                    <a:bodyPr/>
                    <a:lstStyle/>
                    <a:p>
                      <a:pPr marL="0" marR="0" algn="just">
                        <a:lnSpc>
                          <a:spcPct val="107000"/>
                        </a:lnSpc>
                        <a:spcBef>
                          <a:spcPts val="0"/>
                        </a:spcBef>
                        <a:spcAft>
                          <a:spcPts val="0"/>
                        </a:spcAft>
                      </a:pPr>
                      <a:r>
                        <a:rPr kumimoji="0" lang="en-US" sz="2400" b="0" i="0" kern="1200" dirty="0" smtClean="0">
                          <a:solidFill>
                            <a:schemeClr val="dk1"/>
                          </a:solidFill>
                          <a:effectLst/>
                          <a:latin typeface="+mn-lt"/>
                          <a:ea typeface="+mn-ea"/>
                          <a:cs typeface="+mn-cs"/>
                        </a:rPr>
                        <a:t>It is used to save the work done permanently.</a:t>
                      </a:r>
                      <a:endParaRPr lang="en-US" sz="2400" dirty="0">
                        <a:effectLst/>
                        <a:latin typeface="Calibri"/>
                        <a:ea typeface="Calibri"/>
                        <a:cs typeface="Times New Roman"/>
                      </a:endParaRPr>
                    </a:p>
                  </a:txBody>
                  <a:tcPr marL="9525" marR="9525" marT="9525" marB="9525" anchor="ctr"/>
                </a:tc>
                <a:extLst>
                  <a:ext uri="{0D108BD9-81ED-4DB2-BD59-A6C34878D82A}">
                    <a16:rowId xmlns:a16="http://schemas.microsoft.com/office/drawing/2014/main" val="10003"/>
                  </a:ext>
                </a:extLst>
              </a:tr>
              <a:tr h="839998">
                <a:tc>
                  <a:txBody>
                    <a:bodyPr/>
                    <a:lstStyle/>
                    <a:p>
                      <a:pPr marL="0" marR="0" algn="just">
                        <a:lnSpc>
                          <a:spcPct val="107000"/>
                        </a:lnSpc>
                        <a:spcBef>
                          <a:spcPts val="0"/>
                        </a:spcBef>
                        <a:spcAft>
                          <a:spcPts val="0"/>
                        </a:spcAft>
                      </a:pPr>
                      <a:r>
                        <a:rPr kumimoji="0" lang="en-US" sz="2400" b="1" i="0" kern="1200" dirty="0" smtClean="0">
                          <a:solidFill>
                            <a:schemeClr val="lt1"/>
                          </a:solidFill>
                          <a:effectLst/>
                          <a:latin typeface="+mn-lt"/>
                          <a:ea typeface="+mn-ea"/>
                          <a:cs typeface="+mn-cs"/>
                        </a:rPr>
                        <a:t>Rollback</a:t>
                      </a:r>
                      <a:endParaRPr lang="en-US" sz="2400" dirty="0">
                        <a:effectLst/>
                        <a:latin typeface="Calibri"/>
                        <a:ea typeface="Calibri"/>
                        <a:cs typeface="Times New Roman"/>
                      </a:endParaRPr>
                    </a:p>
                  </a:txBody>
                  <a:tcPr marL="9525" marR="9525" marT="9525" marB="9525" anchor="ctr"/>
                </a:tc>
                <a:tc>
                  <a:txBody>
                    <a:bodyPr/>
                    <a:lstStyle/>
                    <a:p>
                      <a:pPr marL="0" marR="0" algn="just">
                        <a:lnSpc>
                          <a:spcPct val="107000"/>
                        </a:lnSpc>
                        <a:spcBef>
                          <a:spcPts val="0"/>
                        </a:spcBef>
                        <a:spcAft>
                          <a:spcPts val="0"/>
                        </a:spcAft>
                      </a:pPr>
                      <a:r>
                        <a:rPr kumimoji="0" lang="en-US" sz="2400" b="0" i="0" kern="1200" dirty="0" smtClean="0">
                          <a:solidFill>
                            <a:schemeClr val="dk1"/>
                          </a:solidFill>
                          <a:effectLst/>
                          <a:latin typeface="+mn-lt"/>
                          <a:ea typeface="+mn-ea"/>
                          <a:cs typeface="+mn-cs"/>
                        </a:rPr>
                        <a:t>It is used to undo the work done.</a:t>
                      </a:r>
                      <a:endParaRPr lang="en-US" sz="2400" dirty="0">
                        <a:effectLst/>
                        <a:latin typeface="Calibri"/>
                        <a:ea typeface="Calibri"/>
                        <a:cs typeface="Times New Roman"/>
                      </a:endParaRPr>
                    </a:p>
                  </a:txBody>
                  <a:tcPr marL="9525" marR="9525" marT="9525" marB="9525"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851119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a transaction</a:t>
            </a:r>
            <a:endParaRPr lang="en-US"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732" t="19776" r="25938" b="21923"/>
          <a:stretch/>
        </p:blipFill>
        <p:spPr bwMode="auto">
          <a:xfrm>
            <a:off x="1219200" y="1453696"/>
            <a:ext cx="7924800" cy="5175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9401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 of Transaction</a:t>
            </a:r>
            <a:endParaRPr lang="en-US" dirty="0"/>
          </a:p>
        </p:txBody>
      </p:sp>
      <p:sp>
        <p:nvSpPr>
          <p:cNvPr id="3" name="Content Placeholder 2"/>
          <p:cNvSpPr>
            <a:spLocks noGrp="1"/>
          </p:cNvSpPr>
          <p:nvPr>
            <p:ph idx="1"/>
          </p:nvPr>
        </p:nvSpPr>
        <p:spPr/>
        <p:txBody>
          <a:bodyPr>
            <a:normAutofit/>
          </a:bodyPr>
          <a:lstStyle/>
          <a:p>
            <a:pPr marL="82296" indent="0" algn="just">
              <a:buNone/>
            </a:pPr>
            <a:r>
              <a:rPr lang="en-US" sz="4000" dirty="0" smtClean="0"/>
              <a:t>A transaction is having four properties. Such as-</a:t>
            </a:r>
          </a:p>
          <a:p>
            <a:pPr marL="653796" indent="-571500" algn="just">
              <a:buAutoNum type="romanLcParenR"/>
            </a:pPr>
            <a:r>
              <a:rPr lang="en-US" sz="4000" dirty="0" smtClean="0"/>
              <a:t>Atomicity</a:t>
            </a:r>
          </a:p>
          <a:p>
            <a:pPr marL="653796" indent="-571500" algn="just">
              <a:buAutoNum type="romanLcParenR"/>
            </a:pPr>
            <a:r>
              <a:rPr lang="en-US" sz="4000" dirty="0" smtClean="0"/>
              <a:t>Consistency</a:t>
            </a:r>
          </a:p>
          <a:p>
            <a:pPr marL="653796" indent="-571500" algn="just">
              <a:buAutoNum type="romanLcParenR"/>
            </a:pPr>
            <a:r>
              <a:rPr lang="en-US" sz="4000" dirty="0" smtClean="0"/>
              <a:t>Isolation</a:t>
            </a:r>
          </a:p>
          <a:p>
            <a:pPr marL="653796" indent="-571500" algn="just">
              <a:buAutoNum type="romanLcParenR"/>
            </a:pPr>
            <a:r>
              <a:rPr lang="en-US" sz="4000" dirty="0" smtClean="0"/>
              <a:t>Durability</a:t>
            </a:r>
            <a:endParaRPr lang="en-US" sz="4000" dirty="0"/>
          </a:p>
        </p:txBody>
      </p:sp>
    </p:spTree>
    <p:extLst>
      <p:ext uri="{BB962C8B-B14F-4D97-AF65-F5344CB8AC3E}">
        <p14:creationId xmlns:p14="http://schemas.microsoft.com/office/powerpoint/2010/main" val="10778369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Atomicity</a:t>
            </a:r>
            <a:endParaRPr lang="en-US" dirty="0"/>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t>Atomicity means all successful or none.</a:t>
            </a:r>
          </a:p>
          <a:p>
            <a:pPr algn="just">
              <a:buFont typeface="Wingdings" pitchFamily="2" charset="2"/>
              <a:buChar char="Ø"/>
            </a:pPr>
            <a:r>
              <a:rPr lang="en-US" dirty="0"/>
              <a:t>It states that all operations of the transaction take place at once if not, the transaction is aborted.</a:t>
            </a:r>
          </a:p>
          <a:p>
            <a:pPr algn="just">
              <a:buFont typeface="Wingdings" pitchFamily="2" charset="2"/>
              <a:buChar char="Ø"/>
            </a:pPr>
            <a:r>
              <a:rPr lang="en-US" dirty="0"/>
              <a:t>There is no midway, i.e., the transaction cannot occur partially. Each transaction is treated as one unit and either run to completion or is not executed at all.</a:t>
            </a:r>
          </a:p>
          <a:p>
            <a:pPr marL="82296" indent="0">
              <a:buNone/>
            </a:pPr>
            <a:endParaRPr lang="en-US" dirty="0"/>
          </a:p>
        </p:txBody>
      </p:sp>
    </p:spTree>
    <p:extLst>
      <p:ext uri="{BB962C8B-B14F-4D97-AF65-F5344CB8AC3E}">
        <p14:creationId xmlns:p14="http://schemas.microsoft.com/office/powerpoint/2010/main" val="32119697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68362"/>
          </a:xfrm>
        </p:spPr>
        <p:txBody>
          <a:bodyPr/>
          <a:lstStyle/>
          <a:p>
            <a:r>
              <a:rPr lang="en-US" dirty="0" smtClean="0"/>
              <a:t>Atomicity</a:t>
            </a:r>
            <a:endParaRPr lang="en-US" dirty="0"/>
          </a:p>
        </p:txBody>
      </p:sp>
      <p:sp>
        <p:nvSpPr>
          <p:cNvPr id="3" name="Content Placeholder 2"/>
          <p:cNvSpPr>
            <a:spLocks noGrp="1"/>
          </p:cNvSpPr>
          <p:nvPr>
            <p:ph idx="1"/>
          </p:nvPr>
        </p:nvSpPr>
        <p:spPr>
          <a:xfrm>
            <a:off x="1435608" y="1143000"/>
            <a:ext cx="7498080" cy="5105400"/>
          </a:xfrm>
        </p:spPr>
        <p:txBody>
          <a:bodyPr>
            <a:normAutofit/>
          </a:bodyPr>
          <a:lstStyle/>
          <a:p>
            <a:pPr marL="82296" indent="0">
              <a:buNone/>
            </a:pPr>
            <a:r>
              <a:rPr lang="en-US" dirty="0" smtClean="0"/>
              <a:t>Atomicity involves the following two operations.</a:t>
            </a:r>
          </a:p>
          <a:p>
            <a:pPr algn="just">
              <a:buFont typeface="Wingdings" pitchFamily="2" charset="2"/>
              <a:buChar char="Ø"/>
            </a:pPr>
            <a:r>
              <a:rPr lang="en-US" b="1" dirty="0"/>
              <a:t>Abort:</a:t>
            </a:r>
            <a:r>
              <a:rPr lang="en-US" dirty="0"/>
              <a:t> If a transaction aborts then all the changes made are not visible.</a:t>
            </a:r>
          </a:p>
          <a:p>
            <a:pPr algn="just">
              <a:buFont typeface="Wingdings" pitchFamily="2" charset="2"/>
              <a:buChar char="Ø"/>
            </a:pPr>
            <a:r>
              <a:rPr lang="en-US" b="1" dirty="0"/>
              <a:t>Commit:</a:t>
            </a:r>
            <a:r>
              <a:rPr lang="en-US" dirty="0"/>
              <a:t> If a transaction commits then all the changes made are visible.</a:t>
            </a:r>
          </a:p>
          <a:p>
            <a:pPr marL="82296" indent="0">
              <a:buNone/>
            </a:pPr>
            <a:r>
              <a:rPr lang="en-US" dirty="0"/>
              <a:t/>
            </a:r>
            <a:br>
              <a:rPr lang="en-US" dirty="0"/>
            </a:br>
            <a:endParaRPr lang="en-US" dirty="0"/>
          </a:p>
        </p:txBody>
      </p:sp>
    </p:spTree>
    <p:extLst>
      <p:ext uri="{BB962C8B-B14F-4D97-AF65-F5344CB8AC3E}">
        <p14:creationId xmlns:p14="http://schemas.microsoft.com/office/powerpoint/2010/main" val="2003530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Atomicity</a:t>
            </a:r>
            <a:endParaRPr lang="en-US" dirty="0"/>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515" t="37873" r="25938" b="23077"/>
          <a:stretch/>
        </p:blipFill>
        <p:spPr bwMode="auto">
          <a:xfrm>
            <a:off x="1117539" y="1342205"/>
            <a:ext cx="7797861" cy="4982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41033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68362"/>
          </a:xfrm>
        </p:spPr>
        <p:txBody>
          <a:bodyPr/>
          <a:lstStyle/>
          <a:p>
            <a:r>
              <a:rPr lang="en-US" dirty="0" smtClean="0"/>
              <a:t>Consistency</a:t>
            </a:r>
            <a:endParaRPr lang="en-US" dirty="0"/>
          </a:p>
        </p:txBody>
      </p:sp>
      <p:sp>
        <p:nvSpPr>
          <p:cNvPr id="3" name="Content Placeholder 2"/>
          <p:cNvSpPr>
            <a:spLocks noGrp="1"/>
          </p:cNvSpPr>
          <p:nvPr>
            <p:ph idx="1"/>
          </p:nvPr>
        </p:nvSpPr>
        <p:spPr>
          <a:xfrm>
            <a:off x="1143000" y="1143000"/>
            <a:ext cx="7790688" cy="5562600"/>
          </a:xfrm>
        </p:spPr>
        <p:txBody>
          <a:bodyPr>
            <a:normAutofit fontScale="92500" lnSpcReduction="10000"/>
          </a:bodyPr>
          <a:lstStyle/>
          <a:p>
            <a:pPr algn="just">
              <a:buFont typeface="Wingdings" pitchFamily="2" charset="2"/>
              <a:buChar char="Ø"/>
            </a:pPr>
            <a:r>
              <a:rPr lang="en-US" dirty="0"/>
              <a:t>The integrity constraints are maintained so that the database is consistent before and after the transaction.</a:t>
            </a:r>
          </a:p>
          <a:p>
            <a:pPr algn="just">
              <a:buFont typeface="Wingdings" pitchFamily="2" charset="2"/>
              <a:buChar char="Ø"/>
            </a:pPr>
            <a:r>
              <a:rPr lang="en-US" dirty="0"/>
              <a:t>The execution of a transaction will leave a database in either its prior stable state or a new stable state.</a:t>
            </a:r>
          </a:p>
          <a:p>
            <a:pPr algn="just">
              <a:buFont typeface="Wingdings" pitchFamily="2" charset="2"/>
              <a:buChar char="Ø"/>
            </a:pPr>
            <a:r>
              <a:rPr lang="en-US" dirty="0"/>
              <a:t>The consistent property of database states that every transaction sees a consistent database instance.</a:t>
            </a:r>
          </a:p>
          <a:p>
            <a:pPr algn="just">
              <a:buFont typeface="Wingdings" pitchFamily="2" charset="2"/>
              <a:buChar char="Ø"/>
            </a:pPr>
            <a:r>
              <a:rPr lang="en-US" dirty="0"/>
              <a:t>The transaction is used to transform the database from one consistent state to another consistent state.</a:t>
            </a:r>
          </a:p>
          <a:p>
            <a:pPr algn="just">
              <a:buFont typeface="Wingdings" pitchFamily="2" charset="2"/>
              <a:buChar char="Ø"/>
            </a:pPr>
            <a:endParaRPr lang="en-US" dirty="0"/>
          </a:p>
        </p:txBody>
      </p:sp>
    </p:spTree>
    <p:extLst>
      <p:ext uri="{BB962C8B-B14F-4D97-AF65-F5344CB8AC3E}">
        <p14:creationId xmlns:p14="http://schemas.microsoft.com/office/powerpoint/2010/main" val="15493143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Consistency</a:t>
            </a:r>
            <a:endParaRPr lang="en-US" dirty="0"/>
          </a:p>
        </p:txBody>
      </p:sp>
      <p:sp>
        <p:nvSpPr>
          <p:cNvPr id="3" name="Content Placeholder 2"/>
          <p:cNvSpPr>
            <a:spLocks noGrp="1"/>
          </p:cNvSpPr>
          <p:nvPr>
            <p:ph idx="1"/>
          </p:nvPr>
        </p:nvSpPr>
        <p:spPr/>
        <p:txBody>
          <a:bodyPr/>
          <a:lstStyle/>
          <a:p>
            <a:pPr marL="82296" indent="0" algn="just">
              <a:buNone/>
            </a:pPr>
            <a:r>
              <a:rPr lang="en-US" dirty="0" smtClean="0"/>
              <a:t>In </a:t>
            </a:r>
            <a:r>
              <a:rPr lang="en-US" smtClean="0"/>
              <a:t>the </a:t>
            </a:r>
            <a:r>
              <a:rPr lang="en-US" smtClean="0"/>
              <a:t>previous </a:t>
            </a:r>
            <a:r>
              <a:rPr lang="en-US" dirty="0" smtClean="0"/>
              <a:t>example, the total balance of A and B should be same before and after T occurs.</a:t>
            </a:r>
          </a:p>
          <a:p>
            <a:pPr marL="82296" indent="0" algn="just">
              <a:buNone/>
            </a:pPr>
            <a:r>
              <a:rPr lang="en-US" dirty="0"/>
              <a:t>Total before T occurs = 600+300=900  </a:t>
            </a:r>
          </a:p>
          <a:p>
            <a:pPr marL="82296" indent="0" algn="just">
              <a:buNone/>
            </a:pPr>
            <a:r>
              <a:rPr lang="en-US" dirty="0"/>
              <a:t>Total after T occurs= 500+400=900  </a:t>
            </a:r>
          </a:p>
          <a:p>
            <a:pPr marL="82296" indent="0" algn="just">
              <a:buNone/>
            </a:pPr>
            <a:r>
              <a:rPr lang="en-US" dirty="0"/>
              <a:t>Therefore, the database is consistent. In the case when T1 is completed but T2 fails, then inconsistency will occur.</a:t>
            </a:r>
          </a:p>
        </p:txBody>
      </p:sp>
    </p:spTree>
    <p:extLst>
      <p:ext uri="{BB962C8B-B14F-4D97-AF65-F5344CB8AC3E}">
        <p14:creationId xmlns:p14="http://schemas.microsoft.com/office/powerpoint/2010/main" val="8725101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fontScale="90000"/>
          </a:bodyPr>
          <a:lstStyle/>
          <a:p>
            <a:r>
              <a:rPr lang="en-US" dirty="0" smtClean="0"/>
              <a:t>Isolation</a:t>
            </a:r>
            <a:endParaRPr lang="en-US" dirty="0"/>
          </a:p>
        </p:txBody>
      </p:sp>
      <p:sp>
        <p:nvSpPr>
          <p:cNvPr id="3" name="Content Placeholder 2"/>
          <p:cNvSpPr>
            <a:spLocks noGrp="1"/>
          </p:cNvSpPr>
          <p:nvPr>
            <p:ph idx="1"/>
          </p:nvPr>
        </p:nvSpPr>
        <p:spPr>
          <a:xfrm>
            <a:off x="1435608" y="914400"/>
            <a:ext cx="7498080" cy="5791200"/>
          </a:xfrm>
        </p:spPr>
        <p:txBody>
          <a:bodyPr>
            <a:normAutofit lnSpcReduction="10000"/>
          </a:bodyPr>
          <a:lstStyle/>
          <a:p>
            <a:pPr algn="just">
              <a:buFont typeface="Wingdings" pitchFamily="2" charset="2"/>
              <a:buChar char="Ø"/>
            </a:pPr>
            <a:r>
              <a:rPr lang="en-US" dirty="0"/>
              <a:t>It shows that the data which is used at the time of execution of a transaction cannot be used by the second transaction until the first one is completed.</a:t>
            </a:r>
          </a:p>
          <a:p>
            <a:pPr algn="just">
              <a:buFont typeface="Wingdings" pitchFamily="2" charset="2"/>
              <a:buChar char="Ø"/>
            </a:pPr>
            <a:r>
              <a:rPr lang="en-US" dirty="0"/>
              <a:t>In isolation, if the transaction T1 is being executed and using the data item X, then that data item can't be accessed by any other transaction T2 until the transaction T1 ends.</a:t>
            </a:r>
          </a:p>
          <a:p>
            <a:pPr algn="just">
              <a:buFont typeface="Wingdings" pitchFamily="2" charset="2"/>
              <a:buChar char="Ø"/>
            </a:pPr>
            <a:r>
              <a:rPr lang="en-US" dirty="0"/>
              <a:t>The concurrency control subsystem of the DBMS enforced the isolation property.</a:t>
            </a:r>
          </a:p>
          <a:p>
            <a:pPr algn="just">
              <a:buFont typeface="Wingdings" pitchFamily="2" charset="2"/>
              <a:buChar char="Ø"/>
            </a:pPr>
            <a:endParaRPr lang="en-US" dirty="0"/>
          </a:p>
        </p:txBody>
      </p:sp>
    </p:spTree>
    <p:extLst>
      <p:ext uri="{BB962C8B-B14F-4D97-AF65-F5344CB8AC3E}">
        <p14:creationId xmlns:p14="http://schemas.microsoft.com/office/powerpoint/2010/main" val="18200765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15962"/>
          </a:xfrm>
        </p:spPr>
        <p:txBody>
          <a:bodyPr>
            <a:normAutofit fontScale="90000"/>
          </a:bodyPr>
          <a:lstStyle/>
          <a:p>
            <a:r>
              <a:rPr lang="en-US" dirty="0" smtClean="0"/>
              <a:t>Isolation</a:t>
            </a:r>
            <a:endParaRPr lang="en-US" dirty="0"/>
          </a:p>
        </p:txBody>
      </p:sp>
      <p:sp>
        <p:nvSpPr>
          <p:cNvPr id="3" name="Content Placeholder 2"/>
          <p:cNvSpPr>
            <a:spLocks noGrp="1"/>
          </p:cNvSpPr>
          <p:nvPr>
            <p:ph idx="1"/>
          </p:nvPr>
        </p:nvSpPr>
        <p:spPr>
          <a:xfrm>
            <a:off x="1435608" y="990600"/>
            <a:ext cx="7498080" cy="5715000"/>
          </a:xfrm>
        </p:spPr>
        <p:txBody>
          <a:bodyPr>
            <a:noAutofit/>
          </a:bodyPr>
          <a:lstStyle/>
          <a:p>
            <a:pPr algn="just">
              <a:buFont typeface="Wingdings" pitchFamily="2" charset="2"/>
              <a:buChar char="Ø"/>
            </a:pPr>
            <a:r>
              <a:rPr lang="en-US" sz="3600" dirty="0"/>
              <a:t>Although multiple transactions may execute concurrently, each transaction must be unaware of other concurrently executing transactions; intermediate transaction results must be hidden from other concurrently executed </a:t>
            </a:r>
            <a:r>
              <a:rPr lang="en-US" sz="3600" dirty="0" smtClean="0"/>
              <a:t>transactions.</a:t>
            </a:r>
          </a:p>
          <a:p>
            <a:pPr lvl="0" algn="just">
              <a:buFont typeface="Wingdings" pitchFamily="2" charset="2"/>
              <a:buChar char="Ø"/>
            </a:pPr>
            <a:r>
              <a:rPr lang="en-IN" sz="3600" dirty="0"/>
              <a:t>No transaction will affect the existence of any other transaction.</a:t>
            </a:r>
            <a:endParaRPr lang="en-US" sz="3600" dirty="0"/>
          </a:p>
          <a:p>
            <a:pPr algn="just">
              <a:buFont typeface="Wingdings" pitchFamily="2" charset="2"/>
              <a:buChar char="Ø"/>
            </a:pPr>
            <a:endParaRPr lang="en-US" sz="3600" dirty="0"/>
          </a:p>
        </p:txBody>
      </p:sp>
    </p:spTree>
    <p:extLst>
      <p:ext uri="{BB962C8B-B14F-4D97-AF65-F5344CB8AC3E}">
        <p14:creationId xmlns:p14="http://schemas.microsoft.com/office/powerpoint/2010/main" val="12127408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lstStyle/>
          <a:p>
            <a:r>
              <a:rPr lang="en-US" dirty="0" smtClean="0"/>
              <a:t>Durability</a:t>
            </a:r>
            <a:endParaRPr lang="en-US" dirty="0"/>
          </a:p>
        </p:txBody>
      </p:sp>
      <p:sp>
        <p:nvSpPr>
          <p:cNvPr id="3" name="Content Placeholder 2"/>
          <p:cNvSpPr>
            <a:spLocks noGrp="1"/>
          </p:cNvSpPr>
          <p:nvPr>
            <p:ph idx="1"/>
          </p:nvPr>
        </p:nvSpPr>
        <p:spPr>
          <a:xfrm>
            <a:off x="1435608" y="1143000"/>
            <a:ext cx="7498080" cy="5638800"/>
          </a:xfrm>
        </p:spPr>
        <p:txBody>
          <a:bodyPr>
            <a:noAutofit/>
          </a:bodyPr>
          <a:lstStyle/>
          <a:p>
            <a:pPr lvl="0" algn="just">
              <a:buFont typeface="Wingdings" pitchFamily="2" charset="2"/>
              <a:buChar char="Ø"/>
            </a:pPr>
            <a:r>
              <a:rPr lang="en-IN" dirty="0"/>
              <a:t>The database should be durable enough to hold all its latest updates even if the system fails or restarts. </a:t>
            </a:r>
            <a:endParaRPr lang="en-IN" dirty="0" smtClean="0"/>
          </a:p>
          <a:p>
            <a:pPr lvl="0" algn="just">
              <a:buFont typeface="Wingdings" pitchFamily="2" charset="2"/>
              <a:buChar char="Ø"/>
            </a:pPr>
            <a:r>
              <a:rPr lang="en-IN" dirty="0" smtClean="0"/>
              <a:t>If </a:t>
            </a:r>
            <a:r>
              <a:rPr lang="en-IN" dirty="0"/>
              <a:t>a transaction updates a chunk of data in a database and commits, then the database will hold the modified data. </a:t>
            </a:r>
            <a:endParaRPr lang="en-IN" dirty="0" smtClean="0"/>
          </a:p>
          <a:p>
            <a:pPr lvl="0" algn="just">
              <a:buFont typeface="Wingdings" pitchFamily="2" charset="2"/>
              <a:buChar char="Ø"/>
            </a:pPr>
            <a:r>
              <a:rPr lang="en-IN" dirty="0" smtClean="0"/>
              <a:t>If </a:t>
            </a:r>
            <a:r>
              <a:rPr lang="en-IN" dirty="0"/>
              <a:t>a transaction commits but the system fails before the data could be written on to the disk, then that data will be updated once the system springs back into action.</a:t>
            </a:r>
            <a:endParaRPr lang="en-US" dirty="0"/>
          </a:p>
          <a:p>
            <a:pPr algn="just">
              <a:buFont typeface="Wingdings" pitchFamily="2" charset="2"/>
              <a:buChar char="Ø"/>
            </a:pPr>
            <a:endParaRPr lang="en-US" dirty="0"/>
          </a:p>
        </p:txBody>
      </p:sp>
    </p:spTree>
    <p:extLst>
      <p:ext uri="{BB962C8B-B14F-4D97-AF65-F5344CB8AC3E}">
        <p14:creationId xmlns:p14="http://schemas.microsoft.com/office/powerpoint/2010/main" val="28095450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States of Transaction</a:t>
            </a:r>
            <a:endParaRPr lang="en-US"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7293" y="1828800"/>
            <a:ext cx="7844116"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69174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944562"/>
          </a:xfrm>
        </p:spPr>
        <p:txBody>
          <a:bodyPr/>
          <a:lstStyle/>
          <a:p>
            <a:r>
              <a:rPr lang="en-US" dirty="0" smtClean="0"/>
              <a:t>States of Transaction</a:t>
            </a:r>
            <a:endParaRPr lang="en-US" dirty="0"/>
          </a:p>
        </p:txBody>
      </p:sp>
      <p:sp>
        <p:nvSpPr>
          <p:cNvPr id="3" name="Content Placeholder 2"/>
          <p:cNvSpPr>
            <a:spLocks noGrp="1"/>
          </p:cNvSpPr>
          <p:nvPr>
            <p:ph idx="1"/>
          </p:nvPr>
        </p:nvSpPr>
        <p:spPr>
          <a:xfrm>
            <a:off x="1435608" y="1219200"/>
            <a:ext cx="7498080" cy="5257800"/>
          </a:xfrm>
        </p:spPr>
        <p:txBody>
          <a:bodyPr>
            <a:normAutofit fontScale="92500" lnSpcReduction="20000"/>
          </a:bodyPr>
          <a:lstStyle/>
          <a:p>
            <a:pPr algn="just">
              <a:buFont typeface="Wingdings" pitchFamily="2" charset="2"/>
              <a:buChar char="Ø"/>
            </a:pPr>
            <a:r>
              <a:rPr lang="en-US" sz="3500" b="1" dirty="0"/>
              <a:t>Active </a:t>
            </a:r>
            <a:r>
              <a:rPr lang="en-US" sz="3500" b="1" dirty="0" smtClean="0"/>
              <a:t>State:</a:t>
            </a:r>
            <a:r>
              <a:rPr lang="en-IN" sz="3500" dirty="0" smtClean="0"/>
              <a:t>In </a:t>
            </a:r>
            <a:r>
              <a:rPr lang="en-IN" sz="3500" dirty="0"/>
              <a:t>this state, the transaction is being executed. This is the initial state of every transaction.</a:t>
            </a:r>
            <a:endParaRPr lang="en-US" sz="3500" dirty="0"/>
          </a:p>
          <a:p>
            <a:pPr lvl="0" algn="just">
              <a:buFont typeface="Wingdings" pitchFamily="2" charset="2"/>
              <a:buChar char="Ø"/>
            </a:pPr>
            <a:r>
              <a:rPr lang="en-IN" sz="3500" b="1" dirty="0"/>
              <a:t>Partially Committed</a:t>
            </a:r>
            <a:r>
              <a:rPr lang="en-IN" sz="3500" dirty="0"/>
              <a:t> − When a transaction executes its final operation, </a:t>
            </a:r>
            <a:r>
              <a:rPr lang="en-IN" sz="3500" dirty="0" smtClean="0"/>
              <a:t>but the data is not saved in disk, it </a:t>
            </a:r>
            <a:r>
              <a:rPr lang="en-IN" sz="3500" dirty="0"/>
              <a:t>is said to be in a partially committed state.</a:t>
            </a:r>
            <a:endParaRPr lang="en-US" sz="3500" dirty="0"/>
          </a:p>
          <a:p>
            <a:pPr lvl="0" algn="just">
              <a:buFont typeface="Wingdings" pitchFamily="2" charset="2"/>
              <a:buChar char="Ø"/>
            </a:pPr>
            <a:r>
              <a:rPr lang="en-IN" sz="3500" b="1" dirty="0"/>
              <a:t>Failed</a:t>
            </a:r>
            <a:r>
              <a:rPr lang="en-IN" sz="3500" dirty="0"/>
              <a:t> − A transaction is said to be in a failed state if any of the checks made by the database recovery system fails. A failed transaction can no longer proceed further.</a:t>
            </a:r>
            <a:endParaRPr lang="en-US" sz="3500" dirty="0"/>
          </a:p>
          <a:p>
            <a:pPr marL="82296" indent="0">
              <a:buNone/>
            </a:pPr>
            <a:endParaRPr lang="en-US" dirty="0"/>
          </a:p>
        </p:txBody>
      </p:sp>
    </p:spTree>
    <p:extLst>
      <p:ext uri="{BB962C8B-B14F-4D97-AF65-F5344CB8AC3E}">
        <p14:creationId xmlns:p14="http://schemas.microsoft.com/office/powerpoint/2010/main" val="30175348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944562"/>
          </a:xfrm>
        </p:spPr>
        <p:txBody>
          <a:bodyPr/>
          <a:lstStyle/>
          <a:p>
            <a:r>
              <a:rPr lang="en-US" dirty="0"/>
              <a:t>States of Transaction</a:t>
            </a:r>
          </a:p>
        </p:txBody>
      </p:sp>
      <p:sp>
        <p:nvSpPr>
          <p:cNvPr id="3" name="Content Placeholder 2"/>
          <p:cNvSpPr>
            <a:spLocks noGrp="1"/>
          </p:cNvSpPr>
          <p:nvPr>
            <p:ph idx="1"/>
          </p:nvPr>
        </p:nvSpPr>
        <p:spPr>
          <a:xfrm>
            <a:off x="1435608" y="1143000"/>
            <a:ext cx="7498080" cy="5486400"/>
          </a:xfrm>
        </p:spPr>
        <p:txBody>
          <a:bodyPr>
            <a:normAutofit fontScale="70000" lnSpcReduction="20000"/>
          </a:bodyPr>
          <a:lstStyle/>
          <a:p>
            <a:pPr lvl="0" algn="just"/>
            <a:r>
              <a:rPr lang="en-IN" sz="4000" b="1" dirty="0"/>
              <a:t>Aborted</a:t>
            </a:r>
            <a:r>
              <a:rPr lang="en-IN" sz="4000" dirty="0"/>
              <a:t> − If any of the checks fails and the transaction has reached a failed state, then the recovery manager rolls back all its write operations on the database to bring the database back to its original state where it was prior to the execution of the transaction. Transactions in this state are called aborted. The database recovery module can select one of the two operations after a transaction aborts −</a:t>
            </a:r>
            <a:endParaRPr lang="en-US" sz="4000" dirty="0"/>
          </a:p>
          <a:p>
            <a:pPr lvl="1" algn="just"/>
            <a:r>
              <a:rPr lang="en-IN" sz="4000" dirty="0"/>
              <a:t>Re-start the transaction</a:t>
            </a:r>
            <a:endParaRPr lang="en-US" sz="2900" dirty="0"/>
          </a:p>
          <a:p>
            <a:pPr lvl="1" algn="just"/>
            <a:r>
              <a:rPr lang="en-IN" sz="4000" dirty="0"/>
              <a:t>Kill the transaction</a:t>
            </a:r>
            <a:endParaRPr lang="en-US" sz="2900" dirty="0"/>
          </a:p>
          <a:p>
            <a:pPr lvl="0" algn="just"/>
            <a:r>
              <a:rPr lang="en-IN" sz="4000" b="1" dirty="0"/>
              <a:t>Committed</a:t>
            </a:r>
            <a:r>
              <a:rPr lang="en-IN" sz="4000" dirty="0"/>
              <a:t> − If a transaction executes all its operations successfully, it is said to be committed. All its effects are now permanently established on the database system.</a:t>
            </a:r>
            <a:endParaRPr lang="en-US" sz="4000" dirty="0"/>
          </a:p>
          <a:p>
            <a:endParaRPr lang="en-US" dirty="0"/>
          </a:p>
        </p:txBody>
      </p:sp>
    </p:spTree>
    <p:extLst>
      <p:ext uri="{BB962C8B-B14F-4D97-AF65-F5344CB8AC3E}">
        <p14:creationId xmlns:p14="http://schemas.microsoft.com/office/powerpoint/2010/main" val="4138043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11775" y="2967335"/>
            <a:ext cx="3520451"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Thank You</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16592683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248</TotalTime>
  <Words>736</Words>
  <Application>Microsoft Office PowerPoint</Application>
  <PresentationFormat>On-screen Show (4:3)</PresentationFormat>
  <Paragraphs>66</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Calibri</vt:lpstr>
      <vt:lpstr>Gill Sans MT</vt:lpstr>
      <vt:lpstr>Times New Roman</vt:lpstr>
      <vt:lpstr>Verdana</vt:lpstr>
      <vt:lpstr>Wingdings</vt:lpstr>
      <vt:lpstr>Wingdings 2</vt:lpstr>
      <vt:lpstr>Solstice</vt:lpstr>
      <vt:lpstr>PowerPoint Presentation</vt:lpstr>
      <vt:lpstr>What is a transaction???</vt:lpstr>
      <vt:lpstr>Different operations performed in a transaction</vt:lpstr>
      <vt:lpstr>Example of a transaction</vt:lpstr>
      <vt:lpstr>Properties of Transaction</vt:lpstr>
      <vt:lpstr>Atomicity</vt:lpstr>
      <vt:lpstr>Atomicity</vt:lpstr>
      <vt:lpstr>Example of Atomicity</vt:lpstr>
      <vt:lpstr>Consistency</vt:lpstr>
      <vt:lpstr>Consistency</vt:lpstr>
      <vt:lpstr>Isolation</vt:lpstr>
      <vt:lpstr>Isolation</vt:lpstr>
      <vt:lpstr>Durability</vt:lpstr>
      <vt:lpstr>States of Transaction</vt:lpstr>
      <vt:lpstr>States of Transaction</vt:lpstr>
      <vt:lpstr>States of Transaction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SATYA</dc:creator>
  <cp:lastModifiedBy>soni2</cp:lastModifiedBy>
  <cp:revision>15</cp:revision>
  <dcterms:created xsi:type="dcterms:W3CDTF">2006-08-16T00:00:00Z</dcterms:created>
  <dcterms:modified xsi:type="dcterms:W3CDTF">2025-09-15T03:40:19Z</dcterms:modified>
</cp:coreProperties>
</file>