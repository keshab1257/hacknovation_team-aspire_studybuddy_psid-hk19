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11/23/2023</a:t>
            </a:fld>
            <a:endParaRPr lang="en-US"/>
          </a:p>
        </p:txBody>
      </p:sp>
      <p:sp>
        <p:nvSpPr>
          <p:cNvPr id="20" name="Footer Placeholder 19"/>
          <p:cNvSpPr>
            <a:spLocks noGrp="1"/>
          </p:cNvSpPr>
          <p:nvPr>
            <p:ph type="ftr" sz="quarter" idx="11"/>
          </p:nvPr>
        </p:nvSpPr>
        <p:spPr/>
        <p:txBody>
          <a:bodyPr/>
          <a:lstStyle>
            <a:extLst/>
          </a:lstStyle>
          <a:p>
            <a:endParaRPr lang="en-US"/>
          </a:p>
        </p:txBody>
      </p:sp>
      <p:sp>
        <p:nvSpPr>
          <p:cNvPr id="10" name="Slide Number Placeholder 9"/>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11/23/2023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11/23/2023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11/23/2023</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11/23/2023</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1D8BD707-D9CF-40AE-B4C6-C98DA3205C09}" type="datetimeFigureOut">
              <a:rPr lang="en-US" smtClean="0"/>
              <a:pPr/>
              <a:t>11/23/2023</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1D8BD707-D9CF-40AE-B4C6-C98DA3205C09}" type="datetimeFigureOut">
              <a:rPr lang="en-US" smtClean="0"/>
              <a:pPr/>
              <a:t>11/23/2023</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11/23/2023</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11/23/2023</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11/23/2023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11/23/2023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D8BD707-D9CF-40AE-B4C6-C98DA3205C09}" type="datetimeFigureOut">
              <a:rPr lang="en-US" smtClean="0"/>
              <a:pPr/>
              <a:t>11/23/2023</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6F15528-21DE-4FAA-801E-634DDDAF4B2B}"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819400" y="685800"/>
            <a:ext cx="4338047" cy="923330"/>
          </a:xfrm>
          <a:prstGeom prst="rect">
            <a:avLst/>
          </a:prstGeom>
          <a:noFill/>
        </p:spPr>
        <p:txBody>
          <a:bodyPr wrap="none" lIns="91440" tIns="45720" rIns="91440" bIns="45720">
            <a:spAutoFit/>
          </a:bodyPr>
          <a:lstStyle/>
          <a:p>
            <a:pPr algn="ctr"/>
            <a:r>
              <a:rPr lang="en-US" sz="5400" b="1" cap="none" spc="0"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DEADLOCK</a:t>
            </a:r>
            <a:endParaRPr lang="en-US" sz="54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
        <p:nvSpPr>
          <p:cNvPr id="5" name="TextBox 4"/>
          <p:cNvSpPr txBox="1"/>
          <p:nvPr/>
        </p:nvSpPr>
        <p:spPr>
          <a:xfrm>
            <a:off x="5257800" y="5410200"/>
            <a:ext cx="3945632" cy="707886"/>
          </a:xfrm>
          <a:prstGeom prst="rect">
            <a:avLst/>
          </a:prstGeom>
          <a:noFill/>
        </p:spPr>
        <p:txBody>
          <a:bodyPr wrap="none" rtlCol="0">
            <a:spAutoFit/>
          </a:bodyPr>
          <a:lstStyle/>
          <a:p>
            <a:r>
              <a:rPr lang="en-US" sz="4000" dirty="0" err="1" smtClean="0"/>
              <a:t>Satyanarayan</a:t>
            </a:r>
            <a:r>
              <a:rPr lang="en-US" sz="4000" dirty="0" smtClean="0"/>
              <a:t> </a:t>
            </a:r>
            <a:r>
              <a:rPr lang="en-US" sz="4000" dirty="0" err="1" smtClean="0"/>
              <a:t>Sahu</a:t>
            </a:r>
            <a:endParaRPr lang="en-US" sz="4000" dirty="0"/>
          </a:p>
        </p:txBody>
      </p:sp>
    </p:spTree>
    <p:extLst>
      <p:ext uri="{BB962C8B-B14F-4D97-AF65-F5344CB8AC3E}">
        <p14:creationId xmlns:p14="http://schemas.microsoft.com/office/powerpoint/2010/main" val="3183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944562"/>
          </a:xfrm>
        </p:spPr>
        <p:txBody>
          <a:bodyPr/>
          <a:lstStyle/>
          <a:p>
            <a:r>
              <a:rPr lang="en-US" dirty="0" smtClean="0"/>
              <a:t>What is deadlock???</a:t>
            </a:r>
            <a:endParaRPr lang="en-US" dirty="0"/>
          </a:p>
        </p:txBody>
      </p:sp>
      <p:sp>
        <p:nvSpPr>
          <p:cNvPr id="3" name="Content Placeholder 2"/>
          <p:cNvSpPr>
            <a:spLocks noGrp="1"/>
          </p:cNvSpPr>
          <p:nvPr>
            <p:ph idx="1"/>
          </p:nvPr>
        </p:nvSpPr>
        <p:spPr>
          <a:xfrm>
            <a:off x="1435608" y="1143000"/>
            <a:ext cx="7498080" cy="5486400"/>
          </a:xfrm>
        </p:spPr>
        <p:txBody>
          <a:bodyPr>
            <a:normAutofit/>
          </a:bodyPr>
          <a:lstStyle/>
          <a:p>
            <a:pPr algn="just">
              <a:buFont typeface="Wingdings" pitchFamily="2" charset="2"/>
              <a:buChar char="Ø"/>
            </a:pPr>
            <a:r>
              <a:rPr lang="en-US" dirty="0"/>
              <a:t>A deadlock is a condition where two or more transactions are waiting indefinitely for one another to give up locks. </a:t>
            </a:r>
            <a:endParaRPr lang="en-US" dirty="0" smtClean="0"/>
          </a:p>
          <a:p>
            <a:pPr algn="just">
              <a:buFont typeface="Wingdings" pitchFamily="2" charset="2"/>
              <a:buChar char="Ø"/>
            </a:pPr>
            <a:r>
              <a:rPr lang="en-US" dirty="0" smtClean="0"/>
              <a:t>Deadlock </a:t>
            </a:r>
            <a:r>
              <a:rPr lang="en-US" dirty="0"/>
              <a:t>is said to be one of the most feared complications in DBMS as no task ever gets finished and is in waiting state forever</a:t>
            </a:r>
            <a:r>
              <a:rPr lang="en-US" dirty="0" smtClean="0"/>
              <a:t>.</a:t>
            </a:r>
            <a:endParaRPr lang="en-US" dirty="0"/>
          </a:p>
        </p:txBody>
      </p:sp>
    </p:spTree>
    <p:extLst>
      <p:ext uri="{BB962C8B-B14F-4D97-AF65-F5344CB8AC3E}">
        <p14:creationId xmlns:p14="http://schemas.microsoft.com/office/powerpoint/2010/main" val="30312336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Deadlock</a:t>
            </a:r>
            <a:endParaRPr lang="en-US" dirty="0"/>
          </a:p>
        </p:txBody>
      </p:sp>
      <p:sp>
        <p:nvSpPr>
          <p:cNvPr id="3" name="Content Placeholder 2"/>
          <p:cNvSpPr>
            <a:spLocks noGrp="1"/>
          </p:cNvSpPr>
          <p:nvPr>
            <p:ph idx="1"/>
          </p:nvPr>
        </p:nvSpPr>
        <p:spPr/>
        <p:txBody>
          <a:bodyPr/>
          <a:lstStyle/>
          <a:p>
            <a:pPr marL="82296" indent="0" algn="just">
              <a:buNone/>
            </a:pPr>
            <a:r>
              <a:rPr lang="en-US" dirty="0" smtClean="0"/>
              <a:t>In </a:t>
            </a:r>
            <a:r>
              <a:rPr lang="en-US" dirty="0"/>
              <a:t>the student table, transaction T1 holds a lock on some rows and needs to update some rows in the grade table. Simultaneously, transaction T2 holds locks on some rows in the grade table and needs to update the rows in the Student table held by Transaction T1.</a:t>
            </a:r>
          </a:p>
          <a:p>
            <a:pPr algn="just">
              <a:buFont typeface="Wingdings" pitchFamily="2" charset="2"/>
              <a:buChar char="Ø"/>
            </a:pPr>
            <a:endParaRPr lang="en-US" dirty="0"/>
          </a:p>
          <a:p>
            <a:endParaRPr lang="en-US" dirty="0"/>
          </a:p>
        </p:txBody>
      </p:sp>
    </p:spTree>
    <p:extLst>
      <p:ext uri="{BB962C8B-B14F-4D97-AF65-F5344CB8AC3E}">
        <p14:creationId xmlns:p14="http://schemas.microsoft.com/office/powerpoint/2010/main" val="40659558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of Deadlock</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52600" y="1632108"/>
            <a:ext cx="6677730" cy="43114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071449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Deadlock Avoidance</a:t>
            </a:r>
            <a:endParaRPr lang="en-US" dirty="0"/>
          </a:p>
        </p:txBody>
      </p:sp>
      <p:sp>
        <p:nvSpPr>
          <p:cNvPr id="3" name="Content Placeholder 2"/>
          <p:cNvSpPr>
            <a:spLocks noGrp="1"/>
          </p:cNvSpPr>
          <p:nvPr>
            <p:ph idx="1"/>
          </p:nvPr>
        </p:nvSpPr>
        <p:spPr/>
        <p:txBody>
          <a:bodyPr>
            <a:normAutofit fontScale="92500" lnSpcReduction="20000"/>
          </a:bodyPr>
          <a:lstStyle/>
          <a:p>
            <a:pPr algn="just">
              <a:buFont typeface="Wingdings" pitchFamily="2" charset="2"/>
              <a:buChar char="Ø"/>
            </a:pPr>
            <a:r>
              <a:rPr lang="en-US" dirty="0"/>
              <a:t>When a database is stuck in a deadlock state, then it is better to avoid the database rather than aborting or restating the database. This is a waste of time and resource.</a:t>
            </a:r>
          </a:p>
          <a:p>
            <a:pPr algn="just">
              <a:buFont typeface="Wingdings" pitchFamily="2" charset="2"/>
              <a:buChar char="Ø"/>
            </a:pPr>
            <a:r>
              <a:rPr lang="en-US" dirty="0"/>
              <a:t>Deadlock avoidance mechanism is used to detect any deadlock situation in advance. </a:t>
            </a:r>
            <a:endParaRPr lang="en-US" dirty="0" smtClean="0"/>
          </a:p>
          <a:p>
            <a:pPr algn="just">
              <a:buFont typeface="Wingdings" pitchFamily="2" charset="2"/>
              <a:buChar char="Ø"/>
            </a:pPr>
            <a:r>
              <a:rPr lang="en-US" dirty="0" smtClean="0"/>
              <a:t>A </a:t>
            </a:r>
            <a:r>
              <a:rPr lang="en-US" dirty="0"/>
              <a:t>method like "wait for graph" is used for detecting the deadlock situation but this method is suitable only for the smaller database. For the larger database, deadlock prevention method can be used.</a:t>
            </a:r>
          </a:p>
          <a:p>
            <a:pPr algn="just">
              <a:buFont typeface="Wingdings" pitchFamily="2" charset="2"/>
              <a:buChar char="Ø"/>
            </a:pPr>
            <a:endParaRPr lang="en-US" dirty="0"/>
          </a:p>
        </p:txBody>
      </p:sp>
    </p:spTree>
    <p:extLst>
      <p:ext uri="{BB962C8B-B14F-4D97-AF65-F5344CB8AC3E}">
        <p14:creationId xmlns:p14="http://schemas.microsoft.com/office/powerpoint/2010/main" val="35353596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Deadlock Detection</a:t>
            </a:r>
            <a:endParaRPr lang="en-US" dirty="0"/>
          </a:p>
        </p:txBody>
      </p:sp>
      <p:sp>
        <p:nvSpPr>
          <p:cNvPr id="3" name="Content Placeholder 2"/>
          <p:cNvSpPr>
            <a:spLocks noGrp="1"/>
          </p:cNvSpPr>
          <p:nvPr>
            <p:ph idx="1"/>
          </p:nvPr>
        </p:nvSpPr>
        <p:spPr/>
        <p:txBody>
          <a:bodyPr>
            <a:normAutofit/>
          </a:bodyPr>
          <a:lstStyle/>
          <a:p>
            <a:pPr algn="just" fontAlgn="t">
              <a:buFont typeface="Wingdings" pitchFamily="2" charset="2"/>
              <a:buChar char="Ø"/>
            </a:pPr>
            <a:r>
              <a:rPr lang="en-US" sz="3600" dirty="0"/>
              <a:t>In a database, when a transaction waits indefinitely to obtain a lock, then the DBMS should detect whether the transaction is involved in a deadlock or not. </a:t>
            </a:r>
            <a:endParaRPr lang="en-US" sz="3600" dirty="0" smtClean="0"/>
          </a:p>
          <a:p>
            <a:pPr algn="just" fontAlgn="t">
              <a:buFont typeface="Wingdings" pitchFamily="2" charset="2"/>
              <a:buChar char="Ø"/>
            </a:pPr>
            <a:r>
              <a:rPr lang="en-US" sz="3600" dirty="0" smtClean="0"/>
              <a:t>The </a:t>
            </a:r>
            <a:r>
              <a:rPr lang="en-US" sz="3600" dirty="0"/>
              <a:t>lock manager maintains a Wait for the graph to detect the deadlock cycle in the database.</a:t>
            </a:r>
            <a:endParaRPr lang="en-US" sz="3600" dirty="0"/>
          </a:p>
        </p:txBody>
      </p:sp>
    </p:spTree>
    <p:extLst>
      <p:ext uri="{BB962C8B-B14F-4D97-AF65-F5344CB8AC3E}">
        <p14:creationId xmlns:p14="http://schemas.microsoft.com/office/powerpoint/2010/main" val="3022158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Deadlock Detection</a:t>
            </a:r>
            <a:endParaRPr lang="en-US" dirty="0"/>
          </a:p>
        </p:txBody>
      </p:sp>
      <p:sp>
        <p:nvSpPr>
          <p:cNvPr id="3" name="Content Placeholder 2"/>
          <p:cNvSpPr>
            <a:spLocks noGrp="1"/>
          </p:cNvSpPr>
          <p:nvPr>
            <p:ph idx="1"/>
          </p:nvPr>
        </p:nvSpPr>
        <p:spPr/>
        <p:txBody>
          <a:bodyPr>
            <a:normAutofit fontScale="92500" lnSpcReduction="10000"/>
          </a:bodyPr>
          <a:lstStyle/>
          <a:p>
            <a:pPr marL="82296" indent="0" algn="just">
              <a:buNone/>
            </a:pPr>
            <a:r>
              <a:rPr lang="en-US" dirty="0"/>
              <a:t>Wait for Graph</a:t>
            </a:r>
          </a:p>
          <a:p>
            <a:pPr algn="just">
              <a:buFont typeface="Wingdings" pitchFamily="2" charset="2"/>
              <a:buChar char="Ø"/>
            </a:pPr>
            <a:r>
              <a:rPr lang="en-US" dirty="0"/>
              <a:t>This is the suitable method for deadlock detection. In this method, a graph is created based on the transaction and their lock. If the created graph has a cycle or closed loop, then there is a deadlock.</a:t>
            </a:r>
          </a:p>
          <a:p>
            <a:pPr algn="just">
              <a:buFont typeface="Wingdings" pitchFamily="2" charset="2"/>
              <a:buChar char="Ø"/>
            </a:pPr>
            <a:r>
              <a:rPr lang="en-US" dirty="0"/>
              <a:t>The wait for the graph is maintained by the system for every transaction which is waiting for some data held by the others. The system keeps checking the graph if there is any cycle in the graph.</a:t>
            </a:r>
          </a:p>
          <a:p>
            <a:endParaRPr lang="en-US" dirty="0"/>
          </a:p>
        </p:txBody>
      </p:sp>
    </p:spTree>
    <p:extLst>
      <p:ext uri="{BB962C8B-B14F-4D97-AF65-F5344CB8AC3E}">
        <p14:creationId xmlns:p14="http://schemas.microsoft.com/office/powerpoint/2010/main" val="2668546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Deadlock Detection</a:t>
            </a:r>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43200" y="1981200"/>
            <a:ext cx="4724400" cy="3743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3429000" y="5791200"/>
            <a:ext cx="1554528" cy="369332"/>
          </a:xfrm>
          <a:prstGeom prst="rect">
            <a:avLst/>
          </a:prstGeom>
          <a:noFill/>
        </p:spPr>
        <p:txBody>
          <a:bodyPr wrap="none" rtlCol="0">
            <a:spAutoFit/>
          </a:bodyPr>
          <a:lstStyle/>
          <a:p>
            <a:r>
              <a:rPr lang="en-US" dirty="0" smtClean="0"/>
              <a:t>Wait for graph</a:t>
            </a:r>
            <a:endParaRPr lang="en-US" dirty="0"/>
          </a:p>
        </p:txBody>
      </p:sp>
    </p:spTree>
    <p:extLst>
      <p:ext uri="{BB962C8B-B14F-4D97-AF65-F5344CB8AC3E}">
        <p14:creationId xmlns:p14="http://schemas.microsoft.com/office/powerpoint/2010/main" val="1241476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868362"/>
          </a:xfrm>
        </p:spPr>
        <p:txBody>
          <a:bodyPr/>
          <a:lstStyle/>
          <a:p>
            <a:r>
              <a:rPr lang="en-US" dirty="0" smtClean="0"/>
              <a:t>Deadlock Prevention</a:t>
            </a:r>
            <a:endParaRPr lang="en-US" dirty="0"/>
          </a:p>
        </p:txBody>
      </p:sp>
      <p:sp>
        <p:nvSpPr>
          <p:cNvPr id="3" name="Content Placeholder 2"/>
          <p:cNvSpPr>
            <a:spLocks noGrp="1"/>
          </p:cNvSpPr>
          <p:nvPr>
            <p:ph idx="1"/>
          </p:nvPr>
        </p:nvSpPr>
        <p:spPr>
          <a:xfrm>
            <a:off x="1435608" y="1219200"/>
            <a:ext cx="7498080" cy="5029200"/>
          </a:xfrm>
        </p:spPr>
        <p:txBody>
          <a:bodyPr>
            <a:normAutofit lnSpcReduction="10000"/>
          </a:bodyPr>
          <a:lstStyle/>
          <a:p>
            <a:pPr algn="just">
              <a:buFont typeface="Wingdings" pitchFamily="2" charset="2"/>
              <a:buChar char="Ø"/>
            </a:pPr>
            <a:r>
              <a:rPr lang="en-US" dirty="0"/>
              <a:t>Deadlock prevention method is suitable for a large database. If the resources are allocated in such a way that deadlock never occurs, then the deadlock can be prevented.</a:t>
            </a:r>
          </a:p>
          <a:p>
            <a:pPr algn="just">
              <a:buFont typeface="Wingdings" pitchFamily="2" charset="2"/>
              <a:buChar char="Ø"/>
            </a:pPr>
            <a:r>
              <a:rPr lang="en-US" dirty="0"/>
              <a:t>The Database management system analyzes the operations of the transaction whether they can create a deadlock situation or not. If they do, then the DBMS never allowed that transaction to be executed.</a:t>
            </a:r>
          </a:p>
          <a:p>
            <a:endParaRPr lang="en-US" dirty="0"/>
          </a:p>
        </p:txBody>
      </p:sp>
    </p:spTree>
    <p:extLst>
      <p:ext uri="{BB962C8B-B14F-4D97-AF65-F5344CB8AC3E}">
        <p14:creationId xmlns:p14="http://schemas.microsoft.com/office/powerpoint/2010/main" val="3542321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Wait-Die Scheme</a:t>
            </a:r>
            <a:endParaRPr lang="en-US" dirty="0"/>
          </a:p>
        </p:txBody>
      </p:sp>
      <p:sp>
        <p:nvSpPr>
          <p:cNvPr id="3" name="Content Placeholder 2"/>
          <p:cNvSpPr>
            <a:spLocks noGrp="1"/>
          </p:cNvSpPr>
          <p:nvPr>
            <p:ph idx="1"/>
          </p:nvPr>
        </p:nvSpPr>
        <p:spPr/>
        <p:txBody>
          <a:bodyPr>
            <a:normAutofit/>
          </a:bodyPr>
          <a:lstStyle/>
          <a:p>
            <a:pPr marL="82296" indent="0" algn="just">
              <a:buNone/>
            </a:pPr>
            <a:r>
              <a:rPr lang="en-US" sz="3600" dirty="0" smtClean="0"/>
              <a:t>In </a:t>
            </a:r>
            <a:r>
              <a:rPr lang="en-US" sz="3600" dirty="0"/>
              <a:t>this scheme, if a transaction requests for a resource which is already held with a conflicting lock by another transaction then the DBMS simply checks the timestamp of both transactions. It allows the older transaction to wait until the resource is available for execution.</a:t>
            </a:r>
            <a:endParaRPr lang="en-US" sz="3600" dirty="0"/>
          </a:p>
        </p:txBody>
      </p:sp>
    </p:spTree>
    <p:extLst>
      <p:ext uri="{BB962C8B-B14F-4D97-AF65-F5344CB8AC3E}">
        <p14:creationId xmlns:p14="http://schemas.microsoft.com/office/powerpoint/2010/main" val="8900506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Wait-Die Scheme</a:t>
            </a:r>
          </a:p>
        </p:txBody>
      </p:sp>
      <p:pic>
        <p:nvPicPr>
          <p:cNvPr id="3074"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7948" t="28654" r="25829" b="46346"/>
          <a:stretch/>
        </p:blipFill>
        <p:spPr bwMode="auto">
          <a:xfrm>
            <a:off x="1371599" y="1905000"/>
            <a:ext cx="7315201"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25043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effectLst/>
              </a:rPr>
              <a:t>Wound wait </a:t>
            </a:r>
            <a:r>
              <a:rPr lang="en-US" dirty="0" smtClean="0">
                <a:effectLst/>
              </a:rPr>
              <a:t>scheme</a:t>
            </a:r>
            <a:endParaRPr lang="en-US" dirty="0"/>
          </a:p>
        </p:txBody>
      </p:sp>
      <p:sp>
        <p:nvSpPr>
          <p:cNvPr id="3" name="Content Placeholder 2"/>
          <p:cNvSpPr>
            <a:spLocks noGrp="1"/>
          </p:cNvSpPr>
          <p:nvPr>
            <p:ph idx="1"/>
          </p:nvPr>
        </p:nvSpPr>
        <p:spPr/>
        <p:txBody>
          <a:bodyPr>
            <a:normAutofit fontScale="92500" lnSpcReduction="10000"/>
          </a:bodyPr>
          <a:lstStyle/>
          <a:p>
            <a:pPr algn="just">
              <a:buFont typeface="Wingdings" pitchFamily="2" charset="2"/>
              <a:buChar char="Ø"/>
            </a:pPr>
            <a:r>
              <a:rPr lang="en-US" dirty="0"/>
              <a:t>In wound wait scheme, if the older transaction requests for a resource which is held by the younger transaction, then older transaction forces younger one to kill the transaction and release the resource. After the minute delay, the younger transaction is restarted but with the same timestamp.</a:t>
            </a:r>
          </a:p>
          <a:p>
            <a:pPr algn="just">
              <a:buFont typeface="Wingdings" pitchFamily="2" charset="2"/>
              <a:buChar char="Ø"/>
            </a:pPr>
            <a:r>
              <a:rPr lang="en-US" dirty="0"/>
              <a:t>If the older transaction has held a resource which is requested by the Younger transaction, then the younger transaction is asked to wait until older releases it.</a:t>
            </a:r>
          </a:p>
          <a:p>
            <a:pPr algn="just">
              <a:buFont typeface="Wingdings" pitchFamily="2" charset="2"/>
              <a:buChar char="Ø"/>
            </a:pPr>
            <a:endParaRPr lang="en-US" dirty="0"/>
          </a:p>
        </p:txBody>
      </p:sp>
    </p:spTree>
    <p:extLst>
      <p:ext uri="{BB962C8B-B14F-4D97-AF65-F5344CB8AC3E}">
        <p14:creationId xmlns:p14="http://schemas.microsoft.com/office/powerpoint/2010/main" val="34424179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811775" y="2967335"/>
            <a:ext cx="3520451" cy="923330"/>
          </a:xfrm>
          <a:prstGeom prst="rect">
            <a:avLst/>
          </a:prstGeom>
          <a:noFill/>
        </p:spPr>
        <p:txBody>
          <a:bodyPr wrap="none" lIns="91440" tIns="45720" rIns="91440" bIns="45720">
            <a:spAutoFit/>
          </a:bodyPr>
          <a:lstStyle/>
          <a:p>
            <a:pPr algn="ctr"/>
            <a:r>
              <a:rPr lang="en-US" sz="5400" b="1" cap="none" spc="0" dirty="0" smtClean="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rPr>
              <a:t>Thank You</a:t>
            </a:r>
            <a:endParaRPr lang="en-US" sz="5400" b="1" cap="none" spc="0" dirty="0">
              <a:ln w="17780" cmpd="sng">
                <a:solidFill>
                  <a:srgbClr val="FFFFFF"/>
                </a:solidFill>
                <a:prstDash val="solid"/>
                <a:miter lim="800000"/>
              </a:ln>
              <a:gradFill rotWithShape="1">
                <a:gsLst>
                  <a:gs pos="0">
                    <a:srgbClr val="000000">
                      <a:tint val="92000"/>
                      <a:shade val="100000"/>
                      <a:satMod val="150000"/>
                    </a:srgbClr>
                  </a:gs>
                  <a:gs pos="49000">
                    <a:srgbClr val="000000">
                      <a:tint val="89000"/>
                      <a:shade val="90000"/>
                      <a:satMod val="150000"/>
                    </a:srgbClr>
                  </a:gs>
                  <a:gs pos="50000">
                    <a:srgbClr val="000000">
                      <a:tint val="100000"/>
                      <a:shade val="75000"/>
                      <a:satMod val="150000"/>
                    </a:srgbClr>
                  </a:gs>
                  <a:gs pos="95000">
                    <a:srgbClr val="000000">
                      <a:shade val="47000"/>
                      <a:satMod val="150000"/>
                    </a:srgbClr>
                  </a:gs>
                  <a:gs pos="100000">
                    <a:srgbClr val="000000">
                      <a:shade val="39000"/>
                      <a:satMod val="150000"/>
                    </a:srgbClr>
                  </a:gs>
                </a:gsLst>
                <a:lin ang="5400000"/>
              </a:gradFill>
              <a:effectLst>
                <a:outerShdw blurRad="50800" algn="tl" rotWithShape="0">
                  <a:srgbClr val="000000"/>
                </a:outerShdw>
              </a:effectLst>
            </a:endParaRPr>
          </a:p>
        </p:txBody>
      </p:sp>
    </p:spTree>
    <p:extLst>
      <p:ext uri="{BB962C8B-B14F-4D97-AF65-F5344CB8AC3E}">
        <p14:creationId xmlns:p14="http://schemas.microsoft.com/office/powerpoint/2010/main" val="16462535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11</TotalTime>
  <Words>547</Words>
  <Application>Microsoft Office PowerPoint</Application>
  <PresentationFormat>On-screen Show (4:3)</PresentationFormat>
  <Paragraphs>31</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Solstice</vt:lpstr>
      <vt:lpstr>PowerPoint Presentation</vt:lpstr>
      <vt:lpstr>What is deadlock???</vt:lpstr>
      <vt:lpstr>Example of Deadlock</vt:lpstr>
      <vt:lpstr>Example of Deadlock</vt:lpstr>
      <vt:lpstr>Deadlock Avoidance</vt:lpstr>
      <vt:lpstr>Deadlock Detection</vt:lpstr>
      <vt:lpstr>Deadlock Detection</vt:lpstr>
      <vt:lpstr>Deadlock Detection</vt:lpstr>
      <vt:lpstr>Deadlock Prevention</vt:lpstr>
      <vt:lpstr>Wait-Die Scheme</vt:lpstr>
      <vt:lpstr>Wait-Die Scheme</vt:lpstr>
      <vt:lpstr>Wound wait scheme</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SATYA</dc:creator>
  <cp:lastModifiedBy>de</cp:lastModifiedBy>
  <cp:revision>3</cp:revision>
  <dcterms:created xsi:type="dcterms:W3CDTF">2006-08-16T00:00:00Z</dcterms:created>
  <dcterms:modified xsi:type="dcterms:W3CDTF">2023-11-23T12:30:47Z</dcterms:modified>
</cp:coreProperties>
</file>