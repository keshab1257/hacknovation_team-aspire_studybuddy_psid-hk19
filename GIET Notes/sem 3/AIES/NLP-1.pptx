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7" r:id="rId1"/>
  </p:sldMasterIdLst>
  <p:sldIdLst>
    <p:sldId id="256" r:id="rId2"/>
    <p:sldId id="257" r:id="rId3"/>
    <p:sldId id="258" r:id="rId4"/>
    <p:sldId id="260" r:id="rId5"/>
    <p:sldId id="261" r:id="rId6"/>
    <p:sldId id="262" r:id="rId7"/>
    <p:sldId id="263" r:id="rId8"/>
    <p:sldId id="264" r:id="rId9"/>
    <p:sldId id="265" r:id="rId10"/>
    <p:sldId id="267" r:id="rId11"/>
    <p:sldId id="268" r:id="rId12"/>
    <p:sldId id="266" r:id="rId13"/>
    <p:sldId id="269" r:id="rId14"/>
    <p:sldId id="271" r:id="rId15"/>
    <p:sldId id="277" r:id="rId16"/>
    <p:sldId id="278" r:id="rId17"/>
    <p:sldId id="270" r:id="rId18"/>
    <p:sldId id="273" r:id="rId19"/>
    <p:sldId id="274" r:id="rId20"/>
    <p:sldId id="275" r:id="rId21"/>
    <p:sldId id="272" r:id="rId22"/>
    <p:sldId id="276" r:id="rId23"/>
    <p:sldId id="259" r:id="rId24"/>
    <p:sldId id="279" r:id="rId25"/>
    <p:sldId id="280" r:id="rId26"/>
    <p:sldId id="281" r:id="rId27"/>
    <p:sldId id="282" r:id="rId2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descr="Droplets-HD-Title-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ctrTitle"/>
          </p:nvPr>
        </p:nvSpPr>
        <p:spPr>
          <a:xfrm>
            <a:off x="1751012" y="1300785"/>
            <a:ext cx="8689976" cy="2509213"/>
          </a:xfrm>
        </p:spPr>
        <p:txBody>
          <a:bodyPr anchor="b">
            <a:normAutofit/>
          </a:bodyPr>
          <a:lstStyle>
            <a:lvl1pPr algn="ctr">
              <a:defRPr sz="4800"/>
            </a:lvl1pPr>
          </a:lstStyle>
          <a:p>
            <a:r>
              <a:rPr lang="en-US"/>
              <a:t>Click to edit Master title style</a:t>
            </a:r>
            <a:endParaRPr lang="en-US" dirty="0"/>
          </a:p>
        </p:txBody>
      </p:sp>
      <p:sp>
        <p:nvSpPr>
          <p:cNvPr id="3" name="Subtitle 2"/>
          <p:cNvSpPr>
            <a:spLocks noGrp="1"/>
          </p:cNvSpPr>
          <p:nvPr>
            <p:ph type="subTitle" idx="1"/>
          </p:nvPr>
        </p:nvSpPr>
        <p:spPr>
          <a:xfrm>
            <a:off x="1751012" y="3886200"/>
            <a:ext cx="8689976" cy="1371599"/>
          </a:xfrm>
        </p:spPr>
        <p:txBody>
          <a:bodyPr>
            <a:normAutofit/>
          </a:bodyPr>
          <a:lstStyle>
            <a:lvl1pPr marL="0" indent="0" algn="ctr">
              <a:buNone/>
              <a:defRPr sz="2200">
                <a:solidFill>
                  <a:schemeClr val="bg1">
                    <a:lumMod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B4D043D-D4A6-47BF-9499-A75DEF258447}" type="datetimeFigureOut">
              <a:rPr lang="en-IN" smtClean="0"/>
              <a:t>22-09-2025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14FBA40-6E31-48AC-A373-310D9FDF14BA}" type="slidenum">
              <a:rPr lang="en-IN" smtClean="0"/>
              <a:t>‹#›</a:t>
            </a:fld>
            <a:endParaRPr lang="en-IN"/>
          </a:p>
        </p:txBody>
      </p:sp>
    </p:spTree>
    <p:extLst>
      <p:ext uri="{BB962C8B-B14F-4D97-AF65-F5344CB8AC3E}">
        <p14:creationId xmlns:p14="http://schemas.microsoft.com/office/powerpoint/2010/main" val="8981969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3" name="Picture 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12" name="Content Placeholder 2"/>
          <p:cNvSpPr>
            <a:spLocks noGrp="1"/>
          </p:cNvSpPr>
          <p:nvPr>
            <p:ph sz="quarter" idx="13"/>
          </p:nvPr>
        </p:nvSpPr>
        <p:spPr>
          <a:xfrm>
            <a:off x="913774" y="2367092"/>
            <a:ext cx="10363826"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B4D043D-D4A6-47BF-9499-A75DEF258447}" type="datetimeFigureOut">
              <a:rPr lang="en-IN" smtClean="0"/>
              <a:t>22-09-2025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14FBA40-6E31-48AC-A373-310D9FDF14BA}" type="slidenum">
              <a:rPr lang="en-IN" smtClean="0"/>
              <a:t>‹#›</a:t>
            </a:fld>
            <a:endParaRPr lang="en-IN"/>
          </a:p>
        </p:txBody>
      </p:sp>
    </p:spTree>
    <p:extLst>
      <p:ext uri="{BB962C8B-B14F-4D97-AF65-F5344CB8AC3E}">
        <p14:creationId xmlns:p14="http://schemas.microsoft.com/office/powerpoint/2010/main" val="25071869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828563"/>
            <a:ext cx="10351752" cy="2736819"/>
          </a:xfrm>
        </p:spPr>
        <p:txBody>
          <a:bodyPr anchor="b">
            <a:normAutofit/>
          </a:bodyPr>
          <a:lstStyle>
            <a:lvl1pPr>
              <a:defRPr sz="4000"/>
            </a:lvl1pPr>
          </a:lstStyle>
          <a:p>
            <a:r>
              <a:rPr lang="en-US"/>
              <a:t>Click to edit Master title style</a:t>
            </a:r>
            <a:endParaRPr lang="en-US" dirty="0"/>
          </a:p>
        </p:txBody>
      </p:sp>
      <p:sp>
        <p:nvSpPr>
          <p:cNvPr id="3" name="Text Placeholder 2"/>
          <p:cNvSpPr>
            <a:spLocks noGrp="1"/>
          </p:cNvSpPr>
          <p:nvPr>
            <p:ph type="body" idx="1"/>
          </p:nvPr>
        </p:nvSpPr>
        <p:spPr>
          <a:xfrm>
            <a:off x="913774" y="3657457"/>
            <a:ext cx="10351752" cy="1368183"/>
          </a:xfrm>
        </p:spPr>
        <p:txBody>
          <a:bodyPr>
            <a:normAutofit/>
          </a:bodyPr>
          <a:lstStyle>
            <a:lvl1pPr marL="0" indent="0" algn="ctr">
              <a:buNone/>
              <a:defRPr sz="2000">
                <a:solidFill>
                  <a:schemeClr val="bg1">
                    <a:lumMod val="5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B4D043D-D4A6-47BF-9499-A75DEF258447}" type="datetimeFigureOut">
              <a:rPr lang="en-IN" smtClean="0"/>
              <a:t>22-09-2025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14FBA40-6E31-48AC-A373-310D9FDF14BA}" type="slidenum">
              <a:rPr lang="en-IN" smtClean="0"/>
              <a:t>‹#›</a:t>
            </a:fld>
            <a:endParaRPr lang="en-IN"/>
          </a:p>
        </p:txBody>
      </p:sp>
    </p:spTree>
    <p:extLst>
      <p:ext uri="{BB962C8B-B14F-4D97-AF65-F5344CB8AC3E}">
        <p14:creationId xmlns:p14="http://schemas.microsoft.com/office/powerpoint/2010/main" val="40406900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en-US"/>
              <a:t>Click to edit Master title style</a:t>
            </a:r>
            <a:endParaRPr lang="en-US" dirty="0"/>
          </a:p>
        </p:txBody>
      </p:sp>
      <p:sp>
        <p:nvSpPr>
          <p:cNvPr id="12" name="Content Placeholder 2"/>
          <p:cNvSpPr>
            <a:spLocks noGrp="1"/>
          </p:cNvSpPr>
          <p:nvPr>
            <p:ph sz="quarter" idx="13"/>
          </p:nvPr>
        </p:nvSpPr>
        <p:spPr>
          <a:xfrm>
            <a:off x="913774" y="2367092"/>
            <a:ext cx="5106026"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3"/>
          <p:cNvSpPr>
            <a:spLocks noGrp="1"/>
          </p:cNvSpPr>
          <p:nvPr>
            <p:ph sz="quarter" idx="14"/>
          </p:nvPr>
        </p:nvSpPr>
        <p:spPr>
          <a:xfrm>
            <a:off x="6172200" y="2367092"/>
            <a:ext cx="5105400"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B4D043D-D4A6-47BF-9499-A75DEF258447}" type="datetimeFigureOut">
              <a:rPr lang="en-IN" smtClean="0"/>
              <a:t>22-09-2025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14FBA40-6E31-48AC-A373-310D9FDF14BA}" type="slidenum">
              <a:rPr lang="en-IN" smtClean="0"/>
              <a:t>‹#›</a:t>
            </a:fld>
            <a:endParaRPr lang="en-IN"/>
          </a:p>
        </p:txBody>
      </p:sp>
    </p:spTree>
    <p:extLst>
      <p:ext uri="{BB962C8B-B14F-4D97-AF65-F5344CB8AC3E}">
        <p14:creationId xmlns:p14="http://schemas.microsoft.com/office/powerpoint/2010/main" val="40552290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5" name="Picture 14"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146328" y="2371018"/>
            <a:ext cx="487347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Content Placeholder 3"/>
          <p:cNvSpPr>
            <a:spLocks noGrp="1"/>
          </p:cNvSpPr>
          <p:nvPr>
            <p:ph sz="quarter" idx="13"/>
          </p:nvPr>
        </p:nvSpPr>
        <p:spPr>
          <a:xfrm>
            <a:off x="913774" y="3051012"/>
            <a:ext cx="5106027" cy="27401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96423" y="2371018"/>
            <a:ext cx="488180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3" name="Content Placeholder 5"/>
          <p:cNvSpPr>
            <a:spLocks noGrp="1"/>
          </p:cNvSpPr>
          <p:nvPr>
            <p:ph sz="quarter" idx="14"/>
          </p:nvPr>
        </p:nvSpPr>
        <p:spPr>
          <a:xfrm>
            <a:off x="6172200" y="3051012"/>
            <a:ext cx="5105401" cy="27401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B4D043D-D4A6-47BF-9499-A75DEF258447}" type="datetimeFigureOut">
              <a:rPr lang="en-IN" smtClean="0"/>
              <a:t>22-09-2025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D14FBA40-6E31-48AC-A373-310D9FDF14BA}" type="slidenum">
              <a:rPr lang="en-IN" smtClean="0"/>
              <a:t>‹#›</a:t>
            </a:fld>
            <a:endParaRPr lang="en-IN"/>
          </a:p>
        </p:txBody>
      </p:sp>
    </p:spTree>
    <p:extLst>
      <p:ext uri="{BB962C8B-B14F-4D97-AF65-F5344CB8AC3E}">
        <p14:creationId xmlns:p14="http://schemas.microsoft.com/office/powerpoint/2010/main" val="767337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B4D043D-D4A6-47BF-9499-A75DEF258447}" type="datetimeFigureOut">
              <a:rPr lang="en-IN" smtClean="0"/>
              <a:t>22-09-2025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D14FBA40-6E31-48AC-A373-310D9FDF14BA}" type="slidenum">
              <a:rPr lang="en-IN" smtClean="0"/>
              <a:t>‹#›</a:t>
            </a:fld>
            <a:endParaRPr lang="en-IN"/>
          </a:p>
        </p:txBody>
      </p:sp>
    </p:spTree>
    <p:extLst>
      <p:ext uri="{BB962C8B-B14F-4D97-AF65-F5344CB8AC3E}">
        <p14:creationId xmlns:p14="http://schemas.microsoft.com/office/powerpoint/2010/main" val="31643188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7" name="Picture 6"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Date Placeholder 1"/>
          <p:cNvSpPr>
            <a:spLocks noGrp="1"/>
          </p:cNvSpPr>
          <p:nvPr>
            <p:ph type="dt" sz="half" idx="10"/>
          </p:nvPr>
        </p:nvSpPr>
        <p:spPr/>
        <p:txBody>
          <a:bodyPr/>
          <a:lstStyle/>
          <a:p>
            <a:fld id="{BB4D043D-D4A6-47BF-9499-A75DEF258447}" type="datetimeFigureOut">
              <a:rPr lang="en-IN" smtClean="0"/>
              <a:t>22-09-2025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D14FBA40-6E31-48AC-A373-310D9FDF14BA}" type="slidenum">
              <a:rPr lang="en-IN" smtClean="0"/>
              <a:t>‹#›</a:t>
            </a:fld>
            <a:endParaRPr lang="en-IN"/>
          </a:p>
        </p:txBody>
      </p:sp>
    </p:spTree>
    <p:extLst>
      <p:ext uri="{BB962C8B-B14F-4D97-AF65-F5344CB8AC3E}">
        <p14:creationId xmlns:p14="http://schemas.microsoft.com/office/powerpoint/2010/main" val="25477926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609600"/>
            <a:ext cx="3935688" cy="2023252"/>
          </a:xfrm>
        </p:spPr>
        <p:txBody>
          <a:bodyPr anchor="b"/>
          <a:lstStyle>
            <a:lvl1pPr algn="ctr">
              <a:defRPr sz="3200"/>
            </a:lvl1pPr>
          </a:lstStyle>
          <a:p>
            <a:r>
              <a:rPr lang="en-US"/>
              <a:t>Click to edit Master title style</a:t>
            </a:r>
            <a:endParaRPr lang="en-US" dirty="0"/>
          </a:p>
        </p:txBody>
      </p:sp>
      <p:sp>
        <p:nvSpPr>
          <p:cNvPr id="10" name="Content Placeholder 2"/>
          <p:cNvSpPr>
            <a:spLocks noGrp="1"/>
          </p:cNvSpPr>
          <p:nvPr>
            <p:ph sz="quarter" idx="13"/>
          </p:nvPr>
        </p:nvSpPr>
        <p:spPr>
          <a:xfrm>
            <a:off x="5078062" y="609600"/>
            <a:ext cx="6200163" cy="51815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3774" y="2632852"/>
            <a:ext cx="3935689" cy="3158348"/>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B4D043D-D4A6-47BF-9499-A75DEF258447}" type="datetimeFigureOut">
              <a:rPr lang="en-IN" smtClean="0"/>
              <a:t>22-09-2025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14FBA40-6E31-48AC-A373-310D9FDF14BA}" type="slidenum">
              <a:rPr lang="en-IN" smtClean="0"/>
              <a:t>‹#›</a:t>
            </a:fld>
            <a:endParaRPr lang="en-IN"/>
          </a:p>
        </p:txBody>
      </p:sp>
    </p:spTree>
    <p:extLst>
      <p:ext uri="{BB962C8B-B14F-4D97-AF65-F5344CB8AC3E}">
        <p14:creationId xmlns:p14="http://schemas.microsoft.com/office/powerpoint/2010/main" val="42936246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600"/>
            <a:ext cx="5934969" cy="2023254"/>
          </a:xfrm>
        </p:spPr>
        <p:txBody>
          <a:bodyPr anchor="b"/>
          <a:lstStyle>
            <a:lvl1pPr algn="ct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24803" y="609601"/>
            <a:ext cx="3255358" cy="5181600"/>
          </a:xfrm>
          <a:prstGeom prst="roundRect">
            <a:avLst>
              <a:gd name="adj" fmla="val 4943"/>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4" y="2632852"/>
            <a:ext cx="5934949" cy="3158347"/>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B4D043D-D4A6-47BF-9499-A75DEF258447}" type="datetimeFigureOut">
              <a:rPr lang="en-IN" smtClean="0"/>
              <a:t>22-09-2025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14FBA40-6E31-48AC-A373-310D9FDF14BA}" type="slidenum">
              <a:rPr lang="en-IN" smtClean="0"/>
              <a:t>‹#›</a:t>
            </a:fld>
            <a:endParaRPr lang="en-IN"/>
          </a:p>
        </p:txBody>
      </p:sp>
    </p:spTree>
    <p:extLst>
      <p:ext uri="{BB962C8B-B14F-4D97-AF65-F5344CB8AC3E}">
        <p14:creationId xmlns:p14="http://schemas.microsoft.com/office/powerpoint/2010/main" val="9200183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94" y="4289374"/>
            <a:ext cx="10364432" cy="81161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84744" y="698261"/>
            <a:ext cx="9822532" cy="3214136"/>
          </a:xfrm>
          <a:prstGeom prst="roundRect">
            <a:avLst>
              <a:gd name="adj" fmla="val 4944"/>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74" y="5108728"/>
            <a:ext cx="10364452" cy="682472"/>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B4D043D-D4A6-47BF-9499-A75DEF258447}" type="datetimeFigureOut">
              <a:rPr lang="en-IN" smtClean="0"/>
              <a:t>22-09-2025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14FBA40-6E31-48AC-A373-310D9FDF14BA}" type="slidenum">
              <a:rPr lang="en-IN" smtClean="0"/>
              <a:t>‹#›</a:t>
            </a:fld>
            <a:endParaRPr lang="en-IN"/>
          </a:p>
        </p:txBody>
      </p:sp>
    </p:spTree>
    <p:extLst>
      <p:ext uri="{BB962C8B-B14F-4D97-AF65-F5344CB8AC3E}">
        <p14:creationId xmlns:p14="http://schemas.microsoft.com/office/powerpoint/2010/main" val="791687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599"/>
            <a:ext cx="10364452" cy="3427245"/>
          </a:xfrm>
        </p:spPr>
        <p:txBody>
          <a:bodyPr anchor="ctr"/>
          <a:lstStyle>
            <a:lvl1pPr algn="ct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75" y="4204821"/>
            <a:ext cx="10364452" cy="1586380"/>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B4D043D-D4A6-47BF-9499-A75DEF258447}" type="datetimeFigureOut">
              <a:rPr lang="en-IN" smtClean="0"/>
              <a:t>22-09-2025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14FBA40-6E31-48AC-A373-310D9FDF14BA}" type="slidenum">
              <a:rPr lang="en-IN" smtClean="0"/>
              <a:t>‹#›</a:t>
            </a:fld>
            <a:endParaRPr lang="en-IN"/>
          </a:p>
        </p:txBody>
      </p:sp>
    </p:spTree>
    <p:extLst>
      <p:ext uri="{BB962C8B-B14F-4D97-AF65-F5344CB8AC3E}">
        <p14:creationId xmlns:p14="http://schemas.microsoft.com/office/powerpoint/2010/main" val="331522538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1446212" y="609600"/>
            <a:ext cx="9302752" cy="2992904"/>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59478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74" y="4372796"/>
            <a:ext cx="10364452" cy="1421053"/>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B4D043D-D4A6-47BF-9499-A75DEF258447}" type="datetimeFigureOut">
              <a:rPr lang="en-IN" smtClean="0"/>
              <a:t>22-09-2025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14FBA40-6E31-48AC-A373-310D9FDF14BA}" type="slidenum">
              <a:rPr lang="en-IN" smtClean="0"/>
              <a:t>‹#›</a:t>
            </a:fld>
            <a:endParaRPr lang="en-IN"/>
          </a:p>
        </p:txBody>
      </p:sp>
      <p:sp>
        <p:nvSpPr>
          <p:cNvPr id="13" name="TextBox 12"/>
          <p:cNvSpPr txBox="1"/>
          <p:nvPr/>
        </p:nvSpPr>
        <p:spPr>
          <a:xfrm>
            <a:off x="1001488" y="75416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4" name="TextBox 13"/>
          <p:cNvSpPr txBox="1"/>
          <p:nvPr/>
        </p:nvSpPr>
        <p:spPr>
          <a:xfrm>
            <a:off x="10557558" y="299357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363317770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2138721"/>
            <a:ext cx="10364452" cy="2511835"/>
          </a:xfrm>
        </p:spPr>
        <p:txBody>
          <a:bodyPr anchor="b"/>
          <a:lstStyle>
            <a:lvl1pPr algn="ct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75" y="4662335"/>
            <a:ext cx="10364452"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B4D043D-D4A6-47BF-9499-A75DEF258447}" type="datetimeFigureOut">
              <a:rPr lang="en-IN" smtClean="0"/>
              <a:t>22-09-2025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14FBA40-6E31-48AC-A373-310D9FDF14BA}" type="slidenum">
              <a:rPr lang="en-IN" smtClean="0"/>
              <a:t>‹#›</a:t>
            </a:fld>
            <a:endParaRPr lang="en-IN"/>
          </a:p>
        </p:txBody>
      </p:sp>
    </p:spTree>
    <p:extLst>
      <p:ext uri="{BB962C8B-B14F-4D97-AF65-F5344CB8AC3E}">
        <p14:creationId xmlns:p14="http://schemas.microsoft.com/office/powerpoint/2010/main" val="192418767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pic>
        <p:nvPicPr>
          <p:cNvPr id="13" name="Picture 1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5" name="Title 1"/>
          <p:cNvSpPr>
            <a:spLocks noGrp="1"/>
          </p:cNvSpPr>
          <p:nvPr>
            <p:ph type="title"/>
          </p:nvPr>
        </p:nvSpPr>
        <p:spPr>
          <a:xfrm>
            <a:off x="913774" y="609600"/>
            <a:ext cx="10364452" cy="1605094"/>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74" y="2367093"/>
            <a:ext cx="3298976"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913774" y="2943355"/>
            <a:ext cx="3298976"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52389" y="2367093"/>
            <a:ext cx="3291521"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441348" y="2943355"/>
            <a:ext cx="3303351"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973298" y="2367093"/>
            <a:ext cx="3304928"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973298" y="2943355"/>
            <a:ext cx="3304928"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BB4D043D-D4A6-47BF-9499-A75DEF258447}" type="datetimeFigureOut">
              <a:rPr lang="en-IN" smtClean="0"/>
              <a:t>22-09-2025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D14FBA40-6E31-48AC-A373-310D9FDF14BA}" type="slidenum">
              <a:rPr lang="en-IN" smtClean="0"/>
              <a:t>‹#›</a:t>
            </a:fld>
            <a:endParaRPr lang="en-IN"/>
          </a:p>
        </p:txBody>
      </p:sp>
    </p:spTree>
    <p:extLst>
      <p:ext uri="{BB962C8B-B14F-4D97-AF65-F5344CB8AC3E}">
        <p14:creationId xmlns:p14="http://schemas.microsoft.com/office/powerpoint/2010/main" val="24429859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16" name="Picture 15"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0" name="Title 1"/>
          <p:cNvSpPr>
            <a:spLocks noGrp="1"/>
          </p:cNvSpPr>
          <p:nvPr>
            <p:ph type="title"/>
          </p:nvPr>
        </p:nvSpPr>
        <p:spPr>
          <a:xfrm>
            <a:off x="913774" y="610772"/>
            <a:ext cx="10364452" cy="1603922"/>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74" y="4204820"/>
            <a:ext cx="3296409"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913774" y="2367093"/>
            <a:ext cx="3296409" cy="1524000"/>
          </a:xfrm>
          <a:prstGeom prst="roundRect">
            <a:avLst>
              <a:gd name="adj" fmla="val 9363"/>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74" y="4781082"/>
            <a:ext cx="3296409" cy="101011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59" y="4204820"/>
            <a:ext cx="3301828"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441348" y="2367093"/>
            <a:ext cx="3303352" cy="1524000"/>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348" y="4781080"/>
            <a:ext cx="3303352" cy="1010119"/>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73298" y="4204820"/>
            <a:ext cx="3300681"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973298" y="2367093"/>
            <a:ext cx="3304928" cy="1524000"/>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73173" y="4781078"/>
            <a:ext cx="3305053" cy="1010121"/>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BB4D043D-D4A6-47BF-9499-A75DEF258447}" type="datetimeFigureOut">
              <a:rPr lang="en-IN" smtClean="0"/>
              <a:t>22-09-2025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D14FBA40-6E31-48AC-A373-310D9FDF14BA}" type="slidenum">
              <a:rPr lang="en-IN" smtClean="0"/>
              <a:t>‹#›</a:t>
            </a:fld>
            <a:endParaRPr lang="en-IN"/>
          </a:p>
        </p:txBody>
      </p:sp>
    </p:spTree>
    <p:extLst>
      <p:ext uri="{BB962C8B-B14F-4D97-AF65-F5344CB8AC3E}">
        <p14:creationId xmlns:p14="http://schemas.microsoft.com/office/powerpoint/2010/main" val="251337565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11" name="Vertical Text Placeholder 2"/>
          <p:cNvSpPr>
            <a:spLocks noGrp="1"/>
          </p:cNvSpPr>
          <p:nvPr>
            <p:ph type="body" orient="vert" sz="quarter" idx="13"/>
          </p:nvPr>
        </p:nvSpPr>
        <p:spPr>
          <a:xfrm>
            <a:off x="913775" y="2367093"/>
            <a:ext cx="10364452" cy="342410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B4D043D-D4A6-47BF-9499-A75DEF258447}" type="datetimeFigureOut">
              <a:rPr lang="en-IN" smtClean="0"/>
              <a:t>22-09-2025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14FBA40-6E31-48AC-A373-310D9FDF14BA}" type="slidenum">
              <a:rPr lang="en-IN" smtClean="0"/>
              <a:t>‹#›</a:t>
            </a:fld>
            <a:endParaRPr lang="en-IN"/>
          </a:p>
        </p:txBody>
      </p:sp>
    </p:spTree>
    <p:extLst>
      <p:ext uri="{BB962C8B-B14F-4D97-AF65-F5344CB8AC3E}">
        <p14:creationId xmlns:p14="http://schemas.microsoft.com/office/powerpoint/2010/main" val="400868429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Vertical Title 1"/>
          <p:cNvSpPr>
            <a:spLocks noGrp="1"/>
          </p:cNvSpPr>
          <p:nvPr>
            <p:ph type="title" orient="vert"/>
          </p:nvPr>
        </p:nvSpPr>
        <p:spPr>
          <a:xfrm>
            <a:off x="8724900" y="609601"/>
            <a:ext cx="2553326" cy="5181599"/>
          </a:xfrm>
        </p:spPr>
        <p:txBody>
          <a:bodyPr vert="eaVert"/>
          <a:lstStyle>
            <a:lvl1pPr algn="l">
              <a:defRPr/>
            </a:lvl1pPr>
          </a:lstStyle>
          <a:p>
            <a:r>
              <a:rPr lang="en-US"/>
              <a:t>Click to edit Master title style</a:t>
            </a:r>
            <a:endParaRPr lang="en-US" dirty="0"/>
          </a:p>
        </p:txBody>
      </p:sp>
      <p:sp>
        <p:nvSpPr>
          <p:cNvPr id="8" name="Vertical Text Placeholder 2"/>
          <p:cNvSpPr>
            <a:spLocks noGrp="1"/>
          </p:cNvSpPr>
          <p:nvPr>
            <p:ph type="body" orient="vert" sz="quarter" idx="13"/>
          </p:nvPr>
        </p:nvSpPr>
        <p:spPr>
          <a:xfrm>
            <a:off x="913775" y="609601"/>
            <a:ext cx="7658724" cy="518159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B4D043D-D4A6-47BF-9499-A75DEF258447}" type="datetimeFigureOut">
              <a:rPr lang="en-IN" smtClean="0"/>
              <a:t>22-09-2025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14FBA40-6E31-48AC-A373-310D9FDF14BA}" type="slidenum">
              <a:rPr lang="en-IN" smtClean="0"/>
              <a:t>‹#›</a:t>
            </a:fld>
            <a:endParaRPr lang="en-IN"/>
          </a:p>
        </p:txBody>
      </p:sp>
    </p:spTree>
    <p:extLst>
      <p:ext uri="{BB962C8B-B14F-4D97-AF65-F5344CB8AC3E}">
        <p14:creationId xmlns:p14="http://schemas.microsoft.com/office/powerpoint/2010/main" val="70358021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B4D043D-D4A6-47BF-9499-A75DEF258447}" type="datetimeFigureOut">
              <a:rPr lang="en-IN" smtClean="0"/>
              <a:t>22-09-2025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14FBA40-6E31-48AC-A373-310D9FDF14BA}" type="slidenum">
              <a:rPr lang="en-IN" smtClean="0"/>
              <a:t>‹#›</a:t>
            </a:fld>
            <a:endParaRPr lang="en-IN"/>
          </a:p>
        </p:txBody>
      </p:sp>
    </p:spTree>
    <p:extLst>
      <p:ext uri="{BB962C8B-B14F-4D97-AF65-F5344CB8AC3E}">
        <p14:creationId xmlns:p14="http://schemas.microsoft.com/office/powerpoint/2010/main" val="32272172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pic>
        <p:nvPicPr>
          <p:cNvPr id="1026" name="Picture 2" descr="\\DROBO-FS\QuickDrops\JB\PPTX NG\Droplets\LightingOverlay.png"/>
          <p:cNvPicPr>
            <a:picLocks noChangeAspect="1" noChangeArrowheads="1"/>
          </p:cNvPicPr>
          <p:nvPr/>
        </p:nvPicPr>
        <p:blipFill>
          <a:blip r:embed="rId20">
            <a:alphaModFix/>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a:solidFill>
                  <a:srgbClr val="FFFFFF"/>
                </a:solidFill>
              </a14:hiddenFill>
            </a:ext>
          </a:extLst>
        </p:spPr>
      </p:pic>
      <p:sp>
        <p:nvSpPr>
          <p:cNvPr id="2" name="Title Placeholder 1"/>
          <p:cNvSpPr>
            <a:spLocks noGrp="1"/>
          </p:cNvSpPr>
          <p:nvPr>
            <p:ph type="title"/>
          </p:nvPr>
        </p:nvSpPr>
        <p:spPr>
          <a:xfrm>
            <a:off x="913775" y="618517"/>
            <a:ext cx="10364451" cy="1596177"/>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75" y="2367093"/>
            <a:ext cx="10364452" cy="342410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7" y="5883275"/>
            <a:ext cx="2743200" cy="365125"/>
          </a:xfrm>
          <a:prstGeom prst="rect">
            <a:avLst/>
          </a:prstGeom>
        </p:spPr>
        <p:txBody>
          <a:bodyPr vert="horz" lIns="91440" tIns="45720" rIns="91440" bIns="45720" rtlCol="0" anchor="ctr"/>
          <a:lstStyle>
            <a:lvl1pPr algn="r">
              <a:defRPr sz="1000">
                <a:solidFill>
                  <a:schemeClr val="tx1"/>
                </a:solidFill>
              </a:defRPr>
            </a:lvl1pPr>
          </a:lstStyle>
          <a:p>
            <a:fld id="{BB4D043D-D4A6-47BF-9499-A75DEF258447}" type="datetimeFigureOut">
              <a:rPr lang="en-IN" smtClean="0"/>
              <a:t>22-09-2025</a:t>
            </a:fld>
            <a:endParaRPr lang="en-IN"/>
          </a:p>
        </p:txBody>
      </p:sp>
      <p:sp>
        <p:nvSpPr>
          <p:cNvPr id="5" name="Footer Placeholder 4"/>
          <p:cNvSpPr>
            <a:spLocks noGrp="1"/>
          </p:cNvSpPr>
          <p:nvPr>
            <p:ph type="ftr" sz="quarter" idx="3"/>
          </p:nvPr>
        </p:nvSpPr>
        <p:spPr>
          <a:xfrm>
            <a:off x="913774" y="5883275"/>
            <a:ext cx="6672887" cy="365125"/>
          </a:xfrm>
          <a:prstGeom prst="rect">
            <a:avLst/>
          </a:prstGeom>
        </p:spPr>
        <p:txBody>
          <a:bodyPr vert="horz" lIns="91440" tIns="45720" rIns="91440" bIns="45720" rtlCol="0" anchor="ctr"/>
          <a:lstStyle>
            <a:lvl1pPr algn="l">
              <a:defRPr sz="1000">
                <a:solidFill>
                  <a:schemeClr val="tx1"/>
                </a:solidFill>
              </a:defRPr>
            </a:lvl1pPr>
          </a:lstStyle>
          <a:p>
            <a:endParaRPr lang="en-IN"/>
          </a:p>
        </p:txBody>
      </p:sp>
      <p:sp>
        <p:nvSpPr>
          <p:cNvPr id="6" name="Slide Number Placeholder 5"/>
          <p:cNvSpPr>
            <a:spLocks noGrp="1"/>
          </p:cNvSpPr>
          <p:nvPr>
            <p:ph type="sldNum" sz="quarter" idx="4"/>
          </p:nvPr>
        </p:nvSpPr>
        <p:spPr>
          <a:xfrm>
            <a:off x="10514011" y="5883275"/>
            <a:ext cx="764215" cy="365125"/>
          </a:xfrm>
          <a:prstGeom prst="rect">
            <a:avLst/>
          </a:prstGeom>
        </p:spPr>
        <p:txBody>
          <a:bodyPr vert="horz" lIns="91440" tIns="45720" rIns="91440" bIns="45720" rtlCol="0" anchor="ctr"/>
          <a:lstStyle>
            <a:lvl1pPr algn="r">
              <a:defRPr sz="1000">
                <a:solidFill>
                  <a:schemeClr val="tx1"/>
                </a:solidFill>
              </a:defRPr>
            </a:lvl1pPr>
          </a:lstStyle>
          <a:p>
            <a:fld id="{D14FBA40-6E31-48AC-A373-310D9FDF14BA}" type="slidenum">
              <a:rPr lang="en-IN" smtClean="0"/>
              <a:t>‹#›</a:t>
            </a:fld>
            <a:endParaRPr lang="en-IN"/>
          </a:p>
        </p:txBody>
      </p:sp>
    </p:spTree>
    <p:extLst>
      <p:ext uri="{BB962C8B-B14F-4D97-AF65-F5344CB8AC3E}">
        <p14:creationId xmlns:p14="http://schemas.microsoft.com/office/powerpoint/2010/main" val="1677951211"/>
      </p:ext>
    </p:extLst>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 id="2147483689" r:id="rId12"/>
    <p:sldLayoutId id="2147483690" r:id="rId13"/>
    <p:sldLayoutId id="2147483691" r:id="rId14"/>
    <p:sldLayoutId id="2147483692" r:id="rId15"/>
    <p:sldLayoutId id="2147483693" r:id="rId16"/>
    <p:sldLayoutId id="2147483694" r:id="rId17"/>
    <p:sldLayoutId id="2147483695" r:id="rId18"/>
  </p:sldLayoutIdLst>
  <p:txStyles>
    <p:titleStyle>
      <a:lvl1pPr algn="ctr" defTabSz="914400" rtl="0" eaLnBrk="1" latinLnBrk="0" hangingPunct="1">
        <a:lnSpc>
          <a:spcPct val="90000"/>
        </a:lnSpc>
        <a:spcBef>
          <a:spcPct val="0"/>
        </a:spcBef>
        <a:buNone/>
        <a:defRPr sz="3600" kern="1200" cap="all" baseline="0">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tx1"/>
        </a:buClr>
        <a:buFont typeface="Arial" panose="020B0604020202020204" pitchFamily="34" charset="0"/>
        <a:buChar char="•"/>
        <a:defRPr sz="2000" kern="1200" cap="all" baseline="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tx1"/>
        </a:buClr>
        <a:buFont typeface="Arial" panose="020B0604020202020204" pitchFamily="34" charset="0"/>
        <a:buChar char="•"/>
        <a:defRPr sz="1800" kern="1200" cap="all"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tx1"/>
        </a:buClr>
        <a:buFont typeface="Arial" panose="020B0604020202020204" pitchFamily="34" charset="0"/>
        <a:buChar char="•"/>
        <a:defRPr sz="1600" kern="1200" cap="all" baseline="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7.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1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1.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1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993162-25F9-EEF9-39E5-7826975F5D2E}"/>
              </a:ext>
            </a:extLst>
          </p:cNvPr>
          <p:cNvSpPr>
            <a:spLocks noGrp="1"/>
          </p:cNvSpPr>
          <p:nvPr>
            <p:ph type="ctrTitle"/>
          </p:nvPr>
        </p:nvSpPr>
        <p:spPr/>
        <p:txBody>
          <a:bodyPr/>
          <a:lstStyle/>
          <a:p>
            <a:r>
              <a:rPr lang="en-GB" dirty="0">
                <a:latin typeface="Times" panose="02020603050405020304" pitchFamily="18" charset="0"/>
                <a:cs typeface="Times" panose="02020603050405020304" pitchFamily="18" charset="0"/>
              </a:rPr>
              <a:t>Artificial Intelligence</a:t>
            </a:r>
            <a:endParaRPr lang="en-IN" dirty="0"/>
          </a:p>
        </p:txBody>
      </p:sp>
      <p:sp>
        <p:nvSpPr>
          <p:cNvPr id="3" name="Subtitle 2">
            <a:extLst>
              <a:ext uri="{FF2B5EF4-FFF2-40B4-BE49-F238E27FC236}">
                <a16:creationId xmlns:a16="http://schemas.microsoft.com/office/drawing/2014/main" id="{B3C9F9EE-B79A-5038-D711-64D3B22BE3B9}"/>
              </a:ext>
            </a:extLst>
          </p:cNvPr>
          <p:cNvSpPr>
            <a:spLocks noGrp="1"/>
          </p:cNvSpPr>
          <p:nvPr>
            <p:ph type="subTitle" idx="1"/>
          </p:nvPr>
        </p:nvSpPr>
        <p:spPr/>
        <p:txBody>
          <a:bodyPr/>
          <a:lstStyle/>
          <a:p>
            <a:r>
              <a:rPr lang="en-US" altLang="en-US" sz="1800" dirty="0">
                <a:latin typeface="Times" panose="02020603050405020304" pitchFamily="18" charset="0"/>
                <a:ea typeface="ＭＳ Ｐゴシック" panose="020B0600070205080204" pitchFamily="34" charset="-128"/>
                <a:cs typeface="Times" panose="02020603050405020304" pitchFamily="18" charset="0"/>
              </a:rPr>
              <a:t>Dr. Bidush Kumar Sahoo</a:t>
            </a:r>
            <a:br>
              <a:rPr lang="en-US" altLang="en-US" dirty="0">
                <a:latin typeface="Times" panose="02020603050405020304" pitchFamily="18" charset="0"/>
                <a:ea typeface="ＭＳ Ｐゴシック" panose="020B0600070205080204" pitchFamily="34" charset="-128"/>
                <a:cs typeface="Times" panose="02020603050405020304" pitchFamily="18" charset="0"/>
              </a:rPr>
            </a:br>
            <a:r>
              <a:rPr lang="en-US" altLang="en-US" dirty="0">
                <a:latin typeface="Times" panose="02020603050405020304" pitchFamily="18" charset="0"/>
                <a:ea typeface="ＭＳ Ｐゴシック" panose="020B0600070205080204" pitchFamily="34" charset="-128"/>
                <a:cs typeface="Times" panose="02020603050405020304" pitchFamily="18" charset="0"/>
              </a:rPr>
              <a:t>G.I.E.T. University,</a:t>
            </a:r>
            <a:br>
              <a:rPr lang="en-US" altLang="en-US" dirty="0">
                <a:latin typeface="Times" panose="02020603050405020304" pitchFamily="18" charset="0"/>
                <a:ea typeface="ＭＳ Ｐゴシック" panose="020B0600070205080204" pitchFamily="34" charset="-128"/>
                <a:cs typeface="Times" panose="02020603050405020304" pitchFamily="18" charset="0"/>
              </a:rPr>
            </a:br>
            <a:r>
              <a:rPr lang="en-US" altLang="en-US" dirty="0" err="1">
                <a:latin typeface="Times" panose="02020603050405020304" pitchFamily="18" charset="0"/>
                <a:ea typeface="ＭＳ Ｐゴシック" panose="020B0600070205080204" pitchFamily="34" charset="-128"/>
                <a:cs typeface="Times" panose="02020603050405020304" pitchFamily="18" charset="0"/>
              </a:rPr>
              <a:t>Gunupur</a:t>
            </a:r>
            <a:r>
              <a:rPr lang="en-US" altLang="en-US" dirty="0">
                <a:latin typeface="Times" panose="02020603050405020304" pitchFamily="18" charset="0"/>
                <a:ea typeface="ＭＳ Ｐゴシック" panose="020B0600070205080204" pitchFamily="34" charset="-128"/>
                <a:cs typeface="Times" panose="02020603050405020304" pitchFamily="18" charset="0"/>
              </a:rPr>
              <a:t>, Odisha</a:t>
            </a:r>
            <a:endParaRPr lang="en-IN" dirty="0"/>
          </a:p>
          <a:p>
            <a:endParaRPr lang="en-IN" dirty="0"/>
          </a:p>
        </p:txBody>
      </p:sp>
    </p:spTree>
    <p:extLst>
      <p:ext uri="{BB962C8B-B14F-4D97-AF65-F5344CB8AC3E}">
        <p14:creationId xmlns:p14="http://schemas.microsoft.com/office/powerpoint/2010/main" val="31754333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7653B6-2D7D-FE5B-CDCB-52A75CCEA3D4}"/>
              </a:ext>
            </a:extLst>
          </p:cNvPr>
          <p:cNvSpPr>
            <a:spLocks noGrp="1"/>
          </p:cNvSpPr>
          <p:nvPr>
            <p:ph type="title"/>
          </p:nvPr>
        </p:nvSpPr>
        <p:spPr>
          <a:xfrm>
            <a:off x="2104103" y="624110"/>
            <a:ext cx="9400509" cy="1280890"/>
          </a:xfrm>
        </p:spPr>
        <p:txBody>
          <a:bodyPr/>
          <a:lstStyle/>
          <a:p>
            <a:br>
              <a:rPr lang="en-IN" dirty="0"/>
            </a:br>
            <a:r>
              <a:rPr lang="en-IN" dirty="0">
                <a:latin typeface="Times New Roman" panose="02020603050405020304" pitchFamily="18" charset="0"/>
                <a:cs typeface="Times New Roman" panose="02020603050405020304" pitchFamily="18" charset="0"/>
              </a:rPr>
              <a:t> </a:t>
            </a:r>
            <a:r>
              <a:rPr lang="en-IN" b="1" dirty="0">
                <a:latin typeface="Times New Roman" panose="02020603050405020304" pitchFamily="18" charset="0"/>
                <a:cs typeface="Times New Roman" panose="02020603050405020304" pitchFamily="18" charset="0"/>
              </a:rPr>
              <a:t>Natural Language Processing</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35C122E6-7873-9853-03DD-6C460A014B02}"/>
              </a:ext>
            </a:extLst>
          </p:cNvPr>
          <p:cNvSpPr>
            <a:spLocks noGrp="1"/>
          </p:cNvSpPr>
          <p:nvPr>
            <p:ph idx="1"/>
          </p:nvPr>
        </p:nvSpPr>
        <p:spPr/>
        <p:txBody>
          <a:bodyPr>
            <a:normAutofit/>
          </a:bodyPr>
          <a:lstStyle/>
          <a:p>
            <a:endParaRPr lang="en-IN" dirty="0"/>
          </a:p>
          <a:p>
            <a:pPr marL="0" indent="0">
              <a:buNone/>
            </a:pPr>
            <a:r>
              <a:rPr lang="en-US" cap="none" dirty="0">
                <a:latin typeface="Times New Roman" panose="02020603050405020304" pitchFamily="18" charset="0"/>
                <a:cs typeface="Times New Roman" panose="02020603050405020304" pitchFamily="18" charset="0"/>
              </a:rPr>
              <a:t>NLP stands for natural language processing, which is a part of computer science, human language, and artificial intelligence. </a:t>
            </a:r>
          </a:p>
          <a:p>
            <a:pPr marL="0" indent="0">
              <a:buNone/>
            </a:pPr>
            <a:r>
              <a:rPr lang="en-US" cap="none" dirty="0">
                <a:latin typeface="Times New Roman" panose="02020603050405020304" pitchFamily="18" charset="0"/>
                <a:cs typeface="Times New Roman" panose="02020603050405020304" pitchFamily="18" charset="0"/>
              </a:rPr>
              <a:t>It is the technology that is used by machines to understand, </a:t>
            </a:r>
            <a:r>
              <a:rPr lang="en-US" cap="none" dirty="0" err="1">
                <a:latin typeface="Times New Roman" panose="02020603050405020304" pitchFamily="18" charset="0"/>
                <a:cs typeface="Times New Roman" panose="02020603050405020304" pitchFamily="18" charset="0"/>
              </a:rPr>
              <a:t>analyse</a:t>
            </a:r>
            <a:r>
              <a:rPr lang="en-US" cap="none" dirty="0">
                <a:latin typeface="Times New Roman" panose="02020603050405020304" pitchFamily="18" charset="0"/>
                <a:cs typeface="Times New Roman" panose="02020603050405020304" pitchFamily="18" charset="0"/>
              </a:rPr>
              <a:t>, manipulate, and interpret human's languages. </a:t>
            </a:r>
          </a:p>
          <a:p>
            <a:pPr marL="0" indent="0">
              <a:buNone/>
            </a:pPr>
            <a:r>
              <a:rPr lang="en-US" cap="none" dirty="0">
                <a:latin typeface="Times New Roman" panose="02020603050405020304" pitchFamily="18" charset="0"/>
                <a:cs typeface="Times New Roman" panose="02020603050405020304" pitchFamily="18" charset="0"/>
              </a:rPr>
              <a:t>It helps developers to organize knowledge for performing tasks such as translation, automatic summarization, named entity recognition (NER), speech recognition, relationship extraction, and topic segmentation. </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297123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E55848-2372-45D1-FA87-07A34757C019}"/>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BA5087A5-441C-FC8A-910C-36B2CA710453}"/>
              </a:ext>
            </a:extLst>
          </p:cNvPr>
          <p:cNvSpPr>
            <a:spLocks noGrp="1"/>
          </p:cNvSpPr>
          <p:nvPr>
            <p:ph idx="1"/>
          </p:nvPr>
        </p:nvSpPr>
        <p:spPr>
          <a:xfrm>
            <a:off x="2589212" y="2133600"/>
            <a:ext cx="8915400" cy="4404852"/>
          </a:xfrm>
        </p:spPr>
        <p:txBody>
          <a:bodyPr>
            <a:normAutofit fontScale="70000" lnSpcReduction="20000"/>
          </a:bodyPr>
          <a:lstStyle/>
          <a:p>
            <a:endParaRPr lang="en-IN" dirty="0"/>
          </a:p>
          <a:p>
            <a:pPr marL="0" indent="0">
              <a:buNone/>
            </a:pPr>
            <a:r>
              <a:rPr lang="en-US" sz="2400" cap="none" dirty="0">
                <a:latin typeface="Times New Roman" panose="02020603050405020304" pitchFamily="18" charset="0"/>
                <a:cs typeface="Times New Roman" panose="02020603050405020304" pitchFamily="18" charset="0"/>
              </a:rPr>
              <a:t>Natural Language Processing (NLP) refers to AI method of communicating with intelligent systems using a natural language such as English. </a:t>
            </a:r>
          </a:p>
          <a:p>
            <a:pPr marL="0" indent="0">
              <a:buNone/>
            </a:pPr>
            <a:r>
              <a:rPr lang="en-US" sz="2400" cap="none" dirty="0">
                <a:latin typeface="Times New Roman" panose="02020603050405020304" pitchFamily="18" charset="0"/>
                <a:cs typeface="Times New Roman" panose="02020603050405020304" pitchFamily="18" charset="0"/>
              </a:rPr>
              <a:t>Processing of Natural Language is required when you want an intelligent system like robot to perform as per your instructions, when you want to hear decision from a dialogue based clinical expert system, etc. </a:t>
            </a:r>
          </a:p>
          <a:p>
            <a:endParaRPr lang="en-IN" dirty="0"/>
          </a:p>
          <a:p>
            <a:pPr marL="0" indent="0">
              <a:buNone/>
            </a:pPr>
            <a:r>
              <a:rPr lang="en-IN" dirty="0"/>
              <a:t> </a:t>
            </a:r>
            <a:r>
              <a:rPr lang="en-IN" sz="2400" b="1" cap="none" dirty="0">
                <a:latin typeface="Times New Roman" panose="02020603050405020304" pitchFamily="18" charset="0"/>
                <a:cs typeface="Times New Roman" panose="02020603050405020304" pitchFamily="18" charset="0"/>
              </a:rPr>
              <a:t>Examples: </a:t>
            </a:r>
          </a:p>
          <a:p>
            <a:r>
              <a:rPr lang="en-IN" sz="2400" cap="none" dirty="0">
                <a:latin typeface="Times New Roman" panose="02020603050405020304" pitchFamily="18" charset="0"/>
                <a:cs typeface="Times New Roman" panose="02020603050405020304" pitchFamily="18" charset="0"/>
              </a:rPr>
              <a:t>Personal assistants: Siri, Cortana, and Google Assistant. </a:t>
            </a:r>
          </a:p>
          <a:p>
            <a:r>
              <a:rPr lang="en-US" sz="2400" cap="none" dirty="0">
                <a:latin typeface="Times New Roman" panose="02020603050405020304" pitchFamily="18" charset="0"/>
                <a:cs typeface="Times New Roman" panose="02020603050405020304" pitchFamily="18" charset="0"/>
              </a:rPr>
              <a:t>Auto-complete: In search engines (e.g., Google, Bing). </a:t>
            </a:r>
          </a:p>
          <a:p>
            <a:r>
              <a:rPr lang="en-US" sz="2400" cap="none" dirty="0">
                <a:latin typeface="Times New Roman" panose="02020603050405020304" pitchFamily="18" charset="0"/>
                <a:cs typeface="Times New Roman" panose="02020603050405020304" pitchFamily="18" charset="0"/>
              </a:rPr>
              <a:t>Spell checking: Almost everywhere, in your browser, your IDE (e.g., Visual Studio), desktop apps (e.g., Microsoft Word). </a:t>
            </a:r>
          </a:p>
          <a:p>
            <a:r>
              <a:rPr lang="en-IN" sz="2400" cap="none" dirty="0">
                <a:latin typeface="Times New Roman" panose="02020603050405020304" pitchFamily="18" charset="0"/>
                <a:cs typeface="Times New Roman" panose="02020603050405020304" pitchFamily="18" charset="0"/>
              </a:rPr>
              <a:t>Machine Translation: Google Translate. </a:t>
            </a:r>
          </a:p>
          <a:p>
            <a:endParaRPr lang="en-IN" dirty="0"/>
          </a:p>
        </p:txBody>
      </p:sp>
    </p:spTree>
    <p:extLst>
      <p:ext uri="{BB962C8B-B14F-4D97-AF65-F5344CB8AC3E}">
        <p14:creationId xmlns:p14="http://schemas.microsoft.com/office/powerpoint/2010/main" val="31671987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10CFDE-98BE-E1B5-4607-007943FEFC4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BA86224-B064-494A-3FC0-262D70CFA816}"/>
              </a:ext>
            </a:extLst>
          </p:cNvPr>
          <p:cNvSpPr>
            <a:spLocks noGrp="1"/>
          </p:cNvSpPr>
          <p:nvPr>
            <p:ph type="title"/>
          </p:nvPr>
        </p:nvSpPr>
        <p:spPr>
          <a:xfrm>
            <a:off x="2592925" y="486458"/>
            <a:ext cx="8911687" cy="1280890"/>
          </a:xfrm>
        </p:spPr>
        <p:txBody>
          <a:bodyPr/>
          <a:lstStyle/>
          <a:p>
            <a:br>
              <a:rPr lang="en-IN" dirty="0"/>
            </a:br>
            <a:r>
              <a:rPr lang="en-IN" dirty="0"/>
              <a:t> </a:t>
            </a:r>
            <a:r>
              <a:rPr lang="en-IN" b="1" dirty="0">
                <a:latin typeface="Times New Roman" panose="02020603050405020304" pitchFamily="18" charset="0"/>
                <a:cs typeface="Times New Roman" panose="02020603050405020304" pitchFamily="18" charset="0"/>
              </a:rPr>
              <a:t>Components of NLP </a:t>
            </a:r>
          </a:p>
        </p:txBody>
      </p:sp>
      <p:sp>
        <p:nvSpPr>
          <p:cNvPr id="3" name="Content Placeholder 2">
            <a:extLst>
              <a:ext uri="{FF2B5EF4-FFF2-40B4-BE49-F238E27FC236}">
                <a16:creationId xmlns:a16="http://schemas.microsoft.com/office/drawing/2014/main" id="{936418B3-B74C-49BA-E435-A43523542A85}"/>
              </a:ext>
            </a:extLst>
          </p:cNvPr>
          <p:cNvSpPr>
            <a:spLocks noGrp="1"/>
          </p:cNvSpPr>
          <p:nvPr>
            <p:ph idx="1"/>
          </p:nvPr>
        </p:nvSpPr>
        <p:spPr>
          <a:xfrm>
            <a:off x="1504335" y="1956619"/>
            <a:ext cx="10000277" cy="4901381"/>
          </a:xfrm>
        </p:spPr>
        <p:txBody>
          <a:bodyPr>
            <a:normAutofit fontScale="32500" lnSpcReduction="20000"/>
          </a:bodyPr>
          <a:lstStyle/>
          <a:p>
            <a:endParaRPr lang="en-IN" dirty="0"/>
          </a:p>
          <a:p>
            <a:pPr marL="0" indent="0">
              <a:buNone/>
            </a:pPr>
            <a:r>
              <a:rPr lang="en-US" sz="5000" cap="none" dirty="0">
                <a:latin typeface="Times New Roman" panose="02020603050405020304" pitchFamily="18" charset="0"/>
                <a:cs typeface="Times New Roman" panose="02020603050405020304" pitchFamily="18" charset="0"/>
              </a:rPr>
              <a:t>There are two components of NLP as given − </a:t>
            </a:r>
          </a:p>
          <a:p>
            <a:pPr marL="0" indent="0">
              <a:buNone/>
            </a:pPr>
            <a:r>
              <a:rPr lang="en-IN" sz="5000" b="1" cap="none" dirty="0">
                <a:latin typeface="Times New Roman" panose="02020603050405020304" pitchFamily="18" charset="0"/>
                <a:cs typeface="Times New Roman" panose="02020603050405020304" pitchFamily="18" charset="0"/>
              </a:rPr>
              <a:t>Natural Language Understanding (NLU) </a:t>
            </a:r>
          </a:p>
          <a:p>
            <a:r>
              <a:rPr lang="en-US" sz="5000" cap="none" dirty="0">
                <a:latin typeface="Times New Roman" panose="02020603050405020304" pitchFamily="18" charset="0"/>
                <a:cs typeface="Times New Roman" panose="02020603050405020304" pitchFamily="18" charset="0"/>
              </a:rPr>
              <a:t>Understanding involves the following tasks − </a:t>
            </a:r>
          </a:p>
          <a:p>
            <a:r>
              <a:rPr lang="en-US" sz="5000" cap="none" dirty="0">
                <a:latin typeface="Times New Roman" panose="02020603050405020304" pitchFamily="18" charset="0"/>
                <a:cs typeface="Times New Roman" panose="02020603050405020304" pitchFamily="18" charset="0"/>
              </a:rPr>
              <a:t>Mapping the given input in natural language into useful representations. </a:t>
            </a:r>
          </a:p>
          <a:p>
            <a:r>
              <a:rPr lang="en-US" sz="5000" cap="none" dirty="0">
                <a:latin typeface="Times New Roman" panose="02020603050405020304" pitchFamily="18" charset="0"/>
                <a:cs typeface="Times New Roman" panose="02020603050405020304" pitchFamily="18" charset="0"/>
              </a:rPr>
              <a:t>Analyzing different aspects of the language. </a:t>
            </a:r>
          </a:p>
          <a:p>
            <a:pPr marL="0" indent="0">
              <a:buNone/>
            </a:pPr>
            <a:r>
              <a:rPr lang="en-IN" sz="5000" b="1" cap="none" dirty="0">
                <a:latin typeface="Times New Roman" panose="02020603050405020304" pitchFamily="18" charset="0"/>
                <a:cs typeface="Times New Roman" panose="02020603050405020304" pitchFamily="18" charset="0"/>
              </a:rPr>
              <a:t>Natural Language Generation (NLG) </a:t>
            </a:r>
          </a:p>
          <a:p>
            <a:r>
              <a:rPr lang="en-US" sz="5000" cap="none" dirty="0">
                <a:latin typeface="Times New Roman" panose="02020603050405020304" pitchFamily="18" charset="0"/>
                <a:cs typeface="Times New Roman" panose="02020603050405020304" pitchFamily="18" charset="0"/>
              </a:rPr>
              <a:t>It is the process of producing meaningful phrases and sentences in the form of natural language from some internal representation. </a:t>
            </a:r>
            <a:r>
              <a:rPr lang="en-IN" sz="5000" cap="none" dirty="0">
                <a:latin typeface="Times New Roman" panose="02020603050405020304" pitchFamily="18" charset="0"/>
                <a:cs typeface="Times New Roman" panose="02020603050405020304" pitchFamily="18" charset="0"/>
              </a:rPr>
              <a:t>It involves − </a:t>
            </a:r>
          </a:p>
          <a:p>
            <a:r>
              <a:rPr lang="en-US" sz="5000" b="1" cap="none" dirty="0">
                <a:latin typeface="Times New Roman" panose="02020603050405020304" pitchFamily="18" charset="0"/>
                <a:cs typeface="Times New Roman" panose="02020603050405020304" pitchFamily="18" charset="0"/>
              </a:rPr>
              <a:t>Text planning </a:t>
            </a:r>
            <a:r>
              <a:rPr lang="en-US" sz="5000" cap="none" dirty="0">
                <a:latin typeface="Times New Roman" panose="02020603050405020304" pitchFamily="18" charset="0"/>
                <a:cs typeface="Times New Roman" panose="02020603050405020304" pitchFamily="18" charset="0"/>
              </a:rPr>
              <a:t>− It includes retrieving the relevant content from knowledge base. </a:t>
            </a:r>
          </a:p>
          <a:p>
            <a:r>
              <a:rPr lang="en-US" sz="5000" b="1" cap="none" dirty="0">
                <a:latin typeface="Times New Roman" panose="02020603050405020304" pitchFamily="18" charset="0"/>
                <a:cs typeface="Times New Roman" panose="02020603050405020304" pitchFamily="18" charset="0"/>
              </a:rPr>
              <a:t>Sentence planning </a:t>
            </a:r>
            <a:r>
              <a:rPr lang="en-US" sz="5000" cap="none" dirty="0">
                <a:latin typeface="Times New Roman" panose="02020603050405020304" pitchFamily="18" charset="0"/>
                <a:cs typeface="Times New Roman" panose="02020603050405020304" pitchFamily="18" charset="0"/>
              </a:rPr>
              <a:t>− It includes choosing required words, forming meaningful phrases, setting tone of the sentence. </a:t>
            </a:r>
          </a:p>
          <a:p>
            <a:r>
              <a:rPr lang="en-US" sz="5000" b="1" cap="none" dirty="0">
                <a:latin typeface="Times New Roman" panose="02020603050405020304" pitchFamily="18" charset="0"/>
                <a:cs typeface="Times New Roman" panose="02020603050405020304" pitchFamily="18" charset="0"/>
              </a:rPr>
              <a:t>Text Realization </a:t>
            </a:r>
            <a:r>
              <a:rPr lang="en-US" sz="5000" cap="none" dirty="0">
                <a:latin typeface="Times New Roman" panose="02020603050405020304" pitchFamily="18" charset="0"/>
                <a:cs typeface="Times New Roman" panose="02020603050405020304" pitchFamily="18" charset="0"/>
              </a:rPr>
              <a:t>− It is mapping sentence plan into sentence structure. </a:t>
            </a:r>
          </a:p>
          <a:p>
            <a:pPr marL="0" indent="0">
              <a:buNone/>
            </a:pPr>
            <a:endParaRPr lang="en-IN" sz="5000" cap="none"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438700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AB4BA6-2EC9-12DB-B0E0-94FE96D99F0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05E4FB9-58C2-C569-0296-1C7286E0D7E0}"/>
              </a:ext>
            </a:extLst>
          </p:cNvPr>
          <p:cNvSpPr>
            <a:spLocks noGrp="1"/>
          </p:cNvSpPr>
          <p:nvPr>
            <p:ph type="title"/>
          </p:nvPr>
        </p:nvSpPr>
        <p:spPr/>
        <p:txBody>
          <a:bodyPr>
            <a:normAutofit fontScale="90000"/>
          </a:bodyPr>
          <a:lstStyle/>
          <a:p>
            <a:r>
              <a:rPr lang="en-US" b="1" dirty="0">
                <a:latin typeface="Times New Roman" panose="02020603050405020304" pitchFamily="18" charset="0"/>
                <a:cs typeface="Times New Roman" panose="02020603050405020304" pitchFamily="18" charset="0"/>
              </a:rPr>
              <a:t>advantages and </a:t>
            </a:r>
            <a:r>
              <a:rPr lang="en-IN" b="1" dirty="0">
                <a:latin typeface="Times New Roman" panose="02020603050405020304" pitchFamily="18" charset="0"/>
                <a:cs typeface="Times New Roman" panose="02020603050405020304" pitchFamily="18" charset="0"/>
              </a:rPr>
              <a:t>Disadvantages</a:t>
            </a:r>
            <a:br>
              <a:rPr lang="en-IN" b="1" dirty="0">
                <a:latin typeface="Times New Roman" panose="02020603050405020304" pitchFamily="18" charset="0"/>
                <a:cs typeface="Times New Roman" panose="02020603050405020304" pitchFamily="18" charset="0"/>
              </a:rPr>
            </a:br>
            <a:r>
              <a:rPr lang="en-IN" b="1"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of implementing NLP  </a:t>
            </a:r>
            <a:br>
              <a:rPr lang="en-US" dirty="0"/>
            </a:br>
            <a:endParaRPr lang="en-IN" dirty="0"/>
          </a:p>
        </p:txBody>
      </p:sp>
      <p:sp>
        <p:nvSpPr>
          <p:cNvPr id="3" name="Content Placeholder 2">
            <a:extLst>
              <a:ext uri="{FF2B5EF4-FFF2-40B4-BE49-F238E27FC236}">
                <a16:creationId xmlns:a16="http://schemas.microsoft.com/office/drawing/2014/main" id="{FC44109E-99CF-F9DB-7983-EB158BBCDFE3}"/>
              </a:ext>
            </a:extLst>
          </p:cNvPr>
          <p:cNvSpPr>
            <a:spLocks noGrp="1"/>
          </p:cNvSpPr>
          <p:nvPr>
            <p:ph idx="1"/>
          </p:nvPr>
        </p:nvSpPr>
        <p:spPr>
          <a:xfrm>
            <a:off x="2589212" y="2133599"/>
            <a:ext cx="8915400" cy="4306529"/>
          </a:xfrm>
        </p:spPr>
        <p:txBody>
          <a:bodyPr>
            <a:normAutofit fontScale="92500" lnSpcReduction="10000"/>
          </a:bodyPr>
          <a:lstStyle/>
          <a:p>
            <a:endParaRPr lang="en-IN" dirty="0"/>
          </a:p>
          <a:p>
            <a:r>
              <a:rPr lang="en-US" sz="1700" cap="none" dirty="0">
                <a:latin typeface="Times New Roman" panose="02020603050405020304" pitchFamily="18" charset="0"/>
                <a:cs typeface="Times New Roman" panose="02020603050405020304" pitchFamily="18" charset="0"/>
              </a:rPr>
              <a:t>NLP helps users to ask questions about any subject and get a direct response within seconds. </a:t>
            </a:r>
          </a:p>
          <a:p>
            <a:r>
              <a:rPr lang="en-US" sz="1700" cap="none" dirty="0">
                <a:latin typeface="Times New Roman" panose="02020603050405020304" pitchFamily="18" charset="0"/>
                <a:cs typeface="Times New Roman" panose="02020603050405020304" pitchFamily="18" charset="0"/>
              </a:rPr>
              <a:t>NLP offers exact answers to the question means it does not offer unnecessary and unwanted information. </a:t>
            </a:r>
          </a:p>
          <a:p>
            <a:r>
              <a:rPr lang="en-US" sz="1700" cap="none" dirty="0">
                <a:latin typeface="Times New Roman" panose="02020603050405020304" pitchFamily="18" charset="0"/>
                <a:cs typeface="Times New Roman" panose="02020603050405020304" pitchFamily="18" charset="0"/>
              </a:rPr>
              <a:t>NLP helps computers to communicate with humans in their languages. It is very time efficient. </a:t>
            </a:r>
          </a:p>
          <a:p>
            <a:r>
              <a:rPr lang="en-US" sz="1700" cap="none" dirty="0">
                <a:latin typeface="Times New Roman" panose="02020603050405020304" pitchFamily="18" charset="0"/>
                <a:cs typeface="Times New Roman" panose="02020603050405020304" pitchFamily="18" charset="0"/>
              </a:rPr>
              <a:t>Most of the companies use NLP to improve the efficiency of documentation processes, accuracy of documentation, and identify the information from large databases</a:t>
            </a:r>
            <a:r>
              <a:rPr lang="en-US" dirty="0"/>
              <a:t>. </a:t>
            </a:r>
          </a:p>
          <a:p>
            <a:r>
              <a:rPr lang="en-IN" sz="1700" cap="none" dirty="0">
                <a:latin typeface="Times New Roman" panose="02020603050405020304" pitchFamily="18" charset="0"/>
                <a:cs typeface="Times New Roman" panose="02020603050405020304" pitchFamily="18" charset="0"/>
              </a:rPr>
              <a:t>Disadvantages of NLP include: </a:t>
            </a:r>
          </a:p>
          <a:p>
            <a:r>
              <a:rPr lang="en-US" sz="1700" cap="none" dirty="0">
                <a:latin typeface="Times New Roman" panose="02020603050405020304" pitchFamily="18" charset="0"/>
                <a:cs typeface="Times New Roman" panose="02020603050405020304" pitchFamily="18" charset="0"/>
              </a:rPr>
              <a:t>Training can take time: if it’s necessary to develop a model with a new set of data without using a pre- trained model, it can take weeks to achieve a good performance depending on the amount of data.</a:t>
            </a:r>
          </a:p>
          <a:p>
            <a:r>
              <a:rPr lang="en-US" sz="1700" cap="none" dirty="0">
                <a:latin typeface="Times New Roman" panose="02020603050405020304" pitchFamily="18" charset="0"/>
                <a:cs typeface="Times New Roman" panose="02020603050405020304" pitchFamily="18" charset="0"/>
              </a:rPr>
              <a:t> It’s not 100% reliable: one of the disadvantages of machine learning is that it’s never 100% dependable. There’s the possibility of errors in its prediction and results. </a:t>
            </a:r>
          </a:p>
          <a:p>
            <a:endParaRPr lang="en-US" dirty="0"/>
          </a:p>
          <a:p>
            <a:endParaRPr lang="en-IN" dirty="0"/>
          </a:p>
        </p:txBody>
      </p:sp>
    </p:spTree>
    <p:extLst>
      <p:ext uri="{BB962C8B-B14F-4D97-AF65-F5344CB8AC3E}">
        <p14:creationId xmlns:p14="http://schemas.microsoft.com/office/powerpoint/2010/main" val="21462726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DF5F98-5CCF-0DFF-B2BA-232EE07F135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AF6469E-7742-9C36-036B-ECFA835FDEC9}"/>
              </a:ext>
            </a:extLst>
          </p:cNvPr>
          <p:cNvSpPr>
            <a:spLocks noGrp="1"/>
          </p:cNvSpPr>
          <p:nvPr>
            <p:ph type="title"/>
          </p:nvPr>
        </p:nvSpPr>
        <p:spPr>
          <a:xfrm>
            <a:off x="2592925" y="442452"/>
            <a:ext cx="8911687" cy="1462548"/>
          </a:xfrm>
        </p:spPr>
        <p:txBody>
          <a:bodyPr>
            <a:normAutofit/>
          </a:bodyPr>
          <a:lstStyle/>
          <a:p>
            <a:br>
              <a:rPr lang="en-IN" dirty="0"/>
            </a:br>
            <a:r>
              <a:rPr lang="en-US"/>
              <a:t> </a:t>
            </a:r>
            <a:r>
              <a:rPr lang="en-US" sz="3200" b="1">
                <a:latin typeface="Times New Roman" panose="02020603050405020304" pitchFamily="18" charset="0"/>
                <a:cs typeface="Times New Roman" panose="02020603050405020304" pitchFamily="18" charset="0"/>
              </a:rPr>
              <a:t>PHASES </a:t>
            </a:r>
            <a:r>
              <a:rPr lang="en-US" sz="3200" b="1" dirty="0">
                <a:latin typeface="Times New Roman" panose="02020603050405020304" pitchFamily="18" charset="0"/>
                <a:cs typeface="Times New Roman" panose="02020603050405020304" pitchFamily="18" charset="0"/>
              </a:rPr>
              <a:t>of NLP in AI</a:t>
            </a:r>
            <a:endParaRPr lang="en-IN" sz="32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8D6EC0FD-B4B3-DF8A-EBFB-8B8429B1D91E}"/>
              </a:ext>
            </a:extLst>
          </p:cNvPr>
          <p:cNvSpPr>
            <a:spLocks noGrp="1"/>
          </p:cNvSpPr>
          <p:nvPr>
            <p:ph idx="1"/>
          </p:nvPr>
        </p:nvSpPr>
        <p:spPr>
          <a:xfrm>
            <a:off x="2589212" y="1905000"/>
            <a:ext cx="8915400" cy="4859593"/>
          </a:xfrm>
        </p:spPr>
        <p:txBody>
          <a:bodyPr>
            <a:normAutofit fontScale="32500" lnSpcReduction="20000"/>
          </a:bodyPr>
          <a:lstStyle/>
          <a:p>
            <a:endParaRPr lang="en-IN" dirty="0"/>
          </a:p>
          <a:p>
            <a:pPr marL="0" indent="0">
              <a:buNone/>
            </a:pPr>
            <a:r>
              <a:rPr lang="en-IN" sz="3700" cap="none" dirty="0">
                <a:latin typeface="Times New Roman" panose="02020603050405020304" pitchFamily="18" charset="0"/>
                <a:cs typeface="Times New Roman" panose="02020603050405020304" pitchFamily="18" charset="0"/>
              </a:rPr>
              <a:t>1. </a:t>
            </a:r>
            <a:r>
              <a:rPr lang="en-IN" sz="3700" b="1" cap="none" dirty="0">
                <a:latin typeface="Times New Roman" panose="02020603050405020304" pitchFamily="18" charset="0"/>
                <a:cs typeface="Times New Roman" panose="02020603050405020304" pitchFamily="18" charset="0"/>
              </a:rPr>
              <a:t>Lexical Analysis and Morphological </a:t>
            </a:r>
          </a:p>
          <a:p>
            <a:r>
              <a:rPr lang="en-US" sz="3700" cap="none" dirty="0">
                <a:latin typeface="Times New Roman" panose="02020603050405020304" pitchFamily="18" charset="0"/>
                <a:cs typeface="Times New Roman" panose="02020603050405020304" pitchFamily="18" charset="0"/>
              </a:rPr>
              <a:t>The first phase of NLP is the Lexical Analysis. This phase scans the source code as a stream of characters and converts it into meaningful lexemes. It divides the whole text into paragraphs, sentences, and words. </a:t>
            </a:r>
          </a:p>
          <a:p>
            <a:pPr marL="0" indent="0">
              <a:buNone/>
            </a:pPr>
            <a:r>
              <a:rPr lang="en-IN" sz="3700" cap="none" dirty="0">
                <a:latin typeface="Times New Roman" panose="02020603050405020304" pitchFamily="18" charset="0"/>
                <a:cs typeface="Times New Roman" panose="02020603050405020304" pitchFamily="18" charset="0"/>
              </a:rPr>
              <a:t>2. </a:t>
            </a:r>
            <a:r>
              <a:rPr lang="en-IN" sz="3700" b="1" cap="none" dirty="0">
                <a:latin typeface="Times New Roman" panose="02020603050405020304" pitchFamily="18" charset="0"/>
                <a:cs typeface="Times New Roman" panose="02020603050405020304" pitchFamily="18" charset="0"/>
              </a:rPr>
              <a:t>Syntactic Analysis (Parsing) </a:t>
            </a:r>
          </a:p>
          <a:p>
            <a:r>
              <a:rPr lang="en-US" sz="3700" cap="none" dirty="0">
                <a:latin typeface="Times New Roman" panose="02020603050405020304" pitchFamily="18" charset="0"/>
                <a:cs typeface="Times New Roman" panose="02020603050405020304" pitchFamily="18" charset="0"/>
              </a:rPr>
              <a:t>Syntactic Analysis is used to check grammar, word arrangements, and shows the relationship among the words. Example: Agra goes to the Poonam </a:t>
            </a:r>
          </a:p>
          <a:p>
            <a:r>
              <a:rPr lang="en-US" sz="3700" cap="none" dirty="0">
                <a:latin typeface="Times New Roman" panose="02020603050405020304" pitchFamily="18" charset="0"/>
                <a:cs typeface="Times New Roman" panose="02020603050405020304" pitchFamily="18" charset="0"/>
              </a:rPr>
              <a:t>In the real world, Agra goes to the Poonam, does not make any sense, so this sentence is rejected by the Syntactic analyzer. </a:t>
            </a:r>
          </a:p>
          <a:p>
            <a:pPr marL="0" indent="0">
              <a:buNone/>
            </a:pPr>
            <a:r>
              <a:rPr lang="en-IN" sz="3700" b="1" cap="none" dirty="0">
                <a:latin typeface="Times New Roman" panose="02020603050405020304" pitchFamily="18" charset="0"/>
                <a:cs typeface="Times New Roman" panose="02020603050405020304" pitchFamily="18" charset="0"/>
              </a:rPr>
              <a:t>3. Semantic Analysis </a:t>
            </a:r>
          </a:p>
          <a:p>
            <a:r>
              <a:rPr lang="en-US" sz="3700" cap="none" dirty="0">
                <a:latin typeface="Times New Roman" panose="02020603050405020304" pitchFamily="18" charset="0"/>
                <a:cs typeface="Times New Roman" panose="02020603050405020304" pitchFamily="18" charset="0"/>
              </a:rPr>
              <a:t>Semantic analysis is concerned with the meaning representation. It mainly focuses on the literal meaning of words, phrases, and sentences. </a:t>
            </a:r>
          </a:p>
          <a:p>
            <a:pPr marL="0" indent="0">
              <a:buNone/>
            </a:pPr>
            <a:r>
              <a:rPr lang="en-IN" sz="3700" b="1" cap="none" dirty="0">
                <a:latin typeface="Times New Roman" panose="02020603050405020304" pitchFamily="18" charset="0"/>
                <a:cs typeface="Times New Roman" panose="02020603050405020304" pitchFamily="18" charset="0"/>
              </a:rPr>
              <a:t>4. Discourse Integration </a:t>
            </a:r>
          </a:p>
          <a:p>
            <a:r>
              <a:rPr lang="en-US" sz="3700" cap="none" dirty="0">
                <a:latin typeface="Times New Roman" panose="02020603050405020304" pitchFamily="18" charset="0"/>
                <a:cs typeface="Times New Roman" panose="02020603050405020304" pitchFamily="18" charset="0"/>
              </a:rPr>
              <a:t>Discourse Integration depends upon the sentences that precedes it and also invokes the meaning of the sentences that follow it. </a:t>
            </a:r>
          </a:p>
          <a:p>
            <a:pPr marL="0" indent="0">
              <a:buNone/>
            </a:pPr>
            <a:r>
              <a:rPr lang="en-IN" sz="3700" b="1" cap="none" dirty="0">
                <a:latin typeface="Times New Roman" panose="02020603050405020304" pitchFamily="18" charset="0"/>
                <a:cs typeface="Times New Roman" panose="02020603050405020304" pitchFamily="18" charset="0"/>
              </a:rPr>
              <a:t>5. Pragmatic Analysis </a:t>
            </a:r>
          </a:p>
          <a:p>
            <a:r>
              <a:rPr lang="en-US" sz="3700" cap="none" dirty="0">
                <a:latin typeface="Times New Roman" panose="02020603050405020304" pitchFamily="18" charset="0"/>
                <a:cs typeface="Times New Roman" panose="02020603050405020304" pitchFamily="18" charset="0"/>
              </a:rPr>
              <a:t>Pragmatic is the fifth and last phase of NLP. It helps you to discover the intended effect by applying a set of rules that characterize cooperative dialogues. </a:t>
            </a:r>
          </a:p>
          <a:p>
            <a:r>
              <a:rPr lang="en-US" sz="3700" cap="none" dirty="0">
                <a:latin typeface="Times New Roman" panose="02020603050405020304" pitchFamily="18" charset="0"/>
                <a:cs typeface="Times New Roman" panose="02020603050405020304" pitchFamily="18" charset="0"/>
              </a:rPr>
              <a:t>For Example: "Open the door" is interpreted as a request instead of an order. </a:t>
            </a:r>
            <a:endParaRPr lang="en-IN" sz="3700" cap="none"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284202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F47999-12AF-070B-0722-5960B1156C10}"/>
            </a:ext>
          </a:extLst>
        </p:cNvPr>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5260F6DF-4FCB-4F74-CEBF-1D5BA8F1A5BA}"/>
              </a:ext>
            </a:extLst>
          </p:cNvPr>
          <p:cNvPicPr>
            <a:picLocks noGrp="1" noChangeAspect="1"/>
          </p:cNvPicPr>
          <p:nvPr>
            <p:ph idx="1"/>
          </p:nvPr>
        </p:nvPicPr>
        <p:blipFill>
          <a:blip r:embed="rId2"/>
          <a:stretch>
            <a:fillRect/>
          </a:stretch>
        </p:blipFill>
        <p:spPr>
          <a:xfrm>
            <a:off x="2772697" y="462117"/>
            <a:ext cx="8613058" cy="6145160"/>
          </a:xfrm>
          <a:prstGeom prst="rect">
            <a:avLst/>
          </a:prstGeom>
        </p:spPr>
      </p:pic>
    </p:spTree>
    <p:extLst>
      <p:ext uri="{BB962C8B-B14F-4D97-AF65-F5344CB8AC3E}">
        <p14:creationId xmlns:p14="http://schemas.microsoft.com/office/powerpoint/2010/main" val="114108052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AC6E9A-65D8-68AE-A382-B37F0EBE655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2F1AFE9-D6CF-EE64-EA9A-A5BD4FC32E34}"/>
              </a:ext>
            </a:extLst>
          </p:cNvPr>
          <p:cNvSpPr>
            <a:spLocks noGrp="1"/>
          </p:cNvSpPr>
          <p:nvPr>
            <p:ph type="title"/>
          </p:nvPr>
        </p:nvSpPr>
        <p:spPr/>
        <p:txBody>
          <a:bodyPr>
            <a:normAutofit fontScale="90000"/>
          </a:bodyPr>
          <a:lstStyle/>
          <a:p>
            <a:br>
              <a:rPr lang="en-IN" b="1" dirty="0">
                <a:latin typeface="Times New Roman" panose="02020603050405020304" pitchFamily="18" charset="0"/>
                <a:cs typeface="Times New Roman" panose="02020603050405020304" pitchFamily="18" charset="0"/>
              </a:rPr>
            </a:br>
            <a:r>
              <a:rPr lang="en-IN" b="1" dirty="0">
                <a:latin typeface="Times New Roman" panose="02020603050405020304" pitchFamily="18" charset="0"/>
                <a:cs typeface="Times New Roman" panose="02020603050405020304" pitchFamily="18" charset="0"/>
              </a:rPr>
              <a:t> Morphological Analysis</a:t>
            </a:r>
            <a:br>
              <a:rPr lang="en-IN" dirty="0"/>
            </a:br>
            <a:endParaRPr lang="en-IN" dirty="0"/>
          </a:p>
        </p:txBody>
      </p:sp>
      <p:sp>
        <p:nvSpPr>
          <p:cNvPr id="3" name="Content Placeholder 2">
            <a:extLst>
              <a:ext uri="{FF2B5EF4-FFF2-40B4-BE49-F238E27FC236}">
                <a16:creationId xmlns:a16="http://schemas.microsoft.com/office/drawing/2014/main" id="{23D980B0-D7A6-F920-31F4-51F6C9769CFD}"/>
              </a:ext>
            </a:extLst>
          </p:cNvPr>
          <p:cNvSpPr>
            <a:spLocks noGrp="1"/>
          </p:cNvSpPr>
          <p:nvPr>
            <p:ph idx="1"/>
          </p:nvPr>
        </p:nvSpPr>
        <p:spPr>
          <a:xfrm>
            <a:off x="2589212" y="1976285"/>
            <a:ext cx="8915400" cy="4650658"/>
          </a:xfrm>
        </p:spPr>
        <p:txBody>
          <a:bodyPr>
            <a:normAutofit fontScale="55000" lnSpcReduction="20000"/>
          </a:bodyPr>
          <a:lstStyle/>
          <a:p>
            <a:r>
              <a:rPr lang="en-US" sz="2900" cap="none" dirty="0">
                <a:latin typeface="Times New Roman" panose="02020603050405020304" pitchFamily="18" charset="0"/>
                <a:cs typeface="Times New Roman" panose="02020603050405020304" pitchFamily="18" charset="0"/>
              </a:rPr>
              <a:t>Deals with understanding distinct words according to their morphemes ( the smallest units of meanings) . Taking, for example, the word: “unhappiness ”. It can be broken down into three morphemes (prefix, stem, and suffix), with each conveying some form of meaning: the prefix un- refers to “not being”, while the suffix -ness refers to “a state of being”. </a:t>
            </a:r>
          </a:p>
          <a:p>
            <a:r>
              <a:rPr lang="en-US" sz="2900" cap="none" dirty="0">
                <a:latin typeface="Times New Roman" panose="02020603050405020304" pitchFamily="18" charset="0"/>
                <a:cs typeface="Times New Roman" panose="02020603050405020304" pitchFamily="18" charset="0"/>
              </a:rPr>
              <a:t>The stem happy is considered as a free morpheme since it is a “word” in its own right. Bound morphemes (prefixes and suffixes) require a free morpheme to which it can be attached to, and can therefore not appear as a “word” on their own. </a:t>
            </a:r>
          </a:p>
          <a:p>
            <a:r>
              <a:rPr lang="en-US" sz="2900" b="1" cap="none" dirty="0">
                <a:latin typeface="Times New Roman" panose="02020603050405020304" pitchFamily="18" charset="0"/>
                <a:cs typeface="Times New Roman" panose="02020603050405020304" pitchFamily="18" charset="0"/>
              </a:rPr>
              <a:t>Lexical Analysis: </a:t>
            </a:r>
            <a:r>
              <a:rPr lang="en-US" sz="2900" cap="none" dirty="0">
                <a:latin typeface="Times New Roman" panose="02020603050405020304" pitchFamily="18" charset="0"/>
                <a:cs typeface="Times New Roman" panose="02020603050405020304" pitchFamily="18" charset="0"/>
              </a:rPr>
              <a:t>It involves identifying and </a:t>
            </a:r>
            <a:r>
              <a:rPr lang="en-US" sz="2900" cap="none" dirty="0" err="1">
                <a:latin typeface="Times New Roman" panose="02020603050405020304" pitchFamily="18" charset="0"/>
                <a:cs typeface="Times New Roman" panose="02020603050405020304" pitchFamily="18" charset="0"/>
              </a:rPr>
              <a:t>analysing</a:t>
            </a:r>
            <a:r>
              <a:rPr lang="en-US" sz="2900" cap="none" dirty="0">
                <a:latin typeface="Times New Roman" panose="02020603050405020304" pitchFamily="18" charset="0"/>
                <a:cs typeface="Times New Roman" panose="02020603050405020304" pitchFamily="18" charset="0"/>
              </a:rPr>
              <a:t> the structure of words. Lexicon of a language means the collection of words and phrases in a language. Lexical analysis is dividing the whole chunk of txt into paragraphs, sentences, and words. I order to deal with lexical analysis, we often need to perform Lexicon Normalization. </a:t>
            </a:r>
          </a:p>
          <a:p>
            <a:r>
              <a:rPr lang="en-US" sz="2900" cap="none" dirty="0">
                <a:latin typeface="Times New Roman" panose="02020603050405020304" pitchFamily="18" charset="0"/>
                <a:cs typeface="Times New Roman" panose="02020603050405020304" pitchFamily="18" charset="0"/>
              </a:rPr>
              <a:t>The most common lexicon normalization practices are Stemming: </a:t>
            </a:r>
          </a:p>
          <a:p>
            <a:r>
              <a:rPr lang="en-US" sz="2900" b="1" cap="none" dirty="0">
                <a:latin typeface="Times New Roman" panose="02020603050405020304" pitchFamily="18" charset="0"/>
                <a:cs typeface="Times New Roman" panose="02020603050405020304" pitchFamily="18" charset="0"/>
              </a:rPr>
              <a:t>Stemming: </a:t>
            </a:r>
            <a:r>
              <a:rPr lang="en-US" sz="2900" cap="none" dirty="0">
                <a:latin typeface="Times New Roman" panose="02020603050405020304" pitchFamily="18" charset="0"/>
                <a:cs typeface="Times New Roman" panose="02020603050405020304" pitchFamily="18" charset="0"/>
              </a:rPr>
              <a:t>Stemming is a rudimentary rule-based process of stripping the suffixes (“</a:t>
            </a:r>
            <a:r>
              <a:rPr lang="en-US" sz="2900" cap="none" dirty="0" err="1">
                <a:latin typeface="Times New Roman" panose="02020603050405020304" pitchFamily="18" charset="0"/>
                <a:cs typeface="Times New Roman" panose="02020603050405020304" pitchFamily="18" charset="0"/>
              </a:rPr>
              <a:t>ing</a:t>
            </a:r>
            <a:r>
              <a:rPr lang="en-US" sz="2900" cap="none" dirty="0">
                <a:latin typeface="Times New Roman" panose="02020603050405020304" pitchFamily="18" charset="0"/>
                <a:cs typeface="Times New Roman" panose="02020603050405020304" pitchFamily="18" charset="0"/>
              </a:rPr>
              <a:t>”, “</a:t>
            </a:r>
            <a:r>
              <a:rPr lang="en-US" sz="2900" cap="none" dirty="0" err="1">
                <a:latin typeface="Times New Roman" panose="02020603050405020304" pitchFamily="18" charset="0"/>
                <a:cs typeface="Times New Roman" panose="02020603050405020304" pitchFamily="18" charset="0"/>
              </a:rPr>
              <a:t>ly</a:t>
            </a:r>
            <a:r>
              <a:rPr lang="en-US" sz="2900" cap="none" dirty="0">
                <a:latin typeface="Times New Roman" panose="02020603050405020304" pitchFamily="18" charset="0"/>
                <a:cs typeface="Times New Roman" panose="02020603050405020304" pitchFamily="18" charset="0"/>
              </a:rPr>
              <a:t>”, “es”, “s” </a:t>
            </a:r>
            <a:r>
              <a:rPr lang="en-US" sz="2900" cap="none" dirty="0" err="1">
                <a:latin typeface="Times New Roman" panose="02020603050405020304" pitchFamily="18" charset="0"/>
                <a:cs typeface="Times New Roman" panose="02020603050405020304" pitchFamily="18" charset="0"/>
              </a:rPr>
              <a:t>etc</a:t>
            </a:r>
            <a:r>
              <a:rPr lang="en-US" sz="2900" cap="none" dirty="0">
                <a:latin typeface="Times New Roman" panose="02020603050405020304" pitchFamily="18" charset="0"/>
                <a:cs typeface="Times New Roman" panose="02020603050405020304" pitchFamily="18" charset="0"/>
              </a:rPr>
              <a:t>) from a word. </a:t>
            </a:r>
          </a:p>
          <a:p>
            <a:r>
              <a:rPr lang="en-US" sz="2900" b="1" cap="none" dirty="0">
                <a:latin typeface="Times New Roman" panose="02020603050405020304" pitchFamily="18" charset="0"/>
                <a:cs typeface="Times New Roman" panose="02020603050405020304" pitchFamily="18" charset="0"/>
              </a:rPr>
              <a:t>Lemmatization: </a:t>
            </a:r>
            <a:r>
              <a:rPr lang="en-US" sz="2900" cap="none" dirty="0">
                <a:latin typeface="Times New Roman" panose="02020603050405020304" pitchFamily="18" charset="0"/>
                <a:cs typeface="Times New Roman" panose="02020603050405020304" pitchFamily="18" charset="0"/>
              </a:rPr>
              <a:t>Lemmatization, on the other hand, is an organized &amp; step by step procedure of obtaining the root form of the word, it makes use of vocabulary </a:t>
            </a:r>
            <a:endParaRPr lang="en-IN" sz="2900" cap="none"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172454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E6793A-BAA9-08A2-7393-62D262484E7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A0FCBB0-34CA-3BCA-856D-ADDFF2027B52}"/>
              </a:ext>
            </a:extLst>
          </p:cNvPr>
          <p:cNvSpPr>
            <a:spLocks noGrp="1"/>
          </p:cNvSpPr>
          <p:nvPr>
            <p:ph type="title"/>
          </p:nvPr>
        </p:nvSpPr>
        <p:spPr/>
        <p:txBody>
          <a:bodyPr/>
          <a:lstStyle/>
          <a:p>
            <a:r>
              <a:rPr lang="en-IN" sz="3200" b="1" dirty="0">
                <a:latin typeface="Times New Roman" panose="02020603050405020304" pitchFamily="18" charset="0"/>
                <a:cs typeface="Times New Roman" panose="02020603050405020304" pitchFamily="18" charset="0"/>
              </a:rPr>
              <a:t>Syntactic Analysis </a:t>
            </a:r>
          </a:p>
        </p:txBody>
      </p:sp>
      <p:sp>
        <p:nvSpPr>
          <p:cNvPr id="3" name="Content Placeholder 2">
            <a:extLst>
              <a:ext uri="{FF2B5EF4-FFF2-40B4-BE49-F238E27FC236}">
                <a16:creationId xmlns:a16="http://schemas.microsoft.com/office/drawing/2014/main" id="{8C2F9D68-D289-C476-C9CB-55D375CA400E}"/>
              </a:ext>
            </a:extLst>
          </p:cNvPr>
          <p:cNvSpPr>
            <a:spLocks noGrp="1"/>
          </p:cNvSpPr>
          <p:nvPr>
            <p:ph idx="1"/>
          </p:nvPr>
        </p:nvSpPr>
        <p:spPr/>
        <p:txBody>
          <a:bodyPr>
            <a:normAutofit/>
          </a:bodyPr>
          <a:lstStyle/>
          <a:p>
            <a:r>
              <a:rPr lang="en-US" sz="1600" cap="none" dirty="0">
                <a:latin typeface="Times New Roman" panose="02020603050405020304" pitchFamily="18" charset="0"/>
                <a:cs typeface="Times New Roman" panose="02020603050405020304" pitchFamily="18" charset="0"/>
              </a:rPr>
              <a:t>Syntactic Analysis is used to check grammar, arrangements of words, and the interrelationship between the words. Example: Mumbai goes to the Sara </a:t>
            </a:r>
          </a:p>
          <a:p>
            <a:r>
              <a:rPr lang="en-US" sz="1600" cap="none" dirty="0">
                <a:latin typeface="Times New Roman" panose="02020603050405020304" pitchFamily="18" charset="0"/>
                <a:cs typeface="Times New Roman" panose="02020603050405020304" pitchFamily="18" charset="0"/>
              </a:rPr>
              <a:t>Here “Mumbai goes to Sara”, which does not make any sense, so this sentence is rejected by the Syntactic analyzer. </a:t>
            </a:r>
          </a:p>
          <a:p>
            <a:r>
              <a:rPr lang="en-US" sz="1600" cap="none" dirty="0">
                <a:latin typeface="Times New Roman" panose="02020603050405020304" pitchFamily="18" charset="0"/>
                <a:cs typeface="Times New Roman" panose="02020603050405020304" pitchFamily="18" charset="0"/>
              </a:rPr>
              <a:t>Syntactic analysis or parsing may be defined as the process of analyzing the strings of symbols in natural language conforming to the rules of formal grammar. </a:t>
            </a:r>
          </a:p>
          <a:p>
            <a:r>
              <a:rPr lang="en-US" sz="1600" cap="none" dirty="0">
                <a:latin typeface="Times New Roman" panose="02020603050405020304" pitchFamily="18" charset="0"/>
                <a:cs typeface="Times New Roman" panose="02020603050405020304" pitchFamily="18" charset="0"/>
              </a:rPr>
              <a:t>Syntactic Processing is the step in which a flat input sentence converted into a hierarchical structure that corresponds to the units of meaning in the sentence. This process called parsing. </a:t>
            </a:r>
          </a:p>
          <a:p>
            <a:r>
              <a:rPr lang="en-US" sz="1600" cap="none" dirty="0">
                <a:latin typeface="Times New Roman" panose="02020603050405020304" pitchFamily="18" charset="0"/>
                <a:cs typeface="Times New Roman" panose="02020603050405020304" pitchFamily="18" charset="0"/>
              </a:rPr>
              <a:t>It plays an important role in natural language understanding systems. </a:t>
            </a:r>
            <a:endParaRPr lang="en-IN" sz="1600" cap="none"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620722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E2DD85-4BD1-AD3B-E395-C29346C890F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BDAE284-AD3E-6AC1-FAA2-921AB1AA1257}"/>
              </a:ext>
            </a:extLst>
          </p:cNvPr>
          <p:cNvSpPr>
            <a:spLocks noGrp="1"/>
          </p:cNvSpPr>
          <p:nvPr>
            <p:ph type="title"/>
          </p:nvPr>
        </p:nvSpPr>
        <p:spPr/>
        <p:txBody>
          <a:bodyPr/>
          <a:lstStyle/>
          <a:p>
            <a:r>
              <a:rPr lang="en-IN" sz="3200" b="1" dirty="0">
                <a:latin typeface="Times New Roman" panose="02020603050405020304" pitchFamily="18" charset="0"/>
                <a:cs typeface="Times New Roman" panose="02020603050405020304" pitchFamily="18" charset="0"/>
              </a:rPr>
              <a:t>Concept of Grammar </a:t>
            </a:r>
          </a:p>
        </p:txBody>
      </p:sp>
      <p:sp>
        <p:nvSpPr>
          <p:cNvPr id="3" name="Content Placeholder 2">
            <a:extLst>
              <a:ext uri="{FF2B5EF4-FFF2-40B4-BE49-F238E27FC236}">
                <a16:creationId xmlns:a16="http://schemas.microsoft.com/office/drawing/2014/main" id="{66EE694C-BD2A-BC0B-D629-C118859988ED}"/>
              </a:ext>
            </a:extLst>
          </p:cNvPr>
          <p:cNvSpPr>
            <a:spLocks noGrp="1"/>
          </p:cNvSpPr>
          <p:nvPr>
            <p:ph idx="1"/>
          </p:nvPr>
        </p:nvSpPr>
        <p:spPr>
          <a:xfrm>
            <a:off x="2589212" y="1905000"/>
            <a:ext cx="8915400" cy="4328890"/>
          </a:xfrm>
        </p:spPr>
        <p:txBody>
          <a:bodyPr>
            <a:normAutofit lnSpcReduction="10000"/>
          </a:bodyPr>
          <a:lstStyle/>
          <a:p>
            <a:pPr marL="0" indent="0">
              <a:buNone/>
            </a:pPr>
            <a:r>
              <a:rPr lang="en-US" sz="1600" cap="none" dirty="0">
                <a:latin typeface="Times New Roman" panose="02020603050405020304" pitchFamily="18" charset="0"/>
                <a:cs typeface="Times New Roman" panose="02020603050405020304" pitchFamily="18" charset="0"/>
              </a:rPr>
              <a:t>Grammar is very essential and important to describe the syntactic structure of well-formed programs.</a:t>
            </a:r>
          </a:p>
          <a:p>
            <a:pPr marL="0" indent="0">
              <a:buNone/>
            </a:pPr>
            <a:r>
              <a:rPr lang="en-US" sz="1600" cap="none" dirty="0">
                <a:latin typeface="Times New Roman" panose="02020603050405020304" pitchFamily="18" charset="0"/>
                <a:cs typeface="Times New Roman" panose="02020603050405020304" pitchFamily="18" charset="0"/>
              </a:rPr>
              <a:t>In the literary sense, they denote syntactical rules for conversation in natural languages. Linguistics have attempted to define grammars since the inception of natural languages like English, Hindi, etc. </a:t>
            </a:r>
          </a:p>
          <a:p>
            <a:pPr marL="0" indent="0">
              <a:buNone/>
            </a:pPr>
            <a:r>
              <a:rPr lang="en-US" sz="1600" b="1" cap="none" dirty="0">
                <a:latin typeface="Times New Roman" panose="02020603050405020304" pitchFamily="18" charset="0"/>
                <a:cs typeface="Times New Roman" panose="02020603050405020304" pitchFamily="18" charset="0"/>
              </a:rPr>
              <a:t>Example:</a:t>
            </a:r>
          </a:p>
          <a:p>
            <a:r>
              <a:rPr lang="en-IN" sz="1600" cap="none" dirty="0">
                <a:latin typeface="Times New Roman" panose="02020603050405020304" pitchFamily="18" charset="0"/>
                <a:cs typeface="Times New Roman" panose="02020603050405020304" pitchFamily="18" charset="0"/>
              </a:rPr>
              <a:t>Articles (DET) − a | an | the </a:t>
            </a:r>
          </a:p>
          <a:p>
            <a:r>
              <a:rPr lang="en-IN" sz="1600" cap="none" dirty="0">
                <a:latin typeface="Times New Roman" panose="02020603050405020304" pitchFamily="18" charset="0"/>
                <a:cs typeface="Times New Roman" panose="02020603050405020304" pitchFamily="18" charset="0"/>
              </a:rPr>
              <a:t>Nouns − bird | birds | grain | grains </a:t>
            </a:r>
          </a:p>
          <a:p>
            <a:r>
              <a:rPr lang="fr-FR" sz="1600" cap="none" dirty="0">
                <a:latin typeface="Times New Roman" panose="02020603050405020304" pitchFamily="18" charset="0"/>
                <a:cs typeface="Times New Roman" panose="02020603050405020304" pitchFamily="18" charset="0"/>
              </a:rPr>
              <a:t>Noun Phrase (NP) − Article + Noun | Article </a:t>
            </a:r>
          </a:p>
          <a:p>
            <a:r>
              <a:rPr lang="en-IN" sz="1600" cap="none" dirty="0">
                <a:latin typeface="Times New Roman" panose="02020603050405020304" pitchFamily="18" charset="0"/>
                <a:cs typeface="Times New Roman" panose="02020603050405020304" pitchFamily="18" charset="0"/>
              </a:rPr>
              <a:t>+ Adjective + Noun = DET N | DET ADJ N </a:t>
            </a:r>
          </a:p>
          <a:p>
            <a:r>
              <a:rPr lang="en-IN" sz="1600" cap="none" dirty="0">
                <a:latin typeface="Times New Roman" panose="02020603050405020304" pitchFamily="18" charset="0"/>
                <a:cs typeface="Times New Roman" panose="02020603050405020304" pitchFamily="18" charset="0"/>
              </a:rPr>
              <a:t>Verbs − pecks | pecking | pecked </a:t>
            </a:r>
          </a:p>
          <a:p>
            <a:r>
              <a:rPr lang="en-IN" sz="1600" cap="none" dirty="0">
                <a:latin typeface="Times New Roman" panose="02020603050405020304" pitchFamily="18" charset="0"/>
                <a:cs typeface="Times New Roman" panose="02020603050405020304" pitchFamily="18" charset="0"/>
              </a:rPr>
              <a:t>Verb Phrase (VP) − NP V | V NP </a:t>
            </a:r>
          </a:p>
          <a:p>
            <a:r>
              <a:rPr lang="en-US" sz="1600" cap="none" dirty="0">
                <a:latin typeface="Times New Roman" panose="02020603050405020304" pitchFamily="18" charset="0"/>
                <a:cs typeface="Times New Roman" panose="02020603050405020304" pitchFamily="18" charset="0"/>
              </a:rPr>
              <a:t>Adjectives (ADJ) − beautiful | small | chirping </a:t>
            </a:r>
          </a:p>
        </p:txBody>
      </p:sp>
    </p:spTree>
    <p:extLst>
      <p:ext uri="{BB962C8B-B14F-4D97-AF65-F5344CB8AC3E}">
        <p14:creationId xmlns:p14="http://schemas.microsoft.com/office/powerpoint/2010/main" val="167248759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A823F2-5BA8-8413-B24F-D98088A4E54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DA726CA-7D4C-8CE4-9427-AB3375522FB2}"/>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97534886-530B-3F2A-398D-30AA745BAA51}"/>
              </a:ext>
            </a:extLst>
          </p:cNvPr>
          <p:cNvSpPr>
            <a:spLocks noGrp="1"/>
          </p:cNvSpPr>
          <p:nvPr>
            <p:ph idx="1"/>
          </p:nvPr>
        </p:nvSpPr>
        <p:spPr/>
        <p:txBody>
          <a:bodyPr/>
          <a:lstStyle/>
          <a:p>
            <a:pPr marL="0" indent="0">
              <a:buNone/>
            </a:pPr>
            <a:r>
              <a:rPr lang="en-US" sz="1600" b="1" cap="none" dirty="0">
                <a:latin typeface="Times New Roman" panose="02020603050405020304" pitchFamily="18" charset="0"/>
                <a:cs typeface="Times New Roman" panose="02020603050405020304" pitchFamily="18" charset="0"/>
              </a:rPr>
              <a:t>Sentence:</a:t>
            </a:r>
            <a:r>
              <a:rPr lang="en-US" sz="1600" cap="none" dirty="0">
                <a:latin typeface="Times New Roman" panose="02020603050405020304" pitchFamily="18" charset="0"/>
                <a:cs typeface="Times New Roman" panose="02020603050405020304" pitchFamily="18" charset="0"/>
              </a:rPr>
              <a:t> </a:t>
            </a:r>
            <a:r>
              <a:rPr lang="en-US" sz="1600" b="1" cap="none" dirty="0">
                <a:latin typeface="Times New Roman" panose="02020603050405020304" pitchFamily="18" charset="0"/>
                <a:cs typeface="Times New Roman" panose="02020603050405020304" pitchFamily="18" charset="0"/>
              </a:rPr>
              <a:t>the dog saw a man in the park </a:t>
            </a:r>
          </a:p>
          <a:p>
            <a:pPr marL="0" indent="0">
              <a:buNone/>
            </a:pPr>
            <a:r>
              <a:rPr lang="en-US" sz="1600" cap="none" dirty="0">
                <a:latin typeface="Times New Roman" panose="02020603050405020304" pitchFamily="18" charset="0"/>
                <a:cs typeface="Times New Roman" panose="02020603050405020304" pitchFamily="18" charset="0"/>
              </a:rPr>
              <a:t>After analyzing the sentence, the parse tree formed is shown in the diagram: </a:t>
            </a:r>
            <a:endParaRPr lang="en-IN" sz="1600" cap="none" dirty="0">
              <a:latin typeface="Times New Roman" panose="02020603050405020304" pitchFamily="18" charset="0"/>
              <a:cs typeface="Times New Roman" panose="02020603050405020304" pitchFamily="18" charset="0"/>
            </a:endParaRPr>
          </a:p>
          <a:p>
            <a:endParaRPr lang="en-IN" dirty="0"/>
          </a:p>
        </p:txBody>
      </p:sp>
      <p:pic>
        <p:nvPicPr>
          <p:cNvPr id="5" name="Picture 4">
            <a:extLst>
              <a:ext uri="{FF2B5EF4-FFF2-40B4-BE49-F238E27FC236}">
                <a16:creationId xmlns:a16="http://schemas.microsoft.com/office/drawing/2014/main" id="{998BD8DD-18D6-3E78-3CF7-5202006C648F}"/>
              </a:ext>
            </a:extLst>
          </p:cNvPr>
          <p:cNvPicPr>
            <a:picLocks noChangeAspect="1"/>
          </p:cNvPicPr>
          <p:nvPr/>
        </p:nvPicPr>
        <p:blipFill>
          <a:blip r:embed="rId2"/>
          <a:stretch>
            <a:fillRect/>
          </a:stretch>
        </p:blipFill>
        <p:spPr>
          <a:xfrm>
            <a:off x="3323303" y="3429001"/>
            <a:ext cx="7039897" cy="3020960"/>
          </a:xfrm>
          <a:prstGeom prst="rect">
            <a:avLst/>
          </a:prstGeom>
        </p:spPr>
      </p:pic>
    </p:spTree>
    <p:extLst>
      <p:ext uri="{BB962C8B-B14F-4D97-AF65-F5344CB8AC3E}">
        <p14:creationId xmlns:p14="http://schemas.microsoft.com/office/powerpoint/2010/main" val="301572424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8CA4C8-6443-811A-516A-A86D8FC6C3E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4FD3814-B62B-D2E3-CCE3-22632FA2DB51}"/>
              </a:ext>
            </a:extLst>
          </p:cNvPr>
          <p:cNvSpPr>
            <a:spLocks noGrp="1"/>
          </p:cNvSpPr>
          <p:nvPr>
            <p:ph type="title"/>
          </p:nvPr>
        </p:nvSpPr>
        <p:spPr/>
        <p:txBody>
          <a:bodyPr/>
          <a:lstStyle/>
          <a:p>
            <a:r>
              <a:rPr lang="en-IN" sz="3200" b="1" dirty="0">
                <a:latin typeface="Times New Roman" panose="02020603050405020304" pitchFamily="18" charset="0"/>
                <a:cs typeface="Times New Roman" panose="02020603050405020304" pitchFamily="18" charset="0"/>
              </a:rPr>
              <a:t>Concept of Parser </a:t>
            </a:r>
          </a:p>
        </p:txBody>
      </p:sp>
      <p:sp>
        <p:nvSpPr>
          <p:cNvPr id="3" name="Content Placeholder 2">
            <a:extLst>
              <a:ext uri="{FF2B5EF4-FFF2-40B4-BE49-F238E27FC236}">
                <a16:creationId xmlns:a16="http://schemas.microsoft.com/office/drawing/2014/main" id="{59DCE3B4-4777-F809-D057-62D14D00E010}"/>
              </a:ext>
            </a:extLst>
          </p:cNvPr>
          <p:cNvSpPr>
            <a:spLocks noGrp="1"/>
          </p:cNvSpPr>
          <p:nvPr>
            <p:ph idx="1"/>
          </p:nvPr>
        </p:nvSpPr>
        <p:spPr/>
        <p:txBody>
          <a:bodyPr>
            <a:normAutofit lnSpcReduction="10000"/>
          </a:bodyPr>
          <a:lstStyle/>
          <a:p>
            <a:pPr marL="0" indent="0">
              <a:buNone/>
            </a:pPr>
            <a:r>
              <a:rPr lang="en-US" sz="1600" cap="none" dirty="0">
                <a:latin typeface="Times New Roman" panose="02020603050405020304" pitchFamily="18" charset="0"/>
                <a:cs typeface="Times New Roman" panose="02020603050405020304" pitchFamily="18" charset="0"/>
              </a:rPr>
              <a:t>It is used to implement the task of parsing. It may be defined as the software component designed for taking input data (text) and giving structural representation of the input after checking for correct syntax as per formal grammar. It also builds a data structure generally in the form of parse tree or abstract syntax tree or other hierarchical structure. </a:t>
            </a:r>
          </a:p>
          <a:p>
            <a:pPr marL="0" indent="0">
              <a:buNone/>
            </a:pPr>
            <a:r>
              <a:rPr lang="en-IN" sz="1600" b="1" cap="none" dirty="0">
                <a:latin typeface="Times New Roman" panose="02020603050405020304" pitchFamily="18" charset="0"/>
                <a:cs typeface="Times New Roman" panose="02020603050405020304" pitchFamily="18" charset="0"/>
              </a:rPr>
              <a:t>Top-down Parsing </a:t>
            </a:r>
          </a:p>
          <a:p>
            <a:r>
              <a:rPr lang="en-US" sz="1600" cap="none" dirty="0">
                <a:latin typeface="Times New Roman" panose="02020603050405020304" pitchFamily="18" charset="0"/>
                <a:cs typeface="Times New Roman" panose="02020603050405020304" pitchFamily="18" charset="0"/>
              </a:rPr>
              <a:t>In this kind of parsing, the parser starts constructing the parse tree from the start symbol and then tries to transform the start symbol to the input. The most common form of </a:t>
            </a:r>
            <a:r>
              <a:rPr lang="en-US" sz="1600" cap="none" dirty="0" err="1">
                <a:latin typeface="Times New Roman" panose="02020603050405020304" pitchFamily="18" charset="0"/>
                <a:cs typeface="Times New Roman" panose="02020603050405020304" pitchFamily="18" charset="0"/>
              </a:rPr>
              <a:t>topdown</a:t>
            </a:r>
            <a:r>
              <a:rPr lang="en-US" sz="1600" cap="none" dirty="0">
                <a:latin typeface="Times New Roman" panose="02020603050405020304" pitchFamily="18" charset="0"/>
                <a:cs typeface="Times New Roman" panose="02020603050405020304" pitchFamily="18" charset="0"/>
              </a:rPr>
              <a:t> parsing uses recursive procedure to process the input. The main disadvantage of recursive descent parsing is backtracking. </a:t>
            </a:r>
          </a:p>
          <a:p>
            <a:pPr marL="0" indent="0">
              <a:buNone/>
            </a:pPr>
            <a:r>
              <a:rPr lang="en-IN" sz="1600" b="1" cap="none" dirty="0">
                <a:latin typeface="Times New Roman" panose="02020603050405020304" pitchFamily="18" charset="0"/>
                <a:cs typeface="Times New Roman" panose="02020603050405020304" pitchFamily="18" charset="0"/>
              </a:rPr>
              <a:t>Bottom-up Parsing </a:t>
            </a:r>
          </a:p>
          <a:p>
            <a:r>
              <a:rPr lang="en-US" sz="1600" cap="none" dirty="0">
                <a:latin typeface="Times New Roman" panose="02020603050405020304" pitchFamily="18" charset="0"/>
                <a:cs typeface="Times New Roman" panose="02020603050405020304" pitchFamily="18" charset="0"/>
              </a:rPr>
              <a:t>In this kind of parsing, the parser starts with the input symbol and tries to construct the parser tree up to the start symbol. </a:t>
            </a:r>
            <a:endParaRPr lang="en-IN" sz="1600" cap="none"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7097150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C5BA40-E907-D1A0-A318-4E88E8C227A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1B3834A-FB0A-109E-4C44-AFBB448ACABC}"/>
              </a:ext>
            </a:extLst>
          </p:cNvPr>
          <p:cNvSpPr>
            <a:spLocks noGrp="1"/>
          </p:cNvSpPr>
          <p:nvPr>
            <p:ph type="title"/>
          </p:nvPr>
        </p:nvSpPr>
        <p:spPr/>
        <p:txBody>
          <a:bodyPr/>
          <a:lstStyle/>
          <a:p>
            <a:r>
              <a:rPr lang="en-US" sz="3200" b="1" dirty="0">
                <a:latin typeface="Times New Roman" panose="02020603050405020304" pitchFamily="18" charset="0"/>
                <a:cs typeface="Times New Roman" panose="02020603050405020304" pitchFamily="18" charset="0"/>
              </a:rPr>
              <a:t>top-down technique</a:t>
            </a:r>
            <a:endParaRPr lang="en-IN" sz="3200" b="1" dirty="0">
              <a:latin typeface="Times New Roman" panose="02020603050405020304" pitchFamily="18" charset="0"/>
              <a:cs typeface="Times New Roman" panose="02020603050405020304" pitchFamily="18" charset="0"/>
            </a:endParaRPr>
          </a:p>
        </p:txBody>
      </p:sp>
      <p:sp>
        <p:nvSpPr>
          <p:cNvPr id="4" name="Content Placeholder 3">
            <a:extLst>
              <a:ext uri="{FF2B5EF4-FFF2-40B4-BE49-F238E27FC236}">
                <a16:creationId xmlns:a16="http://schemas.microsoft.com/office/drawing/2014/main" id="{8ADA0B99-BB43-B414-00BB-82BB8D06B50B}"/>
              </a:ext>
            </a:extLst>
          </p:cNvPr>
          <p:cNvSpPr>
            <a:spLocks noGrp="1"/>
          </p:cNvSpPr>
          <p:nvPr>
            <p:ph idx="1"/>
          </p:nvPr>
        </p:nvSpPr>
        <p:spPr/>
        <p:txBody>
          <a:bodyPr/>
          <a:lstStyle/>
          <a:p>
            <a:r>
              <a:rPr lang="en-US" sz="1600" cap="none" dirty="0">
                <a:latin typeface="Times New Roman" panose="02020603050405020304" pitchFamily="18" charset="0"/>
                <a:cs typeface="Times New Roman" panose="02020603050405020304" pitchFamily="18" charset="0"/>
              </a:rPr>
              <a:t>In the top-down technique, parse tree constructs from the top, and input will read from left to right. In a top-down parser, It will start the symbol to proceed to the string or input. </a:t>
            </a:r>
          </a:p>
          <a:p>
            <a:r>
              <a:rPr lang="en-US" sz="1600" cap="none" dirty="0">
                <a:latin typeface="Times New Roman" panose="02020603050405020304" pitchFamily="18" charset="0"/>
                <a:cs typeface="Times New Roman" panose="02020603050405020304" pitchFamily="18" charset="0"/>
              </a:rPr>
              <a:t>It follows left most derivation.</a:t>
            </a:r>
          </a:p>
          <a:p>
            <a:r>
              <a:rPr lang="en-US" sz="1600" cap="none" dirty="0">
                <a:latin typeface="Times New Roman" panose="02020603050405020304" pitchFamily="18" charset="0"/>
                <a:cs typeface="Times New Roman" panose="02020603050405020304" pitchFamily="18" charset="0"/>
              </a:rPr>
              <a:t> In a top-down parsing, difficulty with top-down parser is if the variable contains more than one possibility, selecting 1 is difficult. </a:t>
            </a:r>
          </a:p>
          <a:p>
            <a:endParaRPr lang="en-US" sz="1600" cap="none" dirty="0">
              <a:latin typeface="Times New Roman" panose="02020603050405020304" pitchFamily="18" charset="0"/>
              <a:cs typeface="Times New Roman" panose="02020603050405020304" pitchFamily="18" charset="0"/>
            </a:endParaRPr>
          </a:p>
          <a:p>
            <a:pPr marL="0" indent="0" fontAlgn="base">
              <a:buNone/>
            </a:pPr>
            <a:r>
              <a:rPr lang="en-IN" sz="1600" b="1" cap="none" dirty="0">
                <a:latin typeface="Times New Roman" panose="02020603050405020304" pitchFamily="18" charset="0"/>
                <a:cs typeface="Times New Roman" panose="02020603050405020304" pitchFamily="18" charset="0"/>
              </a:rPr>
              <a:t>Example:</a:t>
            </a:r>
          </a:p>
          <a:p>
            <a:pPr fontAlgn="base"/>
            <a:r>
              <a:rPr lang="en-IN" sz="1600" cap="none" dirty="0">
                <a:latin typeface="Times New Roman" panose="02020603050405020304" pitchFamily="18" charset="0"/>
                <a:cs typeface="Times New Roman" panose="02020603050405020304" pitchFamily="18" charset="0"/>
              </a:rPr>
              <a:t>S -&gt; </a:t>
            </a:r>
            <a:r>
              <a:rPr lang="en-IN" sz="1600" cap="none" dirty="0" err="1">
                <a:latin typeface="Times New Roman" panose="02020603050405020304" pitchFamily="18" charset="0"/>
                <a:cs typeface="Times New Roman" panose="02020603050405020304" pitchFamily="18" charset="0"/>
              </a:rPr>
              <a:t>aABe</a:t>
            </a:r>
            <a:br>
              <a:rPr lang="en-IN" sz="1600" cap="none" dirty="0">
                <a:latin typeface="Times New Roman" panose="02020603050405020304" pitchFamily="18" charset="0"/>
                <a:cs typeface="Times New Roman" panose="02020603050405020304" pitchFamily="18" charset="0"/>
              </a:rPr>
            </a:br>
            <a:r>
              <a:rPr lang="en-IN" sz="1600" cap="none" dirty="0">
                <a:latin typeface="Times New Roman" panose="02020603050405020304" pitchFamily="18" charset="0"/>
                <a:cs typeface="Times New Roman" panose="02020603050405020304" pitchFamily="18" charset="0"/>
              </a:rPr>
              <a:t>A -&gt; </a:t>
            </a:r>
            <a:r>
              <a:rPr lang="en-IN" sz="1600" cap="none" dirty="0" err="1">
                <a:latin typeface="Times New Roman" panose="02020603050405020304" pitchFamily="18" charset="0"/>
                <a:cs typeface="Times New Roman" panose="02020603050405020304" pitchFamily="18" charset="0"/>
              </a:rPr>
              <a:t>Abc</a:t>
            </a:r>
            <a:r>
              <a:rPr lang="en-IN" sz="1600" cap="none" dirty="0">
                <a:latin typeface="Times New Roman" panose="02020603050405020304" pitchFamily="18" charset="0"/>
                <a:cs typeface="Times New Roman" panose="02020603050405020304" pitchFamily="18" charset="0"/>
              </a:rPr>
              <a:t> | b</a:t>
            </a:r>
            <a:br>
              <a:rPr lang="en-IN" sz="1600" cap="none" dirty="0">
                <a:latin typeface="Times New Roman" panose="02020603050405020304" pitchFamily="18" charset="0"/>
                <a:cs typeface="Times New Roman" panose="02020603050405020304" pitchFamily="18" charset="0"/>
              </a:rPr>
            </a:br>
            <a:r>
              <a:rPr lang="en-IN" sz="1600" cap="none" dirty="0" err="1">
                <a:latin typeface="Times New Roman" panose="02020603050405020304" pitchFamily="18" charset="0"/>
                <a:cs typeface="Times New Roman" panose="02020603050405020304" pitchFamily="18" charset="0"/>
              </a:rPr>
              <a:t>B</a:t>
            </a:r>
            <a:r>
              <a:rPr lang="en-IN" sz="1600" cap="none" dirty="0">
                <a:latin typeface="Times New Roman" panose="02020603050405020304" pitchFamily="18" charset="0"/>
                <a:cs typeface="Times New Roman" panose="02020603050405020304" pitchFamily="18" charset="0"/>
              </a:rPr>
              <a:t> -&gt; d</a:t>
            </a:r>
          </a:p>
          <a:p>
            <a:endParaRPr lang="en-IN" sz="1600" cap="none"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3952826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51B54D-70BD-21C0-8404-E31A84F32B46}"/>
            </a:ext>
          </a:extLst>
        </p:cNvPr>
        <p:cNvGrpSpPr/>
        <p:nvPr/>
      </p:nvGrpSpPr>
      <p:grpSpPr>
        <a:xfrm>
          <a:off x="0" y="0"/>
          <a:ext cx="0" cy="0"/>
          <a:chOff x="0" y="0"/>
          <a:chExt cx="0" cy="0"/>
        </a:xfrm>
      </p:grpSpPr>
      <p:sp>
        <p:nvSpPr>
          <p:cNvPr id="4" name="Content Placeholder 3">
            <a:extLst>
              <a:ext uri="{FF2B5EF4-FFF2-40B4-BE49-F238E27FC236}">
                <a16:creationId xmlns:a16="http://schemas.microsoft.com/office/drawing/2014/main" id="{FB2C9812-AAED-7DE0-75B4-B2A70D2504AE}"/>
              </a:ext>
            </a:extLst>
          </p:cNvPr>
          <p:cNvSpPr>
            <a:spLocks noGrp="1"/>
          </p:cNvSpPr>
          <p:nvPr>
            <p:ph idx="1"/>
          </p:nvPr>
        </p:nvSpPr>
        <p:spPr>
          <a:xfrm>
            <a:off x="2589212" y="624110"/>
            <a:ext cx="8915400" cy="5609780"/>
          </a:xfrm>
        </p:spPr>
        <p:txBody>
          <a:bodyPr>
            <a:normAutofit/>
          </a:bodyPr>
          <a:lstStyle/>
          <a:p>
            <a:pPr fontAlgn="base"/>
            <a:r>
              <a:rPr lang="en-US" sz="1600" cap="none" dirty="0">
                <a:latin typeface="Times New Roman" panose="02020603050405020304" pitchFamily="18" charset="0"/>
                <a:cs typeface="Times New Roman" panose="02020603050405020304" pitchFamily="18" charset="0"/>
              </a:rPr>
              <a:t>First, you can start with S -&gt; a </a:t>
            </a:r>
            <a:r>
              <a:rPr lang="en-US" sz="1600" cap="none" dirty="0" err="1">
                <a:latin typeface="Times New Roman" panose="02020603050405020304" pitchFamily="18" charset="0"/>
                <a:cs typeface="Times New Roman" panose="02020603050405020304" pitchFamily="18" charset="0"/>
              </a:rPr>
              <a:t>A</a:t>
            </a:r>
            <a:r>
              <a:rPr lang="en-US" sz="1600" cap="none" dirty="0">
                <a:latin typeface="Times New Roman" panose="02020603050405020304" pitchFamily="18" charset="0"/>
                <a:cs typeface="Times New Roman" panose="02020603050405020304" pitchFamily="18" charset="0"/>
              </a:rPr>
              <a:t> B e and then you will see input string 'a' in the beginning and 'e' in the end. </a:t>
            </a:r>
            <a:br>
              <a:rPr lang="en-US" sz="1600" cap="none" dirty="0">
                <a:latin typeface="Times New Roman" panose="02020603050405020304" pitchFamily="18" charset="0"/>
                <a:cs typeface="Times New Roman" panose="02020603050405020304" pitchFamily="18" charset="0"/>
              </a:rPr>
            </a:br>
            <a:r>
              <a:rPr lang="en-US" sz="1600" cap="none" dirty="0">
                <a:latin typeface="Times New Roman" panose="02020603050405020304" pitchFamily="18" charset="0"/>
                <a:cs typeface="Times New Roman" panose="02020603050405020304" pitchFamily="18" charset="0"/>
              </a:rPr>
              <a:t>  </a:t>
            </a:r>
          </a:p>
          <a:p>
            <a:pPr fontAlgn="base"/>
            <a:r>
              <a:rPr lang="en-US" sz="1600" cap="none" dirty="0">
                <a:latin typeface="Times New Roman" panose="02020603050405020304" pitchFamily="18" charset="0"/>
                <a:cs typeface="Times New Roman" panose="02020603050405020304" pitchFamily="18" charset="0"/>
              </a:rPr>
              <a:t>Expand A-&gt; </a:t>
            </a:r>
            <a:r>
              <a:rPr lang="en-US" sz="1600" cap="none" dirty="0" err="1">
                <a:latin typeface="Times New Roman" panose="02020603050405020304" pitchFamily="18" charset="0"/>
                <a:cs typeface="Times New Roman" panose="02020603050405020304" pitchFamily="18" charset="0"/>
              </a:rPr>
              <a:t>Abc</a:t>
            </a:r>
            <a:r>
              <a:rPr lang="en-US" sz="1600" cap="none" dirty="0">
                <a:latin typeface="Times New Roman" panose="02020603050405020304" pitchFamily="18" charset="0"/>
                <a:cs typeface="Times New Roman" panose="02020603050405020304" pitchFamily="18" charset="0"/>
              </a:rPr>
              <a:t> and Expand B-&gt; d. </a:t>
            </a:r>
            <a:br>
              <a:rPr lang="en-US" sz="1600" cap="none" dirty="0">
                <a:latin typeface="Times New Roman" panose="02020603050405020304" pitchFamily="18" charset="0"/>
                <a:cs typeface="Times New Roman" panose="02020603050405020304" pitchFamily="18" charset="0"/>
              </a:rPr>
            </a:br>
            <a:r>
              <a:rPr lang="en-US" sz="1600" cap="none" dirty="0">
                <a:latin typeface="Times New Roman" panose="02020603050405020304" pitchFamily="18" charset="0"/>
                <a:cs typeface="Times New Roman" panose="02020603050405020304" pitchFamily="18" charset="0"/>
              </a:rPr>
              <a:t> </a:t>
            </a:r>
          </a:p>
          <a:p>
            <a:pPr fontAlgn="base"/>
            <a:r>
              <a:rPr lang="en-US" sz="1600" cap="none" dirty="0">
                <a:latin typeface="Times New Roman" panose="02020603050405020304" pitchFamily="18" charset="0"/>
                <a:cs typeface="Times New Roman" panose="02020603050405020304" pitchFamily="18" charset="0"/>
              </a:rPr>
              <a:t>Now, You have a string like </a:t>
            </a:r>
            <a:r>
              <a:rPr lang="en-US" sz="1600" cap="none" dirty="0" err="1">
                <a:latin typeface="Times New Roman" panose="02020603050405020304" pitchFamily="18" charset="0"/>
                <a:cs typeface="Times New Roman" panose="02020603050405020304" pitchFamily="18" charset="0"/>
              </a:rPr>
              <a:t>aAbcde</a:t>
            </a:r>
            <a:r>
              <a:rPr lang="en-US" sz="1600" cap="none" dirty="0">
                <a:latin typeface="Times New Roman" panose="02020603050405020304" pitchFamily="18" charset="0"/>
                <a:cs typeface="Times New Roman" panose="02020603050405020304" pitchFamily="18" charset="0"/>
              </a:rPr>
              <a:t> and your input string is </a:t>
            </a:r>
            <a:r>
              <a:rPr lang="en-US" sz="1600" cap="none" dirty="0" err="1">
                <a:latin typeface="Times New Roman" panose="02020603050405020304" pitchFamily="18" charset="0"/>
                <a:cs typeface="Times New Roman" panose="02020603050405020304" pitchFamily="18" charset="0"/>
              </a:rPr>
              <a:t>abbcde</a:t>
            </a:r>
            <a:r>
              <a:rPr lang="en-US" sz="1600" cap="none" dirty="0">
                <a:latin typeface="Times New Roman" panose="02020603050405020304" pitchFamily="18" charset="0"/>
                <a:cs typeface="Times New Roman" panose="02020603050405020304" pitchFamily="18" charset="0"/>
              </a:rPr>
              <a:t>. </a:t>
            </a:r>
            <a:br>
              <a:rPr lang="en-US" sz="1600" cap="none" dirty="0">
                <a:latin typeface="Times New Roman" panose="02020603050405020304" pitchFamily="18" charset="0"/>
                <a:cs typeface="Times New Roman" panose="02020603050405020304" pitchFamily="18" charset="0"/>
              </a:rPr>
            </a:br>
            <a:r>
              <a:rPr lang="en-US" sz="1600" cap="none" dirty="0">
                <a:latin typeface="Times New Roman" panose="02020603050405020304" pitchFamily="18" charset="0"/>
                <a:cs typeface="Times New Roman" panose="02020603050405020304" pitchFamily="18" charset="0"/>
              </a:rPr>
              <a:t> </a:t>
            </a:r>
          </a:p>
          <a:p>
            <a:pPr fontAlgn="base"/>
            <a:r>
              <a:rPr lang="en-US" sz="1600" cap="none" dirty="0">
                <a:latin typeface="Times New Roman" panose="02020603050405020304" pitchFamily="18" charset="0"/>
                <a:cs typeface="Times New Roman" panose="02020603050405020304" pitchFamily="18" charset="0"/>
              </a:rPr>
              <a:t>Expand A-&gt;b. </a:t>
            </a:r>
            <a:br>
              <a:rPr lang="en-US" sz="1600" cap="none" dirty="0">
                <a:latin typeface="Times New Roman" panose="02020603050405020304" pitchFamily="18" charset="0"/>
                <a:cs typeface="Times New Roman" panose="02020603050405020304" pitchFamily="18" charset="0"/>
              </a:rPr>
            </a:br>
            <a:r>
              <a:rPr lang="en-US" sz="1600" cap="none" dirty="0">
                <a:latin typeface="Times New Roman" panose="02020603050405020304" pitchFamily="18" charset="0"/>
                <a:cs typeface="Times New Roman" panose="02020603050405020304" pitchFamily="18" charset="0"/>
              </a:rPr>
              <a:t> </a:t>
            </a:r>
          </a:p>
          <a:p>
            <a:pPr fontAlgn="base"/>
            <a:r>
              <a:rPr lang="en-US" sz="1600" cap="none" dirty="0">
                <a:latin typeface="Times New Roman" panose="02020603050405020304" pitchFamily="18" charset="0"/>
                <a:cs typeface="Times New Roman" panose="02020603050405020304" pitchFamily="18" charset="0"/>
              </a:rPr>
              <a:t>Final string, you will get </a:t>
            </a:r>
            <a:r>
              <a:rPr lang="en-US" sz="1600" cap="none" dirty="0" err="1">
                <a:latin typeface="Times New Roman" panose="02020603050405020304" pitchFamily="18" charset="0"/>
                <a:cs typeface="Times New Roman" panose="02020603050405020304" pitchFamily="18" charset="0"/>
              </a:rPr>
              <a:t>abbcde</a:t>
            </a:r>
            <a:r>
              <a:rPr lang="en-US" sz="1600" cap="none" dirty="0">
                <a:latin typeface="Times New Roman" panose="02020603050405020304" pitchFamily="18" charset="0"/>
                <a:cs typeface="Times New Roman" panose="02020603050405020304" pitchFamily="18" charset="0"/>
              </a:rPr>
              <a:t>. </a:t>
            </a:r>
          </a:p>
          <a:p>
            <a:endParaRPr lang="en-IN" dirty="0"/>
          </a:p>
          <a:p>
            <a:endParaRPr lang="en-IN" dirty="0"/>
          </a:p>
        </p:txBody>
      </p:sp>
      <p:pic>
        <p:nvPicPr>
          <p:cNvPr id="1028" name="Picture 4" descr="Lightbox">
            <a:extLst>
              <a:ext uri="{FF2B5EF4-FFF2-40B4-BE49-F238E27FC236}">
                <a16:creationId xmlns:a16="http://schemas.microsoft.com/office/drawing/2014/main" id="{9E8D8129-8490-0BCE-DC5B-D93A7157806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49729" y="2841099"/>
            <a:ext cx="3611511" cy="339279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3653370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423C30-9E03-A2D4-1828-2C08DA475B50}"/>
              </a:ext>
            </a:extLst>
          </p:cNvPr>
          <p:cNvSpPr>
            <a:spLocks noGrp="1"/>
          </p:cNvSpPr>
          <p:nvPr>
            <p:ph type="title"/>
          </p:nvPr>
        </p:nvSpPr>
        <p:spPr/>
        <p:txBody>
          <a:bodyPr/>
          <a:lstStyle/>
          <a:p>
            <a:r>
              <a:rPr lang="en-IN" sz="3200" b="1" dirty="0">
                <a:latin typeface="Times New Roman" panose="02020603050405020304" pitchFamily="18" charset="0"/>
                <a:cs typeface="Times New Roman" panose="02020603050405020304" pitchFamily="18" charset="0"/>
              </a:rPr>
              <a:t>Bottom Up Parsing</a:t>
            </a:r>
            <a:br>
              <a:rPr lang="en-IN" b="1" dirty="0"/>
            </a:br>
            <a:endParaRPr lang="en-IN" dirty="0"/>
          </a:p>
        </p:txBody>
      </p:sp>
      <p:sp>
        <p:nvSpPr>
          <p:cNvPr id="3" name="Content Placeholder 2">
            <a:extLst>
              <a:ext uri="{FF2B5EF4-FFF2-40B4-BE49-F238E27FC236}">
                <a16:creationId xmlns:a16="http://schemas.microsoft.com/office/drawing/2014/main" id="{7981606D-CBDF-456A-E946-197BE99969AF}"/>
              </a:ext>
            </a:extLst>
          </p:cNvPr>
          <p:cNvSpPr>
            <a:spLocks noGrp="1"/>
          </p:cNvSpPr>
          <p:nvPr>
            <p:ph idx="1"/>
          </p:nvPr>
        </p:nvSpPr>
        <p:spPr>
          <a:xfrm>
            <a:off x="2589212" y="1769807"/>
            <a:ext cx="8915400" cy="4670322"/>
          </a:xfrm>
        </p:spPr>
        <p:txBody>
          <a:bodyPr>
            <a:normAutofit fontScale="92500" lnSpcReduction="10000"/>
          </a:bodyPr>
          <a:lstStyle/>
          <a:p>
            <a:pPr fontAlgn="base"/>
            <a:r>
              <a:rPr lang="en-US" sz="1600" cap="none" dirty="0">
                <a:latin typeface="Times New Roman" panose="02020603050405020304" pitchFamily="18" charset="0"/>
                <a:cs typeface="Times New Roman" panose="02020603050405020304" pitchFamily="18" charset="0"/>
              </a:rPr>
              <a:t> Bottom-up parsing works in the opposite way of top-down parsing. While a top-down parser starts from the start symbol and moves down to the input string, a bottom-up parser starts from the input string (terminals) and works its way up to the start symbol.</a:t>
            </a:r>
          </a:p>
          <a:p>
            <a:pPr fontAlgn="base"/>
            <a:r>
              <a:rPr lang="en-US" sz="1600" cap="none" dirty="0">
                <a:latin typeface="Times New Roman" panose="02020603050405020304" pitchFamily="18" charset="0"/>
                <a:cs typeface="Times New Roman" panose="02020603050405020304" pitchFamily="18" charset="0"/>
              </a:rPr>
              <a:t>It does this by looking for parts of the input that match the right-hand side of grammar rules, then replaces them with the left-hand side (the non-terminal), building the parse tree from the bottom to the top.</a:t>
            </a:r>
          </a:p>
          <a:p>
            <a:pPr marL="0" indent="0" fontAlgn="base">
              <a:buNone/>
            </a:pPr>
            <a:r>
              <a:rPr lang="en-US" sz="1600" cap="none" dirty="0">
                <a:latin typeface="Times New Roman" panose="02020603050405020304" pitchFamily="18" charset="0"/>
                <a:cs typeface="Times New Roman" panose="02020603050405020304" pitchFamily="18" charset="0"/>
              </a:rPr>
              <a:t>1. Start with tokens: The parser begins with the terminal symbols (the input tokens), which are the leaves of the parse tree.</a:t>
            </a:r>
          </a:p>
          <a:p>
            <a:pPr marL="0" indent="0" fontAlgn="base">
              <a:buNone/>
            </a:pPr>
            <a:r>
              <a:rPr lang="en-US" sz="1600" cap="none" dirty="0">
                <a:latin typeface="Times New Roman" panose="02020603050405020304" pitchFamily="18" charset="0"/>
                <a:cs typeface="Times New Roman" panose="02020603050405020304" pitchFamily="18" charset="0"/>
              </a:rPr>
              <a:t>2. Shift and reduce: The parser repeatedly applies two actions:</a:t>
            </a:r>
          </a:p>
          <a:p>
            <a:pPr fontAlgn="base"/>
            <a:r>
              <a:rPr lang="en-US" sz="1600" cap="none" dirty="0">
                <a:latin typeface="Times New Roman" panose="02020603050405020304" pitchFamily="18" charset="0"/>
                <a:cs typeface="Times New Roman" panose="02020603050405020304" pitchFamily="18" charset="0"/>
              </a:rPr>
              <a:t>Shift: The next token is pushed onto a stack.</a:t>
            </a:r>
          </a:p>
          <a:p>
            <a:pPr fontAlgn="base"/>
            <a:r>
              <a:rPr lang="en-US" sz="1600" cap="none" dirty="0">
                <a:latin typeface="Times New Roman" panose="02020603050405020304" pitchFamily="18" charset="0"/>
                <a:cs typeface="Times New Roman" panose="02020603050405020304" pitchFamily="18" charset="0"/>
              </a:rPr>
              <a:t>Reduce: A sequence of symbols on the stack is replaced by a non-terminal according to the production rules of the grammar. This step is called “reduction,” where the parser replaces the right-hand side of a production with the left-hand side non-terminal.</a:t>
            </a:r>
          </a:p>
          <a:p>
            <a:pPr marL="0" indent="0" fontAlgn="base">
              <a:buNone/>
            </a:pPr>
            <a:r>
              <a:rPr lang="en-US" sz="1600" cap="none" dirty="0">
                <a:latin typeface="Times New Roman" panose="02020603050405020304" pitchFamily="18" charset="0"/>
                <a:cs typeface="Times New Roman" panose="02020603050405020304" pitchFamily="18" charset="0"/>
              </a:rPr>
              <a:t>3. Repeat until root: The process of shifting and reducing continues until the entire input is reduced to the start symbol, indicating the sentence has been successfully parsed.</a:t>
            </a:r>
          </a:p>
          <a:p>
            <a:endParaRPr lang="en-IN" dirty="0"/>
          </a:p>
        </p:txBody>
      </p:sp>
    </p:spTree>
    <p:extLst>
      <p:ext uri="{BB962C8B-B14F-4D97-AF65-F5344CB8AC3E}">
        <p14:creationId xmlns:p14="http://schemas.microsoft.com/office/powerpoint/2010/main" val="234634181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a:extLst>
              <a:ext uri="{FF2B5EF4-FFF2-40B4-BE49-F238E27FC236}">
                <a16:creationId xmlns:a16="http://schemas.microsoft.com/office/drawing/2014/main" id="{592698FF-B624-E0B2-CB86-9AD697EF36F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bwMode="auto">
          <a:xfrm>
            <a:off x="3942735" y="1135379"/>
            <a:ext cx="7296133" cy="5157266"/>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329B7F7F-D45A-7853-8554-CC14F4F072AA}"/>
              </a:ext>
            </a:extLst>
          </p:cNvPr>
          <p:cNvSpPr txBox="1"/>
          <p:nvPr/>
        </p:nvSpPr>
        <p:spPr>
          <a:xfrm>
            <a:off x="1465006" y="1135379"/>
            <a:ext cx="3716594" cy="2308324"/>
          </a:xfrm>
          <a:prstGeom prst="rect">
            <a:avLst/>
          </a:prstGeom>
          <a:noFill/>
        </p:spPr>
        <p:txBody>
          <a:bodyPr wrap="square" rtlCol="0">
            <a:spAutoFit/>
          </a:bodyPr>
          <a:lstStyle/>
          <a:p>
            <a:pPr fontAlgn="base"/>
            <a:r>
              <a:rPr lang="en-IN" b="1" dirty="0">
                <a:latin typeface="Times New Roman" panose="02020603050405020304" pitchFamily="18" charset="0"/>
                <a:cs typeface="Times New Roman" panose="02020603050405020304" pitchFamily="18" charset="0"/>
              </a:rPr>
              <a:t>Example :</a:t>
            </a:r>
          </a:p>
          <a:p>
            <a:pPr fontAlgn="base"/>
            <a:r>
              <a:rPr lang="en-IN" dirty="0">
                <a:latin typeface="Times New Roman" panose="02020603050405020304" pitchFamily="18" charset="0"/>
                <a:cs typeface="Times New Roman" panose="02020603050405020304" pitchFamily="18" charset="0"/>
              </a:rPr>
              <a:t>E → T  </a:t>
            </a:r>
          </a:p>
          <a:p>
            <a:pPr fontAlgn="base"/>
            <a:r>
              <a:rPr lang="en-IN" dirty="0">
                <a:latin typeface="Times New Roman" panose="02020603050405020304" pitchFamily="18" charset="0"/>
                <a:cs typeface="Times New Roman" panose="02020603050405020304" pitchFamily="18" charset="0"/>
              </a:rPr>
              <a:t>T → T * F  </a:t>
            </a:r>
          </a:p>
          <a:p>
            <a:pPr fontAlgn="base"/>
            <a:r>
              <a:rPr lang="en-IN" dirty="0">
                <a:latin typeface="Times New Roman" panose="02020603050405020304" pitchFamily="18" charset="0"/>
                <a:cs typeface="Times New Roman" panose="02020603050405020304" pitchFamily="18" charset="0"/>
              </a:rPr>
              <a:t>T → id  </a:t>
            </a:r>
          </a:p>
          <a:p>
            <a:pPr fontAlgn="base"/>
            <a:r>
              <a:rPr lang="en-IN" dirty="0">
                <a:latin typeface="Times New Roman" panose="02020603050405020304" pitchFamily="18" charset="0"/>
                <a:cs typeface="Times New Roman" panose="02020603050405020304" pitchFamily="18" charset="0"/>
              </a:rPr>
              <a:t>F → T  </a:t>
            </a:r>
          </a:p>
          <a:p>
            <a:pPr fontAlgn="base"/>
            <a:r>
              <a:rPr lang="en-IN" dirty="0">
                <a:latin typeface="Times New Roman" panose="02020603050405020304" pitchFamily="18" charset="0"/>
                <a:cs typeface="Times New Roman" panose="02020603050405020304" pitchFamily="18" charset="0"/>
              </a:rPr>
              <a:t>F → id  </a:t>
            </a:r>
          </a:p>
          <a:p>
            <a:pPr fontAlgn="base"/>
            <a:r>
              <a:rPr lang="en-IN" dirty="0">
                <a:latin typeface="Times New Roman" panose="02020603050405020304" pitchFamily="18" charset="0"/>
                <a:cs typeface="Times New Roman" panose="02020603050405020304" pitchFamily="18" charset="0"/>
              </a:rPr>
              <a:t>input string: “id * id”</a:t>
            </a:r>
          </a:p>
          <a:p>
            <a:endParaRPr lang="en-IN" dirty="0"/>
          </a:p>
        </p:txBody>
      </p:sp>
    </p:spTree>
    <p:extLst>
      <p:ext uri="{BB962C8B-B14F-4D97-AF65-F5344CB8AC3E}">
        <p14:creationId xmlns:p14="http://schemas.microsoft.com/office/powerpoint/2010/main" val="155221062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016F2E-FD7F-761C-2020-1914BC99E9A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CAC4B6E-A67C-270C-752A-0120D269B7A3}"/>
              </a:ext>
            </a:extLst>
          </p:cNvPr>
          <p:cNvSpPr>
            <a:spLocks noGrp="1"/>
          </p:cNvSpPr>
          <p:nvPr>
            <p:ph type="title"/>
          </p:nvPr>
        </p:nvSpPr>
        <p:spPr/>
        <p:txBody>
          <a:bodyPr/>
          <a:lstStyle/>
          <a:p>
            <a:r>
              <a:rPr lang="en-IN" sz="3200" b="1" dirty="0">
                <a:latin typeface="Times New Roman" panose="02020603050405020304" pitchFamily="18" charset="0"/>
                <a:cs typeface="Times New Roman" panose="02020603050405020304" pitchFamily="18" charset="0"/>
              </a:rPr>
              <a:t>Semantic Analysis </a:t>
            </a:r>
          </a:p>
        </p:txBody>
      </p:sp>
      <p:sp>
        <p:nvSpPr>
          <p:cNvPr id="3" name="Content Placeholder 2">
            <a:extLst>
              <a:ext uri="{FF2B5EF4-FFF2-40B4-BE49-F238E27FC236}">
                <a16:creationId xmlns:a16="http://schemas.microsoft.com/office/drawing/2014/main" id="{C19A8E38-97E4-5F0C-A4FC-C23B7DB1FFE2}"/>
              </a:ext>
            </a:extLst>
          </p:cNvPr>
          <p:cNvSpPr>
            <a:spLocks noGrp="1"/>
          </p:cNvSpPr>
          <p:nvPr>
            <p:ph idx="1"/>
          </p:nvPr>
        </p:nvSpPr>
        <p:spPr>
          <a:xfrm>
            <a:off x="2589212" y="1720644"/>
            <a:ext cx="8915400" cy="5137355"/>
          </a:xfrm>
        </p:spPr>
        <p:txBody>
          <a:bodyPr>
            <a:normAutofit fontScale="70000" lnSpcReduction="20000"/>
          </a:bodyPr>
          <a:lstStyle/>
          <a:p>
            <a:pPr marL="0" indent="0">
              <a:buNone/>
            </a:pPr>
            <a:r>
              <a:rPr lang="en-US" sz="1600" cap="none" dirty="0">
                <a:latin typeface="Times New Roman" panose="02020603050405020304" pitchFamily="18" charset="0"/>
                <a:cs typeface="Times New Roman" panose="02020603050405020304" pitchFamily="18" charset="0"/>
              </a:rPr>
              <a:t>After (or sometimes in conjunction with) syntactic processing, we must still produce a representation of the meaning of a sentence, based upon the meanings of the words in it. The following steps are used: </a:t>
            </a:r>
          </a:p>
          <a:p>
            <a:pPr marL="0" indent="0">
              <a:buNone/>
            </a:pPr>
            <a:r>
              <a:rPr lang="en-IN" sz="1600" b="1" cap="none" dirty="0">
                <a:latin typeface="Times New Roman" panose="02020603050405020304" pitchFamily="18" charset="0"/>
                <a:cs typeface="Times New Roman" panose="02020603050405020304" pitchFamily="18" charset="0"/>
              </a:rPr>
              <a:t>Lexical processing </a:t>
            </a:r>
          </a:p>
          <a:p>
            <a:r>
              <a:rPr lang="en-US" sz="1600" cap="none" dirty="0">
                <a:latin typeface="Times New Roman" panose="02020603050405020304" pitchFamily="18" charset="0"/>
                <a:cs typeface="Times New Roman" panose="02020603050405020304" pitchFamily="18" charset="0"/>
              </a:rPr>
              <a:t>Look up the individual words in a dictionary. It may not be possible to choose a single correct meaning, since there may be more than one. The process of determining the correct meaning of individual words is called word sense disambiguation or lexical disambiguation. For example, "I'll meet you at the diamond" can be understood since at requires either a time or a location. This usually leads to preference semantics when it is not clear which definition we should prefer. </a:t>
            </a:r>
          </a:p>
          <a:p>
            <a:pPr marL="0" indent="0">
              <a:buNone/>
            </a:pPr>
            <a:r>
              <a:rPr lang="en-IN" sz="1600" b="1" cap="none" dirty="0">
                <a:latin typeface="Times New Roman" panose="02020603050405020304" pitchFamily="18" charset="0"/>
                <a:cs typeface="Times New Roman" panose="02020603050405020304" pitchFamily="18" charset="0"/>
              </a:rPr>
              <a:t>Sentence-level processing </a:t>
            </a:r>
          </a:p>
          <a:p>
            <a:r>
              <a:rPr lang="en-US" sz="1600" cap="none" dirty="0">
                <a:latin typeface="Times New Roman" panose="02020603050405020304" pitchFamily="18" charset="0"/>
                <a:cs typeface="Times New Roman" panose="02020603050405020304" pitchFamily="18" charset="0"/>
              </a:rPr>
              <a:t>There are several approaches to sentence-level processing. These include semantic grammars, case grammars, and conceptual dependencies. </a:t>
            </a:r>
          </a:p>
          <a:p>
            <a:r>
              <a:rPr lang="en-US" sz="1600" cap="none" dirty="0">
                <a:latin typeface="Times New Roman" panose="02020603050405020304" pitchFamily="18" charset="0"/>
                <a:cs typeface="Times New Roman" panose="02020603050405020304" pitchFamily="18" charset="0"/>
              </a:rPr>
              <a:t>Example: Semantic processing determines the differences between such sentences as "The pig is in the pen" and "The ink is in the pen." </a:t>
            </a:r>
          </a:p>
          <a:p>
            <a:r>
              <a:rPr lang="en-US" sz="1600" cap="none" dirty="0">
                <a:latin typeface="Times New Roman" panose="02020603050405020304" pitchFamily="18" charset="0"/>
                <a:cs typeface="Times New Roman" panose="02020603050405020304" pitchFamily="18" charset="0"/>
              </a:rPr>
              <a:t>Semantics refers to the meaning that is conveyed by the input text. This analysis is one of the difficult tasks involved in NLP, as it requires algorithms to understand the meaning and interpretation of words in addition to the overall structure of a sentence. </a:t>
            </a:r>
          </a:p>
          <a:p>
            <a:pPr marL="0" indent="0">
              <a:buNone/>
            </a:pPr>
            <a:r>
              <a:rPr lang="en-IN" sz="1600" cap="none" dirty="0">
                <a:latin typeface="Times New Roman" panose="02020603050405020304" pitchFamily="18" charset="0"/>
                <a:cs typeface="Times New Roman" panose="02020603050405020304" pitchFamily="18" charset="0"/>
              </a:rPr>
              <a:t>Semantic analysis techniques include: </a:t>
            </a:r>
          </a:p>
          <a:p>
            <a:r>
              <a:rPr lang="en-US" sz="1600" b="1" cap="none" dirty="0">
                <a:latin typeface="Times New Roman" panose="02020603050405020304" pitchFamily="18" charset="0"/>
                <a:cs typeface="Times New Roman" panose="02020603050405020304" pitchFamily="18" charset="0"/>
              </a:rPr>
              <a:t>Entity Extraction </a:t>
            </a:r>
            <a:r>
              <a:rPr lang="en-US" sz="1600" cap="none" dirty="0">
                <a:latin typeface="Times New Roman" panose="02020603050405020304" pitchFamily="18" charset="0"/>
                <a:cs typeface="Times New Roman" panose="02020603050405020304" pitchFamily="18" charset="0"/>
              </a:rPr>
              <a:t>- This means identifying and extracting categorical entities such as people, places, companies, or things. It is essential to simplifying the contextual analysis of natural language. </a:t>
            </a:r>
          </a:p>
          <a:p>
            <a:r>
              <a:rPr lang="en-US" sz="1600" b="1" cap="none" dirty="0">
                <a:latin typeface="Times New Roman" panose="02020603050405020304" pitchFamily="18" charset="0"/>
                <a:cs typeface="Times New Roman" panose="02020603050405020304" pitchFamily="18" charset="0"/>
              </a:rPr>
              <a:t>Machine Translation </a:t>
            </a:r>
            <a:r>
              <a:rPr lang="en-US" sz="1600" cap="none" dirty="0">
                <a:latin typeface="Times New Roman" panose="02020603050405020304" pitchFamily="18" charset="0"/>
                <a:cs typeface="Times New Roman" panose="02020603050405020304" pitchFamily="18" charset="0"/>
              </a:rPr>
              <a:t>- This is used to automatically translate text from one human language to another. Natural Language Generation - This is the process of converting information of the computer semantic intention into readable human language. This is utilized by chatbots to effectively respond to users. </a:t>
            </a:r>
          </a:p>
          <a:p>
            <a:r>
              <a:rPr lang="en-US" sz="1600" b="1" cap="none" dirty="0">
                <a:latin typeface="Times New Roman" panose="02020603050405020304" pitchFamily="18" charset="0"/>
                <a:cs typeface="Times New Roman" panose="02020603050405020304" pitchFamily="18" charset="0"/>
              </a:rPr>
              <a:t>Natural Language Understanding </a:t>
            </a:r>
            <a:r>
              <a:rPr lang="en-US" sz="1600" cap="none" dirty="0">
                <a:latin typeface="Times New Roman" panose="02020603050405020304" pitchFamily="18" charset="0"/>
                <a:cs typeface="Times New Roman" panose="02020603050405020304" pitchFamily="18" charset="0"/>
              </a:rPr>
              <a:t>- This involves converting pieces of text into representations that are structured logically for the computer programs to easily manipulate. </a:t>
            </a:r>
            <a:endParaRPr lang="en-IN" sz="1600" cap="none"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318762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688483-0B60-A02D-8497-E4B0A963010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4A8CBA0-98DF-D02B-6BB0-B411BE5DB5EE}"/>
              </a:ext>
            </a:extLst>
          </p:cNvPr>
          <p:cNvSpPr>
            <a:spLocks noGrp="1"/>
          </p:cNvSpPr>
          <p:nvPr>
            <p:ph type="title"/>
          </p:nvPr>
        </p:nvSpPr>
        <p:spPr/>
        <p:txBody>
          <a:bodyPr/>
          <a:lstStyle/>
          <a:p>
            <a:r>
              <a:rPr lang="en-IN" sz="3200" b="1" dirty="0">
                <a:latin typeface="Times New Roman" panose="02020603050405020304" pitchFamily="18" charset="0"/>
                <a:cs typeface="Times New Roman" panose="02020603050405020304" pitchFamily="18" charset="0"/>
              </a:rPr>
              <a:t>Discourse Integration </a:t>
            </a:r>
          </a:p>
        </p:txBody>
      </p:sp>
      <p:sp>
        <p:nvSpPr>
          <p:cNvPr id="3" name="Content Placeholder 2">
            <a:extLst>
              <a:ext uri="{FF2B5EF4-FFF2-40B4-BE49-F238E27FC236}">
                <a16:creationId xmlns:a16="http://schemas.microsoft.com/office/drawing/2014/main" id="{5EE1C31F-A27E-F12E-9509-6E87E3FACC52}"/>
              </a:ext>
            </a:extLst>
          </p:cNvPr>
          <p:cNvSpPr>
            <a:spLocks noGrp="1"/>
          </p:cNvSpPr>
          <p:nvPr>
            <p:ph idx="1"/>
          </p:nvPr>
        </p:nvSpPr>
        <p:spPr>
          <a:xfrm>
            <a:off x="2589212" y="1905000"/>
            <a:ext cx="8915400" cy="4729480"/>
          </a:xfrm>
        </p:spPr>
        <p:txBody>
          <a:bodyPr>
            <a:normAutofit fontScale="77500" lnSpcReduction="20000"/>
          </a:bodyPr>
          <a:lstStyle/>
          <a:p>
            <a:r>
              <a:rPr lang="en-US" sz="1400" cap="none" dirty="0">
                <a:latin typeface="Times New Roman" panose="02020603050405020304" pitchFamily="18" charset="0"/>
                <a:cs typeface="Times New Roman" panose="02020603050405020304" pitchFamily="18" charset="0"/>
              </a:rPr>
              <a:t>It means a sense of the context. The meaning of any single sentence which depends upon that sentences. It also considers the meaning of the following sentence. </a:t>
            </a:r>
          </a:p>
          <a:p>
            <a:r>
              <a:rPr lang="en-US" sz="1400" cap="none" dirty="0">
                <a:latin typeface="Times New Roman" panose="02020603050405020304" pitchFamily="18" charset="0"/>
                <a:cs typeface="Times New Roman" panose="02020603050405020304" pitchFamily="18" charset="0"/>
              </a:rPr>
              <a:t>For example, the word "that" in the sentence "He wanted that" depends upon the prior discourse context. Next in this NLP tutorial, we will learn about NLP and writing systems. </a:t>
            </a:r>
          </a:p>
          <a:p>
            <a:r>
              <a:rPr lang="en-US" sz="1500" cap="none" dirty="0">
                <a:latin typeface="Times New Roman" panose="02020603050405020304" pitchFamily="18" charset="0"/>
                <a:cs typeface="Times New Roman" panose="02020603050405020304" pitchFamily="18" charset="0"/>
              </a:rPr>
              <a:t>To understand a single sentence, it is necessary to consider the discourse and pragmatic context in which the sentence was uttered. There are a number of important relationships that may hold between phrases and parts of their discourse contexts, including: </a:t>
            </a:r>
          </a:p>
          <a:p>
            <a:pPr marL="0" indent="0">
              <a:buNone/>
            </a:pPr>
            <a:r>
              <a:rPr lang="en-US" sz="1500" cap="none" dirty="0">
                <a:latin typeface="Times New Roman" panose="02020603050405020304" pitchFamily="18" charset="0"/>
                <a:cs typeface="Times New Roman" panose="02020603050405020304" pitchFamily="18" charset="0"/>
              </a:rPr>
              <a:t>1. Identical entities. Consider the text: --Bill had a red balloon. John wanted it. </a:t>
            </a:r>
          </a:p>
          <a:p>
            <a:r>
              <a:rPr lang="en-US" sz="1500" cap="none" dirty="0">
                <a:latin typeface="Times New Roman" panose="02020603050405020304" pitchFamily="18" charset="0"/>
                <a:cs typeface="Times New Roman" panose="02020603050405020304" pitchFamily="18" charset="0"/>
              </a:rPr>
              <a:t>The word “it” should identify as referring to the red balloon. These types of references called anaphora (repetition of a word or expression). </a:t>
            </a:r>
          </a:p>
          <a:p>
            <a:pPr marL="0" indent="0">
              <a:buNone/>
            </a:pPr>
            <a:r>
              <a:rPr lang="en-US" sz="1500" cap="none" dirty="0">
                <a:latin typeface="Times New Roman" panose="02020603050405020304" pitchFamily="18" charset="0"/>
                <a:cs typeface="Times New Roman" panose="02020603050405020304" pitchFamily="18" charset="0"/>
              </a:rPr>
              <a:t>2. Parts of entities. Consider the text: </a:t>
            </a:r>
          </a:p>
          <a:p>
            <a:r>
              <a:rPr lang="en-US" sz="1500" cap="none" dirty="0">
                <a:latin typeface="Times New Roman" panose="02020603050405020304" pitchFamily="18" charset="0"/>
                <a:cs typeface="Times New Roman" panose="02020603050405020304" pitchFamily="18" charset="0"/>
              </a:rPr>
              <a:t>Sue opened the book she just bought. --The title page was torn. </a:t>
            </a:r>
          </a:p>
          <a:p>
            <a:r>
              <a:rPr lang="en-US" sz="1500" cap="none" dirty="0">
                <a:latin typeface="Times New Roman" panose="02020603050405020304" pitchFamily="18" charset="0"/>
                <a:cs typeface="Times New Roman" panose="02020603050405020304" pitchFamily="18" charset="0"/>
              </a:rPr>
              <a:t>The phrase “title page” should be recognized as part of the book that was just bought. </a:t>
            </a:r>
          </a:p>
          <a:p>
            <a:pPr marL="0" indent="0">
              <a:buNone/>
            </a:pPr>
            <a:r>
              <a:rPr lang="en-US" sz="1500" cap="none" dirty="0">
                <a:latin typeface="Times New Roman" panose="02020603050405020304" pitchFamily="18" charset="0"/>
                <a:cs typeface="Times New Roman" panose="02020603050405020304" pitchFamily="18" charset="0"/>
              </a:rPr>
              <a:t>3. Parts of actions. Consider the text: </a:t>
            </a:r>
          </a:p>
          <a:p>
            <a:r>
              <a:rPr lang="en-US" sz="1500" cap="none" dirty="0">
                <a:latin typeface="Times New Roman" panose="02020603050405020304" pitchFamily="18" charset="0"/>
                <a:cs typeface="Times New Roman" panose="02020603050405020304" pitchFamily="18" charset="0"/>
              </a:rPr>
              <a:t>John went on a business trip to New York. --He left on an early morning flight. Taking a flight should recognize as part of going on a trip. </a:t>
            </a:r>
          </a:p>
          <a:p>
            <a:pPr marL="0" indent="0">
              <a:buNone/>
            </a:pPr>
            <a:r>
              <a:rPr lang="en-US" sz="1500" cap="none" dirty="0">
                <a:latin typeface="Times New Roman" panose="02020603050405020304" pitchFamily="18" charset="0"/>
                <a:cs typeface="Times New Roman" panose="02020603050405020304" pitchFamily="18" charset="0"/>
              </a:rPr>
              <a:t>4. Entities involved in actions. Consider the text: </a:t>
            </a:r>
          </a:p>
          <a:p>
            <a:r>
              <a:rPr lang="en-US" sz="1500" cap="none" dirty="0">
                <a:latin typeface="Times New Roman" panose="02020603050405020304" pitchFamily="18" charset="0"/>
                <a:cs typeface="Times New Roman" panose="02020603050405020304" pitchFamily="18" charset="0"/>
              </a:rPr>
              <a:t>My house was broken into last week. --Moreover, They took the TV and the stereo. </a:t>
            </a:r>
          </a:p>
          <a:p>
            <a:r>
              <a:rPr lang="en-US" sz="1500" cap="none" dirty="0">
                <a:latin typeface="Times New Roman" panose="02020603050405020304" pitchFamily="18" charset="0"/>
                <a:cs typeface="Times New Roman" panose="02020603050405020304" pitchFamily="18" charset="0"/>
              </a:rPr>
              <a:t>The pronoun “they” should recognize as referring to the burglars who broke into the house. </a:t>
            </a:r>
          </a:p>
          <a:p>
            <a:endParaRPr lang="en-IN" dirty="0"/>
          </a:p>
        </p:txBody>
      </p:sp>
    </p:spTree>
    <p:extLst>
      <p:ext uri="{BB962C8B-B14F-4D97-AF65-F5344CB8AC3E}">
        <p14:creationId xmlns:p14="http://schemas.microsoft.com/office/powerpoint/2010/main" val="33222053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FD0D66-C1FB-66E4-CAE1-0F309FDAF63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1106AB2-2E5E-3D31-77D4-AC7DFAE6AF11}"/>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D0DEA395-7305-BED1-2C2D-3C557708B2D1}"/>
              </a:ext>
            </a:extLst>
          </p:cNvPr>
          <p:cNvSpPr>
            <a:spLocks noGrp="1"/>
          </p:cNvSpPr>
          <p:nvPr>
            <p:ph idx="1"/>
          </p:nvPr>
        </p:nvSpPr>
        <p:spPr>
          <a:xfrm>
            <a:off x="2589212" y="2133600"/>
            <a:ext cx="8915400" cy="4100290"/>
          </a:xfrm>
        </p:spPr>
        <p:txBody>
          <a:bodyPr>
            <a:normAutofit fontScale="55000" lnSpcReduction="20000"/>
          </a:bodyPr>
          <a:lstStyle/>
          <a:p>
            <a:pPr marL="0" indent="0">
              <a:buFont typeface="Arial" panose="020B0604020202020204" pitchFamily="34" charset="0"/>
              <a:buNone/>
            </a:pPr>
            <a:r>
              <a:rPr lang="en-US" sz="2200" cap="none" dirty="0">
                <a:latin typeface="Times New Roman" panose="02020603050405020304" pitchFamily="18" charset="0"/>
                <a:cs typeface="Times New Roman" panose="02020603050405020304" pitchFamily="18" charset="0"/>
              </a:rPr>
              <a:t>5. Elements of sets. Consider the text: </a:t>
            </a:r>
          </a:p>
          <a:p>
            <a:r>
              <a:rPr lang="en-US" sz="2200" cap="none" dirty="0">
                <a:latin typeface="Times New Roman" panose="02020603050405020304" pitchFamily="18" charset="0"/>
                <a:cs typeface="Times New Roman" panose="02020603050405020304" pitchFamily="18" charset="0"/>
              </a:rPr>
              <a:t>--The decals we have in stock are stars, the moon, item and a flag. --I’ll take two moons. </a:t>
            </a:r>
          </a:p>
          <a:p>
            <a:r>
              <a:rPr lang="en-US" sz="2200" cap="none" dirty="0">
                <a:latin typeface="Times New Roman" panose="02020603050405020304" pitchFamily="18" charset="0"/>
                <a:cs typeface="Times New Roman" panose="02020603050405020304" pitchFamily="18" charset="0"/>
              </a:rPr>
              <a:t>The moons in the second sentence should be understood to be some of the moons mentioned in the first sentence. </a:t>
            </a:r>
          </a:p>
          <a:p>
            <a:pPr marL="0" indent="0">
              <a:buFont typeface="Arial" panose="020B0604020202020204" pitchFamily="34" charset="0"/>
              <a:buNone/>
            </a:pPr>
            <a:r>
              <a:rPr lang="en-IN" sz="2200" cap="none" dirty="0">
                <a:latin typeface="Times New Roman" panose="02020603050405020304" pitchFamily="18" charset="0"/>
                <a:cs typeface="Times New Roman" panose="02020603050405020304" pitchFamily="18" charset="0"/>
              </a:rPr>
              <a:t>6. Names of individuals: </a:t>
            </a:r>
          </a:p>
          <a:p>
            <a:r>
              <a:rPr lang="en-US" sz="2200" cap="none" dirty="0">
                <a:latin typeface="Times New Roman" panose="02020603050405020304" pitchFamily="18" charset="0"/>
                <a:cs typeface="Times New Roman" panose="02020603050405020304" pitchFamily="18" charset="0"/>
              </a:rPr>
              <a:t>Dave went to the movies. </a:t>
            </a:r>
          </a:p>
          <a:p>
            <a:r>
              <a:rPr lang="en-US" sz="2200" cap="none" dirty="0">
                <a:latin typeface="Times New Roman" panose="02020603050405020304" pitchFamily="18" charset="0"/>
                <a:cs typeface="Times New Roman" panose="02020603050405020304" pitchFamily="18" charset="0"/>
              </a:rPr>
              <a:t>Dave should be understood to be some person named Dave. </a:t>
            </a:r>
          </a:p>
          <a:p>
            <a:pPr marL="0" indent="0">
              <a:buFont typeface="Arial" panose="020B0604020202020204" pitchFamily="34" charset="0"/>
              <a:buNone/>
            </a:pPr>
            <a:r>
              <a:rPr lang="en-IN" sz="2200" cap="none" dirty="0">
                <a:latin typeface="Times New Roman" panose="02020603050405020304" pitchFamily="18" charset="0"/>
                <a:cs typeface="Times New Roman" panose="02020603050405020304" pitchFamily="18" charset="0"/>
              </a:rPr>
              <a:t>7. Causal chains </a:t>
            </a:r>
          </a:p>
          <a:p>
            <a:r>
              <a:rPr lang="en-US" sz="2200" cap="none" dirty="0">
                <a:latin typeface="Times New Roman" panose="02020603050405020304" pitchFamily="18" charset="0"/>
                <a:cs typeface="Times New Roman" panose="02020603050405020304" pitchFamily="18" charset="0"/>
              </a:rPr>
              <a:t>There was a big snow storm yesterday. --So, The schools closed today. The snow should be recognized as the reason that the schools were closed. </a:t>
            </a:r>
          </a:p>
          <a:p>
            <a:pPr marL="0" indent="0">
              <a:buFont typeface="Arial" panose="020B0604020202020204" pitchFamily="34" charset="0"/>
              <a:buNone/>
            </a:pPr>
            <a:r>
              <a:rPr lang="en-IN" sz="2200" cap="none" dirty="0">
                <a:latin typeface="Times New Roman" panose="02020603050405020304" pitchFamily="18" charset="0"/>
                <a:cs typeface="Times New Roman" panose="02020603050405020304" pitchFamily="18" charset="0"/>
              </a:rPr>
              <a:t>8. Planning sequences: </a:t>
            </a:r>
          </a:p>
          <a:p>
            <a:r>
              <a:rPr lang="en-US" sz="2200" cap="none" dirty="0">
                <a:latin typeface="Times New Roman" panose="02020603050405020304" pitchFamily="18" charset="0"/>
                <a:cs typeface="Times New Roman" panose="02020603050405020304" pitchFamily="18" charset="0"/>
              </a:rPr>
              <a:t>Sally wanted a new car. --She decided to get a job. </a:t>
            </a:r>
          </a:p>
          <a:p>
            <a:r>
              <a:rPr lang="en-US" sz="2200" cap="none" dirty="0">
                <a:latin typeface="Times New Roman" panose="02020603050405020304" pitchFamily="18" charset="0"/>
                <a:cs typeface="Times New Roman" panose="02020603050405020304" pitchFamily="18" charset="0"/>
              </a:rPr>
              <a:t>Sally's sudden interest in a job should be recognized as arising out of her desire for a new car and thus for the money to buy one. </a:t>
            </a:r>
            <a:endParaRPr lang="en-IN" sz="2200" cap="none" dirty="0">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370530511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FACAB0-DEF8-1008-CA7B-071DB531304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FF57F8B-665E-C606-F252-FAD5CBF3F904}"/>
              </a:ext>
            </a:extLst>
          </p:cNvPr>
          <p:cNvSpPr>
            <a:spLocks noGrp="1"/>
          </p:cNvSpPr>
          <p:nvPr>
            <p:ph type="title"/>
          </p:nvPr>
        </p:nvSpPr>
        <p:spPr/>
        <p:txBody>
          <a:bodyPr/>
          <a:lstStyle/>
          <a:p>
            <a:r>
              <a:rPr lang="en-IN" sz="3200" b="1" dirty="0">
                <a:latin typeface="Times New Roman" panose="02020603050405020304" pitchFamily="18" charset="0"/>
                <a:cs typeface="Times New Roman" panose="02020603050405020304" pitchFamily="18" charset="0"/>
              </a:rPr>
              <a:t>Pragmatic Analysis </a:t>
            </a:r>
          </a:p>
        </p:txBody>
      </p:sp>
      <p:sp>
        <p:nvSpPr>
          <p:cNvPr id="3" name="Content Placeholder 2">
            <a:extLst>
              <a:ext uri="{FF2B5EF4-FFF2-40B4-BE49-F238E27FC236}">
                <a16:creationId xmlns:a16="http://schemas.microsoft.com/office/drawing/2014/main" id="{7CBF35FB-2E0F-8495-2199-AB50BC85766B}"/>
              </a:ext>
            </a:extLst>
          </p:cNvPr>
          <p:cNvSpPr>
            <a:spLocks noGrp="1"/>
          </p:cNvSpPr>
          <p:nvPr>
            <p:ph idx="1"/>
          </p:nvPr>
        </p:nvSpPr>
        <p:spPr/>
        <p:txBody>
          <a:bodyPr>
            <a:normAutofit/>
          </a:bodyPr>
          <a:lstStyle/>
          <a:p>
            <a:r>
              <a:rPr lang="en-US" sz="1800" cap="none" dirty="0">
                <a:latin typeface="Times New Roman" panose="02020603050405020304" pitchFamily="18" charset="0"/>
                <a:cs typeface="Times New Roman" panose="02020603050405020304" pitchFamily="18" charset="0"/>
              </a:rPr>
              <a:t>Pragmatic Analysis deals with the overall communicative and social content and its effect on interpretation. It means abstracting or deriving the meaningful use of language in situations. In this analysis, the main focus always on what was said in reinterpreted on what is meant. </a:t>
            </a:r>
          </a:p>
          <a:p>
            <a:r>
              <a:rPr lang="en-US" sz="1800" cap="none" dirty="0">
                <a:latin typeface="Times New Roman" panose="02020603050405020304" pitchFamily="18" charset="0"/>
                <a:cs typeface="Times New Roman" panose="02020603050405020304" pitchFamily="18" charset="0"/>
              </a:rPr>
              <a:t>Pragmatic analysis helps users to discover this intended effect by applying a set of rules that characterize cooperative dialogues. </a:t>
            </a:r>
          </a:p>
          <a:p>
            <a:r>
              <a:rPr lang="en-US" sz="1800" cap="none" dirty="0">
                <a:latin typeface="Times New Roman" panose="02020603050405020304" pitchFamily="18" charset="0"/>
                <a:cs typeface="Times New Roman" panose="02020603050405020304" pitchFamily="18" charset="0"/>
              </a:rPr>
              <a:t>E.g., "close the window?" should be interpreted as a request instead of an order. </a:t>
            </a:r>
            <a:endParaRPr lang="en-IN" sz="1800" cap="none"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2295996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982EA6-3AB8-CFC1-FC05-BC052E44F48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0EB40AC-E73F-2EE1-BA2D-0F174E52B6C0}"/>
              </a:ext>
            </a:extLst>
          </p:cNvPr>
          <p:cNvSpPr>
            <a:spLocks noGrp="1"/>
          </p:cNvSpPr>
          <p:nvPr>
            <p:ph type="title"/>
          </p:nvPr>
        </p:nvSpPr>
        <p:spPr/>
        <p:txBody>
          <a:bodyPr/>
          <a:lstStyle/>
          <a:p>
            <a:r>
              <a:rPr lang="en-IN" sz="3200" b="1" dirty="0">
                <a:latin typeface="Times New Roman" panose="02020603050405020304" pitchFamily="18" charset="0"/>
                <a:cs typeface="Times New Roman" panose="02020603050405020304" pitchFamily="18" charset="0"/>
              </a:rPr>
              <a:t>Statistical Natural Language Processing </a:t>
            </a:r>
          </a:p>
        </p:txBody>
      </p:sp>
      <p:sp>
        <p:nvSpPr>
          <p:cNvPr id="3" name="Content Placeholder 2">
            <a:extLst>
              <a:ext uri="{FF2B5EF4-FFF2-40B4-BE49-F238E27FC236}">
                <a16:creationId xmlns:a16="http://schemas.microsoft.com/office/drawing/2014/main" id="{6C6753F8-CB18-ACD4-7FA8-867FC2F064CD}"/>
              </a:ext>
            </a:extLst>
          </p:cNvPr>
          <p:cNvSpPr>
            <a:spLocks noGrp="1"/>
          </p:cNvSpPr>
          <p:nvPr>
            <p:ph idx="1"/>
          </p:nvPr>
        </p:nvSpPr>
        <p:spPr/>
        <p:txBody>
          <a:bodyPr>
            <a:normAutofit fontScale="85000" lnSpcReduction="10000"/>
          </a:bodyPr>
          <a:lstStyle/>
          <a:p>
            <a:r>
              <a:rPr lang="en-US" sz="1800" cap="none" dirty="0">
                <a:latin typeface="Times New Roman" panose="02020603050405020304" pitchFamily="18" charset="0"/>
                <a:cs typeface="Times New Roman" panose="02020603050405020304" pitchFamily="18" charset="0"/>
              </a:rPr>
              <a:t>Formerly, many language-processing tasks typically involved the direct hand coding of rules, which is not in general robust to natural-language variation. The machine-learning paradigm calls instead for using statistical inference to automatically learn such rules through the analysis of large corpora of typical real-world examples (a corpus (plural, "corpora") is a set of documents, possibly with human or computer annotations). </a:t>
            </a:r>
          </a:p>
          <a:p>
            <a:r>
              <a:rPr lang="en-US" sz="1800" cap="none" dirty="0">
                <a:latin typeface="Times New Roman" panose="02020603050405020304" pitchFamily="18" charset="0"/>
                <a:cs typeface="Times New Roman" panose="02020603050405020304" pitchFamily="18" charset="0"/>
              </a:rPr>
              <a:t>Many different classes of machine learning algorithms have been applied to natural-language processing tasks. These algorithms take as input a large set of "features" that are generated from the input data. Some of the earliest-used algorithms, such as decision trees, produced systems of hard if-then rules similar to the systems of hand-written rules that were then common. </a:t>
            </a:r>
          </a:p>
          <a:p>
            <a:r>
              <a:rPr lang="en-US" sz="1800" cap="none" dirty="0">
                <a:latin typeface="Times New Roman" panose="02020603050405020304" pitchFamily="18" charset="0"/>
                <a:cs typeface="Times New Roman" panose="02020603050405020304" pitchFamily="18" charset="0"/>
              </a:rPr>
              <a:t>Increasingly, however, research has focused on statistical models, which make soft, probabilistic decisions based on attaching real-valued weights to each input feature. Such models have the advantage that they can express the relative certainty of many different possible answers rather than only one, producing more reliable results when such a model is included as a component of a larger system. </a:t>
            </a:r>
            <a:endParaRPr lang="en-IN" sz="1800" cap="none"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0126940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196A43-48EC-30C3-39EA-BCA147EA779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CCBBE26-55CB-F500-4709-C7881D5E4AA0}"/>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BEE692D6-FB8E-9B4A-9E76-EEF453F4BA03}"/>
              </a:ext>
            </a:extLst>
          </p:cNvPr>
          <p:cNvSpPr>
            <a:spLocks noGrp="1"/>
          </p:cNvSpPr>
          <p:nvPr>
            <p:ph idx="1"/>
          </p:nvPr>
        </p:nvSpPr>
        <p:spPr>
          <a:xfrm>
            <a:off x="2589212" y="2133600"/>
            <a:ext cx="8915400" cy="4328160"/>
          </a:xfrm>
        </p:spPr>
        <p:txBody>
          <a:bodyPr>
            <a:normAutofit fontScale="62500" lnSpcReduction="20000"/>
          </a:bodyPr>
          <a:lstStyle/>
          <a:p>
            <a:endParaRPr lang="en-US" dirty="0"/>
          </a:p>
          <a:p>
            <a:pPr marL="0" indent="0">
              <a:buNone/>
            </a:pPr>
            <a:r>
              <a:rPr lang="en-US" sz="2400" cap="none" dirty="0">
                <a:latin typeface="Times New Roman" panose="02020603050405020304" pitchFamily="18" charset="0"/>
                <a:cs typeface="Times New Roman" panose="02020603050405020304" pitchFamily="18" charset="0"/>
              </a:rPr>
              <a:t>Systems based on machine-learning algorithms have many advantages over hand-produced rules: </a:t>
            </a:r>
            <a:endParaRPr lang="en-IN" sz="2400" cap="none" dirty="0">
              <a:latin typeface="Times New Roman" panose="02020603050405020304" pitchFamily="18" charset="0"/>
              <a:cs typeface="Times New Roman" panose="02020603050405020304" pitchFamily="18" charset="0"/>
            </a:endParaRPr>
          </a:p>
          <a:p>
            <a:pPr marL="0" indent="0">
              <a:buNone/>
            </a:pPr>
            <a:r>
              <a:rPr lang="en-US" sz="2400" cap="none" dirty="0">
                <a:latin typeface="Times New Roman" panose="02020603050405020304" pitchFamily="18" charset="0"/>
                <a:cs typeface="Times New Roman" panose="02020603050405020304" pitchFamily="18" charset="0"/>
              </a:rPr>
              <a:t>➢ The learning procedures used during machine learning automatically focus on the most common cases, whereas when writing rules by hand it is often not at all obvious where the effort should be directed. </a:t>
            </a:r>
          </a:p>
          <a:p>
            <a:pPr marL="0" indent="0">
              <a:buNone/>
            </a:pPr>
            <a:r>
              <a:rPr lang="en-US" sz="2400" cap="none" dirty="0">
                <a:latin typeface="Times New Roman" panose="02020603050405020304" pitchFamily="18" charset="0"/>
                <a:cs typeface="Times New Roman" panose="02020603050405020304" pitchFamily="18" charset="0"/>
              </a:rPr>
              <a:t>➢ Automatic learning procedures can make use of statistical inference algorithms to produce models that are robust to unfamiliar input (e.g. containing words or structures that have not been seen before) and to erroneous input (e.g. with misspelled words or words accidentally omitted). Generally, handling such input gracefully with hand-written rules—or more generally, creating systems of hand-written rules that make soft decisions—is extremely difficult, error-prone and time-consuming. </a:t>
            </a:r>
          </a:p>
          <a:p>
            <a:r>
              <a:rPr lang="en-US" sz="2400" cap="none" dirty="0">
                <a:latin typeface="Times New Roman" panose="02020603050405020304" pitchFamily="18" charset="0"/>
                <a:cs typeface="Times New Roman" panose="02020603050405020304" pitchFamily="18" charset="0"/>
              </a:rPr>
              <a:t>Systems based on automatically learning the rules can be made more accurate simply by supplying more input data. However, systems based on hand-written rules can only be made more accurate by increasing the complexity of the rules, which is a much more difficult task. In particular, there is a limit to the complexity of systems based on hand- crafted rules, beyond which the systems become more and more unmanageable. However, creating more data to input to machine-learning systems simply requires a corresponding increase in the number </a:t>
            </a:r>
          </a:p>
          <a:p>
            <a:endParaRPr lang="en-IN" dirty="0"/>
          </a:p>
        </p:txBody>
      </p:sp>
    </p:spTree>
    <p:extLst>
      <p:ext uri="{BB962C8B-B14F-4D97-AF65-F5344CB8AC3E}">
        <p14:creationId xmlns:p14="http://schemas.microsoft.com/office/powerpoint/2010/main" val="275009270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F12E47-5865-DD24-3313-14124B9404FE}"/>
              </a:ext>
            </a:extLst>
          </p:cNvPr>
          <p:cNvSpPr>
            <a:spLocks noGrp="1"/>
          </p:cNvSpPr>
          <p:nvPr>
            <p:ph type="title"/>
          </p:nvPr>
        </p:nvSpPr>
        <p:spPr/>
        <p:txBody>
          <a:bodyPr/>
          <a:lstStyle/>
          <a:p>
            <a:r>
              <a:rPr lang="en-IN" sz="3200" b="1" dirty="0">
                <a:latin typeface="Times New Roman" panose="02020603050405020304" pitchFamily="18" charset="0"/>
                <a:cs typeface="Times New Roman" panose="02020603050405020304" pitchFamily="18" charset="0"/>
              </a:rPr>
              <a:t>Spell Checking </a:t>
            </a:r>
          </a:p>
        </p:txBody>
      </p:sp>
      <p:sp>
        <p:nvSpPr>
          <p:cNvPr id="3" name="Content Placeholder 2">
            <a:extLst>
              <a:ext uri="{FF2B5EF4-FFF2-40B4-BE49-F238E27FC236}">
                <a16:creationId xmlns:a16="http://schemas.microsoft.com/office/drawing/2014/main" id="{D5853884-52D5-84D6-AAAE-74B7B01B759E}"/>
              </a:ext>
            </a:extLst>
          </p:cNvPr>
          <p:cNvSpPr>
            <a:spLocks noGrp="1"/>
          </p:cNvSpPr>
          <p:nvPr>
            <p:ph idx="1"/>
          </p:nvPr>
        </p:nvSpPr>
        <p:spPr>
          <a:xfrm>
            <a:off x="2589212" y="2133600"/>
            <a:ext cx="8915400" cy="4178710"/>
          </a:xfrm>
        </p:spPr>
        <p:txBody>
          <a:bodyPr>
            <a:normAutofit/>
          </a:bodyPr>
          <a:lstStyle/>
          <a:p>
            <a:r>
              <a:rPr lang="en-US" sz="1500" cap="none" dirty="0">
                <a:latin typeface="Times New Roman" panose="02020603050405020304" pitchFamily="18" charset="0"/>
                <a:cs typeface="Times New Roman" panose="02020603050405020304" pitchFamily="18" charset="0"/>
              </a:rPr>
              <a:t>It scans the text and extracts the words contained in it. </a:t>
            </a:r>
          </a:p>
          <a:p>
            <a:r>
              <a:rPr lang="en-US" sz="1500" cap="none" dirty="0">
                <a:latin typeface="Times New Roman" panose="02020603050405020304" pitchFamily="18" charset="0"/>
                <a:cs typeface="Times New Roman" panose="02020603050405020304" pitchFamily="18" charset="0"/>
              </a:rPr>
              <a:t>It then compares each word with a known list of correctly spelled words (i.e. a dictionary). </a:t>
            </a:r>
          </a:p>
          <a:p>
            <a:r>
              <a:rPr lang="en-US" sz="1500" cap="none" dirty="0">
                <a:latin typeface="Times New Roman" panose="02020603050405020304" pitchFamily="18" charset="0"/>
                <a:cs typeface="Times New Roman" panose="02020603050405020304" pitchFamily="18" charset="0"/>
              </a:rPr>
              <a:t>A Spell Checker is one of the basic tools required for language processing. It is used in a wide variety of computing environments including word processing, character or text recognition systems, speech recognition and generation. Spell checking is one of the pre-processing formalities for most natural language processors. </a:t>
            </a:r>
          </a:p>
          <a:p>
            <a:r>
              <a:rPr lang="en-US" sz="1500" cap="none" dirty="0">
                <a:latin typeface="Times New Roman" panose="02020603050405020304" pitchFamily="18" charset="0"/>
                <a:cs typeface="Times New Roman" panose="02020603050405020304" pitchFamily="18" charset="0"/>
              </a:rPr>
              <a:t>Spell Check is a process of detecting and sometimes providing suggestions for incorrectly spelled words in a text. In computing, Spell Checker is an application program that flags words in a document that may not be spelled correctly. </a:t>
            </a:r>
          </a:p>
          <a:p>
            <a:r>
              <a:rPr lang="en-US" sz="1500" cap="none" dirty="0">
                <a:latin typeface="Times New Roman" panose="02020603050405020304" pitchFamily="18" charset="0"/>
                <a:cs typeface="Times New Roman" panose="02020603050405020304" pitchFamily="18" charset="0"/>
              </a:rPr>
              <a:t>A basic spell checker carries out the following processes: </a:t>
            </a:r>
          </a:p>
          <a:p>
            <a:r>
              <a:rPr lang="en-US" sz="1500" cap="none" dirty="0">
                <a:latin typeface="Times New Roman" panose="02020603050405020304" pitchFamily="18" charset="0"/>
                <a:cs typeface="Times New Roman" panose="02020603050405020304" pitchFamily="18" charset="0"/>
              </a:rPr>
              <a:t>Companies like Microsoft and Google have achieved high accuracy in spelling correction, which forms an integral part of their editors, email clients, word processors and search engines. </a:t>
            </a:r>
            <a:endParaRPr lang="en-IN" sz="1500" cap="none"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947452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D5AF05B-E279-FC3B-D0FD-D6DA417D41A2}"/>
              </a:ext>
            </a:extLst>
          </p:cNvPr>
          <p:cNvSpPr>
            <a:spLocks noGrp="1"/>
          </p:cNvSpPr>
          <p:nvPr>
            <p:ph idx="1"/>
          </p:nvPr>
        </p:nvSpPr>
        <p:spPr>
          <a:xfrm>
            <a:off x="2589212" y="530942"/>
            <a:ext cx="8915400" cy="5712542"/>
          </a:xfrm>
        </p:spPr>
        <p:txBody>
          <a:bodyPr>
            <a:normAutofit fontScale="92500" lnSpcReduction="10000"/>
          </a:bodyPr>
          <a:lstStyle/>
          <a:p>
            <a:pPr marL="0" indent="0">
              <a:buNone/>
            </a:pPr>
            <a:r>
              <a:rPr lang="en-IN" sz="1500" b="1" cap="none" dirty="0">
                <a:latin typeface="Times New Roman" panose="02020603050405020304" pitchFamily="18" charset="0"/>
                <a:cs typeface="Times New Roman" panose="02020603050405020304" pitchFamily="18" charset="0"/>
              </a:rPr>
              <a:t>Spelling Errors: </a:t>
            </a:r>
          </a:p>
          <a:p>
            <a:r>
              <a:rPr lang="en-US" sz="1500" cap="none" dirty="0" err="1">
                <a:latin typeface="Times New Roman" panose="02020603050405020304" pitchFamily="18" charset="0"/>
                <a:cs typeface="Times New Roman" panose="02020603050405020304" pitchFamily="18" charset="0"/>
              </a:rPr>
              <a:t>Damerau</a:t>
            </a:r>
            <a:r>
              <a:rPr lang="en-US" sz="1500" cap="none" dirty="0">
                <a:latin typeface="Times New Roman" panose="02020603050405020304" pitchFamily="18" charset="0"/>
                <a:cs typeface="Times New Roman" panose="02020603050405020304" pitchFamily="18" charset="0"/>
              </a:rPr>
              <a:t> conducted a survey on misspelled words and found that most of the non words were a result of single error misspellings. Based on this survey it was found that the three causes of error are: </a:t>
            </a:r>
          </a:p>
          <a:p>
            <a:pPr marL="0" indent="0">
              <a:buNone/>
            </a:pPr>
            <a:r>
              <a:rPr lang="en-US" sz="1500" b="1" cap="none" dirty="0">
                <a:latin typeface="Times New Roman" panose="02020603050405020304" pitchFamily="18" charset="0"/>
                <a:cs typeface="Times New Roman" panose="02020603050405020304" pitchFamily="18" charset="0"/>
              </a:rPr>
              <a:t>Insertion: </a:t>
            </a:r>
            <a:r>
              <a:rPr lang="en-US" sz="1500" cap="none" dirty="0">
                <a:latin typeface="Times New Roman" panose="02020603050405020304" pitchFamily="18" charset="0"/>
                <a:cs typeface="Times New Roman" panose="02020603050405020304" pitchFamily="18" charset="0"/>
              </a:rPr>
              <a:t>Insertion of an extra letter while typing. E.g. maximum typed as </a:t>
            </a:r>
            <a:r>
              <a:rPr lang="en-US" sz="1500" cap="none" dirty="0" err="1">
                <a:latin typeface="Times New Roman" panose="02020603050405020304" pitchFamily="18" charset="0"/>
                <a:cs typeface="Times New Roman" panose="02020603050405020304" pitchFamily="18" charset="0"/>
              </a:rPr>
              <a:t>maxiimum</a:t>
            </a:r>
            <a:r>
              <a:rPr lang="en-US" sz="1500" cap="none" dirty="0">
                <a:latin typeface="Times New Roman" panose="02020603050405020304" pitchFamily="18" charset="0"/>
                <a:cs typeface="Times New Roman" panose="02020603050405020304" pitchFamily="18" charset="0"/>
              </a:rPr>
              <a:t>. The extra </a:t>
            </a:r>
            <a:r>
              <a:rPr lang="en-US" sz="1500" cap="none" dirty="0" err="1">
                <a:latin typeface="Times New Roman" panose="02020603050405020304" pitchFamily="18" charset="0"/>
                <a:cs typeface="Times New Roman" panose="02020603050405020304" pitchFamily="18" charset="0"/>
              </a:rPr>
              <a:t>i</a:t>
            </a:r>
            <a:r>
              <a:rPr lang="en-US" sz="1500" cap="none" dirty="0">
                <a:latin typeface="Times New Roman" panose="02020603050405020304" pitchFamily="18" charset="0"/>
                <a:cs typeface="Times New Roman" panose="02020603050405020304" pitchFamily="18" charset="0"/>
              </a:rPr>
              <a:t> has been inserted within the word. </a:t>
            </a:r>
          </a:p>
          <a:p>
            <a:pPr marL="0" indent="0">
              <a:buNone/>
            </a:pPr>
            <a:r>
              <a:rPr lang="en-US" sz="1500" b="1" cap="none" dirty="0">
                <a:latin typeface="Times New Roman" panose="02020603050405020304" pitchFamily="18" charset="0"/>
                <a:cs typeface="Times New Roman" panose="02020603050405020304" pitchFamily="18" charset="0"/>
              </a:rPr>
              <a:t>Deletion: </a:t>
            </a:r>
            <a:r>
              <a:rPr lang="en-US" sz="1500" cap="none" dirty="0">
                <a:latin typeface="Times New Roman" panose="02020603050405020304" pitchFamily="18" charset="0"/>
                <a:cs typeface="Times New Roman" panose="02020603050405020304" pitchFamily="18" charset="0"/>
              </a:rPr>
              <a:t>A case of a letter missing or not typed in a word. E.g. </a:t>
            </a:r>
            <a:r>
              <a:rPr lang="en-US" sz="1500" cap="none" dirty="0" err="1">
                <a:latin typeface="Times New Roman" panose="02020603050405020304" pitchFamily="18" charset="0"/>
                <a:cs typeface="Times New Roman" panose="02020603050405020304" pitchFamily="18" charset="0"/>
              </a:rPr>
              <a:t>netwrk</a:t>
            </a:r>
            <a:r>
              <a:rPr lang="en-US" sz="1500" cap="none" dirty="0">
                <a:latin typeface="Times New Roman" panose="02020603050405020304" pitchFamily="18" charset="0"/>
                <a:cs typeface="Times New Roman" panose="02020603050405020304" pitchFamily="18" charset="0"/>
              </a:rPr>
              <a:t> instead of network </a:t>
            </a:r>
          </a:p>
          <a:p>
            <a:pPr marL="0" indent="0">
              <a:buNone/>
            </a:pPr>
            <a:r>
              <a:rPr lang="en-US" sz="1500" b="1" cap="none" dirty="0">
                <a:latin typeface="Times New Roman" panose="02020603050405020304" pitchFamily="18" charset="0"/>
                <a:cs typeface="Times New Roman" panose="02020603050405020304" pitchFamily="18" charset="0"/>
              </a:rPr>
              <a:t>Substitution: </a:t>
            </a:r>
            <a:r>
              <a:rPr lang="en-US" sz="1500" cap="none" dirty="0">
                <a:latin typeface="Times New Roman" panose="02020603050405020304" pitchFamily="18" charset="0"/>
                <a:cs typeface="Times New Roman" panose="02020603050405020304" pitchFamily="18" charset="0"/>
              </a:rPr>
              <a:t>Typing of a letter in place of the correct one as in </a:t>
            </a:r>
            <a:r>
              <a:rPr lang="en-US" sz="1500" cap="none" dirty="0" err="1">
                <a:latin typeface="Times New Roman" panose="02020603050405020304" pitchFamily="18" charset="0"/>
                <a:cs typeface="Times New Roman" panose="02020603050405020304" pitchFamily="18" charset="0"/>
              </a:rPr>
              <a:t>intellugence</a:t>
            </a:r>
            <a:r>
              <a:rPr lang="en-US" sz="1500" cap="none" dirty="0">
                <a:latin typeface="Times New Roman" panose="02020603050405020304" pitchFamily="18" charset="0"/>
                <a:cs typeface="Times New Roman" panose="02020603050405020304" pitchFamily="18" charset="0"/>
              </a:rPr>
              <a:t> wherein the letter </a:t>
            </a:r>
            <a:r>
              <a:rPr lang="en-US" sz="1500" cap="none" dirty="0" err="1">
                <a:latin typeface="Times New Roman" panose="02020603050405020304" pitchFamily="18" charset="0"/>
                <a:cs typeface="Times New Roman" panose="02020603050405020304" pitchFamily="18" charset="0"/>
              </a:rPr>
              <a:t>i</a:t>
            </a:r>
            <a:r>
              <a:rPr lang="en-US" sz="1500" cap="none" dirty="0">
                <a:latin typeface="Times New Roman" panose="02020603050405020304" pitchFamily="18" charset="0"/>
                <a:cs typeface="Times New Roman" panose="02020603050405020304" pitchFamily="18" charset="0"/>
              </a:rPr>
              <a:t> has been wrongly substituted by u. </a:t>
            </a:r>
          </a:p>
          <a:p>
            <a:r>
              <a:rPr lang="en-US" sz="1500" cap="none" dirty="0">
                <a:latin typeface="Times New Roman" panose="02020603050405020304" pitchFamily="18" charset="0"/>
                <a:cs typeface="Times New Roman" panose="02020603050405020304" pitchFamily="18" charset="0"/>
              </a:rPr>
              <a:t>Spelling errors may be classified into the following types – </a:t>
            </a:r>
          </a:p>
          <a:p>
            <a:pPr marL="0" indent="0">
              <a:buNone/>
            </a:pPr>
            <a:r>
              <a:rPr lang="en-US" sz="1500" b="1" cap="none" dirty="0">
                <a:latin typeface="Times New Roman" panose="02020603050405020304" pitchFamily="18" charset="0"/>
                <a:cs typeface="Times New Roman" panose="02020603050405020304" pitchFamily="18" charset="0"/>
              </a:rPr>
              <a:t>Typographic errors: </a:t>
            </a:r>
            <a:r>
              <a:rPr lang="en-US" sz="1500" cap="none" dirty="0">
                <a:latin typeface="Times New Roman" panose="02020603050405020304" pitchFamily="18" charset="0"/>
                <a:cs typeface="Times New Roman" panose="02020603050405020304" pitchFamily="18" charset="0"/>
              </a:rPr>
              <a:t>As the name suggests, these errors are those that are caused due to mistakes committed while typing. A typical example is </a:t>
            </a:r>
            <a:r>
              <a:rPr lang="en-US" sz="1500" cap="none" dirty="0" err="1">
                <a:latin typeface="Times New Roman" panose="02020603050405020304" pitchFamily="18" charset="0"/>
                <a:cs typeface="Times New Roman" panose="02020603050405020304" pitchFamily="18" charset="0"/>
              </a:rPr>
              <a:t>netwrk</a:t>
            </a:r>
            <a:r>
              <a:rPr lang="en-US" sz="1500" cap="none" dirty="0">
                <a:latin typeface="Times New Roman" panose="02020603050405020304" pitchFamily="18" charset="0"/>
                <a:cs typeface="Times New Roman" panose="02020603050405020304" pitchFamily="18" charset="0"/>
              </a:rPr>
              <a:t> instead of network. </a:t>
            </a:r>
          </a:p>
          <a:p>
            <a:pPr marL="0" indent="0">
              <a:buNone/>
            </a:pPr>
            <a:r>
              <a:rPr lang="en-US" sz="1500" b="1" cap="none" dirty="0">
                <a:latin typeface="Times New Roman" panose="02020603050405020304" pitchFamily="18" charset="0"/>
                <a:cs typeface="Times New Roman" panose="02020603050405020304" pitchFamily="18" charset="0"/>
              </a:rPr>
              <a:t>Orthographic errors: </a:t>
            </a:r>
            <a:r>
              <a:rPr lang="en-US" sz="1500" cap="none" dirty="0">
                <a:latin typeface="Times New Roman" panose="02020603050405020304" pitchFamily="18" charset="0"/>
                <a:cs typeface="Times New Roman" panose="02020603050405020304" pitchFamily="18" charset="0"/>
              </a:rPr>
              <a:t>These, on the other hand, result due to a lack of comprehension of the concerned language on part of the user. Example of such spelling errors are arithmetic, </a:t>
            </a:r>
            <a:r>
              <a:rPr lang="en-US" sz="1500" cap="none" dirty="0" err="1">
                <a:latin typeface="Times New Roman" panose="02020603050405020304" pitchFamily="18" charset="0"/>
                <a:cs typeface="Times New Roman" panose="02020603050405020304" pitchFamily="18" charset="0"/>
              </a:rPr>
              <a:t>welkome</a:t>
            </a:r>
            <a:r>
              <a:rPr lang="en-US" sz="1500" cap="none" dirty="0">
                <a:latin typeface="Times New Roman" panose="02020603050405020304" pitchFamily="18" charset="0"/>
                <a:cs typeface="Times New Roman" panose="02020603050405020304" pitchFamily="18" charset="0"/>
              </a:rPr>
              <a:t> and </a:t>
            </a:r>
            <a:r>
              <a:rPr lang="en-US" sz="1500" cap="none" dirty="0" err="1">
                <a:latin typeface="Times New Roman" panose="02020603050405020304" pitchFamily="18" charset="0"/>
                <a:cs typeface="Times New Roman" panose="02020603050405020304" pitchFamily="18" charset="0"/>
              </a:rPr>
              <a:t>accomodation</a:t>
            </a:r>
            <a:r>
              <a:rPr lang="en-US" sz="1500" cap="none" dirty="0">
                <a:latin typeface="Times New Roman" panose="02020603050405020304" pitchFamily="18" charset="0"/>
                <a:cs typeface="Times New Roman" panose="02020603050405020304" pitchFamily="18" charset="0"/>
              </a:rPr>
              <a:t>. </a:t>
            </a:r>
          </a:p>
          <a:p>
            <a:pPr marL="0" indent="0">
              <a:buNone/>
            </a:pPr>
            <a:r>
              <a:rPr lang="en-US" sz="1500" b="1" cap="none" dirty="0">
                <a:latin typeface="Times New Roman" panose="02020603050405020304" pitchFamily="18" charset="0"/>
                <a:cs typeface="Times New Roman" panose="02020603050405020304" pitchFamily="18" charset="0"/>
              </a:rPr>
              <a:t>Phonetic errors: </a:t>
            </a:r>
            <a:r>
              <a:rPr lang="en-US" sz="1500" cap="none" dirty="0">
                <a:latin typeface="Times New Roman" panose="02020603050405020304" pitchFamily="18" charset="0"/>
                <a:cs typeface="Times New Roman" panose="02020603050405020304" pitchFamily="18" charset="0"/>
              </a:rPr>
              <a:t>These result due to poor cognition on part of the </a:t>
            </a:r>
            <a:r>
              <a:rPr lang="en-US" sz="1500" cap="none" dirty="0" err="1">
                <a:latin typeface="Times New Roman" panose="02020603050405020304" pitchFamily="18" charset="0"/>
                <a:cs typeface="Times New Roman" panose="02020603050405020304" pitchFamily="18" charset="0"/>
              </a:rPr>
              <a:t>listner</a:t>
            </a:r>
            <a:r>
              <a:rPr lang="en-US" sz="1500" cap="none" dirty="0">
                <a:latin typeface="Times New Roman" panose="02020603050405020304" pitchFamily="18" charset="0"/>
                <a:cs typeface="Times New Roman" panose="02020603050405020304" pitchFamily="18" charset="0"/>
              </a:rPr>
              <a:t>. The word rough could be spelt as ruff and listen as </a:t>
            </a:r>
            <a:r>
              <a:rPr lang="en-US" sz="1500" cap="none" dirty="0" err="1">
                <a:latin typeface="Times New Roman" panose="02020603050405020304" pitchFamily="18" charset="0"/>
                <a:cs typeface="Times New Roman" panose="02020603050405020304" pitchFamily="18" charset="0"/>
              </a:rPr>
              <a:t>lisen</a:t>
            </a:r>
            <a:r>
              <a:rPr lang="en-US" sz="1500" cap="none" dirty="0">
                <a:latin typeface="Times New Roman" panose="02020603050405020304" pitchFamily="18" charset="0"/>
                <a:cs typeface="Times New Roman" panose="02020603050405020304" pitchFamily="18" charset="0"/>
              </a:rPr>
              <a:t>. Note that both the misspelled words ruff and </a:t>
            </a:r>
            <a:r>
              <a:rPr lang="en-US" sz="1500" cap="none" dirty="0" err="1">
                <a:latin typeface="Times New Roman" panose="02020603050405020304" pitchFamily="18" charset="0"/>
                <a:cs typeface="Times New Roman" panose="02020603050405020304" pitchFamily="18" charset="0"/>
              </a:rPr>
              <a:t>lisen</a:t>
            </a:r>
            <a:r>
              <a:rPr lang="en-US" sz="1500" cap="none" dirty="0">
                <a:latin typeface="Times New Roman" panose="02020603050405020304" pitchFamily="18" charset="0"/>
                <a:cs typeface="Times New Roman" panose="02020603050405020304" pitchFamily="18" charset="0"/>
              </a:rPr>
              <a:t> have the same phonetic pronunciation as their actual spellings. </a:t>
            </a:r>
          </a:p>
          <a:p>
            <a:pPr marL="0" indent="0">
              <a:buNone/>
            </a:pPr>
            <a:r>
              <a:rPr lang="en-US" sz="1500" cap="none" dirty="0">
                <a:latin typeface="Times New Roman" panose="02020603050405020304" pitchFamily="18" charset="0"/>
                <a:cs typeface="Times New Roman" panose="02020603050405020304" pitchFamily="18" charset="0"/>
              </a:rPr>
              <a:t>Such errors may distort misspelled words more than typographic editing actions that cause a misspelling (viz. insertion, deletion, transposition, or substitution error) as in case of ruff Words like piece, peace and peas, reed and read and quite and quiet may all be spelt correctly but can lead to confusion depending on the context. </a:t>
            </a:r>
            <a:endParaRPr lang="en-IN" sz="1500" cap="none"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9751065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2E81D3-D2D3-9748-14F4-6FE4EEE259C5}"/>
              </a:ext>
            </a:extLst>
          </p:cNvPr>
          <p:cNvSpPr>
            <a:spLocks noGrp="1"/>
          </p:cNvSpPr>
          <p:nvPr>
            <p:ph type="title"/>
          </p:nvPr>
        </p:nvSpPr>
        <p:spPr/>
        <p:txBody>
          <a:bodyPr/>
          <a:lstStyle/>
          <a:p>
            <a:r>
              <a:rPr lang="en-IN" sz="3200" b="1" dirty="0">
                <a:latin typeface="Times New Roman" panose="02020603050405020304" pitchFamily="18" charset="0"/>
                <a:cs typeface="Times New Roman" panose="02020603050405020304" pitchFamily="18" charset="0"/>
              </a:rPr>
              <a:t>Spell Checking Techniques </a:t>
            </a:r>
          </a:p>
        </p:txBody>
      </p:sp>
      <p:sp>
        <p:nvSpPr>
          <p:cNvPr id="3" name="Content Placeholder 2">
            <a:extLst>
              <a:ext uri="{FF2B5EF4-FFF2-40B4-BE49-F238E27FC236}">
                <a16:creationId xmlns:a16="http://schemas.microsoft.com/office/drawing/2014/main" id="{D0B08573-3835-A949-5B45-E03C78CF08CF}"/>
              </a:ext>
            </a:extLst>
          </p:cNvPr>
          <p:cNvSpPr>
            <a:spLocks noGrp="1"/>
          </p:cNvSpPr>
          <p:nvPr>
            <p:ph idx="1"/>
          </p:nvPr>
        </p:nvSpPr>
        <p:spPr>
          <a:xfrm>
            <a:off x="2028773" y="1905000"/>
            <a:ext cx="8915400" cy="4191000"/>
          </a:xfrm>
        </p:spPr>
        <p:txBody>
          <a:bodyPr>
            <a:normAutofit fontScale="77500" lnSpcReduction="20000"/>
          </a:bodyPr>
          <a:lstStyle/>
          <a:p>
            <a:r>
              <a:rPr lang="en-IN" b="1" cap="none" dirty="0">
                <a:latin typeface="Times New Roman" panose="02020603050405020304" pitchFamily="18" charset="0"/>
                <a:cs typeface="Times New Roman" panose="02020603050405020304" pitchFamily="18" charset="0"/>
              </a:rPr>
              <a:t>1. Non-Word Error Detection: </a:t>
            </a:r>
          </a:p>
          <a:p>
            <a:r>
              <a:rPr lang="en-US" cap="none" dirty="0">
                <a:latin typeface="Times New Roman" panose="02020603050405020304" pitchFamily="18" charset="0"/>
                <a:cs typeface="Times New Roman" panose="02020603050405020304" pitchFamily="18" charset="0"/>
              </a:rPr>
              <a:t>This process involves the detection of misspelled words or non-words. For example -The word </a:t>
            </a:r>
            <a:r>
              <a:rPr lang="en-US" cap="none" dirty="0" err="1">
                <a:latin typeface="Times New Roman" panose="02020603050405020304" pitchFamily="18" charset="0"/>
                <a:cs typeface="Times New Roman" panose="02020603050405020304" pitchFamily="18" charset="0"/>
              </a:rPr>
              <a:t>soper</a:t>
            </a:r>
            <a:r>
              <a:rPr lang="en-US" cap="none" dirty="0">
                <a:latin typeface="Times New Roman" panose="02020603050405020304" pitchFamily="18" charset="0"/>
                <a:cs typeface="Times New Roman" panose="02020603050405020304" pitchFamily="18" charset="0"/>
              </a:rPr>
              <a:t> is a non- word; it’s correct form being super (or maybe sober). The most commonly used techniques to detect such errors are the N-gram analysis and Dictionary look-up. </a:t>
            </a:r>
          </a:p>
          <a:p>
            <a:r>
              <a:rPr lang="en-IN" b="1" cap="none" dirty="0">
                <a:latin typeface="Times New Roman" panose="02020603050405020304" pitchFamily="18" charset="0"/>
                <a:cs typeface="Times New Roman" panose="02020603050405020304" pitchFamily="18" charset="0"/>
              </a:rPr>
              <a:t>Dictionary lookup </a:t>
            </a:r>
          </a:p>
          <a:p>
            <a:r>
              <a:rPr lang="en-US" cap="none" dirty="0">
                <a:latin typeface="Times New Roman" panose="02020603050405020304" pitchFamily="18" charset="0"/>
                <a:cs typeface="Times New Roman" panose="02020603050405020304" pitchFamily="18" charset="0"/>
              </a:rPr>
              <a:t>A dictionary is a list of large number of correct words. Dictionary look up is one of the two principal ways of spelling error detection. Dictionary looks up technique which checks each word of input text for its presence in dictionary. If that word is present in dictionary, then it is a correct word otherwise it is put into the list of error words. Hash tables are the most common used technique to gain fast access to a dictionary. </a:t>
            </a:r>
          </a:p>
          <a:p>
            <a:r>
              <a:rPr lang="en-IN" b="1" cap="none" dirty="0">
                <a:latin typeface="Times New Roman" panose="02020603050405020304" pitchFamily="18" charset="0"/>
                <a:cs typeface="Times New Roman" panose="02020603050405020304" pitchFamily="18" charset="0"/>
              </a:rPr>
              <a:t>N-gram Analysis </a:t>
            </a:r>
          </a:p>
          <a:p>
            <a:r>
              <a:rPr lang="en-US" cap="none" dirty="0">
                <a:latin typeface="Times New Roman" panose="02020603050405020304" pitchFamily="18" charset="0"/>
                <a:cs typeface="Times New Roman" panose="02020603050405020304" pitchFamily="18" charset="0"/>
              </a:rPr>
              <a:t>It is a method to detection of incorrectly spelled words in a mass of text. Instead of comparing each entire word in a text to a dictionary, just n-grams are compared with dictionary because comparing each single word with dictionary is a time consuming process</a:t>
            </a:r>
            <a:r>
              <a:rPr lang="en-US" dirty="0"/>
              <a:t>. </a:t>
            </a:r>
          </a:p>
        </p:txBody>
      </p:sp>
    </p:spTree>
    <p:extLst>
      <p:ext uri="{BB962C8B-B14F-4D97-AF65-F5344CB8AC3E}">
        <p14:creationId xmlns:p14="http://schemas.microsoft.com/office/powerpoint/2010/main" val="401901737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3F214B-B257-E5F7-EB3A-44E3E4D66EA4}"/>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788CE872-69CD-E3BC-86C9-13955CDFEFE6}"/>
              </a:ext>
            </a:extLst>
          </p:cNvPr>
          <p:cNvSpPr>
            <a:spLocks noGrp="1"/>
          </p:cNvSpPr>
          <p:nvPr>
            <p:ph idx="1"/>
          </p:nvPr>
        </p:nvSpPr>
        <p:spPr/>
        <p:txBody>
          <a:bodyPr>
            <a:normAutofit fontScale="62500" lnSpcReduction="20000"/>
          </a:bodyPr>
          <a:lstStyle/>
          <a:p>
            <a:pPr marL="0" indent="0">
              <a:buNone/>
            </a:pPr>
            <a:r>
              <a:rPr lang="en-IN" sz="2300" b="1" cap="none" dirty="0">
                <a:latin typeface="Times New Roman" panose="02020603050405020304" pitchFamily="18" charset="0"/>
                <a:cs typeface="Times New Roman" panose="02020603050405020304" pitchFamily="18" charset="0"/>
              </a:rPr>
              <a:t>2. Isolated-Word Error Correction: </a:t>
            </a:r>
          </a:p>
          <a:p>
            <a:pPr marL="0" indent="0">
              <a:buNone/>
            </a:pPr>
            <a:r>
              <a:rPr lang="en-US" sz="2300" cap="none" dirty="0">
                <a:latin typeface="Times New Roman" panose="02020603050405020304" pitchFamily="18" charset="0"/>
                <a:cs typeface="Times New Roman" panose="02020603050405020304" pitchFamily="18" charset="0"/>
              </a:rPr>
              <a:t>This process focuses on the correction of an isolated non-word by finding its nearest and meaningful word and makes an attempt to rectify the error. It thus transforms the word </a:t>
            </a:r>
            <a:r>
              <a:rPr lang="en-US" sz="2300" cap="none" dirty="0" err="1">
                <a:latin typeface="Times New Roman" panose="02020603050405020304" pitchFamily="18" charset="0"/>
                <a:cs typeface="Times New Roman" panose="02020603050405020304" pitchFamily="18" charset="0"/>
              </a:rPr>
              <a:t>soper</a:t>
            </a:r>
            <a:r>
              <a:rPr lang="en-US" sz="2300" cap="none" dirty="0">
                <a:latin typeface="Times New Roman" panose="02020603050405020304" pitchFamily="18" charset="0"/>
                <a:cs typeface="Times New Roman" panose="02020603050405020304" pitchFamily="18" charset="0"/>
              </a:rPr>
              <a:t> into super by some means but without looking into the context. </a:t>
            </a:r>
          </a:p>
          <a:p>
            <a:r>
              <a:rPr lang="en-US" sz="2300" b="1" cap="none" dirty="0">
                <a:latin typeface="Times New Roman" panose="02020603050405020304" pitchFamily="18" charset="0"/>
                <a:cs typeface="Times New Roman" panose="02020603050405020304" pitchFamily="18" charset="0"/>
              </a:rPr>
              <a:t>Context dependent Error detection and correction: </a:t>
            </a:r>
          </a:p>
          <a:p>
            <a:pPr marL="0" indent="0" algn="just">
              <a:buNone/>
            </a:pPr>
            <a:r>
              <a:rPr lang="en-US" sz="2300" cap="none" dirty="0">
                <a:latin typeface="Times New Roman" panose="02020603050405020304" pitchFamily="18" charset="0"/>
                <a:cs typeface="Times New Roman" panose="02020603050405020304" pitchFamily="18" charset="0"/>
              </a:rPr>
              <a:t>These processes try, in addition to detect errors, try to find whether the corrected word fits into the context of the sentence. How would you correct the wise words of Lord Buddha — "Peace comes from within" if it were typed as - "Piece comes from within"? </a:t>
            </a:r>
          </a:p>
          <a:p>
            <a:pPr algn="just"/>
            <a:endParaRPr lang="en-IN" sz="2300" cap="none" dirty="0">
              <a:latin typeface="Times New Roman" panose="02020603050405020304" pitchFamily="18" charset="0"/>
              <a:cs typeface="Times New Roman" panose="02020603050405020304" pitchFamily="18" charset="0"/>
            </a:endParaRPr>
          </a:p>
          <a:p>
            <a:pPr algn="just"/>
            <a:r>
              <a:rPr lang="en-US" sz="2300" cap="none" dirty="0">
                <a:latin typeface="Times New Roman" panose="02020603050405020304" pitchFamily="18" charset="0"/>
                <a:cs typeface="Times New Roman" panose="02020603050405020304" pitchFamily="18" charset="0"/>
              </a:rPr>
              <a:t>Note that the first word in both these statements is a correct word. This involves correction of real-world errors or those that result in another valid word. Non-word errors that have more than one potential correction also fall in this category. </a:t>
            </a:r>
            <a:r>
              <a:rPr lang="en-US" sz="2200" cap="none" dirty="0">
                <a:latin typeface="Times New Roman" panose="02020603050405020304" pitchFamily="18" charset="0"/>
                <a:cs typeface="Times New Roman" panose="02020603050405020304" pitchFamily="18" charset="0"/>
              </a:rPr>
              <a:t>The strategies commonly used find their basis on traditional and statistical natural language processing techniques. </a:t>
            </a:r>
            <a:endParaRPr lang="en-IN" sz="2200" cap="none" dirty="0">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86408676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E12AA16-706A-5A0A-9956-AF00F560A2CD}"/>
              </a:ext>
            </a:extLst>
          </p:cNvPr>
          <p:cNvSpPr/>
          <p:nvPr/>
        </p:nvSpPr>
        <p:spPr>
          <a:xfrm>
            <a:off x="3077498" y="2967335"/>
            <a:ext cx="6525290" cy="1323439"/>
          </a:xfrm>
          <a:prstGeom prst="rect">
            <a:avLst/>
          </a:prstGeom>
          <a:noFill/>
        </p:spPr>
        <p:txBody>
          <a:bodyPr wrap="square" lIns="91440" tIns="45720" rIns="91440" bIns="45720">
            <a:spAutoFit/>
          </a:bodyPr>
          <a:lstStyle/>
          <a:p>
            <a:pPr algn="ctr"/>
            <a:r>
              <a:rPr lang="en-US" sz="8000" b="1" dirty="0">
                <a:ln w="22225">
                  <a:solidFill>
                    <a:schemeClr val="accent2"/>
                  </a:solidFill>
                  <a:prstDash val="solid"/>
                </a:ln>
                <a:solidFill>
                  <a:schemeClr val="accent2">
                    <a:lumMod val="40000"/>
                    <a:lumOff val="60000"/>
                  </a:schemeClr>
                </a:solidFill>
              </a:rPr>
              <a:t>THANK YOU</a:t>
            </a:r>
          </a:p>
        </p:txBody>
      </p:sp>
    </p:spTree>
    <p:extLst>
      <p:ext uri="{BB962C8B-B14F-4D97-AF65-F5344CB8AC3E}">
        <p14:creationId xmlns:p14="http://schemas.microsoft.com/office/powerpoint/2010/main" val="3482656383"/>
      </p:ext>
    </p:extLst>
  </p:cSld>
  <p:clrMapOvr>
    <a:masterClrMapping/>
  </p:clrMapOvr>
</p:sld>
</file>

<file path=ppt/theme/theme1.xml><?xml version="1.0" encoding="utf-8"?>
<a:theme xmlns:a="http://schemas.openxmlformats.org/drawingml/2006/main" name="Droplet">
  <a:themeElements>
    <a:clrScheme name="Droplet">
      <a:dk1>
        <a:sysClr val="windowText" lastClr="000000"/>
      </a:dk1>
      <a:lt1>
        <a:sysClr val="window" lastClr="FFFFFF"/>
      </a:lt1>
      <a:dk2>
        <a:srgbClr val="355071"/>
      </a:dk2>
      <a:lt2>
        <a:srgbClr val="AABED7"/>
      </a:lt2>
      <a:accent1>
        <a:srgbClr val="2FA3EE"/>
      </a:accent1>
      <a:accent2>
        <a:srgbClr val="4BCAAD"/>
      </a:accent2>
      <a:accent3>
        <a:srgbClr val="86C157"/>
      </a:accent3>
      <a:accent4>
        <a:srgbClr val="D99C3F"/>
      </a:accent4>
      <a:accent5>
        <a:srgbClr val="CE6633"/>
      </a:accent5>
      <a:accent6>
        <a:srgbClr val="A35DD1"/>
      </a:accent6>
      <a:hlink>
        <a:srgbClr val="56BCFE"/>
      </a:hlink>
      <a:folHlink>
        <a:srgbClr val="97C5E3"/>
      </a:folHlink>
    </a:clrScheme>
    <a:fontScheme name="Drople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roplet">
      <a:fillStyleLst>
        <a:solidFill>
          <a:schemeClr val="phClr"/>
        </a:solidFill>
        <a:solidFill>
          <a:schemeClr val="phClr">
            <a:tint val="69000"/>
            <a:satMod val="105000"/>
            <a:lumMod val="110000"/>
          </a:schemeClr>
        </a:solidFill>
        <a:gradFill rotWithShape="1">
          <a:gsLst>
            <a:gs pos="0">
              <a:schemeClr val="phClr">
                <a:tint val="94000"/>
                <a:satMod val="100000"/>
                <a:lumMod val="108000"/>
              </a:schemeClr>
            </a:gs>
            <a:gs pos="50000">
              <a:schemeClr val="phClr">
                <a:tint val="98000"/>
                <a:shade val="100000"/>
                <a:satMod val="100000"/>
                <a:lumMod val="100000"/>
              </a:schemeClr>
            </a:gs>
            <a:gs pos="100000">
              <a:schemeClr val="phClr">
                <a:shade val="72000"/>
                <a:satMod val="120000"/>
                <a:lumMod val="100000"/>
              </a:schemeClr>
            </a:gs>
          </a:gsLst>
          <a:lin ang="5400000" scaled="0"/>
        </a:gradFill>
      </a:fillStyleLst>
      <a:lnStyleLst>
        <a:ln w="9525" cap="flat" cmpd="sng" algn="ctr">
          <a:solidFill>
            <a:schemeClr val="phClr">
              <a:shade val="60000"/>
            </a:scheme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outerShdw blurRad="50800" dist="25400" dir="5400000" rotWithShape="0">
              <a:srgbClr val="000000">
                <a:alpha val="28000"/>
              </a:srgbClr>
            </a:outerShdw>
          </a:effectLst>
        </a:effectStyle>
        <a:effectStyle>
          <a:effectLst>
            <a:outerShdw blurRad="63500" dist="25400" dir="5400000" algn="ctr" rotWithShape="0">
              <a:srgbClr val="000000">
                <a:alpha val="69000"/>
              </a:srgbClr>
            </a:outerShdw>
          </a:effectLst>
          <a:scene3d>
            <a:camera prst="orthographicFront">
              <a:rot lat="0" lon="0" rev="0"/>
            </a:camera>
            <a:lightRig rig="balanced" dir="t">
              <a:rot lat="0" lon="0" rev="1200000"/>
            </a:lightRig>
          </a:scene3d>
          <a:sp3d prstMaterial="plastic">
            <a:bevelT w="25400" h="25400"/>
          </a:sp3d>
        </a:effectStyle>
      </a:effectStyleLst>
      <a:bgFillStyleLst>
        <a:solidFill>
          <a:schemeClr val="phClr"/>
        </a:solidFill>
        <a:gradFill rotWithShape="1">
          <a:gsLst>
            <a:gs pos="0">
              <a:schemeClr val="phClr">
                <a:tint val="90000"/>
                <a:lumMod val="110000"/>
              </a:schemeClr>
            </a:gs>
            <a:gs pos="100000">
              <a:schemeClr val="phClr">
                <a:shade val="64000"/>
                <a:lumMod val="88000"/>
              </a:schemeClr>
            </a:gs>
          </a:gsLst>
          <a:lin ang="5400000" scaled="0"/>
        </a:gradFill>
        <a:gradFill rotWithShape="1">
          <a:gsLst>
            <a:gs pos="0">
              <a:schemeClr val="phClr">
                <a:tint val="84000"/>
                <a:shade val="100000"/>
                <a:hueMod val="130000"/>
                <a:satMod val="150000"/>
                <a:lumMod val="112000"/>
              </a:schemeClr>
            </a:gs>
            <a:gs pos="100000">
              <a:schemeClr val="phClr">
                <a:shade val="92000"/>
                <a:satMod val="140000"/>
                <a:lumMod val="110000"/>
              </a:schemeClr>
            </a:gs>
          </a:gsLst>
          <a:lin ang="5400000" scaled="0"/>
        </a:gradFill>
      </a:bgFillStyleLst>
    </a:fmtScheme>
  </a:themeElements>
  <a:objectDefaults/>
  <a:extraClrSchemeLst/>
  <a:extLst>
    <a:ext uri="{05A4C25C-085E-4340-85A3-A5531E510DB2}">
      <thm15:themeFamily xmlns:thm15="http://schemas.microsoft.com/office/thememl/2012/main" name="Droplet" id="{8984A317-299A-4E50-B45D-BFC9EDE2337A}" vid="{A633B6A3-9E7F-4C10-9C98-2517A3134361}"/>
    </a:ext>
  </a:extLst>
</a:theme>
</file>

<file path=docProps/app.xml><?xml version="1.0" encoding="utf-8"?>
<Properties xmlns="http://schemas.openxmlformats.org/officeDocument/2006/extended-properties" xmlns:vt="http://schemas.openxmlformats.org/officeDocument/2006/docPropsVTypes">
  <Template>TM04033925[[fn=Droplet]]</Template>
  <TotalTime>5018</TotalTime>
  <Words>3993</Words>
  <Application>Microsoft Office PowerPoint</Application>
  <PresentationFormat>Widescreen</PresentationFormat>
  <Paragraphs>191</Paragraphs>
  <Slides>27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27</vt:i4>
      </vt:variant>
    </vt:vector>
  </HeadingPairs>
  <TitlesOfParts>
    <vt:vector size="32" baseType="lpstr">
      <vt:lpstr>Arial</vt:lpstr>
      <vt:lpstr>Times</vt:lpstr>
      <vt:lpstr>Times New Roman</vt:lpstr>
      <vt:lpstr>Tw Cen MT</vt:lpstr>
      <vt:lpstr>Droplet</vt:lpstr>
      <vt:lpstr>Artificial Intelligence</vt:lpstr>
      <vt:lpstr>  Natural Language Processing</vt:lpstr>
      <vt:lpstr>PowerPoint Presentation</vt:lpstr>
      <vt:lpstr>  Components of NLP </vt:lpstr>
      <vt:lpstr>advantages and Disadvantages  of implementing NLP   </vt:lpstr>
      <vt:lpstr>  PHASES of NLP in AI</vt:lpstr>
      <vt:lpstr>PowerPoint Presentation</vt:lpstr>
      <vt:lpstr>  Morphological Analysis </vt:lpstr>
      <vt:lpstr>Syntactic Analysis </vt:lpstr>
      <vt:lpstr>Concept of Grammar </vt:lpstr>
      <vt:lpstr>PowerPoint Presentation</vt:lpstr>
      <vt:lpstr>Concept of Parser </vt:lpstr>
      <vt:lpstr>top-down technique</vt:lpstr>
      <vt:lpstr>PowerPoint Presentation</vt:lpstr>
      <vt:lpstr>Bottom Up Parsing </vt:lpstr>
      <vt:lpstr>PowerPoint Presentation</vt:lpstr>
      <vt:lpstr>Semantic Analysis </vt:lpstr>
      <vt:lpstr>Discourse Integration </vt:lpstr>
      <vt:lpstr>PowerPoint Presentation</vt:lpstr>
      <vt:lpstr>Pragmatic Analysis </vt:lpstr>
      <vt:lpstr>Statistical Natural Language Processing </vt:lpstr>
      <vt:lpstr>PowerPoint Presentation</vt:lpstr>
      <vt:lpstr>Spell Checking </vt:lpstr>
      <vt:lpstr>PowerPoint Presentation</vt:lpstr>
      <vt:lpstr>Spell Checking Techniques </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Bidush Kumar Sahoo</dc:creator>
  <cp:lastModifiedBy>Bidush Kumar Sahoo</cp:lastModifiedBy>
  <cp:revision>20</cp:revision>
  <dcterms:created xsi:type="dcterms:W3CDTF">2025-09-17T03:12:53Z</dcterms:created>
  <dcterms:modified xsi:type="dcterms:W3CDTF">2025-09-23T05:55:20Z</dcterms:modified>
</cp:coreProperties>
</file>