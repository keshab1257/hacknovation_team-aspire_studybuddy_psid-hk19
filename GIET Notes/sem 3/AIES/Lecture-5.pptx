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25"/>
  </p:notesMasterIdLst>
  <p:sldIdLst>
    <p:sldId id="259" r:id="rId2"/>
    <p:sldId id="257" r:id="rId3"/>
    <p:sldId id="258" r:id="rId4"/>
    <p:sldId id="260" r:id="rId5"/>
    <p:sldId id="261" r:id="rId6"/>
    <p:sldId id="262" r:id="rId7"/>
    <p:sldId id="263" r:id="rId8"/>
    <p:sldId id="264" r:id="rId9"/>
    <p:sldId id="266" r:id="rId10"/>
    <p:sldId id="265" r:id="rId11"/>
    <p:sldId id="267" r:id="rId12"/>
    <p:sldId id="271" r:id="rId13"/>
    <p:sldId id="270" r:id="rId14"/>
    <p:sldId id="269" r:id="rId15"/>
    <p:sldId id="268" r:id="rId16"/>
    <p:sldId id="272" r:id="rId17"/>
    <p:sldId id="273" r:id="rId18"/>
    <p:sldId id="274" r:id="rId19"/>
    <p:sldId id="275" r:id="rId20"/>
    <p:sldId id="276" r:id="rId21"/>
    <p:sldId id="277" r:id="rId22"/>
    <p:sldId id="279"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CC2F5-1985-4F26-A6F0-D708D4AD2E88}" type="datetimeFigureOut">
              <a:rPr lang="en-IN" smtClean="0"/>
              <a:t>16-09-2022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8A03F1-5C45-465C-A77F-E9854C3E7569}" type="slidenum">
              <a:rPr lang="en-IN" smtClean="0"/>
              <a:t>‹#›</a:t>
            </a:fld>
            <a:endParaRPr lang="en-IN"/>
          </a:p>
        </p:txBody>
      </p:sp>
    </p:spTree>
    <p:extLst>
      <p:ext uri="{BB962C8B-B14F-4D97-AF65-F5344CB8AC3E}">
        <p14:creationId xmlns:p14="http://schemas.microsoft.com/office/powerpoint/2010/main" val="4211947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80FD6E-DFFE-405C-9DFB-9950057B4657}" type="datetime1">
              <a:rPr lang="en-IN" smtClean="0"/>
              <a:t>16-09-2022</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912272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36F935-BCB6-4667-B874-CFEC0444583B}" type="datetime1">
              <a:rPr lang="en-IN" smtClean="0"/>
              <a:t>16-09-2022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913817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846E45-139B-4081-B630-CD16F35B8720}" type="datetime1">
              <a:rPr lang="en-IN" smtClean="0"/>
              <a:t>16-09-2022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534329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724213-A532-47FD-B9B4-F4AB87B51693}" type="datetime1">
              <a:rPr lang="en-IN" smtClean="0"/>
              <a:t>16-09-2022</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19277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7538FA-8F05-4948-A2EB-4D110A720F42}" type="datetime1">
              <a:rPr lang="en-IN" smtClean="0"/>
              <a:t>16-09-2022</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362442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DECB2-B650-4E13-908A-B94C46E3A2D1}" type="datetime1">
              <a:rPr lang="en-IN" smtClean="0"/>
              <a:t>16-09-2022</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2939287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D9F62B-B538-4789-8A0C-5ACFBC9040A7}" type="datetime1">
              <a:rPr lang="en-IN" smtClean="0"/>
              <a:t>16-09-2022</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807716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463580-2992-41D4-B08B-316D8B6C0A50}" type="datetime1">
              <a:rPr lang="en-IN" smtClean="0"/>
              <a:t>16-09-2022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14780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32FD62-041F-4344-B570-6A7D8D444EF8}" type="datetime1">
              <a:rPr lang="en-IN" smtClean="0"/>
              <a:t>16-09-2022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4181460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505913-CF14-45C6-BD38-55EE93B961D6}" type="datetime1">
              <a:rPr lang="en-IN" smtClean="0"/>
              <a:t>16-09-2022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06383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8B2F8A-62D9-4F56-A288-C3E14D7262BA}" type="datetime1">
              <a:rPr lang="en-IN" smtClean="0"/>
              <a:t>16-09-2022</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324F709-037B-4F0A-AFFB-BDF7B109B9B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33858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3B8DFFC-300F-4C23-AC08-C29567E9467A}" type="datetime1">
              <a:rPr lang="en-IN" smtClean="0"/>
              <a:t>16-09-2022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31725456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00A8667-9F6A-4B60-805A-DE74D25C8154}" type="datetime1">
              <a:rPr lang="en-IN" smtClean="0"/>
              <a:t>16-09-2022</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324F709-037B-4F0A-AFFB-BDF7B109B9B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03944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18A4F8F-8323-4D1D-B303-958CE1424C8C}" type="datetime1">
              <a:rPr lang="en-IN" smtClean="0"/>
              <a:t>16-09-2022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796834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0D6666-1083-4DCE-BACB-92F60FCEA1B9}" type="datetime1">
              <a:rPr lang="en-IN" smtClean="0"/>
              <a:t>16-09-2022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1329770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0DF8D7-CE3B-4629-A287-E0E77C0007F3}" type="datetime1">
              <a:rPr lang="en-IN" smtClean="0"/>
              <a:t>16-09-2022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324F709-037B-4F0A-AFFB-BDF7B109B9BB}" type="slidenum">
              <a:rPr lang="en-IN" smtClean="0"/>
              <a:t>‹#›</a:t>
            </a:fld>
            <a:endParaRPr lang="en-IN"/>
          </a:p>
        </p:txBody>
      </p:sp>
    </p:spTree>
    <p:extLst>
      <p:ext uri="{BB962C8B-B14F-4D97-AF65-F5344CB8AC3E}">
        <p14:creationId xmlns:p14="http://schemas.microsoft.com/office/powerpoint/2010/main" val="456314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2A18573-0ED8-4B4E-8FAF-089FBE9F595D}" type="datetime1">
              <a:rPr lang="en-IN" smtClean="0"/>
              <a:t>16-09-2022</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324F709-037B-4F0A-AFFB-BDF7B109B9BB}" type="slidenum">
              <a:rPr lang="en-IN" smtClean="0"/>
              <a:t>‹#›</a:t>
            </a:fld>
            <a:endParaRPr lang="en-IN"/>
          </a:p>
        </p:txBody>
      </p:sp>
    </p:spTree>
    <p:extLst>
      <p:ext uri="{BB962C8B-B14F-4D97-AF65-F5344CB8AC3E}">
        <p14:creationId xmlns:p14="http://schemas.microsoft.com/office/powerpoint/2010/main" val="139572687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hf hdr="0" ftr="0" dt="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51F39-661A-9659-558E-592C893E2260}"/>
              </a:ext>
            </a:extLst>
          </p:cNvPr>
          <p:cNvSpPr>
            <a:spLocks noGrp="1"/>
          </p:cNvSpPr>
          <p:nvPr>
            <p:ph type="ctrTitle"/>
          </p:nvPr>
        </p:nvSpPr>
        <p:spPr>
          <a:xfrm>
            <a:off x="2589212" y="629816"/>
            <a:ext cx="8915399" cy="2262781"/>
          </a:xfrm>
        </p:spPr>
        <p:txBody>
          <a:bodyPr/>
          <a:lstStyle/>
          <a:p>
            <a:r>
              <a:rPr lang="en-GB" sz="6600" dirty="0">
                <a:latin typeface="Times" panose="02020603050405020304" pitchFamily="18" charset="0"/>
                <a:cs typeface="Times" panose="02020603050405020304" pitchFamily="18" charset="0"/>
              </a:rPr>
              <a:t>Artificial Intelligence</a:t>
            </a:r>
            <a:br>
              <a:rPr lang="en-GB" dirty="0">
                <a:latin typeface="Times" panose="02020603050405020304" pitchFamily="18" charset="0"/>
                <a:cs typeface="Times" panose="02020603050405020304" pitchFamily="18" charset="0"/>
              </a:rPr>
            </a:br>
            <a:endParaRPr lang="en-IN" dirty="0"/>
          </a:p>
        </p:txBody>
      </p:sp>
      <p:sp>
        <p:nvSpPr>
          <p:cNvPr id="3" name="Subtitle 2">
            <a:extLst>
              <a:ext uri="{FF2B5EF4-FFF2-40B4-BE49-F238E27FC236}">
                <a16:creationId xmlns:a16="http://schemas.microsoft.com/office/drawing/2014/main" id="{675D50D6-17EB-229E-9010-0DB54C0DE860}"/>
              </a:ext>
            </a:extLst>
          </p:cNvPr>
          <p:cNvSpPr>
            <a:spLocks noGrp="1"/>
          </p:cNvSpPr>
          <p:nvPr>
            <p:ph type="subTitle" idx="1"/>
          </p:nvPr>
        </p:nvSpPr>
        <p:spPr>
          <a:xfrm>
            <a:off x="2589213" y="3228393"/>
            <a:ext cx="8915399" cy="2675270"/>
          </a:xfrm>
        </p:spPr>
        <p:txBody>
          <a:bodyPr>
            <a:normAutofit/>
          </a:bodyPr>
          <a:lstStyle/>
          <a:p>
            <a:pPr algn="ctr"/>
            <a:r>
              <a:rPr lang="en-US" altLang="en-US" sz="4800" dirty="0">
                <a:latin typeface="Times" panose="02020603050405020304" pitchFamily="18" charset="0"/>
                <a:ea typeface="ＭＳ Ｐゴシック" panose="020B0600070205080204" pitchFamily="34" charset="-128"/>
                <a:cs typeface="Times" panose="02020603050405020304" pitchFamily="18" charset="0"/>
              </a:rPr>
              <a:t>Dr. Bidush Kumar Sahoo</a:t>
            </a:r>
            <a:br>
              <a:rPr lang="en-US" altLang="en-US" sz="6000" dirty="0">
                <a:latin typeface="Times" panose="02020603050405020304" pitchFamily="18" charset="0"/>
                <a:ea typeface="ＭＳ Ｐゴシック" panose="020B0600070205080204" pitchFamily="34" charset="-128"/>
                <a:cs typeface="Times" panose="02020603050405020304" pitchFamily="18" charset="0"/>
              </a:rPr>
            </a:br>
            <a:r>
              <a:rPr lang="en-US" altLang="en-US" sz="6000" dirty="0">
                <a:latin typeface="Times" panose="02020603050405020304" pitchFamily="18" charset="0"/>
                <a:ea typeface="ＭＳ Ｐゴシック" panose="020B0600070205080204" pitchFamily="34" charset="-128"/>
                <a:cs typeface="Times" panose="02020603050405020304" pitchFamily="18" charset="0"/>
              </a:rPr>
              <a:t>G.I.E.T. University,</a:t>
            </a:r>
            <a:br>
              <a:rPr lang="en-US" altLang="en-US" sz="6000" dirty="0">
                <a:latin typeface="Times" panose="02020603050405020304" pitchFamily="18" charset="0"/>
                <a:ea typeface="ＭＳ Ｐゴシック" panose="020B0600070205080204" pitchFamily="34" charset="-128"/>
                <a:cs typeface="Times" panose="02020603050405020304" pitchFamily="18" charset="0"/>
              </a:rPr>
            </a:br>
            <a:r>
              <a:rPr lang="en-US" altLang="en-US" sz="6000" dirty="0" err="1">
                <a:latin typeface="Times" panose="02020603050405020304" pitchFamily="18" charset="0"/>
                <a:ea typeface="ＭＳ Ｐゴシック" panose="020B0600070205080204" pitchFamily="34" charset="-128"/>
                <a:cs typeface="Times" panose="02020603050405020304" pitchFamily="18" charset="0"/>
              </a:rPr>
              <a:t>Gunupur</a:t>
            </a:r>
            <a:r>
              <a:rPr lang="en-US" altLang="en-US" sz="6000" dirty="0">
                <a:latin typeface="Times" panose="02020603050405020304" pitchFamily="18" charset="0"/>
                <a:ea typeface="ＭＳ Ｐゴシック" panose="020B0600070205080204" pitchFamily="34" charset="-128"/>
                <a:cs typeface="Times" panose="02020603050405020304" pitchFamily="18" charset="0"/>
              </a:rPr>
              <a:t>, Odisha</a:t>
            </a:r>
            <a:endParaRPr lang="en-IN" sz="6000" dirty="0"/>
          </a:p>
        </p:txBody>
      </p:sp>
      <p:sp>
        <p:nvSpPr>
          <p:cNvPr id="4" name="Slide Number Placeholder 3">
            <a:extLst>
              <a:ext uri="{FF2B5EF4-FFF2-40B4-BE49-F238E27FC236}">
                <a16:creationId xmlns:a16="http://schemas.microsoft.com/office/drawing/2014/main" id="{3B79F0B8-F592-96C0-FF6B-D69001AEA8BF}"/>
              </a:ext>
            </a:extLst>
          </p:cNvPr>
          <p:cNvSpPr>
            <a:spLocks noGrp="1"/>
          </p:cNvSpPr>
          <p:nvPr>
            <p:ph type="sldNum" sz="quarter" idx="12"/>
          </p:nvPr>
        </p:nvSpPr>
        <p:spPr/>
        <p:txBody>
          <a:bodyPr/>
          <a:lstStyle/>
          <a:p>
            <a:fld id="{E9546293-CC12-4E88-908C-5E8BC06AB257}" type="slidenum">
              <a:rPr lang="en-IN" smtClean="0"/>
              <a:t>1</a:t>
            </a:fld>
            <a:endParaRPr lang="en-IN"/>
          </a:p>
        </p:txBody>
      </p:sp>
    </p:spTree>
    <p:extLst>
      <p:ext uri="{BB962C8B-B14F-4D97-AF65-F5344CB8AC3E}">
        <p14:creationId xmlns:p14="http://schemas.microsoft.com/office/powerpoint/2010/main" val="3723767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7CA76-6FEB-6669-47C7-C0213C4D1F5E}"/>
              </a:ext>
            </a:extLst>
          </p:cNvPr>
          <p:cNvSpPr>
            <a:spLocks noGrp="1"/>
          </p:cNvSpPr>
          <p:nvPr>
            <p:ph type="title"/>
          </p:nvPr>
        </p:nvSpPr>
        <p:spPr/>
        <p:txBody>
          <a:bodyPr/>
          <a:lstStyle/>
          <a:p>
            <a:r>
              <a:rPr lang="en-IN" sz="3600" b="1" i="0" u="none" strike="noStrike" baseline="0" dirty="0">
                <a:solidFill>
                  <a:srgbClr val="000000"/>
                </a:solidFill>
                <a:latin typeface="Times New Roman" panose="02020603050405020304" pitchFamily="18" charset="0"/>
              </a:rPr>
              <a:t>KNOWLEDGE </a:t>
            </a:r>
            <a:br>
              <a:rPr lang="en-IN" sz="36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F2630B1-FDB2-D9FA-8DF2-ADB0CC521C50}"/>
              </a:ext>
            </a:extLst>
          </p:cNvPr>
          <p:cNvSpPr>
            <a:spLocks noGrp="1"/>
          </p:cNvSpPr>
          <p:nvPr>
            <p:ph idx="1"/>
          </p:nvPr>
        </p:nvSpPr>
        <p:spPr>
          <a:xfrm>
            <a:off x="2589212" y="1791479"/>
            <a:ext cx="8915400" cy="4627982"/>
          </a:xfrm>
        </p:spPr>
        <p:txBody>
          <a:bodyPr>
            <a:normAutofit fontScale="77500" lnSpcReduction="20000"/>
          </a:bodyPr>
          <a:lstStyle/>
          <a:p>
            <a:r>
              <a:rPr lang="en-US" sz="1800" b="0" i="0" u="none" strike="noStrike" baseline="0" dirty="0">
                <a:solidFill>
                  <a:srgbClr val="000000"/>
                </a:solidFill>
                <a:latin typeface="Times New Roman" panose="02020603050405020304" pitchFamily="18" charset="0"/>
              </a:rPr>
              <a:t>Knowledge is the information about a domain that can be used to solve problems in that domain.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Ability to use knowledge is intelligence.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To solve any problems requires knowledge, and this knowledge must be represented in the computer. </a:t>
            </a:r>
          </a:p>
          <a:p>
            <a:r>
              <a:rPr lang="en-US" sz="1800" b="0" i="0" u="none" strike="noStrike" baseline="0" dirty="0">
                <a:solidFill>
                  <a:srgbClr val="000000"/>
                </a:solidFill>
                <a:latin typeface="Times New Roman" panose="02020603050405020304" pitchFamily="18" charset="0"/>
              </a:rPr>
              <a:t>Knowledge is different from data. Data is the collection of raw materials where as knowledge is the collection of some well specified inference rules and facts. </a:t>
            </a:r>
          </a:p>
          <a:p>
            <a:r>
              <a:rPr lang="en-US" sz="1800" b="0" i="0" u="none" strike="noStrike" baseline="0" dirty="0">
                <a:solidFill>
                  <a:srgbClr val="000000"/>
                </a:solidFill>
                <a:latin typeface="Times New Roman" panose="02020603050405020304" pitchFamily="18" charset="0"/>
              </a:rPr>
              <a:t>Knowledge is also different from belief and hypothesis. Belief is any meaningful and coherent expression that can be represented. Belief may be true or false. A hypothesis is a justified belief that is not known to be true. A hypothesis is a belief which is backed up with some supporting evidence but it may still be false. So knowledge can be defined as true justified knowledge. </a:t>
            </a:r>
          </a:p>
          <a:p>
            <a:pPr marL="0" indent="0">
              <a:buNone/>
            </a:pPr>
            <a:r>
              <a:rPr lang="en-US" sz="1800" b="1" i="0" u="none" strike="noStrike" baseline="0" dirty="0">
                <a:solidFill>
                  <a:srgbClr val="000000"/>
                </a:solidFill>
                <a:latin typeface="Times New Roman" panose="02020603050405020304" pitchFamily="18" charset="0"/>
              </a:rPr>
              <a:t>Knowledge Representation: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Knowledge is the collection of facts, inference rules etc. which can be used for a particular purpose. Knowledge requires the use of data and information. It combines relationships, correlations, dependencies with data and information.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Knowledge Representation </a:t>
            </a:r>
            <a:r>
              <a:rPr lang="en-US" sz="1800" b="0" i="0" u="none" strike="noStrike" baseline="0" dirty="0">
                <a:solidFill>
                  <a:srgbClr val="000000"/>
                </a:solidFill>
                <a:latin typeface="Times New Roman" panose="02020603050405020304" pitchFamily="18" charset="0"/>
              </a:rPr>
              <a:t>in AI describes the representation of knowledge. Basically, it is a study of how the </a:t>
            </a:r>
            <a:r>
              <a:rPr lang="en-US" sz="1800" b="1" i="0" u="none" strike="noStrike" baseline="0" dirty="0">
                <a:solidFill>
                  <a:srgbClr val="000000"/>
                </a:solidFill>
                <a:latin typeface="Times New Roman" panose="02020603050405020304" pitchFamily="18" charset="0"/>
              </a:rPr>
              <a:t>beliefs, intentions</a:t>
            </a:r>
            <a:r>
              <a:rPr lang="en-US" sz="1800" b="0" i="0" u="none" strike="noStrike" baseline="0" dirty="0">
                <a:solidFill>
                  <a:srgbClr val="000000"/>
                </a:solidFill>
                <a:latin typeface="Times New Roman" panose="02020603050405020304" pitchFamily="18" charset="0"/>
              </a:rPr>
              <a:t>, and </a:t>
            </a:r>
            <a:r>
              <a:rPr lang="en-US" sz="1800" b="1" i="0" u="none" strike="noStrike" baseline="0" dirty="0">
                <a:solidFill>
                  <a:srgbClr val="000000"/>
                </a:solidFill>
                <a:latin typeface="Times New Roman" panose="02020603050405020304" pitchFamily="18" charset="0"/>
              </a:rPr>
              <a:t>judgments </a:t>
            </a:r>
            <a:r>
              <a:rPr lang="en-US" sz="1800" b="0" i="0" u="none" strike="noStrike" baseline="0" dirty="0">
                <a:solidFill>
                  <a:srgbClr val="000000"/>
                </a:solidFill>
                <a:latin typeface="Times New Roman" panose="02020603050405020304" pitchFamily="18" charset="0"/>
              </a:rPr>
              <a:t>of an </a:t>
            </a:r>
            <a:r>
              <a:rPr lang="en-US" sz="1800" b="1" i="0" u="none" strike="noStrike" baseline="0" dirty="0">
                <a:solidFill>
                  <a:srgbClr val="000000"/>
                </a:solidFill>
                <a:latin typeface="Times New Roman" panose="02020603050405020304" pitchFamily="18" charset="0"/>
              </a:rPr>
              <a:t>intelligent agent </a:t>
            </a:r>
            <a:r>
              <a:rPr lang="en-US" sz="1800" b="0" i="0" u="none" strike="noStrike" baseline="0" dirty="0">
                <a:solidFill>
                  <a:srgbClr val="000000"/>
                </a:solidFill>
                <a:latin typeface="Times New Roman" panose="02020603050405020304" pitchFamily="18" charset="0"/>
              </a:rPr>
              <a:t>can be expressed suitably for automated reasoning. One of the primary purposes of Knowledge Representation includes modeling intelligent behavior for an agent.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Knowledge Representation and Reasoning (</a:t>
            </a:r>
            <a:r>
              <a:rPr lang="en-US" sz="1800" b="1" i="0" u="none" strike="noStrike" baseline="0" dirty="0">
                <a:solidFill>
                  <a:srgbClr val="000000"/>
                </a:solidFill>
                <a:latin typeface="Times New Roman" panose="02020603050405020304" pitchFamily="18" charset="0"/>
              </a:rPr>
              <a:t>KR, KRR</a:t>
            </a:r>
            <a:r>
              <a:rPr lang="en-US" sz="1800" b="0" i="0" u="none" strike="noStrike" baseline="0" dirty="0">
                <a:solidFill>
                  <a:srgbClr val="000000"/>
                </a:solidFill>
                <a:latin typeface="Times New Roman" panose="02020603050405020304" pitchFamily="18" charset="0"/>
              </a:rPr>
              <a:t>) represents information from the real world for a computer to understand and then utilize this knowledge to solve </a:t>
            </a:r>
            <a:r>
              <a:rPr lang="en-US" sz="1800" b="1" i="0" u="none" strike="noStrike" baseline="0" dirty="0">
                <a:solidFill>
                  <a:srgbClr val="000000"/>
                </a:solidFill>
                <a:latin typeface="Times New Roman" panose="02020603050405020304" pitchFamily="18" charset="0"/>
              </a:rPr>
              <a:t>complex real-life problems </a:t>
            </a:r>
            <a:r>
              <a:rPr lang="en-US" sz="1800" b="0" i="0" u="none" strike="noStrike" baseline="0" dirty="0">
                <a:solidFill>
                  <a:srgbClr val="000000"/>
                </a:solidFill>
                <a:latin typeface="Times New Roman" panose="02020603050405020304" pitchFamily="18" charset="0"/>
              </a:rPr>
              <a:t>like communicating with human beings in natural language. Knowledge representation in AI is not just about storing data in a database, it allows a machine to learn from that knowledge and behave intelligently like a human being. </a:t>
            </a:r>
            <a:endParaRPr lang="en-IN" dirty="0"/>
          </a:p>
        </p:txBody>
      </p:sp>
      <p:sp>
        <p:nvSpPr>
          <p:cNvPr id="4" name="Slide Number Placeholder 3">
            <a:extLst>
              <a:ext uri="{FF2B5EF4-FFF2-40B4-BE49-F238E27FC236}">
                <a16:creationId xmlns:a16="http://schemas.microsoft.com/office/drawing/2014/main" id="{A32F8453-2AC8-CE40-D4C8-12ADB1014F51}"/>
              </a:ext>
            </a:extLst>
          </p:cNvPr>
          <p:cNvSpPr>
            <a:spLocks noGrp="1"/>
          </p:cNvSpPr>
          <p:nvPr>
            <p:ph type="sldNum" sz="quarter" idx="12"/>
          </p:nvPr>
        </p:nvSpPr>
        <p:spPr/>
        <p:txBody>
          <a:bodyPr/>
          <a:lstStyle/>
          <a:p>
            <a:fld id="{9324F709-037B-4F0A-AFFB-BDF7B109B9BB}" type="slidenum">
              <a:rPr lang="en-IN" smtClean="0"/>
              <a:t>2</a:t>
            </a:fld>
            <a:endParaRPr lang="en-IN"/>
          </a:p>
        </p:txBody>
      </p:sp>
    </p:spTree>
    <p:extLst>
      <p:ext uri="{BB962C8B-B14F-4D97-AF65-F5344CB8AC3E}">
        <p14:creationId xmlns:p14="http://schemas.microsoft.com/office/powerpoint/2010/main" val="3342303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D21FE-3252-FBAA-1B8D-10CF07C00EA9}"/>
              </a:ext>
            </a:extLst>
          </p:cNvPr>
          <p:cNvSpPr>
            <a:spLocks noGrp="1"/>
          </p:cNvSpPr>
          <p:nvPr>
            <p:ph type="title"/>
          </p:nvPr>
        </p:nvSpPr>
        <p:spPr/>
        <p:txBody>
          <a:bodyPr/>
          <a:lstStyle/>
          <a:p>
            <a:r>
              <a:rPr lang="en-IN" b="1" dirty="0">
                <a:solidFill>
                  <a:srgbClr val="000000"/>
                </a:solidFill>
                <a:latin typeface="Times New Roman" panose="02020603050405020304" pitchFamily="18" charset="0"/>
              </a:rPr>
              <a:t> Knowledge-Base</a:t>
            </a:r>
            <a:br>
              <a:rPr lang="en-IN" sz="3600" b="0" i="0" u="none" strike="noStrike" baseline="0" dirty="0">
                <a:solidFill>
                  <a:srgbClr val="000000"/>
                </a:solidFill>
                <a:latin typeface="Wingdings" panose="05000000000000000000" pitchFamily="2" charset="2"/>
              </a:rPr>
            </a:br>
            <a:endParaRPr lang="en-IN" dirty="0"/>
          </a:p>
        </p:txBody>
      </p:sp>
      <p:sp>
        <p:nvSpPr>
          <p:cNvPr id="3" name="Content Placeholder 2">
            <a:extLst>
              <a:ext uri="{FF2B5EF4-FFF2-40B4-BE49-F238E27FC236}">
                <a16:creationId xmlns:a16="http://schemas.microsoft.com/office/drawing/2014/main" id="{A714428E-CD77-2432-C070-0B0635C8B876}"/>
              </a:ext>
            </a:extLst>
          </p:cNvPr>
          <p:cNvSpPr>
            <a:spLocks noGrp="1"/>
          </p:cNvSpPr>
          <p:nvPr>
            <p:ph idx="1"/>
          </p:nvPr>
        </p:nvSpPr>
        <p:spPr>
          <a:xfrm>
            <a:off x="2589212" y="1707503"/>
            <a:ext cx="8915400" cy="4861248"/>
          </a:xfrm>
        </p:spPr>
        <p:txBody>
          <a:bodyPr>
            <a:normAutofit fontScale="77500" lnSpcReduction="20000"/>
          </a:bodyPr>
          <a:lstStyle/>
          <a:p>
            <a:pPr marL="0" indent="0">
              <a:buNone/>
            </a:pPr>
            <a:r>
              <a:rPr lang="en-US" sz="1800" b="0" i="0" u="none" strike="noStrike" baseline="0" dirty="0">
                <a:solidFill>
                  <a:srgbClr val="000000"/>
                </a:solidFill>
                <a:latin typeface="Times New Roman" panose="02020603050405020304" pitchFamily="18" charset="0"/>
              </a:rPr>
              <a:t>Following are the kind of knowledge which needs to be represented in AI systems: </a:t>
            </a:r>
            <a:endParaRPr lang="en-US" sz="1800" b="0" i="0" u="none" strike="noStrike" baseline="0" dirty="0">
              <a:solidFill>
                <a:srgbClr val="000000"/>
              </a:solidFill>
              <a:latin typeface="Wingdings" panose="05000000000000000000" pitchFamily="2" charset="2"/>
            </a:endParaRPr>
          </a:p>
          <a:p>
            <a:pPr algn="l"/>
            <a:endParaRPr lang="en-IN"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Object: </a:t>
            </a:r>
            <a:r>
              <a:rPr lang="en-US" sz="1800" b="0" i="0" u="none" strike="noStrike" baseline="0" dirty="0">
                <a:solidFill>
                  <a:srgbClr val="000000"/>
                </a:solidFill>
                <a:latin typeface="Times New Roman" panose="02020603050405020304" pitchFamily="18" charset="0"/>
              </a:rPr>
              <a:t>All the facts about objects in our world domain. E.g., Guitars contains strings, trumpets are brass instruments.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Events: </a:t>
            </a:r>
            <a:r>
              <a:rPr lang="en-US" sz="1800" b="0" i="0" u="none" strike="noStrike" baseline="0" dirty="0">
                <a:solidFill>
                  <a:srgbClr val="000000"/>
                </a:solidFill>
                <a:latin typeface="Times New Roman" panose="02020603050405020304" pitchFamily="18" charset="0"/>
              </a:rPr>
              <a:t>Events are the actions which occur in our world.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Performance: </a:t>
            </a:r>
            <a:r>
              <a:rPr lang="en-US" sz="1800" b="0" i="0" u="none" strike="noStrike" baseline="0" dirty="0">
                <a:solidFill>
                  <a:srgbClr val="000000"/>
                </a:solidFill>
                <a:latin typeface="Times New Roman" panose="02020603050405020304" pitchFamily="18" charset="0"/>
              </a:rPr>
              <a:t>It describe behavior which involves knowledge about how to do things.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Meta-knowledge: </a:t>
            </a:r>
            <a:r>
              <a:rPr lang="en-US" sz="1800" b="0" i="0" u="none" strike="noStrike" baseline="0" dirty="0">
                <a:solidFill>
                  <a:srgbClr val="000000"/>
                </a:solidFill>
                <a:latin typeface="Times New Roman" panose="02020603050405020304" pitchFamily="18" charset="0"/>
              </a:rPr>
              <a:t>It is knowledge about what we know.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Facts: </a:t>
            </a:r>
            <a:r>
              <a:rPr lang="en-US" sz="1800" b="0" i="0" u="none" strike="noStrike" baseline="0" dirty="0">
                <a:solidFill>
                  <a:srgbClr val="000000"/>
                </a:solidFill>
                <a:latin typeface="Times New Roman" panose="02020603050405020304" pitchFamily="18" charset="0"/>
              </a:rPr>
              <a:t>Facts are the truths about the real world and what we represent.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Knowledge-Base: </a:t>
            </a:r>
            <a:r>
              <a:rPr lang="en-US" sz="1800" b="0" i="0" u="none" strike="noStrike" baseline="0" dirty="0">
                <a:solidFill>
                  <a:srgbClr val="000000"/>
                </a:solidFill>
                <a:latin typeface="Times New Roman" panose="02020603050405020304" pitchFamily="18" charset="0"/>
              </a:rPr>
              <a:t>The central component of the knowledge-based agents is the knowledge base. It is represented as KB. The Knowledgebase is a group of the Sentences (Here, sentences are used as a technical term and not identical with the English language). </a:t>
            </a:r>
          </a:p>
          <a:p>
            <a:pPr marL="0" indent="0">
              <a:buNone/>
            </a:pPr>
            <a:r>
              <a:rPr lang="en-IN" sz="1800" b="1" i="0" u="none" strike="noStrike" baseline="0" dirty="0">
                <a:solidFill>
                  <a:srgbClr val="000000"/>
                </a:solidFill>
                <a:latin typeface="Times New Roman" panose="02020603050405020304" pitchFamily="18" charset="0"/>
              </a:rPr>
              <a:t>Knowledge-based agent (KBA) </a:t>
            </a:r>
            <a:endParaRPr lang="en-IN" dirty="0"/>
          </a:p>
          <a:p>
            <a:pPr marL="0" indent="0">
              <a:buNone/>
            </a:pP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includes a knowledge base and an inference system.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Knowledge base is set of sentences. (Here 'sentence' is a technical term and it is not identical to sentence in English)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These sentences are expressed in a language which is called a knowledge representation language.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The Knowledge-base of KBA stores fact about the world.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C0A7F3E2-8C0A-C82A-39C0-9AC994AB739D}"/>
              </a:ext>
            </a:extLst>
          </p:cNvPr>
          <p:cNvSpPr>
            <a:spLocks noGrp="1"/>
          </p:cNvSpPr>
          <p:nvPr>
            <p:ph type="sldNum" sz="quarter" idx="12"/>
          </p:nvPr>
        </p:nvSpPr>
        <p:spPr/>
        <p:txBody>
          <a:bodyPr/>
          <a:lstStyle/>
          <a:p>
            <a:fld id="{9324F709-037B-4F0A-AFFB-BDF7B109B9BB}" type="slidenum">
              <a:rPr lang="en-IN" smtClean="0"/>
              <a:t>3</a:t>
            </a:fld>
            <a:endParaRPr lang="en-IN"/>
          </a:p>
        </p:txBody>
      </p:sp>
    </p:spTree>
    <p:extLst>
      <p:ext uri="{BB962C8B-B14F-4D97-AF65-F5344CB8AC3E}">
        <p14:creationId xmlns:p14="http://schemas.microsoft.com/office/powerpoint/2010/main" val="1311646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9F406-13FF-561A-030B-D047CDD94688}"/>
              </a:ext>
            </a:extLst>
          </p:cNvPr>
          <p:cNvSpPr>
            <a:spLocks noGrp="1"/>
          </p:cNvSpPr>
          <p:nvPr>
            <p:ph type="title"/>
          </p:nvPr>
        </p:nvSpPr>
        <p:spPr/>
        <p:txBody>
          <a:bodyPr/>
          <a:lstStyle/>
          <a:p>
            <a:r>
              <a:rPr lang="en-IN" sz="3600" b="1" i="0" u="none" strike="noStrike" baseline="0" dirty="0">
                <a:solidFill>
                  <a:srgbClr val="000000"/>
                </a:solidFill>
                <a:latin typeface="Times New Roman" panose="02020603050405020304" pitchFamily="18" charset="0"/>
              </a:rPr>
              <a:t>Operations Performed by KBA </a:t>
            </a:r>
            <a:br>
              <a:rPr lang="en-IN" sz="3600" b="0" i="0" u="none" strike="noStrike" baseline="0" dirty="0">
                <a:solidFill>
                  <a:srgbClr val="000000"/>
                </a:solidFill>
                <a:latin typeface="Wingdings" panose="05000000000000000000" pitchFamily="2" charset="2"/>
              </a:rPr>
            </a:br>
            <a:endParaRPr lang="en-IN" dirty="0"/>
          </a:p>
        </p:txBody>
      </p:sp>
      <p:sp>
        <p:nvSpPr>
          <p:cNvPr id="3" name="Content Placeholder 2">
            <a:extLst>
              <a:ext uri="{FF2B5EF4-FFF2-40B4-BE49-F238E27FC236}">
                <a16:creationId xmlns:a16="http://schemas.microsoft.com/office/drawing/2014/main" id="{DA48E370-C3DC-03EE-E2AC-98AA66DC7C23}"/>
              </a:ext>
            </a:extLst>
          </p:cNvPr>
          <p:cNvSpPr>
            <a:spLocks noGrp="1"/>
          </p:cNvSpPr>
          <p:nvPr>
            <p:ph idx="1"/>
          </p:nvPr>
        </p:nvSpPr>
        <p:spPr>
          <a:xfrm>
            <a:off x="2589212" y="2133600"/>
            <a:ext cx="8915400" cy="4100290"/>
          </a:xfrm>
        </p:spPr>
        <p:txBody>
          <a:bodyPr>
            <a:normAutofit fontScale="92500" lnSpcReduction="20000"/>
          </a:bodyPr>
          <a:lstStyle/>
          <a:p>
            <a:pPr algn="l"/>
            <a:endParaRPr lang="en-IN"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TELL: </a:t>
            </a:r>
            <a:r>
              <a:rPr lang="en-US" sz="1800" b="0" i="0" u="none" strike="noStrike" baseline="0" dirty="0">
                <a:solidFill>
                  <a:srgbClr val="000000"/>
                </a:solidFill>
                <a:latin typeface="Times New Roman" panose="02020603050405020304" pitchFamily="18" charset="0"/>
              </a:rPr>
              <a:t>This operation tells the knowledge base what it perceives (understands) from the environment.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ASK: </a:t>
            </a:r>
            <a:r>
              <a:rPr lang="en-US" sz="1800" b="0" i="0" u="none" strike="noStrike" baseline="0" dirty="0">
                <a:solidFill>
                  <a:srgbClr val="000000"/>
                </a:solidFill>
                <a:latin typeface="Times New Roman" panose="02020603050405020304" pitchFamily="18" charset="0"/>
              </a:rPr>
              <a:t>This operation asks the knowledge base what action it should perform.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Perform: </a:t>
            </a:r>
            <a:r>
              <a:rPr lang="en-US" sz="1800" b="0" i="0" u="none" strike="noStrike" baseline="0" dirty="0">
                <a:solidFill>
                  <a:srgbClr val="000000"/>
                </a:solidFill>
                <a:latin typeface="Times New Roman" panose="02020603050405020304" pitchFamily="18" charset="0"/>
              </a:rPr>
              <a:t>It performs the selected action. </a:t>
            </a:r>
          </a:p>
          <a:p>
            <a:endParaRPr lang="en-US" sz="1800" b="0" i="0" u="none" strike="noStrike" baseline="0" dirty="0">
              <a:solidFill>
                <a:srgbClr val="000000"/>
              </a:solidFill>
              <a:latin typeface="Times New Roman" panose="02020603050405020304" pitchFamily="18" charset="0"/>
            </a:endParaRPr>
          </a:p>
          <a:p>
            <a:pPr marL="0" indent="0">
              <a:buNone/>
            </a:pPr>
            <a:r>
              <a:rPr lang="en-IN" sz="1800" b="1" i="0" u="none" strike="noStrike" baseline="0" dirty="0">
                <a:solidFill>
                  <a:srgbClr val="000000"/>
                </a:solidFill>
                <a:latin typeface="Times New Roman" panose="02020603050405020304" pitchFamily="18" charset="0"/>
              </a:rPr>
              <a:t>Inference system </a:t>
            </a:r>
            <a:endParaRPr lang="en-IN" dirty="0"/>
          </a:p>
          <a:p>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derives new sentences from input and KB.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allows us to add a new sentence to the knowledge base.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applies logical rules to the KB to deduce new information.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generates new facts so that an agent can update its KB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EF85EC64-0B99-3850-6044-D6684254CC65}"/>
              </a:ext>
            </a:extLst>
          </p:cNvPr>
          <p:cNvSpPr>
            <a:spLocks noGrp="1"/>
          </p:cNvSpPr>
          <p:nvPr>
            <p:ph type="sldNum" sz="quarter" idx="12"/>
          </p:nvPr>
        </p:nvSpPr>
        <p:spPr/>
        <p:txBody>
          <a:bodyPr/>
          <a:lstStyle/>
          <a:p>
            <a:fld id="{9324F709-037B-4F0A-AFFB-BDF7B109B9BB}" type="slidenum">
              <a:rPr lang="en-IN" smtClean="0"/>
              <a:t>4</a:t>
            </a:fld>
            <a:endParaRPr lang="en-IN"/>
          </a:p>
        </p:txBody>
      </p:sp>
    </p:spTree>
    <p:extLst>
      <p:ext uri="{BB962C8B-B14F-4D97-AF65-F5344CB8AC3E}">
        <p14:creationId xmlns:p14="http://schemas.microsoft.com/office/powerpoint/2010/main" val="3956782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BD5B1-D472-4A93-1AAD-E775DA8DD635}"/>
              </a:ext>
            </a:extLst>
          </p:cNvPr>
          <p:cNvSpPr>
            <a:spLocks noGrp="1"/>
          </p:cNvSpPr>
          <p:nvPr>
            <p:ph type="title"/>
          </p:nvPr>
        </p:nvSpPr>
        <p:spPr/>
        <p:txBody>
          <a:bodyPr/>
          <a:lstStyle/>
          <a:p>
            <a:r>
              <a:rPr lang="en-IN" b="1" dirty="0">
                <a:solidFill>
                  <a:srgbClr val="000000"/>
                </a:solidFill>
                <a:latin typeface="Times New Roman" panose="02020603050405020304" pitchFamily="18" charset="0"/>
              </a:rPr>
              <a:t>Types of knowledge </a:t>
            </a:r>
          </a:p>
        </p:txBody>
      </p:sp>
      <p:sp>
        <p:nvSpPr>
          <p:cNvPr id="3" name="Content Placeholder 2">
            <a:extLst>
              <a:ext uri="{FF2B5EF4-FFF2-40B4-BE49-F238E27FC236}">
                <a16:creationId xmlns:a16="http://schemas.microsoft.com/office/drawing/2014/main" id="{9FDD74A7-4671-4B0C-AE00-4227D4451552}"/>
              </a:ext>
            </a:extLst>
          </p:cNvPr>
          <p:cNvSpPr>
            <a:spLocks noGrp="1"/>
          </p:cNvSpPr>
          <p:nvPr>
            <p:ph idx="1"/>
          </p:nvPr>
        </p:nvSpPr>
        <p:spPr>
          <a:xfrm>
            <a:off x="2589212" y="1905001"/>
            <a:ext cx="8915400" cy="4635758"/>
          </a:xfrm>
        </p:spPr>
        <p:txBody>
          <a:bodyPr>
            <a:normAutofit lnSpcReduction="10000"/>
          </a:bodyPr>
          <a:lstStyle/>
          <a:p>
            <a:pPr marL="0" indent="0">
              <a:buNone/>
            </a:pPr>
            <a:r>
              <a:rPr lang="en-IN" sz="1800" b="1" i="0" u="none" strike="noStrike" baseline="0" dirty="0">
                <a:solidFill>
                  <a:srgbClr val="000000"/>
                </a:solidFill>
                <a:latin typeface="Times New Roman" panose="02020603050405020304" pitchFamily="18" charset="0"/>
              </a:rPr>
              <a:t>1. Declarative Knowledge: </a:t>
            </a:r>
            <a:endParaRPr lang="en-IN" dirty="0"/>
          </a:p>
          <a:p>
            <a:r>
              <a:rPr lang="en-US" sz="1800" b="0" i="0" u="none" strike="noStrike" baseline="0" dirty="0">
                <a:solidFill>
                  <a:srgbClr val="000000"/>
                </a:solidFill>
                <a:latin typeface="Times New Roman" panose="02020603050405020304" pitchFamily="18" charset="0"/>
              </a:rPr>
              <a:t>Declarative knowledge is to know about something. </a:t>
            </a:r>
          </a:p>
          <a:p>
            <a:r>
              <a:rPr lang="en-US" sz="1800" b="0" i="0" u="none" strike="noStrike" baseline="0" dirty="0">
                <a:solidFill>
                  <a:srgbClr val="000000"/>
                </a:solidFill>
                <a:latin typeface="Times New Roman" panose="02020603050405020304" pitchFamily="18" charset="0"/>
              </a:rPr>
              <a:t>It includes concepts, facts, and objects.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is also called descriptive knowledge and expressed in declarative sentences.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is simpler than procedural language. </a:t>
            </a:r>
          </a:p>
          <a:p>
            <a:pPr marL="0" indent="0">
              <a:buNone/>
            </a:pPr>
            <a:r>
              <a:rPr lang="en-IN" sz="1800" b="1" i="0" u="none" strike="noStrike" baseline="0" dirty="0">
                <a:solidFill>
                  <a:srgbClr val="000000"/>
                </a:solidFill>
                <a:latin typeface="Times New Roman" panose="02020603050405020304" pitchFamily="18" charset="0"/>
              </a:rPr>
              <a:t>2. Procedural Knowledge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is also known as imperative knowledge.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Procedural knowledge is a type of knowledge which is responsible for knowing how to do something.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can be directly applied to any task.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includes rules, strategies, procedures, agendas, etc.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Procedural knowledge depends on the task on which it can be applied.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05862686-CCDC-8334-7E52-0CC0DAB1CCA6}"/>
              </a:ext>
            </a:extLst>
          </p:cNvPr>
          <p:cNvSpPr>
            <a:spLocks noGrp="1"/>
          </p:cNvSpPr>
          <p:nvPr>
            <p:ph type="sldNum" sz="quarter" idx="12"/>
          </p:nvPr>
        </p:nvSpPr>
        <p:spPr/>
        <p:txBody>
          <a:bodyPr/>
          <a:lstStyle/>
          <a:p>
            <a:fld id="{9324F709-037B-4F0A-AFFB-BDF7B109B9BB}" type="slidenum">
              <a:rPr lang="en-IN" smtClean="0"/>
              <a:t>5</a:t>
            </a:fld>
            <a:endParaRPr lang="en-IN"/>
          </a:p>
        </p:txBody>
      </p:sp>
    </p:spTree>
    <p:extLst>
      <p:ext uri="{BB962C8B-B14F-4D97-AF65-F5344CB8AC3E}">
        <p14:creationId xmlns:p14="http://schemas.microsoft.com/office/powerpoint/2010/main" val="2697878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F5B95-E9F5-F953-74A5-7493116D2F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7787D4-7ECD-D770-33E2-77BF06C87C16}"/>
              </a:ext>
            </a:extLst>
          </p:cNvPr>
          <p:cNvSpPr>
            <a:spLocks noGrp="1"/>
          </p:cNvSpPr>
          <p:nvPr>
            <p:ph idx="1"/>
          </p:nvPr>
        </p:nvSpPr>
        <p:spPr/>
        <p:txBody>
          <a:bodyPr>
            <a:normAutofit fontScale="92500" lnSpcReduction="10000"/>
          </a:bodyPr>
          <a:lstStyle/>
          <a:p>
            <a:pPr marL="0" indent="0">
              <a:buNone/>
            </a:pPr>
            <a:r>
              <a:rPr lang="en-IN" sz="1800" b="1" i="0" u="none" strike="noStrike" baseline="0" dirty="0">
                <a:solidFill>
                  <a:srgbClr val="000000"/>
                </a:solidFill>
                <a:latin typeface="Times New Roman" panose="02020603050405020304" pitchFamily="18" charset="0"/>
              </a:rPr>
              <a:t>3. Meta-knowledge: </a:t>
            </a:r>
            <a:endParaRPr lang="en-IN"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Knowledge about the other types of knowledge is called Meta-knowledge. </a:t>
            </a:r>
          </a:p>
          <a:p>
            <a:pPr marL="0" indent="0">
              <a:buNone/>
            </a:pPr>
            <a:r>
              <a:rPr lang="en-IN" sz="1800" b="1" i="0" u="none" strike="noStrike" baseline="0" dirty="0">
                <a:solidFill>
                  <a:srgbClr val="000000"/>
                </a:solidFill>
                <a:latin typeface="Times New Roman" panose="02020603050405020304" pitchFamily="18" charset="0"/>
              </a:rPr>
              <a:t>4. Heuristic knowledge: </a:t>
            </a:r>
            <a:endParaRPr lang="en-IN"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Heuristic knowledge is representing knowledge of some experts in a field or subject.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Heuristic knowledge is rules of thumb based on previous experiences, awareness of approaches, and which are good to work but not guaranteed. </a:t>
            </a:r>
          </a:p>
          <a:p>
            <a:pPr marL="0" indent="0">
              <a:buNone/>
            </a:pPr>
            <a:r>
              <a:rPr lang="en-IN" sz="1800" b="1" i="0" u="none" strike="noStrike" baseline="0" dirty="0">
                <a:solidFill>
                  <a:srgbClr val="000000"/>
                </a:solidFill>
                <a:latin typeface="Times New Roman" panose="02020603050405020304" pitchFamily="18" charset="0"/>
              </a:rPr>
              <a:t>5. Structural knowledge: </a:t>
            </a:r>
            <a:endParaRPr lang="en-IN" dirty="0"/>
          </a:p>
          <a:p>
            <a:r>
              <a:rPr lang="en-US" sz="1800" b="0" i="0" u="none" strike="noStrike" baseline="0" dirty="0">
                <a:solidFill>
                  <a:srgbClr val="000000"/>
                </a:solidFill>
                <a:latin typeface="Times New Roman" panose="02020603050405020304" pitchFamily="18" charset="0"/>
              </a:rPr>
              <a:t>Structural knowledge is basic knowledge to problem-solving. </a:t>
            </a:r>
            <a:endParaRPr lang="en-US" sz="1800" b="0" i="0" u="none" strike="noStrike" baseline="0" dirty="0">
              <a:solidFill>
                <a:srgbClr val="000000"/>
              </a:solidFill>
              <a:latin typeface="Wingdings" panose="05000000000000000000" pitchFamily="2" charset="2"/>
            </a:endParaRPr>
          </a:p>
          <a:p>
            <a:pPr algn="l"/>
            <a:r>
              <a:rPr lang="en-US" sz="1800" b="0" i="0" u="none" strike="noStrike" baseline="0" dirty="0">
                <a:solidFill>
                  <a:srgbClr val="000000"/>
                </a:solidFill>
                <a:latin typeface="Times New Roman" panose="02020603050405020304" pitchFamily="18" charset="0"/>
              </a:rPr>
              <a:t>It describes relationships between various concepts such as kind of, part of, and grouping of something. </a:t>
            </a:r>
          </a:p>
          <a:p>
            <a:r>
              <a:rPr lang="en-US" sz="1800" b="0" i="0" u="none" strike="noStrike" baseline="0" dirty="0">
                <a:solidFill>
                  <a:srgbClr val="000000"/>
                </a:solidFill>
                <a:latin typeface="Times New Roman" panose="02020603050405020304" pitchFamily="18" charset="0"/>
              </a:rPr>
              <a:t>It describes the relationship that exists between concepts or objects. </a:t>
            </a:r>
          </a:p>
          <a:p>
            <a:endParaRPr lang="en-IN" sz="1800" b="0" i="0" u="none" strike="noStrike" baseline="0" dirty="0">
              <a:solidFill>
                <a:srgbClr val="000000"/>
              </a:solidFill>
              <a:latin typeface="Times New Roman" panose="02020603050405020304" pitchFamily="18" charset="0"/>
            </a:endParaRPr>
          </a:p>
          <a:p>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D2CB9C69-3342-FFAC-D042-284DFFFF4FA6}"/>
              </a:ext>
            </a:extLst>
          </p:cNvPr>
          <p:cNvSpPr>
            <a:spLocks noGrp="1"/>
          </p:cNvSpPr>
          <p:nvPr>
            <p:ph type="sldNum" sz="quarter" idx="12"/>
          </p:nvPr>
        </p:nvSpPr>
        <p:spPr/>
        <p:txBody>
          <a:bodyPr/>
          <a:lstStyle/>
          <a:p>
            <a:fld id="{9324F709-037B-4F0A-AFFB-BDF7B109B9BB}" type="slidenum">
              <a:rPr lang="en-IN" smtClean="0"/>
              <a:t>6</a:t>
            </a:fld>
            <a:endParaRPr lang="en-IN"/>
          </a:p>
        </p:txBody>
      </p:sp>
    </p:spTree>
    <p:extLst>
      <p:ext uri="{BB962C8B-B14F-4D97-AF65-F5344CB8AC3E}">
        <p14:creationId xmlns:p14="http://schemas.microsoft.com/office/powerpoint/2010/main" val="4081116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957A1-E8E6-F202-8A3F-7AA03E7C5FC4}"/>
              </a:ext>
            </a:extLst>
          </p:cNvPr>
          <p:cNvSpPr>
            <a:spLocks noGrp="1"/>
          </p:cNvSpPr>
          <p:nvPr>
            <p:ph type="title"/>
          </p:nvPr>
        </p:nvSpPr>
        <p:spPr/>
        <p:txBody>
          <a:bodyPr>
            <a:normAutofit fontScale="90000"/>
          </a:bodyPr>
          <a:lstStyle/>
          <a:p>
            <a:r>
              <a:rPr lang="en-US" b="1" dirty="0">
                <a:solidFill>
                  <a:srgbClr val="000000"/>
                </a:solidFill>
                <a:latin typeface="Times New Roman" panose="02020603050405020304" pitchFamily="18" charset="0"/>
              </a:rPr>
              <a:t>R</a:t>
            </a:r>
            <a:r>
              <a:rPr lang="en-US" sz="3600" b="1" i="0" u="none" strike="noStrike" baseline="0" dirty="0">
                <a:solidFill>
                  <a:srgbClr val="000000"/>
                </a:solidFill>
                <a:latin typeface="Times New Roman" panose="02020603050405020304" pitchFamily="18" charset="0"/>
              </a:rPr>
              <a:t>elation between knowledge and intelligence </a:t>
            </a:r>
            <a:br>
              <a:rPr lang="en-US" sz="36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F6813ED-CD20-9B45-1ED1-68BDE2A81FAA}"/>
              </a:ext>
            </a:extLst>
          </p:cNvPr>
          <p:cNvSpPr>
            <a:spLocks noGrp="1"/>
          </p:cNvSpPr>
          <p:nvPr>
            <p:ph idx="1"/>
          </p:nvPr>
        </p:nvSpPr>
        <p:spPr/>
        <p:txBody>
          <a:bodyPr/>
          <a:lstStyle/>
          <a:p>
            <a:pPr marL="0" indent="0">
              <a:buNone/>
            </a:pPr>
            <a:r>
              <a:rPr lang="en-US" sz="1800" b="0" i="0" u="none" strike="noStrike" baseline="0" dirty="0">
                <a:solidFill>
                  <a:srgbClr val="000000"/>
                </a:solidFill>
                <a:latin typeface="Times New Roman" panose="02020603050405020304" pitchFamily="18" charset="0"/>
              </a:rPr>
              <a:t>Knowledge of real-worlds plays a vital role in intelligence and same for creating artificial intelligence. Knowledge plays an important role in demonstrating intelligent behavior in AI agents. An agent is only able to accurately act on some input when he has some knowledge or experience about that input.</a:t>
            </a:r>
          </a:p>
          <a:p>
            <a:pPr marL="0" indent="0">
              <a:buNone/>
            </a:pPr>
            <a:r>
              <a:rPr lang="en-US" sz="1800" b="0" i="0" u="none" strike="noStrike" baseline="0" dirty="0">
                <a:solidFill>
                  <a:srgbClr val="000000"/>
                </a:solidFill>
                <a:latin typeface="Times New Roman" panose="02020603050405020304" pitchFamily="18" charset="0"/>
              </a:rPr>
              <a:t>Let's suppose if you met some person who is speaking in a language which you don't know, then how you will able to act on that. The same thing applies to the intelligent behavior of the agents. As we can see in below diagram, there is one decision maker which act by sensing the environment and using knowledge. But if the knowledge part will not present then, it cannot display intelligent behavior. </a:t>
            </a:r>
          </a:p>
          <a:p>
            <a:pPr marL="0" indent="0">
              <a:buNone/>
            </a:pPr>
            <a:endParaRPr lang="en-IN" dirty="0"/>
          </a:p>
        </p:txBody>
      </p:sp>
      <p:pic>
        <p:nvPicPr>
          <p:cNvPr id="5" name="Picture 4">
            <a:extLst>
              <a:ext uri="{FF2B5EF4-FFF2-40B4-BE49-F238E27FC236}">
                <a16:creationId xmlns:a16="http://schemas.microsoft.com/office/drawing/2014/main" id="{071D5CB3-CE89-530A-9FA2-AC4DC7904B0F}"/>
              </a:ext>
            </a:extLst>
          </p:cNvPr>
          <p:cNvPicPr>
            <a:picLocks noChangeAspect="1"/>
          </p:cNvPicPr>
          <p:nvPr/>
        </p:nvPicPr>
        <p:blipFill>
          <a:blip r:embed="rId2"/>
          <a:stretch>
            <a:fillRect/>
          </a:stretch>
        </p:blipFill>
        <p:spPr>
          <a:xfrm>
            <a:off x="4537656" y="4792520"/>
            <a:ext cx="4904924" cy="1938270"/>
          </a:xfrm>
          <a:prstGeom prst="rect">
            <a:avLst/>
          </a:prstGeom>
        </p:spPr>
      </p:pic>
      <p:sp>
        <p:nvSpPr>
          <p:cNvPr id="4" name="Slide Number Placeholder 3">
            <a:extLst>
              <a:ext uri="{FF2B5EF4-FFF2-40B4-BE49-F238E27FC236}">
                <a16:creationId xmlns:a16="http://schemas.microsoft.com/office/drawing/2014/main" id="{DEB054AA-43F8-4F55-8BC9-BCC4F9FDF141}"/>
              </a:ext>
            </a:extLst>
          </p:cNvPr>
          <p:cNvSpPr>
            <a:spLocks noGrp="1"/>
          </p:cNvSpPr>
          <p:nvPr>
            <p:ph type="sldNum" sz="quarter" idx="12"/>
          </p:nvPr>
        </p:nvSpPr>
        <p:spPr/>
        <p:txBody>
          <a:bodyPr/>
          <a:lstStyle/>
          <a:p>
            <a:fld id="{9324F709-037B-4F0A-AFFB-BDF7B109B9BB}" type="slidenum">
              <a:rPr lang="en-IN" smtClean="0"/>
              <a:t>7</a:t>
            </a:fld>
            <a:endParaRPr lang="en-IN"/>
          </a:p>
        </p:txBody>
      </p:sp>
    </p:spTree>
    <p:extLst>
      <p:ext uri="{BB962C8B-B14F-4D97-AF65-F5344CB8AC3E}">
        <p14:creationId xmlns:p14="http://schemas.microsoft.com/office/powerpoint/2010/main" val="366630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09E24-8911-D31A-8FDE-DF604ED55275}"/>
              </a:ext>
            </a:extLst>
          </p:cNvPr>
          <p:cNvSpPr>
            <a:spLocks noGrp="1"/>
          </p:cNvSpPr>
          <p:nvPr>
            <p:ph type="title"/>
          </p:nvPr>
        </p:nvSpPr>
        <p:spPr/>
        <p:txBody>
          <a:bodyPr/>
          <a:lstStyle/>
          <a:p>
            <a:r>
              <a:rPr lang="en-IN" sz="3600" b="1" i="0" u="none" strike="noStrike" baseline="0" dirty="0">
                <a:solidFill>
                  <a:srgbClr val="000000"/>
                </a:solidFill>
                <a:latin typeface="Times New Roman" panose="02020603050405020304" pitchFamily="18" charset="0"/>
              </a:rPr>
              <a:t>Representations and Mappings </a:t>
            </a:r>
            <a:br>
              <a:rPr lang="en-IN" sz="36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01905A7-AC43-6F90-5276-D790FF8B8435}"/>
              </a:ext>
            </a:extLst>
          </p:cNvPr>
          <p:cNvSpPr>
            <a:spLocks noGrp="1"/>
          </p:cNvSpPr>
          <p:nvPr>
            <p:ph idx="1"/>
          </p:nvPr>
        </p:nvSpPr>
        <p:spPr>
          <a:xfrm>
            <a:off x="2589212" y="1548881"/>
            <a:ext cx="8915400" cy="4870579"/>
          </a:xfrm>
        </p:spPr>
        <p:txBody>
          <a:bodyPr>
            <a:normAutofit fontScale="92500" lnSpcReduction="20000"/>
          </a:bodyPr>
          <a:lstStyle/>
          <a:p>
            <a:pPr marL="0" indent="0">
              <a:buNone/>
            </a:pPr>
            <a:r>
              <a:rPr lang="en-US" sz="1800" b="0" i="0" u="none" strike="noStrike" baseline="0" dirty="0">
                <a:solidFill>
                  <a:srgbClr val="000000"/>
                </a:solidFill>
                <a:latin typeface="Times New Roman" panose="02020603050405020304" pitchFamily="18" charset="0"/>
              </a:rPr>
              <a:t>A variety of ways of representing knowledge (facts) have been exploited in AI programs. In all variety of knowledge representations, we deal with two kinds of entities. </a:t>
            </a:r>
          </a:p>
          <a:p>
            <a:pPr marL="0" indent="0">
              <a:buNone/>
            </a:pPr>
            <a:r>
              <a:rPr lang="en-US" sz="1800" b="0" i="0" u="none" strike="noStrike" baseline="0" dirty="0">
                <a:solidFill>
                  <a:srgbClr val="000000"/>
                </a:solidFill>
                <a:latin typeface="Times New Roman" panose="02020603050405020304" pitchFamily="18" charset="0"/>
              </a:rPr>
              <a:t>A. Facts: Truths in some relevant world. These are the things we want to represent. </a:t>
            </a:r>
          </a:p>
          <a:p>
            <a:pPr marL="0" indent="0">
              <a:buNone/>
            </a:pPr>
            <a:r>
              <a:rPr lang="en-US" sz="1800" b="0" i="0" u="none" strike="noStrike" baseline="0" dirty="0">
                <a:solidFill>
                  <a:srgbClr val="000000"/>
                </a:solidFill>
                <a:latin typeface="Times New Roman" panose="02020603050405020304" pitchFamily="18" charset="0"/>
              </a:rPr>
              <a:t>B. Representations of facts in some chosen formalism. These are things we will actually be able to manipulate One way to think of structuring these entities is at two levels: </a:t>
            </a:r>
          </a:p>
          <a:p>
            <a:pPr marL="0" indent="0">
              <a:buNone/>
            </a:pPr>
            <a:r>
              <a:rPr lang="en-US" sz="1800" b="0" i="0" u="none" strike="noStrike" baseline="0" dirty="0">
                <a:solidFill>
                  <a:srgbClr val="000000"/>
                </a:solidFill>
                <a:latin typeface="Times New Roman" panose="02020603050405020304" pitchFamily="18" charset="0"/>
              </a:rPr>
              <a:t>(a) the knowledge level, at which facts are described, </a:t>
            </a:r>
          </a:p>
          <a:p>
            <a:pPr marL="0" indent="0">
              <a:buNone/>
            </a:pPr>
            <a:r>
              <a:rPr lang="en-US" sz="1800" b="0" i="0" u="none" strike="noStrike" baseline="0" dirty="0">
                <a:solidFill>
                  <a:srgbClr val="000000"/>
                </a:solidFill>
                <a:latin typeface="Times New Roman" panose="02020603050405020304" pitchFamily="18" charset="0"/>
              </a:rPr>
              <a:t>(b) the symbol level, at which representations of objects at the knowledge level are defined in terms of symbols that can be manipulated by programs </a:t>
            </a:r>
          </a:p>
          <a:p>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The facts and representations are linked with two-way mappings. This link is called representation mappings. The forward representation mapping maps from facts to representations. The backward representation mapping goes the other way, from representations to facts.</a:t>
            </a:r>
          </a:p>
          <a:p>
            <a:pPr marL="0" indent="0">
              <a:buNone/>
            </a:pPr>
            <a:r>
              <a:rPr lang="en-US" sz="1800" b="0" i="0" u="none" strike="noStrike" baseline="0" dirty="0">
                <a:solidFill>
                  <a:srgbClr val="000000"/>
                </a:solidFill>
                <a:latin typeface="Times New Roman" panose="02020603050405020304" pitchFamily="18" charset="0"/>
              </a:rPr>
              <a:t> One common representation is natural language (particularly English) sentences. Regardless of the representation for facts we use in a program, we may also need to be concerned with an English representation of those facts in order to facilitate getting information into and out of the system. </a:t>
            </a:r>
          </a:p>
          <a:p>
            <a:pPr marL="0" indent="0">
              <a:buNone/>
            </a:pPr>
            <a:r>
              <a:rPr lang="en-US" sz="1800" b="0" i="0" u="none" strike="noStrike" baseline="0" dirty="0">
                <a:solidFill>
                  <a:srgbClr val="000000"/>
                </a:solidFill>
                <a:latin typeface="Times New Roman" panose="02020603050405020304" pitchFamily="18" charset="0"/>
              </a:rPr>
              <a:t>We need mapping functions from English sentences to the representation we actually use and from it back to sentences. </a:t>
            </a:r>
            <a:r>
              <a:rPr lang="en-US" sz="1800" b="0" i="0" u="none" strike="noStrike" baseline="0" dirty="0" err="1">
                <a:solidFill>
                  <a:srgbClr val="000000"/>
                </a:solidFill>
                <a:latin typeface="Times New Roman" panose="02020603050405020304" pitchFamily="18" charset="0"/>
              </a:rPr>
              <a:t>Eg</a:t>
            </a:r>
            <a:r>
              <a:rPr lang="en-US" sz="1800" b="0" i="0" u="none" strike="noStrike" baseline="0" dirty="0">
                <a:solidFill>
                  <a:srgbClr val="000000"/>
                </a:solidFill>
                <a:latin typeface="Times New Roman" panose="02020603050405020304" pitchFamily="18" charset="0"/>
              </a:rPr>
              <a:t>: Anon is a student: Student (Anon) </a:t>
            </a:r>
            <a:endParaRPr lang="en-IN" dirty="0"/>
          </a:p>
        </p:txBody>
      </p:sp>
      <p:sp>
        <p:nvSpPr>
          <p:cNvPr id="4" name="Slide Number Placeholder 3">
            <a:extLst>
              <a:ext uri="{FF2B5EF4-FFF2-40B4-BE49-F238E27FC236}">
                <a16:creationId xmlns:a16="http://schemas.microsoft.com/office/drawing/2014/main" id="{2DCA83C6-DCF8-AB79-D977-2FBCB5CDD71A}"/>
              </a:ext>
            </a:extLst>
          </p:cNvPr>
          <p:cNvSpPr>
            <a:spLocks noGrp="1"/>
          </p:cNvSpPr>
          <p:nvPr>
            <p:ph type="sldNum" sz="quarter" idx="12"/>
          </p:nvPr>
        </p:nvSpPr>
        <p:spPr/>
        <p:txBody>
          <a:bodyPr/>
          <a:lstStyle/>
          <a:p>
            <a:fld id="{9324F709-037B-4F0A-AFFB-BDF7B109B9BB}" type="slidenum">
              <a:rPr lang="en-IN" smtClean="0"/>
              <a:t>8</a:t>
            </a:fld>
            <a:endParaRPr lang="en-IN"/>
          </a:p>
        </p:txBody>
      </p:sp>
    </p:spTree>
    <p:extLst>
      <p:ext uri="{BB962C8B-B14F-4D97-AF65-F5344CB8AC3E}">
        <p14:creationId xmlns:p14="http://schemas.microsoft.com/office/powerpoint/2010/main" val="348710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CB31B-FBE6-A8E0-A31C-B6EBC7B345F1}"/>
              </a:ext>
            </a:extLst>
          </p:cNvPr>
          <p:cNvSpPr>
            <a:spLocks noGrp="1"/>
          </p:cNvSpPr>
          <p:nvPr>
            <p:ph type="title"/>
          </p:nvPr>
        </p:nvSpPr>
        <p:spPr/>
        <p:txBody>
          <a:bodyPr/>
          <a:lstStyle/>
          <a:p>
            <a:r>
              <a:rPr lang="en-US" b="1" dirty="0">
                <a:solidFill>
                  <a:srgbClr val="000000"/>
                </a:solidFill>
                <a:latin typeface="Times New Roman" panose="02020603050405020304" pitchFamily="18" charset="0"/>
              </a:rPr>
              <a:t>Mapping between Facts and Representation </a:t>
            </a:r>
            <a:endParaRPr lang="en-IN" b="1" dirty="0">
              <a:solidFill>
                <a:srgbClr val="00000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9AE26389-4757-FE70-6DED-6B9C482C3D44}"/>
              </a:ext>
            </a:extLst>
          </p:cNvPr>
          <p:cNvSpPr>
            <a:spLocks noGrp="1"/>
          </p:cNvSpPr>
          <p:nvPr>
            <p:ph idx="1"/>
          </p:nvPr>
        </p:nvSpPr>
        <p:spPr/>
        <p:txBody>
          <a:bodyPr/>
          <a:lstStyle/>
          <a:p>
            <a:r>
              <a:rPr lang="en-US" sz="1800" b="0" i="0" u="none" strike="noStrike" baseline="0" dirty="0">
                <a:solidFill>
                  <a:srgbClr val="000000"/>
                </a:solidFill>
                <a:latin typeface="Times New Roman" panose="02020603050405020304" pitchFamily="18" charset="0"/>
              </a:rPr>
              <a:t>Knowledge is a collection of facts from some domain.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Also, we need a representation of “facts” that can manipulate by a program.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Moreover, Normal English is insufficient, too hard currently for a computer program to draw inferences in natural languages.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Thus some symbolic representation is necessary.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endParaRPr lang="en-IN" dirty="0"/>
          </a:p>
        </p:txBody>
      </p:sp>
      <p:pic>
        <p:nvPicPr>
          <p:cNvPr id="5" name="Picture 4">
            <a:extLst>
              <a:ext uri="{FF2B5EF4-FFF2-40B4-BE49-F238E27FC236}">
                <a16:creationId xmlns:a16="http://schemas.microsoft.com/office/drawing/2014/main" id="{106BD0CE-A753-F690-297E-3EDBE15BF2C1}"/>
              </a:ext>
            </a:extLst>
          </p:cNvPr>
          <p:cNvPicPr>
            <a:picLocks noChangeAspect="1"/>
          </p:cNvPicPr>
          <p:nvPr/>
        </p:nvPicPr>
        <p:blipFill>
          <a:blip r:embed="rId2"/>
          <a:stretch>
            <a:fillRect/>
          </a:stretch>
        </p:blipFill>
        <p:spPr>
          <a:xfrm>
            <a:off x="7046912" y="4201043"/>
            <a:ext cx="2976464" cy="1841086"/>
          </a:xfrm>
          <a:prstGeom prst="rect">
            <a:avLst/>
          </a:prstGeom>
        </p:spPr>
      </p:pic>
      <p:pic>
        <p:nvPicPr>
          <p:cNvPr id="7" name="Picture 6">
            <a:extLst>
              <a:ext uri="{FF2B5EF4-FFF2-40B4-BE49-F238E27FC236}">
                <a16:creationId xmlns:a16="http://schemas.microsoft.com/office/drawing/2014/main" id="{558667CB-9523-6646-4E7B-B827336D5208}"/>
              </a:ext>
            </a:extLst>
          </p:cNvPr>
          <p:cNvPicPr>
            <a:picLocks noChangeAspect="1"/>
          </p:cNvPicPr>
          <p:nvPr/>
        </p:nvPicPr>
        <p:blipFill>
          <a:blip r:embed="rId3"/>
          <a:stretch>
            <a:fillRect/>
          </a:stretch>
        </p:blipFill>
        <p:spPr>
          <a:xfrm>
            <a:off x="3147527" y="4114800"/>
            <a:ext cx="3657600" cy="1986501"/>
          </a:xfrm>
          <a:prstGeom prst="rect">
            <a:avLst/>
          </a:prstGeom>
        </p:spPr>
      </p:pic>
      <p:sp>
        <p:nvSpPr>
          <p:cNvPr id="4" name="Slide Number Placeholder 3">
            <a:extLst>
              <a:ext uri="{FF2B5EF4-FFF2-40B4-BE49-F238E27FC236}">
                <a16:creationId xmlns:a16="http://schemas.microsoft.com/office/drawing/2014/main" id="{15356ECA-53FB-C0C4-1E31-AAB49F39BB52}"/>
              </a:ext>
            </a:extLst>
          </p:cNvPr>
          <p:cNvSpPr>
            <a:spLocks noGrp="1"/>
          </p:cNvSpPr>
          <p:nvPr>
            <p:ph type="sldNum" sz="quarter" idx="12"/>
          </p:nvPr>
        </p:nvSpPr>
        <p:spPr/>
        <p:txBody>
          <a:bodyPr/>
          <a:lstStyle/>
          <a:p>
            <a:fld id="{9324F709-037B-4F0A-AFFB-BDF7B109B9BB}" type="slidenum">
              <a:rPr lang="en-IN" smtClean="0"/>
              <a:t>9</a:t>
            </a:fld>
            <a:endParaRPr lang="en-IN"/>
          </a:p>
        </p:txBody>
      </p:sp>
    </p:spTree>
    <p:extLst>
      <p:ext uri="{BB962C8B-B14F-4D97-AF65-F5344CB8AC3E}">
        <p14:creationId xmlns:p14="http://schemas.microsoft.com/office/powerpoint/2010/main" val="1112069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E7EC0-1D26-5021-7FF6-AAD9E0D0CAF4}"/>
              </a:ext>
            </a:extLst>
          </p:cNvPr>
          <p:cNvSpPr>
            <a:spLocks noGrp="1"/>
          </p:cNvSpPr>
          <p:nvPr>
            <p:ph type="title"/>
          </p:nvPr>
        </p:nvSpPr>
        <p:spPr>
          <a:xfrm>
            <a:off x="2592925" y="624110"/>
            <a:ext cx="8911687" cy="1120714"/>
          </a:xfrm>
        </p:spPr>
        <p:txBody>
          <a:bodyPr>
            <a:normAutofit fontScale="90000"/>
          </a:bodyPr>
          <a:lstStyle/>
          <a:p>
            <a:r>
              <a:rPr lang="en-IN" sz="3600" b="1" i="0" u="none" strike="noStrike" baseline="0" dirty="0">
                <a:solidFill>
                  <a:srgbClr val="000000"/>
                </a:solidFill>
                <a:latin typeface="Times New Roman" panose="02020603050405020304" pitchFamily="18" charset="0"/>
              </a:rPr>
              <a:t>Approaches to knowledge representation </a:t>
            </a:r>
            <a:br>
              <a:rPr lang="en-IN" sz="3600" b="0" i="0" u="none" strike="noStrike" baseline="0" dirty="0">
                <a:solidFill>
                  <a:srgbClr val="000000"/>
                </a:solidFill>
                <a:latin typeface="Wingdings" panose="05000000000000000000" pitchFamily="2" charset="2"/>
              </a:rPr>
            </a:br>
            <a:endParaRPr lang="en-IN" dirty="0"/>
          </a:p>
        </p:txBody>
      </p:sp>
      <p:sp>
        <p:nvSpPr>
          <p:cNvPr id="3" name="Content Placeholder 2">
            <a:extLst>
              <a:ext uri="{FF2B5EF4-FFF2-40B4-BE49-F238E27FC236}">
                <a16:creationId xmlns:a16="http://schemas.microsoft.com/office/drawing/2014/main" id="{792AD0FE-AD8B-D58E-26EF-452357D970E1}"/>
              </a:ext>
            </a:extLst>
          </p:cNvPr>
          <p:cNvSpPr>
            <a:spLocks noGrp="1"/>
          </p:cNvSpPr>
          <p:nvPr>
            <p:ph idx="1"/>
          </p:nvPr>
        </p:nvSpPr>
        <p:spPr>
          <a:xfrm>
            <a:off x="2585499" y="1816359"/>
            <a:ext cx="8915400" cy="3777622"/>
          </a:xfrm>
        </p:spPr>
        <p:txBody>
          <a:bodyPr>
            <a:normAutofit/>
          </a:bodyPr>
          <a:lstStyle/>
          <a:p>
            <a:pPr marL="0" indent="0">
              <a:buNone/>
            </a:pPr>
            <a:r>
              <a:rPr lang="en-US" sz="1800" b="0" i="0" u="none" strike="noStrike" baseline="0" dirty="0">
                <a:solidFill>
                  <a:srgbClr val="000000"/>
                </a:solidFill>
                <a:latin typeface="Times New Roman" panose="02020603050405020304" pitchFamily="18" charset="0"/>
              </a:rPr>
              <a:t>There are mainly four approaches to knowledge representation, which are given below: </a:t>
            </a:r>
            <a:endParaRPr lang="en-US" sz="1800" b="0" i="0" u="none" strike="noStrike" baseline="0" dirty="0">
              <a:solidFill>
                <a:srgbClr val="000000"/>
              </a:solidFill>
              <a:latin typeface="Wingdings" panose="05000000000000000000" pitchFamily="2" charset="2"/>
            </a:endParaRPr>
          </a:p>
          <a:p>
            <a:pPr marL="0" indent="0">
              <a:buNone/>
            </a:pPr>
            <a:r>
              <a:rPr lang="en-IN" sz="1800" b="1" i="0" u="none" strike="noStrike" baseline="0" dirty="0">
                <a:solidFill>
                  <a:srgbClr val="000000"/>
                </a:solidFill>
                <a:latin typeface="Times New Roman" panose="02020603050405020304" pitchFamily="18" charset="0"/>
              </a:rPr>
              <a:t>1. Simple relational knowledge: </a:t>
            </a:r>
            <a:endParaRPr lang="en-IN" dirty="0"/>
          </a:p>
          <a:p>
            <a:r>
              <a:rPr lang="en-US" sz="1800" b="0" i="0" u="none" strike="noStrike" baseline="0" dirty="0">
                <a:solidFill>
                  <a:srgbClr val="000000"/>
                </a:solidFill>
                <a:latin typeface="Times New Roman" panose="02020603050405020304" pitchFamily="18" charset="0"/>
              </a:rPr>
              <a:t>It is the simplest way of storing facts which uses the relational method, and each fact about a set of the object is set out systematically in columns.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This approach of knowledge representation is famous in database systems where the relationship between different entities is represented.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This approach has little opportunity for inference </a:t>
            </a:r>
            <a:endParaRPr lang="en-US" sz="1800" b="0" i="0" u="none" strike="noStrike" baseline="0" dirty="0">
              <a:solidFill>
                <a:srgbClr val="000000"/>
              </a:solidFill>
              <a:latin typeface="Wingdings" panose="05000000000000000000" pitchFamily="2" charset="2"/>
            </a:endParaRPr>
          </a:p>
          <a:p>
            <a:pPr marL="0" indent="0">
              <a:buNone/>
            </a:pPr>
            <a:r>
              <a:rPr lang="en-US" sz="1800" b="1" i="0" u="none" strike="noStrike" baseline="0" dirty="0">
                <a:solidFill>
                  <a:srgbClr val="000000"/>
                </a:solidFill>
                <a:latin typeface="Times New Roman" panose="02020603050405020304" pitchFamily="18" charset="0"/>
              </a:rPr>
              <a:t>Example: The following is the simple relational knowledge representation. </a:t>
            </a:r>
            <a:endParaRPr lang="en-US" b="1" dirty="0">
              <a:solidFill>
                <a:srgbClr val="000000"/>
              </a:solidFill>
              <a:latin typeface="Times New Roman" panose="02020603050405020304" pitchFamily="18" charset="0"/>
            </a:endParaRPr>
          </a:p>
          <a:p>
            <a:endParaRPr lang="en-US" sz="1800" b="0" i="0" u="none" strike="noStrike" baseline="0" dirty="0">
              <a:solidFill>
                <a:srgbClr val="000000"/>
              </a:solidFill>
              <a:latin typeface="Times New Roman" panose="02020603050405020304" pitchFamily="18" charset="0"/>
            </a:endParaRPr>
          </a:p>
          <a:p>
            <a:pPr marL="0" indent="0">
              <a:buNone/>
            </a:pPr>
            <a:r>
              <a:rPr lang="en-IN" sz="1800" b="0" i="0" u="none" strike="noStrike" baseline="0" dirty="0">
                <a:solidFill>
                  <a:srgbClr val="000000"/>
                </a:solidFill>
                <a:latin typeface="Times New Roman" panose="02020603050405020304" pitchFamily="18" charset="0"/>
              </a:rPr>
              <a:t>	</a:t>
            </a:r>
          </a:p>
          <a:p>
            <a:endParaRPr lang="en-IN" sz="1800" b="0" i="0" u="none" strike="noStrike" baseline="0" dirty="0">
              <a:solidFill>
                <a:srgbClr val="000000"/>
              </a:solidFill>
              <a:latin typeface="Wingdings" panose="05000000000000000000" pitchFamily="2" charset="2"/>
            </a:endParaRPr>
          </a:p>
          <a:p>
            <a:endParaRPr lang="en-IN"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pic>
        <p:nvPicPr>
          <p:cNvPr id="5" name="Picture 4">
            <a:extLst>
              <a:ext uri="{FF2B5EF4-FFF2-40B4-BE49-F238E27FC236}">
                <a16:creationId xmlns:a16="http://schemas.microsoft.com/office/drawing/2014/main" id="{C94542CE-BF79-4AA0-C17D-ED0B871F8E20}"/>
              </a:ext>
            </a:extLst>
          </p:cNvPr>
          <p:cNvPicPr>
            <a:picLocks noChangeAspect="1"/>
          </p:cNvPicPr>
          <p:nvPr/>
        </p:nvPicPr>
        <p:blipFill>
          <a:blip r:embed="rId2"/>
          <a:stretch>
            <a:fillRect/>
          </a:stretch>
        </p:blipFill>
        <p:spPr>
          <a:xfrm>
            <a:off x="2944752" y="4781679"/>
            <a:ext cx="6619741" cy="1661375"/>
          </a:xfrm>
          <a:prstGeom prst="rect">
            <a:avLst/>
          </a:prstGeom>
        </p:spPr>
      </p:pic>
      <p:sp>
        <p:nvSpPr>
          <p:cNvPr id="4" name="Slide Number Placeholder 3">
            <a:extLst>
              <a:ext uri="{FF2B5EF4-FFF2-40B4-BE49-F238E27FC236}">
                <a16:creationId xmlns:a16="http://schemas.microsoft.com/office/drawing/2014/main" id="{64B93A9C-3264-71DB-C54C-1BB1E97A266C}"/>
              </a:ext>
            </a:extLst>
          </p:cNvPr>
          <p:cNvSpPr>
            <a:spLocks noGrp="1"/>
          </p:cNvSpPr>
          <p:nvPr>
            <p:ph type="sldNum" sz="quarter" idx="12"/>
          </p:nvPr>
        </p:nvSpPr>
        <p:spPr/>
        <p:txBody>
          <a:bodyPr/>
          <a:lstStyle/>
          <a:p>
            <a:fld id="{9324F709-037B-4F0A-AFFB-BDF7B109B9BB}" type="slidenum">
              <a:rPr lang="en-IN" smtClean="0"/>
              <a:t>10</a:t>
            </a:fld>
            <a:endParaRPr lang="en-IN"/>
          </a:p>
        </p:txBody>
      </p:sp>
    </p:spTree>
    <p:extLst>
      <p:ext uri="{BB962C8B-B14F-4D97-AF65-F5344CB8AC3E}">
        <p14:creationId xmlns:p14="http://schemas.microsoft.com/office/powerpoint/2010/main" val="3059964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3C5269-7C71-B337-450F-4554584EDF93}"/>
              </a:ext>
            </a:extLst>
          </p:cNvPr>
          <p:cNvSpPr>
            <a:spLocks noGrp="1"/>
          </p:cNvSpPr>
          <p:nvPr>
            <p:ph idx="1"/>
          </p:nvPr>
        </p:nvSpPr>
        <p:spPr>
          <a:xfrm>
            <a:off x="2523898" y="647438"/>
            <a:ext cx="8915400" cy="3777622"/>
          </a:xfrm>
        </p:spPr>
        <p:txBody>
          <a:bodyPr>
            <a:normAutofit lnSpcReduction="10000"/>
          </a:bodyPr>
          <a:lstStyle/>
          <a:p>
            <a:pPr marL="0" indent="0">
              <a:buNone/>
            </a:pPr>
            <a:r>
              <a:rPr lang="en-IN" sz="1800" b="1" i="0" u="none" strike="noStrike" baseline="0" dirty="0">
                <a:solidFill>
                  <a:srgbClr val="000000"/>
                </a:solidFill>
                <a:latin typeface="Times New Roman" panose="02020603050405020304" pitchFamily="18" charset="0"/>
              </a:rPr>
              <a:t>2. Inheritable knowledge: </a:t>
            </a:r>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In the inheritable knowledge approach, all data must be stored into a hierarchy of classes. </a:t>
            </a:r>
          </a:p>
          <a:p>
            <a:r>
              <a:rPr lang="en-US" sz="1800" b="0" i="0" u="none" strike="noStrike" baseline="0" dirty="0">
                <a:solidFill>
                  <a:srgbClr val="000000"/>
                </a:solidFill>
                <a:latin typeface="Times New Roman" panose="02020603050405020304" pitchFamily="18" charset="0"/>
              </a:rPr>
              <a:t>All classes should be arranged in a generalized form or a hierarchal manner.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In this approach, we apply inheritance property.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Elements inherit values from other members of a class.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This approach contains inheritable knowledge which shows a relation between instance and class, and it is called instance relation.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Every individual frame can represent the collection of attributes and its value.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In this approach, objects and values are represented in Boxed nodes.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We use Arrows which point from objects to their values.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endParaRPr lang="en-IN" dirty="0"/>
          </a:p>
        </p:txBody>
      </p:sp>
      <p:pic>
        <p:nvPicPr>
          <p:cNvPr id="4" name="Content Placeholder 4">
            <a:extLst>
              <a:ext uri="{FF2B5EF4-FFF2-40B4-BE49-F238E27FC236}">
                <a16:creationId xmlns:a16="http://schemas.microsoft.com/office/drawing/2014/main" id="{B64C978C-51F1-A32E-79B0-F4FF51216318}"/>
              </a:ext>
            </a:extLst>
          </p:cNvPr>
          <p:cNvPicPr>
            <a:picLocks noChangeAspect="1"/>
          </p:cNvPicPr>
          <p:nvPr/>
        </p:nvPicPr>
        <p:blipFill>
          <a:blip r:embed="rId2"/>
          <a:stretch>
            <a:fillRect/>
          </a:stretch>
        </p:blipFill>
        <p:spPr>
          <a:xfrm>
            <a:off x="3797559" y="4425060"/>
            <a:ext cx="6036906" cy="2311758"/>
          </a:xfrm>
          <a:prstGeom prst="rect">
            <a:avLst/>
          </a:prstGeom>
        </p:spPr>
      </p:pic>
      <p:sp>
        <p:nvSpPr>
          <p:cNvPr id="2" name="Slide Number Placeholder 1">
            <a:extLst>
              <a:ext uri="{FF2B5EF4-FFF2-40B4-BE49-F238E27FC236}">
                <a16:creationId xmlns:a16="http://schemas.microsoft.com/office/drawing/2014/main" id="{3B31CF27-8EEB-7D1A-6CB6-65EBB605BE16}"/>
              </a:ext>
            </a:extLst>
          </p:cNvPr>
          <p:cNvSpPr>
            <a:spLocks noGrp="1"/>
          </p:cNvSpPr>
          <p:nvPr>
            <p:ph type="sldNum" sz="quarter" idx="12"/>
          </p:nvPr>
        </p:nvSpPr>
        <p:spPr/>
        <p:txBody>
          <a:bodyPr/>
          <a:lstStyle/>
          <a:p>
            <a:fld id="{9324F709-037B-4F0A-AFFB-BDF7B109B9BB}" type="slidenum">
              <a:rPr lang="en-IN" smtClean="0"/>
              <a:t>11</a:t>
            </a:fld>
            <a:endParaRPr lang="en-IN"/>
          </a:p>
        </p:txBody>
      </p:sp>
    </p:spTree>
    <p:extLst>
      <p:ext uri="{BB962C8B-B14F-4D97-AF65-F5344CB8AC3E}">
        <p14:creationId xmlns:p14="http://schemas.microsoft.com/office/powerpoint/2010/main" val="1353145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DC9B6-87E9-7397-C739-7943397F7B46}"/>
              </a:ext>
            </a:extLst>
          </p:cNvPr>
          <p:cNvSpPr>
            <a:spLocks noGrp="1"/>
          </p:cNvSpPr>
          <p:nvPr>
            <p:ph type="title"/>
          </p:nvPr>
        </p:nvSpPr>
        <p:spPr/>
        <p:txBody>
          <a:bodyPr/>
          <a:lstStyle/>
          <a:p>
            <a:endParaRPr lang="en-IN"/>
          </a:p>
        </p:txBody>
      </p:sp>
      <p:sp>
        <p:nvSpPr>
          <p:cNvPr id="7" name="Content Placeholder 6">
            <a:extLst>
              <a:ext uri="{FF2B5EF4-FFF2-40B4-BE49-F238E27FC236}">
                <a16:creationId xmlns:a16="http://schemas.microsoft.com/office/drawing/2014/main" id="{E589CB0B-E661-45CC-9084-498D63FC39E1}"/>
              </a:ext>
            </a:extLst>
          </p:cNvPr>
          <p:cNvSpPr>
            <a:spLocks noGrp="1"/>
          </p:cNvSpPr>
          <p:nvPr>
            <p:ph idx="1"/>
          </p:nvPr>
        </p:nvSpPr>
        <p:spPr/>
        <p:txBody>
          <a:bodyPr/>
          <a:lstStyle/>
          <a:p>
            <a:r>
              <a:rPr lang="en-IN" sz="1800" b="1" i="0" u="none" strike="noStrike" baseline="0" dirty="0">
                <a:solidFill>
                  <a:srgbClr val="000000"/>
                </a:solidFill>
                <a:latin typeface="Times New Roman" panose="02020603050405020304" pitchFamily="18" charset="0"/>
              </a:rPr>
              <a:t>3. Inferential knowledge: </a:t>
            </a:r>
            <a:endParaRPr lang="en-IN" dirty="0"/>
          </a:p>
          <a:p>
            <a:r>
              <a:rPr lang="en-US" sz="1800" b="0" i="0" u="none" strike="noStrike" baseline="0" dirty="0">
                <a:solidFill>
                  <a:srgbClr val="000000"/>
                </a:solidFill>
                <a:latin typeface="Times New Roman" panose="02020603050405020304" pitchFamily="18" charset="0"/>
              </a:rPr>
              <a:t>Inferential knowledge approach represents knowledge in the form of formal logics.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This approach can be used to derive more facts. </a:t>
            </a:r>
            <a:endParaRPr lang="en-US" sz="1800" b="0" i="0" u="none" strike="noStrike" baseline="0" dirty="0">
              <a:solidFill>
                <a:srgbClr val="000000"/>
              </a:solidFill>
              <a:latin typeface="Wingdings" panose="05000000000000000000" pitchFamily="2" charset="2"/>
            </a:endParaRPr>
          </a:p>
          <a:p>
            <a:r>
              <a:rPr lang="en-IN" sz="1800" b="0" i="0" u="none" strike="noStrike" baseline="0" dirty="0">
                <a:solidFill>
                  <a:srgbClr val="000000"/>
                </a:solidFill>
                <a:latin typeface="Times New Roman" panose="02020603050405020304" pitchFamily="18" charset="0"/>
              </a:rPr>
              <a:t>It guaranteed correctness. </a:t>
            </a:r>
            <a:endParaRPr lang="en-IN" sz="1800" b="0" i="0" u="none" strike="noStrike" baseline="0" dirty="0">
              <a:solidFill>
                <a:srgbClr val="000000"/>
              </a:solidFill>
              <a:latin typeface="Wingdings" panose="05000000000000000000" pitchFamily="2" charset="2"/>
            </a:endParaRPr>
          </a:p>
          <a:p>
            <a:pPr marL="0" indent="0">
              <a:buNone/>
            </a:pPr>
            <a:r>
              <a:rPr lang="en-US" sz="1800" b="1" i="0" u="none" strike="noStrike" baseline="0" dirty="0">
                <a:solidFill>
                  <a:srgbClr val="000000"/>
                </a:solidFill>
                <a:latin typeface="Times New Roman" panose="02020603050405020304" pitchFamily="18" charset="0"/>
              </a:rPr>
              <a:t>Example: </a:t>
            </a:r>
            <a:r>
              <a:rPr lang="en-US" sz="1800" b="0" i="0" u="none" strike="noStrike" baseline="0" dirty="0">
                <a:solidFill>
                  <a:srgbClr val="000000"/>
                </a:solidFill>
                <a:latin typeface="Times New Roman" panose="02020603050405020304" pitchFamily="18" charset="0"/>
              </a:rPr>
              <a:t>Let's suppose there are two statements: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a. Marcus is a man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b. All men are mortal Then it can represent as; </a:t>
            </a:r>
          </a:p>
          <a:p>
            <a:pPr marL="0" indent="0">
              <a:buNone/>
            </a:pPr>
            <a:r>
              <a:rPr lang="en-IN" sz="1800" b="1" i="0" u="none" strike="noStrike" baseline="0" dirty="0">
                <a:solidFill>
                  <a:srgbClr val="000000"/>
                </a:solidFill>
                <a:latin typeface="Times New Roman" panose="02020603050405020304" pitchFamily="18" charset="0"/>
              </a:rPr>
              <a:t>man(Marcus) </a:t>
            </a:r>
            <a:endParaRPr lang="en-IN" sz="1800" b="0" i="0" u="none" strike="noStrike" baseline="0" dirty="0">
              <a:solidFill>
                <a:srgbClr val="000000"/>
              </a:solidFill>
              <a:latin typeface="Times New Roman" panose="02020603050405020304" pitchFamily="18" charset="0"/>
            </a:endParaRPr>
          </a:p>
          <a:p>
            <a:pPr marL="0" indent="0">
              <a:buNone/>
            </a:pPr>
            <a:r>
              <a:rPr lang="en-IN" sz="1800" b="0" i="0" u="none" strike="noStrike" baseline="0" dirty="0">
                <a:solidFill>
                  <a:srgbClr val="000000"/>
                </a:solidFill>
                <a:latin typeface="Cambria Math" panose="02040503050406030204" pitchFamily="18" charset="0"/>
              </a:rPr>
              <a:t>∀</a:t>
            </a:r>
            <a:r>
              <a:rPr lang="en-IN" sz="1800" b="1" i="0" u="none" strike="noStrike" baseline="0" dirty="0">
                <a:solidFill>
                  <a:srgbClr val="000000"/>
                </a:solidFill>
                <a:latin typeface="Times New Roman" panose="02020603050405020304" pitchFamily="18" charset="0"/>
              </a:rPr>
              <a:t>x = man (x) ---------- &gt; mortal (x)s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3" name="Slide Number Placeholder 2">
            <a:extLst>
              <a:ext uri="{FF2B5EF4-FFF2-40B4-BE49-F238E27FC236}">
                <a16:creationId xmlns:a16="http://schemas.microsoft.com/office/drawing/2014/main" id="{6873924E-3434-B2ED-7B22-744245C7E1A1}"/>
              </a:ext>
            </a:extLst>
          </p:cNvPr>
          <p:cNvSpPr>
            <a:spLocks noGrp="1"/>
          </p:cNvSpPr>
          <p:nvPr>
            <p:ph type="sldNum" sz="quarter" idx="12"/>
          </p:nvPr>
        </p:nvSpPr>
        <p:spPr/>
        <p:txBody>
          <a:bodyPr/>
          <a:lstStyle/>
          <a:p>
            <a:fld id="{9324F709-037B-4F0A-AFFB-BDF7B109B9BB}" type="slidenum">
              <a:rPr lang="en-IN" smtClean="0"/>
              <a:t>12</a:t>
            </a:fld>
            <a:endParaRPr lang="en-IN"/>
          </a:p>
        </p:txBody>
      </p:sp>
    </p:spTree>
    <p:extLst>
      <p:ext uri="{BB962C8B-B14F-4D97-AF65-F5344CB8AC3E}">
        <p14:creationId xmlns:p14="http://schemas.microsoft.com/office/powerpoint/2010/main" val="899308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8A0AF-1476-1A3E-CDD3-68A39C3491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2B8242-6A4F-BA84-CDEE-0E2D672E81CA}"/>
              </a:ext>
            </a:extLst>
          </p:cNvPr>
          <p:cNvSpPr>
            <a:spLocks noGrp="1"/>
          </p:cNvSpPr>
          <p:nvPr>
            <p:ph idx="1"/>
          </p:nvPr>
        </p:nvSpPr>
        <p:spPr/>
        <p:txBody>
          <a:bodyPr>
            <a:normAutofit/>
          </a:bodyPr>
          <a:lstStyle/>
          <a:p>
            <a:pPr marL="0" indent="0">
              <a:buNone/>
            </a:pPr>
            <a:r>
              <a:rPr lang="en-IN" sz="1800" b="1" i="0" u="none" strike="noStrike" baseline="0" dirty="0">
                <a:solidFill>
                  <a:srgbClr val="000000"/>
                </a:solidFill>
                <a:latin typeface="Times New Roman" panose="02020603050405020304" pitchFamily="18" charset="0"/>
              </a:rPr>
              <a:t>4. Procedural knowledge: </a:t>
            </a:r>
            <a:endParaRPr lang="en-IN" dirty="0"/>
          </a:p>
          <a:p>
            <a:r>
              <a:rPr lang="en-US" sz="1800" b="0" i="0" u="none" strike="noStrike" baseline="0" dirty="0">
                <a:solidFill>
                  <a:srgbClr val="000000"/>
                </a:solidFill>
                <a:latin typeface="Times New Roman" panose="02020603050405020304" pitchFamily="18" charset="0"/>
              </a:rPr>
              <a:t>Procedural knowledge approach uses small programs and codes which describes how to do specific things, and how to proceed.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In this approach, one important rule is used which is </a:t>
            </a:r>
            <a:r>
              <a:rPr lang="en-US" sz="1800" b="1" i="0" u="none" strike="noStrike" baseline="0" dirty="0">
                <a:solidFill>
                  <a:srgbClr val="000000"/>
                </a:solidFill>
                <a:latin typeface="Times New Roman" panose="02020603050405020304" pitchFamily="18" charset="0"/>
              </a:rPr>
              <a:t>If-Then rule</a:t>
            </a:r>
            <a:r>
              <a:rPr lang="en-US" sz="1800" b="0" i="0" u="none" strike="noStrike" baseline="0" dirty="0">
                <a:solidFill>
                  <a:srgbClr val="000000"/>
                </a:solidFill>
                <a:latin typeface="Times New Roman" panose="02020603050405020304" pitchFamily="18" charset="0"/>
              </a:rPr>
              <a:t>.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In this knowledge, we can use various coding languages such as </a:t>
            </a:r>
            <a:r>
              <a:rPr lang="en-US" sz="1800" b="1" i="0" u="none" strike="noStrike" baseline="0" dirty="0">
                <a:solidFill>
                  <a:srgbClr val="000000"/>
                </a:solidFill>
                <a:latin typeface="Times New Roman" panose="02020603050405020304" pitchFamily="18" charset="0"/>
              </a:rPr>
              <a:t>LISP language </a:t>
            </a:r>
            <a:r>
              <a:rPr lang="en-US" sz="1800" b="0" i="0" u="none" strike="noStrike" baseline="0" dirty="0">
                <a:solidFill>
                  <a:srgbClr val="000000"/>
                </a:solidFill>
                <a:latin typeface="Times New Roman" panose="02020603050405020304" pitchFamily="18" charset="0"/>
              </a:rPr>
              <a:t>and </a:t>
            </a:r>
            <a:r>
              <a:rPr lang="en-US" sz="1800" b="1" i="0" u="none" strike="noStrike" baseline="0" dirty="0">
                <a:solidFill>
                  <a:srgbClr val="000000"/>
                </a:solidFill>
                <a:latin typeface="Times New Roman" panose="02020603050405020304" pitchFamily="18" charset="0"/>
              </a:rPr>
              <a:t>Prolog language</a:t>
            </a:r>
            <a:r>
              <a:rPr lang="en-US" sz="1800" b="0" i="0" u="none" strike="noStrike" baseline="0" dirty="0">
                <a:solidFill>
                  <a:srgbClr val="000000"/>
                </a:solidFill>
                <a:latin typeface="Times New Roman" panose="02020603050405020304" pitchFamily="18" charset="0"/>
              </a:rPr>
              <a:t>.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We can easily represent heuristic or domain-specific knowledge using this approach. </a:t>
            </a:r>
            <a:endParaRPr lang="en-US"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2958EAEA-6FBD-38E6-C0BA-803540BC5365}"/>
              </a:ext>
            </a:extLst>
          </p:cNvPr>
          <p:cNvSpPr>
            <a:spLocks noGrp="1"/>
          </p:cNvSpPr>
          <p:nvPr>
            <p:ph type="sldNum" sz="quarter" idx="12"/>
          </p:nvPr>
        </p:nvSpPr>
        <p:spPr/>
        <p:txBody>
          <a:bodyPr/>
          <a:lstStyle/>
          <a:p>
            <a:fld id="{9324F709-037B-4F0A-AFFB-BDF7B109B9BB}" type="slidenum">
              <a:rPr lang="en-IN" smtClean="0"/>
              <a:t>13</a:t>
            </a:fld>
            <a:endParaRPr lang="en-IN"/>
          </a:p>
        </p:txBody>
      </p:sp>
    </p:spTree>
    <p:extLst>
      <p:ext uri="{BB962C8B-B14F-4D97-AF65-F5344CB8AC3E}">
        <p14:creationId xmlns:p14="http://schemas.microsoft.com/office/powerpoint/2010/main" val="3593547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0E743-982C-20C1-69B0-426EE3AF34FC}"/>
              </a:ext>
            </a:extLst>
          </p:cNvPr>
          <p:cNvSpPr>
            <a:spLocks noGrp="1"/>
          </p:cNvSpPr>
          <p:nvPr>
            <p:ph type="title"/>
          </p:nvPr>
        </p:nvSpPr>
        <p:spPr/>
        <p:txBody>
          <a:bodyPr>
            <a:normAutofit fontScale="90000"/>
          </a:bodyPr>
          <a:lstStyle/>
          <a:p>
            <a:br>
              <a:rPr lang="en-IN" sz="3600" b="0" i="0" u="none" strike="noStrike" baseline="0" dirty="0">
                <a:solidFill>
                  <a:srgbClr val="000000"/>
                </a:solidFill>
                <a:latin typeface="Times New Roman" panose="02020603050405020304" pitchFamily="18" charset="0"/>
              </a:rPr>
            </a:br>
            <a:r>
              <a:rPr lang="en-US" sz="3100" b="1" dirty="0">
                <a:solidFill>
                  <a:srgbClr val="000000"/>
                </a:solidFill>
                <a:latin typeface="Times New Roman" panose="02020603050405020304" pitchFamily="18" charset="0"/>
              </a:rPr>
              <a:t>Requirements for knowledge Representation system </a:t>
            </a:r>
            <a:br>
              <a:rPr lang="en-US" sz="36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19ABED6-6320-A754-1E88-B8B70AE1E26A}"/>
              </a:ext>
            </a:extLst>
          </p:cNvPr>
          <p:cNvSpPr>
            <a:spLocks noGrp="1"/>
          </p:cNvSpPr>
          <p:nvPr>
            <p:ph idx="1"/>
          </p:nvPr>
        </p:nvSpPr>
        <p:spPr/>
        <p:txBody>
          <a:bodyPr>
            <a:normAutofit fontScale="92500" lnSpcReduction="10000"/>
          </a:bodyPr>
          <a:lstStyle/>
          <a:p>
            <a:pPr marL="0" indent="0">
              <a:buNone/>
            </a:pPr>
            <a:r>
              <a:rPr lang="en-US" sz="1800" b="0" i="0" u="none" strike="noStrike" baseline="0" dirty="0">
                <a:solidFill>
                  <a:srgbClr val="000000"/>
                </a:solidFill>
                <a:latin typeface="Times New Roman" panose="02020603050405020304" pitchFamily="18" charset="0"/>
              </a:rPr>
              <a:t>A good knowledge representation system must possess the following properties. </a:t>
            </a:r>
          </a:p>
          <a:p>
            <a:pPr marL="0" indent="0">
              <a:buNone/>
            </a:pPr>
            <a:r>
              <a:rPr lang="en-IN" sz="1800" b="1" i="0" u="none" strike="noStrike" baseline="0" dirty="0">
                <a:solidFill>
                  <a:srgbClr val="000000"/>
                </a:solidFill>
                <a:latin typeface="Times New Roman" panose="02020603050405020304" pitchFamily="18" charset="0"/>
              </a:rPr>
              <a:t>1. Representational Accuracy: </a:t>
            </a:r>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KR system should have the ability to represent all kind of required knowledge. </a:t>
            </a:r>
          </a:p>
          <a:p>
            <a:pPr marL="0" indent="0">
              <a:buNone/>
            </a:pPr>
            <a:r>
              <a:rPr lang="en-IN" sz="1800" b="1" i="0" u="none" strike="noStrike" baseline="0" dirty="0">
                <a:solidFill>
                  <a:srgbClr val="000000"/>
                </a:solidFill>
                <a:latin typeface="Times New Roman" panose="02020603050405020304" pitchFamily="18" charset="0"/>
              </a:rPr>
              <a:t>2. Inferential Adequacy: </a:t>
            </a:r>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KR system should have ability to manipulate the representational structures to produce new knowledge corresponding to existing structure. </a:t>
            </a:r>
          </a:p>
          <a:p>
            <a:pPr marL="0" indent="0">
              <a:buNone/>
            </a:pPr>
            <a:r>
              <a:rPr lang="en-IN" sz="1800" b="1" i="0" u="none" strike="noStrike" baseline="0" dirty="0">
                <a:solidFill>
                  <a:srgbClr val="000000"/>
                </a:solidFill>
                <a:latin typeface="Times New Roman" panose="02020603050405020304" pitchFamily="18" charset="0"/>
              </a:rPr>
              <a:t>3. Inferential Efficiency: </a:t>
            </a:r>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The ability to direct the inferential knowledge mechanism into the most productive directions by storing appropriate guides. </a:t>
            </a:r>
          </a:p>
          <a:p>
            <a:pPr marL="0" indent="0">
              <a:buNone/>
            </a:pPr>
            <a:r>
              <a:rPr lang="en-US" sz="1800" b="1" i="0" u="none" strike="noStrike" baseline="0" dirty="0">
                <a:solidFill>
                  <a:srgbClr val="000000"/>
                </a:solidFill>
                <a:latin typeface="Times New Roman" panose="02020603050405020304" pitchFamily="18" charset="0"/>
              </a:rPr>
              <a:t>4. Acquisitional efficiency- </a:t>
            </a:r>
            <a:r>
              <a:rPr lang="en-US" sz="1800" b="0" i="0" u="none" strike="noStrike" baseline="0" dirty="0">
                <a:solidFill>
                  <a:srgbClr val="000000"/>
                </a:solidFill>
                <a:latin typeface="Times New Roman" panose="02020603050405020304" pitchFamily="18" charset="0"/>
              </a:rPr>
              <a:t>The ability to acquire the new knowledge easily using automatic methods. </a:t>
            </a:r>
          </a:p>
          <a:p>
            <a:endParaRPr lang="en-IN" dirty="0"/>
          </a:p>
        </p:txBody>
      </p:sp>
      <p:sp>
        <p:nvSpPr>
          <p:cNvPr id="4" name="Slide Number Placeholder 3">
            <a:extLst>
              <a:ext uri="{FF2B5EF4-FFF2-40B4-BE49-F238E27FC236}">
                <a16:creationId xmlns:a16="http://schemas.microsoft.com/office/drawing/2014/main" id="{200BAACD-1EC4-D685-0E2E-AD1221B01717}"/>
              </a:ext>
            </a:extLst>
          </p:cNvPr>
          <p:cNvSpPr>
            <a:spLocks noGrp="1"/>
          </p:cNvSpPr>
          <p:nvPr>
            <p:ph type="sldNum" sz="quarter" idx="12"/>
          </p:nvPr>
        </p:nvSpPr>
        <p:spPr/>
        <p:txBody>
          <a:bodyPr/>
          <a:lstStyle/>
          <a:p>
            <a:fld id="{9324F709-037B-4F0A-AFFB-BDF7B109B9BB}" type="slidenum">
              <a:rPr lang="en-IN" smtClean="0"/>
              <a:t>14</a:t>
            </a:fld>
            <a:endParaRPr lang="en-IN"/>
          </a:p>
        </p:txBody>
      </p:sp>
    </p:spTree>
    <p:extLst>
      <p:ext uri="{BB962C8B-B14F-4D97-AF65-F5344CB8AC3E}">
        <p14:creationId xmlns:p14="http://schemas.microsoft.com/office/powerpoint/2010/main" val="2351174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44176-98A0-DA3E-2B53-97A97EC3AB16}"/>
              </a:ext>
            </a:extLst>
          </p:cNvPr>
          <p:cNvSpPr>
            <a:spLocks noGrp="1"/>
          </p:cNvSpPr>
          <p:nvPr>
            <p:ph type="title"/>
          </p:nvPr>
        </p:nvSpPr>
        <p:spPr/>
        <p:txBody>
          <a:bodyPr/>
          <a:lstStyle/>
          <a:p>
            <a:r>
              <a:rPr lang="en-IN" sz="3200" b="1" dirty="0">
                <a:solidFill>
                  <a:srgbClr val="000000"/>
                </a:solidFill>
                <a:latin typeface="Times New Roman" panose="02020603050405020304" pitchFamily="18" charset="0"/>
              </a:rPr>
              <a:t>Techniques of knowledge representation </a:t>
            </a:r>
          </a:p>
        </p:txBody>
      </p:sp>
      <p:sp>
        <p:nvSpPr>
          <p:cNvPr id="3" name="Content Placeholder 2">
            <a:extLst>
              <a:ext uri="{FF2B5EF4-FFF2-40B4-BE49-F238E27FC236}">
                <a16:creationId xmlns:a16="http://schemas.microsoft.com/office/drawing/2014/main" id="{C1CA6B65-E7F1-6442-F802-B890C379C5E1}"/>
              </a:ext>
            </a:extLst>
          </p:cNvPr>
          <p:cNvSpPr>
            <a:spLocks noGrp="1"/>
          </p:cNvSpPr>
          <p:nvPr>
            <p:ph idx="1"/>
          </p:nvPr>
        </p:nvSpPr>
        <p:spPr>
          <a:xfrm>
            <a:off x="2589212" y="1334279"/>
            <a:ext cx="8915400" cy="5411754"/>
          </a:xfrm>
        </p:spPr>
        <p:txBody>
          <a:bodyPr>
            <a:normAutofit fontScale="62500" lnSpcReduction="20000"/>
          </a:bodyPr>
          <a:lstStyle/>
          <a:p>
            <a:pPr marL="0" indent="0">
              <a:buNone/>
            </a:pPr>
            <a:r>
              <a:rPr lang="en-US" sz="1800" b="1" i="0" u="none" strike="noStrike" baseline="0" dirty="0">
                <a:solidFill>
                  <a:srgbClr val="000000"/>
                </a:solidFill>
                <a:latin typeface="Times New Roman" panose="02020603050405020304" pitchFamily="18" charset="0"/>
              </a:rPr>
              <a:t>1. Logical Representation </a:t>
            </a:r>
          </a:p>
          <a:p>
            <a:pPr marL="0" indent="0">
              <a:buNone/>
            </a:pPr>
            <a:r>
              <a:rPr lang="en-US" sz="1800" b="0" i="0" u="none" strike="noStrike" baseline="0" dirty="0">
                <a:solidFill>
                  <a:srgbClr val="000000"/>
                </a:solidFill>
                <a:latin typeface="Times New Roman" panose="02020603050405020304" pitchFamily="18" charset="0"/>
              </a:rPr>
              <a:t>Logical representation is a language with some concrete rules which deals with propositions and has no ambiguity in representation. Logical representation means drawing a conclusion based on various conditions. This representation lays down some important communication rules. It consists of precisely defined syntax and semantics which supports the sound inference. Each sentence can be translated into logics using syntax and semantics. </a:t>
            </a:r>
          </a:p>
          <a:p>
            <a:pPr marL="0" indent="0">
              <a:buNone/>
            </a:pPr>
            <a:r>
              <a:rPr lang="en-IN" sz="1800" b="0" i="0" u="none" strike="noStrike" baseline="0" dirty="0">
                <a:solidFill>
                  <a:srgbClr val="000000"/>
                </a:solidFill>
                <a:latin typeface="Times New Roman" panose="02020603050405020304" pitchFamily="18" charset="0"/>
              </a:rPr>
              <a:t>Syntax: </a:t>
            </a:r>
          </a:p>
          <a:p>
            <a:r>
              <a:rPr lang="en-US" sz="1800" b="0" i="0" u="none" strike="noStrike" baseline="0" dirty="0">
                <a:solidFill>
                  <a:srgbClr val="000000"/>
                </a:solidFill>
                <a:latin typeface="Times New Roman" panose="02020603050405020304" pitchFamily="18" charset="0"/>
              </a:rPr>
              <a:t>Syntaxes are the rules which decide how we can construct legal sentences in the logic. </a:t>
            </a:r>
          </a:p>
          <a:p>
            <a:r>
              <a:rPr lang="en-US" sz="1800" b="0" i="0" u="none" strike="noStrike" baseline="0" dirty="0">
                <a:solidFill>
                  <a:srgbClr val="000000"/>
                </a:solidFill>
                <a:latin typeface="Times New Roman" panose="02020603050405020304" pitchFamily="18" charset="0"/>
              </a:rPr>
              <a:t>It determines which symbol we can use in knowledge representation. </a:t>
            </a:r>
          </a:p>
          <a:p>
            <a:r>
              <a:rPr lang="en-US" sz="1800" b="0" i="0" u="none" strike="noStrike" baseline="0" dirty="0">
                <a:solidFill>
                  <a:srgbClr val="000000"/>
                </a:solidFill>
                <a:latin typeface="Times New Roman" panose="02020603050405020304" pitchFamily="18" charset="0"/>
              </a:rPr>
              <a:t>How to write those symbols.</a:t>
            </a:r>
          </a:p>
          <a:p>
            <a:pPr marL="0" indent="0">
              <a:buNone/>
            </a:pPr>
            <a:r>
              <a:rPr lang="en-US" sz="1800" b="0" i="0" u="none" strike="noStrike" baseline="0" dirty="0">
                <a:solidFill>
                  <a:srgbClr val="000000"/>
                </a:solidFill>
                <a:latin typeface="Times New Roman" panose="02020603050405020304" pitchFamily="18" charset="0"/>
              </a:rPr>
              <a:t> Semantics: </a:t>
            </a:r>
          </a:p>
          <a:p>
            <a:r>
              <a:rPr lang="en-US" sz="1800" b="0" i="0" u="none" strike="noStrike" baseline="0" dirty="0">
                <a:solidFill>
                  <a:srgbClr val="000000"/>
                </a:solidFill>
                <a:latin typeface="Times New Roman" panose="02020603050405020304" pitchFamily="18" charset="0"/>
              </a:rPr>
              <a:t>Semantics are the rules by which we can interpret the sentence in the logic. </a:t>
            </a:r>
          </a:p>
          <a:p>
            <a:r>
              <a:rPr lang="en-US" sz="1800" b="0" i="0" u="none" strike="noStrike" baseline="0" dirty="0">
                <a:solidFill>
                  <a:srgbClr val="000000"/>
                </a:solidFill>
                <a:latin typeface="Times New Roman" panose="02020603050405020304" pitchFamily="18" charset="0"/>
              </a:rPr>
              <a:t>Semantic also involves assigning a meaning to each sentence. Logical representation can be categorized into mainly two logics: </a:t>
            </a:r>
          </a:p>
          <a:p>
            <a:pPr marL="0" indent="0">
              <a:buNone/>
            </a:pPr>
            <a:r>
              <a:rPr lang="en-IN" sz="1800" b="0" i="0" u="none" strike="noStrike" baseline="0" dirty="0">
                <a:solidFill>
                  <a:srgbClr val="000000"/>
                </a:solidFill>
                <a:latin typeface="Times New Roman" panose="02020603050405020304" pitchFamily="18" charset="0"/>
              </a:rPr>
              <a:t>a. Propositional Logics </a:t>
            </a:r>
          </a:p>
          <a:p>
            <a:pPr marL="0" indent="0">
              <a:buNone/>
            </a:pPr>
            <a:r>
              <a:rPr lang="en-US" sz="1800" b="0" i="0" u="none" strike="noStrike" baseline="0" dirty="0">
                <a:solidFill>
                  <a:srgbClr val="000000"/>
                </a:solidFill>
                <a:latin typeface="Times New Roman" panose="02020603050405020304" pitchFamily="18" charset="0"/>
              </a:rPr>
              <a:t>b. Predicate logics </a:t>
            </a:r>
          </a:p>
          <a:p>
            <a:pPr marL="0" indent="0">
              <a:buNone/>
            </a:pPr>
            <a:r>
              <a:rPr lang="en-IN" sz="1800" b="0" i="0" u="none" strike="noStrike" baseline="0" dirty="0">
                <a:solidFill>
                  <a:srgbClr val="000000"/>
                </a:solidFill>
                <a:latin typeface="Times New Roman" panose="02020603050405020304" pitchFamily="18" charset="0"/>
              </a:rPr>
              <a:t>Advantages of logical representation: </a:t>
            </a:r>
            <a:endParaRPr lang="en-US"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1. Logical representation enables us to do logical reasoning. </a:t>
            </a:r>
          </a:p>
          <a:p>
            <a:pPr marL="0" indent="0">
              <a:buNone/>
            </a:pPr>
            <a:r>
              <a:rPr lang="en-US" sz="1800" b="0" i="0" u="none" strike="noStrike" baseline="0" dirty="0">
                <a:solidFill>
                  <a:srgbClr val="000000"/>
                </a:solidFill>
                <a:latin typeface="Times New Roman" panose="02020603050405020304" pitchFamily="18" charset="0"/>
              </a:rPr>
              <a:t>2. Logical representation is the basis for the programming languages.</a:t>
            </a:r>
          </a:p>
          <a:p>
            <a:pPr marL="0" indent="0">
              <a:buNone/>
            </a:pPr>
            <a:r>
              <a:rPr lang="en-US" sz="1800" b="0" i="0" u="none" strike="noStrike" baseline="0" dirty="0">
                <a:solidFill>
                  <a:srgbClr val="000000"/>
                </a:solidFill>
                <a:latin typeface="Times New Roman" panose="02020603050405020304" pitchFamily="18" charset="0"/>
              </a:rPr>
              <a:t> Disadvantages of logical Representation: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1. Logical representations have some restrictions and are challenging to work with. </a:t>
            </a:r>
          </a:p>
          <a:p>
            <a:pPr marL="0" indent="0">
              <a:buNone/>
            </a:pPr>
            <a:r>
              <a:rPr lang="en-US" sz="1800" b="0" i="0" u="none" strike="noStrike" baseline="0" dirty="0">
                <a:solidFill>
                  <a:srgbClr val="000000"/>
                </a:solidFill>
                <a:latin typeface="Times New Roman" panose="02020603050405020304" pitchFamily="18" charset="0"/>
              </a:rPr>
              <a:t>2. Logical representation technique may not be very natural, and inference may not be so efficient. </a:t>
            </a:r>
          </a:p>
          <a:p>
            <a:endParaRPr lang="en-IN" dirty="0"/>
          </a:p>
        </p:txBody>
      </p:sp>
      <p:sp>
        <p:nvSpPr>
          <p:cNvPr id="4" name="Slide Number Placeholder 3">
            <a:extLst>
              <a:ext uri="{FF2B5EF4-FFF2-40B4-BE49-F238E27FC236}">
                <a16:creationId xmlns:a16="http://schemas.microsoft.com/office/drawing/2014/main" id="{4E064A9F-A007-E255-25C5-9D1E22824B64}"/>
              </a:ext>
            </a:extLst>
          </p:cNvPr>
          <p:cNvSpPr>
            <a:spLocks noGrp="1"/>
          </p:cNvSpPr>
          <p:nvPr>
            <p:ph type="sldNum" sz="quarter" idx="12"/>
          </p:nvPr>
        </p:nvSpPr>
        <p:spPr/>
        <p:txBody>
          <a:bodyPr/>
          <a:lstStyle/>
          <a:p>
            <a:fld id="{9324F709-037B-4F0A-AFFB-BDF7B109B9BB}" type="slidenum">
              <a:rPr lang="en-IN" smtClean="0"/>
              <a:t>15</a:t>
            </a:fld>
            <a:endParaRPr lang="en-IN"/>
          </a:p>
        </p:txBody>
      </p:sp>
    </p:spTree>
    <p:extLst>
      <p:ext uri="{BB962C8B-B14F-4D97-AF65-F5344CB8AC3E}">
        <p14:creationId xmlns:p14="http://schemas.microsoft.com/office/powerpoint/2010/main" val="906649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CC1D9-18D6-7EE0-BC10-F16350F9D9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6DFF3F-347A-9F49-7D7B-8C1593D095E0}"/>
              </a:ext>
            </a:extLst>
          </p:cNvPr>
          <p:cNvSpPr>
            <a:spLocks noGrp="1"/>
          </p:cNvSpPr>
          <p:nvPr>
            <p:ph idx="1"/>
          </p:nvPr>
        </p:nvSpPr>
        <p:spPr/>
        <p:txBody>
          <a:bodyPr>
            <a:normAutofit/>
          </a:bodyPr>
          <a:lstStyle/>
          <a:p>
            <a:pPr marL="0" indent="0">
              <a:buNone/>
            </a:pPr>
            <a:r>
              <a:rPr lang="en-IN" sz="1800" b="1" i="0" u="none" strike="noStrike" baseline="0" dirty="0">
                <a:solidFill>
                  <a:srgbClr val="000000"/>
                </a:solidFill>
                <a:latin typeface="Times New Roman" panose="02020603050405020304" pitchFamily="18" charset="0"/>
              </a:rPr>
              <a:t>2. Semantic Network Representation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Semantic networks are alternative of predicate logic for knowledge representation. In Semantic networks, we can represent our knowledge in the form of graphical networks. </a:t>
            </a:r>
          </a:p>
          <a:p>
            <a:pPr marL="0" indent="0">
              <a:buNone/>
            </a:pPr>
            <a:r>
              <a:rPr lang="en-US" sz="1800" b="0" i="0" u="none" strike="noStrike" baseline="0" dirty="0">
                <a:solidFill>
                  <a:srgbClr val="000000"/>
                </a:solidFill>
                <a:latin typeface="Times New Roman" panose="02020603050405020304" pitchFamily="18" charset="0"/>
              </a:rPr>
              <a:t>This network consists of nodes representing objects and arcs which describe the relationship between those objects.</a:t>
            </a:r>
          </a:p>
          <a:p>
            <a:pPr marL="0" indent="0">
              <a:buNone/>
            </a:pPr>
            <a:r>
              <a:rPr lang="en-US" sz="1800" b="0" i="0" u="none" strike="noStrike" baseline="0" dirty="0">
                <a:solidFill>
                  <a:srgbClr val="000000"/>
                </a:solidFill>
                <a:latin typeface="Times New Roman" panose="02020603050405020304" pitchFamily="18" charset="0"/>
              </a:rPr>
              <a:t>Semantic networks can categorize the object in different forms and can also link those objects. Semantic networks are easy to understand and can be easily extended. </a:t>
            </a:r>
          </a:p>
          <a:p>
            <a:pPr marL="0" indent="0">
              <a:buNone/>
            </a:pPr>
            <a:r>
              <a:rPr lang="en-US" sz="1800" b="0" i="0" u="none" strike="noStrike" baseline="0" dirty="0">
                <a:solidFill>
                  <a:srgbClr val="000000"/>
                </a:solidFill>
                <a:latin typeface="Times New Roman" panose="02020603050405020304" pitchFamily="18" charset="0"/>
              </a:rPr>
              <a:t>This representation consists of mainly two types of relations: </a:t>
            </a:r>
            <a:endParaRPr lang="en-IN" sz="1800" b="0" i="0" u="none" strike="noStrike" baseline="0" dirty="0">
              <a:solidFill>
                <a:srgbClr val="000000"/>
              </a:solidFill>
              <a:latin typeface="Times New Roman" panose="02020603050405020304" pitchFamily="18" charset="0"/>
            </a:endParaRPr>
          </a:p>
          <a:p>
            <a:pPr marL="0" indent="0">
              <a:buNone/>
            </a:pPr>
            <a:r>
              <a:rPr lang="en-IN" sz="1800" b="0" i="0" u="none" strike="noStrike" baseline="0" dirty="0">
                <a:solidFill>
                  <a:srgbClr val="000000"/>
                </a:solidFill>
                <a:latin typeface="Times New Roman" panose="02020603050405020304" pitchFamily="18" charset="0"/>
              </a:rPr>
              <a:t>a. IS-A relation (Inheritance) </a:t>
            </a:r>
          </a:p>
          <a:p>
            <a:pPr marL="0" indent="0">
              <a:buNone/>
            </a:pPr>
            <a:r>
              <a:rPr lang="en-IN" sz="1800" b="0" i="0" u="none" strike="noStrike" baseline="0" dirty="0">
                <a:solidFill>
                  <a:srgbClr val="000000"/>
                </a:solidFill>
                <a:latin typeface="Times New Roman" panose="02020603050405020304" pitchFamily="18" charset="0"/>
              </a:rPr>
              <a:t>b. Kind-of-relation </a:t>
            </a:r>
          </a:p>
          <a:p>
            <a:endParaRPr lang="en-IN" dirty="0"/>
          </a:p>
        </p:txBody>
      </p:sp>
      <p:sp>
        <p:nvSpPr>
          <p:cNvPr id="4" name="Slide Number Placeholder 3">
            <a:extLst>
              <a:ext uri="{FF2B5EF4-FFF2-40B4-BE49-F238E27FC236}">
                <a16:creationId xmlns:a16="http://schemas.microsoft.com/office/drawing/2014/main" id="{6108D7F2-36CC-729F-7B6D-4D6035BF6AF6}"/>
              </a:ext>
            </a:extLst>
          </p:cNvPr>
          <p:cNvSpPr>
            <a:spLocks noGrp="1"/>
          </p:cNvSpPr>
          <p:nvPr>
            <p:ph type="sldNum" sz="quarter" idx="12"/>
          </p:nvPr>
        </p:nvSpPr>
        <p:spPr/>
        <p:txBody>
          <a:bodyPr/>
          <a:lstStyle/>
          <a:p>
            <a:fld id="{9324F709-037B-4F0A-AFFB-BDF7B109B9BB}" type="slidenum">
              <a:rPr lang="en-IN" smtClean="0"/>
              <a:t>16</a:t>
            </a:fld>
            <a:endParaRPr lang="en-IN"/>
          </a:p>
        </p:txBody>
      </p:sp>
    </p:spTree>
    <p:extLst>
      <p:ext uri="{BB962C8B-B14F-4D97-AF65-F5344CB8AC3E}">
        <p14:creationId xmlns:p14="http://schemas.microsoft.com/office/powerpoint/2010/main" val="1866031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067D8-D816-DB78-96AC-41A3B057FE4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8DFB782-522D-AFA2-BC64-FB8BFFF2041F}"/>
              </a:ext>
            </a:extLst>
          </p:cNvPr>
          <p:cNvSpPr>
            <a:spLocks noGrp="1"/>
          </p:cNvSpPr>
          <p:nvPr>
            <p:ph idx="1"/>
          </p:nvPr>
        </p:nvSpPr>
        <p:spPr>
          <a:xfrm>
            <a:off x="2589212" y="2133600"/>
            <a:ext cx="8915400" cy="4100290"/>
          </a:xfrm>
        </p:spPr>
        <p:txBody>
          <a:bodyPr>
            <a:normAutofit lnSpcReduction="10000"/>
          </a:bodyPr>
          <a:lstStyle/>
          <a:p>
            <a:r>
              <a:rPr lang="en-US" sz="1800" b="1" i="0" u="none" strike="noStrike" baseline="0" dirty="0">
                <a:solidFill>
                  <a:srgbClr val="000000"/>
                </a:solidFill>
                <a:latin typeface="Times New Roman" panose="02020603050405020304" pitchFamily="18" charset="0"/>
              </a:rPr>
              <a:t>Example: </a:t>
            </a:r>
            <a:r>
              <a:rPr lang="en-US" sz="1800" b="0" i="0" u="none" strike="noStrike" baseline="0" dirty="0">
                <a:solidFill>
                  <a:srgbClr val="000000"/>
                </a:solidFill>
                <a:latin typeface="Times New Roman" panose="02020603050405020304" pitchFamily="18" charset="0"/>
              </a:rPr>
              <a:t>Following are some statements which we need to represent in the form of nodes and arcs. </a:t>
            </a:r>
            <a:endParaRPr lang="en-IN" dirty="0"/>
          </a:p>
          <a:p>
            <a:pPr marL="0" indent="0" algn="l">
              <a:buNone/>
            </a:pPr>
            <a:r>
              <a:rPr lang="en-IN" sz="1800" b="0" i="0" u="none" strike="noStrike" baseline="0" dirty="0">
                <a:latin typeface="Times New Roman" panose="02020603050405020304" pitchFamily="18" charset="0"/>
              </a:rPr>
              <a:t>Statements:</a:t>
            </a:r>
          </a:p>
          <a:p>
            <a:pPr marL="0" indent="0" algn="l">
              <a:buNone/>
            </a:pPr>
            <a:r>
              <a:rPr lang="en-US" sz="1800" b="0" i="0" u="none" strike="noStrike" baseline="0" dirty="0">
                <a:latin typeface="Times New Roman" panose="02020603050405020304" pitchFamily="18" charset="0"/>
              </a:rPr>
              <a:t>a. Jerry is a cat.</a:t>
            </a:r>
          </a:p>
          <a:p>
            <a:pPr marL="0" indent="0" algn="l">
              <a:buNone/>
            </a:pPr>
            <a:r>
              <a:rPr lang="en-US" sz="1800" b="0" i="0" u="none" strike="noStrike" baseline="0" dirty="0">
                <a:latin typeface="Times New Roman" panose="02020603050405020304" pitchFamily="18" charset="0"/>
              </a:rPr>
              <a:t>b. Jerry is a mammal</a:t>
            </a:r>
          </a:p>
          <a:p>
            <a:pPr marL="0" indent="0" algn="l">
              <a:buNone/>
            </a:pPr>
            <a:r>
              <a:rPr lang="en-US" sz="1800" b="0" i="0" u="none" strike="noStrike" baseline="0" dirty="0">
                <a:latin typeface="Times New Roman" panose="02020603050405020304" pitchFamily="18" charset="0"/>
              </a:rPr>
              <a:t>c. Jerry is owned by Priya.</a:t>
            </a:r>
          </a:p>
          <a:p>
            <a:pPr marL="0" indent="0" algn="l">
              <a:buNone/>
            </a:pPr>
            <a:r>
              <a:rPr lang="en-US" sz="1800" b="0" i="0" u="none" strike="noStrike" baseline="0" dirty="0">
                <a:latin typeface="Times New Roman" panose="02020603050405020304" pitchFamily="18" charset="0"/>
              </a:rPr>
              <a:t>d. Jerry is brown colored.</a:t>
            </a:r>
          </a:p>
          <a:p>
            <a:pPr marL="0" indent="0" algn="l">
              <a:buNone/>
            </a:pPr>
            <a:r>
              <a:rPr lang="en-US" sz="1800" b="0" i="0" u="none" strike="noStrike" baseline="0" dirty="0">
                <a:latin typeface="Times New Roman" panose="02020603050405020304" pitchFamily="18" charset="0"/>
              </a:rPr>
              <a:t>e. All Mammals are animal.</a:t>
            </a:r>
          </a:p>
          <a:p>
            <a:pPr marL="0" indent="0" algn="l">
              <a:buNone/>
            </a:pPr>
            <a:endParaRPr lang="en-US" sz="1800" b="0" i="0" u="none" strike="noStrike" baseline="0" dirty="0">
              <a:latin typeface="Times New Roman" panose="02020603050405020304" pitchFamily="18" charset="0"/>
            </a:endParaRPr>
          </a:p>
          <a:p>
            <a:pPr marL="0" indent="0" algn="l">
              <a:buNone/>
            </a:pPr>
            <a:r>
              <a:rPr lang="en-US" sz="1800" b="0" i="0" u="none" strike="noStrike" baseline="0" dirty="0">
                <a:latin typeface="Times New Roman" panose="02020603050405020304" pitchFamily="18" charset="0"/>
              </a:rPr>
              <a:t>In the above diagram, we have represented the different type of knowledge in the form of nodes and arcs. Each object is connected with another object by some relation.</a:t>
            </a:r>
            <a:endParaRPr lang="en-IN" dirty="0"/>
          </a:p>
        </p:txBody>
      </p:sp>
      <p:pic>
        <p:nvPicPr>
          <p:cNvPr id="5" name="Picture 4">
            <a:extLst>
              <a:ext uri="{FF2B5EF4-FFF2-40B4-BE49-F238E27FC236}">
                <a16:creationId xmlns:a16="http://schemas.microsoft.com/office/drawing/2014/main" id="{F29F02BD-9A21-BD91-E34B-2E09783ADD4C}"/>
              </a:ext>
            </a:extLst>
          </p:cNvPr>
          <p:cNvPicPr>
            <a:picLocks noChangeAspect="1"/>
          </p:cNvPicPr>
          <p:nvPr/>
        </p:nvPicPr>
        <p:blipFill>
          <a:blip r:embed="rId2"/>
          <a:stretch>
            <a:fillRect/>
          </a:stretch>
        </p:blipFill>
        <p:spPr>
          <a:xfrm>
            <a:off x="6108880" y="2565918"/>
            <a:ext cx="4947896" cy="2504022"/>
          </a:xfrm>
          <a:prstGeom prst="rect">
            <a:avLst/>
          </a:prstGeom>
        </p:spPr>
      </p:pic>
      <p:sp>
        <p:nvSpPr>
          <p:cNvPr id="4" name="Slide Number Placeholder 3">
            <a:extLst>
              <a:ext uri="{FF2B5EF4-FFF2-40B4-BE49-F238E27FC236}">
                <a16:creationId xmlns:a16="http://schemas.microsoft.com/office/drawing/2014/main" id="{C52C8EDC-A3CB-3A8C-3761-536FC03A7E60}"/>
              </a:ext>
            </a:extLst>
          </p:cNvPr>
          <p:cNvSpPr>
            <a:spLocks noGrp="1"/>
          </p:cNvSpPr>
          <p:nvPr>
            <p:ph type="sldNum" sz="quarter" idx="12"/>
          </p:nvPr>
        </p:nvSpPr>
        <p:spPr/>
        <p:txBody>
          <a:bodyPr/>
          <a:lstStyle/>
          <a:p>
            <a:fld id="{9324F709-037B-4F0A-AFFB-BDF7B109B9BB}" type="slidenum">
              <a:rPr lang="en-IN" smtClean="0"/>
              <a:t>17</a:t>
            </a:fld>
            <a:endParaRPr lang="en-IN"/>
          </a:p>
        </p:txBody>
      </p:sp>
    </p:spTree>
    <p:extLst>
      <p:ext uri="{BB962C8B-B14F-4D97-AF65-F5344CB8AC3E}">
        <p14:creationId xmlns:p14="http://schemas.microsoft.com/office/powerpoint/2010/main" val="526518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63B47-EA97-3CEA-A902-539FDCDB20A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B95F37-B09E-4921-E430-F10BD33968B7}"/>
              </a:ext>
            </a:extLst>
          </p:cNvPr>
          <p:cNvSpPr>
            <a:spLocks noGrp="1"/>
          </p:cNvSpPr>
          <p:nvPr>
            <p:ph idx="1"/>
          </p:nvPr>
        </p:nvSpPr>
        <p:spPr/>
        <p:txBody>
          <a:bodyPr>
            <a:normAutofit fontScale="77500" lnSpcReduction="20000"/>
          </a:bodyPr>
          <a:lstStyle/>
          <a:p>
            <a:pPr marL="0" indent="0" algn="l">
              <a:buNone/>
            </a:pPr>
            <a:r>
              <a:rPr lang="en-IN" sz="1800" b="1" i="0" u="none" strike="noStrike" baseline="0" dirty="0">
                <a:latin typeface="Times New Roman" panose="02020603050405020304" pitchFamily="18" charset="0"/>
              </a:rPr>
              <a:t>Drawbacks in Semantic representation:</a:t>
            </a:r>
          </a:p>
          <a:p>
            <a:pPr algn="l"/>
            <a:r>
              <a:rPr lang="en-US" sz="1800" b="0" i="0" u="none" strike="noStrike" baseline="0" dirty="0">
                <a:latin typeface="Times New Roman" panose="02020603050405020304" pitchFamily="18" charset="0"/>
              </a:rPr>
              <a:t>Semantic networks take more computational time at runtime as we need to traverse the complete network tree to answer some questions. It might be possible in the worst case scenario that after traversing the entire tree, we find that the solution does not exist in this network.</a:t>
            </a:r>
          </a:p>
          <a:p>
            <a:pPr algn="l"/>
            <a:r>
              <a:rPr lang="en-US" sz="1800" b="0" i="0" u="none" strike="noStrike" baseline="0" dirty="0">
                <a:latin typeface="Times New Roman" panose="02020603050405020304" pitchFamily="18" charset="0"/>
              </a:rPr>
              <a:t>Semantic networks try to model human-like memory (Which has 1015 neurons and links) to store the information, but in practice, it is not possible to build such a vast semantic network.</a:t>
            </a:r>
          </a:p>
          <a:p>
            <a:pPr algn="l"/>
            <a:r>
              <a:rPr lang="en-US" sz="1800" b="0" i="0" u="none" strike="noStrike" baseline="0" dirty="0">
                <a:latin typeface="Times New Roman" panose="02020603050405020304" pitchFamily="18" charset="0"/>
              </a:rPr>
              <a:t>These types of representations are inadequate as they do not have any equivalent quantifier, e.g., for all, for some, none, etc.</a:t>
            </a:r>
          </a:p>
          <a:p>
            <a:pPr algn="l"/>
            <a:r>
              <a:rPr lang="en-US" sz="1800" b="0" i="0" u="none" strike="noStrike" baseline="0" dirty="0">
                <a:latin typeface="Times New Roman" panose="02020603050405020304" pitchFamily="18" charset="0"/>
              </a:rPr>
              <a:t>Semantic networks do not have any standard definition for the link names.</a:t>
            </a:r>
          </a:p>
          <a:p>
            <a:pPr algn="l"/>
            <a:r>
              <a:rPr lang="en-US" sz="1800" b="0" i="0" u="none" strike="noStrike" baseline="0" dirty="0">
                <a:latin typeface="Times New Roman" panose="02020603050405020304" pitchFamily="18" charset="0"/>
              </a:rPr>
              <a:t>These networks are not intelligent and depend on the creator of the system. </a:t>
            </a:r>
          </a:p>
          <a:p>
            <a:pPr marL="0" indent="0" algn="l">
              <a:buNone/>
            </a:pPr>
            <a:r>
              <a:rPr lang="en-US" sz="1800" b="1" i="0" u="none" strike="noStrike" baseline="0" dirty="0">
                <a:latin typeface="Times New Roman" panose="02020603050405020304" pitchFamily="18" charset="0"/>
              </a:rPr>
              <a:t>Advantages of Semantic network:</a:t>
            </a:r>
          </a:p>
          <a:p>
            <a:pPr algn="l"/>
            <a:r>
              <a:rPr lang="en-US" sz="1800" b="0" i="0" u="none" strike="noStrike" baseline="0" dirty="0">
                <a:latin typeface="Times New Roman" panose="02020603050405020304" pitchFamily="18" charset="0"/>
              </a:rPr>
              <a:t>Semantic networks are a natural representation of knowledge.</a:t>
            </a:r>
          </a:p>
          <a:p>
            <a:pPr algn="l"/>
            <a:r>
              <a:rPr lang="en-US" sz="1800" b="0" i="0" u="none" strike="noStrike" baseline="0" dirty="0">
                <a:latin typeface="Times New Roman" panose="02020603050405020304" pitchFamily="18" charset="0"/>
              </a:rPr>
              <a:t>Semantic networks convey meaning in a transparent manner.</a:t>
            </a:r>
          </a:p>
          <a:p>
            <a:pPr algn="l"/>
            <a:r>
              <a:rPr lang="en-US" sz="1800" b="0" i="0" u="none" strike="noStrike" baseline="0" dirty="0">
                <a:latin typeface="Times New Roman" panose="02020603050405020304" pitchFamily="18" charset="0"/>
              </a:rPr>
              <a:t>These networks are simple and easily understandable.</a:t>
            </a:r>
            <a:endParaRPr lang="en-IN" dirty="0"/>
          </a:p>
        </p:txBody>
      </p:sp>
      <p:sp>
        <p:nvSpPr>
          <p:cNvPr id="4" name="Slide Number Placeholder 3">
            <a:extLst>
              <a:ext uri="{FF2B5EF4-FFF2-40B4-BE49-F238E27FC236}">
                <a16:creationId xmlns:a16="http://schemas.microsoft.com/office/drawing/2014/main" id="{0851C72F-85FA-DBCD-4CE9-02EEF65FD3E0}"/>
              </a:ext>
            </a:extLst>
          </p:cNvPr>
          <p:cNvSpPr>
            <a:spLocks noGrp="1"/>
          </p:cNvSpPr>
          <p:nvPr>
            <p:ph type="sldNum" sz="quarter" idx="12"/>
          </p:nvPr>
        </p:nvSpPr>
        <p:spPr/>
        <p:txBody>
          <a:bodyPr/>
          <a:lstStyle/>
          <a:p>
            <a:fld id="{9324F709-037B-4F0A-AFFB-BDF7B109B9BB}" type="slidenum">
              <a:rPr lang="en-IN" smtClean="0"/>
              <a:t>18</a:t>
            </a:fld>
            <a:endParaRPr lang="en-IN"/>
          </a:p>
        </p:txBody>
      </p:sp>
    </p:spTree>
    <p:extLst>
      <p:ext uri="{BB962C8B-B14F-4D97-AF65-F5344CB8AC3E}">
        <p14:creationId xmlns:p14="http://schemas.microsoft.com/office/powerpoint/2010/main" val="3723135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5A89-1DE3-9B4C-E6E7-667BEE1833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6AA39C-360B-4EF2-3759-5176D812541A}"/>
              </a:ext>
            </a:extLst>
          </p:cNvPr>
          <p:cNvSpPr>
            <a:spLocks noGrp="1"/>
          </p:cNvSpPr>
          <p:nvPr>
            <p:ph idx="1"/>
          </p:nvPr>
        </p:nvSpPr>
        <p:spPr>
          <a:xfrm>
            <a:off x="2589212" y="2133600"/>
            <a:ext cx="8915400" cy="4100290"/>
          </a:xfrm>
        </p:spPr>
        <p:txBody>
          <a:bodyPr>
            <a:normAutofit fontScale="92500" lnSpcReduction="20000"/>
          </a:bodyPr>
          <a:lstStyle/>
          <a:p>
            <a:pPr marL="0" indent="0" algn="l">
              <a:buNone/>
            </a:pPr>
            <a:r>
              <a:rPr lang="en-IN" sz="1800" b="1" i="0" u="none" strike="noStrike" baseline="0" dirty="0">
                <a:latin typeface="Times New Roman" panose="02020603050405020304" pitchFamily="18" charset="0"/>
              </a:rPr>
              <a:t>3. Frame Representation</a:t>
            </a:r>
          </a:p>
          <a:p>
            <a:pPr marL="0" indent="0" algn="l">
              <a:buNone/>
            </a:pPr>
            <a:r>
              <a:rPr lang="en-US" sz="1800" b="0" i="0" u="none" strike="noStrike" baseline="0" dirty="0">
                <a:latin typeface="Times New Roman" panose="02020603050405020304" pitchFamily="18" charset="0"/>
              </a:rPr>
              <a:t>A frame is a record like structure which consists of a collection of attributes and its values to describe an entity in the world. Frames are the AI data structure which divides knowledge into substructures by representing stereotypes situations. It consists of a collection of slots and slot values. These slots may be of any type and sizes. Slots have names and values which are called facets.</a:t>
            </a:r>
          </a:p>
          <a:p>
            <a:pPr marL="0" indent="0" algn="l">
              <a:buNone/>
            </a:pPr>
            <a:r>
              <a:rPr lang="en-US" sz="1800" b="1" i="0" u="none" strike="noStrike" baseline="0" dirty="0">
                <a:latin typeface="Times New Roman" panose="02020603050405020304" pitchFamily="18" charset="0"/>
              </a:rPr>
              <a:t>Facets: </a:t>
            </a:r>
            <a:r>
              <a:rPr lang="en-US" sz="1800" b="0" i="0" u="none" strike="noStrike" baseline="0" dirty="0">
                <a:latin typeface="Times New Roman" panose="02020603050405020304" pitchFamily="18" charset="0"/>
              </a:rPr>
              <a:t>The various aspects of a slot is known as </a:t>
            </a:r>
            <a:r>
              <a:rPr lang="en-US" sz="1800" b="1" i="0" u="none" strike="noStrike" baseline="0" dirty="0">
                <a:latin typeface="Times New Roman" panose="02020603050405020304" pitchFamily="18" charset="0"/>
              </a:rPr>
              <a:t>Facets</a:t>
            </a:r>
            <a:r>
              <a:rPr lang="en-US" sz="1800" b="0" i="0" u="none" strike="noStrike" baseline="0" dirty="0">
                <a:latin typeface="Times New Roman" panose="02020603050405020304" pitchFamily="18" charset="0"/>
              </a:rPr>
              <a:t>. Facets are features of frames which enable us to put constraints on the frames. Example: IF-NEEDED facts are called when data of any particular slot is needed. A frame may consist of any number of slots, and a slot may include any number of facets and facets may have any number of values.</a:t>
            </a:r>
          </a:p>
          <a:p>
            <a:pPr marL="0" indent="0" algn="l">
              <a:buNone/>
            </a:pPr>
            <a:r>
              <a:rPr lang="en-US" sz="1800" b="0" i="0" u="none" strike="noStrike" baseline="0" dirty="0">
                <a:latin typeface="Times New Roman" panose="02020603050405020304" pitchFamily="18" charset="0"/>
              </a:rPr>
              <a:t>A frame is also known as </a:t>
            </a:r>
            <a:r>
              <a:rPr lang="en-US" sz="1800" b="1" i="0" u="none" strike="noStrike" baseline="0" dirty="0">
                <a:latin typeface="Times New Roman" panose="02020603050405020304" pitchFamily="18" charset="0"/>
              </a:rPr>
              <a:t>slot-filter knowledge representation </a:t>
            </a:r>
            <a:r>
              <a:rPr lang="en-US" sz="1800" b="0" i="0" u="none" strike="noStrike" baseline="0" dirty="0">
                <a:latin typeface="Times New Roman" panose="02020603050405020304" pitchFamily="18" charset="0"/>
              </a:rPr>
              <a:t>in artificial intelligence. Frames are derived from semantic networks and later evolved into our modern-day classes and objects. A single frame is not much useful. Frames system consists of a collection of frames which are connected. In the frame, knowledge about an object or event can be stored together in the knowledge base. The frame is a type of technology which is widely used in various applications including Natural language processing and machine visions.</a:t>
            </a:r>
            <a:endParaRPr lang="en-IN" dirty="0"/>
          </a:p>
        </p:txBody>
      </p:sp>
      <p:sp>
        <p:nvSpPr>
          <p:cNvPr id="4" name="Slide Number Placeholder 3">
            <a:extLst>
              <a:ext uri="{FF2B5EF4-FFF2-40B4-BE49-F238E27FC236}">
                <a16:creationId xmlns:a16="http://schemas.microsoft.com/office/drawing/2014/main" id="{2163EE52-12AF-1C2D-C307-561F3AC16F4E}"/>
              </a:ext>
            </a:extLst>
          </p:cNvPr>
          <p:cNvSpPr>
            <a:spLocks noGrp="1"/>
          </p:cNvSpPr>
          <p:nvPr>
            <p:ph type="sldNum" sz="quarter" idx="12"/>
          </p:nvPr>
        </p:nvSpPr>
        <p:spPr/>
        <p:txBody>
          <a:bodyPr/>
          <a:lstStyle/>
          <a:p>
            <a:fld id="{9324F709-037B-4F0A-AFFB-BDF7B109B9BB}" type="slidenum">
              <a:rPr lang="en-IN" smtClean="0"/>
              <a:t>19</a:t>
            </a:fld>
            <a:endParaRPr lang="en-IN"/>
          </a:p>
        </p:txBody>
      </p:sp>
    </p:spTree>
    <p:extLst>
      <p:ext uri="{BB962C8B-B14F-4D97-AF65-F5344CB8AC3E}">
        <p14:creationId xmlns:p14="http://schemas.microsoft.com/office/powerpoint/2010/main" val="2034101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A4C257-23CF-CD87-C46A-85964D425689}"/>
              </a:ext>
            </a:extLst>
          </p:cNvPr>
          <p:cNvSpPr>
            <a:spLocks noGrp="1"/>
          </p:cNvSpPr>
          <p:nvPr>
            <p:ph idx="1"/>
          </p:nvPr>
        </p:nvSpPr>
        <p:spPr>
          <a:xfrm>
            <a:off x="2589212" y="457200"/>
            <a:ext cx="8915400" cy="6092890"/>
          </a:xfrm>
        </p:spPr>
        <p:txBody>
          <a:bodyPr>
            <a:normAutofit fontScale="85000" lnSpcReduction="10000"/>
          </a:bodyPr>
          <a:lstStyle/>
          <a:p>
            <a:pPr marL="0" indent="0" algn="l">
              <a:buNone/>
            </a:pPr>
            <a:r>
              <a:rPr lang="en-IN" sz="1800" b="0" i="0" u="none" strike="noStrike" baseline="0" dirty="0">
                <a:latin typeface="Times New Roman" panose="02020603050405020304" pitchFamily="18" charset="0"/>
              </a:rPr>
              <a:t>Example: </a:t>
            </a:r>
          </a:p>
          <a:p>
            <a:pPr marL="0" indent="0" algn="l">
              <a:buNone/>
            </a:pPr>
            <a:r>
              <a:rPr lang="en-US" sz="1800" b="0" i="0" u="none" strike="noStrike" baseline="0" dirty="0">
                <a:latin typeface="Times New Roman" panose="02020603050405020304" pitchFamily="18" charset="0"/>
              </a:rPr>
              <a:t>Let's take an example of a frame for a book</a:t>
            </a:r>
          </a:p>
          <a:p>
            <a:pPr marL="0" indent="0" algn="l">
              <a:buNone/>
            </a:pPr>
            <a:endParaRPr lang="en-US" dirty="0">
              <a:latin typeface="Times New Roman" panose="02020603050405020304" pitchFamily="18" charset="0"/>
            </a:endParaRPr>
          </a:p>
          <a:p>
            <a:pPr marL="0" indent="0" algn="l">
              <a:buNone/>
            </a:pPr>
            <a:endParaRPr lang="en-US" sz="1800" b="0" i="0" u="none" strike="noStrike" baseline="0" dirty="0">
              <a:latin typeface="Times New Roman" panose="02020603050405020304" pitchFamily="18" charset="0"/>
            </a:endParaRPr>
          </a:p>
          <a:p>
            <a:pPr marL="0" indent="0" algn="l">
              <a:buNone/>
            </a:pPr>
            <a:endParaRPr lang="en-US" dirty="0">
              <a:latin typeface="Times New Roman" panose="02020603050405020304" pitchFamily="18" charset="0"/>
            </a:endParaRPr>
          </a:p>
          <a:p>
            <a:pPr marL="0" indent="0" algn="l">
              <a:buNone/>
            </a:pPr>
            <a:endParaRPr lang="en-US" sz="1800" b="0" i="0" u="none" strike="noStrike" baseline="0" dirty="0">
              <a:latin typeface="Times New Roman" panose="02020603050405020304" pitchFamily="18" charset="0"/>
            </a:endParaRPr>
          </a:p>
          <a:p>
            <a:pPr marL="0" indent="0" algn="l">
              <a:buNone/>
            </a:pPr>
            <a:endParaRPr lang="en-US" dirty="0">
              <a:latin typeface="Times New Roman" panose="02020603050405020304" pitchFamily="18" charset="0"/>
            </a:endParaRPr>
          </a:p>
          <a:p>
            <a:pPr marL="0" indent="0" algn="l">
              <a:buNone/>
            </a:pPr>
            <a:endParaRPr lang="en-US" sz="1800" b="0" i="0" u="none" strike="noStrike" baseline="0" dirty="0">
              <a:latin typeface="Times New Roman" panose="02020603050405020304" pitchFamily="18" charset="0"/>
            </a:endParaRPr>
          </a:p>
          <a:p>
            <a:pPr marL="0" indent="0">
              <a:buNone/>
            </a:pPr>
            <a:r>
              <a:rPr lang="en-IN" sz="1800" b="1" i="0" u="none" strike="noStrike" baseline="0" dirty="0">
                <a:solidFill>
                  <a:srgbClr val="000000"/>
                </a:solidFill>
                <a:latin typeface="Times New Roman" panose="02020603050405020304" pitchFamily="18" charset="0"/>
              </a:rPr>
              <a:t>Advantages of frame representation: </a:t>
            </a:r>
            <a:endParaRPr lang="en-US" sz="1800" b="1" i="0" u="none" strike="noStrike" baseline="0" dirty="0">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The frame knowledge representation makes the programming easier by grouping the related data.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The frame representation is comparably flexible and used by many applications in AI.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is very easy to add slots for new attribute and relations.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It is easy to include default data and to search for missing values.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Frame representation is easy to understand and visualize. </a:t>
            </a:r>
          </a:p>
          <a:p>
            <a:pPr marL="0" indent="0">
              <a:buNone/>
            </a:pPr>
            <a:r>
              <a:rPr lang="en-US" sz="1800" b="1" i="0" u="none" strike="noStrike" baseline="0" dirty="0">
                <a:solidFill>
                  <a:srgbClr val="000000"/>
                </a:solidFill>
                <a:latin typeface="Times New Roman" panose="02020603050405020304" pitchFamily="18" charset="0"/>
              </a:rPr>
              <a:t>Disadvantages of frame representation: </a:t>
            </a:r>
            <a:endParaRPr lang="en-US" sz="1800" b="1"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In frame system inference mechanism is not be easily processed.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Inference mechanism cannot be smoothly preceded by frame representation.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Frame representation has a much generalized approach.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pPr marL="0" indent="0" algn="l">
              <a:buNone/>
            </a:pPr>
            <a:endParaRPr lang="en-IN" dirty="0"/>
          </a:p>
        </p:txBody>
      </p:sp>
      <p:pic>
        <p:nvPicPr>
          <p:cNvPr id="5" name="Picture 4">
            <a:extLst>
              <a:ext uri="{FF2B5EF4-FFF2-40B4-BE49-F238E27FC236}">
                <a16:creationId xmlns:a16="http://schemas.microsoft.com/office/drawing/2014/main" id="{ABDF1A4A-8502-FAD9-15ED-EC33C31AAD33}"/>
              </a:ext>
            </a:extLst>
          </p:cNvPr>
          <p:cNvPicPr>
            <a:picLocks noChangeAspect="1"/>
          </p:cNvPicPr>
          <p:nvPr/>
        </p:nvPicPr>
        <p:blipFill>
          <a:blip r:embed="rId2"/>
          <a:stretch>
            <a:fillRect/>
          </a:stretch>
        </p:blipFill>
        <p:spPr>
          <a:xfrm>
            <a:off x="2673508" y="1068360"/>
            <a:ext cx="5854675" cy="2120826"/>
          </a:xfrm>
          <a:prstGeom prst="rect">
            <a:avLst/>
          </a:prstGeom>
        </p:spPr>
      </p:pic>
      <p:sp>
        <p:nvSpPr>
          <p:cNvPr id="2" name="Slide Number Placeholder 1">
            <a:extLst>
              <a:ext uri="{FF2B5EF4-FFF2-40B4-BE49-F238E27FC236}">
                <a16:creationId xmlns:a16="http://schemas.microsoft.com/office/drawing/2014/main" id="{7C70C9A4-9DA5-282C-DF0E-ADC4CF3C47B5}"/>
              </a:ext>
            </a:extLst>
          </p:cNvPr>
          <p:cNvSpPr>
            <a:spLocks noGrp="1"/>
          </p:cNvSpPr>
          <p:nvPr>
            <p:ph type="sldNum" sz="quarter" idx="12"/>
          </p:nvPr>
        </p:nvSpPr>
        <p:spPr/>
        <p:txBody>
          <a:bodyPr/>
          <a:lstStyle/>
          <a:p>
            <a:fld id="{9324F709-037B-4F0A-AFFB-BDF7B109B9BB}" type="slidenum">
              <a:rPr lang="en-IN" smtClean="0"/>
              <a:t>20</a:t>
            </a:fld>
            <a:endParaRPr lang="en-IN"/>
          </a:p>
        </p:txBody>
      </p:sp>
    </p:spTree>
    <p:extLst>
      <p:ext uri="{BB962C8B-B14F-4D97-AF65-F5344CB8AC3E}">
        <p14:creationId xmlns:p14="http://schemas.microsoft.com/office/powerpoint/2010/main" val="3108729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F9F3EF-CB88-A6C5-7E94-B9BCE3E1F1F3}"/>
              </a:ext>
            </a:extLst>
          </p:cNvPr>
          <p:cNvSpPr>
            <a:spLocks noGrp="1"/>
          </p:cNvSpPr>
          <p:nvPr>
            <p:ph idx="1"/>
          </p:nvPr>
        </p:nvSpPr>
        <p:spPr>
          <a:xfrm>
            <a:off x="2589212" y="783771"/>
            <a:ext cx="8915400" cy="5477070"/>
          </a:xfrm>
        </p:spPr>
        <p:txBody>
          <a:bodyPr>
            <a:normAutofit fontScale="92500" lnSpcReduction="20000"/>
          </a:bodyPr>
          <a:lstStyle/>
          <a:p>
            <a:pPr marL="0" indent="0">
              <a:buNone/>
            </a:pPr>
            <a:r>
              <a:rPr lang="en-IN" sz="1800" b="1" i="0" u="none" strike="noStrike" baseline="0" dirty="0">
                <a:solidFill>
                  <a:srgbClr val="000000"/>
                </a:solidFill>
                <a:latin typeface="Times New Roman" panose="02020603050405020304" pitchFamily="18" charset="0"/>
              </a:rPr>
              <a:t>4. Production Rules </a:t>
            </a:r>
            <a:endParaRPr lang="en-IN"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Production rules system consist of (</a:t>
            </a:r>
            <a:r>
              <a:rPr lang="en-US" sz="1800" b="1" i="0" u="none" strike="noStrike" baseline="0" dirty="0">
                <a:solidFill>
                  <a:srgbClr val="000000"/>
                </a:solidFill>
                <a:latin typeface="Times New Roman" panose="02020603050405020304" pitchFamily="18" charset="0"/>
              </a:rPr>
              <a:t>condition, action</a:t>
            </a:r>
            <a:r>
              <a:rPr lang="en-US" sz="1800" b="0" i="0" u="none" strike="noStrike" baseline="0" dirty="0">
                <a:solidFill>
                  <a:srgbClr val="000000"/>
                </a:solidFill>
                <a:latin typeface="Times New Roman" panose="02020603050405020304" pitchFamily="18" charset="0"/>
              </a:rPr>
              <a:t>) pairs which mean, "If condition then action". It has mainly three parts:</a:t>
            </a:r>
            <a:endParaRPr lang="en-IN"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The set of production rules </a:t>
            </a:r>
            <a:endParaRPr lang="en-US" sz="1800" b="0" i="0" u="none" strike="noStrike" baseline="0" dirty="0">
              <a:solidFill>
                <a:srgbClr val="000000"/>
              </a:solidFill>
              <a:latin typeface="Wingdings" panose="05000000000000000000" pitchFamily="2" charset="2"/>
            </a:endParaRPr>
          </a:p>
          <a:p>
            <a:r>
              <a:rPr lang="en-IN" sz="1800" b="0" i="0" u="none" strike="noStrike" baseline="0" dirty="0">
                <a:solidFill>
                  <a:srgbClr val="000000"/>
                </a:solidFill>
                <a:latin typeface="Times New Roman" panose="02020603050405020304" pitchFamily="18" charset="0"/>
              </a:rPr>
              <a:t>Working Memory </a:t>
            </a:r>
            <a:endParaRPr lang="en-IN" sz="1800" b="0" i="0" u="none" strike="noStrike" baseline="0" dirty="0">
              <a:solidFill>
                <a:srgbClr val="000000"/>
              </a:solidFill>
              <a:latin typeface="Wingdings" panose="05000000000000000000" pitchFamily="2" charset="2"/>
            </a:endParaRPr>
          </a:p>
          <a:p>
            <a:r>
              <a:rPr lang="en-IN" sz="1800" b="0" i="0" u="none" strike="noStrike" baseline="0" dirty="0">
                <a:solidFill>
                  <a:srgbClr val="000000"/>
                </a:solidFill>
                <a:latin typeface="Times New Roman" panose="02020603050405020304" pitchFamily="18" charset="0"/>
              </a:rPr>
              <a:t>The recognize-act-cycle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In production rules agent checks for the condition and if the condition exists then production rule fires and corresponding action is carried out. The condition part of the rule determines which rule may be applied to a problem. And the action part carries out the associated problem-solving steps. This complete process is called a recognize-act cycle. The working memory contains the description of the current state of problems-solving and rule can write knowledge to the working memory. This knowledge match and may fire other rules. If there is a new situation (state) generates, then multiple production rules will be fired together, this is called conflict set. In this situation, the agent needs to select a rule from these sets, and it is called a conflict resolution. </a:t>
            </a:r>
            <a:endParaRPr lang="en-US" sz="1800" b="0" i="0" u="none" strike="noStrike" baseline="0" dirty="0">
              <a:solidFill>
                <a:srgbClr val="000000"/>
              </a:solidFill>
              <a:latin typeface="Wingdings" panose="05000000000000000000" pitchFamily="2" charset="2"/>
            </a:endParaRPr>
          </a:p>
          <a:p>
            <a:pPr marL="0" indent="0">
              <a:buNone/>
            </a:pPr>
            <a:r>
              <a:rPr lang="en-IN" sz="1800" b="0" i="0" u="none" strike="noStrike" baseline="0" dirty="0">
                <a:solidFill>
                  <a:srgbClr val="000000"/>
                </a:solidFill>
                <a:latin typeface="Times New Roman" panose="02020603050405020304" pitchFamily="18" charset="0"/>
              </a:rPr>
              <a:t>Example: </a:t>
            </a:r>
          </a:p>
          <a:p>
            <a:r>
              <a:rPr lang="en-US" sz="1800" b="1" i="0" u="none" strike="noStrike" baseline="0" dirty="0">
                <a:solidFill>
                  <a:srgbClr val="000000"/>
                </a:solidFill>
                <a:latin typeface="Times New Roman" panose="02020603050405020304" pitchFamily="18" charset="0"/>
              </a:rPr>
              <a:t>IF (at bus stop AND bus arrives) THEN action (get into the bus) </a:t>
            </a:r>
          </a:p>
          <a:p>
            <a:r>
              <a:rPr lang="en-US" sz="1800" b="1" i="0" u="none" strike="noStrike" baseline="0" dirty="0">
                <a:solidFill>
                  <a:srgbClr val="000000"/>
                </a:solidFill>
                <a:latin typeface="Times New Roman" panose="02020603050405020304" pitchFamily="18" charset="0"/>
              </a:rPr>
              <a:t>IF (on the bus AND paid AND empty seat) THEN action (sit down).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IF (on bus AND unpaid) THEN action (pay charges). </a:t>
            </a:r>
          </a:p>
          <a:p>
            <a:r>
              <a:rPr lang="en-US" sz="1800" b="1" i="0" u="none" strike="noStrike" baseline="0" dirty="0">
                <a:solidFill>
                  <a:srgbClr val="000000"/>
                </a:solidFill>
                <a:latin typeface="Times New Roman" panose="02020603050405020304" pitchFamily="18" charset="0"/>
              </a:rPr>
              <a:t>IF (bus arrives at destination) THEN action (get down from the bus). </a:t>
            </a:r>
            <a:endParaRPr lang="en-US" sz="1800" b="0" i="0" u="none" strike="noStrike" baseline="0" dirty="0">
              <a:solidFill>
                <a:srgbClr val="000000"/>
              </a:solidFill>
              <a:latin typeface="Wingdings" panose="05000000000000000000" pitchFamily="2" charset="2"/>
            </a:endParaRPr>
          </a:p>
          <a:p>
            <a:endParaRPr lang="en-IN" dirty="0"/>
          </a:p>
        </p:txBody>
      </p:sp>
      <p:sp>
        <p:nvSpPr>
          <p:cNvPr id="2" name="Slide Number Placeholder 1">
            <a:extLst>
              <a:ext uri="{FF2B5EF4-FFF2-40B4-BE49-F238E27FC236}">
                <a16:creationId xmlns:a16="http://schemas.microsoft.com/office/drawing/2014/main" id="{83BA494E-581C-FBA7-226E-01DCB4015726}"/>
              </a:ext>
            </a:extLst>
          </p:cNvPr>
          <p:cNvSpPr>
            <a:spLocks noGrp="1"/>
          </p:cNvSpPr>
          <p:nvPr>
            <p:ph type="sldNum" sz="quarter" idx="12"/>
          </p:nvPr>
        </p:nvSpPr>
        <p:spPr/>
        <p:txBody>
          <a:bodyPr/>
          <a:lstStyle/>
          <a:p>
            <a:fld id="{9324F709-037B-4F0A-AFFB-BDF7B109B9BB}" type="slidenum">
              <a:rPr lang="en-IN" smtClean="0"/>
              <a:t>21</a:t>
            </a:fld>
            <a:endParaRPr lang="en-IN"/>
          </a:p>
        </p:txBody>
      </p:sp>
    </p:spTree>
    <p:extLst>
      <p:ext uri="{BB962C8B-B14F-4D97-AF65-F5344CB8AC3E}">
        <p14:creationId xmlns:p14="http://schemas.microsoft.com/office/powerpoint/2010/main" val="3456842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B35AD-68AC-E1AB-6950-C91F88B2F6FD}"/>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B31C8182-68F8-BD9D-838F-A35D536C2AF7}"/>
              </a:ext>
            </a:extLst>
          </p:cNvPr>
          <p:cNvPicPr>
            <a:picLocks noGrp="1" noChangeAspect="1"/>
          </p:cNvPicPr>
          <p:nvPr>
            <p:ph idx="1"/>
          </p:nvPr>
        </p:nvPicPr>
        <p:blipFill>
          <a:blip r:embed="rId2"/>
          <a:stretch>
            <a:fillRect/>
          </a:stretch>
        </p:blipFill>
        <p:spPr>
          <a:xfrm>
            <a:off x="2436769" y="2127380"/>
            <a:ext cx="9207835" cy="3956179"/>
          </a:xfrm>
        </p:spPr>
      </p:pic>
      <p:sp>
        <p:nvSpPr>
          <p:cNvPr id="4" name="Slide Number Placeholder 3">
            <a:extLst>
              <a:ext uri="{FF2B5EF4-FFF2-40B4-BE49-F238E27FC236}">
                <a16:creationId xmlns:a16="http://schemas.microsoft.com/office/drawing/2014/main" id="{7E0B2D86-02E0-02A5-76DB-A15AA293D69B}"/>
              </a:ext>
            </a:extLst>
          </p:cNvPr>
          <p:cNvSpPr>
            <a:spLocks noGrp="1"/>
          </p:cNvSpPr>
          <p:nvPr>
            <p:ph type="sldNum" sz="quarter" idx="12"/>
          </p:nvPr>
        </p:nvSpPr>
        <p:spPr/>
        <p:txBody>
          <a:bodyPr/>
          <a:lstStyle/>
          <a:p>
            <a:fld id="{9324F709-037B-4F0A-AFFB-BDF7B109B9BB}" type="slidenum">
              <a:rPr lang="en-IN" smtClean="0"/>
              <a:t>22</a:t>
            </a:fld>
            <a:endParaRPr lang="en-IN"/>
          </a:p>
        </p:txBody>
      </p:sp>
    </p:spTree>
    <p:extLst>
      <p:ext uri="{BB962C8B-B14F-4D97-AF65-F5344CB8AC3E}">
        <p14:creationId xmlns:p14="http://schemas.microsoft.com/office/powerpoint/2010/main" val="1411724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E5125C-7468-E448-E114-F2E217D8B746}"/>
              </a:ext>
            </a:extLst>
          </p:cNvPr>
          <p:cNvSpPr>
            <a:spLocks noGrp="1"/>
          </p:cNvSpPr>
          <p:nvPr>
            <p:ph idx="1"/>
          </p:nvPr>
        </p:nvSpPr>
        <p:spPr>
          <a:xfrm>
            <a:off x="2589212" y="1427584"/>
            <a:ext cx="8915400" cy="4483638"/>
          </a:xfrm>
        </p:spPr>
        <p:txBody>
          <a:bodyPr/>
          <a:lstStyle/>
          <a:p>
            <a:endParaRPr lang="en-IN" dirty="0"/>
          </a:p>
          <a:p>
            <a:endParaRPr lang="en-IN" dirty="0"/>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24A86588-402F-DA27-7133-75CFD24191DB}"/>
              </a:ext>
            </a:extLst>
          </p:cNvPr>
          <p:cNvSpPr>
            <a:spLocks noGrp="1"/>
          </p:cNvSpPr>
          <p:nvPr>
            <p:ph type="sldNum" sz="quarter" idx="12"/>
          </p:nvPr>
        </p:nvSpPr>
        <p:spPr/>
        <p:txBody>
          <a:bodyPr/>
          <a:lstStyle/>
          <a:p>
            <a:fld id="{9324F709-037B-4F0A-AFFB-BDF7B109B9BB}" type="slidenum">
              <a:rPr lang="en-IN" smtClean="0"/>
              <a:t>23</a:t>
            </a:fld>
            <a:endParaRPr lang="en-IN"/>
          </a:p>
        </p:txBody>
      </p:sp>
      <p:sp>
        <p:nvSpPr>
          <p:cNvPr id="5" name="Rectangle 4">
            <a:extLst>
              <a:ext uri="{FF2B5EF4-FFF2-40B4-BE49-F238E27FC236}">
                <a16:creationId xmlns:a16="http://schemas.microsoft.com/office/drawing/2014/main" id="{5CDBDA5B-4D9A-AEAC-31D1-6104DC626E96}"/>
              </a:ext>
            </a:extLst>
          </p:cNvPr>
          <p:cNvSpPr/>
          <p:nvPr/>
        </p:nvSpPr>
        <p:spPr>
          <a:xfrm>
            <a:off x="3082420" y="3032650"/>
            <a:ext cx="7053534" cy="1569660"/>
          </a:xfrm>
          <a:prstGeom prst="rect">
            <a:avLst/>
          </a:prstGeom>
          <a:noFill/>
        </p:spPr>
        <p:txBody>
          <a:bodyPr wrap="none" lIns="91440" tIns="45720" rIns="91440" bIns="45720">
            <a:spAutoFit/>
          </a:bodyPr>
          <a:lstStyle/>
          <a:p>
            <a:pPr algn="ctr"/>
            <a:r>
              <a:rPr lang="en-US" sz="96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360903200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1819</TotalTime>
  <Words>2948</Words>
  <Application>Microsoft Office PowerPoint</Application>
  <PresentationFormat>Widescreen</PresentationFormat>
  <Paragraphs>226</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Cambria Math</vt:lpstr>
      <vt:lpstr>Century Gothic</vt:lpstr>
      <vt:lpstr>Times</vt:lpstr>
      <vt:lpstr>Times New Roman</vt:lpstr>
      <vt:lpstr>Wingdings</vt:lpstr>
      <vt:lpstr>Wingdings 3</vt:lpstr>
      <vt:lpstr>Wisp</vt:lpstr>
      <vt:lpstr>Artificial Intelligence </vt:lpstr>
      <vt:lpstr>KNOWLEDGE  </vt:lpstr>
      <vt:lpstr> Knowledge-Base </vt:lpstr>
      <vt:lpstr>Operations Performed by KBA  </vt:lpstr>
      <vt:lpstr>Types of knowledge </vt:lpstr>
      <vt:lpstr>PowerPoint Presentation</vt:lpstr>
      <vt:lpstr>Relation between knowledge and intelligence  </vt:lpstr>
      <vt:lpstr>Representations and Mappings  </vt:lpstr>
      <vt:lpstr>Mapping between Facts and Representation </vt:lpstr>
      <vt:lpstr>Approaches to knowledge representation  </vt:lpstr>
      <vt:lpstr>PowerPoint Presentation</vt:lpstr>
      <vt:lpstr>PowerPoint Presentation</vt:lpstr>
      <vt:lpstr>PowerPoint Presentation</vt:lpstr>
      <vt:lpstr> Requirements for knowledge Representation system  </vt:lpstr>
      <vt:lpstr>Techniques of knowledge representation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Bidush</dc:creator>
  <cp:lastModifiedBy>Bidush</cp:lastModifiedBy>
  <cp:revision>24</cp:revision>
  <dcterms:created xsi:type="dcterms:W3CDTF">2022-08-26T12:24:36Z</dcterms:created>
  <dcterms:modified xsi:type="dcterms:W3CDTF">2022-09-16T10:39:33Z</dcterms:modified>
</cp:coreProperties>
</file>