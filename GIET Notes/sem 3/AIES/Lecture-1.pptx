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Lst>
  <p:notesMasterIdLst>
    <p:notesMasterId r:id="rId36"/>
  </p:notesMasterIdLst>
  <p:sldIdLst>
    <p:sldId id="256" r:id="rId2"/>
    <p:sldId id="257"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97" r:id="rId20"/>
    <p:sldId id="298" r:id="rId21"/>
    <p:sldId id="299" r:id="rId22"/>
    <p:sldId id="300" r:id="rId23"/>
    <p:sldId id="279" r:id="rId24"/>
    <p:sldId id="301" r:id="rId25"/>
    <p:sldId id="302" r:id="rId26"/>
    <p:sldId id="303" r:id="rId27"/>
    <p:sldId id="304" r:id="rId28"/>
    <p:sldId id="305" r:id="rId29"/>
    <p:sldId id="306" r:id="rId30"/>
    <p:sldId id="280" r:id="rId31"/>
    <p:sldId id="281" r:id="rId32"/>
    <p:sldId id="282" r:id="rId33"/>
    <p:sldId id="283" r:id="rId34"/>
    <p:sldId id="295" r:id="rId35"/>
  </p:sldIdLst>
  <p:sldSz cx="9144000" cy="6858000" type="screen4x3"/>
  <p:notesSz cx="6858000" cy="9144000"/>
  <p:embeddedFontLst>
    <p:embeddedFont>
      <p:font typeface="Montserrat" panose="00000500000000000000" pitchFamily="2"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7"/>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685800" y="4343400"/>
            <a:ext cx="5484812" cy="41132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notes"/>
          <p:cNvSpPr txBox="1">
            <a:spLocks noGrp="1"/>
          </p:cNvSpPr>
          <p:nvPr>
            <p:ph type="body" idx="1"/>
          </p:nvPr>
        </p:nvSpPr>
        <p:spPr>
          <a:xfrm>
            <a:off x="685800" y="4343400"/>
            <a:ext cx="5484812" cy="4113212"/>
          </a:xfrm>
          <a:prstGeom prst="rect">
            <a:avLst/>
          </a:prstGeom>
          <a:noFill/>
          <a:ln>
            <a:noFill/>
          </a:ln>
        </p:spPr>
        <p:txBody>
          <a:bodyPr spcFirstLastPara="1" wrap="square" lIns="80150" tIns="80150" rIns="80150" bIns="8015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1: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54" name="Google Shape;154;p7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2" name="Google Shape;172;p7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7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81" name="Google Shape;181;p7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8:notes"/>
          <p:cNvSpPr txBox="1">
            <a:spLocks noGrp="1"/>
          </p:cNvSpPr>
          <p:nvPr>
            <p:ph type="body" idx="1"/>
          </p:nvPr>
        </p:nvSpPr>
        <p:spPr>
          <a:xfrm>
            <a:off x="685800" y="4343400"/>
            <a:ext cx="5484812" cy="4113212"/>
          </a:xfrm>
          <a:prstGeom prst="rect">
            <a:avLst/>
          </a:prstGeom>
          <a:noFill/>
          <a:ln>
            <a:noFill/>
          </a:ln>
        </p:spPr>
        <p:txBody>
          <a:bodyPr spcFirstLastPara="1" wrap="square" lIns="80150" tIns="80150" rIns="80150" bIns="8015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78: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04" name="Google Shape;204;p7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3" name="Google Shape;213;p8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31" name="Google Shape;231;p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8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40" name="Google Shape;240;p8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49" name="Google Shape;249;p8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58" name="Google Shape;258;p8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69" name="Google Shape;269;p8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8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78" name="Google Shape;278;p8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8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87" name="Google Shape;287;p8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8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95" name="Google Shape;295;p8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8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04" name="Google Shape;304;p8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9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13" name="Google Shape;313;p9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9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22" name="Google Shape;322;p9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985F5B9D-FDEF-0054-6EF0-69AE2AD30150}"/>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4FA74899-06AD-607D-9893-7979C20E96F3}"/>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67FD1DC0-EB91-76E4-87C2-53F101664FF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2400292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FCB3B07-D1E2-311E-5D02-AE415C6D2293}"/>
            </a:ext>
          </a:extLst>
        </p:cNvPr>
        <p:cNvGrpSpPr/>
        <p:nvPr/>
      </p:nvGrpSpPr>
      <p:grpSpPr>
        <a:xfrm>
          <a:off x="0" y="0"/>
          <a:ext cx="0" cy="0"/>
          <a:chOff x="0" y="0"/>
          <a:chExt cx="0" cy="0"/>
        </a:xfrm>
      </p:grpSpPr>
      <p:sp>
        <p:nvSpPr>
          <p:cNvPr id="171" name="Google Shape;171;p76:notes">
            <a:extLst>
              <a:ext uri="{FF2B5EF4-FFF2-40B4-BE49-F238E27FC236}">
                <a16:creationId xmlns:a16="http://schemas.microsoft.com/office/drawing/2014/main" id="{EBB7EFE5-3079-1074-7261-CB4B28903691}"/>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2" name="Google Shape;172;p76:notes">
            <a:extLst>
              <a:ext uri="{FF2B5EF4-FFF2-40B4-BE49-F238E27FC236}">
                <a16:creationId xmlns:a16="http://schemas.microsoft.com/office/drawing/2014/main" id="{D5F573A3-84E4-E1D0-26CD-65FA5B47FC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558869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9D910C9-B759-ED1E-5880-7540305E3601}"/>
            </a:ext>
          </a:extLst>
        </p:cNvPr>
        <p:cNvGrpSpPr/>
        <p:nvPr/>
      </p:nvGrpSpPr>
      <p:grpSpPr>
        <a:xfrm>
          <a:off x="0" y="0"/>
          <a:ext cx="0" cy="0"/>
          <a:chOff x="0" y="0"/>
          <a:chExt cx="0" cy="0"/>
        </a:xfrm>
      </p:grpSpPr>
      <p:sp>
        <p:nvSpPr>
          <p:cNvPr id="171" name="Google Shape;171;p76:notes">
            <a:extLst>
              <a:ext uri="{FF2B5EF4-FFF2-40B4-BE49-F238E27FC236}">
                <a16:creationId xmlns:a16="http://schemas.microsoft.com/office/drawing/2014/main" id="{38477D94-8DA2-7170-673B-D6E25124DB34}"/>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2" name="Google Shape;172;p76:notes">
            <a:extLst>
              <a:ext uri="{FF2B5EF4-FFF2-40B4-BE49-F238E27FC236}">
                <a16:creationId xmlns:a16="http://schemas.microsoft.com/office/drawing/2014/main" id="{D463D374-7C3B-A2DC-A7F9-619F8A4ECF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80723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822EB9D2-20EA-58A3-0D62-32C7B025917C}"/>
            </a:ext>
          </a:extLst>
        </p:cNvPr>
        <p:cNvGrpSpPr/>
        <p:nvPr/>
      </p:nvGrpSpPr>
      <p:grpSpPr>
        <a:xfrm>
          <a:off x="0" y="0"/>
          <a:ext cx="0" cy="0"/>
          <a:chOff x="0" y="0"/>
          <a:chExt cx="0" cy="0"/>
        </a:xfrm>
      </p:grpSpPr>
      <p:sp>
        <p:nvSpPr>
          <p:cNvPr id="171" name="Google Shape;171;p76:notes">
            <a:extLst>
              <a:ext uri="{FF2B5EF4-FFF2-40B4-BE49-F238E27FC236}">
                <a16:creationId xmlns:a16="http://schemas.microsoft.com/office/drawing/2014/main" id="{151AD426-0653-F5CF-FE31-E7BF3673EDB0}"/>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2" name="Google Shape;172;p76:notes">
            <a:extLst>
              <a:ext uri="{FF2B5EF4-FFF2-40B4-BE49-F238E27FC236}">
                <a16:creationId xmlns:a16="http://schemas.microsoft.com/office/drawing/2014/main" id="{1D8F5572-E3E6-F86C-1B56-94EDA81F8D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3707870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9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4C916A4F-9B58-0118-D106-06902F0BC1D9}"/>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B5E78A06-BDEE-2C63-6EA4-584D8F47E3A1}"/>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0ED1DEA8-E171-33E6-CE63-6CE2F1500D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13373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CBC60F61-AA8F-DBD0-BEE4-27CA164CD5C1}"/>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C020A16F-09A3-2305-A7C4-6290FC616651}"/>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A9A63995-6087-C2F8-6A9D-C1FF0F4B54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086392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5CB66B0E-78CD-8B15-EF00-456FDBC84D8E}"/>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9414ADFA-609F-8AB7-402D-86C038CB5ED7}"/>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25168BD5-A8E8-4CB0-F273-F594675BCB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021798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E43AD7FE-AB0A-5A2E-F745-90C9A80C0734}"/>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C188930F-F02E-2E95-DFD6-D2510FD71652}"/>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87179DFF-BE9B-D0A2-F755-496D36CB42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016257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28D45D7C-8312-EAEC-8FDE-A3B8A904F4C6}"/>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96DD6572-4931-1B7A-6FDA-E8EBEF17DCEA}"/>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13C24943-2A04-F658-EC40-B30EAF36C6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63685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09A1BD6E-4AE8-B6CB-D275-F394D66E60F9}"/>
            </a:ext>
          </a:extLst>
        </p:cNvPr>
        <p:cNvGrpSpPr/>
        <p:nvPr/>
      </p:nvGrpSpPr>
      <p:grpSpPr>
        <a:xfrm>
          <a:off x="0" y="0"/>
          <a:ext cx="0" cy="0"/>
          <a:chOff x="0" y="0"/>
          <a:chExt cx="0" cy="0"/>
        </a:xfrm>
      </p:grpSpPr>
      <p:sp>
        <p:nvSpPr>
          <p:cNvPr id="356" name="Google Shape;356;p95:notes">
            <a:extLst>
              <a:ext uri="{FF2B5EF4-FFF2-40B4-BE49-F238E27FC236}">
                <a16:creationId xmlns:a16="http://schemas.microsoft.com/office/drawing/2014/main" id="{84D7FF9B-7D51-788E-9F2F-684F9ECBB689}"/>
              </a:ext>
            </a:extLst>
          </p:cNvPr>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57" name="Google Shape;357;p95:notes">
            <a:extLst>
              <a:ext uri="{FF2B5EF4-FFF2-40B4-BE49-F238E27FC236}">
                <a16:creationId xmlns:a16="http://schemas.microsoft.com/office/drawing/2014/main" id="{357DDB1E-9B59-F0FB-5BC9-A228918C24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21198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9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66" name="Google Shape;366;p9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9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75" name="Google Shape;375;p9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9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84" name="Google Shape;384;p9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9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93" name="Google Shape;393;p9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6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521" name="Google Shape;521;p6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8921-C854-A9AB-97CB-B8D4D6B0172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881C621B-3500-A9A1-18A9-2AE53B838D4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1BD2F2-5E0F-DAE5-5C41-61A67A23A8C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D481B80-D909-0791-7175-E2378102EE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3179A8-9A9C-0EAA-A0B5-9E898AA626B5}"/>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98763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E367-CA45-2488-011B-6E3062791B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2F5C29-AEBB-1F68-A872-BB7A40FD2F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368A3-4D97-3F2E-7EFD-6AA86BD5496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A907736-7E70-6375-158D-F0B608854C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08402C-2D88-6267-3DA2-3451E48326DC}"/>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8130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E2F9E-A45C-15E2-E1EA-507C2034CCA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E7B0BC-89F4-6DD2-05AB-28ACE3FCB10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79904B-7A40-6353-C24E-946565D410C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98A3E7E-AF46-5F14-4224-29550379C1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CD3D8-2B9A-E2D2-0D83-A04A8A00B46C}"/>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952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85E3-00EE-021E-1644-253D0053CF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F7BF2E-F442-FBBE-2453-D0B9C7ED6D7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CE2684-38C9-F38B-0021-91336C39DB3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2FF28B-1170-CF89-83AA-A8AE79C36EE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1191B49-42DD-8781-835A-25566FFC5A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5C0AA5-371A-1C71-066A-16ABE69F2A47}"/>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30275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12E7-477B-381E-E83B-5A982693EF98}"/>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733960-75C0-2E73-4376-728206F3927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8180592-6214-3277-82DC-AC8CBE04F1C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A080D7-15F9-6428-AD43-A438717566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B3E42D7-BA1B-7C26-FDBF-61EA69B0ABD0}"/>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395363-D467-2055-494E-711EC8ED655A}"/>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CC83DA49-41E1-92B8-B3FA-C02493703E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3C38E8-FD40-E81F-B8B0-7BA779F802BA}"/>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3044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A8A18-F8F0-6DD7-1085-1D9457CE47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A8AE44-B7BE-857D-897B-5DDCFFAB186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5D5E3E2A-45BA-A718-CA6B-3C1C554824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2479EE-4CEE-5246-1557-01F6E40C3471}"/>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9085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B24DDE-8F91-6BB2-80B8-EBC6BCF74635}"/>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2C2F9D5-4703-076C-BF5A-072B050DBE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9B2F90-5580-C377-E205-FBCA01276AA0}"/>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0260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C5617-3085-1FCC-6004-C475B0A06F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999AAF-8CBF-4444-B82F-42DFA70459F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7C33BB-1BD4-7AF8-3C9A-075FC46CAC0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08A5D1-DFE7-08FD-0256-D90400F41CB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437C7F5-6D8E-00BE-8EE7-592A11D7B4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FC59F3-4459-E970-3147-0B77382C20BB}"/>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4073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E541-8A88-BBC8-DDF0-840BF7DCD00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B7F48D-3204-729B-412F-FC1A4AA0295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2C878AA2-C79E-D820-B24A-D48A1AB9DEB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CD58784-DD4B-116E-075F-3072EBAE9A6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B7D9D7F-90CB-3129-6A83-3435878CD8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62FB25-D9C8-711E-5C67-148A68106C2B}"/>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sz="1400"/>
          </a:p>
        </p:txBody>
      </p:sp>
    </p:spTree>
    <p:extLst>
      <p:ext uri="{BB962C8B-B14F-4D97-AF65-F5344CB8AC3E}">
        <p14:creationId xmlns:p14="http://schemas.microsoft.com/office/powerpoint/2010/main" val="17650642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AB090-473A-E436-A51C-EE16F3AE89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306A01-FCCE-884A-3258-1FEB2BA663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F1F6B3-5A1B-915F-48E6-AA3110BFA55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3647028-EED8-54B3-4927-2845755A6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327310-4456-DADC-8FDA-4786DA73C989}"/>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96939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BF3664-5649-89E1-AE6F-21C2E76FC67C}"/>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CBCCE3-C922-DC64-9726-4F264C4E7AC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2EEA3-7280-1810-E205-FEB3767BB2C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C372FFF-C19B-4B5F-06F3-AEAAD9E263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050607-DCF5-F008-5386-0212F3A3743A}"/>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25337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1_Picture with Caption">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792288" y="4800600"/>
            <a:ext cx="5486400" cy="566738"/>
          </a:xfrm>
          <a:prstGeom prst="rect">
            <a:avLst/>
          </a:prstGeom>
          <a:noFill/>
          <a:ln>
            <a:noFill/>
          </a:ln>
        </p:spPr>
        <p:txBody>
          <a:bodyPr spcFirstLastPara="1" wrap="square" lIns="90000" tIns="46800" rIns="90000" bIns="468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 name="Google Shape;85;p5"/>
          <p:cNvSpPr>
            <a:spLocks noGrp="1"/>
          </p:cNvSpPr>
          <p:nvPr>
            <p:ph type="pic" idx="2"/>
          </p:nvPr>
        </p:nvSpPr>
        <p:spPr>
          <a:xfrm>
            <a:off x="1792288" y="612775"/>
            <a:ext cx="5486400" cy="4114800"/>
          </a:xfrm>
          <a:prstGeom prst="rect">
            <a:avLst/>
          </a:prstGeom>
          <a:noFill/>
          <a:ln>
            <a:noFill/>
          </a:ln>
        </p:spPr>
      </p:sp>
      <p:sp>
        <p:nvSpPr>
          <p:cNvPr id="86" name="Google Shape;86;p5"/>
          <p:cNvSpPr txBox="1">
            <a:spLocks noGrp="1"/>
          </p:cNvSpPr>
          <p:nvPr>
            <p:ph type="body" idx="1"/>
          </p:nvPr>
        </p:nvSpPr>
        <p:spPr>
          <a:xfrm>
            <a:off x="1792288" y="5367338"/>
            <a:ext cx="5486400" cy="804862"/>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800"/>
              </a:spcBef>
              <a:spcAft>
                <a:spcPts val="0"/>
              </a:spcAft>
              <a:buSzPts val="1400"/>
              <a:buNone/>
              <a:defRPr sz="1400"/>
            </a:lvl1pPr>
            <a:lvl2pPr marL="914400" lvl="1" indent="-228600" algn="l">
              <a:lnSpc>
                <a:spcPct val="100000"/>
              </a:lnSpc>
              <a:spcBef>
                <a:spcPts val="7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500"/>
              </a:spcBef>
              <a:spcAft>
                <a:spcPts val="0"/>
              </a:spcAft>
              <a:buSzPts val="900"/>
              <a:buNone/>
              <a:defRPr sz="900"/>
            </a:lvl4pPr>
            <a:lvl5pPr marL="2286000" lvl="4" indent="-228600" algn="l">
              <a:lnSpc>
                <a:spcPct val="100000"/>
              </a:lnSpc>
              <a:spcBef>
                <a:spcPts val="500"/>
              </a:spcBef>
              <a:spcAft>
                <a:spcPts val="0"/>
              </a:spcAft>
              <a:buSzPts val="900"/>
              <a:buNone/>
              <a:defRPr sz="900"/>
            </a:lvl5pPr>
            <a:lvl6pPr marL="2743200" lvl="5" indent="-228600" algn="l">
              <a:lnSpc>
                <a:spcPct val="100000"/>
              </a:lnSpc>
              <a:spcBef>
                <a:spcPts val="500"/>
              </a:spcBef>
              <a:spcAft>
                <a:spcPts val="0"/>
              </a:spcAft>
              <a:buSzPts val="900"/>
              <a:buNone/>
              <a:defRPr sz="900"/>
            </a:lvl6pPr>
            <a:lvl7pPr marL="3200400" lvl="6" indent="-228600" algn="l">
              <a:lnSpc>
                <a:spcPct val="100000"/>
              </a:lnSpc>
              <a:spcBef>
                <a:spcPts val="500"/>
              </a:spcBef>
              <a:spcAft>
                <a:spcPts val="0"/>
              </a:spcAft>
              <a:buSzPts val="900"/>
              <a:buNone/>
              <a:defRPr sz="900"/>
            </a:lvl7pPr>
            <a:lvl8pPr marL="3657600" lvl="7" indent="-228600" algn="l">
              <a:lnSpc>
                <a:spcPct val="100000"/>
              </a:lnSpc>
              <a:spcBef>
                <a:spcPts val="500"/>
              </a:spcBef>
              <a:spcAft>
                <a:spcPts val="0"/>
              </a:spcAft>
              <a:buSzPts val="900"/>
              <a:buNone/>
              <a:defRPr sz="900"/>
            </a:lvl8pPr>
            <a:lvl9pPr marL="4114800" lvl="8" indent="-228600" algn="l">
              <a:lnSpc>
                <a:spcPct val="100000"/>
              </a:lnSpc>
              <a:spcBef>
                <a:spcPts val="500"/>
              </a:spcBef>
              <a:spcAft>
                <a:spcPts val="0"/>
              </a:spcAft>
              <a:buSzPts val="900"/>
              <a:buNone/>
              <a:defRPr sz="900"/>
            </a:lvl9pPr>
          </a:lstStyle>
          <a:p>
            <a:endParaRPr/>
          </a:p>
        </p:txBody>
      </p:sp>
      <p:sp>
        <p:nvSpPr>
          <p:cNvPr id="87" name="Google Shape;87;p5"/>
          <p:cNvSpPr txBox="1">
            <a:spLocks noGrp="1"/>
          </p:cNvSpPr>
          <p:nvPr>
            <p:ph type="dt" idx="10"/>
          </p:nvPr>
        </p:nvSpPr>
        <p:spPr>
          <a:xfrm>
            <a:off x="685800" y="6172200"/>
            <a:ext cx="1903412" cy="455612"/>
          </a:xfrm>
          <a:prstGeom prst="rect">
            <a:avLst/>
          </a:prstGeom>
          <a:noFill/>
          <a:ln>
            <a:noFill/>
          </a:ln>
        </p:spPr>
        <p:txBody>
          <a:bodyPr spcFirstLastPara="1" wrap="square" lIns="90000" tIns="46800" rIns="90000" bIns="468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5"/>
          <p:cNvSpPr txBox="1">
            <a:spLocks noGrp="1"/>
          </p:cNvSpPr>
          <p:nvPr>
            <p:ph type="ftr" idx="11"/>
          </p:nvPr>
        </p:nvSpPr>
        <p:spPr>
          <a:xfrm>
            <a:off x="3124200" y="6172200"/>
            <a:ext cx="2894012" cy="455612"/>
          </a:xfrm>
          <a:prstGeom prst="rect">
            <a:avLst/>
          </a:prstGeom>
          <a:noFill/>
          <a:ln>
            <a:noFill/>
          </a:ln>
        </p:spPr>
        <p:txBody>
          <a:bodyPr spcFirstLastPara="1" wrap="square" lIns="90000" tIns="46800" rIns="90000" bIns="468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5"/>
          <p:cNvSpPr txBox="1">
            <a:spLocks noGrp="1"/>
          </p:cNvSpPr>
          <p:nvPr>
            <p:ph type="sldNum" idx="12"/>
          </p:nvPr>
        </p:nvSpPr>
        <p:spPr>
          <a:xfrm>
            <a:off x="6553200" y="6172200"/>
            <a:ext cx="1903412" cy="455612"/>
          </a:xfrm>
          <a:prstGeom prst="rect">
            <a:avLst/>
          </a:prstGeom>
          <a:noFill/>
          <a:ln>
            <a:noFill/>
          </a:ln>
        </p:spPr>
        <p:txBody>
          <a:bodyPr spcFirstLastPara="1" wrap="square" lIns="90000" tIns="46800" rIns="90000" bIns="46800" anchor="b" anchorCtr="0">
            <a:noAutofit/>
          </a:bodyPr>
          <a:lstStyle>
            <a:lvl1pPr marL="0" marR="0" lvl="0"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93643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D35670-C063-9C6F-4CE1-EBA06BA8068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7703EC-2694-2A32-BA80-50B4057ABE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0085AB-3962-2C99-4941-975B3637847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215F0FF5-E13A-DD73-2600-3107FAA5604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1310E5-343A-5627-6385-2C5B761D287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l" rtl="0">
              <a:spcBef>
                <a:spcPts val="0"/>
              </a:spcBef>
              <a:spcAft>
                <a:spcPts val="0"/>
              </a:spcAft>
              <a:buNone/>
            </a:pPr>
            <a:fld id="{00000000-1234-1234-1234-123412341234}" type="slidenum">
              <a:rPr lang="en-US" smtClean="0"/>
              <a:t>‹#›</a:t>
            </a:fld>
            <a:endParaRPr lang="en-US" sz="1400"/>
          </a:p>
        </p:txBody>
      </p:sp>
    </p:spTree>
    <p:extLst>
      <p:ext uri="{BB962C8B-B14F-4D97-AF65-F5344CB8AC3E}">
        <p14:creationId xmlns:p14="http://schemas.microsoft.com/office/powerpoint/2010/main" val="296353111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cs.utexas.edu/~novak/cs381kcontent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nptel.ac.in/courses/106105077" TargetMode="External"/><Relationship Id="rId4" Type="http://schemas.openxmlformats.org/officeDocument/2006/relationships/hyperlink" Target="https://www.udacity.com/course/intro-to-artificial-intelligence--cs271"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mckinsey.com/industries/automotive-and-assembly/our-insights/self-driving-car-technology-when-will-the-robots-hit-the-road"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s://builtin.com/artificial-intelligence/ai-manufacturing-robots-automation"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3"/>
          <p:cNvSpPr txBox="1"/>
          <p:nvPr/>
        </p:nvSpPr>
        <p:spPr>
          <a:xfrm>
            <a:off x="214312" y="1000125"/>
            <a:ext cx="8569325" cy="1546225"/>
          </a:xfrm>
          <a:prstGeom prst="rect">
            <a:avLst/>
          </a:prstGeom>
          <a:noFill/>
          <a:ln>
            <a:noFill/>
          </a:ln>
        </p:spPr>
        <p:txBody>
          <a:bodyPr spcFirstLastPara="1" wrap="square" lIns="90000" tIns="33100" rIns="90000" bIns="450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42" name="Google Shape;142;p13"/>
          <p:cNvSpPr txBox="1"/>
          <p:nvPr/>
        </p:nvSpPr>
        <p:spPr>
          <a:xfrm>
            <a:off x="321469" y="2711450"/>
            <a:ext cx="8501062" cy="3916362"/>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43" name="Google Shape;143;p13"/>
          <p:cNvSpPr txBox="1"/>
          <p:nvPr/>
        </p:nvSpPr>
        <p:spPr>
          <a:xfrm>
            <a:off x="2286000" y="4068762"/>
            <a:ext cx="4284662" cy="73025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44" name="Google Shape;144;p13"/>
          <p:cNvSpPr txBox="1"/>
          <p:nvPr/>
        </p:nvSpPr>
        <p:spPr>
          <a:xfrm>
            <a:off x="2428875" y="4189412"/>
            <a:ext cx="4286250" cy="463550"/>
          </a:xfrm>
          <a:prstGeom prst="rect">
            <a:avLst/>
          </a:prstGeom>
          <a:noFill/>
          <a:ln>
            <a:noFill/>
          </a:ln>
        </p:spPr>
        <p:txBody>
          <a:bodyPr spcFirstLastPara="1" wrap="square" lIns="90000" tIns="45000" rIns="90000" bIns="45000" anchor="t" anchorCtr="0">
            <a:noAutofit/>
          </a:bodyPr>
          <a:lstStyle/>
          <a:p>
            <a:pPr marL="0" marR="0" lvl="0" indent="0" algn="ctr" rtl="0">
              <a:lnSpc>
                <a:spcPct val="150000"/>
              </a:lnSpc>
              <a:spcBef>
                <a:spcPts val="0"/>
              </a:spcBef>
              <a:spcAft>
                <a:spcPts val="0"/>
              </a:spcAft>
              <a:buClr>
                <a:schemeClr val="lt1"/>
              </a:buClr>
              <a:buSzPts val="2400"/>
              <a:buFont typeface="Arial"/>
              <a:buNone/>
            </a:pPr>
            <a:endParaRPr sz="24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chemeClr val="lt1"/>
              </a:buClr>
              <a:buSzPts val="2400"/>
              <a:buFont typeface="Arial"/>
              <a:buNone/>
            </a:pPr>
            <a:endParaRPr sz="24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chemeClr val="lt1"/>
              </a:buClr>
              <a:buSzPts val="2400"/>
              <a:buFont typeface="Calibri"/>
              <a:buNone/>
            </a:pPr>
            <a:r>
              <a:rPr lang="en-US" sz="2400" b="0" i="0" u="none" strike="noStrike" cap="none">
                <a:solidFill>
                  <a:schemeClr val="lt1"/>
                </a:solidFill>
                <a:latin typeface="Calibri"/>
                <a:ea typeface="Calibri"/>
                <a:cs typeface="Calibri"/>
                <a:sym typeface="Calibri"/>
              </a:rPr>
              <a:t> </a:t>
            </a:r>
            <a:r>
              <a:rPr lang="en-US" sz="2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45" name="Google Shape;145;p13"/>
          <p:cNvSpPr txBox="1"/>
          <p:nvPr/>
        </p:nvSpPr>
        <p:spPr>
          <a:xfrm>
            <a:off x="0" y="-4064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Welcome to the world of AI </a:t>
            </a:r>
            <a:endParaRPr sz="2400" b="0" i="0" u="none" strike="noStrike" cap="none">
              <a:solidFill>
                <a:schemeClr val="lt1"/>
              </a:solidFill>
              <a:latin typeface="Arial"/>
              <a:ea typeface="Arial"/>
              <a:cs typeface="Arial"/>
              <a:sym typeface="Arial"/>
            </a:endParaRPr>
          </a:p>
        </p:txBody>
      </p:sp>
      <p:sp>
        <p:nvSpPr>
          <p:cNvPr id="148" name="Google Shape;148;p13"/>
          <p:cNvSpPr txBox="1"/>
          <p:nvPr/>
        </p:nvSpPr>
        <p:spPr>
          <a:xfrm>
            <a:off x="1285931" y="1235711"/>
            <a:ext cx="6500700" cy="30777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6000"/>
              <a:buFont typeface="Times New Roman"/>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404176"/>
              </a:buClr>
              <a:buSzPts val="6000"/>
              <a:buFont typeface="Times New Roman"/>
              <a:buNone/>
            </a:pPr>
            <a:r>
              <a:rPr lang="en-US" sz="6000" b="1" i="0" u="none" strike="noStrike" cap="none" dirty="0">
                <a:solidFill>
                  <a:srgbClr val="404176"/>
                </a:solidFill>
                <a:latin typeface="Times New Roman"/>
                <a:ea typeface="Times New Roman"/>
                <a:cs typeface="Times New Roman"/>
                <a:sym typeface="Times New Roman"/>
              </a:rPr>
              <a:t>Artificial Intelligence &amp; Expert Systems</a:t>
            </a:r>
            <a:endParaRPr dirty="0"/>
          </a:p>
        </p:txBody>
      </p:sp>
      <p:sp>
        <p:nvSpPr>
          <p:cNvPr id="149" name="Google Shape;149;p13"/>
          <p:cNvSpPr txBox="1"/>
          <p:nvPr/>
        </p:nvSpPr>
        <p:spPr>
          <a:xfrm>
            <a:off x="0" y="6712582"/>
            <a:ext cx="9144000" cy="145417"/>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50" name="Google Shape;150;p13"/>
          <p:cNvSpPr txBox="1"/>
          <p:nvPr/>
        </p:nvSpPr>
        <p:spPr>
          <a:xfrm>
            <a:off x="3525379" y="5374632"/>
            <a:ext cx="5610509" cy="40006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20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Dr. </a:t>
            </a:r>
            <a:r>
              <a:rPr lang="en-US" sz="2000" dirty="0">
                <a:solidFill>
                  <a:schemeClr val="dk1"/>
                </a:solidFill>
                <a:latin typeface="Times New Roman" panose="02020603050405020304" pitchFamily="18" charset="0"/>
                <a:ea typeface="Arial"/>
                <a:cs typeface="Times New Roman" panose="02020603050405020304" pitchFamily="18" charset="0"/>
                <a:sym typeface="Arial"/>
              </a:rPr>
              <a:t>Bidush Kumar Sahoo</a:t>
            </a:r>
            <a:endParaRPr dirty="0">
              <a:latin typeface="Times New Roman" panose="02020603050405020304" pitchFamily="18" charset="0"/>
              <a:cs typeface="Times New Roman" panose="02020603050405020304" pitchFamily="18" charset="0"/>
            </a:endParaRPr>
          </a:p>
        </p:txBody>
      </p:sp>
      <p:sp>
        <p:nvSpPr>
          <p:cNvPr id="151" name="Google Shape;151;p13"/>
          <p:cNvSpPr txBox="1"/>
          <p:nvPr/>
        </p:nvSpPr>
        <p:spPr>
          <a:xfrm>
            <a:off x="3525671" y="5814398"/>
            <a:ext cx="5610509" cy="40006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20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GIET University, </a:t>
            </a:r>
            <a:r>
              <a:rPr lang="en-US" sz="2000" b="0"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Gunupur</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4"/>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342900" lvl="0" indent="-342900" algn="just" rtl="0">
              <a:lnSpc>
                <a:spcPct val="150000"/>
              </a:lnSpc>
              <a:spcBef>
                <a:spcPts val="800"/>
              </a:spcBef>
              <a:spcAft>
                <a:spcPts val="0"/>
              </a:spcAft>
              <a:buSzPts val="1400"/>
              <a:buFont typeface="Arial"/>
              <a:buAutoNum type="arabicPeriod"/>
            </a:pPr>
            <a:r>
              <a:rPr lang="en-US" sz="2000" b="1" dirty="0">
                <a:solidFill>
                  <a:schemeClr val="dk1"/>
                </a:solidFill>
                <a:latin typeface="Arial"/>
                <a:ea typeface="Arial"/>
                <a:cs typeface="Arial"/>
                <a:sym typeface="Arial"/>
              </a:rPr>
              <a:t>To describe the basic fundamental concepts of Artificial Intelligence, Agents, and Environment.</a:t>
            </a:r>
            <a:endParaRPr dirty="0"/>
          </a:p>
          <a:p>
            <a:pPr marL="342900" lvl="0" indent="-342900" algn="just" rtl="0">
              <a:lnSpc>
                <a:spcPct val="150000"/>
              </a:lnSpc>
              <a:spcBef>
                <a:spcPts val="800"/>
              </a:spcBef>
              <a:spcAft>
                <a:spcPts val="0"/>
              </a:spcAft>
              <a:buSzPts val="1400"/>
              <a:buFont typeface="Arial"/>
              <a:buAutoNum type="arabicPeriod"/>
            </a:pPr>
            <a:r>
              <a:rPr lang="en-US" sz="2000" b="1" dirty="0">
                <a:solidFill>
                  <a:schemeClr val="dk1"/>
                </a:solidFill>
                <a:latin typeface="Arial"/>
                <a:ea typeface="Arial"/>
                <a:cs typeface="Arial"/>
                <a:sym typeface="Arial"/>
              </a:rPr>
              <a:t>Comparing traditional solutions to different problems and their expected AI-based solutions.</a:t>
            </a:r>
            <a:endParaRPr dirty="0"/>
          </a:p>
          <a:p>
            <a:pPr marL="342900" lvl="0" indent="-342900" algn="just" rtl="0">
              <a:lnSpc>
                <a:spcPct val="150000"/>
              </a:lnSpc>
              <a:spcBef>
                <a:spcPts val="800"/>
              </a:spcBef>
              <a:spcAft>
                <a:spcPts val="0"/>
              </a:spcAft>
              <a:buSzPts val="1400"/>
              <a:buFont typeface="Arial"/>
              <a:buAutoNum type="arabicPeriod"/>
            </a:pPr>
            <a:r>
              <a:rPr lang="en-US" sz="2000" b="1" dirty="0">
                <a:solidFill>
                  <a:schemeClr val="dk1"/>
                </a:solidFill>
                <a:latin typeface="Arial"/>
                <a:ea typeface="Arial"/>
                <a:cs typeface="Arial"/>
                <a:sym typeface="Arial"/>
              </a:rPr>
              <a:t>Demonstrating problem-solving methods with various AI-based technologies.</a:t>
            </a:r>
            <a:endParaRPr dirty="0"/>
          </a:p>
          <a:p>
            <a:pPr marL="342900" lvl="0" indent="-342900" algn="just" rtl="0">
              <a:lnSpc>
                <a:spcPct val="150000"/>
              </a:lnSpc>
              <a:spcBef>
                <a:spcPts val="800"/>
              </a:spcBef>
              <a:spcAft>
                <a:spcPts val="0"/>
              </a:spcAft>
              <a:buSzPts val="1400"/>
              <a:buFont typeface="Arial"/>
              <a:buAutoNum type="arabicPeriod"/>
            </a:pPr>
            <a:r>
              <a:rPr lang="en-US" sz="2000" b="1" dirty="0">
                <a:solidFill>
                  <a:schemeClr val="dk1"/>
                </a:solidFill>
                <a:latin typeface="Arial"/>
                <a:ea typeface="Arial"/>
                <a:cs typeface="Arial"/>
                <a:sym typeface="Arial"/>
              </a:rPr>
              <a:t>Correlating awareness of informed search and uninformed search techniques.</a:t>
            </a:r>
            <a:endParaRPr dirty="0"/>
          </a:p>
          <a:p>
            <a:pPr marL="342900" lvl="0" indent="-342900" algn="just" rtl="0">
              <a:lnSpc>
                <a:spcPct val="150000"/>
              </a:lnSpc>
              <a:spcBef>
                <a:spcPts val="800"/>
              </a:spcBef>
              <a:spcAft>
                <a:spcPts val="0"/>
              </a:spcAft>
              <a:buSzPts val="1400"/>
              <a:buFont typeface="Arial"/>
              <a:buAutoNum type="arabicPeriod"/>
            </a:pPr>
            <a:r>
              <a:rPr lang="en-US" sz="2000" b="1" dirty="0">
                <a:solidFill>
                  <a:schemeClr val="dk1"/>
                </a:solidFill>
                <a:latin typeface="Arial"/>
                <a:ea typeface="Arial"/>
                <a:cs typeface="Arial"/>
                <a:sym typeface="Arial"/>
              </a:rPr>
              <a:t>Designing AI-based problem-solving strategies for intelligent applications in the real world</a:t>
            </a:r>
            <a:endParaRPr dirty="0"/>
          </a:p>
        </p:txBody>
      </p:sp>
      <p:sp>
        <p:nvSpPr>
          <p:cNvPr id="157" name="Google Shape;157;p14"/>
          <p:cNvSpPr txBox="1"/>
          <p:nvPr/>
        </p:nvSpPr>
        <p:spPr>
          <a:xfrm>
            <a:off x="0" y="-1016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Course Learning Outcomes</a:t>
            </a:r>
            <a:endParaRPr sz="1400" b="0" i="0" u="none" strike="noStrike" cap="none">
              <a:solidFill>
                <a:srgbClr val="000000"/>
              </a:solidFill>
              <a:latin typeface="Arial"/>
              <a:ea typeface="Arial"/>
              <a:cs typeface="Arial"/>
              <a:sym typeface="Arial"/>
            </a:endParaRPr>
          </a:p>
        </p:txBody>
      </p:sp>
      <p:sp>
        <p:nvSpPr>
          <p:cNvPr id="158" name="Google Shape;158;p14"/>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60" name="Google Shape;160;p14"/>
          <p:cNvSpPr txBox="1"/>
          <p:nvPr/>
        </p:nvSpPr>
        <p:spPr>
          <a:xfrm>
            <a:off x="0" y="6339865"/>
            <a:ext cx="9143999" cy="656614"/>
          </a:xfrm>
          <a:prstGeom prst="rect">
            <a:avLst/>
          </a:prstGeom>
          <a:noFill/>
          <a:ln>
            <a:noFill/>
          </a:ln>
        </p:spPr>
        <p:txBody>
          <a:bodyPr spcFirstLastPara="1" wrap="square" lIns="91425" tIns="45700" rIns="91425" bIns="45700" anchor="ctr" anchorCtr="0">
            <a:spAutoFit/>
          </a:bodyPr>
          <a:lstStyle/>
          <a:p>
            <a:pPr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a:p>
            <a:pPr marL="0" marR="0" lvl="0" indent="0" algn="ctr" rtl="0">
              <a:lnSpc>
                <a:spcPct val="100000"/>
              </a:lnSpc>
              <a:spcBef>
                <a:spcPts val="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6"/>
          <p:cNvSpPr txBox="1">
            <a:spLocks noGrp="1"/>
          </p:cNvSpPr>
          <p:nvPr>
            <p:ph idx="1"/>
          </p:nvPr>
        </p:nvSpPr>
        <p:spPr>
          <a:xfrm>
            <a:off x="228600" y="619760"/>
            <a:ext cx="8610600" cy="5781040"/>
          </a:xfrm>
          <a:prstGeom prst="rect">
            <a:avLst/>
          </a:prstGeom>
          <a:noFill/>
          <a:ln>
            <a:noFill/>
          </a:ln>
        </p:spPr>
        <p:txBody>
          <a:bodyPr spcFirstLastPara="1" wrap="square" lIns="90000" tIns="46800" rIns="90000" bIns="46800" anchor="t" anchorCtr="0">
            <a:noAutofit/>
          </a:bodyPr>
          <a:lstStyle/>
          <a:p>
            <a:pPr marL="457200" lvl="0" indent="0" algn="l" rtl="0">
              <a:lnSpc>
                <a:spcPct val="150000"/>
              </a:lnSpc>
              <a:spcBef>
                <a:spcPts val="800"/>
              </a:spcBef>
              <a:spcAft>
                <a:spcPts val="0"/>
              </a:spcAft>
              <a:buSzPts val="1400"/>
              <a:buNone/>
            </a:pPr>
            <a:r>
              <a:rPr lang="en-US" sz="2000" b="1" dirty="0">
                <a:solidFill>
                  <a:srgbClr val="000000"/>
                </a:solidFill>
                <a:latin typeface="Times New Roman"/>
                <a:ea typeface="Times New Roman"/>
                <a:cs typeface="Times New Roman"/>
                <a:sym typeface="Times New Roman"/>
              </a:rPr>
              <a:t>Reference Books:</a:t>
            </a:r>
            <a:endParaRPr dirty="0"/>
          </a:p>
          <a:p>
            <a:pPr marL="457200" lvl="0" indent="0" algn="l" rtl="0">
              <a:lnSpc>
                <a:spcPct val="150000"/>
              </a:lnSpc>
              <a:spcBef>
                <a:spcPts val="800"/>
              </a:spcBef>
              <a:spcAft>
                <a:spcPts val="0"/>
              </a:spcAft>
              <a:buSzPts val="1400"/>
              <a:buNone/>
            </a:pPr>
            <a:r>
              <a:rPr lang="en-US" sz="2000" dirty="0">
                <a:solidFill>
                  <a:schemeClr val="dk1"/>
                </a:solidFill>
                <a:latin typeface="Arial"/>
                <a:ea typeface="Arial"/>
                <a:cs typeface="Arial"/>
                <a:sym typeface="Arial"/>
              </a:rPr>
              <a:t>1. Artificial Intelligence: A Modern Approach-2nd Edition, Stuart Russel, Peter Norvig, Pearson Education</a:t>
            </a:r>
            <a:endParaRPr dirty="0"/>
          </a:p>
          <a:p>
            <a:pPr marL="0" lvl="0" indent="0" algn="just" rtl="0">
              <a:lnSpc>
                <a:spcPct val="150000"/>
              </a:lnSpc>
              <a:spcBef>
                <a:spcPts val="800"/>
              </a:spcBef>
              <a:spcAft>
                <a:spcPts val="0"/>
              </a:spcAft>
              <a:buSzPts val="1400"/>
              <a:buNone/>
            </a:pPr>
            <a:r>
              <a:rPr lang="en-US" sz="2000" dirty="0">
                <a:solidFill>
                  <a:schemeClr val="dk1"/>
                </a:solidFill>
                <a:latin typeface="Arial"/>
                <a:ea typeface="Arial"/>
                <a:cs typeface="Arial"/>
                <a:sym typeface="Arial"/>
              </a:rPr>
              <a:t>       2. Introduction to Artificial Intelligence &amp; Expert Systems by Dan W.            Patterson, Englewood Cliffs, NJ, 1990 (Prentice Hall International)</a:t>
            </a:r>
            <a:endParaRPr sz="2000" dirty="0">
              <a:solidFill>
                <a:schemeClr val="dk1"/>
              </a:solidFill>
              <a:latin typeface="Arial"/>
              <a:ea typeface="Arial"/>
              <a:cs typeface="Arial"/>
              <a:sym typeface="Arial"/>
            </a:endParaRPr>
          </a:p>
          <a:p>
            <a:pPr marL="0" lvl="0" indent="0" algn="just" rtl="0">
              <a:lnSpc>
                <a:spcPct val="150000"/>
              </a:lnSpc>
              <a:spcBef>
                <a:spcPts val="800"/>
              </a:spcBef>
              <a:spcAft>
                <a:spcPts val="0"/>
              </a:spcAft>
              <a:buSzPts val="1400"/>
              <a:buNone/>
            </a:pPr>
            <a:r>
              <a:rPr lang="en-US" sz="2000" dirty="0">
                <a:solidFill>
                  <a:schemeClr val="dk1"/>
                </a:solidFill>
                <a:latin typeface="Arial"/>
                <a:ea typeface="Arial"/>
                <a:cs typeface="Arial"/>
                <a:sym typeface="Arial"/>
              </a:rPr>
              <a:t>       3. Artificial Intelligence by Elaine Rich, Kevin Knight, Shivashankar B Nair, (McGraw-Hill)</a:t>
            </a:r>
            <a:endParaRPr dirty="0"/>
          </a:p>
          <a:p>
            <a:pPr marL="0" lvl="0" indent="0" algn="just" rtl="0">
              <a:lnSpc>
                <a:spcPct val="150000"/>
              </a:lnSpc>
              <a:spcBef>
                <a:spcPts val="800"/>
              </a:spcBef>
              <a:spcAft>
                <a:spcPts val="0"/>
              </a:spcAft>
              <a:buSzPts val="1400"/>
              <a:buNone/>
            </a:pPr>
            <a:r>
              <a:rPr lang="en-US" sz="2000" dirty="0">
                <a:solidFill>
                  <a:srgbClr val="000000"/>
                </a:solidFill>
                <a:latin typeface="Times New Roman"/>
                <a:ea typeface="Times New Roman"/>
                <a:cs typeface="Times New Roman"/>
                <a:sym typeface="Times New Roman"/>
              </a:rPr>
              <a:t>        </a:t>
            </a:r>
            <a:r>
              <a:rPr lang="en-US" sz="2000" b="1" dirty="0">
                <a:solidFill>
                  <a:srgbClr val="000000"/>
                </a:solidFill>
                <a:latin typeface="Times New Roman"/>
                <a:ea typeface="Times New Roman"/>
                <a:cs typeface="Times New Roman"/>
                <a:sym typeface="Times New Roman"/>
              </a:rPr>
              <a:t>Relevant</a:t>
            </a:r>
            <a:r>
              <a:rPr lang="en-US" sz="2000" dirty="0">
                <a:solidFill>
                  <a:srgbClr val="000000"/>
                </a:solidFill>
                <a:latin typeface="Times New Roman"/>
                <a:ea typeface="Times New Roman"/>
                <a:cs typeface="Times New Roman"/>
                <a:sym typeface="Times New Roman"/>
              </a:rPr>
              <a:t> </a:t>
            </a:r>
            <a:r>
              <a:rPr lang="en-US" sz="2000" b="1" dirty="0">
                <a:solidFill>
                  <a:srgbClr val="000000"/>
                </a:solidFill>
                <a:latin typeface="Times New Roman"/>
                <a:ea typeface="Times New Roman"/>
                <a:cs typeface="Times New Roman"/>
                <a:sym typeface="Times New Roman"/>
              </a:rPr>
              <a:t>Websites:</a:t>
            </a:r>
            <a:endParaRPr dirty="0"/>
          </a:p>
          <a:p>
            <a:pPr marL="914400" lvl="1" indent="-457200" algn="just" rtl="0">
              <a:lnSpc>
                <a:spcPct val="150000"/>
              </a:lnSpc>
              <a:spcBef>
                <a:spcPts val="700"/>
              </a:spcBef>
              <a:spcAft>
                <a:spcPts val="0"/>
              </a:spcAft>
              <a:buSzPts val="1400"/>
              <a:buFont typeface="Arial"/>
              <a:buAutoNum type="arabicPeriod"/>
            </a:pPr>
            <a:r>
              <a:rPr lang="en-US" sz="2000" b="1" u="sng" dirty="0">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http://www.cs.utexas.edu/~novak/cs381kcontents.html</a:t>
            </a:r>
            <a:endParaRPr sz="2000" b="1" dirty="0">
              <a:solidFill>
                <a:schemeClr val="dk1"/>
              </a:solidFill>
              <a:latin typeface="Times New Roman"/>
              <a:ea typeface="Times New Roman"/>
              <a:cs typeface="Times New Roman"/>
              <a:sym typeface="Times New Roman"/>
            </a:endParaRPr>
          </a:p>
          <a:p>
            <a:pPr marL="914400" lvl="1" indent="-457200" algn="just" rtl="0">
              <a:lnSpc>
                <a:spcPct val="150000"/>
              </a:lnSpc>
              <a:spcBef>
                <a:spcPts val="700"/>
              </a:spcBef>
              <a:spcAft>
                <a:spcPts val="0"/>
              </a:spcAft>
              <a:buSzPts val="1400"/>
              <a:buFont typeface="Arial"/>
              <a:buAutoNum type="arabicPeriod"/>
            </a:pPr>
            <a:r>
              <a:rPr lang="en-US" sz="1800" b="1"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a:t>
            </a:r>
            <a:r>
              <a:rPr lang="en-US" sz="1800" b="1" u="sng" strike="noStrike"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a:t>
            </a:r>
            <a:r>
              <a:rPr lang="en-US" sz="1800" b="1"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ww</a:t>
            </a:r>
            <a:r>
              <a:rPr lang="en-US" sz="1800" b="1" u="sng" strike="noStrike"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.u</a:t>
            </a:r>
            <a:r>
              <a:rPr lang="en-US" sz="1800" b="1"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d</a:t>
            </a:r>
            <a:r>
              <a:rPr lang="en-US" sz="1800" b="1" u="sng" strike="noStrike"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acity.com/course/intro-to-artificial-intelligence--cs271</a:t>
            </a:r>
            <a:endParaRPr sz="1800" b="1" u="none" strike="noStrike" dirty="0">
              <a:solidFill>
                <a:schemeClr val="dk1"/>
              </a:solidFill>
              <a:latin typeface="Times New Roman"/>
              <a:ea typeface="Times New Roman"/>
              <a:cs typeface="Times New Roman"/>
              <a:sym typeface="Times New Roman"/>
            </a:endParaRPr>
          </a:p>
          <a:p>
            <a:pPr marL="914400" lvl="1" indent="-457200" algn="just" rtl="0">
              <a:lnSpc>
                <a:spcPct val="150000"/>
              </a:lnSpc>
              <a:spcBef>
                <a:spcPts val="700"/>
              </a:spcBef>
              <a:spcAft>
                <a:spcPts val="0"/>
              </a:spcAft>
              <a:buSzPts val="1400"/>
              <a:buFont typeface="Arial"/>
              <a:buAutoNum type="arabicPeriod"/>
            </a:pPr>
            <a:r>
              <a:rPr lang="en-US" sz="1800" b="1" u="sng" strike="noStrike" dirty="0">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http://nptel.ac.in/courses/106105077</a:t>
            </a:r>
            <a:endParaRPr sz="2000" b="1" u="none" strike="noStrike" dirty="0">
              <a:solidFill>
                <a:schemeClr val="dk1"/>
              </a:solidFill>
              <a:latin typeface="Times New Roman"/>
              <a:ea typeface="Times New Roman"/>
              <a:cs typeface="Times New Roman"/>
              <a:sym typeface="Times New Roman"/>
            </a:endParaRPr>
          </a:p>
          <a:p>
            <a:pPr marL="914400" lvl="1" indent="-368300" algn="just" rtl="0">
              <a:lnSpc>
                <a:spcPct val="150000"/>
              </a:lnSpc>
              <a:spcBef>
                <a:spcPts val="700"/>
              </a:spcBef>
              <a:spcAft>
                <a:spcPts val="0"/>
              </a:spcAft>
              <a:buSzPts val="1400"/>
              <a:buFont typeface="Arial"/>
              <a:buNone/>
            </a:pPr>
            <a:endParaRPr sz="2000" dirty="0">
              <a:solidFill>
                <a:srgbClr val="000000"/>
              </a:solidFill>
              <a:latin typeface="Times New Roman"/>
              <a:ea typeface="Times New Roman"/>
              <a:cs typeface="Times New Roman"/>
              <a:sym typeface="Times New Roman"/>
            </a:endParaRPr>
          </a:p>
          <a:p>
            <a:pPr marL="0" lvl="0" indent="0" algn="just" rtl="0">
              <a:lnSpc>
                <a:spcPct val="150000"/>
              </a:lnSpc>
              <a:spcBef>
                <a:spcPts val="800"/>
              </a:spcBef>
              <a:spcAft>
                <a:spcPts val="0"/>
              </a:spcAft>
              <a:buSzPts val="1400"/>
              <a:buNone/>
            </a:pPr>
            <a:endParaRPr sz="2000" dirty="0">
              <a:latin typeface="Calibri"/>
              <a:ea typeface="Calibri"/>
              <a:cs typeface="Calibri"/>
              <a:sym typeface="Calibri"/>
            </a:endParaRPr>
          </a:p>
          <a:p>
            <a:pPr marL="457200" lvl="0" indent="-228600" algn="l" rtl="0">
              <a:lnSpc>
                <a:spcPct val="100000"/>
              </a:lnSpc>
              <a:spcBef>
                <a:spcPts val="800"/>
              </a:spcBef>
              <a:spcAft>
                <a:spcPts val="0"/>
              </a:spcAft>
              <a:buSzPts val="1400"/>
              <a:buFont typeface="Arial"/>
              <a:buNone/>
            </a:pPr>
            <a:endParaRPr sz="2000" dirty="0">
              <a:solidFill>
                <a:schemeClr val="dk1"/>
              </a:solidFill>
            </a:endParaRPr>
          </a:p>
        </p:txBody>
      </p:sp>
      <p:sp>
        <p:nvSpPr>
          <p:cNvPr id="175" name="Google Shape;175;p16"/>
          <p:cNvSpPr txBox="1"/>
          <p:nvPr/>
        </p:nvSpPr>
        <p:spPr>
          <a:xfrm>
            <a:off x="0" y="-1016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Reference Books/Websites</a:t>
            </a:r>
            <a:endParaRPr sz="1400" b="0" i="0" u="none" strike="noStrike" cap="none">
              <a:solidFill>
                <a:srgbClr val="000000"/>
              </a:solidFill>
              <a:latin typeface="Arial"/>
              <a:ea typeface="Arial"/>
              <a:cs typeface="Arial"/>
              <a:sym typeface="Arial"/>
            </a:endParaRPr>
          </a:p>
        </p:txBody>
      </p:sp>
      <p:sp>
        <p:nvSpPr>
          <p:cNvPr id="176" name="Google Shape;176;p16"/>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78" name="Google Shape;178;p16"/>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7"/>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0" lvl="0" indent="0" algn="just" rtl="0">
              <a:lnSpc>
                <a:spcPct val="150000"/>
              </a:lnSpc>
              <a:spcBef>
                <a:spcPts val="800"/>
              </a:spcBef>
              <a:spcAft>
                <a:spcPts val="0"/>
              </a:spcAft>
              <a:buSzPts val="1400"/>
              <a:buNone/>
            </a:pPr>
            <a:r>
              <a:rPr lang="en-US" sz="2400" b="1">
                <a:solidFill>
                  <a:schemeClr val="dk1"/>
                </a:solidFill>
                <a:latin typeface="Arial"/>
                <a:ea typeface="Arial"/>
                <a:cs typeface="Arial"/>
                <a:sym typeface="Arial"/>
              </a:rPr>
              <a:t>By the end of this lecture, you will be able to :</a:t>
            </a:r>
            <a:endParaRPr/>
          </a:p>
          <a:p>
            <a:pPr marL="342900" lvl="0" indent="-342900" algn="just" rtl="0">
              <a:lnSpc>
                <a:spcPct val="150000"/>
              </a:lnSpc>
              <a:spcBef>
                <a:spcPts val="800"/>
              </a:spcBef>
              <a:spcAft>
                <a:spcPts val="0"/>
              </a:spcAft>
              <a:buSzPts val="1400"/>
              <a:buFont typeface="Arial"/>
              <a:buAutoNum type="arabicPeriod"/>
            </a:pPr>
            <a:r>
              <a:rPr lang="en-US" sz="2400" b="1">
                <a:solidFill>
                  <a:schemeClr val="dk1"/>
                </a:solidFill>
                <a:latin typeface="Arial"/>
                <a:ea typeface="Arial"/>
                <a:cs typeface="Arial"/>
                <a:sym typeface="Arial"/>
              </a:rPr>
              <a:t>Define artificial intelligence.</a:t>
            </a:r>
            <a:endParaRPr/>
          </a:p>
          <a:p>
            <a:pPr marL="342900" lvl="0" indent="-342900" algn="just" rtl="0">
              <a:lnSpc>
                <a:spcPct val="150000"/>
              </a:lnSpc>
              <a:spcBef>
                <a:spcPts val="800"/>
              </a:spcBef>
              <a:spcAft>
                <a:spcPts val="0"/>
              </a:spcAft>
              <a:buSzPts val="1400"/>
              <a:buFont typeface="Arial"/>
              <a:buAutoNum type="arabicPeriod"/>
            </a:pPr>
            <a:r>
              <a:rPr lang="en-US" sz="2400" b="1">
                <a:solidFill>
                  <a:schemeClr val="dk1"/>
                </a:solidFill>
                <a:latin typeface="Arial"/>
                <a:ea typeface="Arial"/>
                <a:cs typeface="Arial"/>
                <a:sym typeface="Arial"/>
              </a:rPr>
              <a:t>Define history of intelligence. </a:t>
            </a:r>
            <a:endParaRPr sz="2400" b="1">
              <a:solidFill>
                <a:schemeClr val="dk1"/>
              </a:solidFill>
              <a:latin typeface="Arial"/>
              <a:ea typeface="Arial"/>
              <a:cs typeface="Arial"/>
              <a:sym typeface="Arial"/>
            </a:endParaRPr>
          </a:p>
          <a:p>
            <a:pPr marL="342900" lvl="0" indent="-342900" algn="just" rtl="0">
              <a:lnSpc>
                <a:spcPct val="150000"/>
              </a:lnSpc>
              <a:spcBef>
                <a:spcPts val="800"/>
              </a:spcBef>
              <a:spcAft>
                <a:spcPts val="0"/>
              </a:spcAft>
              <a:buSzPts val="1400"/>
              <a:buFont typeface="Arial"/>
              <a:buAutoNum type="arabicPeriod"/>
            </a:pPr>
            <a:r>
              <a:rPr lang="en-US" sz="2400" b="1">
                <a:solidFill>
                  <a:schemeClr val="dk1"/>
                </a:solidFill>
                <a:latin typeface="Arial"/>
                <a:ea typeface="Arial"/>
                <a:cs typeface="Arial"/>
                <a:sym typeface="Arial"/>
              </a:rPr>
              <a:t>Explain applications of artificial intelligence in briefly with suitable examples.</a:t>
            </a:r>
            <a:endParaRPr sz="2400" b="1">
              <a:solidFill>
                <a:schemeClr val="dk1"/>
              </a:solidFill>
              <a:latin typeface="Arial"/>
              <a:ea typeface="Arial"/>
              <a:cs typeface="Arial"/>
              <a:sym typeface="Arial"/>
            </a:endParaRPr>
          </a:p>
          <a:p>
            <a:pPr marL="342900" lvl="0" indent="-342900" algn="just" rtl="0">
              <a:lnSpc>
                <a:spcPct val="150000"/>
              </a:lnSpc>
              <a:spcBef>
                <a:spcPts val="800"/>
              </a:spcBef>
              <a:spcAft>
                <a:spcPts val="0"/>
              </a:spcAft>
              <a:buSzPts val="1400"/>
              <a:buFont typeface="Arial"/>
              <a:buAutoNum type="arabicPeriod"/>
            </a:pPr>
            <a:r>
              <a:rPr lang="en-US" sz="2400" b="1">
                <a:solidFill>
                  <a:schemeClr val="dk1"/>
                </a:solidFill>
                <a:latin typeface="Arial"/>
                <a:ea typeface="Arial"/>
                <a:cs typeface="Arial"/>
                <a:sym typeface="Arial"/>
              </a:rPr>
              <a:t>Define future of Artificial Intelligence</a:t>
            </a:r>
            <a:endParaRPr/>
          </a:p>
        </p:txBody>
      </p:sp>
      <p:sp>
        <p:nvSpPr>
          <p:cNvPr id="184" name="Google Shape;184;p17"/>
          <p:cNvSpPr txBox="1"/>
          <p:nvPr/>
        </p:nvSpPr>
        <p:spPr>
          <a:xfrm>
            <a:off x="0" y="-5080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400" b="0" i="0" u="none" strike="noStrike" cap="none">
                <a:solidFill>
                  <a:srgbClr val="000000"/>
                </a:solidFill>
                <a:latin typeface="Arial"/>
                <a:ea typeface="Arial"/>
                <a:cs typeface="Arial"/>
                <a:sym typeface="Arial"/>
              </a:rPr>
              <a:t>Lecture Objectives</a:t>
            </a:r>
            <a:endParaRPr sz="1400" b="0" i="0" u="none" strike="noStrike" cap="none">
              <a:solidFill>
                <a:srgbClr val="000000"/>
              </a:solidFill>
              <a:latin typeface="Arial"/>
              <a:ea typeface="Arial"/>
              <a:cs typeface="Arial"/>
              <a:sym typeface="Arial"/>
            </a:endParaRPr>
          </a:p>
        </p:txBody>
      </p:sp>
      <p:sp>
        <p:nvSpPr>
          <p:cNvPr id="185" name="Google Shape;185;p17"/>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87" name="Google Shape;187;p17"/>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8"/>
          <p:cNvSpPr txBox="1"/>
          <p:nvPr/>
        </p:nvSpPr>
        <p:spPr>
          <a:xfrm>
            <a:off x="214312" y="1000125"/>
            <a:ext cx="8569325" cy="1546225"/>
          </a:xfrm>
          <a:prstGeom prst="rect">
            <a:avLst/>
          </a:prstGeom>
          <a:noFill/>
          <a:ln>
            <a:noFill/>
          </a:ln>
        </p:spPr>
        <p:txBody>
          <a:bodyPr spcFirstLastPara="1" wrap="square" lIns="90000" tIns="33100" rIns="90000" bIns="450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93" name="Google Shape;193;p18"/>
          <p:cNvSpPr txBox="1"/>
          <p:nvPr/>
        </p:nvSpPr>
        <p:spPr>
          <a:xfrm>
            <a:off x="285750" y="2727325"/>
            <a:ext cx="8501062" cy="3916362"/>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94" name="Google Shape;194;p18"/>
          <p:cNvSpPr txBox="1"/>
          <p:nvPr/>
        </p:nvSpPr>
        <p:spPr>
          <a:xfrm>
            <a:off x="2286000" y="4068762"/>
            <a:ext cx="4284662" cy="73025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95" name="Google Shape;195;p18"/>
          <p:cNvSpPr txBox="1"/>
          <p:nvPr/>
        </p:nvSpPr>
        <p:spPr>
          <a:xfrm>
            <a:off x="2428875" y="4189412"/>
            <a:ext cx="4286250" cy="463550"/>
          </a:xfrm>
          <a:prstGeom prst="rect">
            <a:avLst/>
          </a:prstGeom>
          <a:noFill/>
          <a:ln>
            <a:noFill/>
          </a:ln>
        </p:spPr>
        <p:txBody>
          <a:bodyPr spcFirstLastPara="1" wrap="square" lIns="90000" tIns="45000" rIns="90000" bIns="45000" anchor="t" anchorCtr="0">
            <a:noAutofit/>
          </a:bodyPr>
          <a:lstStyle/>
          <a:p>
            <a:pPr marL="0" marR="0" lvl="0" indent="0" algn="ctr" rtl="0">
              <a:lnSpc>
                <a:spcPct val="150000"/>
              </a:lnSpc>
              <a:spcBef>
                <a:spcPts val="0"/>
              </a:spcBef>
              <a:spcAft>
                <a:spcPts val="0"/>
              </a:spcAft>
              <a:buClr>
                <a:schemeClr val="lt1"/>
              </a:buClr>
              <a:buSzPts val="2400"/>
              <a:buFont typeface="Arial"/>
              <a:buNone/>
            </a:pPr>
            <a:endParaRPr sz="24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chemeClr val="lt1"/>
              </a:buClr>
              <a:buSzPts val="2400"/>
              <a:buFont typeface="Arial"/>
              <a:buNone/>
            </a:pPr>
            <a:endParaRPr sz="24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chemeClr val="lt1"/>
              </a:buClr>
              <a:buSzPts val="2400"/>
              <a:buFont typeface="Calibri"/>
              <a:buNone/>
            </a:pPr>
            <a:r>
              <a:rPr lang="en-US" sz="2400" b="0" i="0" u="none" strike="noStrike" cap="none">
                <a:solidFill>
                  <a:schemeClr val="lt1"/>
                </a:solidFill>
                <a:latin typeface="Calibri"/>
                <a:ea typeface="Calibri"/>
                <a:cs typeface="Calibri"/>
                <a:sym typeface="Calibri"/>
              </a:rPr>
              <a:t> </a:t>
            </a:r>
            <a:r>
              <a:rPr lang="en-US" sz="2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96" name="Google Shape;196;p18"/>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99" name="Google Shape;199;p18"/>
          <p:cNvSpPr txBox="1"/>
          <p:nvPr/>
        </p:nvSpPr>
        <p:spPr>
          <a:xfrm>
            <a:off x="785812" y="2372699"/>
            <a:ext cx="6500700"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6000"/>
              <a:buFont typeface="Times New Roman"/>
              <a:buNone/>
            </a:pPr>
            <a:r>
              <a:rPr lang="en-US" sz="6000" b="1" i="0" u="none" strike="noStrike" cap="none">
                <a:solidFill>
                  <a:srgbClr val="FF0000"/>
                </a:solidFill>
                <a:latin typeface="Times New Roman"/>
                <a:ea typeface="Times New Roman"/>
                <a:cs typeface="Times New Roman"/>
                <a:sym typeface="Times New Roman"/>
              </a:rPr>
              <a:t>Chapter 1</a:t>
            </a:r>
            <a:endParaRPr sz="14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Clr>
                <a:srgbClr val="404176"/>
              </a:buClr>
              <a:buSzPts val="6000"/>
              <a:buFont typeface="Times New Roman"/>
              <a:buNone/>
            </a:pPr>
            <a:r>
              <a:rPr lang="en-US" sz="6000" b="1" i="0" u="none" strike="noStrike" cap="none">
                <a:solidFill>
                  <a:srgbClr val="404176"/>
                </a:solidFill>
                <a:latin typeface="Times New Roman"/>
                <a:ea typeface="Times New Roman"/>
                <a:cs typeface="Times New Roman"/>
                <a:sym typeface="Times New Roman"/>
              </a:rPr>
              <a:t>Introduction</a:t>
            </a:r>
            <a:endParaRPr sz="6000" b="1" i="0" u="none" strike="noStrike" cap="none">
              <a:solidFill>
                <a:srgbClr val="404176"/>
              </a:solidFill>
              <a:latin typeface="Times New Roman"/>
              <a:ea typeface="Times New Roman"/>
              <a:cs typeface="Times New Roman"/>
              <a:sym typeface="Times New Roman"/>
            </a:endParaRPr>
          </a:p>
        </p:txBody>
      </p:sp>
      <p:sp>
        <p:nvSpPr>
          <p:cNvPr id="200" name="Google Shape;200;p18"/>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01" name="Google Shape;201;p18"/>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9"/>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Important research that laid the groundwork for AI: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1931, Goedel layed the foundation of Theoretical Computer Science1920-30s: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He published the first universal formal language and showed that math itself is either flawed or allows for unprovable but true statements.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1936, Turing reformulated Goedel’s result and church’s extension thereof.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1956, John McCarthy coined the term "Artificial Intelligence" as the topic of the </a:t>
            </a:r>
            <a:r>
              <a:rPr lang="en-US" sz="1800" b="1" i="0" u="none" strike="noStrike">
                <a:solidFill>
                  <a:srgbClr val="000000"/>
                </a:solidFill>
                <a:latin typeface="Times New Roman"/>
                <a:ea typeface="Times New Roman"/>
                <a:cs typeface="Times New Roman"/>
                <a:sym typeface="Times New Roman"/>
              </a:rPr>
              <a:t>Dartmouth Conference</a:t>
            </a:r>
            <a:r>
              <a:rPr lang="en-US" sz="1800" b="0" i="0" u="none" strike="noStrike">
                <a:solidFill>
                  <a:srgbClr val="000000"/>
                </a:solidFill>
                <a:latin typeface="Times New Roman"/>
                <a:ea typeface="Times New Roman"/>
                <a:cs typeface="Times New Roman"/>
                <a:sym typeface="Times New Roman"/>
              </a:rPr>
              <a:t>, the first conference devoted to the subject.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1957, The </a:t>
            </a:r>
            <a:r>
              <a:rPr lang="en-US" sz="1800" b="1" i="0" u="none" strike="noStrike">
                <a:solidFill>
                  <a:srgbClr val="000000"/>
                </a:solidFill>
                <a:latin typeface="Times New Roman"/>
                <a:ea typeface="Times New Roman"/>
                <a:cs typeface="Times New Roman"/>
                <a:sym typeface="Times New Roman"/>
              </a:rPr>
              <a:t>General Problem Solver (GPS) </a:t>
            </a:r>
            <a:r>
              <a:rPr lang="en-US" sz="1800" b="0" i="0" u="none" strike="noStrike">
                <a:solidFill>
                  <a:srgbClr val="000000"/>
                </a:solidFill>
                <a:latin typeface="Times New Roman"/>
                <a:ea typeface="Times New Roman"/>
                <a:cs typeface="Times New Roman"/>
                <a:sym typeface="Times New Roman"/>
              </a:rPr>
              <a:t>demonstrated by Newell, Shaw &amp; Simon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1958, John McCarthy (MIT) invented the Lisp language.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1959, Arthur Samuel (IBM) wrote the first game-playing program, for checkers, to achieve sufficient skill to challenge a world champion.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1963, Ivan Sutherland's MIT dissertation on Sketchpad introduced the idea of interactive graphics into computing.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1966, Ross Quillian (PhD dissertation, Carnegie Inst. of Technology; now CMU) demonstrated semantic nets </a:t>
            </a:r>
            <a:endParaRPr/>
          </a:p>
          <a:p>
            <a:pPr marL="457200" lvl="0" indent="-228600" algn="l" rtl="0">
              <a:lnSpc>
                <a:spcPct val="100000"/>
              </a:lnSpc>
              <a:spcBef>
                <a:spcPts val="800"/>
              </a:spcBef>
              <a:spcAft>
                <a:spcPts val="0"/>
              </a:spcAft>
              <a:buSzPts val="1400"/>
              <a:buNone/>
            </a:pPr>
            <a:endParaRPr sz="1800" b="0" i="0" u="none" strike="noStrike">
              <a:solidFill>
                <a:srgbClr val="000000"/>
              </a:solidFill>
              <a:latin typeface="Times New Roman"/>
              <a:ea typeface="Times New Roman"/>
              <a:cs typeface="Times New Roman"/>
              <a:sym typeface="Times New Roman"/>
            </a:endParaRPr>
          </a:p>
        </p:txBody>
      </p:sp>
      <p:sp>
        <p:nvSpPr>
          <p:cNvPr id="207" name="Google Shape;207;p19"/>
          <p:cNvSpPr txBox="1"/>
          <p:nvPr/>
        </p:nvSpPr>
        <p:spPr>
          <a:xfrm>
            <a:off x="0" y="-5080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dirty="0">
                <a:solidFill>
                  <a:schemeClr val="dk1"/>
                </a:solidFill>
                <a:latin typeface="Times New Roman"/>
                <a:cs typeface="Times New Roman"/>
                <a:sym typeface="Arial"/>
              </a:rPr>
              <a:t>History of AI</a:t>
            </a:r>
            <a:endParaRPr sz="4000" b="1" dirty="0">
              <a:solidFill>
                <a:schemeClr val="dk1"/>
              </a:solidFill>
              <a:latin typeface="Times New Roman"/>
              <a:cs typeface="Times New Roman"/>
              <a:sym typeface="Arial"/>
            </a:endParaRPr>
          </a:p>
        </p:txBody>
      </p:sp>
      <p:sp>
        <p:nvSpPr>
          <p:cNvPr id="208" name="Google Shape;208;p19"/>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10" name="Google Shape;210;p19"/>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idx="1"/>
          </p:nvPr>
        </p:nvSpPr>
        <p:spPr>
          <a:xfrm>
            <a:off x="266700" y="768350"/>
            <a:ext cx="8610600" cy="5603240"/>
          </a:xfrm>
          <a:prstGeom prst="rect">
            <a:avLst/>
          </a:prstGeom>
          <a:noFill/>
          <a:ln>
            <a:noFill/>
          </a:ln>
        </p:spPr>
        <p:txBody>
          <a:bodyPr spcFirstLastPara="1" wrap="square" lIns="90000" tIns="46800" rIns="90000" bIns="46800" anchor="t" anchorCtr="0">
            <a:noAutofit/>
          </a:bodyPr>
          <a:lstStyle/>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1967, Dendral program (Edward Feigenbaum, Joshua Lederberg, Bruce Buchanan, Georgia Sutherland at Stanford) demonstrated to interpret mass spectra on organic chemical compounds. First successful knowledge-based program for scientific reasoning.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1967, Doug Engelbart invented the mouse at SRI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1968, Marvin Minsky &amp; Seymour Papert publish Perceptrons, demonstrating limits of simple neural nets.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1972, Prolog developed by Alain Colmerauer.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Mid 80’s, Neural Networks become widely used with the Backpropagation algorithm (first described by Werbos in 1974).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1990, Major advances in all areas of AI, with significant demonstrations in machine learning, intelligent tutoring, case-based reasoning, multi-agent planning, scheduling, uncertain reasoning, data mining, natural language understanding and translation, vision, virtual reality, games, and other topics.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1997, Deep Blue beats the World Chess Champion Kasparov.</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In 2002,iRobot, founded by researchers at the MIT Artificial Intelligence Lab, introduced </a:t>
            </a:r>
            <a:r>
              <a:rPr lang="en-US" sz="1800" b="1" i="0" u="none" strike="noStrike">
                <a:solidFill>
                  <a:srgbClr val="000000"/>
                </a:solidFill>
                <a:latin typeface="Times New Roman"/>
                <a:ea typeface="Times New Roman"/>
                <a:cs typeface="Times New Roman"/>
                <a:sym typeface="Times New Roman"/>
              </a:rPr>
              <a:t>Roomba</a:t>
            </a:r>
            <a:r>
              <a:rPr lang="en-US" sz="1800" b="0" i="0" u="none" strike="noStrike">
                <a:solidFill>
                  <a:srgbClr val="000000"/>
                </a:solidFill>
                <a:latin typeface="Times New Roman"/>
                <a:ea typeface="Times New Roman"/>
                <a:cs typeface="Times New Roman"/>
                <a:sym typeface="Times New Roman"/>
              </a:rPr>
              <a:t>, a vacuum cleaning robot. By 2006, two million had been sold 	</a:t>
            </a:r>
            <a:endParaRPr/>
          </a:p>
          <a:p>
            <a:pPr marL="457200" lvl="0" indent="-228600" algn="l" rtl="0">
              <a:lnSpc>
                <a:spcPct val="100000"/>
              </a:lnSpc>
              <a:spcBef>
                <a:spcPts val="800"/>
              </a:spcBef>
              <a:spcAft>
                <a:spcPts val="0"/>
              </a:spcAft>
              <a:buSzPts val="1400"/>
              <a:buNone/>
            </a:pPr>
            <a:endParaRPr sz="1800" b="0" i="0" u="none" strike="noStrike">
              <a:solidFill>
                <a:srgbClr val="000000"/>
              </a:solidFill>
              <a:latin typeface="Times New Roman"/>
              <a:ea typeface="Times New Roman"/>
              <a:cs typeface="Times New Roman"/>
              <a:sym typeface="Times New Roman"/>
            </a:endParaRPr>
          </a:p>
          <a:p>
            <a:pPr marL="457200" lvl="0" indent="-228600" algn="l" rtl="0">
              <a:lnSpc>
                <a:spcPct val="100000"/>
              </a:lnSpc>
              <a:spcBef>
                <a:spcPts val="800"/>
              </a:spcBef>
              <a:spcAft>
                <a:spcPts val="0"/>
              </a:spcAft>
              <a:buSzPts val="1400"/>
              <a:buNone/>
            </a:pPr>
            <a:endParaRPr sz="1800" b="0" i="0" u="none" strike="noStrike">
              <a:solidFill>
                <a:srgbClr val="000000"/>
              </a:solidFill>
              <a:latin typeface="Times New Roman"/>
              <a:ea typeface="Times New Roman"/>
              <a:cs typeface="Times New Roman"/>
              <a:sym typeface="Times New Roman"/>
            </a:endParaRPr>
          </a:p>
        </p:txBody>
      </p:sp>
      <p:sp>
        <p:nvSpPr>
          <p:cNvPr id="216" name="Google Shape;216;p20"/>
          <p:cNvSpPr txBox="1"/>
          <p:nvPr/>
        </p:nvSpPr>
        <p:spPr>
          <a:xfrm>
            <a:off x="0" y="-5080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dirty="0">
                <a:solidFill>
                  <a:schemeClr val="dk1"/>
                </a:solidFill>
                <a:latin typeface="Times New Roman"/>
                <a:cs typeface="Times New Roman"/>
                <a:sym typeface="Arial"/>
              </a:rPr>
              <a:t>History of AI</a:t>
            </a:r>
            <a:endParaRPr sz="4000" b="1" dirty="0">
              <a:solidFill>
                <a:schemeClr val="dk1"/>
              </a:solidFill>
              <a:latin typeface="Times New Roman"/>
              <a:cs typeface="Times New Roman"/>
              <a:sym typeface="Arial"/>
            </a:endParaRPr>
          </a:p>
        </p:txBody>
      </p:sp>
      <p:sp>
        <p:nvSpPr>
          <p:cNvPr id="217" name="Google Shape;217;p20"/>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19" name="Google Shape;219;p20"/>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idx="1"/>
          </p:nvPr>
        </p:nvSpPr>
        <p:spPr>
          <a:xfrm>
            <a:off x="228600" y="990600"/>
            <a:ext cx="8610600" cy="5403850"/>
          </a:xfrm>
          <a:prstGeom prst="rect">
            <a:avLst/>
          </a:prstGeom>
          <a:noFill/>
          <a:ln>
            <a:noFill/>
          </a:ln>
        </p:spPr>
        <p:txBody>
          <a:bodyPr spcFirstLastPara="1" wrap="square" lIns="90000" tIns="46800" rIns="90000" bIns="46800" anchor="t" anchorCtr="0">
            <a:noAutofit/>
          </a:bodyPr>
          <a:lstStyle/>
          <a:p>
            <a:pPr marL="457200" lvl="0" indent="-228600" algn="just" rtl="0">
              <a:lnSpc>
                <a:spcPct val="90000"/>
              </a:lnSpc>
              <a:spcBef>
                <a:spcPts val="800"/>
              </a:spcBef>
              <a:spcAft>
                <a:spcPts val="0"/>
              </a:spcAft>
              <a:buSzPts val="1400"/>
              <a:buNone/>
            </a:pPr>
            <a:r>
              <a:rPr lang="en-US" sz="2400" dirty="0">
                <a:solidFill>
                  <a:schemeClr val="dk1"/>
                </a:solidFill>
                <a:latin typeface="Times New Roman" panose="02020603050405020304" pitchFamily="18" charset="0"/>
                <a:cs typeface="Times New Roman" panose="02020603050405020304" pitchFamily="18" charset="0"/>
              </a:rPr>
              <a:t>1. AI as a field of study</a:t>
            </a:r>
            <a:endParaRPr dirty="0">
              <a:latin typeface="Times New Roman" panose="02020603050405020304" pitchFamily="18" charset="0"/>
              <a:cs typeface="Times New Roman" panose="02020603050405020304" pitchFamily="18" charset="0"/>
            </a:endParaRPr>
          </a:p>
          <a:p>
            <a:pPr marL="914400" lvl="1" indent="-228600" algn="just" rtl="0">
              <a:lnSpc>
                <a:spcPct val="90000"/>
              </a:lnSpc>
              <a:spcBef>
                <a:spcPts val="700"/>
              </a:spcBef>
              <a:spcAft>
                <a:spcPts val="0"/>
              </a:spcAft>
              <a:buSzPts val="1400"/>
              <a:buNone/>
            </a:pPr>
            <a:r>
              <a:rPr lang="en-US" sz="2000" dirty="0">
                <a:solidFill>
                  <a:schemeClr val="dk1"/>
                </a:solidFill>
                <a:latin typeface="Times New Roman" panose="02020603050405020304" pitchFamily="18" charset="0"/>
                <a:cs typeface="Times New Roman" panose="02020603050405020304" pitchFamily="18" charset="0"/>
              </a:rPr>
              <a:t>Computer Science, Cognitive Science, Psychology, Philosophy, Linguistics, Neuroscience as shown in fig 1.1 of next slide.</a:t>
            </a:r>
            <a:endParaRPr dirty="0">
              <a:latin typeface="Times New Roman" panose="02020603050405020304" pitchFamily="18" charset="0"/>
              <a:cs typeface="Times New Roman" panose="02020603050405020304" pitchFamily="18" charset="0"/>
            </a:endParaRPr>
          </a:p>
          <a:p>
            <a:pPr marL="457200" lvl="0" indent="-228600" algn="just" rtl="0">
              <a:lnSpc>
                <a:spcPct val="90000"/>
              </a:lnSpc>
              <a:spcBef>
                <a:spcPts val="800"/>
              </a:spcBef>
              <a:spcAft>
                <a:spcPts val="0"/>
              </a:spcAft>
              <a:buSzPts val="1400"/>
              <a:buNone/>
            </a:pPr>
            <a:r>
              <a:rPr lang="en-US" sz="2400" dirty="0">
                <a:solidFill>
                  <a:schemeClr val="dk1"/>
                </a:solidFill>
                <a:latin typeface="Times New Roman" panose="02020603050405020304" pitchFamily="18" charset="0"/>
                <a:cs typeface="Times New Roman" panose="02020603050405020304" pitchFamily="18" charset="0"/>
              </a:rPr>
              <a:t>2. AI is part science, part engineering</a:t>
            </a:r>
            <a:endParaRPr dirty="0">
              <a:latin typeface="Times New Roman" panose="02020603050405020304" pitchFamily="18" charset="0"/>
              <a:cs typeface="Times New Roman" panose="02020603050405020304" pitchFamily="18" charset="0"/>
            </a:endParaRPr>
          </a:p>
          <a:p>
            <a:pPr marL="457200" lvl="0" indent="-228600" algn="just" rtl="0">
              <a:lnSpc>
                <a:spcPct val="90000"/>
              </a:lnSpc>
              <a:spcBef>
                <a:spcPts val="800"/>
              </a:spcBef>
              <a:spcAft>
                <a:spcPts val="0"/>
              </a:spcAft>
              <a:buSzPts val="1400"/>
              <a:buNone/>
            </a:pPr>
            <a:r>
              <a:rPr lang="en-US" sz="2400" dirty="0">
                <a:solidFill>
                  <a:schemeClr val="dk1"/>
                </a:solidFill>
                <a:latin typeface="Times New Roman" panose="02020603050405020304" pitchFamily="18" charset="0"/>
                <a:cs typeface="Times New Roman" panose="02020603050405020304" pitchFamily="18" charset="0"/>
              </a:rPr>
              <a:t>3. AI often must study other domains in order to implement systems </a:t>
            </a:r>
            <a:r>
              <a:rPr lang="en-US" sz="2000" dirty="0">
                <a:solidFill>
                  <a:schemeClr val="dk1"/>
                </a:solidFill>
                <a:latin typeface="Times New Roman" panose="02020603050405020304" pitchFamily="18" charset="0"/>
                <a:cs typeface="Times New Roman" panose="02020603050405020304" pitchFamily="18" charset="0"/>
              </a:rPr>
              <a:t>e.g., medicine and medical practices for a medical diagnostic system, engineering and chemistry to monitor a chemical processing plant</a:t>
            </a:r>
            <a:endParaRPr dirty="0">
              <a:latin typeface="Times New Roman" panose="02020603050405020304" pitchFamily="18" charset="0"/>
              <a:cs typeface="Times New Roman" panose="02020603050405020304" pitchFamily="18" charset="0"/>
            </a:endParaRPr>
          </a:p>
          <a:p>
            <a:pPr marL="457200" lvl="0" indent="-228600" algn="just" rtl="0">
              <a:lnSpc>
                <a:spcPct val="90000"/>
              </a:lnSpc>
              <a:spcBef>
                <a:spcPts val="800"/>
              </a:spcBef>
              <a:spcAft>
                <a:spcPts val="0"/>
              </a:spcAft>
              <a:buSzPts val="1400"/>
              <a:buNone/>
            </a:pPr>
            <a:r>
              <a:rPr lang="en-US" sz="2400" dirty="0">
                <a:solidFill>
                  <a:schemeClr val="dk1"/>
                </a:solidFill>
                <a:latin typeface="Times New Roman" panose="02020603050405020304" pitchFamily="18" charset="0"/>
                <a:cs typeface="Times New Roman" panose="02020603050405020304" pitchFamily="18" charset="0"/>
              </a:rPr>
              <a:t>4. AI is a belief that the brain is a form of biological computer and that the mind is computational</a:t>
            </a:r>
            <a:endParaRPr dirty="0">
              <a:latin typeface="Times New Roman" panose="02020603050405020304" pitchFamily="18" charset="0"/>
              <a:cs typeface="Times New Roman" panose="02020603050405020304" pitchFamily="18" charset="0"/>
            </a:endParaRPr>
          </a:p>
          <a:p>
            <a:pPr marL="457200" lvl="0" indent="-228600" algn="just" rtl="0">
              <a:lnSpc>
                <a:spcPct val="90000"/>
              </a:lnSpc>
              <a:spcBef>
                <a:spcPts val="800"/>
              </a:spcBef>
              <a:spcAft>
                <a:spcPts val="0"/>
              </a:spcAft>
              <a:buSzPts val="1400"/>
              <a:buNone/>
            </a:pPr>
            <a:r>
              <a:rPr lang="en-US" sz="2400" dirty="0">
                <a:solidFill>
                  <a:schemeClr val="dk1"/>
                </a:solidFill>
                <a:latin typeface="Times New Roman" panose="02020603050405020304" pitchFamily="18" charset="0"/>
                <a:cs typeface="Times New Roman" panose="02020603050405020304" pitchFamily="18" charset="0"/>
              </a:rPr>
              <a:t>5. AI has had a concrete impact on society but unlike other areas of CS, the impact is often</a:t>
            </a:r>
            <a:endParaRPr dirty="0">
              <a:latin typeface="Times New Roman" panose="02020603050405020304" pitchFamily="18" charset="0"/>
              <a:cs typeface="Times New Roman" panose="02020603050405020304" pitchFamily="18" charset="0"/>
            </a:endParaRPr>
          </a:p>
          <a:p>
            <a:pPr marL="1028700" lvl="1" indent="-342900" algn="just" rtl="0">
              <a:lnSpc>
                <a:spcPct val="90000"/>
              </a:lnSpc>
              <a:spcBef>
                <a:spcPts val="700"/>
              </a:spcBef>
              <a:spcAft>
                <a:spcPts val="0"/>
              </a:spcAft>
              <a:buSzPts val="1400"/>
              <a:buFont typeface="Arial"/>
              <a:buChar char="-"/>
            </a:pPr>
            <a:r>
              <a:rPr lang="en-US" sz="2000" dirty="0">
                <a:solidFill>
                  <a:schemeClr val="dk1"/>
                </a:solidFill>
                <a:latin typeface="Times New Roman" panose="02020603050405020304" pitchFamily="18" charset="0"/>
                <a:cs typeface="Times New Roman" panose="02020603050405020304" pitchFamily="18" charset="0"/>
              </a:rPr>
              <a:t>felt only tangentially (that is, people are not aware that system X has AI)</a:t>
            </a:r>
            <a:endParaRPr dirty="0">
              <a:latin typeface="Times New Roman" panose="02020603050405020304" pitchFamily="18" charset="0"/>
              <a:cs typeface="Times New Roman" panose="02020603050405020304" pitchFamily="18" charset="0"/>
            </a:endParaRPr>
          </a:p>
          <a:p>
            <a:pPr marL="1028700" lvl="1" indent="-342900" algn="just" rtl="0">
              <a:lnSpc>
                <a:spcPct val="90000"/>
              </a:lnSpc>
              <a:spcBef>
                <a:spcPts val="700"/>
              </a:spcBef>
              <a:spcAft>
                <a:spcPts val="0"/>
              </a:spcAft>
              <a:buSzPts val="1400"/>
              <a:buFont typeface="Arial"/>
              <a:buChar char="-"/>
            </a:pPr>
            <a:r>
              <a:rPr lang="en-US" sz="2000" dirty="0">
                <a:solidFill>
                  <a:schemeClr val="dk1"/>
                </a:solidFill>
                <a:latin typeface="Times New Roman" panose="02020603050405020304" pitchFamily="18" charset="0"/>
                <a:cs typeface="Times New Roman" panose="02020603050405020304" pitchFamily="18" charset="0"/>
              </a:rPr>
              <a:t>felt years after the initial investment in the technology</a:t>
            </a:r>
            <a:endParaRPr dirty="0">
              <a:latin typeface="Times New Roman" panose="02020603050405020304" pitchFamily="18" charset="0"/>
              <a:cs typeface="Times New Roman" panose="02020603050405020304" pitchFamily="18" charset="0"/>
            </a:endParaRPr>
          </a:p>
          <a:p>
            <a:pPr marL="1028700" lvl="1" indent="-254000" algn="just" rtl="0">
              <a:lnSpc>
                <a:spcPct val="90000"/>
              </a:lnSpc>
              <a:spcBef>
                <a:spcPts val="700"/>
              </a:spcBef>
              <a:spcAft>
                <a:spcPts val="0"/>
              </a:spcAft>
              <a:buSzPts val="1400"/>
              <a:buFont typeface="Arial"/>
              <a:buNone/>
            </a:pPr>
            <a:endParaRPr sz="2000" dirty="0">
              <a:solidFill>
                <a:schemeClr val="dk1"/>
              </a:solidFill>
            </a:endParaRPr>
          </a:p>
        </p:txBody>
      </p:sp>
      <p:sp>
        <p:nvSpPr>
          <p:cNvPr id="234" name="Google Shape;234;p22"/>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dirty="0">
                <a:solidFill>
                  <a:schemeClr val="dk1"/>
                </a:solidFill>
                <a:latin typeface="Times New Roman"/>
                <a:ea typeface="Times New Roman"/>
                <a:cs typeface="Times New Roman"/>
                <a:sym typeface="Times New Roman"/>
              </a:rPr>
              <a:t>Introduction</a:t>
            </a:r>
            <a:endParaRPr sz="1400" b="0" i="0" u="none" strike="noStrike" cap="none" dirty="0">
              <a:solidFill>
                <a:srgbClr val="000000"/>
              </a:solidFill>
              <a:latin typeface="Arial"/>
              <a:ea typeface="Arial"/>
              <a:cs typeface="Arial"/>
              <a:sym typeface="Arial"/>
            </a:endParaRPr>
          </a:p>
        </p:txBody>
      </p:sp>
      <p:sp>
        <p:nvSpPr>
          <p:cNvPr id="235" name="Google Shape;235;p22"/>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37" name="Google Shape;237;p22"/>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3"/>
          <p:cNvSpPr txBox="1">
            <a:spLocks noGrp="1"/>
          </p:cNvSpPr>
          <p:nvPr>
            <p:ph idx="1"/>
          </p:nvPr>
        </p:nvSpPr>
        <p:spPr>
          <a:xfrm>
            <a:off x="228600" y="990600"/>
            <a:ext cx="8610600" cy="5403850"/>
          </a:xfrm>
          <a:prstGeom prst="rect">
            <a:avLst/>
          </a:prstGeom>
          <a:noFill/>
          <a:ln>
            <a:noFill/>
          </a:ln>
        </p:spPr>
        <p:txBody>
          <a:bodyPr spcFirstLastPara="1" wrap="square" lIns="90000" tIns="46800" rIns="90000" bIns="46800" anchor="t" anchorCtr="0">
            <a:noAutofit/>
          </a:bodyPr>
          <a:lstStyle/>
          <a:p>
            <a:pPr marL="571500" lvl="0" indent="-342900" algn="l" rtl="0">
              <a:lnSpc>
                <a:spcPct val="80000"/>
              </a:lnSpc>
              <a:spcBef>
                <a:spcPts val="800"/>
              </a:spcBef>
              <a:spcAft>
                <a:spcPts val="0"/>
              </a:spcAft>
              <a:buSzPts val="1400"/>
              <a:buFont typeface="Noto Sans Symbols"/>
              <a:buChar char="❑"/>
            </a:pPr>
            <a:r>
              <a:rPr lang="en-US" sz="2000">
                <a:solidFill>
                  <a:schemeClr val="dk1"/>
                </a:solidFill>
              </a:rPr>
              <a:t>Is there a “holistic” definition for intelligence?</a:t>
            </a:r>
            <a:r>
              <a:rPr lang="en-US" sz="2000" i="1">
                <a:solidFill>
                  <a:schemeClr val="dk1"/>
                </a:solidFill>
              </a:rPr>
              <a:t> </a:t>
            </a:r>
            <a:endParaRPr/>
          </a:p>
          <a:p>
            <a:pPr marL="571500" lvl="0" indent="-342900" algn="l" rtl="0">
              <a:lnSpc>
                <a:spcPct val="80000"/>
              </a:lnSpc>
              <a:spcBef>
                <a:spcPts val="800"/>
              </a:spcBef>
              <a:spcAft>
                <a:spcPts val="0"/>
              </a:spcAft>
              <a:buSzPts val="1400"/>
              <a:buFont typeface="Noto Sans Symbols"/>
              <a:buChar char="❑"/>
            </a:pPr>
            <a:r>
              <a:rPr lang="en-US" sz="2000">
                <a:solidFill>
                  <a:schemeClr val="dk1"/>
                </a:solidFill>
              </a:rPr>
              <a:t>Here are some definitions:</a:t>
            </a:r>
            <a:endParaRPr/>
          </a:p>
          <a:p>
            <a:pPr marL="1028700" lvl="1" indent="-342900" algn="l" rtl="0">
              <a:lnSpc>
                <a:spcPct val="80000"/>
              </a:lnSpc>
              <a:spcBef>
                <a:spcPts val="700"/>
              </a:spcBef>
              <a:spcAft>
                <a:spcPts val="0"/>
              </a:spcAft>
              <a:buSzPts val="1400"/>
              <a:buFont typeface="Noto Sans Symbols"/>
              <a:buChar char="❑"/>
            </a:pPr>
            <a:r>
              <a:rPr lang="en-US" sz="1800" i="1">
                <a:solidFill>
                  <a:schemeClr val="dk1"/>
                </a:solidFill>
              </a:rPr>
              <a:t>the ability to comprehend; to understand and profit from experience </a:t>
            </a:r>
            <a:endParaRPr/>
          </a:p>
          <a:p>
            <a:pPr marL="1028700" lvl="1" indent="-342900" algn="l" rtl="0">
              <a:lnSpc>
                <a:spcPct val="80000"/>
              </a:lnSpc>
              <a:spcBef>
                <a:spcPts val="700"/>
              </a:spcBef>
              <a:spcAft>
                <a:spcPts val="0"/>
              </a:spcAft>
              <a:buSzPts val="1400"/>
              <a:buFont typeface="Noto Sans Symbols"/>
              <a:buChar char="❑"/>
            </a:pPr>
            <a:r>
              <a:rPr lang="en-US" sz="1800" i="1">
                <a:solidFill>
                  <a:schemeClr val="dk1"/>
                </a:solidFill>
              </a:rPr>
              <a:t>a general mental capability that involves the ability to reason, plan, solve problems, think abstractly, comprehend ideas and language, and learn</a:t>
            </a:r>
            <a:r>
              <a:rPr lang="en-US" sz="1800">
                <a:solidFill>
                  <a:schemeClr val="dk1"/>
                </a:solidFill>
              </a:rPr>
              <a:t> </a:t>
            </a:r>
            <a:endParaRPr/>
          </a:p>
          <a:p>
            <a:pPr marL="1028700" lvl="1" indent="-342900" algn="l" rtl="0">
              <a:lnSpc>
                <a:spcPct val="80000"/>
              </a:lnSpc>
              <a:spcBef>
                <a:spcPts val="700"/>
              </a:spcBef>
              <a:spcAft>
                <a:spcPts val="0"/>
              </a:spcAft>
              <a:buSzPts val="1400"/>
              <a:buFont typeface="Noto Sans Symbols"/>
              <a:buChar char="❑"/>
            </a:pPr>
            <a:r>
              <a:rPr lang="en-US" sz="1800" i="1">
                <a:solidFill>
                  <a:schemeClr val="dk1"/>
                </a:solidFill>
              </a:rPr>
              <a:t>is effectively perceiving, interpreting and responding to the environment</a:t>
            </a:r>
            <a:r>
              <a:rPr lang="en-US" sz="1800">
                <a:solidFill>
                  <a:schemeClr val="dk1"/>
                </a:solidFill>
              </a:rPr>
              <a:t> </a:t>
            </a:r>
            <a:r>
              <a:rPr lang="en-US" sz="1800" i="1">
                <a:solidFill>
                  <a:schemeClr val="dk1"/>
                </a:solidFill>
              </a:rPr>
              <a:t> </a:t>
            </a:r>
            <a:endParaRPr/>
          </a:p>
          <a:p>
            <a:pPr marL="571500" lvl="0" indent="-342900" algn="l" rtl="0">
              <a:lnSpc>
                <a:spcPct val="80000"/>
              </a:lnSpc>
              <a:spcBef>
                <a:spcPts val="800"/>
              </a:spcBef>
              <a:spcAft>
                <a:spcPts val="0"/>
              </a:spcAft>
              <a:buSzPts val="1400"/>
              <a:buFont typeface="Noto Sans Symbols"/>
              <a:buChar char="❑"/>
            </a:pPr>
            <a:r>
              <a:rPr lang="en-US" sz="2000">
                <a:solidFill>
                  <a:schemeClr val="dk1"/>
                </a:solidFill>
              </a:rPr>
              <a:t>None of these tells us what intelligence is, so instead, maybe we can enumerate a list of elements that an intelligence must be able to perform:</a:t>
            </a:r>
            <a:endParaRPr/>
          </a:p>
          <a:p>
            <a:pPr marL="1028700" lvl="1" indent="-342900" algn="l" rtl="0">
              <a:lnSpc>
                <a:spcPct val="80000"/>
              </a:lnSpc>
              <a:spcBef>
                <a:spcPts val="700"/>
              </a:spcBef>
              <a:spcAft>
                <a:spcPts val="0"/>
              </a:spcAft>
              <a:buSzPts val="1400"/>
              <a:buFont typeface="Noto Sans Symbols"/>
              <a:buChar char="❑"/>
            </a:pPr>
            <a:r>
              <a:rPr lang="en-US" sz="1800">
                <a:solidFill>
                  <a:schemeClr val="dk1"/>
                </a:solidFill>
              </a:rPr>
              <a:t>perceive, reason and infer, solve problems, learn and adapt, apply common sense, apply analogy, recall, apply intuition, reach emotional states, achieve self-awareness</a:t>
            </a:r>
            <a:endParaRPr/>
          </a:p>
          <a:p>
            <a:pPr marL="571500" lvl="0" indent="-342900" algn="l" rtl="0">
              <a:lnSpc>
                <a:spcPct val="80000"/>
              </a:lnSpc>
              <a:spcBef>
                <a:spcPts val="800"/>
              </a:spcBef>
              <a:spcAft>
                <a:spcPts val="0"/>
              </a:spcAft>
              <a:buSzPts val="1400"/>
              <a:buFont typeface="Noto Sans Symbols"/>
              <a:buChar char="❑"/>
            </a:pPr>
            <a:r>
              <a:rPr lang="en-US" sz="2000">
                <a:solidFill>
                  <a:schemeClr val="dk1"/>
                </a:solidFill>
              </a:rPr>
              <a:t>Which of these are necessary for intelligence?  Which are sufficient?</a:t>
            </a:r>
            <a:endParaRPr/>
          </a:p>
          <a:p>
            <a:pPr marL="571500" lvl="0" indent="-342900" algn="l" rtl="0">
              <a:lnSpc>
                <a:spcPct val="80000"/>
              </a:lnSpc>
              <a:spcBef>
                <a:spcPts val="800"/>
              </a:spcBef>
              <a:spcAft>
                <a:spcPts val="0"/>
              </a:spcAft>
              <a:buSzPts val="1400"/>
              <a:buFont typeface="Noto Sans Symbols"/>
              <a:buChar char="❑"/>
            </a:pPr>
            <a:r>
              <a:rPr lang="en-US" sz="2000">
                <a:solidFill>
                  <a:schemeClr val="dk1"/>
                </a:solidFill>
              </a:rPr>
              <a:t>Artificial Intelligence – should we define this in terms of human intelligence?</a:t>
            </a:r>
            <a:endParaRPr/>
          </a:p>
          <a:p>
            <a:pPr marL="914400" lvl="1" indent="-228600" algn="l" rtl="0">
              <a:lnSpc>
                <a:spcPct val="80000"/>
              </a:lnSpc>
              <a:spcBef>
                <a:spcPts val="700"/>
              </a:spcBef>
              <a:spcAft>
                <a:spcPts val="0"/>
              </a:spcAft>
              <a:buSzPts val="1400"/>
              <a:buNone/>
            </a:pPr>
            <a:r>
              <a:rPr lang="en-US" sz="1800">
                <a:solidFill>
                  <a:schemeClr val="dk1"/>
                </a:solidFill>
              </a:rPr>
              <a:t>does AI have to really be intelligent?  </a:t>
            </a:r>
            <a:endParaRPr/>
          </a:p>
          <a:p>
            <a:pPr marL="914400" lvl="1" indent="-228600" algn="l" rtl="0">
              <a:lnSpc>
                <a:spcPct val="80000"/>
              </a:lnSpc>
              <a:spcBef>
                <a:spcPts val="700"/>
              </a:spcBef>
              <a:spcAft>
                <a:spcPts val="0"/>
              </a:spcAft>
              <a:buSzPts val="1400"/>
              <a:buNone/>
            </a:pPr>
            <a:r>
              <a:rPr lang="en-US" sz="1800">
                <a:solidFill>
                  <a:schemeClr val="dk1"/>
                </a:solidFill>
              </a:rPr>
              <a:t>what is the difference between being intelligent and demonstrating intelligent behavior?</a:t>
            </a:r>
            <a:endParaRPr/>
          </a:p>
          <a:p>
            <a:pPr marL="1028700" lvl="1" indent="-254000" algn="just" rtl="0">
              <a:lnSpc>
                <a:spcPct val="90000"/>
              </a:lnSpc>
              <a:spcBef>
                <a:spcPts val="700"/>
              </a:spcBef>
              <a:spcAft>
                <a:spcPts val="0"/>
              </a:spcAft>
              <a:buSzPts val="1400"/>
              <a:buFont typeface="Arial"/>
              <a:buNone/>
            </a:pPr>
            <a:endParaRPr sz="1800">
              <a:solidFill>
                <a:schemeClr val="dk1"/>
              </a:solidFill>
            </a:endParaRPr>
          </a:p>
        </p:txBody>
      </p:sp>
      <p:sp>
        <p:nvSpPr>
          <p:cNvPr id="243" name="Google Shape;243;p23"/>
          <p:cNvSpPr txBox="1"/>
          <p:nvPr/>
        </p:nvSpPr>
        <p:spPr>
          <a:xfrm>
            <a:off x="0" y="-1016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None/>
            </a:pPr>
            <a:r>
              <a:rPr lang="en-US" sz="4000" b="1" i="0" u="none" strike="noStrike" cap="none">
                <a:solidFill>
                  <a:schemeClr val="dk1"/>
                </a:solidFill>
                <a:latin typeface="Arial"/>
                <a:ea typeface="Arial"/>
                <a:cs typeface="Arial"/>
                <a:sym typeface="Arial"/>
              </a:rPr>
              <a:t>Intelligence?</a:t>
            </a:r>
            <a:endParaRPr/>
          </a:p>
        </p:txBody>
      </p:sp>
      <p:sp>
        <p:nvSpPr>
          <p:cNvPr id="244" name="Google Shape;244;p23"/>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46" name="Google Shape;246;p23"/>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4"/>
          <p:cNvSpPr txBox="1">
            <a:spLocks noGrp="1"/>
          </p:cNvSpPr>
          <p:nvPr>
            <p:ph idx="1"/>
          </p:nvPr>
        </p:nvSpPr>
        <p:spPr>
          <a:xfrm>
            <a:off x="228600" y="3048000"/>
            <a:ext cx="8610600" cy="1087120"/>
          </a:xfrm>
          <a:prstGeom prst="rect">
            <a:avLst/>
          </a:prstGeom>
          <a:noFill/>
          <a:ln>
            <a:noFill/>
          </a:ln>
        </p:spPr>
        <p:txBody>
          <a:bodyPr spcFirstLastPara="1" wrap="square" lIns="90000" tIns="46800" rIns="90000" bIns="46800" anchor="t" anchorCtr="0">
            <a:noAutofit/>
          </a:bodyPr>
          <a:lstStyle/>
          <a:p>
            <a:pPr marL="685800" lvl="1" indent="0" algn="ctr" rtl="0">
              <a:lnSpc>
                <a:spcPct val="90000"/>
              </a:lnSpc>
              <a:spcBef>
                <a:spcPts val="700"/>
              </a:spcBef>
              <a:spcAft>
                <a:spcPts val="0"/>
              </a:spcAft>
              <a:buSzPts val="1400"/>
              <a:buNone/>
            </a:pPr>
            <a:r>
              <a:rPr lang="en-US" sz="2400">
                <a:solidFill>
                  <a:schemeClr val="dk1"/>
                </a:solidFill>
              </a:rPr>
              <a:t>something that is simulated or made by humans, not by nature. So making the machine intelligent by human.</a:t>
            </a:r>
            <a:endParaRPr/>
          </a:p>
        </p:txBody>
      </p:sp>
      <p:sp>
        <p:nvSpPr>
          <p:cNvPr id="252" name="Google Shape;252;p24"/>
          <p:cNvSpPr txBox="1"/>
          <p:nvPr/>
        </p:nvSpPr>
        <p:spPr>
          <a:xfrm>
            <a:off x="0" y="-1016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None/>
            </a:pPr>
            <a:r>
              <a:rPr lang="en-US" sz="4000" b="1" i="0" u="none" strike="noStrike" cap="none">
                <a:solidFill>
                  <a:schemeClr val="dk1"/>
                </a:solidFill>
                <a:latin typeface="Arial"/>
                <a:ea typeface="Arial"/>
                <a:cs typeface="Arial"/>
                <a:sym typeface="Arial"/>
              </a:rPr>
              <a:t>Artificial?</a:t>
            </a:r>
            <a:endParaRPr/>
          </a:p>
        </p:txBody>
      </p:sp>
      <p:sp>
        <p:nvSpPr>
          <p:cNvPr id="253" name="Google Shape;253;p24"/>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55" name="Google Shape;255;p24"/>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5"/>
          <p:cNvSpPr txBox="1">
            <a:spLocks noGrp="1"/>
          </p:cNvSpPr>
          <p:nvPr>
            <p:ph type="title"/>
          </p:nvPr>
        </p:nvSpPr>
        <p:spPr>
          <a:xfrm>
            <a:off x="1975168" y="5827712"/>
            <a:ext cx="5486400" cy="566738"/>
          </a:xfrm>
          <a:prstGeom prst="rect">
            <a:avLst/>
          </a:prstGeom>
          <a:noFill/>
          <a:ln>
            <a:noFill/>
          </a:ln>
        </p:spPr>
        <p:txBody>
          <a:bodyPr spcFirstLastPara="1" wrap="square" lIns="90000" tIns="46800" rIns="90000" bIns="46800" anchor="b" anchorCtr="0">
            <a:noAutofit/>
          </a:bodyPr>
          <a:lstStyle/>
          <a:p>
            <a:pPr marL="0" lvl="0" indent="0" algn="ctr" rtl="0">
              <a:lnSpc>
                <a:spcPct val="100000"/>
              </a:lnSpc>
              <a:spcBef>
                <a:spcPts val="0"/>
              </a:spcBef>
              <a:spcAft>
                <a:spcPts val="0"/>
              </a:spcAft>
              <a:buSzPts val="1400"/>
              <a:buNone/>
            </a:pPr>
            <a:r>
              <a:rPr lang="en-US"/>
              <a:t>Fig 1.1: Parent Discipline of AI</a:t>
            </a:r>
            <a:endParaRPr/>
          </a:p>
        </p:txBody>
      </p:sp>
      <p:sp>
        <p:nvSpPr>
          <p:cNvPr id="261" name="Google Shape;261;p25"/>
          <p:cNvSpPr txBox="1">
            <a:spLocks noGrp="1"/>
          </p:cNvSpPr>
          <p:nvPr>
            <p:ph type="body" idx="1"/>
          </p:nvPr>
        </p:nvSpPr>
        <p:spPr>
          <a:prstGeom prst="rect">
            <a:avLst/>
          </a:prstGeom>
          <a:noFill/>
          <a:ln>
            <a:noFill/>
          </a:ln>
        </p:spPr>
        <p:txBody>
          <a:bodyPr spcFirstLastPara="1" wrap="square" lIns="90000" tIns="46800" rIns="90000" bIns="46800" anchor="t" anchorCtr="0">
            <a:noAutofit/>
          </a:bodyPr>
          <a:lstStyle/>
          <a:p>
            <a:pPr marL="457200" lvl="0" indent="-228600" algn="l" rtl="0">
              <a:lnSpc>
                <a:spcPct val="100000"/>
              </a:lnSpc>
              <a:spcBef>
                <a:spcPts val="800"/>
              </a:spcBef>
              <a:spcAft>
                <a:spcPts val="0"/>
              </a:spcAft>
              <a:buSzPts val="1400"/>
              <a:buNone/>
            </a:pPr>
            <a:r>
              <a:rPr lang="en-US"/>
              <a:t>	</a:t>
            </a:r>
            <a:endParaRPr/>
          </a:p>
          <a:p>
            <a:pPr marL="457200" lvl="0" indent="-228600" algn="l" rtl="0">
              <a:lnSpc>
                <a:spcPct val="100000"/>
              </a:lnSpc>
              <a:spcBef>
                <a:spcPts val="800"/>
              </a:spcBef>
              <a:spcAft>
                <a:spcPts val="0"/>
              </a:spcAft>
              <a:buSzPts val="1400"/>
              <a:buNone/>
            </a:pPr>
            <a:endParaRPr/>
          </a:p>
        </p:txBody>
      </p:sp>
      <p:sp>
        <p:nvSpPr>
          <p:cNvPr id="262" name="Google Shape;262;p25"/>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sp>
        <p:nvSpPr>
          <p:cNvPr id="263" name="Google Shape;263;p25"/>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pic>
        <p:nvPicPr>
          <p:cNvPr id="265" name="Google Shape;265;p25" descr="Fig 1: Parent Disciplines and Applications of AI"/>
          <p:cNvPicPr preferRelativeResize="0"/>
          <p:nvPr/>
        </p:nvPicPr>
        <p:blipFill rotWithShape="1">
          <a:blip r:embed="rId3">
            <a:alphaModFix/>
          </a:blip>
          <a:srcRect/>
          <a:stretch/>
        </p:blipFill>
        <p:spPr>
          <a:xfrm>
            <a:off x="589935" y="839544"/>
            <a:ext cx="7777317" cy="4930225"/>
          </a:xfrm>
          <a:prstGeom prst="rect">
            <a:avLst/>
          </a:prstGeom>
          <a:noFill/>
          <a:ln>
            <a:noFill/>
          </a:ln>
        </p:spPr>
      </p:pic>
      <p:sp>
        <p:nvSpPr>
          <p:cNvPr id="266" name="Google Shape;266;p25"/>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6"/>
          <p:cNvSpPr txBox="1">
            <a:spLocks noGrp="1"/>
          </p:cNvSpPr>
          <p:nvPr>
            <p:ph idx="1"/>
          </p:nvPr>
        </p:nvSpPr>
        <p:spPr>
          <a:xfrm>
            <a:off x="228600" y="990600"/>
            <a:ext cx="8610600" cy="5403850"/>
          </a:xfrm>
          <a:prstGeom prst="rect">
            <a:avLst/>
          </a:prstGeom>
          <a:noFill/>
          <a:ln>
            <a:noFill/>
          </a:ln>
        </p:spPr>
        <p:txBody>
          <a:bodyPr spcFirstLastPara="1" wrap="square" lIns="90000" tIns="46800" rIns="90000" bIns="46800" anchor="t" anchorCtr="0">
            <a:noAutofit/>
          </a:bodyPr>
          <a:lstStyle/>
          <a:p>
            <a:pPr marL="0" lvl="0" indent="0" algn="l" rtl="0">
              <a:lnSpc>
                <a:spcPct val="100000"/>
              </a:lnSpc>
              <a:spcBef>
                <a:spcPts val="0"/>
              </a:spcBef>
              <a:spcAft>
                <a:spcPts val="0"/>
              </a:spcAft>
              <a:buSzPts val="3200"/>
              <a:buNone/>
            </a:pPr>
            <a:r>
              <a:rPr lang="en-US" sz="1800" dirty="0">
                <a:solidFill>
                  <a:schemeClr val="dk1"/>
                </a:solidFill>
                <a:latin typeface="Times New Roman" panose="02020603050405020304" pitchFamily="18" charset="0"/>
                <a:ea typeface="Arial"/>
                <a:cs typeface="Times New Roman" panose="02020603050405020304" pitchFamily="18" charset="0"/>
                <a:sym typeface="Arial"/>
              </a:rPr>
              <a:t>Let us define Artificial Intelligence</a:t>
            </a:r>
            <a:r>
              <a:rPr lang="en-US" sz="1800" b="0" i="0" u="none" dirty="0">
                <a:solidFill>
                  <a:schemeClr val="dk1"/>
                </a:solidFill>
                <a:latin typeface="Times New Roman" panose="02020603050405020304" pitchFamily="18" charset="0"/>
                <a:ea typeface="Arial"/>
                <a:cs typeface="Times New Roman" panose="02020603050405020304" pitchFamily="18" charset="0"/>
                <a:sym typeface="Arial"/>
              </a:rPr>
              <a:t> now</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514350" lvl="0" indent="-285750" algn="l" rtl="0">
              <a:lnSpc>
                <a:spcPct val="100000"/>
              </a:lnSpc>
              <a:spcBef>
                <a:spcPts val="800"/>
              </a:spcBef>
              <a:spcAft>
                <a:spcPts val="0"/>
              </a:spcAft>
              <a:buSzPts val="1400"/>
              <a:buFont typeface="Noto Sans Symbols"/>
              <a:buChar char="❑"/>
            </a:pPr>
            <a:r>
              <a:rPr lang="en-US" sz="1800" b="1" i="0" u="none" strike="noStrike" dirty="0">
                <a:solidFill>
                  <a:schemeClr val="dk1"/>
                </a:solidFill>
                <a:latin typeface="Times New Roman" panose="02020603050405020304" pitchFamily="18" charset="0"/>
                <a:ea typeface="Arial"/>
                <a:cs typeface="Times New Roman" panose="02020603050405020304" pitchFamily="18" charset="0"/>
                <a:sym typeface="Arial"/>
              </a:rPr>
              <a:t>A</a:t>
            </a: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rtificial </a:t>
            </a:r>
            <a:r>
              <a:rPr lang="en-US" sz="1800" b="1" i="0" u="none" strike="noStrike" dirty="0">
                <a:solidFill>
                  <a:schemeClr val="dk1"/>
                </a:solidFill>
                <a:latin typeface="Times New Roman" panose="02020603050405020304" pitchFamily="18" charset="0"/>
                <a:ea typeface="Arial"/>
                <a:cs typeface="Times New Roman" panose="02020603050405020304" pitchFamily="18" charset="0"/>
                <a:sym typeface="Arial"/>
              </a:rPr>
              <a:t>I</a:t>
            </a: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ntelligence (AI) is a branch of </a:t>
            </a:r>
            <a:r>
              <a:rPr lang="en-US" sz="1800" b="0" i="1" u="none" strike="noStrike" dirty="0">
                <a:solidFill>
                  <a:schemeClr val="dk1"/>
                </a:solidFill>
                <a:latin typeface="Times New Roman" panose="02020603050405020304" pitchFamily="18" charset="0"/>
                <a:ea typeface="Arial"/>
                <a:cs typeface="Times New Roman" panose="02020603050405020304" pitchFamily="18" charset="0"/>
                <a:sym typeface="Arial"/>
              </a:rPr>
              <a:t>Science </a:t>
            </a: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which deals with helping machines find solutions to complex problems in a more human-like fashion.</a:t>
            </a:r>
            <a:endParaRPr sz="1800" dirty="0">
              <a:latin typeface="Times New Roman" panose="02020603050405020304" pitchFamily="18" charset="0"/>
              <a:cs typeface="Times New Roman" panose="02020603050405020304" pitchFamily="18" charset="0"/>
            </a:endParaRPr>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This generally involves borrowing characteristics from human intelligence, and</a:t>
            </a:r>
            <a:endParaRPr sz="1800" dirty="0">
              <a:latin typeface="Times New Roman" panose="02020603050405020304" pitchFamily="18" charset="0"/>
              <a:cs typeface="Times New Roman" panose="02020603050405020304" pitchFamily="18" charset="0"/>
            </a:endParaRPr>
          </a:p>
          <a:p>
            <a:pPr marL="228600" lvl="0" indent="0" algn="l" rtl="0">
              <a:lnSpc>
                <a:spcPct val="100000"/>
              </a:lnSpc>
              <a:spcBef>
                <a:spcPts val="800"/>
              </a:spcBef>
              <a:spcAft>
                <a:spcPts val="0"/>
              </a:spcAft>
              <a:buSzPts val="1400"/>
              <a:buNone/>
            </a:pP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      applying them as algorithms in a computer friendly way.</a:t>
            </a:r>
            <a:endParaRPr sz="1800" dirty="0">
              <a:latin typeface="Times New Roman" panose="02020603050405020304" pitchFamily="18" charset="0"/>
              <a:cs typeface="Times New Roman" panose="02020603050405020304" pitchFamily="18" charset="0"/>
            </a:endParaRPr>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 A more or less flexible or efficient approach can be taken depending on the</a:t>
            </a:r>
            <a:endParaRPr sz="1800" dirty="0">
              <a:latin typeface="Times New Roman" panose="02020603050405020304" pitchFamily="18" charset="0"/>
              <a:cs typeface="Times New Roman" panose="02020603050405020304" pitchFamily="18" charset="0"/>
            </a:endParaRPr>
          </a:p>
          <a:p>
            <a:pPr marL="228600" lvl="0" indent="0" algn="l" rtl="0">
              <a:lnSpc>
                <a:spcPct val="100000"/>
              </a:lnSpc>
              <a:spcBef>
                <a:spcPts val="800"/>
              </a:spcBef>
              <a:spcAft>
                <a:spcPts val="0"/>
              </a:spcAft>
              <a:buSzPts val="1400"/>
              <a:buNone/>
            </a:pP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      requirements established, which influences how artificial the intelligent  </a:t>
            </a:r>
            <a:endParaRPr sz="1800" dirty="0">
              <a:latin typeface="Times New Roman" panose="02020603050405020304" pitchFamily="18" charset="0"/>
              <a:cs typeface="Times New Roman" panose="02020603050405020304" pitchFamily="18" charset="0"/>
            </a:endParaRPr>
          </a:p>
          <a:p>
            <a:pPr marL="228600" lvl="0" indent="0" algn="l" rtl="0">
              <a:lnSpc>
                <a:spcPct val="100000"/>
              </a:lnSpc>
              <a:spcBef>
                <a:spcPts val="800"/>
              </a:spcBef>
              <a:spcAft>
                <a:spcPts val="0"/>
              </a:spcAft>
              <a:buSzPts val="1400"/>
              <a:buNone/>
            </a:pPr>
            <a:r>
              <a:rPr lang="en-US" sz="1800" dirty="0">
                <a:solidFill>
                  <a:schemeClr val="dk1"/>
                </a:solidFill>
                <a:latin typeface="Times New Roman" panose="02020603050405020304" pitchFamily="18" charset="0"/>
                <a:ea typeface="Arial"/>
                <a:cs typeface="Times New Roman" panose="02020603050405020304" pitchFamily="18" charset="0"/>
                <a:sym typeface="Arial"/>
              </a:rPr>
              <a:t>      </a:t>
            </a: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behavior</a:t>
            </a:r>
            <a:r>
              <a:rPr lang="en-US" sz="1800" dirty="0">
                <a:solidFill>
                  <a:schemeClr val="dk1"/>
                </a:solidFill>
                <a:latin typeface="Times New Roman" panose="02020603050405020304" pitchFamily="18" charset="0"/>
                <a:ea typeface="Arial"/>
                <a:cs typeface="Times New Roman" panose="02020603050405020304" pitchFamily="18" charset="0"/>
                <a:sym typeface="Arial"/>
              </a:rPr>
              <a:t> a</a:t>
            </a: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ppears.</a:t>
            </a:r>
            <a:endParaRPr sz="1800" dirty="0">
              <a:latin typeface="Times New Roman" panose="02020603050405020304" pitchFamily="18" charset="0"/>
              <a:cs typeface="Times New Roman" panose="02020603050405020304" pitchFamily="18" charset="0"/>
            </a:endParaRPr>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The automation of activities that we associate with human thinking (e.g., decision-making, learning…)</a:t>
            </a:r>
            <a:endParaRPr sz="1800" dirty="0">
              <a:latin typeface="Times New Roman" panose="02020603050405020304" pitchFamily="18" charset="0"/>
              <a:cs typeface="Times New Roman" panose="02020603050405020304" pitchFamily="18" charset="0"/>
            </a:endParaRPr>
          </a:p>
          <a:p>
            <a:pPr marL="514350" lvl="0" indent="-285750" algn="l" rtl="0">
              <a:lnSpc>
                <a:spcPct val="100000"/>
              </a:lnSpc>
              <a:spcBef>
                <a:spcPts val="800"/>
              </a:spcBef>
              <a:spcAft>
                <a:spcPts val="0"/>
              </a:spcAft>
              <a:buSzPts val="1400"/>
              <a:buFont typeface="Noto Sans Symbols"/>
              <a:buChar char="❑"/>
            </a:pPr>
            <a:r>
              <a:rPr lang="en-US" sz="1800" dirty="0">
                <a:solidFill>
                  <a:schemeClr val="dk1"/>
                </a:solidFill>
                <a:latin typeface="Times New Roman" panose="02020603050405020304" pitchFamily="18" charset="0"/>
                <a:ea typeface="Arial"/>
                <a:cs typeface="Times New Roman" panose="02020603050405020304" pitchFamily="18" charset="0"/>
                <a:sym typeface="Arial"/>
              </a:rPr>
              <a:t>A field of study that seeks to explain and emulate intelligent behavior in terms of computational processes</a:t>
            </a:r>
            <a:endParaRPr sz="1800" dirty="0">
              <a:latin typeface="Times New Roman" panose="02020603050405020304" pitchFamily="18" charset="0"/>
              <a:cs typeface="Times New Roman" panose="02020603050405020304" pitchFamily="18" charset="0"/>
            </a:endParaRPr>
          </a:p>
          <a:p>
            <a:pPr marL="514350" lvl="0" indent="-285750" algn="l" rtl="0">
              <a:lnSpc>
                <a:spcPct val="100000"/>
              </a:lnSpc>
              <a:spcBef>
                <a:spcPts val="800"/>
              </a:spcBef>
              <a:spcAft>
                <a:spcPts val="0"/>
              </a:spcAft>
              <a:buSzPts val="1400"/>
              <a:buFont typeface="Noto Sans Symbols"/>
              <a:buChar char="❑"/>
            </a:pPr>
            <a:r>
              <a:rPr lang="en-US" sz="1800" dirty="0">
                <a:solidFill>
                  <a:schemeClr val="dk1"/>
                </a:solidFill>
                <a:latin typeface="Times New Roman" panose="02020603050405020304" pitchFamily="18" charset="0"/>
                <a:ea typeface="Arial"/>
                <a:cs typeface="Times New Roman" panose="02020603050405020304" pitchFamily="18" charset="0"/>
                <a:sym typeface="Arial"/>
              </a:rPr>
              <a:t>The branch of computer science that is concerned with the automation of intelligent behavior</a:t>
            </a:r>
            <a:endParaRPr sz="1800" dirty="0">
              <a:latin typeface="Times New Roman" panose="02020603050405020304" pitchFamily="18" charset="0"/>
              <a:cs typeface="Times New Roman" panose="02020603050405020304" pitchFamily="18" charset="0"/>
            </a:endParaRPr>
          </a:p>
          <a:p>
            <a:pPr marL="228600" lvl="0" indent="0" algn="l" rtl="0">
              <a:lnSpc>
                <a:spcPct val="100000"/>
              </a:lnSpc>
              <a:spcBef>
                <a:spcPts val="800"/>
              </a:spcBef>
              <a:spcAft>
                <a:spcPts val="0"/>
              </a:spcAft>
              <a:buSzPts val="1400"/>
              <a:buNone/>
            </a:pPr>
            <a:endParaRPr sz="1800" b="0" i="0" u="none" strike="noStrike" dirty="0">
              <a:solidFill>
                <a:schemeClr val="dk1"/>
              </a:solidFill>
              <a:latin typeface="Arial"/>
              <a:ea typeface="Arial"/>
              <a:cs typeface="Arial"/>
              <a:sym typeface="Arial"/>
            </a:endParaRPr>
          </a:p>
        </p:txBody>
      </p:sp>
      <p:sp>
        <p:nvSpPr>
          <p:cNvPr id="272" name="Google Shape;272;p26"/>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Definitions</a:t>
            </a:r>
            <a:endParaRPr sz="1400" b="0" i="0" u="none" strike="noStrike" cap="none">
              <a:solidFill>
                <a:srgbClr val="000000"/>
              </a:solidFill>
              <a:latin typeface="Arial"/>
              <a:ea typeface="Arial"/>
              <a:cs typeface="Arial"/>
              <a:sym typeface="Arial"/>
            </a:endParaRPr>
          </a:p>
        </p:txBody>
      </p:sp>
      <p:sp>
        <p:nvSpPr>
          <p:cNvPr id="273" name="Google Shape;273;p26"/>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75" name="Google Shape;275;p26"/>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7"/>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228600" lvl="0" indent="0" algn="l" rtl="0">
              <a:lnSpc>
                <a:spcPct val="100000"/>
              </a:lnSpc>
              <a:spcBef>
                <a:spcPts val="800"/>
              </a:spcBef>
              <a:spcAft>
                <a:spcPts val="0"/>
              </a:spcAft>
              <a:buSzPts val="1400"/>
              <a:buNone/>
            </a:pPr>
            <a:r>
              <a:rPr lang="en-US" sz="2000" b="1" i="0" u="none" strike="noStrike" dirty="0">
                <a:solidFill>
                  <a:schemeClr val="dk1"/>
                </a:solidFill>
                <a:latin typeface="Times New Roman"/>
                <a:ea typeface="Times New Roman"/>
                <a:cs typeface="Times New Roman"/>
                <a:sym typeface="Times New Roman"/>
              </a:rPr>
              <a:t>Artificial intelligence can be viewed from a variety of perspectives: -</a:t>
            </a:r>
            <a:endParaRPr dirty="0"/>
          </a:p>
          <a:p>
            <a:pPr marL="228600" lvl="0" indent="0" algn="l" rtl="0">
              <a:lnSpc>
                <a:spcPct val="100000"/>
              </a:lnSpc>
              <a:spcBef>
                <a:spcPts val="800"/>
              </a:spcBef>
              <a:spcAft>
                <a:spcPts val="0"/>
              </a:spcAft>
              <a:buSzPts val="1400"/>
              <a:buNone/>
            </a:pPr>
            <a:endParaRPr sz="2000" b="1" i="0" u="none" strike="noStrike" dirty="0">
              <a:solidFill>
                <a:schemeClr val="dk1"/>
              </a:solidFill>
              <a:latin typeface="Times New Roman"/>
              <a:ea typeface="Times New Roman"/>
              <a:cs typeface="Times New Roman"/>
              <a:sym typeface="Times New Roman"/>
            </a:endParaRPr>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chemeClr val="dk1"/>
                </a:solidFill>
                <a:latin typeface="Times New Roman"/>
                <a:ea typeface="Times New Roman"/>
                <a:cs typeface="Times New Roman"/>
                <a:sym typeface="Times New Roman"/>
              </a:rPr>
              <a:t>From the perspective of </a:t>
            </a:r>
            <a:r>
              <a:rPr lang="en-US" sz="1800" b="1" i="0" u="none" strike="noStrike" dirty="0">
                <a:solidFill>
                  <a:schemeClr val="dk1"/>
                </a:solidFill>
                <a:latin typeface="Times New Roman"/>
                <a:ea typeface="Times New Roman"/>
                <a:cs typeface="Times New Roman"/>
                <a:sym typeface="Times New Roman"/>
              </a:rPr>
              <a:t>intelligence </a:t>
            </a:r>
            <a:r>
              <a:rPr lang="en-US" sz="1800" b="0" i="0" u="none" strike="noStrike" dirty="0">
                <a:solidFill>
                  <a:schemeClr val="dk1"/>
                </a:solidFill>
                <a:latin typeface="Times New Roman"/>
                <a:ea typeface="Times New Roman"/>
                <a:cs typeface="Times New Roman"/>
                <a:sym typeface="Times New Roman"/>
              </a:rPr>
              <a:t>artificial intelligence is making machines "intelligent" -- acting as we would expect people to act.</a:t>
            </a:r>
            <a:r>
              <a:rPr lang="en-US" sz="2400" b="0" i="0" u="none" dirty="0">
                <a:solidFill>
                  <a:schemeClr val="dk1"/>
                </a:solidFill>
                <a:latin typeface="Arial"/>
                <a:ea typeface="Arial"/>
                <a:cs typeface="Arial"/>
                <a:sym typeface="Arial"/>
              </a:rPr>
              <a:t> </a:t>
            </a:r>
            <a:endParaRPr dirty="0"/>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rgbClr val="000000"/>
                </a:solidFill>
                <a:latin typeface="Times New Roman"/>
                <a:ea typeface="Times New Roman"/>
                <a:cs typeface="Times New Roman"/>
                <a:sym typeface="Times New Roman"/>
              </a:rPr>
              <a:t>From a </a:t>
            </a:r>
            <a:r>
              <a:rPr lang="en-US" sz="1800" b="1" i="0" u="none" strike="noStrike" dirty="0">
                <a:solidFill>
                  <a:srgbClr val="000000"/>
                </a:solidFill>
                <a:latin typeface="Times New Roman"/>
                <a:ea typeface="Times New Roman"/>
                <a:cs typeface="Times New Roman"/>
                <a:sym typeface="Times New Roman"/>
              </a:rPr>
              <a:t>business </a:t>
            </a:r>
            <a:r>
              <a:rPr lang="en-US" sz="1800" b="0" i="0" u="none" strike="noStrike" dirty="0">
                <a:solidFill>
                  <a:srgbClr val="000000"/>
                </a:solidFill>
                <a:latin typeface="Times New Roman"/>
                <a:ea typeface="Times New Roman"/>
                <a:cs typeface="Times New Roman"/>
                <a:sym typeface="Times New Roman"/>
              </a:rPr>
              <a:t>perspective AI is a set of very powerful tools, and methodologies for using those tools to solve business problems. </a:t>
            </a:r>
            <a:endParaRPr dirty="0"/>
          </a:p>
          <a:p>
            <a:pPr marL="514350" lvl="0" indent="-285750" algn="l" rtl="0">
              <a:lnSpc>
                <a:spcPct val="100000"/>
              </a:lnSpc>
              <a:spcBef>
                <a:spcPts val="800"/>
              </a:spcBef>
              <a:spcAft>
                <a:spcPts val="0"/>
              </a:spcAft>
              <a:buSzPts val="1400"/>
              <a:buFont typeface="Noto Sans Symbols"/>
              <a:buChar char="❑"/>
            </a:pPr>
            <a:r>
              <a:rPr lang="en-US" sz="1800" b="0" i="0" u="none" strike="noStrike" dirty="0">
                <a:solidFill>
                  <a:srgbClr val="000000"/>
                </a:solidFill>
                <a:latin typeface="Times New Roman"/>
                <a:ea typeface="Times New Roman"/>
                <a:cs typeface="Times New Roman"/>
                <a:sym typeface="Times New Roman"/>
              </a:rPr>
              <a:t>From a </a:t>
            </a:r>
            <a:r>
              <a:rPr lang="en-US" sz="1800" b="1" i="0" u="none" strike="noStrike" dirty="0">
                <a:solidFill>
                  <a:srgbClr val="000000"/>
                </a:solidFill>
                <a:latin typeface="Times New Roman"/>
                <a:ea typeface="Times New Roman"/>
                <a:cs typeface="Times New Roman"/>
                <a:sym typeface="Times New Roman"/>
              </a:rPr>
              <a:t>programming </a:t>
            </a:r>
            <a:r>
              <a:rPr lang="en-US" sz="1800" b="0" i="0" u="none" strike="noStrike" dirty="0">
                <a:solidFill>
                  <a:srgbClr val="000000"/>
                </a:solidFill>
                <a:latin typeface="Times New Roman"/>
                <a:ea typeface="Times New Roman"/>
                <a:cs typeface="Times New Roman"/>
                <a:sym typeface="Times New Roman"/>
              </a:rPr>
              <a:t>perspective, AI includes the study of symbolic programming, problem solving, and search. 	</a:t>
            </a:r>
            <a:endParaRPr dirty="0"/>
          </a:p>
          <a:p>
            <a:pPr marL="971550" lvl="1" indent="-285750" algn="l" rtl="0">
              <a:lnSpc>
                <a:spcPct val="100000"/>
              </a:lnSpc>
              <a:spcBef>
                <a:spcPts val="700"/>
              </a:spcBef>
              <a:spcAft>
                <a:spcPts val="0"/>
              </a:spcAft>
              <a:buSzPts val="1400"/>
              <a:buFont typeface="Noto Sans Symbols"/>
              <a:buChar char="▪"/>
            </a:pPr>
            <a:r>
              <a:rPr lang="en-US" sz="1800" b="0" i="0" u="none" strike="noStrike" dirty="0">
                <a:solidFill>
                  <a:srgbClr val="000000"/>
                </a:solidFill>
                <a:latin typeface="Times New Roman"/>
                <a:ea typeface="Times New Roman"/>
                <a:cs typeface="Times New Roman"/>
                <a:sym typeface="Times New Roman"/>
              </a:rPr>
              <a:t>Typically AI programs focus on symbols rather than numeric processing. </a:t>
            </a:r>
            <a:endParaRPr dirty="0"/>
          </a:p>
          <a:p>
            <a:pPr marL="971550" lvl="1" indent="-285750" algn="l" rtl="0">
              <a:lnSpc>
                <a:spcPct val="100000"/>
              </a:lnSpc>
              <a:spcBef>
                <a:spcPts val="700"/>
              </a:spcBef>
              <a:spcAft>
                <a:spcPts val="0"/>
              </a:spcAft>
              <a:buSzPts val="1400"/>
              <a:buFont typeface="Noto Sans Symbols"/>
              <a:buChar char="▪"/>
            </a:pPr>
            <a:r>
              <a:rPr lang="en-US" sz="1800" b="0" i="0" u="none" strike="noStrike" dirty="0">
                <a:solidFill>
                  <a:srgbClr val="000000"/>
                </a:solidFill>
                <a:latin typeface="Times New Roman"/>
                <a:ea typeface="Times New Roman"/>
                <a:cs typeface="Times New Roman"/>
                <a:sym typeface="Times New Roman"/>
              </a:rPr>
              <a:t>Problem solving - achieve goals. </a:t>
            </a:r>
            <a:endParaRPr dirty="0"/>
          </a:p>
          <a:p>
            <a:pPr marL="971550" lvl="1" indent="-285750" algn="l" rtl="0">
              <a:lnSpc>
                <a:spcPct val="100000"/>
              </a:lnSpc>
              <a:spcBef>
                <a:spcPts val="700"/>
              </a:spcBef>
              <a:spcAft>
                <a:spcPts val="0"/>
              </a:spcAft>
              <a:buSzPts val="1400"/>
              <a:buFont typeface="Noto Sans Symbols"/>
              <a:buChar char="▪"/>
            </a:pPr>
            <a:r>
              <a:rPr lang="en-US" sz="1800" b="0" i="0" u="none" strike="noStrike" dirty="0">
                <a:solidFill>
                  <a:srgbClr val="000000"/>
                </a:solidFill>
                <a:latin typeface="Times New Roman"/>
                <a:ea typeface="Times New Roman"/>
                <a:cs typeface="Times New Roman"/>
                <a:sym typeface="Times New Roman"/>
              </a:rPr>
              <a:t>Search - seldom access a solution directly. Search may include a variety of techniques.</a:t>
            </a:r>
            <a:r>
              <a:rPr lang="en-US" sz="1800" b="0" i="0" u="none" strike="noStrike" dirty="0">
                <a:solidFill>
                  <a:srgbClr val="1F2023"/>
                </a:solidFill>
                <a:latin typeface="Times New Roman"/>
                <a:ea typeface="Times New Roman"/>
                <a:cs typeface="Times New Roman"/>
                <a:sym typeface="Times New Roman"/>
              </a:rPr>
              <a:t>	</a:t>
            </a:r>
            <a:endParaRPr dirty="0"/>
          </a:p>
          <a:p>
            <a:pPr marL="514350" lvl="0" indent="-196850" algn="l" rtl="0">
              <a:lnSpc>
                <a:spcPct val="100000"/>
              </a:lnSpc>
              <a:spcBef>
                <a:spcPts val="800"/>
              </a:spcBef>
              <a:spcAft>
                <a:spcPts val="0"/>
              </a:spcAft>
              <a:buSzPts val="1400"/>
              <a:buFont typeface="Courier New"/>
              <a:buNone/>
            </a:pPr>
            <a:endParaRPr dirty="0">
              <a:solidFill>
                <a:schemeClr val="dk1"/>
              </a:solidFill>
            </a:endParaRPr>
          </a:p>
        </p:txBody>
      </p:sp>
      <p:sp>
        <p:nvSpPr>
          <p:cNvPr id="281" name="Google Shape;281;p27"/>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dirty="0">
                <a:solidFill>
                  <a:schemeClr val="dk1"/>
                </a:solidFill>
                <a:latin typeface="Times New Roman"/>
                <a:ea typeface="Times New Roman"/>
                <a:cs typeface="Times New Roman"/>
                <a:sym typeface="Times New Roman"/>
              </a:rPr>
              <a:t>Other Perspectives</a:t>
            </a:r>
            <a:endParaRPr sz="1400" b="0" i="0" u="none" strike="noStrike" cap="none" dirty="0">
              <a:solidFill>
                <a:srgbClr val="000000"/>
              </a:solidFill>
              <a:latin typeface="Arial"/>
              <a:ea typeface="Arial"/>
              <a:cs typeface="Arial"/>
              <a:sym typeface="Arial"/>
            </a:endParaRPr>
          </a:p>
        </p:txBody>
      </p:sp>
      <p:sp>
        <p:nvSpPr>
          <p:cNvPr id="282" name="Google Shape;282;p27"/>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84" name="Google Shape;284;p27"/>
          <p:cNvSpPr txBox="1"/>
          <p:nvPr/>
        </p:nvSpPr>
        <p:spPr>
          <a:xfrm>
            <a:off x="0" y="6507840"/>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8"/>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-LISP(</a:t>
            </a:r>
            <a:r>
              <a:rPr lang="en-US" sz="1800" b="0" i="0" u="none" strike="noStrike">
                <a:solidFill>
                  <a:srgbClr val="1F2023"/>
                </a:solidFill>
                <a:latin typeface="Times New Roman"/>
                <a:ea typeface="Times New Roman"/>
                <a:cs typeface="Times New Roman"/>
                <a:sym typeface="Times New Roman"/>
              </a:rPr>
              <a:t>LISP, an </a:t>
            </a:r>
            <a:r>
              <a:rPr lang="en-US" sz="1800" b="1" i="0" u="none" strike="noStrike">
                <a:solidFill>
                  <a:srgbClr val="1F2023"/>
                </a:solidFill>
                <a:latin typeface="Times New Roman"/>
                <a:ea typeface="Times New Roman"/>
                <a:cs typeface="Times New Roman"/>
                <a:sym typeface="Times New Roman"/>
              </a:rPr>
              <a:t>acronym for list processing</a:t>
            </a:r>
            <a:r>
              <a:rPr lang="en-US" sz="1800" b="0" i="0" u="none" strike="noStrike">
                <a:solidFill>
                  <a:srgbClr val="1F2023"/>
                </a:solidFill>
                <a:latin typeface="Times New Roman"/>
                <a:ea typeface="Times New Roman"/>
                <a:cs typeface="Times New Roman"/>
                <a:sym typeface="Times New Roman"/>
              </a:rPr>
              <a:t>, is a programming language that was designed for easy manipulation of data strings. Developed in 1959 by John McCarth</a:t>
            </a:r>
            <a:r>
              <a:rPr lang="en-US" sz="1800">
                <a:solidFill>
                  <a:srgbClr val="1F2023"/>
                </a:solidFill>
                <a:latin typeface="Times New Roman"/>
                <a:ea typeface="Times New Roman"/>
                <a:cs typeface="Times New Roman"/>
                <a:sym typeface="Times New Roman"/>
              </a:rPr>
              <a:t>y, </a:t>
            </a:r>
            <a:r>
              <a:rPr lang="en-US" sz="1800" b="0" i="0" u="none" strike="noStrike">
                <a:solidFill>
                  <a:srgbClr val="1F2023"/>
                </a:solidFill>
                <a:latin typeface="Times New Roman"/>
                <a:ea typeface="Times New Roman"/>
                <a:cs typeface="Times New Roman"/>
                <a:sym typeface="Times New Roman"/>
              </a:rPr>
              <a:t>it is a commonly used language for artificial intelligence (AI) programming)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-The second language strongly associated with AI is PROLOG.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PROLOG was developed in the 1970s. PROLOG is based on first order logic(Prolog is a programming language for symbolic, non-numeric computation. It is specially well suited for solving problems that involve objects and relations between objects). </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 Object-oriented languages are a class of languages recently used for AI Progarmming.</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    Object-Oriented languages are Smalltalk, Objective C, C++. Object oriented extensions to LISP (CLOS - Common LISP Object System) and PROLOG (L&amp;O - Logic &amp; Objects) are also used.</a:t>
            </a:r>
            <a:endParaRPr/>
          </a:p>
          <a:p>
            <a:pPr marL="457200" lvl="0" indent="-228600" algn="l" rtl="0">
              <a:lnSpc>
                <a:spcPct val="100000"/>
              </a:lnSpc>
              <a:spcBef>
                <a:spcPts val="800"/>
              </a:spcBef>
              <a:spcAft>
                <a:spcPts val="0"/>
              </a:spcAft>
              <a:buSzPts val="1400"/>
              <a:buNone/>
            </a:pPr>
            <a:r>
              <a:rPr lang="en-US" sz="1800" b="0" i="0" u="none" strike="noStrike">
                <a:solidFill>
                  <a:srgbClr val="000000"/>
                </a:solidFill>
                <a:latin typeface="Times New Roman"/>
                <a:ea typeface="Times New Roman"/>
                <a:cs typeface="Times New Roman"/>
                <a:sym typeface="Times New Roman"/>
              </a:rPr>
              <a:t>-Most Popular language of today associated with AI is Python. </a:t>
            </a:r>
            <a:endParaRPr/>
          </a:p>
          <a:p>
            <a:pPr marL="457200" lvl="0" indent="-228600" algn="l" rtl="0">
              <a:lnSpc>
                <a:spcPct val="100000"/>
              </a:lnSpc>
              <a:spcBef>
                <a:spcPts val="800"/>
              </a:spcBef>
              <a:spcAft>
                <a:spcPts val="0"/>
              </a:spcAft>
              <a:buSzPts val="1400"/>
              <a:buNone/>
            </a:pPr>
            <a:r>
              <a:rPr lang="en-US" sz="1800">
                <a:solidFill>
                  <a:srgbClr val="000000"/>
                </a:solidFill>
                <a:latin typeface="Times New Roman"/>
                <a:ea typeface="Times New Roman"/>
                <a:cs typeface="Times New Roman"/>
                <a:sym typeface="Times New Roman"/>
              </a:rPr>
              <a:t>    Python is widely used for artificial intelligence, with packages for several applications including General AI, Machine Learning, Natural Language Processing and Neural Networks. The application of AI to develop programs that do human-like jobs and portray human skills is Machine Learning.</a:t>
            </a:r>
            <a:r>
              <a:rPr lang="en-US" sz="1800" b="0" i="0" u="none" strike="noStrike">
                <a:solidFill>
                  <a:srgbClr val="000000"/>
                </a:solidFill>
                <a:latin typeface="Times New Roman"/>
                <a:ea typeface="Times New Roman"/>
                <a:cs typeface="Times New Roman"/>
                <a:sym typeface="Times New Roman"/>
              </a:rPr>
              <a:t>	</a:t>
            </a:r>
            <a:endParaRPr/>
          </a:p>
          <a:p>
            <a:pPr marL="457200" lvl="0" indent="-228600" algn="l" rtl="0">
              <a:lnSpc>
                <a:spcPct val="100000"/>
              </a:lnSpc>
              <a:spcBef>
                <a:spcPts val="800"/>
              </a:spcBef>
              <a:spcAft>
                <a:spcPts val="0"/>
              </a:spcAft>
              <a:buSzPts val="1400"/>
              <a:buNone/>
            </a:pPr>
            <a:r>
              <a:rPr lang="en-US" sz="1800" b="0" i="0" u="none" strike="noStrike">
                <a:solidFill>
                  <a:srgbClr val="1F2023"/>
                </a:solidFill>
                <a:latin typeface="Times New Roman"/>
                <a:ea typeface="Times New Roman"/>
                <a:cs typeface="Times New Roman"/>
                <a:sym typeface="Times New Roman"/>
              </a:rPr>
              <a:t>	</a:t>
            </a:r>
            <a:endParaRPr/>
          </a:p>
          <a:p>
            <a:pPr marL="514350" lvl="0" indent="-196850" algn="l" rtl="0">
              <a:lnSpc>
                <a:spcPct val="100000"/>
              </a:lnSpc>
              <a:spcBef>
                <a:spcPts val="800"/>
              </a:spcBef>
              <a:spcAft>
                <a:spcPts val="0"/>
              </a:spcAft>
              <a:buSzPts val="1400"/>
              <a:buFont typeface="Courier New"/>
              <a:buNone/>
            </a:pPr>
            <a:endParaRPr>
              <a:solidFill>
                <a:schemeClr val="dk1"/>
              </a:solidFill>
            </a:endParaRPr>
          </a:p>
        </p:txBody>
      </p:sp>
      <p:sp>
        <p:nvSpPr>
          <p:cNvPr id="290" name="Google Shape;290;p28"/>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AI Programming Languages</a:t>
            </a:r>
            <a:endParaRPr sz="1400" b="0" i="0" u="none" strike="noStrike" cap="none">
              <a:solidFill>
                <a:srgbClr val="000000"/>
              </a:solidFill>
              <a:latin typeface="Arial"/>
              <a:ea typeface="Arial"/>
              <a:cs typeface="Arial"/>
              <a:sym typeface="Arial"/>
            </a:endParaRPr>
          </a:p>
        </p:txBody>
      </p:sp>
      <p:sp>
        <p:nvSpPr>
          <p:cNvPr id="291" name="Google Shape;291;p28"/>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9"/>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514350" lvl="0" indent="-285750" algn="l" rtl="0">
              <a:lnSpc>
                <a:spcPct val="10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Game Playing</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You can buy machines that can play master level chess for a few hundred dollars.</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There is some AI in them, but they play well against people mainly through brute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force computation--looking at hundreds of thousands of positions. To beat a world</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champion by brute force and known reliable heuristics requires being able to look at</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200 million positions per second.</a:t>
            </a:r>
            <a:endParaRPr/>
          </a:p>
          <a:p>
            <a:pPr marL="514350" lvl="0" indent="-285750" algn="l" rtl="0">
              <a:lnSpc>
                <a:spcPct val="10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Speech Recognition</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In the 1990s, computer speech recognition reached a practical level for limited</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purposes. Thus United Airlines has replaced its keyboard tree for flight information</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by a system using speech recognition of flight numbers and city names. It is quite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convenient. On the other hand, while it is possible to instruct some computers using</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speech, most users have gone back to the keyboard and the mouse as still more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convenient.	</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	</a:t>
            </a:r>
            <a:endParaRPr/>
          </a:p>
          <a:p>
            <a:pPr marL="514350" lvl="0" indent="-196850" algn="l" rtl="0">
              <a:lnSpc>
                <a:spcPct val="100000"/>
              </a:lnSpc>
              <a:spcBef>
                <a:spcPts val="800"/>
              </a:spcBef>
              <a:spcAft>
                <a:spcPts val="0"/>
              </a:spcAft>
              <a:buSzPts val="1400"/>
              <a:buFont typeface="Courier New"/>
              <a:buNone/>
            </a:pPr>
            <a:endParaRPr>
              <a:solidFill>
                <a:schemeClr val="dk1"/>
              </a:solidFill>
            </a:endParaRPr>
          </a:p>
        </p:txBody>
      </p:sp>
      <p:sp>
        <p:nvSpPr>
          <p:cNvPr id="298" name="Google Shape;298;p29"/>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Importance of AI</a:t>
            </a:r>
            <a:endParaRPr sz="1400" b="0" i="0" u="none" strike="noStrike" cap="none">
              <a:solidFill>
                <a:srgbClr val="000000"/>
              </a:solidFill>
              <a:latin typeface="Arial"/>
              <a:ea typeface="Arial"/>
              <a:cs typeface="Arial"/>
              <a:sym typeface="Arial"/>
            </a:endParaRPr>
          </a:p>
        </p:txBody>
      </p:sp>
      <p:sp>
        <p:nvSpPr>
          <p:cNvPr id="299" name="Google Shape;299;p29"/>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01" name="Google Shape;301;p29"/>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0"/>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514350" lvl="0" indent="-285750" algn="l" rtl="0">
              <a:lnSpc>
                <a:spcPct val="10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Understanding Natural Language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Just getting a sequence of words into a computer is not enough. Parsing sentences is</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not enough either. The computer has to be provided with an understanding of the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domain the text is about, and this is presently possible only for very limited domains.</a:t>
            </a:r>
            <a:endParaRPr/>
          </a:p>
          <a:p>
            <a:pPr marL="514350" lvl="0" indent="-285750" algn="l" rtl="0">
              <a:lnSpc>
                <a:spcPct val="10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Computer Vision</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The world is composed of three-dimensional objects, but the inputs to the human eye</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and computers' TV cameras are two dimensional. Some useful programs can work</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solely in two dimensions, but full computer vision requires partial three-dimensional</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information that is not just a set of two-dimensional views. At present there are only</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limited ways of representing three-dimensional information directly, and they are not</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as good as what humans evidently use.</a:t>
            </a:r>
            <a:endParaRPr>
              <a:solidFill>
                <a:schemeClr val="dk1"/>
              </a:solidFill>
            </a:endParaRPr>
          </a:p>
        </p:txBody>
      </p:sp>
      <p:sp>
        <p:nvSpPr>
          <p:cNvPr id="307" name="Google Shape;307;p30"/>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Importance of AI</a:t>
            </a:r>
            <a:endParaRPr sz="1400" b="0" i="0" u="none" strike="noStrike" cap="none">
              <a:solidFill>
                <a:srgbClr val="000000"/>
              </a:solidFill>
              <a:latin typeface="Arial"/>
              <a:ea typeface="Arial"/>
              <a:cs typeface="Arial"/>
              <a:sym typeface="Arial"/>
            </a:endParaRPr>
          </a:p>
        </p:txBody>
      </p:sp>
      <p:sp>
        <p:nvSpPr>
          <p:cNvPr id="308" name="Google Shape;308;p30"/>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10" name="Google Shape;310;p30"/>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1"/>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514350" lvl="0" indent="-285750" algn="just" rtl="0">
              <a:lnSpc>
                <a:spcPct val="15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Expert Systems</a:t>
            </a:r>
            <a:endParaRPr/>
          </a:p>
          <a:p>
            <a:pPr marL="457200" lvl="0" indent="-228600" algn="just" rtl="0">
              <a:lnSpc>
                <a:spcPct val="15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    A ``knowledge engineer'' interviews experts in a certain domain and tries to embody their knowledge in a computer program for carrying out some task. One of the first expert systems was MYCIN in 1974, which diagnosed bacterial infections of the blood and suggested treatments. It did better than medical students or practicing doctors, provided its limitations were observed. Namely, its ontology included bacteria, symptoms, and treatments and did not include patients, doctors, hospitals, death, recovery, and events occurring in time. Its interactions depended on a single patient being considered. Since the experts consulted by the knowledge engineers knew about patients, doctors, death, recovery, etc., it is clear that the knowledge engineers forced what the experts told them into a predetermined framework. The usefulness of current expert systems depends on their users having common sense.</a:t>
            </a:r>
            <a:endParaRPr>
              <a:solidFill>
                <a:schemeClr val="dk1"/>
              </a:solidFill>
            </a:endParaRPr>
          </a:p>
        </p:txBody>
      </p:sp>
      <p:sp>
        <p:nvSpPr>
          <p:cNvPr id="316" name="Google Shape;316;p31"/>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Importance of AI</a:t>
            </a:r>
            <a:endParaRPr sz="1400" b="0" i="0" u="none" strike="noStrike" cap="none">
              <a:solidFill>
                <a:srgbClr val="000000"/>
              </a:solidFill>
              <a:latin typeface="Arial"/>
              <a:ea typeface="Arial"/>
              <a:cs typeface="Arial"/>
              <a:sym typeface="Arial"/>
            </a:endParaRPr>
          </a:p>
        </p:txBody>
      </p:sp>
      <p:sp>
        <p:nvSpPr>
          <p:cNvPr id="317" name="Google Shape;317;p31"/>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19" name="Google Shape;319;p31"/>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2"/>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514350" lvl="0" indent="-285750" algn="l" rtl="0">
              <a:lnSpc>
                <a:spcPct val="100000"/>
              </a:lnSpc>
              <a:spcBef>
                <a:spcPts val="800"/>
              </a:spcBef>
              <a:spcAft>
                <a:spcPts val="0"/>
              </a:spcAft>
              <a:buSzPts val="1400"/>
              <a:buFont typeface="Noto Sans Symbols"/>
              <a:buChar char="❑"/>
            </a:pPr>
            <a:r>
              <a:rPr lang="en-US" sz="1800" b="1" i="0" u="none" strike="noStrike">
                <a:solidFill>
                  <a:schemeClr val="dk1"/>
                </a:solidFill>
                <a:latin typeface="Times New Roman"/>
                <a:ea typeface="Times New Roman"/>
                <a:cs typeface="Times New Roman"/>
                <a:sym typeface="Times New Roman"/>
              </a:rPr>
              <a:t>Heuristic Classification</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One of the most feasible kinds of expert system given the present knowledge of AI is</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to put some information in one of a fixed set of categories using several sources of</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information. An example is advising whether to accept a proposed credit card</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purchase. Information is available about the owner of the credit card, his record of</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payment and also about the item he is buying and about the establishment from which</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he is buying it (e.g., about whether there have been previous credit card frauds at this</a:t>
            </a:r>
            <a:endParaRPr/>
          </a:p>
          <a:p>
            <a:pPr marL="457200" lvl="0" indent="-228600" algn="l" rtl="0">
              <a:lnSpc>
                <a:spcPct val="100000"/>
              </a:lnSpc>
              <a:spcBef>
                <a:spcPts val="800"/>
              </a:spcBef>
              <a:spcAft>
                <a:spcPts val="0"/>
              </a:spcAft>
              <a:buSzPts val="1400"/>
              <a:buNone/>
            </a:pPr>
            <a:r>
              <a:rPr lang="en-US" sz="1800" b="0" i="0" u="none" strike="noStrike">
                <a:solidFill>
                  <a:schemeClr val="dk1"/>
                </a:solidFill>
                <a:latin typeface="Times New Roman"/>
                <a:ea typeface="Times New Roman"/>
                <a:cs typeface="Times New Roman"/>
                <a:sym typeface="Times New Roman"/>
              </a:rPr>
              <a:t>establishment).users having common sense.</a:t>
            </a:r>
            <a:endParaRPr>
              <a:solidFill>
                <a:schemeClr val="dk1"/>
              </a:solidFill>
            </a:endParaRPr>
          </a:p>
        </p:txBody>
      </p:sp>
      <p:sp>
        <p:nvSpPr>
          <p:cNvPr id="325" name="Google Shape;325;p32"/>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Importance of AI </a:t>
            </a:r>
            <a:endParaRPr sz="1400" b="0" i="0" u="none" strike="noStrike" cap="none">
              <a:solidFill>
                <a:srgbClr val="000000"/>
              </a:solidFill>
              <a:latin typeface="Arial"/>
              <a:ea typeface="Arial"/>
              <a:cs typeface="Arial"/>
              <a:sym typeface="Arial"/>
            </a:endParaRPr>
          </a:p>
        </p:txBody>
      </p:sp>
      <p:sp>
        <p:nvSpPr>
          <p:cNvPr id="326" name="Google Shape;326;p32"/>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28" name="Google Shape;328;p32"/>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D6F16212-069B-03B8-3ECD-4B1B9FEEA6AE}"/>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BA2A834F-341C-C76E-8081-AD9C99042A9A}"/>
              </a:ext>
            </a:extLst>
          </p:cNvPr>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endParaRPr lang="en-IN" dirty="0"/>
          </a:p>
          <a:p>
            <a:pPr marL="0" indent="0">
              <a:buNone/>
            </a:pPr>
            <a:r>
              <a:rPr lang="en-US" sz="1800" dirty="0">
                <a:solidFill>
                  <a:schemeClr val="dk1"/>
                </a:solidFill>
                <a:latin typeface="Times New Roman"/>
                <a:cs typeface="Times New Roman"/>
              </a:rPr>
              <a:t>The main reasons to learn about AI: </a:t>
            </a:r>
          </a:p>
          <a:p>
            <a:pPr marL="0" indent="0">
              <a:lnSpc>
                <a:spcPct val="150000"/>
              </a:lnSpc>
              <a:buNone/>
            </a:pPr>
            <a:r>
              <a:rPr lang="en-US" sz="1800" dirty="0">
                <a:solidFill>
                  <a:schemeClr val="dk1"/>
                </a:solidFill>
                <a:latin typeface="Times New Roman"/>
                <a:cs typeface="Times New Roman"/>
              </a:rPr>
              <a:t>➢ With the help of AI, you can create such software or devices which can solve real-world problems very easily and with accuracy such as health issues, marketing, traffic issues, etc. </a:t>
            </a:r>
          </a:p>
          <a:p>
            <a:pPr marL="0" indent="0">
              <a:lnSpc>
                <a:spcPct val="150000"/>
              </a:lnSpc>
              <a:buNone/>
            </a:pPr>
            <a:r>
              <a:rPr lang="en-US" sz="1800" dirty="0">
                <a:solidFill>
                  <a:schemeClr val="dk1"/>
                </a:solidFill>
                <a:latin typeface="Times New Roman"/>
                <a:cs typeface="Times New Roman"/>
              </a:rPr>
              <a:t>➢ With the help of AI, you can create your personal virtual Assistant, such as Cortana, Google Assistant, Siri, etc. </a:t>
            </a:r>
          </a:p>
          <a:p>
            <a:pPr marL="0" indent="0">
              <a:lnSpc>
                <a:spcPct val="150000"/>
              </a:lnSpc>
              <a:buNone/>
            </a:pPr>
            <a:r>
              <a:rPr lang="en-US" sz="1800" dirty="0">
                <a:solidFill>
                  <a:schemeClr val="dk1"/>
                </a:solidFill>
                <a:latin typeface="Times New Roman"/>
                <a:cs typeface="Times New Roman"/>
              </a:rPr>
              <a:t>➢ With the help of AI, you can build such Robots which can work in an environment where survival of humans can be at risk. </a:t>
            </a:r>
          </a:p>
          <a:p>
            <a:pPr marL="0" indent="0">
              <a:lnSpc>
                <a:spcPct val="150000"/>
              </a:lnSpc>
              <a:buNone/>
            </a:pPr>
            <a:r>
              <a:rPr lang="en-US" sz="1800" dirty="0">
                <a:solidFill>
                  <a:schemeClr val="dk1"/>
                </a:solidFill>
                <a:latin typeface="Times New Roman"/>
                <a:cs typeface="Times New Roman"/>
              </a:rPr>
              <a:t>➢ AI opens a path for other new technologies, new devices, and new Opportunities. </a:t>
            </a:r>
          </a:p>
        </p:txBody>
      </p:sp>
      <p:sp>
        <p:nvSpPr>
          <p:cNvPr id="360" name="Google Shape;360;p36">
            <a:extLst>
              <a:ext uri="{FF2B5EF4-FFF2-40B4-BE49-F238E27FC236}">
                <a16:creationId xmlns:a16="http://schemas.microsoft.com/office/drawing/2014/main" id="{DCAB3AEC-7ADF-2FD2-EA89-58A251546672}"/>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endParaRPr lang="en-IN" dirty="0"/>
          </a:p>
          <a:p>
            <a:r>
              <a:rPr lang="en-IN" dirty="0"/>
              <a:t> </a:t>
            </a:r>
            <a:r>
              <a:rPr lang="en-IN" sz="4000" b="1" dirty="0">
                <a:solidFill>
                  <a:srgbClr val="000000"/>
                </a:solidFill>
                <a:latin typeface="Times New Roman"/>
                <a:cs typeface="Times New Roman"/>
              </a:rPr>
              <a:t>Why Artificial Intelligence </a:t>
            </a:r>
            <a:endParaRPr sz="4000" b="1" dirty="0">
              <a:solidFill>
                <a:srgbClr val="000000"/>
              </a:solidFill>
              <a:latin typeface="Times New Roman"/>
              <a:cs typeface="Times New Roman"/>
              <a:sym typeface="Arial"/>
            </a:endParaRPr>
          </a:p>
        </p:txBody>
      </p:sp>
      <p:sp>
        <p:nvSpPr>
          <p:cNvPr id="361" name="Google Shape;361;p36">
            <a:extLst>
              <a:ext uri="{FF2B5EF4-FFF2-40B4-BE49-F238E27FC236}">
                <a16:creationId xmlns:a16="http://schemas.microsoft.com/office/drawing/2014/main" id="{88876C2A-B056-1FC0-3EDB-516F7AF010A0}"/>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F53070B0-8211-C04F-CDAA-0A0BF13F1589}"/>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3278002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819B7DA-69D4-4703-07DD-24B710E53C50}"/>
            </a:ext>
          </a:extLst>
        </p:cNvPr>
        <p:cNvGrpSpPr/>
        <p:nvPr/>
      </p:nvGrpSpPr>
      <p:grpSpPr>
        <a:xfrm>
          <a:off x="0" y="0"/>
          <a:ext cx="0" cy="0"/>
          <a:chOff x="0" y="0"/>
          <a:chExt cx="0" cy="0"/>
        </a:xfrm>
      </p:grpSpPr>
      <p:sp>
        <p:nvSpPr>
          <p:cNvPr id="174" name="Google Shape;174;p16">
            <a:extLst>
              <a:ext uri="{FF2B5EF4-FFF2-40B4-BE49-F238E27FC236}">
                <a16:creationId xmlns:a16="http://schemas.microsoft.com/office/drawing/2014/main" id="{1BCAB365-65EE-48D0-2427-2A2FFE037F87}"/>
              </a:ext>
            </a:extLst>
          </p:cNvPr>
          <p:cNvSpPr txBox="1">
            <a:spLocks noGrp="1"/>
          </p:cNvSpPr>
          <p:nvPr>
            <p:ph idx="1"/>
          </p:nvPr>
        </p:nvSpPr>
        <p:spPr>
          <a:xfrm>
            <a:off x="228600" y="619760"/>
            <a:ext cx="8610600" cy="5781040"/>
          </a:xfrm>
          <a:prstGeom prst="rect">
            <a:avLst/>
          </a:prstGeom>
          <a:noFill/>
          <a:ln>
            <a:noFill/>
          </a:ln>
        </p:spPr>
        <p:txBody>
          <a:bodyPr spcFirstLastPara="1" wrap="square" lIns="90000" tIns="46800" rIns="90000" bIns="46800" anchor="t" anchorCtr="0">
            <a:noAutofit/>
          </a:bodyPr>
          <a:lstStyle/>
          <a:p>
            <a:pPr marL="914400" lvl="1" indent="-368300" algn="just" rtl="0">
              <a:lnSpc>
                <a:spcPct val="150000"/>
              </a:lnSpc>
              <a:spcBef>
                <a:spcPts val="700"/>
              </a:spcBef>
              <a:spcAft>
                <a:spcPts val="0"/>
              </a:spcAft>
              <a:buSzPts val="1400"/>
              <a:buFont typeface="Arial"/>
              <a:buNone/>
            </a:pPr>
            <a:endParaRPr sz="2000" dirty="0">
              <a:solidFill>
                <a:srgbClr val="000000"/>
              </a:solidFill>
              <a:latin typeface="Times New Roman"/>
              <a:ea typeface="Times New Roman"/>
              <a:cs typeface="Times New Roman"/>
              <a:sym typeface="Times New Roman"/>
            </a:endParaRPr>
          </a:p>
          <a:p>
            <a:pPr marL="0" lvl="0" indent="0" algn="just" rtl="0">
              <a:lnSpc>
                <a:spcPct val="150000"/>
              </a:lnSpc>
              <a:spcBef>
                <a:spcPts val="800"/>
              </a:spcBef>
              <a:spcAft>
                <a:spcPts val="0"/>
              </a:spcAft>
              <a:buSzPts val="1400"/>
              <a:buNone/>
            </a:pPr>
            <a:endParaRPr sz="2000" dirty="0">
              <a:latin typeface="Calibri"/>
              <a:ea typeface="Calibri"/>
              <a:cs typeface="Calibri"/>
              <a:sym typeface="Calibri"/>
            </a:endParaRPr>
          </a:p>
          <a:p>
            <a:pPr marL="457200" lvl="0" indent="-228600" algn="l" rtl="0">
              <a:lnSpc>
                <a:spcPct val="100000"/>
              </a:lnSpc>
              <a:spcBef>
                <a:spcPts val="800"/>
              </a:spcBef>
              <a:spcAft>
                <a:spcPts val="0"/>
              </a:spcAft>
              <a:buSzPts val="1400"/>
              <a:buFont typeface="Arial"/>
              <a:buNone/>
            </a:pPr>
            <a:endParaRPr sz="2000" dirty="0">
              <a:solidFill>
                <a:schemeClr val="dk1"/>
              </a:solidFill>
            </a:endParaRPr>
          </a:p>
        </p:txBody>
      </p:sp>
      <p:sp>
        <p:nvSpPr>
          <p:cNvPr id="175" name="Google Shape;175;p16">
            <a:extLst>
              <a:ext uri="{FF2B5EF4-FFF2-40B4-BE49-F238E27FC236}">
                <a16:creationId xmlns:a16="http://schemas.microsoft.com/office/drawing/2014/main" id="{710DB6B7-5D22-416A-7190-26F9E4F17E21}"/>
              </a:ext>
            </a:extLst>
          </p:cNvPr>
          <p:cNvSpPr txBox="1"/>
          <p:nvPr/>
        </p:nvSpPr>
        <p:spPr>
          <a:xfrm>
            <a:off x="0" y="3302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r>
              <a:rPr lang="en-IN" sz="4000" b="1" dirty="0">
                <a:solidFill>
                  <a:srgbClr val="000000"/>
                </a:solidFill>
                <a:latin typeface="Times New Roman"/>
                <a:cs typeface="Times New Roman"/>
              </a:rPr>
              <a:t> Goals of Artificial Intelligence</a:t>
            </a:r>
            <a:endParaRPr sz="4000" b="1" dirty="0">
              <a:solidFill>
                <a:srgbClr val="000000"/>
              </a:solidFill>
              <a:latin typeface="Times New Roman"/>
              <a:cs typeface="Times New Roman"/>
              <a:sym typeface="Arial"/>
            </a:endParaRPr>
          </a:p>
        </p:txBody>
      </p:sp>
      <p:sp>
        <p:nvSpPr>
          <p:cNvPr id="176" name="Google Shape;176;p16">
            <a:extLst>
              <a:ext uri="{FF2B5EF4-FFF2-40B4-BE49-F238E27FC236}">
                <a16:creationId xmlns:a16="http://schemas.microsoft.com/office/drawing/2014/main" id="{C8790528-23DE-6374-42D3-510372308483}"/>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78" name="Google Shape;178;p16">
            <a:extLst>
              <a:ext uri="{FF2B5EF4-FFF2-40B4-BE49-F238E27FC236}">
                <a16:creationId xmlns:a16="http://schemas.microsoft.com/office/drawing/2014/main" id="{92E27A6B-D893-043A-A5F6-BFEA185EF1F4}"/>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
        <p:nvSpPr>
          <p:cNvPr id="3" name="TextBox 2">
            <a:extLst>
              <a:ext uri="{FF2B5EF4-FFF2-40B4-BE49-F238E27FC236}">
                <a16:creationId xmlns:a16="http://schemas.microsoft.com/office/drawing/2014/main" id="{A144804F-888C-EEED-1523-012818B7C046}"/>
              </a:ext>
            </a:extLst>
          </p:cNvPr>
          <p:cNvSpPr txBox="1"/>
          <p:nvPr/>
        </p:nvSpPr>
        <p:spPr>
          <a:xfrm>
            <a:off x="394519" y="958924"/>
            <a:ext cx="8278761" cy="5293757"/>
          </a:xfrm>
          <a:prstGeom prst="rect">
            <a:avLst/>
          </a:prstGeom>
          <a:noFill/>
        </p:spPr>
        <p:txBody>
          <a:bodyPr wrap="square">
            <a:spAutoFit/>
          </a:bodyPr>
          <a:lstStyle/>
          <a:p>
            <a:pPr algn="l"/>
            <a:endParaRPr lang="en-IN" sz="2000" b="0" i="0" u="none" strike="noStrike" baseline="0" dirty="0">
              <a:solidFill>
                <a:srgbClr val="000000"/>
              </a:solidFill>
              <a:latin typeface="Wingdings" panose="05000000000000000000" pitchFamily="2" charset="2"/>
            </a:endParaRPr>
          </a:p>
          <a:p>
            <a:pPr>
              <a:lnSpc>
                <a:spcPct val="150000"/>
              </a:lnSpc>
            </a:pPr>
            <a:r>
              <a:rPr lang="en-IN" sz="2000" b="0" i="0" u="none" strike="noStrike" baseline="0" dirty="0">
                <a:solidFill>
                  <a:srgbClr val="000000"/>
                </a:solidFill>
                <a:latin typeface="Wingdings" panose="05000000000000000000" pitchFamily="2" charset="2"/>
              </a:rPr>
              <a:t> </a:t>
            </a:r>
          </a:p>
          <a:p>
            <a:pPr marL="285750" indent="-285750">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With Artificial intelligence knowledge representation has become easy. Knowledge representation is representing information that machine or computer can understand. </a:t>
            </a:r>
            <a:endParaRPr lang="en-US" sz="1800" b="0" i="0" u="none" strike="noStrike" baseline="0" dirty="0">
              <a:solidFill>
                <a:srgbClr val="000000"/>
              </a:solidFill>
              <a:latin typeface="Wingdings" panose="05000000000000000000" pitchFamily="2" charset="2"/>
            </a:endParaRPr>
          </a:p>
          <a:p>
            <a:pPr marL="285750" indent="-285750">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Artificial planning helps agents sequence of actions to perform to achieve goals. </a:t>
            </a:r>
            <a:endParaRPr lang="en-US" sz="1800" b="0" i="0" u="none" strike="noStrike" baseline="0" dirty="0">
              <a:solidFill>
                <a:srgbClr val="000000"/>
              </a:solidFill>
              <a:latin typeface="Wingdings" panose="05000000000000000000" pitchFamily="2" charset="2"/>
            </a:endParaRPr>
          </a:p>
          <a:p>
            <a:pPr marL="285750" indent="-285750">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Artificial intelligence main goal is develop intelligent machines that could learn on their own. No more human intervention for feeding data to machines. </a:t>
            </a:r>
            <a:endParaRPr lang="en-US" sz="1800" b="0" i="0" u="none" strike="noStrike" baseline="0" dirty="0">
              <a:solidFill>
                <a:srgbClr val="000000"/>
              </a:solidFill>
              <a:latin typeface="Wingdings" panose="05000000000000000000" pitchFamily="2" charset="2"/>
            </a:endParaRPr>
          </a:p>
          <a:p>
            <a:pPr marL="285750" indent="-285750">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With artificial intelligence one can develop machines that can read and understand human languages are known as Natural learning processing. Thanks to natural learning processing acquisition of knowledge became easy. </a:t>
            </a:r>
            <a:endParaRPr lang="en-US" sz="1800" b="0" i="0" u="none" strike="noStrike" baseline="0" dirty="0">
              <a:solidFill>
                <a:srgbClr val="000000"/>
              </a:solidFill>
              <a:latin typeface="Wingdings" panose="05000000000000000000" pitchFamily="2" charset="2"/>
            </a:endParaRPr>
          </a:p>
          <a:p>
            <a:pPr marL="285750" indent="-285750">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Artificial Intelligence helps to develop that could act on sensors (take input from sensors) and react accordingly.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Tree>
    <p:extLst>
      <p:ext uri="{BB962C8B-B14F-4D97-AF65-F5344CB8AC3E}">
        <p14:creationId xmlns:p14="http://schemas.microsoft.com/office/powerpoint/2010/main" val="3316003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53F82A4-A356-857C-3D41-B0A63A109F98}"/>
            </a:ext>
          </a:extLst>
        </p:cNvPr>
        <p:cNvGrpSpPr/>
        <p:nvPr/>
      </p:nvGrpSpPr>
      <p:grpSpPr>
        <a:xfrm>
          <a:off x="0" y="0"/>
          <a:ext cx="0" cy="0"/>
          <a:chOff x="0" y="0"/>
          <a:chExt cx="0" cy="0"/>
        </a:xfrm>
      </p:grpSpPr>
      <p:sp>
        <p:nvSpPr>
          <p:cNvPr id="174" name="Google Shape;174;p16">
            <a:extLst>
              <a:ext uri="{FF2B5EF4-FFF2-40B4-BE49-F238E27FC236}">
                <a16:creationId xmlns:a16="http://schemas.microsoft.com/office/drawing/2014/main" id="{124FB807-0490-21F8-0608-DF36581F31F2}"/>
              </a:ext>
            </a:extLst>
          </p:cNvPr>
          <p:cNvSpPr txBox="1">
            <a:spLocks noGrp="1"/>
          </p:cNvSpPr>
          <p:nvPr>
            <p:ph idx="1"/>
          </p:nvPr>
        </p:nvSpPr>
        <p:spPr>
          <a:xfrm>
            <a:off x="228600" y="619760"/>
            <a:ext cx="8610600" cy="5781040"/>
          </a:xfrm>
          <a:prstGeom prst="rect">
            <a:avLst/>
          </a:prstGeom>
          <a:noFill/>
          <a:ln>
            <a:noFill/>
          </a:ln>
        </p:spPr>
        <p:txBody>
          <a:bodyPr spcFirstLastPara="1" wrap="square" lIns="90000" tIns="46800" rIns="90000" bIns="46800" anchor="t" anchorCtr="0">
            <a:noAutofit/>
          </a:bodyPr>
          <a:lstStyle/>
          <a:p>
            <a:pPr marL="914400" lvl="1" indent="-368300" algn="just" rtl="0">
              <a:lnSpc>
                <a:spcPct val="150000"/>
              </a:lnSpc>
              <a:spcBef>
                <a:spcPts val="700"/>
              </a:spcBef>
              <a:spcAft>
                <a:spcPts val="0"/>
              </a:spcAft>
              <a:buSzPts val="1400"/>
              <a:buFont typeface="Arial"/>
              <a:buNone/>
            </a:pPr>
            <a:endParaRPr sz="2000" dirty="0">
              <a:solidFill>
                <a:srgbClr val="000000"/>
              </a:solidFill>
              <a:latin typeface="Times New Roman"/>
              <a:ea typeface="Times New Roman"/>
              <a:cs typeface="Times New Roman"/>
              <a:sym typeface="Times New Roman"/>
            </a:endParaRPr>
          </a:p>
          <a:p>
            <a:pPr marL="0" lvl="0" indent="0" algn="just" rtl="0">
              <a:lnSpc>
                <a:spcPct val="150000"/>
              </a:lnSpc>
              <a:spcBef>
                <a:spcPts val="800"/>
              </a:spcBef>
              <a:spcAft>
                <a:spcPts val="0"/>
              </a:spcAft>
              <a:buSzPts val="1400"/>
              <a:buNone/>
            </a:pPr>
            <a:endParaRPr sz="2000" dirty="0">
              <a:latin typeface="Calibri"/>
              <a:ea typeface="Calibri"/>
              <a:cs typeface="Calibri"/>
              <a:sym typeface="Calibri"/>
            </a:endParaRPr>
          </a:p>
          <a:p>
            <a:pPr marL="457200" lvl="0" indent="-228600" algn="l" rtl="0">
              <a:lnSpc>
                <a:spcPct val="100000"/>
              </a:lnSpc>
              <a:spcBef>
                <a:spcPts val="800"/>
              </a:spcBef>
              <a:spcAft>
                <a:spcPts val="0"/>
              </a:spcAft>
              <a:buSzPts val="1400"/>
              <a:buFont typeface="Arial"/>
              <a:buNone/>
            </a:pPr>
            <a:endParaRPr sz="2000" dirty="0">
              <a:solidFill>
                <a:schemeClr val="dk1"/>
              </a:solidFill>
            </a:endParaRPr>
          </a:p>
        </p:txBody>
      </p:sp>
      <p:sp>
        <p:nvSpPr>
          <p:cNvPr id="175" name="Google Shape;175;p16">
            <a:extLst>
              <a:ext uri="{FF2B5EF4-FFF2-40B4-BE49-F238E27FC236}">
                <a16:creationId xmlns:a16="http://schemas.microsoft.com/office/drawing/2014/main" id="{CA657626-CBD1-A758-717C-C17D0880E82D}"/>
              </a:ext>
            </a:extLst>
          </p:cNvPr>
          <p:cNvSpPr txBox="1"/>
          <p:nvPr/>
        </p:nvSpPr>
        <p:spPr>
          <a:xfrm>
            <a:off x="0" y="3302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r>
              <a:rPr lang="en-IN" sz="4000" b="1" dirty="0">
                <a:solidFill>
                  <a:srgbClr val="000000"/>
                </a:solidFill>
                <a:latin typeface="Times New Roman"/>
                <a:cs typeface="Times New Roman"/>
              </a:rPr>
              <a:t> Advantages of Artificial Intelligence</a:t>
            </a:r>
            <a:endParaRPr sz="4000" b="1" dirty="0">
              <a:solidFill>
                <a:srgbClr val="000000"/>
              </a:solidFill>
              <a:latin typeface="Times New Roman"/>
              <a:cs typeface="Times New Roman"/>
              <a:sym typeface="Arial"/>
            </a:endParaRPr>
          </a:p>
        </p:txBody>
      </p:sp>
      <p:sp>
        <p:nvSpPr>
          <p:cNvPr id="176" name="Google Shape;176;p16">
            <a:extLst>
              <a:ext uri="{FF2B5EF4-FFF2-40B4-BE49-F238E27FC236}">
                <a16:creationId xmlns:a16="http://schemas.microsoft.com/office/drawing/2014/main" id="{097D3F71-743B-AAB8-7983-11918CC0D1E3}"/>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78" name="Google Shape;178;p16">
            <a:extLst>
              <a:ext uri="{FF2B5EF4-FFF2-40B4-BE49-F238E27FC236}">
                <a16:creationId xmlns:a16="http://schemas.microsoft.com/office/drawing/2014/main" id="{82A09A4E-A25D-1CF0-937C-38C9BBF9CF58}"/>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
        <p:nvSpPr>
          <p:cNvPr id="3" name="TextBox 2">
            <a:extLst>
              <a:ext uri="{FF2B5EF4-FFF2-40B4-BE49-F238E27FC236}">
                <a16:creationId xmlns:a16="http://schemas.microsoft.com/office/drawing/2014/main" id="{1FFE7E55-0B40-05DB-211E-728B33F14360}"/>
              </a:ext>
            </a:extLst>
          </p:cNvPr>
          <p:cNvSpPr txBox="1"/>
          <p:nvPr/>
        </p:nvSpPr>
        <p:spPr>
          <a:xfrm>
            <a:off x="394519" y="1119113"/>
            <a:ext cx="8278761" cy="493981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High Accuracy with fewer errors: </a:t>
            </a:r>
            <a:r>
              <a:rPr lang="en-US" dirty="0">
                <a:latin typeface="Times New Roman" panose="02020603050405020304" pitchFamily="18" charset="0"/>
                <a:cs typeface="Times New Roman" panose="02020603050405020304" pitchFamily="18" charset="0"/>
              </a:rPr>
              <a:t>AI machines or systems are prone to less errors and high accuracy as it takes decisions as per pre-experience or information.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High-Speed: </a:t>
            </a:r>
            <a:r>
              <a:rPr lang="en-US" dirty="0">
                <a:latin typeface="Times New Roman" panose="02020603050405020304" pitchFamily="18" charset="0"/>
                <a:cs typeface="Times New Roman" panose="02020603050405020304" pitchFamily="18" charset="0"/>
              </a:rPr>
              <a:t>AI systems can be of very high-speed and fast-decision making; because of that AI systems can beat a chess champion in the Chess game.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High reliability: </a:t>
            </a:r>
            <a:r>
              <a:rPr lang="en-US" dirty="0">
                <a:latin typeface="Times New Roman" panose="02020603050405020304" pitchFamily="18" charset="0"/>
                <a:cs typeface="Times New Roman" panose="02020603050405020304" pitchFamily="18" charset="0"/>
              </a:rPr>
              <a:t>AI machines are highly reliable and can perform the same action multiple times with high accuracy.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Useful for risky areas: </a:t>
            </a:r>
            <a:r>
              <a:rPr lang="en-US" dirty="0">
                <a:latin typeface="Times New Roman" panose="02020603050405020304" pitchFamily="18" charset="0"/>
                <a:cs typeface="Times New Roman" panose="02020603050405020304" pitchFamily="18" charset="0"/>
              </a:rPr>
              <a:t>AI machines can be helpful in situations such as defusing a bomb, exploring the ocean floor, where to employ a human can be risky.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Digital Assistant: </a:t>
            </a:r>
            <a:r>
              <a:rPr lang="en-US" dirty="0">
                <a:latin typeface="Times New Roman" panose="02020603050405020304" pitchFamily="18" charset="0"/>
                <a:cs typeface="Times New Roman" panose="02020603050405020304" pitchFamily="18" charset="0"/>
              </a:rPr>
              <a:t>AI can be very useful to provide digital assistant to the users such as AI technology is currently used by various E-commerce websites to show the products as per customer requirement.  </a:t>
            </a:r>
          </a:p>
          <a:p>
            <a:endParaRPr lang="en-IN" sz="1800" b="0" i="0" u="none" strike="noStrike" baseline="0" dirty="0">
              <a:solidFill>
                <a:srgbClr val="000000"/>
              </a:solidFill>
              <a:latin typeface="Wingdings" panose="05000000000000000000" pitchFamily="2" charset="2"/>
            </a:endParaRPr>
          </a:p>
        </p:txBody>
      </p:sp>
    </p:spTree>
    <p:extLst>
      <p:ext uri="{BB962C8B-B14F-4D97-AF65-F5344CB8AC3E}">
        <p14:creationId xmlns:p14="http://schemas.microsoft.com/office/powerpoint/2010/main" val="4185108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1127DCB2-1D1A-69B6-DC44-0261C77EBB95}"/>
            </a:ext>
          </a:extLst>
        </p:cNvPr>
        <p:cNvGrpSpPr/>
        <p:nvPr/>
      </p:nvGrpSpPr>
      <p:grpSpPr>
        <a:xfrm>
          <a:off x="0" y="0"/>
          <a:ext cx="0" cy="0"/>
          <a:chOff x="0" y="0"/>
          <a:chExt cx="0" cy="0"/>
        </a:xfrm>
      </p:grpSpPr>
      <p:sp>
        <p:nvSpPr>
          <p:cNvPr id="174" name="Google Shape;174;p16">
            <a:extLst>
              <a:ext uri="{FF2B5EF4-FFF2-40B4-BE49-F238E27FC236}">
                <a16:creationId xmlns:a16="http://schemas.microsoft.com/office/drawing/2014/main" id="{143C6A39-6C79-5416-4F86-608CB8AB96FF}"/>
              </a:ext>
            </a:extLst>
          </p:cNvPr>
          <p:cNvSpPr txBox="1">
            <a:spLocks noGrp="1"/>
          </p:cNvSpPr>
          <p:nvPr>
            <p:ph idx="1"/>
          </p:nvPr>
        </p:nvSpPr>
        <p:spPr>
          <a:xfrm>
            <a:off x="228600" y="619760"/>
            <a:ext cx="8610600" cy="5781040"/>
          </a:xfrm>
          <a:prstGeom prst="rect">
            <a:avLst/>
          </a:prstGeom>
          <a:noFill/>
          <a:ln>
            <a:noFill/>
          </a:ln>
        </p:spPr>
        <p:txBody>
          <a:bodyPr spcFirstLastPara="1" wrap="square" lIns="90000" tIns="46800" rIns="90000" bIns="46800" anchor="t" anchorCtr="0">
            <a:noAutofit/>
          </a:bodyPr>
          <a:lstStyle/>
          <a:p>
            <a:pPr marL="914400" lvl="1" indent="-368300" algn="just" rtl="0">
              <a:lnSpc>
                <a:spcPct val="150000"/>
              </a:lnSpc>
              <a:spcBef>
                <a:spcPts val="700"/>
              </a:spcBef>
              <a:spcAft>
                <a:spcPts val="0"/>
              </a:spcAft>
              <a:buSzPts val="1400"/>
              <a:buFont typeface="Arial"/>
              <a:buNone/>
            </a:pPr>
            <a:endParaRPr sz="2000" dirty="0">
              <a:solidFill>
                <a:srgbClr val="000000"/>
              </a:solidFill>
              <a:latin typeface="Times New Roman"/>
              <a:ea typeface="Times New Roman"/>
              <a:cs typeface="Times New Roman"/>
              <a:sym typeface="Times New Roman"/>
            </a:endParaRPr>
          </a:p>
          <a:p>
            <a:pPr marL="0" lvl="0" indent="0" algn="just" rtl="0">
              <a:lnSpc>
                <a:spcPct val="150000"/>
              </a:lnSpc>
              <a:spcBef>
                <a:spcPts val="800"/>
              </a:spcBef>
              <a:spcAft>
                <a:spcPts val="0"/>
              </a:spcAft>
              <a:buSzPts val="1400"/>
              <a:buNone/>
            </a:pPr>
            <a:endParaRPr sz="2000" dirty="0">
              <a:latin typeface="Calibri"/>
              <a:ea typeface="Calibri"/>
              <a:cs typeface="Calibri"/>
              <a:sym typeface="Calibri"/>
            </a:endParaRPr>
          </a:p>
          <a:p>
            <a:pPr marL="457200" lvl="0" indent="-228600" algn="l" rtl="0">
              <a:lnSpc>
                <a:spcPct val="100000"/>
              </a:lnSpc>
              <a:spcBef>
                <a:spcPts val="800"/>
              </a:spcBef>
              <a:spcAft>
                <a:spcPts val="0"/>
              </a:spcAft>
              <a:buSzPts val="1400"/>
              <a:buFont typeface="Arial"/>
              <a:buNone/>
            </a:pPr>
            <a:endParaRPr sz="2000" dirty="0">
              <a:solidFill>
                <a:schemeClr val="dk1"/>
              </a:solidFill>
            </a:endParaRPr>
          </a:p>
        </p:txBody>
      </p:sp>
      <p:sp>
        <p:nvSpPr>
          <p:cNvPr id="175" name="Google Shape;175;p16">
            <a:extLst>
              <a:ext uri="{FF2B5EF4-FFF2-40B4-BE49-F238E27FC236}">
                <a16:creationId xmlns:a16="http://schemas.microsoft.com/office/drawing/2014/main" id="{7BDFE7A6-FCC3-661F-01FF-C499B9AFD584}"/>
              </a:ext>
            </a:extLst>
          </p:cNvPr>
          <p:cNvSpPr txBox="1"/>
          <p:nvPr/>
        </p:nvSpPr>
        <p:spPr>
          <a:xfrm>
            <a:off x="0" y="33020"/>
            <a:ext cx="9144000" cy="84836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r>
              <a:rPr lang="en-IN" sz="4000" b="1" dirty="0">
                <a:solidFill>
                  <a:srgbClr val="000000"/>
                </a:solidFill>
                <a:latin typeface="Times New Roman"/>
                <a:cs typeface="Times New Roman"/>
              </a:rPr>
              <a:t> Limitations of Artificial Intelligence</a:t>
            </a:r>
            <a:endParaRPr sz="4000" b="1" dirty="0">
              <a:solidFill>
                <a:srgbClr val="000000"/>
              </a:solidFill>
              <a:latin typeface="Times New Roman"/>
              <a:cs typeface="Times New Roman"/>
              <a:sym typeface="Arial"/>
            </a:endParaRPr>
          </a:p>
        </p:txBody>
      </p:sp>
      <p:sp>
        <p:nvSpPr>
          <p:cNvPr id="176" name="Google Shape;176;p16">
            <a:extLst>
              <a:ext uri="{FF2B5EF4-FFF2-40B4-BE49-F238E27FC236}">
                <a16:creationId xmlns:a16="http://schemas.microsoft.com/office/drawing/2014/main" id="{5680B717-2C95-6901-05C9-023ECF93B227}"/>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78" name="Google Shape;178;p16">
            <a:extLst>
              <a:ext uri="{FF2B5EF4-FFF2-40B4-BE49-F238E27FC236}">
                <a16:creationId xmlns:a16="http://schemas.microsoft.com/office/drawing/2014/main" id="{4D64B7F2-066D-F844-EDE4-1A221DAF0ED5}"/>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
        <p:nvSpPr>
          <p:cNvPr id="3" name="TextBox 2">
            <a:extLst>
              <a:ext uri="{FF2B5EF4-FFF2-40B4-BE49-F238E27FC236}">
                <a16:creationId xmlns:a16="http://schemas.microsoft.com/office/drawing/2014/main" id="{FEBD5096-73E3-F58B-15C3-973D44AB83D2}"/>
              </a:ext>
            </a:extLst>
          </p:cNvPr>
          <p:cNvSpPr txBox="1"/>
          <p:nvPr/>
        </p:nvSpPr>
        <p:spPr>
          <a:xfrm>
            <a:off x="394519" y="1119113"/>
            <a:ext cx="8278761" cy="5216813"/>
          </a:xfrm>
          <a:prstGeom prst="rect">
            <a:avLst/>
          </a:prstGeom>
          <a:noFill/>
        </p:spPr>
        <p:txBody>
          <a:bodyPr wrap="square">
            <a:spAutoFit/>
          </a:bodyPr>
          <a:lstStyle/>
          <a:p>
            <a:endParaRPr lang="en-IN" dirty="0"/>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High Cost: </a:t>
            </a:r>
            <a:r>
              <a:rPr lang="en-US" dirty="0">
                <a:latin typeface="Times New Roman" panose="02020603050405020304" pitchFamily="18" charset="0"/>
                <a:cs typeface="Times New Roman" panose="02020603050405020304" pitchFamily="18" charset="0"/>
              </a:rPr>
              <a:t>The hardware and software requirement of AI is very costly as it requires lots of maintenance to meet current world requirements.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Can't think out of the box: </a:t>
            </a:r>
            <a:r>
              <a:rPr lang="en-US" dirty="0">
                <a:latin typeface="Times New Roman" panose="02020603050405020304" pitchFamily="18" charset="0"/>
                <a:cs typeface="Times New Roman" panose="02020603050405020304" pitchFamily="18" charset="0"/>
              </a:rPr>
              <a:t>Even we are making smarter machines with AI, but still they cannot work out of the box, as the robot will only do that work for which they are trained, or programmed.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No feelings and emotions: </a:t>
            </a:r>
            <a:r>
              <a:rPr lang="en-US" dirty="0">
                <a:latin typeface="Times New Roman" panose="02020603050405020304" pitchFamily="18" charset="0"/>
                <a:cs typeface="Times New Roman" panose="02020603050405020304" pitchFamily="18" charset="0"/>
              </a:rPr>
              <a:t>AI machines can be an outstanding performer, but still it does not have the feeling so it cannot make any kind of emotional attachment with human, and may sometime be harmful for users if the proper care is not taken.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Increase dependency on machines: </a:t>
            </a:r>
            <a:r>
              <a:rPr lang="en-US" dirty="0">
                <a:latin typeface="Times New Roman" panose="02020603050405020304" pitchFamily="18" charset="0"/>
                <a:cs typeface="Times New Roman" panose="02020603050405020304" pitchFamily="18" charset="0"/>
              </a:rPr>
              <a:t>With the increment of technology, people are getting more dependent on devices and hence they are losing their mental capabilities. </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No Original Creativity: </a:t>
            </a:r>
            <a:r>
              <a:rPr lang="en-US" dirty="0">
                <a:latin typeface="Times New Roman" panose="02020603050405020304" pitchFamily="18" charset="0"/>
                <a:cs typeface="Times New Roman" panose="02020603050405020304" pitchFamily="18" charset="0"/>
              </a:rPr>
              <a:t>As humans are so creative and can imagine some new ideas </a:t>
            </a:r>
          </a:p>
          <a:p>
            <a:endParaRPr lang="en-IN" sz="1800" b="0" i="0" u="none" strike="noStrike" baseline="0" dirty="0">
              <a:solidFill>
                <a:srgbClr val="000000"/>
              </a:solidFill>
              <a:latin typeface="Wingdings" panose="05000000000000000000" pitchFamily="2" charset="2"/>
            </a:endParaRPr>
          </a:p>
        </p:txBody>
      </p:sp>
    </p:spTree>
    <p:extLst>
      <p:ext uri="{BB962C8B-B14F-4D97-AF65-F5344CB8AC3E}">
        <p14:creationId xmlns:p14="http://schemas.microsoft.com/office/powerpoint/2010/main" val="273239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6"/>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0" indent="0">
              <a:buNone/>
            </a:pPr>
            <a:r>
              <a:rPr lang="en-IN" sz="1800" b="1" dirty="0">
                <a:latin typeface="Times New Roman" panose="02020603050405020304" pitchFamily="18" charset="0"/>
                <a:cs typeface="Times New Roman" panose="02020603050405020304" pitchFamily="18" charset="0"/>
              </a:rPr>
              <a:t>1. AI in Astronomy</a:t>
            </a:r>
          </a:p>
          <a:p>
            <a:pPr marL="0" indent="0">
              <a:buNone/>
            </a:pPr>
            <a:r>
              <a:rPr lang="en-US" sz="1800" dirty="0">
                <a:latin typeface="Times New Roman" panose="02020603050405020304" pitchFamily="18" charset="0"/>
                <a:cs typeface="Times New Roman" panose="02020603050405020304" pitchFamily="18" charset="0"/>
              </a:rPr>
              <a:t>Artificial Intelligence can be very useful to solve complex universe problems. AI technology can be helpful for understanding the universe such as how it works, origin, etc. </a:t>
            </a:r>
          </a:p>
          <a:p>
            <a:pPr marL="0" indent="0">
              <a:buNone/>
            </a:pPr>
            <a:r>
              <a:rPr lang="en-IN" sz="1800" b="1" dirty="0">
                <a:latin typeface="Times New Roman" panose="02020603050405020304" pitchFamily="18" charset="0"/>
                <a:cs typeface="Times New Roman" panose="02020603050405020304" pitchFamily="18" charset="0"/>
              </a:rPr>
              <a:t>2. AI in Healthcare </a:t>
            </a:r>
          </a:p>
          <a:p>
            <a:pPr marL="0" indent="0">
              <a:buNone/>
            </a:pPr>
            <a:r>
              <a:rPr lang="en-US" sz="1800" dirty="0">
                <a:latin typeface="Times New Roman" panose="02020603050405020304" pitchFamily="18" charset="0"/>
                <a:cs typeface="Times New Roman" panose="02020603050405020304" pitchFamily="18" charset="0"/>
              </a:rPr>
              <a:t>In the last, five to ten years, AI becoming more advantageous for the healthcare industry and going to have a significant impact on this industry. Healthcare Industries are applying AI to make a better and faster diagnosis than humans. AI can help doctors with diagnoses and can inform when patients are worsening so that medical help can reach to the patient before hospitalization. </a:t>
            </a:r>
          </a:p>
          <a:p>
            <a:pPr marL="0" indent="0">
              <a:buNone/>
            </a:pPr>
            <a:r>
              <a:rPr lang="en-IN" sz="1800" b="1" dirty="0">
                <a:latin typeface="Times New Roman" panose="02020603050405020304" pitchFamily="18" charset="0"/>
                <a:cs typeface="Times New Roman" panose="02020603050405020304" pitchFamily="18" charset="0"/>
              </a:rPr>
              <a:t>3. AI in Gaming </a:t>
            </a:r>
          </a:p>
          <a:p>
            <a:pPr marL="0" indent="0">
              <a:buNone/>
            </a:pPr>
            <a:r>
              <a:rPr lang="en-US" sz="1800" dirty="0">
                <a:latin typeface="Times New Roman" panose="02020603050405020304" pitchFamily="18" charset="0"/>
                <a:cs typeface="Times New Roman" panose="02020603050405020304" pitchFamily="18" charset="0"/>
              </a:rPr>
              <a:t>AI can be used for gaming purpose. The AI machines can play strategic games like chess, w</a:t>
            </a:r>
          </a:p>
          <a:p>
            <a:pPr marL="0" indent="0">
              <a:buNone/>
            </a:pPr>
            <a:r>
              <a:rPr lang="en-US" sz="1800" dirty="0">
                <a:latin typeface="Times New Roman" panose="02020603050405020304" pitchFamily="18" charset="0"/>
                <a:cs typeface="Times New Roman" panose="02020603050405020304" pitchFamily="18" charset="0"/>
              </a:rPr>
              <a:t>here the machine needs to think of a large number of possible places. </a:t>
            </a: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4. AI in Finance </a:t>
            </a:r>
          </a:p>
          <a:p>
            <a:pPr marL="0" indent="0">
              <a:buNone/>
            </a:pPr>
            <a:r>
              <a:rPr lang="en-US" sz="1800" dirty="0">
                <a:latin typeface="Times New Roman" panose="02020603050405020304" pitchFamily="18" charset="0"/>
                <a:cs typeface="Times New Roman" panose="02020603050405020304" pitchFamily="18" charset="0"/>
              </a:rPr>
              <a:t>AI and finance industries are the best matches for each other. The finance industry is implementing automation, chatbot, adaptive intelligence, algorithm trading, and machine learning into financial processes. </a:t>
            </a:r>
            <a:endParaRPr sz="1800" dirty="0">
              <a:latin typeface="Times New Roman" panose="02020603050405020304" pitchFamily="18" charset="0"/>
              <a:cs typeface="Times New Roman" panose="02020603050405020304" pitchFamily="18" charset="0"/>
            </a:endParaRPr>
          </a:p>
        </p:txBody>
      </p:sp>
      <p:sp>
        <p:nvSpPr>
          <p:cNvPr id="360" name="Google Shape;360;p36"/>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dirty="0">
                <a:solidFill>
                  <a:srgbClr val="000000"/>
                </a:solidFill>
                <a:latin typeface="Times New Roman"/>
                <a:ea typeface="Times New Roman"/>
                <a:cs typeface="Times New Roman"/>
                <a:sym typeface="Times New Roman"/>
              </a:rPr>
              <a:t>Applications of AI </a:t>
            </a:r>
            <a:endParaRPr sz="1400" b="0" i="0" u="none" strike="noStrike" cap="none" dirty="0">
              <a:solidFill>
                <a:srgbClr val="000000"/>
              </a:solidFill>
              <a:latin typeface="Arial"/>
              <a:ea typeface="Arial"/>
              <a:cs typeface="Arial"/>
              <a:sym typeface="Arial"/>
            </a:endParaRPr>
          </a:p>
        </p:txBody>
      </p:sp>
      <p:sp>
        <p:nvSpPr>
          <p:cNvPr id="361" name="Google Shape;361;p36"/>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D5FACA02-0FFE-EF2B-B65F-3C762682FA79}"/>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3B71FDDC-EA0B-8BD9-E1BC-79FE209AA8A6}"/>
              </a:ext>
            </a:extLst>
          </p:cNvPr>
          <p:cNvSpPr txBox="1">
            <a:spLocks noGrp="1"/>
          </p:cNvSpPr>
          <p:nvPr>
            <p:ph idx="1"/>
          </p:nvPr>
        </p:nvSpPr>
        <p:spPr>
          <a:xfrm>
            <a:off x="228600" y="695325"/>
            <a:ext cx="8610600" cy="5553075"/>
          </a:xfrm>
          <a:prstGeom prst="rect">
            <a:avLst/>
          </a:prstGeom>
          <a:noFill/>
          <a:ln>
            <a:noFill/>
          </a:ln>
        </p:spPr>
        <p:txBody>
          <a:bodyPr spcFirstLastPara="1" wrap="square" lIns="90000" tIns="46800" rIns="90000" bIns="46800" anchor="t" anchorCtr="0">
            <a:noAutofit/>
          </a:bodyPr>
          <a:lstStyle/>
          <a:p>
            <a:pPr marL="0" indent="0">
              <a:buNone/>
            </a:pPr>
            <a:r>
              <a:rPr lang="it-IT" sz="1700" b="1" dirty="0">
                <a:latin typeface="Times New Roman" panose="02020603050405020304" pitchFamily="18" charset="0"/>
                <a:cs typeface="Times New Roman" panose="02020603050405020304" pitchFamily="18" charset="0"/>
              </a:rPr>
              <a:t>5. AI in Data Security </a:t>
            </a:r>
          </a:p>
          <a:p>
            <a:pPr marL="0" indent="0">
              <a:buNone/>
            </a:pPr>
            <a:r>
              <a:rPr lang="en-US" sz="1700" dirty="0">
                <a:latin typeface="Times New Roman" panose="02020603050405020304" pitchFamily="18" charset="0"/>
                <a:cs typeface="Times New Roman" panose="02020603050405020304" pitchFamily="18" charset="0"/>
              </a:rPr>
              <a:t>The security of data is crucial for every company and cyber-attacks are growing very rapidly in the digital world. AI can be used to make your data more safe and secure. Some examples such as AEG bot, AI2 Platform, are used to determine software bug and cyber-attacks in a better way. </a:t>
            </a:r>
          </a:p>
          <a:p>
            <a:pPr marL="0" indent="0">
              <a:buNone/>
            </a:pPr>
            <a:r>
              <a:rPr lang="it-IT" sz="1700" b="1" dirty="0">
                <a:latin typeface="Times New Roman" panose="02020603050405020304" pitchFamily="18" charset="0"/>
                <a:cs typeface="Times New Roman" panose="02020603050405020304" pitchFamily="18" charset="0"/>
              </a:rPr>
              <a:t>6. AI in Social Media </a:t>
            </a:r>
          </a:p>
          <a:p>
            <a:pPr marL="0" indent="0">
              <a:buNone/>
            </a:pPr>
            <a:r>
              <a:rPr lang="en-US" sz="1700" dirty="0">
                <a:latin typeface="Times New Roman" panose="02020603050405020304" pitchFamily="18" charset="0"/>
                <a:cs typeface="Times New Roman" panose="02020603050405020304" pitchFamily="18" charset="0"/>
              </a:rPr>
              <a:t>Social Media sites such as Facebook, Twitter, and Snapchat contain billions of user profiles, which need to be stored and managed in a very efficient way. AI can organize and manage massive amounts of data. AI can analyze lots of data to identify the latest trends, hashtag, and requirement of different users. </a:t>
            </a:r>
          </a:p>
          <a:p>
            <a:pPr marL="0" indent="0">
              <a:buNone/>
            </a:pPr>
            <a:r>
              <a:rPr lang="it-IT" sz="1700" b="1" dirty="0">
                <a:latin typeface="Times New Roman" panose="02020603050405020304" pitchFamily="18" charset="0"/>
                <a:cs typeface="Times New Roman" panose="02020603050405020304" pitchFamily="18" charset="0"/>
              </a:rPr>
              <a:t>7. AI in Travel &amp; Transport </a:t>
            </a:r>
          </a:p>
          <a:p>
            <a:r>
              <a:rPr lang="en-US" sz="1700" dirty="0">
                <a:latin typeface="Times New Roman" panose="02020603050405020304" pitchFamily="18" charset="0"/>
                <a:cs typeface="Times New Roman" panose="02020603050405020304" pitchFamily="18" charset="0"/>
              </a:rPr>
              <a:t>AI is becoming highly demanding for travel industries. AI is capable of doing various travel related works such as from making travel arrangement to suggesting the hotels, flights, and best routes to the customers. Travel industries are using AI-powered chatbots which can make human-li</a:t>
            </a:r>
            <a:endParaRPr lang="en-IN" sz="1700" dirty="0">
              <a:latin typeface="Times New Roman" panose="02020603050405020304" pitchFamily="18" charset="0"/>
              <a:cs typeface="Times New Roman" panose="02020603050405020304" pitchFamily="18" charset="0"/>
            </a:endParaRPr>
          </a:p>
          <a:p>
            <a:pPr marL="0" indent="0">
              <a:buNone/>
            </a:pPr>
            <a:r>
              <a:rPr lang="it-IT" sz="1700" b="1" dirty="0">
                <a:latin typeface="Times New Roman" panose="02020603050405020304" pitchFamily="18" charset="0"/>
                <a:cs typeface="Times New Roman" panose="02020603050405020304" pitchFamily="18" charset="0"/>
              </a:rPr>
              <a:t>8. AI in Automotive Industry </a:t>
            </a:r>
          </a:p>
          <a:p>
            <a:pPr marL="0" indent="0">
              <a:buNone/>
            </a:pPr>
            <a:r>
              <a:rPr lang="en-US" sz="1700" dirty="0">
                <a:latin typeface="Times New Roman" panose="02020603050405020304" pitchFamily="18" charset="0"/>
                <a:cs typeface="Times New Roman" panose="02020603050405020304" pitchFamily="18" charset="0"/>
              </a:rPr>
              <a:t>Some Automotive industries are using AI to provide virtual assistant to their user for better performance. Various Industries are currently working for developing self-driven cars which can make your journey more safe and secure. </a:t>
            </a:r>
            <a:r>
              <a:rPr lang="en-US" sz="1700" dirty="0" err="1">
                <a:latin typeface="Times New Roman" panose="02020603050405020304" pitchFamily="18" charset="0"/>
                <a:cs typeface="Times New Roman" panose="02020603050405020304" pitchFamily="18" charset="0"/>
              </a:rPr>
              <a:t>ke</a:t>
            </a:r>
            <a:r>
              <a:rPr lang="en-US" sz="1700" dirty="0">
                <a:latin typeface="Times New Roman" panose="02020603050405020304" pitchFamily="18" charset="0"/>
                <a:cs typeface="Times New Roman" panose="02020603050405020304" pitchFamily="18" charset="0"/>
              </a:rPr>
              <a:t> interaction with customers for better and fast response. </a:t>
            </a:r>
            <a:endParaRPr sz="1700" dirty="0">
              <a:latin typeface="Times New Roman" panose="02020603050405020304" pitchFamily="18" charset="0"/>
              <a:cs typeface="Times New Roman" panose="02020603050405020304" pitchFamily="18" charset="0"/>
            </a:endParaRPr>
          </a:p>
        </p:txBody>
      </p:sp>
      <p:sp>
        <p:nvSpPr>
          <p:cNvPr id="360" name="Google Shape;360;p36">
            <a:extLst>
              <a:ext uri="{FF2B5EF4-FFF2-40B4-BE49-F238E27FC236}">
                <a16:creationId xmlns:a16="http://schemas.microsoft.com/office/drawing/2014/main" id="{C08DF5CB-6C31-5B13-AD20-17C4C3F84508}"/>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dirty="0">
                <a:solidFill>
                  <a:srgbClr val="000000"/>
                </a:solidFill>
                <a:latin typeface="Times New Roman"/>
                <a:ea typeface="Times New Roman"/>
                <a:cs typeface="Times New Roman"/>
                <a:sym typeface="Times New Roman"/>
              </a:rPr>
              <a:t>Applications 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C916F287-E5AA-C723-B2BC-23F69BA4B786}"/>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B1C31B9D-D1EB-35BE-A862-041184E87DEE}"/>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2334165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02003FC9-F6F2-F1D3-2DAE-8E25ED3E01C0}"/>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C5425207-9D61-EF81-12B2-B63BBAC3CC45}"/>
              </a:ext>
            </a:extLst>
          </p:cNvPr>
          <p:cNvSpPr txBox="1">
            <a:spLocks noGrp="1"/>
          </p:cNvSpPr>
          <p:nvPr>
            <p:ph idx="1"/>
          </p:nvPr>
        </p:nvSpPr>
        <p:spPr>
          <a:xfrm>
            <a:off x="85725" y="839544"/>
            <a:ext cx="8610600" cy="5257800"/>
          </a:xfrm>
          <a:prstGeom prst="rect">
            <a:avLst/>
          </a:prstGeom>
          <a:noFill/>
          <a:ln>
            <a:noFill/>
          </a:ln>
        </p:spPr>
        <p:txBody>
          <a:bodyPr spcFirstLastPara="1" wrap="square" lIns="90000" tIns="46800" rIns="90000" bIns="46800" anchor="t" anchorCtr="0">
            <a:noAutofit/>
          </a:bodyPr>
          <a:lstStyle/>
          <a:p>
            <a:pPr marL="0" indent="0">
              <a:buNone/>
            </a:pPr>
            <a:r>
              <a:rPr lang="en-IN" sz="1700" b="1" dirty="0">
                <a:latin typeface="Times New Roman" panose="02020603050405020304" pitchFamily="18" charset="0"/>
                <a:cs typeface="Times New Roman" panose="02020603050405020304" pitchFamily="18" charset="0"/>
              </a:rPr>
              <a:t>9. AI in Robotics</a:t>
            </a:r>
          </a:p>
          <a:p>
            <a:pPr marL="0" indent="0">
              <a:buNone/>
            </a:pPr>
            <a:r>
              <a:rPr lang="en-US" sz="1700" dirty="0">
                <a:latin typeface="Times New Roman" panose="02020603050405020304" pitchFamily="18" charset="0"/>
                <a:cs typeface="Times New Roman" panose="02020603050405020304" pitchFamily="18" charset="0"/>
              </a:rPr>
              <a:t>Artificial Intelligence has a remarkable role in Robotics. Usually, general robots are programmed such that they can perform some repetitive task, but with the help of AI, we can create intelligent robots which can perform tasks with their own experiences without pre-programmed. Humanoid Robots are best examples for AI in robotics, recently the intelligent Humanoid robot named as Erica and Sophia has been developed which can talk and behave like humans. </a:t>
            </a:r>
          </a:p>
          <a:p>
            <a:pPr marL="0" indent="0">
              <a:buNone/>
            </a:pPr>
            <a:r>
              <a:rPr lang="en-IN" sz="1700" b="1" dirty="0">
                <a:latin typeface="Times New Roman" panose="02020603050405020304" pitchFamily="18" charset="0"/>
                <a:cs typeface="Times New Roman" panose="02020603050405020304" pitchFamily="18" charset="0"/>
              </a:rPr>
              <a:t>10. AI in Entertainment </a:t>
            </a:r>
          </a:p>
          <a:p>
            <a:pPr marL="0" indent="0">
              <a:buNone/>
            </a:pPr>
            <a:r>
              <a:rPr lang="en-US" sz="1700" dirty="0">
                <a:latin typeface="Times New Roman" panose="02020603050405020304" pitchFamily="18" charset="0"/>
                <a:cs typeface="Times New Roman" panose="02020603050405020304" pitchFamily="18" charset="0"/>
              </a:rPr>
              <a:t>We are currently using some AI based applications in our daily life with some entertainment services such as Netflix or Amazon. With the help of ML/AI algorithms, these services show the recommendations for programs or shows. </a:t>
            </a:r>
          </a:p>
          <a:p>
            <a:pPr marL="0" indent="0">
              <a:buNone/>
            </a:pPr>
            <a:r>
              <a:rPr lang="en-IN" sz="1700" b="1" dirty="0">
                <a:latin typeface="Times New Roman" panose="02020603050405020304" pitchFamily="18" charset="0"/>
                <a:cs typeface="Times New Roman" panose="02020603050405020304" pitchFamily="18" charset="0"/>
              </a:rPr>
              <a:t>11. AI in Agriculture </a:t>
            </a:r>
          </a:p>
          <a:p>
            <a:pPr marL="0" indent="0">
              <a:buNone/>
            </a:pPr>
            <a:r>
              <a:rPr lang="en-US" sz="1700" dirty="0">
                <a:latin typeface="Times New Roman" panose="02020603050405020304" pitchFamily="18" charset="0"/>
                <a:cs typeface="Times New Roman" panose="02020603050405020304" pitchFamily="18" charset="0"/>
              </a:rPr>
              <a:t>Agriculture is an area which requires various resources, labor, money, and time for best result. Now a day's agriculture is becoming digital, and AI is emerging in this field. Agriculture is applying AI as agriculture robotics, solid and crop monitoring, predictive analysis. AI in agriculture can be very helpful for farmers. </a:t>
            </a:r>
          </a:p>
          <a:p>
            <a:pPr marL="0" indent="0">
              <a:buNone/>
            </a:pPr>
            <a:r>
              <a:rPr lang="en-IN" sz="1700" b="1" dirty="0">
                <a:latin typeface="Times New Roman" panose="02020603050405020304" pitchFamily="18" charset="0"/>
                <a:cs typeface="Times New Roman" panose="02020603050405020304" pitchFamily="18" charset="0"/>
              </a:rPr>
              <a:t>12. AI in E-commerce </a:t>
            </a:r>
          </a:p>
          <a:p>
            <a:pPr marL="0" indent="0">
              <a:buNone/>
            </a:pPr>
            <a:r>
              <a:rPr lang="en-US" sz="1700" dirty="0">
                <a:latin typeface="Times New Roman" panose="02020603050405020304" pitchFamily="18" charset="0"/>
                <a:cs typeface="Times New Roman" panose="02020603050405020304" pitchFamily="18" charset="0"/>
              </a:rPr>
              <a:t>AI is providing a competitive edge to the e-commerce industry, and it is becoming more demanding in the e- commerce business. AI is helping shoppers to discover associated products with recommended size, color, or even brand. </a:t>
            </a:r>
            <a:endParaRPr sz="1700" dirty="0">
              <a:latin typeface="Times New Roman" panose="02020603050405020304" pitchFamily="18" charset="0"/>
              <a:cs typeface="Times New Roman" panose="02020603050405020304" pitchFamily="18" charset="0"/>
            </a:endParaRPr>
          </a:p>
        </p:txBody>
      </p:sp>
      <p:sp>
        <p:nvSpPr>
          <p:cNvPr id="360" name="Google Shape;360;p36">
            <a:extLst>
              <a:ext uri="{FF2B5EF4-FFF2-40B4-BE49-F238E27FC236}">
                <a16:creationId xmlns:a16="http://schemas.microsoft.com/office/drawing/2014/main" id="{EF9644ED-1C69-436B-CE20-EEC8DF2CDA4B}"/>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dirty="0">
                <a:solidFill>
                  <a:srgbClr val="000000"/>
                </a:solidFill>
                <a:latin typeface="Times New Roman"/>
                <a:ea typeface="Times New Roman"/>
                <a:cs typeface="Times New Roman"/>
                <a:sym typeface="Times New Roman"/>
              </a:rPr>
              <a:t>Applications 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DDC2D504-73AF-F715-09E4-A13FDB191EC4}"/>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CC8F7AEE-D924-EE2C-8065-3ECC61F925B8}"/>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2752323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912F23A5-1A69-1717-8DAD-1CBE39DBC5FA}"/>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83DAB35D-B3C8-FF0A-B6C4-2A79F083D789}"/>
              </a:ext>
            </a:extLst>
          </p:cNvPr>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342900" indent="-342900">
              <a:buAutoNum type="arabicPeriod"/>
            </a:pPr>
            <a:r>
              <a:rPr lang="en-US" sz="1800" b="1" dirty="0">
                <a:latin typeface="Times New Roman" panose="02020603050405020304" pitchFamily="18" charset="0"/>
                <a:cs typeface="Times New Roman" panose="02020603050405020304" pitchFamily="18" charset="0"/>
              </a:rPr>
              <a:t>Weak AI or Narrow AI</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Narrow AI is a type of AI which is able to perform a dedicated task with intelligence. The most common and currently available AI is Narrow AI in the world of Artificial Intelligence. </a:t>
            </a:r>
          </a:p>
          <a:p>
            <a:pPr marL="0" indent="0">
              <a:buNone/>
            </a:pPr>
            <a:r>
              <a:rPr lang="en-US" sz="1800" dirty="0">
                <a:latin typeface="Times New Roman" panose="02020603050405020304" pitchFamily="18" charset="0"/>
                <a:cs typeface="Times New Roman" panose="02020603050405020304" pitchFamily="18" charset="0"/>
              </a:rPr>
              <a:t>➢ Narrow AI cannot perform beyond its field or limitations, as it is only trained for one specific task. Hence it is also termed as weak AI. Narrow AI can fail in unpredictable ways if it goes beyond its limits. </a:t>
            </a:r>
          </a:p>
          <a:p>
            <a:pPr marL="0" indent="0">
              <a:buNone/>
            </a:pPr>
            <a:r>
              <a:rPr lang="en-US" sz="1800" dirty="0">
                <a:latin typeface="Times New Roman" panose="02020603050405020304" pitchFamily="18" charset="0"/>
                <a:cs typeface="Times New Roman" panose="02020603050405020304" pitchFamily="18" charset="0"/>
              </a:rPr>
              <a:t>➢ Apple Siri is a good example of Narrow AI, but it operates with a limited pre-defined range of functions. </a:t>
            </a:r>
          </a:p>
          <a:p>
            <a:pPr marL="0" indent="0">
              <a:buNone/>
            </a:pPr>
            <a:r>
              <a:rPr lang="en-US" sz="1800" dirty="0">
                <a:latin typeface="Times New Roman" panose="02020603050405020304" pitchFamily="18" charset="0"/>
                <a:cs typeface="Times New Roman" panose="02020603050405020304" pitchFamily="18" charset="0"/>
              </a:rPr>
              <a:t>➢ IBM's Watson supercomputer also comes under Narrow AI, as it uses an Expert system approach combined with Machine learning and natural language processing. </a:t>
            </a:r>
          </a:p>
          <a:p>
            <a:pPr marL="0" indent="0">
              <a:buNone/>
            </a:pPr>
            <a:r>
              <a:rPr lang="en-US" sz="1800" dirty="0">
                <a:latin typeface="Times New Roman" panose="02020603050405020304" pitchFamily="18" charset="0"/>
                <a:cs typeface="Times New Roman" panose="02020603050405020304" pitchFamily="18" charset="0"/>
              </a:rPr>
              <a:t>➢ Some Examples of Narrow AI are playing chess, purchasing suggestions on e-commerce site, self-driving cars, speech recognition, and image recognition. </a:t>
            </a:r>
          </a:p>
        </p:txBody>
      </p:sp>
      <p:sp>
        <p:nvSpPr>
          <p:cNvPr id="360" name="Google Shape;360;p36">
            <a:extLst>
              <a:ext uri="{FF2B5EF4-FFF2-40B4-BE49-F238E27FC236}">
                <a16:creationId xmlns:a16="http://schemas.microsoft.com/office/drawing/2014/main" id="{DF6699AF-DED1-2F31-E4C4-B96007E51C2D}"/>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dirty="0">
                <a:solidFill>
                  <a:srgbClr val="000000"/>
                </a:solidFill>
                <a:latin typeface="Times New Roman"/>
                <a:ea typeface="Times New Roman"/>
                <a:cs typeface="Times New Roman"/>
                <a:sym typeface="Times New Roman"/>
              </a:rPr>
              <a:t>Type</a:t>
            </a:r>
            <a:r>
              <a:rPr lang="en-US" sz="4000" b="1" i="0" u="none" strike="noStrike" cap="none" dirty="0">
                <a:solidFill>
                  <a:srgbClr val="000000"/>
                </a:solidFill>
                <a:latin typeface="Times New Roman"/>
                <a:ea typeface="Times New Roman"/>
                <a:cs typeface="Times New Roman"/>
                <a:sym typeface="Times New Roman"/>
              </a:rPr>
              <a:t>s 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F39D1FBD-AA49-2680-3E15-6B4116B8A400}"/>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B10B503D-B206-36D5-E34E-C9B6966E6021}"/>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824513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77E20829-2519-E012-D5C3-734335668EB0}"/>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F38DB2F1-2BB1-FA42-A1A5-A5337A3CA033}"/>
              </a:ext>
            </a:extLst>
          </p:cNvPr>
          <p:cNvSpPr txBox="1">
            <a:spLocks noGrp="1"/>
          </p:cNvSpPr>
          <p:nvPr>
            <p:ph idx="1"/>
          </p:nvPr>
        </p:nvSpPr>
        <p:spPr>
          <a:xfrm>
            <a:off x="66675" y="839544"/>
            <a:ext cx="8610600" cy="5257800"/>
          </a:xfrm>
          <a:prstGeom prst="rect">
            <a:avLst/>
          </a:prstGeom>
          <a:noFill/>
          <a:ln>
            <a:noFill/>
          </a:ln>
        </p:spPr>
        <p:txBody>
          <a:bodyPr spcFirstLastPara="1" wrap="square" lIns="90000" tIns="46800" rIns="90000" bIns="46800" anchor="t" anchorCtr="0">
            <a:noAutofit/>
          </a:bodyPr>
          <a:lstStyle/>
          <a:p>
            <a:pPr marL="0" indent="0">
              <a:buNone/>
            </a:pPr>
            <a:r>
              <a:rPr lang="en-IN" sz="1800" b="1" dirty="0">
                <a:latin typeface="Times New Roman" panose="02020603050405020304" pitchFamily="18" charset="0"/>
                <a:cs typeface="Times New Roman" panose="02020603050405020304" pitchFamily="18" charset="0"/>
              </a:rPr>
              <a:t>2. General AI</a:t>
            </a:r>
          </a:p>
          <a:p>
            <a:pPr marL="0" indent="0">
              <a:buNone/>
            </a:pPr>
            <a:r>
              <a:rPr lang="en-US" sz="1800" dirty="0">
                <a:latin typeface="Times New Roman" panose="02020603050405020304" pitchFamily="18" charset="0"/>
                <a:cs typeface="Times New Roman" panose="02020603050405020304" pitchFamily="18" charset="0"/>
              </a:rPr>
              <a:t>➢ General AI is a type of intelligence which could perform any intellectual task with efficiency like a human. </a:t>
            </a:r>
          </a:p>
          <a:p>
            <a:pPr marL="0" indent="0">
              <a:buNone/>
            </a:pPr>
            <a:r>
              <a:rPr lang="en-US" sz="1800" dirty="0">
                <a:latin typeface="Times New Roman" panose="02020603050405020304" pitchFamily="18" charset="0"/>
                <a:cs typeface="Times New Roman" panose="02020603050405020304" pitchFamily="18" charset="0"/>
              </a:rPr>
              <a:t>➢ The idea behind the general AI to make such a system which could be smarter and think like a human by its own. </a:t>
            </a:r>
          </a:p>
          <a:p>
            <a:pPr marL="0" indent="0">
              <a:buNone/>
            </a:pPr>
            <a:r>
              <a:rPr lang="en-US" sz="1800" dirty="0">
                <a:latin typeface="Times New Roman" panose="02020603050405020304" pitchFamily="18" charset="0"/>
                <a:cs typeface="Times New Roman" panose="02020603050405020304" pitchFamily="18" charset="0"/>
              </a:rPr>
              <a:t>➢ Currently, there is no such system exist which could come under general AI and can perform any task as perfect as a human. </a:t>
            </a:r>
          </a:p>
          <a:p>
            <a:pPr marL="0" indent="0">
              <a:buNone/>
            </a:pPr>
            <a:r>
              <a:rPr lang="en-US" sz="1800" dirty="0">
                <a:latin typeface="Times New Roman" panose="02020603050405020304" pitchFamily="18" charset="0"/>
                <a:cs typeface="Times New Roman" panose="02020603050405020304" pitchFamily="18" charset="0"/>
              </a:rPr>
              <a:t>➢ The worldwide researchers are now focused on developing machines with General AI. </a:t>
            </a:r>
          </a:p>
          <a:p>
            <a:pPr marL="0" indent="0">
              <a:buNone/>
            </a:pPr>
            <a:r>
              <a:rPr lang="en-US" sz="1800" dirty="0">
                <a:latin typeface="Times New Roman" panose="02020603050405020304" pitchFamily="18" charset="0"/>
                <a:cs typeface="Times New Roman" panose="02020603050405020304" pitchFamily="18" charset="0"/>
              </a:rPr>
              <a:t>➢ As systems with general AI are still under research and it will take lots of efforts and time</a:t>
            </a:r>
            <a:endParaRPr lang="en-IN" dirty="0"/>
          </a:p>
          <a:p>
            <a:pPr marL="0" indent="0">
              <a:buNone/>
            </a:pPr>
            <a:r>
              <a:rPr lang="en-IN" sz="1800" b="1" dirty="0">
                <a:latin typeface="Times New Roman" panose="02020603050405020304" pitchFamily="18" charset="0"/>
                <a:cs typeface="Times New Roman" panose="02020603050405020304" pitchFamily="18" charset="0"/>
              </a:rPr>
              <a:t>3. Super AI</a:t>
            </a:r>
          </a:p>
          <a:p>
            <a:pPr marL="0" indent="0">
              <a:buNone/>
            </a:pPr>
            <a:r>
              <a:rPr lang="en-US" sz="1800" dirty="0">
                <a:latin typeface="Times New Roman" panose="02020603050405020304" pitchFamily="18" charset="0"/>
                <a:cs typeface="Times New Roman" panose="02020603050405020304" pitchFamily="18" charset="0"/>
              </a:rPr>
              <a:t>➢ Super AI is a level of Intelligence of Systems at which machines could surpass human intelligence, and can perform any task better than human with cognitive properties. It is an outcome of general AI. </a:t>
            </a:r>
          </a:p>
          <a:p>
            <a:pPr marL="0" indent="0">
              <a:buNone/>
            </a:pPr>
            <a:r>
              <a:rPr lang="en-US" sz="1800" dirty="0">
                <a:latin typeface="Times New Roman" panose="02020603050405020304" pitchFamily="18" charset="0"/>
                <a:cs typeface="Times New Roman" panose="02020603050405020304" pitchFamily="18" charset="0"/>
              </a:rPr>
              <a:t>➢ Some key characteristics of strong AI include capability include the ability to think, to reason, solve the puzzle, make judgments, plan, learn, and communicate by its own. </a:t>
            </a:r>
          </a:p>
          <a:p>
            <a:pPr marL="0" indent="0">
              <a:buNone/>
            </a:pPr>
            <a:r>
              <a:rPr lang="en-US" sz="1800" dirty="0">
                <a:latin typeface="Times New Roman" panose="02020603050405020304" pitchFamily="18" charset="0"/>
                <a:cs typeface="Times New Roman" panose="02020603050405020304" pitchFamily="18" charset="0"/>
              </a:rPr>
              <a:t>➢ Super AI is still a hypothetical concept of Artificial Intelligence. Development of such systems in real is still world changing task. </a:t>
            </a:r>
          </a:p>
          <a:p>
            <a:pPr marL="0" indent="0">
              <a:buNone/>
            </a:pPr>
            <a:r>
              <a:rPr lang="en-US" sz="1800" dirty="0">
                <a:latin typeface="Times New Roman" panose="02020603050405020304" pitchFamily="18" charset="0"/>
                <a:cs typeface="Times New Roman" panose="02020603050405020304" pitchFamily="18" charset="0"/>
              </a:rPr>
              <a:t> to develop such systems. </a:t>
            </a:r>
          </a:p>
        </p:txBody>
      </p:sp>
      <p:sp>
        <p:nvSpPr>
          <p:cNvPr id="360" name="Google Shape;360;p36">
            <a:extLst>
              <a:ext uri="{FF2B5EF4-FFF2-40B4-BE49-F238E27FC236}">
                <a16:creationId xmlns:a16="http://schemas.microsoft.com/office/drawing/2014/main" id="{2745DA0F-59D8-EB90-F1BD-2A2A22C7A9DA}"/>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dirty="0">
                <a:solidFill>
                  <a:srgbClr val="000000"/>
                </a:solidFill>
                <a:latin typeface="Times New Roman"/>
                <a:ea typeface="Times New Roman"/>
                <a:cs typeface="Times New Roman"/>
                <a:sym typeface="Times New Roman"/>
              </a:rPr>
              <a:t>Type</a:t>
            </a:r>
            <a:r>
              <a:rPr lang="en-US" sz="4000" b="1" i="0" u="none" strike="noStrike" cap="none" dirty="0">
                <a:solidFill>
                  <a:srgbClr val="000000"/>
                </a:solidFill>
                <a:latin typeface="Times New Roman"/>
                <a:ea typeface="Times New Roman"/>
                <a:cs typeface="Times New Roman"/>
                <a:sym typeface="Times New Roman"/>
              </a:rPr>
              <a:t>s 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19941976-B8CE-E2C8-045E-0904B44F4EB6}"/>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775E961D-C7E4-70D0-4430-18F05047F53A}"/>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2964886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3F43C83A-9F22-CF63-DC9A-EF6A297E5458}"/>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9D4DE5D0-8F97-237B-3ED9-43A319386916}"/>
              </a:ext>
            </a:extLst>
          </p:cNvPr>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0" indent="0" algn="just">
              <a:buNone/>
            </a:pPr>
            <a:r>
              <a:rPr lang="en-IN" sz="1800" b="1" i="1" dirty="0">
                <a:latin typeface="Times New Roman" panose="02020603050405020304" pitchFamily="18" charset="0"/>
                <a:cs typeface="Times New Roman" panose="02020603050405020304" pitchFamily="18" charset="0"/>
              </a:rPr>
              <a:t>1. Machine Learning </a:t>
            </a: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It is one of the applications of AI where machines are not explicitly programmed to perform certain tasks; rather, they learn and improve from experience automatically. Deep Learning is a subset of machine learning based on artificial neural networks for predictive analysis. There are various machine learning algorithms, such as Unsupervised Learning, Supervised Learning, and Reinforcement Learning. In Unsupervised Learning, the algorithm does not use classified information to act on it without any guidance. In Supervised Learning, it deduces a function from the training data, which consists of a set of an input object and the desired output. Reinforcement learning is used by machines to take suitable actions to increase the reward to find the best possibility which should be taken in to account. </a:t>
            </a:r>
          </a:p>
          <a:p>
            <a:pPr marL="0" indent="0" algn="just">
              <a:buNone/>
            </a:pPr>
            <a:r>
              <a:rPr lang="en-IN" sz="1800" b="1" i="1" dirty="0">
                <a:latin typeface="Times New Roman" panose="02020603050405020304" pitchFamily="18" charset="0"/>
                <a:cs typeface="Times New Roman" panose="02020603050405020304" pitchFamily="18" charset="0"/>
              </a:rPr>
              <a:t>2. NLP (Natural Language Processing) </a:t>
            </a: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It is the interactions between computers and human language where the computers are programmed to process natural languages. Machine Learning is a reliable technology for Natural Language Processing to obtain meaning from human languages. In NLP, the audio of a human talk is captured by the machine. Then the audio to text conversation occurs, and then the text is processed where the data is converted into audio. Then the machine uses the audio to respond to humans. Applications of Natural Language Processing can be found in IVR (Interactive Voice Response) applications used in call </a:t>
            </a:r>
            <a:r>
              <a:rPr lang="en-US" sz="1800" dirty="0" err="1">
                <a:latin typeface="Times New Roman" panose="02020603050405020304" pitchFamily="18" charset="0"/>
                <a:cs typeface="Times New Roman" panose="02020603050405020304" pitchFamily="18" charset="0"/>
              </a:rPr>
              <a:t>centres</a:t>
            </a:r>
            <a:r>
              <a:rPr lang="en-US" sz="1800" dirty="0">
                <a:latin typeface="Times New Roman" panose="02020603050405020304" pitchFamily="18" charset="0"/>
                <a:cs typeface="Times New Roman" panose="02020603050405020304" pitchFamily="18" charset="0"/>
              </a:rPr>
              <a:t>, language translation applications like Google Translate and word processors such as Microsoft Word to check the accuracy of grammar in text. </a:t>
            </a:r>
            <a:endParaRPr lang="en-US" sz="1400" dirty="0">
              <a:latin typeface="Times New Roman" panose="02020603050405020304" pitchFamily="18" charset="0"/>
              <a:cs typeface="Times New Roman" panose="02020603050405020304" pitchFamily="18" charset="0"/>
            </a:endParaRPr>
          </a:p>
        </p:txBody>
      </p:sp>
      <p:sp>
        <p:nvSpPr>
          <p:cNvPr id="360" name="Google Shape;360;p36">
            <a:extLst>
              <a:ext uri="{FF2B5EF4-FFF2-40B4-BE49-F238E27FC236}">
                <a16:creationId xmlns:a16="http://schemas.microsoft.com/office/drawing/2014/main" id="{75F25B8B-31BF-91E0-111E-AD5C33724EF4}"/>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a:solidFill>
                  <a:srgbClr val="000000"/>
                </a:solidFill>
                <a:latin typeface="Times New Roman"/>
                <a:ea typeface="Times New Roman"/>
                <a:cs typeface="Times New Roman"/>
                <a:sym typeface="Times New Roman"/>
              </a:rPr>
              <a:t>Techniques</a:t>
            </a:r>
            <a:r>
              <a:rPr lang="en-US" sz="4000" b="1" i="0" u="none" strike="noStrike" cap="none">
                <a:solidFill>
                  <a:srgbClr val="000000"/>
                </a:solidFill>
                <a:latin typeface="Times New Roman"/>
                <a:ea typeface="Times New Roman"/>
                <a:cs typeface="Times New Roman"/>
                <a:sym typeface="Times New Roman"/>
              </a:rPr>
              <a:t> </a:t>
            </a:r>
            <a:r>
              <a:rPr lang="en-US" sz="4000" b="1" i="0" u="none" strike="noStrike" cap="none" dirty="0">
                <a:solidFill>
                  <a:srgbClr val="000000"/>
                </a:solidFill>
                <a:latin typeface="Times New Roman"/>
                <a:ea typeface="Times New Roman"/>
                <a:cs typeface="Times New Roman"/>
                <a:sym typeface="Times New Roman"/>
              </a:rPr>
              <a:t>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3DF928FD-63EE-3E74-A1F3-EAF10BE16FED}"/>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BEA6500D-C55C-8F41-1676-C6EC0D71728B}"/>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1546959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E87CC3C1-7997-0142-4B45-0D9DD944704B}"/>
            </a:ext>
          </a:extLst>
        </p:cNvPr>
        <p:cNvGrpSpPr/>
        <p:nvPr/>
      </p:nvGrpSpPr>
      <p:grpSpPr>
        <a:xfrm>
          <a:off x="0" y="0"/>
          <a:ext cx="0" cy="0"/>
          <a:chOff x="0" y="0"/>
          <a:chExt cx="0" cy="0"/>
        </a:xfrm>
      </p:grpSpPr>
      <p:sp>
        <p:nvSpPr>
          <p:cNvPr id="359" name="Google Shape;359;p36">
            <a:extLst>
              <a:ext uri="{FF2B5EF4-FFF2-40B4-BE49-F238E27FC236}">
                <a16:creationId xmlns:a16="http://schemas.microsoft.com/office/drawing/2014/main" id="{A575B39C-268F-86AB-574C-6A5D29E4C11E}"/>
              </a:ext>
            </a:extLst>
          </p:cNvPr>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0" indent="0">
              <a:buNone/>
            </a:pPr>
            <a:r>
              <a:rPr lang="en-IN" sz="2000" b="1" i="1" dirty="0">
                <a:latin typeface="Times New Roman" panose="02020603050405020304" pitchFamily="18" charset="0"/>
                <a:cs typeface="Times New Roman" panose="02020603050405020304" pitchFamily="18" charset="0"/>
              </a:rPr>
              <a:t>3. Automation and Robotics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purpose of Automation is to get the monotonous and repetitive tasks done by machines which also improve productivity and in receiving cost-effective and more efficient results. Many organizations use machine learning, neural networks, and graphs in automation. Such automation can prevent fraud issues while financial transactions online by using CAPTCHA technology. Robotic process automation is programmed to perform high volume repetitive tasks which can adapt to the change in different circumstances. </a:t>
            </a:r>
          </a:p>
          <a:p>
            <a:pPr marL="0" indent="0">
              <a:buNone/>
            </a:pPr>
            <a:r>
              <a:rPr lang="en-IN" sz="2000" b="1" i="1" dirty="0">
                <a:latin typeface="Times New Roman" panose="02020603050405020304" pitchFamily="18" charset="0"/>
                <a:cs typeface="Times New Roman" panose="02020603050405020304" pitchFamily="18" charset="0"/>
              </a:rPr>
              <a:t>4. Machine Vision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Machines can capture visual information and then analyze it. Here cameras are used to capture the visual information, the analogue to digital conversion is used to convert the image to digital data, and digital signal processing is employed to process the data. Then the resulting data is fed to a computer. In machine vision, two vital aspects are sensitivity, which is the ability of the machine to perceive impulses that are weak and resolution, the range to which the machine can distinguish the objects. The usage of machine vision can be found in signature identification, pattern recognition, and medical image analysis, etc. </a:t>
            </a:r>
            <a:endParaRPr lang="en-US" sz="1200" dirty="0">
              <a:latin typeface="Times New Roman" panose="02020603050405020304" pitchFamily="18" charset="0"/>
              <a:cs typeface="Times New Roman" panose="02020603050405020304" pitchFamily="18" charset="0"/>
            </a:endParaRPr>
          </a:p>
        </p:txBody>
      </p:sp>
      <p:sp>
        <p:nvSpPr>
          <p:cNvPr id="360" name="Google Shape;360;p36">
            <a:extLst>
              <a:ext uri="{FF2B5EF4-FFF2-40B4-BE49-F238E27FC236}">
                <a16:creationId xmlns:a16="http://schemas.microsoft.com/office/drawing/2014/main" id="{E54B32E7-B8B4-2CF5-D77C-66224BC5DDD3}"/>
              </a:ext>
            </a:extLst>
          </p:cNvPr>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a:solidFill>
                  <a:srgbClr val="000000"/>
                </a:solidFill>
                <a:latin typeface="Times New Roman"/>
                <a:ea typeface="Times New Roman"/>
                <a:cs typeface="Times New Roman"/>
                <a:sym typeface="Times New Roman"/>
              </a:rPr>
              <a:t>Techniques</a:t>
            </a:r>
            <a:r>
              <a:rPr lang="en-US" sz="4000" b="1" i="0" u="none" strike="noStrike" cap="none">
                <a:solidFill>
                  <a:srgbClr val="000000"/>
                </a:solidFill>
                <a:latin typeface="Times New Roman"/>
                <a:ea typeface="Times New Roman"/>
                <a:cs typeface="Times New Roman"/>
                <a:sym typeface="Times New Roman"/>
              </a:rPr>
              <a:t> </a:t>
            </a:r>
            <a:r>
              <a:rPr lang="en-US" sz="4000" b="1" i="0" u="none" strike="noStrike" cap="none" dirty="0">
                <a:solidFill>
                  <a:srgbClr val="000000"/>
                </a:solidFill>
                <a:latin typeface="Times New Roman"/>
                <a:ea typeface="Times New Roman"/>
                <a:cs typeface="Times New Roman"/>
                <a:sym typeface="Times New Roman"/>
              </a:rPr>
              <a:t>of AI </a:t>
            </a:r>
            <a:endParaRPr sz="1400" b="0" i="0" u="none" strike="noStrike" cap="none" dirty="0">
              <a:solidFill>
                <a:srgbClr val="000000"/>
              </a:solidFill>
              <a:latin typeface="Arial"/>
              <a:ea typeface="Arial"/>
              <a:cs typeface="Arial"/>
              <a:sym typeface="Arial"/>
            </a:endParaRPr>
          </a:p>
        </p:txBody>
      </p:sp>
      <p:sp>
        <p:nvSpPr>
          <p:cNvPr id="361" name="Google Shape;361;p36">
            <a:extLst>
              <a:ext uri="{FF2B5EF4-FFF2-40B4-BE49-F238E27FC236}">
                <a16:creationId xmlns:a16="http://schemas.microsoft.com/office/drawing/2014/main" id="{8C5577DB-B153-126F-92F3-4BE05992C01B}"/>
              </a:ext>
            </a:extLst>
          </p:cNvPr>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63" name="Google Shape;363;p36">
            <a:extLst>
              <a:ext uri="{FF2B5EF4-FFF2-40B4-BE49-F238E27FC236}">
                <a16:creationId xmlns:a16="http://schemas.microsoft.com/office/drawing/2014/main" id="{3A2DA306-FBB3-7ADE-7F10-F4E42961AD54}"/>
              </a:ext>
            </a:extLst>
          </p:cNvPr>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b="0" i="0" u="none" strike="noStrike" cap="none"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extLst>
      <p:ext uri="{BB962C8B-B14F-4D97-AF65-F5344CB8AC3E}">
        <p14:creationId xmlns:p14="http://schemas.microsoft.com/office/powerpoint/2010/main" val="1473364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7"/>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endParaRPr sz="4800" b="0" i="0" u="none" strike="noStrike" cap="none">
              <a:solidFill>
                <a:srgbClr val="000000"/>
              </a:solidFill>
              <a:latin typeface="Arial"/>
              <a:ea typeface="Arial"/>
              <a:cs typeface="Arial"/>
              <a:sym typeface="Arial"/>
            </a:endParaRPr>
          </a:p>
        </p:txBody>
      </p:sp>
      <p:sp>
        <p:nvSpPr>
          <p:cNvPr id="369" name="Google Shape;369;p37"/>
          <p:cNvSpPr txBox="1"/>
          <p:nvPr/>
        </p:nvSpPr>
        <p:spPr>
          <a:xfrm>
            <a:off x="0" y="644144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pic>
        <p:nvPicPr>
          <p:cNvPr id="371" name="Google Shape;371;p37"/>
          <p:cNvPicPr preferRelativeResize="0"/>
          <p:nvPr/>
        </p:nvPicPr>
        <p:blipFill rotWithShape="1">
          <a:blip r:embed="rId3">
            <a:alphaModFix/>
          </a:blip>
          <a:srcRect/>
          <a:stretch/>
        </p:blipFill>
        <p:spPr>
          <a:xfrm>
            <a:off x="803275" y="2077224"/>
            <a:ext cx="7653337" cy="4038004"/>
          </a:xfrm>
          <a:prstGeom prst="rect">
            <a:avLst/>
          </a:prstGeom>
          <a:noFill/>
          <a:ln>
            <a:noFill/>
          </a:ln>
        </p:spPr>
      </p:pic>
      <p:sp>
        <p:nvSpPr>
          <p:cNvPr id="372" name="Google Shape;372;p37"/>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8"/>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228600" lvl="0" indent="0" algn="just" rtl="0">
              <a:lnSpc>
                <a:spcPct val="100000"/>
              </a:lnSpc>
              <a:spcBef>
                <a:spcPts val="800"/>
              </a:spcBef>
              <a:spcAft>
                <a:spcPts val="0"/>
              </a:spcAft>
              <a:buSzPts val="1400"/>
              <a:buNone/>
            </a:pPr>
            <a:r>
              <a:rPr lang="en-US" sz="2000" b="1" i="0" u="none" strike="noStrike">
                <a:solidFill>
                  <a:schemeClr val="dk1"/>
                </a:solidFill>
                <a:latin typeface="Times New Roman"/>
                <a:ea typeface="Times New Roman"/>
                <a:cs typeface="Times New Roman"/>
                <a:sym typeface="Times New Roman"/>
              </a:rPr>
              <a:t>Artificial intelligence has acted as the main driver of emerging technologies like </a:t>
            </a:r>
            <a:r>
              <a:rPr lang="en-US" sz="1800" b="1" i="0" u="none" strike="noStrike">
                <a:solidFill>
                  <a:schemeClr val="dk1"/>
                </a:solidFill>
                <a:latin typeface="Times New Roman"/>
                <a:ea typeface="Times New Roman"/>
                <a:cs typeface="Times New Roman"/>
                <a:sym typeface="Times New Roman"/>
              </a:rPr>
              <a:t>- big data, robotics and IoT etc. including other sectors impacting us. </a:t>
            </a:r>
            <a:endParaRPr sz="1600" b="1" i="0" u="none" strike="noStrike">
              <a:solidFill>
                <a:schemeClr val="dk1"/>
              </a:solidFill>
              <a:latin typeface="Times New Roman"/>
              <a:ea typeface="Times New Roman"/>
              <a:cs typeface="Times New Roman"/>
              <a:sym typeface="Times New Roman"/>
            </a:endParaRPr>
          </a:p>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Transportation:</a:t>
            </a:r>
            <a:r>
              <a:rPr lang="en-US" sz="2000" b="0" i="0">
                <a:solidFill>
                  <a:schemeClr val="dk1"/>
                </a:solidFill>
                <a:latin typeface="Montserrat"/>
                <a:ea typeface="Montserrat"/>
                <a:cs typeface="Montserrat"/>
                <a:sym typeface="Montserrat"/>
              </a:rPr>
              <a:t> Although it could take </a:t>
            </a:r>
            <a:r>
              <a:rPr lang="en-US" sz="2000" b="0" i="0" u="sng" strike="noStrike">
                <a:solidFill>
                  <a:schemeClr val="dk1"/>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a decade or more</a:t>
            </a:r>
            <a:r>
              <a:rPr lang="en-US" sz="2000" b="0" i="0">
                <a:solidFill>
                  <a:schemeClr val="dk1"/>
                </a:solidFill>
                <a:latin typeface="Montserrat"/>
                <a:ea typeface="Montserrat"/>
                <a:cs typeface="Montserrat"/>
                <a:sym typeface="Montserrat"/>
              </a:rPr>
              <a:t> to perfect them, autonomous cars will one day ferry us from place to place.</a:t>
            </a:r>
            <a:endParaRPr/>
          </a:p>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Manufacturing: </a:t>
            </a:r>
            <a:r>
              <a:rPr lang="en-US" sz="2000" b="0" i="0" u="sng" strike="noStrike">
                <a:solidFill>
                  <a:schemeClr val="dk1"/>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AI powered robots work alongside humans</a:t>
            </a:r>
            <a:r>
              <a:rPr lang="en-US" sz="2000" b="0" i="0">
                <a:solidFill>
                  <a:schemeClr val="dk1"/>
                </a:solidFill>
                <a:latin typeface="Montserrat"/>
                <a:ea typeface="Montserrat"/>
                <a:cs typeface="Montserrat"/>
                <a:sym typeface="Montserrat"/>
              </a:rPr>
              <a:t> to perform a limited range of tasks like assembly and stacking, and predictive analysis sensors keep equipment running smoothly.</a:t>
            </a:r>
            <a:endParaRPr/>
          </a:p>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Healthcare:</a:t>
            </a:r>
            <a:r>
              <a:rPr lang="en-US" sz="2000" b="0" i="0">
                <a:solidFill>
                  <a:schemeClr val="dk1"/>
                </a:solidFill>
                <a:latin typeface="Montserrat"/>
                <a:ea typeface="Montserrat"/>
                <a:cs typeface="Montserrat"/>
                <a:sym typeface="Montserrat"/>
              </a:rPr>
              <a:t> In the comparatively AI-nascent field of healthcare, diseases are more quickly and accurately diagnosed, drug discovery is sped up and streamlined, virtual nursing assistants monitor patients and big data analysis helps to create a more personalized patient experience.</a:t>
            </a:r>
            <a:endParaRPr/>
          </a:p>
          <a:p>
            <a:pPr marL="685800" lvl="1" indent="0" algn="just" rtl="0">
              <a:lnSpc>
                <a:spcPct val="100000"/>
              </a:lnSpc>
              <a:spcBef>
                <a:spcPts val="700"/>
              </a:spcBef>
              <a:spcAft>
                <a:spcPts val="0"/>
              </a:spcAft>
              <a:buSzPts val="1400"/>
              <a:buNone/>
            </a:pPr>
            <a:endParaRPr sz="3200">
              <a:solidFill>
                <a:schemeClr val="dk1"/>
              </a:solidFill>
            </a:endParaRPr>
          </a:p>
        </p:txBody>
      </p:sp>
      <p:sp>
        <p:nvSpPr>
          <p:cNvPr id="378" name="Google Shape;378;p38"/>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Future of AI </a:t>
            </a:r>
            <a:endParaRPr sz="1400" b="0" i="0" u="none" strike="noStrike" cap="none">
              <a:solidFill>
                <a:srgbClr val="000000"/>
              </a:solidFill>
              <a:latin typeface="Arial"/>
              <a:ea typeface="Arial"/>
              <a:cs typeface="Arial"/>
              <a:sym typeface="Arial"/>
            </a:endParaRPr>
          </a:p>
        </p:txBody>
      </p:sp>
      <p:sp>
        <p:nvSpPr>
          <p:cNvPr id="379" name="Google Shape;379;p38"/>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81" name="Google Shape;381;p38"/>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9"/>
          <p:cNvSpPr txBox="1">
            <a:spLocks noGrp="1"/>
          </p:cNvSpPr>
          <p:nvPr>
            <p:ph idx="1"/>
          </p:nvPr>
        </p:nvSpPr>
        <p:spPr>
          <a:xfrm>
            <a:off x="228600" y="990600"/>
            <a:ext cx="8610600" cy="5257800"/>
          </a:xfrm>
          <a:prstGeom prst="rect">
            <a:avLst/>
          </a:prstGeom>
          <a:noFill/>
          <a:ln>
            <a:noFill/>
          </a:ln>
        </p:spPr>
        <p:txBody>
          <a:bodyPr spcFirstLastPara="1" wrap="square" lIns="90000" tIns="46800" rIns="90000" bIns="46800" anchor="t" anchorCtr="0">
            <a:noAutofit/>
          </a:bodyPr>
          <a:lstStyle/>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Education:</a:t>
            </a:r>
            <a:r>
              <a:rPr lang="en-US" sz="2000" b="0" i="0">
                <a:solidFill>
                  <a:schemeClr val="dk1"/>
                </a:solidFill>
                <a:latin typeface="Montserrat"/>
                <a:ea typeface="Montserrat"/>
                <a:cs typeface="Montserrat"/>
                <a:sym typeface="Montserrat"/>
              </a:rPr>
              <a:t> Textbooks are digitized with the help of AI, early-stage virtual tutors assist human instructors and facial analysis gauges the emotions of students to help determine who’s struggling or bored and better tailor the experience to their individual needs.</a:t>
            </a:r>
            <a:endParaRPr/>
          </a:p>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Media:</a:t>
            </a:r>
            <a:r>
              <a:rPr lang="en-US" sz="2000" b="0" i="0">
                <a:solidFill>
                  <a:schemeClr val="dk1"/>
                </a:solidFill>
                <a:latin typeface="Montserrat"/>
                <a:ea typeface="Montserrat"/>
                <a:cs typeface="Montserrat"/>
                <a:sym typeface="Montserrat"/>
              </a:rPr>
              <a:t> Journalism is harnessing AI, too, and will continue to benefit from it. Bloomberg uses Cyborg technology to help make quick sense of complex financial reports. The Associated Press employs the natural language abilities of Automated Insights to produce 3,700 earning reports stories per year — nearly four times more than in the recent past.</a:t>
            </a:r>
            <a:endParaRPr/>
          </a:p>
          <a:p>
            <a:pPr marL="571500" lvl="0" indent="-342900" algn="l" rtl="0">
              <a:lnSpc>
                <a:spcPct val="100000"/>
              </a:lnSpc>
              <a:spcBef>
                <a:spcPts val="800"/>
              </a:spcBef>
              <a:spcAft>
                <a:spcPts val="0"/>
              </a:spcAft>
              <a:buSzPts val="1400"/>
              <a:buFont typeface="Noto Sans Symbols"/>
              <a:buChar char="❑"/>
            </a:pPr>
            <a:r>
              <a:rPr lang="en-US" sz="2000" b="1" i="0">
                <a:solidFill>
                  <a:schemeClr val="dk1"/>
                </a:solidFill>
                <a:latin typeface="Montserrat"/>
                <a:ea typeface="Montserrat"/>
                <a:cs typeface="Montserrat"/>
                <a:sym typeface="Montserrat"/>
              </a:rPr>
              <a:t>Customer Service:</a:t>
            </a:r>
            <a:r>
              <a:rPr lang="en-US" sz="2000" b="0" i="0">
                <a:solidFill>
                  <a:schemeClr val="dk1"/>
                </a:solidFill>
                <a:latin typeface="Montserrat"/>
                <a:ea typeface="Montserrat"/>
                <a:cs typeface="Montserrat"/>
                <a:sym typeface="Montserrat"/>
              </a:rPr>
              <a:t> Last but hardly least, Google is working on an AI assistant that can place human-like calls to make appointments at, say, your neighborhood hair salon. In addition to words, the system understands context and nuance.</a:t>
            </a:r>
            <a:endParaRPr/>
          </a:p>
        </p:txBody>
      </p:sp>
      <p:sp>
        <p:nvSpPr>
          <p:cNvPr id="387" name="Google Shape;387;p39"/>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000" b="1" i="0" u="none" strike="noStrike" cap="none">
                <a:solidFill>
                  <a:srgbClr val="000000"/>
                </a:solidFill>
                <a:latin typeface="Times New Roman"/>
                <a:ea typeface="Times New Roman"/>
                <a:cs typeface="Times New Roman"/>
                <a:sym typeface="Times New Roman"/>
              </a:rPr>
              <a:t>Future of AI </a:t>
            </a:r>
            <a:endParaRPr sz="1400" b="0" i="0" u="none" strike="noStrike" cap="none">
              <a:solidFill>
                <a:srgbClr val="000000"/>
              </a:solidFill>
              <a:latin typeface="Arial"/>
              <a:ea typeface="Arial"/>
              <a:cs typeface="Arial"/>
              <a:sym typeface="Arial"/>
            </a:endParaRPr>
          </a:p>
        </p:txBody>
      </p:sp>
      <p:sp>
        <p:nvSpPr>
          <p:cNvPr id="388" name="Google Shape;388;p39"/>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390" name="Google Shape;390;p39"/>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0"/>
          <p:cNvSpPr txBox="1"/>
          <p:nvPr/>
        </p:nvSpPr>
        <p:spPr>
          <a:xfrm>
            <a:off x="0" y="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000"/>
              <a:buFont typeface="Times New Roman"/>
              <a:buNone/>
            </a:pPr>
            <a:r>
              <a:rPr lang="en-US" sz="4800" b="0" i="0" u="none" strike="noStrike" cap="none">
                <a:solidFill>
                  <a:srgbClr val="000000"/>
                </a:solidFill>
                <a:latin typeface="Arial"/>
                <a:ea typeface="Arial"/>
                <a:cs typeface="Arial"/>
                <a:sym typeface="Arial"/>
              </a:rPr>
              <a:t>Future of AI</a:t>
            </a:r>
            <a:endParaRPr/>
          </a:p>
        </p:txBody>
      </p:sp>
      <p:sp>
        <p:nvSpPr>
          <p:cNvPr id="396" name="Google Shape;396;p40"/>
          <p:cNvSpPr txBox="1"/>
          <p:nvPr/>
        </p:nvSpPr>
        <p:spPr>
          <a:xfrm>
            <a:off x="0" y="644144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pic>
        <p:nvPicPr>
          <p:cNvPr id="398" name="Google Shape;398;p40"/>
          <p:cNvPicPr preferRelativeResize="0"/>
          <p:nvPr/>
        </p:nvPicPr>
        <p:blipFill rotWithShape="1">
          <a:blip r:embed="rId3">
            <a:alphaModFix/>
          </a:blip>
          <a:srcRect/>
          <a:stretch/>
        </p:blipFill>
        <p:spPr>
          <a:xfrm>
            <a:off x="900112" y="1981200"/>
            <a:ext cx="7178675" cy="4038004"/>
          </a:xfrm>
          <a:prstGeom prst="rect">
            <a:avLst/>
          </a:prstGeom>
          <a:noFill/>
          <a:ln>
            <a:noFill/>
          </a:ln>
        </p:spPr>
      </p:pic>
      <p:sp>
        <p:nvSpPr>
          <p:cNvPr id="399" name="Google Shape;399;p40"/>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EFED6"/>
        </a:solidFill>
        <a:effectLst/>
      </p:bgPr>
    </p:bg>
    <p:spTree>
      <p:nvGrpSpPr>
        <p:cNvPr id="1" name="Shape 522"/>
        <p:cNvGrpSpPr/>
        <p:nvPr/>
      </p:nvGrpSpPr>
      <p:grpSpPr>
        <a:xfrm>
          <a:off x="0" y="0"/>
          <a:ext cx="0" cy="0"/>
          <a:chOff x="0" y="0"/>
          <a:chExt cx="0" cy="0"/>
        </a:xfrm>
      </p:grpSpPr>
      <p:sp>
        <p:nvSpPr>
          <p:cNvPr id="523" name="Google Shape;523;p52"/>
          <p:cNvSpPr txBox="1">
            <a:spLocks noGrp="1"/>
          </p:cNvSpPr>
          <p:nvPr>
            <p:ph type="title"/>
          </p:nvPr>
        </p:nvSpPr>
        <p:spPr>
          <a:xfrm>
            <a:off x="685800" y="2667000"/>
            <a:ext cx="7772400" cy="1981200"/>
          </a:xfrm>
          <a:prstGeom prst="rect">
            <a:avLst/>
          </a:prstGeom>
          <a:noFill/>
          <a:ln>
            <a:noFill/>
          </a:ln>
        </p:spPr>
        <p:txBody>
          <a:bodyPr spcFirstLastPara="1" wrap="square" lIns="90000" tIns="46800" rIns="90000" bIns="46800" anchor="ctr" anchorCtr="0">
            <a:noAutofit/>
          </a:bodyPr>
          <a:lstStyle/>
          <a:p>
            <a:pPr marL="0" lvl="0" indent="0" algn="ctr" rtl="0">
              <a:lnSpc>
                <a:spcPct val="100000"/>
              </a:lnSpc>
              <a:spcBef>
                <a:spcPts val="0"/>
              </a:spcBef>
              <a:spcAft>
                <a:spcPts val="0"/>
              </a:spcAft>
              <a:buSzPts val="4400"/>
              <a:buNone/>
            </a:pPr>
            <a:r>
              <a:rPr lang="en-US" sz="4400" b="0" i="0" u="none">
                <a:solidFill>
                  <a:srgbClr val="404176"/>
                </a:solidFill>
                <a:latin typeface="Arial"/>
                <a:ea typeface="Arial"/>
                <a:cs typeface="Arial"/>
                <a:sym typeface="Arial"/>
              </a:rPr>
              <a:t>THANK YOU</a:t>
            </a:r>
            <a:endParaRPr/>
          </a:p>
        </p:txBody>
      </p:sp>
      <p:sp>
        <p:nvSpPr>
          <p:cNvPr id="524" name="Google Shape;524;p52"/>
          <p:cNvSpPr txBox="1"/>
          <p:nvPr/>
        </p:nvSpPr>
        <p:spPr>
          <a:xfrm>
            <a:off x="0" y="-40640"/>
            <a:ext cx="9144000" cy="7620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Welcome to AI Team</a:t>
            </a:r>
            <a:endParaRPr sz="2400" b="0" i="0" u="none" strike="noStrike" cap="none">
              <a:solidFill>
                <a:schemeClr val="lt1"/>
              </a:solidFill>
              <a:latin typeface="Arial"/>
              <a:ea typeface="Arial"/>
              <a:cs typeface="Arial"/>
              <a:sym typeface="Arial"/>
            </a:endParaRPr>
          </a:p>
        </p:txBody>
      </p:sp>
      <p:sp>
        <p:nvSpPr>
          <p:cNvPr id="526" name="Google Shape;526;p52"/>
          <p:cNvSpPr txBox="1"/>
          <p:nvPr/>
        </p:nvSpPr>
        <p:spPr>
          <a:xfrm>
            <a:off x="0" y="6400800"/>
            <a:ext cx="9144000" cy="457200"/>
          </a:xfrm>
          <a:prstGeom prst="rect">
            <a:avLst/>
          </a:prstGeom>
          <a:solidFill>
            <a:srgbClr val="FF000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27" name="Google Shape;527;p52"/>
          <p:cNvSpPr txBox="1"/>
          <p:nvPr/>
        </p:nvSpPr>
        <p:spPr>
          <a:xfrm>
            <a:off x="0" y="6478344"/>
            <a:ext cx="9143999" cy="379656"/>
          </a:xfrm>
          <a:prstGeom prst="rect">
            <a:avLst/>
          </a:prstGeom>
          <a:noFill/>
          <a:ln>
            <a:noFill/>
          </a:ln>
        </p:spPr>
        <p:txBody>
          <a:bodyPr spcFirstLastPara="1" wrap="square" lIns="91425" tIns="45700" rIns="91425" bIns="45700" anchor="ctr" anchorCtr="0">
            <a:spAutoFit/>
          </a:bodyPr>
          <a:lstStyle/>
          <a:p>
            <a:pPr lvl="0" algn="ctr"/>
            <a:r>
              <a:rPr lang="en-US" sz="1867" dirty="0">
                <a:solidFill>
                  <a:schemeClr val="lt1"/>
                </a:solidFill>
                <a:latin typeface="Arial"/>
                <a:ea typeface="Arial"/>
                <a:cs typeface="Arial"/>
                <a:sym typeface="Arial"/>
              </a:rPr>
              <a:t>Dr. Bidush Kumar Sahoo		Group No.: </a:t>
            </a:r>
            <a:r>
              <a:rPr lang="en-US" sz="1867" dirty="0">
                <a:solidFill>
                  <a:schemeClr val="lt1"/>
                </a:solidFill>
              </a:rPr>
              <a:t>AIML</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10203</TotalTime>
  <Words>4713</Words>
  <Application>Microsoft Office PowerPoint</Application>
  <PresentationFormat>On-screen Show (4:3)</PresentationFormat>
  <Paragraphs>283</Paragraphs>
  <Slides>34</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Courier New</vt:lpstr>
      <vt:lpstr>Montserrat</vt:lpstr>
      <vt:lpstr>Times New Roman</vt:lpstr>
      <vt:lpstr>Wingdings</vt:lpstr>
      <vt:lpstr>Calibri Light</vt:lpstr>
      <vt:lpstr>Arial</vt:lpstr>
      <vt:lpstr>Noto Sans Symbols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 1.1: Parent Discipline of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Bidush Kumar Sahoo</cp:lastModifiedBy>
  <cp:revision>18</cp:revision>
  <dcterms:modified xsi:type="dcterms:W3CDTF">2025-07-18T03:38:38Z</dcterms:modified>
</cp:coreProperties>
</file>