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Lst>
  <p:sldIdLst>
    <p:sldId id="259" r:id="rId2"/>
    <p:sldId id="260" r:id="rId3"/>
    <p:sldId id="257" r:id="rId4"/>
    <p:sldId id="258" r:id="rId5"/>
    <p:sldId id="261" r:id="rId6"/>
    <p:sldId id="262" r:id="rId7"/>
    <p:sldId id="263" r:id="rId8"/>
    <p:sldId id="264" r:id="rId9"/>
    <p:sldId id="265" r:id="rId10"/>
    <p:sldId id="266" r:id="rId11"/>
    <p:sldId id="267" r:id="rId12"/>
    <p:sldId id="331" r:id="rId13"/>
    <p:sldId id="334" r:id="rId14"/>
    <p:sldId id="333" r:id="rId15"/>
    <p:sldId id="332" r:id="rId16"/>
    <p:sldId id="335" r:id="rId17"/>
    <p:sldId id="338" r:id="rId18"/>
    <p:sldId id="339" r:id="rId19"/>
    <p:sldId id="27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A5D2F5-EDE0-489A-8BAF-DDE56497797B}"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2501164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A5D2F5-EDE0-489A-8BAF-DDE56497797B}"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3463325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A5D2F5-EDE0-489A-8BAF-DDE56497797B}"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1454357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A5D2F5-EDE0-489A-8BAF-DDE56497797B}"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266618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AA5D2F5-EDE0-489A-8BAF-DDE56497797B}" type="datetimeFigureOut">
              <a:rPr lang="en-IN" smtClean="0"/>
              <a:t>20-08-2025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3280515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AA5D2F5-EDE0-489A-8BAF-DDE56497797B}" type="datetimeFigureOut">
              <a:rPr lang="en-IN" smtClean="0"/>
              <a:t>20-08-2025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3483337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A5D2F5-EDE0-489A-8BAF-DDE56497797B}" type="datetimeFigureOut">
              <a:rPr lang="en-IN" smtClean="0"/>
              <a:t>20-08-2025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197652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A5D2F5-EDE0-489A-8BAF-DDE56497797B}"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3568335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A5D2F5-EDE0-489A-8BAF-DDE56497797B}"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792157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A5D2F5-EDE0-489A-8BAF-DDE56497797B}"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1259961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A5D2F5-EDE0-489A-8BAF-DDE56497797B}"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324F709-037B-4F0A-AFFB-BDF7B109B9BB}"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765167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AA5D2F5-EDE0-489A-8BAF-DDE56497797B}"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5619392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AA5D2F5-EDE0-489A-8BAF-DDE56497797B}"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324F709-037B-4F0A-AFFB-BDF7B109B9BB}"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415117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AA5D2F5-EDE0-489A-8BAF-DDE56497797B}"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14469384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A5D2F5-EDE0-489A-8BAF-DDE56497797B}"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40721862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A5D2F5-EDE0-489A-8BAF-DDE56497797B}"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1305365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AA5D2F5-EDE0-489A-8BAF-DDE56497797B}" type="datetimeFigureOut">
              <a:rPr lang="en-IN" smtClean="0"/>
              <a:t>20-08-2025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324F709-037B-4F0A-AFFB-BDF7B109B9BB}" type="slidenum">
              <a:rPr lang="en-IN" smtClean="0"/>
              <a:t>‹#›</a:t>
            </a:fld>
            <a:endParaRPr lang="en-IN"/>
          </a:p>
        </p:txBody>
      </p:sp>
    </p:spTree>
    <p:extLst>
      <p:ext uri="{BB962C8B-B14F-4D97-AF65-F5344CB8AC3E}">
        <p14:creationId xmlns:p14="http://schemas.microsoft.com/office/powerpoint/2010/main" val="1565502554"/>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51F39-661A-9659-558E-592C893E2260}"/>
              </a:ext>
            </a:extLst>
          </p:cNvPr>
          <p:cNvSpPr>
            <a:spLocks noGrp="1"/>
          </p:cNvSpPr>
          <p:nvPr>
            <p:ph type="ctrTitle"/>
          </p:nvPr>
        </p:nvSpPr>
        <p:spPr>
          <a:xfrm>
            <a:off x="2589212" y="629816"/>
            <a:ext cx="8915399" cy="2262781"/>
          </a:xfrm>
        </p:spPr>
        <p:txBody>
          <a:bodyPr/>
          <a:lstStyle/>
          <a:p>
            <a:r>
              <a:rPr lang="en-GB" sz="6600" dirty="0">
                <a:latin typeface="Times" panose="02020603050405020304" pitchFamily="18" charset="0"/>
                <a:cs typeface="Times" panose="02020603050405020304" pitchFamily="18" charset="0"/>
              </a:rPr>
              <a:t>Artificial Intelligence</a:t>
            </a:r>
            <a:br>
              <a:rPr lang="en-GB" dirty="0">
                <a:latin typeface="Times" panose="02020603050405020304" pitchFamily="18" charset="0"/>
                <a:cs typeface="Times" panose="02020603050405020304" pitchFamily="18" charset="0"/>
              </a:rPr>
            </a:br>
            <a:endParaRPr lang="en-IN" dirty="0"/>
          </a:p>
        </p:txBody>
      </p:sp>
      <p:sp>
        <p:nvSpPr>
          <p:cNvPr id="3" name="Subtitle 2">
            <a:extLst>
              <a:ext uri="{FF2B5EF4-FFF2-40B4-BE49-F238E27FC236}">
                <a16:creationId xmlns:a16="http://schemas.microsoft.com/office/drawing/2014/main" id="{675D50D6-17EB-229E-9010-0DB54C0DE860}"/>
              </a:ext>
            </a:extLst>
          </p:cNvPr>
          <p:cNvSpPr>
            <a:spLocks noGrp="1"/>
          </p:cNvSpPr>
          <p:nvPr>
            <p:ph type="subTitle" idx="1"/>
          </p:nvPr>
        </p:nvSpPr>
        <p:spPr>
          <a:xfrm>
            <a:off x="2589213" y="3228393"/>
            <a:ext cx="8915399" cy="2675270"/>
          </a:xfrm>
        </p:spPr>
        <p:txBody>
          <a:bodyPr>
            <a:normAutofit/>
          </a:bodyPr>
          <a:lstStyle/>
          <a:p>
            <a:pPr algn="ctr"/>
            <a:r>
              <a:rPr lang="en-US" altLang="en-US" sz="4800" dirty="0">
                <a:latin typeface="Times" panose="02020603050405020304" pitchFamily="18" charset="0"/>
                <a:ea typeface="ＭＳ Ｐゴシック" panose="020B0600070205080204" pitchFamily="34" charset="-128"/>
                <a:cs typeface="Times" panose="02020603050405020304" pitchFamily="18" charset="0"/>
              </a:rPr>
              <a:t>Dr. Bidush Kumar Sahoo</a:t>
            </a:r>
            <a:br>
              <a:rPr lang="en-US" altLang="en-US" sz="6000" dirty="0">
                <a:latin typeface="Times" panose="02020603050405020304" pitchFamily="18" charset="0"/>
                <a:ea typeface="ＭＳ Ｐゴシック" panose="020B0600070205080204" pitchFamily="34" charset="-128"/>
                <a:cs typeface="Times" panose="02020603050405020304" pitchFamily="18" charset="0"/>
              </a:rPr>
            </a:br>
            <a:r>
              <a:rPr lang="en-US" altLang="en-US" sz="6000" dirty="0">
                <a:latin typeface="Times" panose="02020603050405020304" pitchFamily="18" charset="0"/>
                <a:ea typeface="ＭＳ Ｐゴシック" panose="020B0600070205080204" pitchFamily="34" charset="-128"/>
                <a:cs typeface="Times" panose="02020603050405020304" pitchFamily="18" charset="0"/>
              </a:rPr>
              <a:t>G.I.E.T. University,</a:t>
            </a:r>
            <a:br>
              <a:rPr lang="en-US" altLang="en-US" sz="6000" dirty="0">
                <a:latin typeface="Times" panose="02020603050405020304" pitchFamily="18" charset="0"/>
                <a:ea typeface="ＭＳ Ｐゴシック" panose="020B0600070205080204" pitchFamily="34" charset="-128"/>
                <a:cs typeface="Times" panose="02020603050405020304" pitchFamily="18" charset="0"/>
              </a:rPr>
            </a:br>
            <a:r>
              <a:rPr lang="en-US" altLang="en-US" sz="6000" dirty="0" err="1">
                <a:latin typeface="Times" panose="02020603050405020304" pitchFamily="18" charset="0"/>
                <a:ea typeface="ＭＳ Ｐゴシック" panose="020B0600070205080204" pitchFamily="34" charset="-128"/>
                <a:cs typeface="Times" panose="02020603050405020304" pitchFamily="18" charset="0"/>
              </a:rPr>
              <a:t>Gunupur</a:t>
            </a:r>
            <a:r>
              <a:rPr lang="en-US" altLang="en-US" sz="6000" dirty="0">
                <a:latin typeface="Times" panose="02020603050405020304" pitchFamily="18" charset="0"/>
                <a:ea typeface="ＭＳ Ｐゴシック" panose="020B0600070205080204" pitchFamily="34" charset="-128"/>
                <a:cs typeface="Times" panose="02020603050405020304" pitchFamily="18" charset="0"/>
              </a:rPr>
              <a:t>, Odisha</a:t>
            </a:r>
            <a:endParaRPr lang="en-IN" sz="6000" dirty="0"/>
          </a:p>
        </p:txBody>
      </p:sp>
      <p:sp>
        <p:nvSpPr>
          <p:cNvPr id="4" name="Slide Number Placeholder 3">
            <a:extLst>
              <a:ext uri="{FF2B5EF4-FFF2-40B4-BE49-F238E27FC236}">
                <a16:creationId xmlns:a16="http://schemas.microsoft.com/office/drawing/2014/main" id="{3B79F0B8-F592-96C0-FF6B-D69001AEA8BF}"/>
              </a:ext>
            </a:extLst>
          </p:cNvPr>
          <p:cNvSpPr>
            <a:spLocks noGrp="1"/>
          </p:cNvSpPr>
          <p:nvPr>
            <p:ph type="sldNum" sz="quarter" idx="12"/>
          </p:nvPr>
        </p:nvSpPr>
        <p:spPr/>
        <p:txBody>
          <a:bodyPr/>
          <a:lstStyle/>
          <a:p>
            <a:fld id="{E9546293-CC12-4E88-908C-5E8BC06AB257}" type="slidenum">
              <a:rPr lang="en-IN" smtClean="0"/>
              <a:t>1</a:t>
            </a:fld>
            <a:endParaRPr lang="en-IN"/>
          </a:p>
        </p:txBody>
      </p:sp>
    </p:spTree>
    <p:extLst>
      <p:ext uri="{BB962C8B-B14F-4D97-AF65-F5344CB8AC3E}">
        <p14:creationId xmlns:p14="http://schemas.microsoft.com/office/powerpoint/2010/main" val="3723767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85458-FF0D-CCF5-B0E6-FDB0035B13FD}"/>
              </a:ext>
            </a:extLst>
          </p:cNvPr>
          <p:cNvSpPr>
            <a:spLocks noGrp="1"/>
          </p:cNvSpPr>
          <p:nvPr>
            <p:ph type="title"/>
          </p:nvPr>
        </p:nvSpPr>
        <p:spPr/>
        <p:txBody>
          <a:bodyPr/>
          <a:lstStyle/>
          <a:p>
            <a:r>
              <a:rPr lang="en-IN" b="1" dirty="0"/>
              <a:t>Reasoning</a:t>
            </a:r>
            <a:br>
              <a:rPr lang="en-IN" dirty="0"/>
            </a:br>
            <a:endParaRPr lang="en-IN" dirty="0"/>
          </a:p>
        </p:txBody>
      </p:sp>
      <p:sp>
        <p:nvSpPr>
          <p:cNvPr id="3" name="Content Placeholder 2">
            <a:extLst>
              <a:ext uri="{FF2B5EF4-FFF2-40B4-BE49-F238E27FC236}">
                <a16:creationId xmlns:a16="http://schemas.microsoft.com/office/drawing/2014/main" id="{2421C157-52DD-C6CB-9F7E-CFE614A0FDBE}"/>
              </a:ext>
            </a:extLst>
          </p:cNvPr>
          <p:cNvSpPr>
            <a:spLocks noGrp="1"/>
          </p:cNvSpPr>
          <p:nvPr>
            <p:ph idx="1"/>
          </p:nvPr>
        </p:nvSpPr>
        <p:spPr/>
        <p:txBody>
          <a:bodyPr/>
          <a:lstStyle/>
          <a:p>
            <a:r>
              <a:rPr lang="en-US" dirty="0"/>
              <a:t>The reasoning is the mental process of deriving logical conclusion and making predictions from available knowledge, facts, and beliefs. Or we can say, "</a:t>
            </a:r>
            <a:r>
              <a:rPr lang="en-US" b="1" dirty="0"/>
              <a:t>Reasoning is a way to infer facts from existing data</a:t>
            </a:r>
            <a:r>
              <a:rPr lang="en-US" dirty="0"/>
              <a:t>." It is a general process of thinking rationally, to find valid conclusions. </a:t>
            </a:r>
          </a:p>
          <a:p>
            <a:r>
              <a:rPr lang="en-US" dirty="0"/>
              <a:t>In artificial intelligence, the reasoning is essential so that the machine can also think rationally as a human brain, and can perform like a human. </a:t>
            </a:r>
          </a:p>
          <a:p>
            <a:endParaRPr lang="en-IN" dirty="0"/>
          </a:p>
        </p:txBody>
      </p:sp>
    </p:spTree>
    <p:extLst>
      <p:ext uri="{BB962C8B-B14F-4D97-AF65-F5344CB8AC3E}">
        <p14:creationId xmlns:p14="http://schemas.microsoft.com/office/powerpoint/2010/main" val="3575856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7CA76-6FEB-6669-47C7-C0213C4D1F5E}"/>
              </a:ext>
            </a:extLst>
          </p:cNvPr>
          <p:cNvSpPr>
            <a:spLocks noGrp="1"/>
          </p:cNvSpPr>
          <p:nvPr>
            <p:ph type="title"/>
          </p:nvPr>
        </p:nvSpPr>
        <p:spPr/>
        <p:txBody>
          <a:bodyPr/>
          <a:lstStyle/>
          <a:p>
            <a:r>
              <a:rPr lang="en-IN" b="1" dirty="0"/>
              <a:t>Symbolic Reasoning </a:t>
            </a:r>
            <a:br>
              <a:rPr lang="en-IN" dirty="0"/>
            </a:br>
            <a:endParaRPr lang="en-IN" dirty="0"/>
          </a:p>
        </p:txBody>
      </p:sp>
      <p:sp>
        <p:nvSpPr>
          <p:cNvPr id="3" name="Content Placeholder 2">
            <a:extLst>
              <a:ext uri="{FF2B5EF4-FFF2-40B4-BE49-F238E27FC236}">
                <a16:creationId xmlns:a16="http://schemas.microsoft.com/office/drawing/2014/main" id="{AF2630B1-FDB2-D9FA-8DF2-ADB0CC521C50}"/>
              </a:ext>
            </a:extLst>
          </p:cNvPr>
          <p:cNvSpPr>
            <a:spLocks noGrp="1"/>
          </p:cNvSpPr>
          <p:nvPr>
            <p:ph idx="1"/>
          </p:nvPr>
        </p:nvSpPr>
        <p:spPr/>
        <p:txBody>
          <a:bodyPr>
            <a:normAutofit fontScale="85000" lnSpcReduction="10000"/>
          </a:bodyPr>
          <a:lstStyle/>
          <a:p>
            <a:endParaRPr lang="en-IN" dirty="0"/>
          </a:p>
          <a:p>
            <a:r>
              <a:rPr lang="en-US" dirty="0"/>
              <a:t>➢ The reasoning is the act of deriving a conclusion from certain properties using a given methodology. </a:t>
            </a:r>
          </a:p>
          <a:p>
            <a:r>
              <a:rPr lang="en-US" dirty="0"/>
              <a:t>➢ The reasoning is a process of thinking; reasoning is logically arguing; reasoning is drawing the inference. </a:t>
            </a:r>
          </a:p>
          <a:p>
            <a:r>
              <a:rPr lang="en-US" dirty="0"/>
              <a:t>➢ When a system is required to do something, that it has not been explicitly told how to do, it must reason. It must figure out what it needs to know from what it already knows. </a:t>
            </a:r>
          </a:p>
          <a:p>
            <a:r>
              <a:rPr lang="en-US" dirty="0"/>
              <a:t>➢ Many types of Reasoning have been identified and recognized, but many questions regarding their logical and computational properties still remain controversial. </a:t>
            </a:r>
          </a:p>
          <a:p>
            <a:r>
              <a:rPr lang="en-US" dirty="0"/>
              <a:t>➢ The popular methods of Reasoning include abduction, induction, model-based, explanation and confirmation. All of them are intimately related to problems of belief revision and theory development, knowledge absorption, discovery, and learning. </a:t>
            </a:r>
          </a:p>
          <a:p>
            <a:endParaRPr lang="en-IN" dirty="0"/>
          </a:p>
          <a:p>
            <a:endParaRPr lang="en-IN" dirty="0"/>
          </a:p>
        </p:txBody>
      </p:sp>
    </p:spTree>
    <p:extLst>
      <p:ext uri="{BB962C8B-B14F-4D97-AF65-F5344CB8AC3E}">
        <p14:creationId xmlns:p14="http://schemas.microsoft.com/office/powerpoint/2010/main" val="3342303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D21FE-3252-FBAA-1B8D-10CF07C00EA9}"/>
              </a:ext>
            </a:extLst>
          </p:cNvPr>
          <p:cNvSpPr>
            <a:spLocks noGrp="1"/>
          </p:cNvSpPr>
          <p:nvPr>
            <p:ph type="title"/>
          </p:nvPr>
        </p:nvSpPr>
        <p:spPr/>
        <p:txBody>
          <a:bodyPr/>
          <a:lstStyle/>
          <a:p>
            <a:r>
              <a:rPr lang="en-IN" b="1" dirty="0"/>
              <a:t>Logical Reasoning </a:t>
            </a:r>
            <a:br>
              <a:rPr lang="en-IN" dirty="0"/>
            </a:br>
            <a:endParaRPr lang="en-IN" dirty="0"/>
          </a:p>
        </p:txBody>
      </p:sp>
      <p:sp>
        <p:nvSpPr>
          <p:cNvPr id="3" name="Content Placeholder 2">
            <a:extLst>
              <a:ext uri="{FF2B5EF4-FFF2-40B4-BE49-F238E27FC236}">
                <a16:creationId xmlns:a16="http://schemas.microsoft.com/office/drawing/2014/main" id="{A714428E-CD77-2432-C070-0B0635C8B876}"/>
              </a:ext>
            </a:extLst>
          </p:cNvPr>
          <p:cNvSpPr>
            <a:spLocks noGrp="1"/>
          </p:cNvSpPr>
          <p:nvPr>
            <p:ph idx="1"/>
          </p:nvPr>
        </p:nvSpPr>
        <p:spPr/>
        <p:txBody>
          <a:bodyPr>
            <a:normAutofit fontScale="92500" lnSpcReduction="20000"/>
          </a:bodyPr>
          <a:lstStyle/>
          <a:p>
            <a:r>
              <a:rPr lang="en-US" dirty="0"/>
              <a:t>➢ Logic is a language for reasoning. It is a collection of rules called Logic arguments, we use when doing logical reasoning. </a:t>
            </a:r>
          </a:p>
          <a:p>
            <a:r>
              <a:rPr lang="en-US" dirty="0"/>
              <a:t>➢ The logic reasoning is the process of drawing conclusions from premises using rules of inference. </a:t>
            </a:r>
          </a:p>
          <a:p>
            <a:r>
              <a:rPr lang="en-US" dirty="0"/>
              <a:t>➢ The study of logic divided into formal and informal logic. The formal logic is sometimes called symbolic logic. </a:t>
            </a:r>
          </a:p>
          <a:p>
            <a:r>
              <a:rPr lang="en-US" dirty="0"/>
              <a:t>➢ Symbolic logic is the study of symbolic abstractions (construct) that capture the formal features of logical inference by a formal system. </a:t>
            </a:r>
          </a:p>
          <a:p>
            <a:r>
              <a:rPr lang="en-US" dirty="0"/>
              <a:t>➢ The formal system consists of two components, a formal language plus a set of inference rules. </a:t>
            </a:r>
          </a:p>
          <a:p>
            <a:r>
              <a:rPr lang="en-US" dirty="0"/>
              <a:t>➢ The formal system has axioms. Axiom is a sentence that is always true within the system. </a:t>
            </a:r>
          </a:p>
          <a:p>
            <a:r>
              <a:rPr lang="en-US" dirty="0"/>
              <a:t>➢ Sentences derived using the system’s axioms and rules of derivation called theorems. </a:t>
            </a:r>
          </a:p>
          <a:p>
            <a:endParaRPr lang="en-IN" dirty="0"/>
          </a:p>
        </p:txBody>
      </p:sp>
    </p:spTree>
    <p:extLst>
      <p:ext uri="{BB962C8B-B14F-4D97-AF65-F5344CB8AC3E}">
        <p14:creationId xmlns:p14="http://schemas.microsoft.com/office/powerpoint/2010/main" val="1311646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B261-1A08-872E-6BAD-EE97D67EC1F9}"/>
              </a:ext>
            </a:extLst>
          </p:cNvPr>
          <p:cNvSpPr>
            <a:spLocks noGrp="1"/>
          </p:cNvSpPr>
          <p:nvPr>
            <p:ph type="title"/>
          </p:nvPr>
        </p:nvSpPr>
        <p:spPr/>
        <p:txBody>
          <a:bodyPr/>
          <a:lstStyle/>
          <a:p>
            <a:r>
              <a:rPr lang="en-IN" b="1" dirty="0"/>
              <a:t>Monotonic Reasoning</a:t>
            </a:r>
            <a:br>
              <a:rPr lang="en-IN" dirty="0"/>
            </a:br>
            <a:endParaRPr lang="en-IN" dirty="0"/>
          </a:p>
        </p:txBody>
      </p:sp>
      <p:sp>
        <p:nvSpPr>
          <p:cNvPr id="3" name="Content Placeholder 2">
            <a:extLst>
              <a:ext uri="{FF2B5EF4-FFF2-40B4-BE49-F238E27FC236}">
                <a16:creationId xmlns:a16="http://schemas.microsoft.com/office/drawing/2014/main" id="{BF9DB600-4180-1648-ABC8-19C8F4F31D42}"/>
              </a:ext>
            </a:extLst>
          </p:cNvPr>
          <p:cNvSpPr>
            <a:spLocks noGrp="1"/>
          </p:cNvSpPr>
          <p:nvPr>
            <p:ph idx="1"/>
          </p:nvPr>
        </p:nvSpPr>
        <p:spPr>
          <a:xfrm>
            <a:off x="2589212" y="2133600"/>
            <a:ext cx="8915400" cy="4277032"/>
          </a:xfrm>
        </p:spPr>
        <p:txBody>
          <a:bodyPr>
            <a:normAutofit fontScale="55000" lnSpcReduction="20000"/>
          </a:bodyPr>
          <a:lstStyle/>
          <a:p>
            <a:r>
              <a:rPr lang="en-US" dirty="0"/>
              <a:t>In monotonic reasoning, once the conclusion is taken, then it will remain the same even if we add some other information to existing information in our knowledge base. In monotonic reasoning, adding knowledge does not decrease the set of prepositions that can be derived. </a:t>
            </a:r>
          </a:p>
          <a:p>
            <a:r>
              <a:rPr lang="en-US" dirty="0"/>
              <a:t>To solve monotonic problems, we can derive the valid conclusion from the available facts only, and it will not be affected by new facts. </a:t>
            </a:r>
          </a:p>
          <a:p>
            <a:r>
              <a:rPr lang="en-US" dirty="0"/>
              <a:t>Monotonic reasoning is not useful for the real-time systems, as in real time, facts get changed, so we cannot use monotonic reasoning. </a:t>
            </a:r>
          </a:p>
          <a:p>
            <a:r>
              <a:rPr lang="en-US" dirty="0"/>
              <a:t>Monotonic reasoning is used in conventional reasoning systems, and a logic-based system is monotonic. Any theorem proving is an example of monotonic reasoning. </a:t>
            </a:r>
          </a:p>
          <a:p>
            <a:r>
              <a:rPr lang="en-IN" b="1" dirty="0"/>
              <a:t>Example: </a:t>
            </a:r>
            <a:endParaRPr lang="en-IN" dirty="0"/>
          </a:p>
          <a:p>
            <a:r>
              <a:rPr lang="en-US" b="1" dirty="0"/>
              <a:t>Earth revolves around the Sun. </a:t>
            </a:r>
            <a:endParaRPr lang="en-US" dirty="0"/>
          </a:p>
          <a:p>
            <a:r>
              <a:rPr lang="en-US" dirty="0"/>
              <a:t>It is a true fact, and it cannot be changed even if we add another sentence in knowledge base like, "The moon revolves around the earth" Or "Earth is not round," etc. </a:t>
            </a:r>
          </a:p>
          <a:p>
            <a:pPr marL="0" indent="0">
              <a:buNone/>
            </a:pPr>
            <a:r>
              <a:rPr lang="en-IN" dirty="0"/>
              <a:t>Advantages of Monotonic Reasoning: </a:t>
            </a:r>
          </a:p>
          <a:p>
            <a:r>
              <a:rPr lang="en-US" dirty="0"/>
              <a:t>➢ In monotonic reasoning, each old proof will always remain valid. </a:t>
            </a:r>
          </a:p>
          <a:p>
            <a:r>
              <a:rPr lang="en-US" dirty="0"/>
              <a:t>➢ If we deduce some facts from available facts, then it will remain valid for always. </a:t>
            </a:r>
          </a:p>
          <a:p>
            <a:pPr marL="0" indent="0">
              <a:buNone/>
            </a:pPr>
            <a:r>
              <a:rPr lang="en-US" dirty="0"/>
              <a:t>Disadvantages of Monotonic Reasoning: </a:t>
            </a:r>
          </a:p>
          <a:p>
            <a:r>
              <a:rPr lang="en-US" dirty="0"/>
              <a:t>➢ We cannot represent the real world scenarios using Monotonic reasoning. </a:t>
            </a:r>
          </a:p>
          <a:p>
            <a:r>
              <a:rPr lang="en-US" dirty="0"/>
              <a:t>➢ Hypothesis knowledge cannot be expressed with monotonic reasoning, which means facts should be true. </a:t>
            </a:r>
          </a:p>
          <a:p>
            <a:r>
              <a:rPr lang="en-US" dirty="0"/>
              <a:t>➢ Since we can only derive conclusions from the old proofs, so new knowledge from the real world cannot be added. ➢ </a:t>
            </a:r>
            <a:r>
              <a:rPr lang="en-US" b="1" dirty="0"/>
              <a:t>Penguins cannot fly </a:t>
            </a:r>
            <a:endParaRPr lang="en-US" dirty="0"/>
          </a:p>
          <a:p>
            <a:endParaRPr lang="en-IN" dirty="0"/>
          </a:p>
          <a:p>
            <a:endParaRPr lang="en-IN" dirty="0"/>
          </a:p>
        </p:txBody>
      </p:sp>
    </p:spTree>
    <p:extLst>
      <p:ext uri="{BB962C8B-B14F-4D97-AF65-F5344CB8AC3E}">
        <p14:creationId xmlns:p14="http://schemas.microsoft.com/office/powerpoint/2010/main" val="4227983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81EA8-4566-FE43-3C08-F4CFA5A44F97}"/>
              </a:ext>
            </a:extLst>
          </p:cNvPr>
          <p:cNvSpPr>
            <a:spLocks noGrp="1"/>
          </p:cNvSpPr>
          <p:nvPr>
            <p:ph type="title"/>
          </p:nvPr>
        </p:nvSpPr>
        <p:spPr/>
        <p:txBody>
          <a:bodyPr/>
          <a:lstStyle/>
          <a:p>
            <a:r>
              <a:rPr lang="en-IN" b="1" dirty="0"/>
              <a:t>Non-monotonic Reasoning </a:t>
            </a:r>
            <a:br>
              <a:rPr lang="en-IN" dirty="0"/>
            </a:br>
            <a:endParaRPr lang="en-IN" dirty="0"/>
          </a:p>
        </p:txBody>
      </p:sp>
      <p:sp>
        <p:nvSpPr>
          <p:cNvPr id="3" name="Content Placeholder 2">
            <a:extLst>
              <a:ext uri="{FF2B5EF4-FFF2-40B4-BE49-F238E27FC236}">
                <a16:creationId xmlns:a16="http://schemas.microsoft.com/office/drawing/2014/main" id="{E4D466D8-AD2F-B10C-7720-B0B5EEFBA906}"/>
              </a:ext>
            </a:extLst>
          </p:cNvPr>
          <p:cNvSpPr>
            <a:spLocks noGrp="1"/>
          </p:cNvSpPr>
          <p:nvPr>
            <p:ph idx="1"/>
          </p:nvPr>
        </p:nvSpPr>
        <p:spPr/>
        <p:txBody>
          <a:bodyPr>
            <a:normAutofit fontScale="92500" lnSpcReduction="10000"/>
          </a:bodyPr>
          <a:lstStyle/>
          <a:p>
            <a:r>
              <a:rPr lang="en-US" dirty="0"/>
              <a:t>In Non-monotonic reasoning, some conclusions may be invalidated if we add some more information to our knowledge base. </a:t>
            </a:r>
          </a:p>
          <a:p>
            <a:r>
              <a:rPr lang="en-US" dirty="0"/>
              <a:t>Logic will be said as non-monotonic if some conclusions can be invalidated by adding more knowledge into our knowledge base. </a:t>
            </a:r>
          </a:p>
          <a:p>
            <a:r>
              <a:rPr lang="en-US" dirty="0"/>
              <a:t>Non-monotonic reasoning deals with incomplete and uncertain models. </a:t>
            </a:r>
          </a:p>
          <a:p>
            <a:r>
              <a:rPr lang="en-US" dirty="0"/>
              <a:t>"Human perceptions for various things in daily life, "is a general example of non-monotonic reasoning. </a:t>
            </a:r>
          </a:p>
          <a:p>
            <a:r>
              <a:rPr lang="en-US" b="1" dirty="0"/>
              <a:t>Example: </a:t>
            </a:r>
            <a:r>
              <a:rPr lang="en-US" dirty="0"/>
              <a:t>Let suppose the knowledge base contains the following knowledge: </a:t>
            </a:r>
          </a:p>
          <a:p>
            <a:r>
              <a:rPr lang="en-IN" dirty="0"/>
              <a:t>➢ </a:t>
            </a:r>
            <a:r>
              <a:rPr lang="en-IN" b="1" dirty="0"/>
              <a:t>Birds can fly </a:t>
            </a:r>
            <a:endParaRPr lang="en-IN" dirty="0"/>
          </a:p>
          <a:p>
            <a:r>
              <a:rPr lang="en-IN" dirty="0"/>
              <a:t>➢ </a:t>
            </a:r>
            <a:r>
              <a:rPr lang="en-IN" b="1" dirty="0" err="1"/>
              <a:t>Pitty</a:t>
            </a:r>
            <a:r>
              <a:rPr lang="en-IN" b="1" dirty="0"/>
              <a:t> is a bird </a:t>
            </a:r>
            <a:endParaRPr lang="en-IN" dirty="0"/>
          </a:p>
          <a:p>
            <a:r>
              <a:rPr lang="en-US" dirty="0"/>
              <a:t>So from the above sentences, we can conclude that </a:t>
            </a:r>
            <a:r>
              <a:rPr lang="en-US" b="1" dirty="0" err="1"/>
              <a:t>Pitty</a:t>
            </a:r>
            <a:r>
              <a:rPr lang="en-US" b="1" dirty="0"/>
              <a:t> can fly</a:t>
            </a:r>
            <a:r>
              <a:rPr lang="en-US" dirty="0"/>
              <a:t>. </a:t>
            </a:r>
            <a:endParaRPr lang="en-IN" dirty="0"/>
          </a:p>
          <a:p>
            <a:endParaRPr lang="en-IN" dirty="0"/>
          </a:p>
        </p:txBody>
      </p:sp>
    </p:spTree>
    <p:extLst>
      <p:ext uri="{BB962C8B-B14F-4D97-AF65-F5344CB8AC3E}">
        <p14:creationId xmlns:p14="http://schemas.microsoft.com/office/powerpoint/2010/main" val="1536856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1E63B-9F79-4FF2-A581-4C75A04EBCE8}"/>
              </a:ext>
            </a:extLst>
          </p:cNvPr>
          <p:cNvSpPr>
            <a:spLocks noGrp="1"/>
          </p:cNvSpPr>
          <p:nvPr>
            <p:ph type="title"/>
          </p:nvPr>
        </p:nvSpPr>
        <p:spPr/>
        <p:txBody>
          <a:bodyPr/>
          <a:lstStyle/>
          <a:p>
            <a:r>
              <a:rPr lang="en-US" b="1" dirty="0"/>
              <a:t>Default Reasoning </a:t>
            </a:r>
            <a:br>
              <a:rPr lang="en-US" dirty="0"/>
            </a:br>
            <a:endParaRPr lang="en-IN" dirty="0"/>
          </a:p>
        </p:txBody>
      </p:sp>
      <p:sp>
        <p:nvSpPr>
          <p:cNvPr id="3" name="Content Placeholder 2">
            <a:extLst>
              <a:ext uri="{FF2B5EF4-FFF2-40B4-BE49-F238E27FC236}">
                <a16:creationId xmlns:a16="http://schemas.microsoft.com/office/drawing/2014/main" id="{3E0E0407-8C86-7CD2-417B-FEDA26F096FE}"/>
              </a:ext>
            </a:extLst>
          </p:cNvPr>
          <p:cNvSpPr>
            <a:spLocks noGrp="1"/>
          </p:cNvSpPr>
          <p:nvPr>
            <p:ph idx="1"/>
          </p:nvPr>
        </p:nvSpPr>
        <p:spPr/>
        <p:txBody>
          <a:bodyPr/>
          <a:lstStyle/>
          <a:p>
            <a:endParaRPr lang="en-IN" dirty="0"/>
          </a:p>
          <a:p>
            <a:r>
              <a:rPr lang="en-US" dirty="0"/>
              <a:t>Default reasoning can express facts like ―by default, something is true‖; by contrast, standard logic can only express that something is true or that something is false. This is a problem because reasoning often involves facts that are true in the majority of cases but not always. A classical example is: ―birds typically fly‖. This rule can be expressed in standard logic either by ―all birds fly‖, which is inconsistent with the fact that penguins do not fly, or by ―all birds that are not penguins and not ostriches and ... fly‖, which requires all exceptions to the rule to be specified. Default logic aims at formalizing inference rules like this one without explicitly mentioning all their exceptions. </a:t>
            </a:r>
            <a:endParaRPr lang="en-IN" dirty="0"/>
          </a:p>
        </p:txBody>
      </p:sp>
    </p:spTree>
    <p:extLst>
      <p:ext uri="{BB962C8B-B14F-4D97-AF65-F5344CB8AC3E}">
        <p14:creationId xmlns:p14="http://schemas.microsoft.com/office/powerpoint/2010/main" val="1052801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298B1-414C-B90D-EADC-9A3B2048B926}"/>
              </a:ext>
            </a:extLst>
          </p:cNvPr>
          <p:cNvSpPr>
            <a:spLocks noGrp="1"/>
          </p:cNvSpPr>
          <p:nvPr>
            <p:ph type="title"/>
          </p:nvPr>
        </p:nvSpPr>
        <p:spPr/>
        <p:txBody>
          <a:bodyPr/>
          <a:lstStyle/>
          <a:p>
            <a:r>
              <a:rPr lang="en-IN" b="1" dirty="0"/>
              <a:t>Deductive reasoning</a:t>
            </a:r>
            <a:br>
              <a:rPr lang="en-IN" dirty="0"/>
            </a:br>
            <a:endParaRPr lang="en-IN" dirty="0"/>
          </a:p>
        </p:txBody>
      </p:sp>
      <p:sp>
        <p:nvSpPr>
          <p:cNvPr id="3" name="Content Placeholder 2">
            <a:extLst>
              <a:ext uri="{FF2B5EF4-FFF2-40B4-BE49-F238E27FC236}">
                <a16:creationId xmlns:a16="http://schemas.microsoft.com/office/drawing/2014/main" id="{4BB242C5-6DB2-9BD8-4D92-040D6EA01461}"/>
              </a:ext>
            </a:extLst>
          </p:cNvPr>
          <p:cNvSpPr>
            <a:spLocks noGrp="1"/>
          </p:cNvSpPr>
          <p:nvPr>
            <p:ph idx="1"/>
          </p:nvPr>
        </p:nvSpPr>
        <p:spPr/>
        <p:txBody>
          <a:bodyPr>
            <a:normAutofit fontScale="92500" lnSpcReduction="10000"/>
          </a:bodyPr>
          <a:lstStyle/>
          <a:p>
            <a:r>
              <a:rPr lang="en-US" dirty="0"/>
              <a:t>Deductive reasoning is deducing new information from logically related known information. It is the form of valid reasoning, which means the argument's conclusion must be true when the premises are true. </a:t>
            </a:r>
          </a:p>
          <a:p>
            <a:r>
              <a:rPr lang="en-US" dirty="0"/>
              <a:t>Deductive reasoning is a type of propositional logic in AI, and it requires various rules and facts. It is sometimes referred to as top-down reasoning, and contradictory to inductive reasoning. </a:t>
            </a:r>
          </a:p>
          <a:p>
            <a:r>
              <a:rPr lang="en-US" dirty="0"/>
              <a:t>In deductive reasoning, the truth of the premises guarantees the truth of the conclusion. </a:t>
            </a:r>
          </a:p>
          <a:p>
            <a:r>
              <a:rPr lang="en-US" dirty="0"/>
              <a:t>Deductive reasoning mostly starts from the general premises to the specific conclusion, which can be explained as below example. </a:t>
            </a:r>
          </a:p>
          <a:p>
            <a:r>
              <a:rPr lang="en-IN" b="1" dirty="0"/>
              <a:t>Example: </a:t>
            </a:r>
            <a:endParaRPr lang="en-IN" dirty="0"/>
          </a:p>
          <a:p>
            <a:r>
              <a:rPr lang="en-US" b="1" dirty="0"/>
              <a:t>Premise-1: All the human eats veggies Premise-2: Suresh is human. Conclusion: Suresh eats veggies. </a:t>
            </a:r>
            <a:endParaRPr lang="en-IN" dirty="0"/>
          </a:p>
        </p:txBody>
      </p:sp>
    </p:spTree>
    <p:extLst>
      <p:ext uri="{BB962C8B-B14F-4D97-AF65-F5344CB8AC3E}">
        <p14:creationId xmlns:p14="http://schemas.microsoft.com/office/powerpoint/2010/main" val="1314632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3DC94-7632-EF3F-0DB1-1B2366A3688B}"/>
              </a:ext>
            </a:extLst>
          </p:cNvPr>
          <p:cNvSpPr>
            <a:spLocks noGrp="1"/>
          </p:cNvSpPr>
          <p:nvPr>
            <p:ph type="title"/>
          </p:nvPr>
        </p:nvSpPr>
        <p:spPr/>
        <p:txBody>
          <a:bodyPr/>
          <a:lstStyle/>
          <a:p>
            <a:r>
              <a:rPr lang="en-IN" b="1" dirty="0"/>
              <a:t>Inductive Reasoning</a:t>
            </a:r>
            <a:br>
              <a:rPr lang="en-IN" dirty="0"/>
            </a:br>
            <a:endParaRPr lang="en-IN" dirty="0"/>
          </a:p>
        </p:txBody>
      </p:sp>
      <p:sp>
        <p:nvSpPr>
          <p:cNvPr id="3" name="Content Placeholder 2">
            <a:extLst>
              <a:ext uri="{FF2B5EF4-FFF2-40B4-BE49-F238E27FC236}">
                <a16:creationId xmlns:a16="http://schemas.microsoft.com/office/drawing/2014/main" id="{36B5F985-6B03-3760-B46E-578D7DD124E6}"/>
              </a:ext>
            </a:extLst>
          </p:cNvPr>
          <p:cNvSpPr>
            <a:spLocks noGrp="1"/>
          </p:cNvSpPr>
          <p:nvPr>
            <p:ph idx="1"/>
          </p:nvPr>
        </p:nvSpPr>
        <p:spPr/>
        <p:txBody>
          <a:bodyPr>
            <a:normAutofit fontScale="92500"/>
          </a:bodyPr>
          <a:lstStyle/>
          <a:p>
            <a:r>
              <a:rPr lang="en-US" dirty="0"/>
              <a:t>Inductive reasoning is a form of reasoning to arrive at a conclusion using limited sets of facts by the process of generalization. It starts with the series of specific facts or data and reaches to a general statement or conclusion. Inductive reasoning is a type of propositional logic, which is also known as cause-effect reasoning or bottom- up reasoning. </a:t>
            </a:r>
          </a:p>
          <a:p>
            <a:r>
              <a:rPr lang="en-US" dirty="0"/>
              <a:t>In inductive reasoning, we use historical data or various premises to generate a generic rule, for which premises support the conclusion. </a:t>
            </a:r>
          </a:p>
          <a:p>
            <a:r>
              <a:rPr lang="en-US" dirty="0"/>
              <a:t>In inductive reasoning, premises provide probable supports to the conclusion, so the truth of premises does not guarantee the truth of the conclusion. </a:t>
            </a:r>
          </a:p>
          <a:p>
            <a:r>
              <a:rPr lang="en-IN" b="1" dirty="0"/>
              <a:t>Example: </a:t>
            </a:r>
            <a:endParaRPr lang="en-IN" dirty="0"/>
          </a:p>
          <a:p>
            <a:r>
              <a:rPr lang="en-US" b="1" dirty="0"/>
              <a:t>Premise: All of the pigeons we have seen in the zoo are white. Conclusion: Therefore, we can expect all the pigeons to be white. </a:t>
            </a:r>
            <a:endParaRPr lang="en-IN" dirty="0"/>
          </a:p>
        </p:txBody>
      </p:sp>
    </p:spTree>
    <p:extLst>
      <p:ext uri="{BB962C8B-B14F-4D97-AF65-F5344CB8AC3E}">
        <p14:creationId xmlns:p14="http://schemas.microsoft.com/office/powerpoint/2010/main" val="1626803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03CBE-570A-A92F-1693-FB527D1A1336}"/>
              </a:ext>
            </a:extLst>
          </p:cNvPr>
          <p:cNvSpPr>
            <a:spLocks noGrp="1"/>
          </p:cNvSpPr>
          <p:nvPr>
            <p:ph type="title"/>
          </p:nvPr>
        </p:nvSpPr>
        <p:spPr/>
        <p:txBody>
          <a:bodyPr/>
          <a:lstStyle/>
          <a:p>
            <a:r>
              <a:rPr lang="en-IN" b="1" dirty="0"/>
              <a:t>Abductive reasoning</a:t>
            </a:r>
            <a:br>
              <a:rPr lang="en-IN" dirty="0"/>
            </a:br>
            <a:endParaRPr lang="en-IN" dirty="0"/>
          </a:p>
        </p:txBody>
      </p:sp>
      <p:sp>
        <p:nvSpPr>
          <p:cNvPr id="3" name="Content Placeholder 2">
            <a:extLst>
              <a:ext uri="{FF2B5EF4-FFF2-40B4-BE49-F238E27FC236}">
                <a16:creationId xmlns:a16="http://schemas.microsoft.com/office/drawing/2014/main" id="{A9AC7957-EA7A-2F46-21C3-C830E3171B33}"/>
              </a:ext>
            </a:extLst>
          </p:cNvPr>
          <p:cNvSpPr>
            <a:spLocks noGrp="1"/>
          </p:cNvSpPr>
          <p:nvPr>
            <p:ph idx="1"/>
          </p:nvPr>
        </p:nvSpPr>
        <p:spPr>
          <a:xfrm>
            <a:off x="2589212" y="2133599"/>
            <a:ext cx="8915400" cy="4001729"/>
          </a:xfrm>
        </p:spPr>
        <p:txBody>
          <a:bodyPr>
            <a:normAutofit fontScale="62500" lnSpcReduction="20000"/>
          </a:bodyPr>
          <a:lstStyle/>
          <a:p>
            <a:endParaRPr lang="en-IN" dirty="0"/>
          </a:p>
          <a:p>
            <a:r>
              <a:rPr lang="en-US" dirty="0"/>
              <a:t>Abductive reasoning is a form of logical reasoning which starts with single or multiple observations then seeks to find the most likely explanation or conclusion for the observation. </a:t>
            </a:r>
          </a:p>
          <a:p>
            <a:r>
              <a:rPr lang="en-US" dirty="0"/>
              <a:t>Abductive reasoning is an extension of deductive reasoning, but in abductive reasoning, the premises do not guarantee the conclusion. </a:t>
            </a:r>
          </a:p>
          <a:p>
            <a:r>
              <a:rPr lang="en-IN" b="1" dirty="0"/>
              <a:t>Example: </a:t>
            </a:r>
            <a:endParaRPr lang="en-IN" dirty="0"/>
          </a:p>
          <a:p>
            <a:r>
              <a:rPr lang="en-US" b="1" dirty="0"/>
              <a:t>Implication: </a:t>
            </a:r>
            <a:r>
              <a:rPr lang="en-US" dirty="0"/>
              <a:t>Cricket ground is wet if it is raining </a:t>
            </a:r>
          </a:p>
          <a:p>
            <a:r>
              <a:rPr lang="en-US" b="1" dirty="0"/>
              <a:t>Axiom: </a:t>
            </a:r>
            <a:r>
              <a:rPr lang="en-US" dirty="0"/>
              <a:t>Cricket ground is wet. Conclusion It is raining. </a:t>
            </a:r>
          </a:p>
          <a:p>
            <a:r>
              <a:rPr lang="en-IN" b="1" dirty="0"/>
              <a:t>Common Sense Reasoning </a:t>
            </a:r>
            <a:endParaRPr lang="en-IN" dirty="0"/>
          </a:p>
          <a:p>
            <a:r>
              <a:rPr lang="en-US" dirty="0"/>
              <a:t>Common sense reasoning is an informal form of reasoning, which can be gained through experiences. </a:t>
            </a:r>
          </a:p>
          <a:p>
            <a:r>
              <a:rPr lang="en-US" dirty="0"/>
              <a:t>Common Sense reasoning simulates the human ability to make presumptions about events which occurs on every day. It relies on good judgment rather than exact logic and operates on </a:t>
            </a:r>
            <a:r>
              <a:rPr lang="en-US" b="1" dirty="0"/>
              <a:t>heuristic knowledge </a:t>
            </a:r>
            <a:r>
              <a:rPr lang="en-US" dirty="0"/>
              <a:t>and </a:t>
            </a:r>
            <a:r>
              <a:rPr lang="en-US" b="1" dirty="0"/>
              <a:t>heuristic rules</a:t>
            </a:r>
            <a:r>
              <a:rPr lang="en-US" dirty="0"/>
              <a:t>. </a:t>
            </a:r>
          </a:p>
          <a:p>
            <a:r>
              <a:rPr lang="en-IN" b="1" dirty="0"/>
              <a:t>Example: </a:t>
            </a:r>
            <a:endParaRPr lang="en-IN" dirty="0"/>
          </a:p>
          <a:p>
            <a:r>
              <a:rPr lang="en-US" dirty="0"/>
              <a:t>The above two statements are the examples of common sense reasoning which a human mind can easily understand and assume. </a:t>
            </a:r>
          </a:p>
          <a:p>
            <a:r>
              <a:rPr lang="en-US" b="1" dirty="0"/>
              <a:t>1. One person can be at one place at a time. </a:t>
            </a:r>
            <a:r>
              <a:rPr lang="en-US" dirty="0"/>
              <a:t>2. </a:t>
            </a:r>
            <a:r>
              <a:rPr lang="en-US" b="1" dirty="0"/>
              <a:t>If I put my hand in a fire, then it will burn. </a:t>
            </a:r>
            <a:endParaRPr lang="en-US" dirty="0"/>
          </a:p>
          <a:p>
            <a:endParaRPr lang="en-IN" dirty="0"/>
          </a:p>
        </p:txBody>
      </p:sp>
    </p:spTree>
    <p:extLst>
      <p:ext uri="{BB962C8B-B14F-4D97-AF65-F5344CB8AC3E}">
        <p14:creationId xmlns:p14="http://schemas.microsoft.com/office/powerpoint/2010/main" val="994997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872DE-BF4E-883D-2C02-A97F1474319D}"/>
              </a:ext>
            </a:extLst>
          </p:cNvPr>
          <p:cNvSpPr>
            <a:spLocks noGrp="1"/>
          </p:cNvSpPr>
          <p:nvPr>
            <p:ph type="title"/>
          </p:nvPr>
        </p:nvSpPr>
        <p:spPr/>
        <p:txBody>
          <a:bodyPr/>
          <a:lstStyle/>
          <a:p>
            <a:r>
              <a:rPr lang="en-US" dirty="0"/>
              <a:t>Forward &amp; Backward Reasoning</a:t>
            </a:r>
            <a:endParaRPr lang="en-IN" dirty="0"/>
          </a:p>
        </p:txBody>
      </p:sp>
      <p:sp>
        <p:nvSpPr>
          <p:cNvPr id="3" name="Content Placeholder 2">
            <a:extLst>
              <a:ext uri="{FF2B5EF4-FFF2-40B4-BE49-F238E27FC236}">
                <a16:creationId xmlns:a16="http://schemas.microsoft.com/office/drawing/2014/main" id="{C5F5765E-1D28-8699-6838-D1809109C416}"/>
              </a:ext>
            </a:extLst>
          </p:cNvPr>
          <p:cNvSpPr>
            <a:spLocks noGrp="1"/>
          </p:cNvSpPr>
          <p:nvPr>
            <p:ph idx="1"/>
          </p:nvPr>
        </p:nvSpPr>
        <p:spPr/>
        <p:txBody>
          <a:bodyPr>
            <a:normAutofit fontScale="77500" lnSpcReduction="20000"/>
          </a:bodyPr>
          <a:lstStyle/>
          <a:p>
            <a:r>
              <a:rPr lang="en-IN" b="1" i="1" dirty="0"/>
              <a:t>Forward Reasoning </a:t>
            </a:r>
            <a:endParaRPr lang="en-IN" dirty="0"/>
          </a:p>
          <a:p>
            <a:r>
              <a:rPr lang="en-US" dirty="0"/>
              <a:t>The solution of a problem generally includes the initial data and facts in order to arrive at the solution. These unknown facts and information is used to deduce the result.</a:t>
            </a:r>
          </a:p>
          <a:p>
            <a:r>
              <a:rPr lang="en-US" dirty="0"/>
              <a:t> For example, while diagnosing a patient the doctor first check the symptoms and medical condition of the body such as temperature, blood pressure, pulse, eye </a:t>
            </a:r>
            <a:r>
              <a:rPr lang="en-US" dirty="0" err="1"/>
              <a:t>colour</a:t>
            </a:r>
            <a:r>
              <a:rPr lang="en-US" dirty="0"/>
              <a:t>, blood, etcetera. After that, the patient symptoms are analyzed and compared against the predetermined symptoms. Then the doctor is able to provide the medicines according to the symptoms of the patient. So, when a solution employs this manner of reasoning, it is known as forward reasoning. </a:t>
            </a:r>
          </a:p>
          <a:p>
            <a:r>
              <a:rPr lang="en-IN" b="1" i="1" dirty="0"/>
              <a:t>Backward Reasoning </a:t>
            </a:r>
            <a:endParaRPr lang="en-IN" dirty="0"/>
          </a:p>
          <a:p>
            <a:r>
              <a:rPr lang="en-US" dirty="0"/>
              <a:t>The backward reasoning is inverse of forward reasoning in which goal is analyzed in order to deduce the rules, initial facts and data. </a:t>
            </a:r>
          </a:p>
          <a:p>
            <a:r>
              <a:rPr lang="en-US" dirty="0"/>
              <a:t>We can understand the concept by the similar example given in the above definition, where the doctor is trying to diagnose the patient with the help of the inceptive data such as symptoms. However, in this case, the patient is experiencing a problem in his body, on the basis of which the doctor is going to prove the symptoms. This kind of reasoning comes under backward reasoning. </a:t>
            </a:r>
            <a:endParaRPr lang="en-IN" dirty="0"/>
          </a:p>
        </p:txBody>
      </p:sp>
    </p:spTree>
    <p:extLst>
      <p:ext uri="{BB962C8B-B14F-4D97-AF65-F5344CB8AC3E}">
        <p14:creationId xmlns:p14="http://schemas.microsoft.com/office/powerpoint/2010/main" val="1732407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013D5-6ECA-3DEF-2EAC-8450ED6359F8}"/>
              </a:ext>
            </a:extLst>
          </p:cNvPr>
          <p:cNvSpPr>
            <a:spLocks noGrp="1"/>
          </p:cNvSpPr>
          <p:nvPr>
            <p:ph type="title"/>
          </p:nvPr>
        </p:nvSpPr>
        <p:spPr/>
        <p:txBody>
          <a:bodyPr>
            <a:normAutofit fontScale="90000"/>
          </a:bodyPr>
          <a:lstStyle/>
          <a:p>
            <a:r>
              <a:rPr lang="en-IN" sz="4400" b="1" i="0" u="none" strike="noStrike" baseline="0" dirty="0">
                <a:solidFill>
                  <a:srgbClr val="000000"/>
                </a:solidFill>
                <a:latin typeface="Times New Roman" panose="02020603050405020304" pitchFamily="18" charset="0"/>
              </a:rPr>
              <a:t>Breadth-first Search</a:t>
            </a:r>
            <a:br>
              <a:rPr lang="en-IN" sz="4400" b="0" i="0" u="none" strike="noStrike" baseline="0" dirty="0">
                <a:solidFill>
                  <a:srgbClr val="000000"/>
                </a:solidFill>
                <a:latin typeface="Wingdings" panose="05000000000000000000" pitchFamily="2" charset="2"/>
              </a:rPr>
            </a:br>
            <a:endParaRPr lang="en-IN" dirty="0"/>
          </a:p>
        </p:txBody>
      </p:sp>
      <p:sp>
        <p:nvSpPr>
          <p:cNvPr id="3" name="Content Placeholder 2">
            <a:extLst>
              <a:ext uri="{FF2B5EF4-FFF2-40B4-BE49-F238E27FC236}">
                <a16:creationId xmlns:a16="http://schemas.microsoft.com/office/drawing/2014/main" id="{98CD5CF6-8818-F13D-8648-65F1A28BD50A}"/>
              </a:ext>
            </a:extLst>
          </p:cNvPr>
          <p:cNvSpPr>
            <a:spLocks noGrp="1"/>
          </p:cNvSpPr>
          <p:nvPr>
            <p:ph idx="1"/>
          </p:nvPr>
        </p:nvSpPr>
        <p:spPr>
          <a:xfrm>
            <a:off x="838200" y="1296140"/>
            <a:ext cx="10515600" cy="4880823"/>
          </a:xfrm>
        </p:spPr>
        <p:txBody>
          <a:bodyPr>
            <a:normAutofit/>
          </a:bodyPr>
          <a:lstStyle/>
          <a:p>
            <a:r>
              <a:rPr lang="en-US" sz="1200" b="0" i="0" u="none" strike="noStrike" baseline="0" dirty="0">
                <a:solidFill>
                  <a:srgbClr val="000000"/>
                </a:solidFill>
                <a:latin typeface="Times New Roman" panose="02020603050405020304" pitchFamily="18" charset="0"/>
              </a:rPr>
              <a:t>Breadth-first search is the most common search strategy for traversing a tree or graph. This algorithm searches breadth wise in a tree or graph, so it is called breadth-first search. </a:t>
            </a:r>
            <a:endParaRPr lang="en-US" sz="1200" b="0" i="0" u="none" strike="noStrike" baseline="0" dirty="0">
              <a:solidFill>
                <a:srgbClr val="000000"/>
              </a:solidFill>
              <a:latin typeface="Wingdings" panose="05000000000000000000" pitchFamily="2" charset="2"/>
            </a:endParaRPr>
          </a:p>
          <a:p>
            <a:r>
              <a:rPr lang="en-US" sz="1200" b="0" i="0" u="none" strike="noStrike" baseline="0" dirty="0">
                <a:solidFill>
                  <a:srgbClr val="000000"/>
                </a:solidFill>
                <a:latin typeface="Times New Roman" panose="02020603050405020304" pitchFamily="18" charset="0"/>
              </a:rPr>
              <a:t>BFS algorithm starts searching from the root node of the tree and expands all successor nodes at the current level before moving to nodes of next level. </a:t>
            </a:r>
            <a:endParaRPr lang="en-US" sz="1200" b="0" i="0" u="none" strike="noStrike" baseline="0" dirty="0">
              <a:solidFill>
                <a:srgbClr val="000000"/>
              </a:solidFill>
              <a:latin typeface="Wingdings" panose="05000000000000000000" pitchFamily="2" charset="2"/>
            </a:endParaRPr>
          </a:p>
          <a:p>
            <a:r>
              <a:rPr lang="en-US" sz="1200" b="0" i="0" u="none" strike="noStrike" baseline="0" dirty="0">
                <a:solidFill>
                  <a:srgbClr val="000000"/>
                </a:solidFill>
                <a:latin typeface="Times New Roman" panose="02020603050405020304" pitchFamily="18" charset="0"/>
              </a:rPr>
              <a:t>The breadth-first search algorithm is an example of a general-graph search algorithm. </a:t>
            </a:r>
            <a:endParaRPr lang="en-US" sz="1200" b="0" i="0" u="none" strike="noStrike" baseline="0" dirty="0">
              <a:solidFill>
                <a:srgbClr val="000000"/>
              </a:solidFill>
              <a:latin typeface="Wingdings" panose="05000000000000000000" pitchFamily="2" charset="2"/>
            </a:endParaRPr>
          </a:p>
          <a:p>
            <a:r>
              <a:rPr lang="en-US" sz="1200" b="0" i="0" u="none" strike="noStrike" baseline="0" dirty="0">
                <a:solidFill>
                  <a:srgbClr val="000000"/>
                </a:solidFill>
                <a:latin typeface="Times New Roman" panose="02020603050405020304" pitchFamily="18" charset="0"/>
              </a:rPr>
              <a:t>Breadth-first search implemented using FIFO queue data structure. </a:t>
            </a:r>
          </a:p>
          <a:p>
            <a:pPr marL="0" indent="0">
              <a:buNone/>
            </a:pPr>
            <a:r>
              <a:rPr lang="en-IN" sz="1200" b="1" i="0" u="none" strike="noStrike" baseline="0" dirty="0">
                <a:solidFill>
                  <a:srgbClr val="000000"/>
                </a:solidFill>
                <a:latin typeface="Times New Roman" panose="02020603050405020304" pitchFamily="18" charset="0"/>
              </a:rPr>
              <a:t>Example: </a:t>
            </a:r>
            <a:endParaRPr lang="en-IN" sz="1200" b="0" i="0" u="none" strike="noStrike" baseline="0" dirty="0">
              <a:solidFill>
                <a:srgbClr val="000000"/>
              </a:solidFill>
              <a:latin typeface="Times New Roman" panose="02020603050405020304" pitchFamily="18" charset="0"/>
            </a:endParaRPr>
          </a:p>
          <a:p>
            <a:r>
              <a:rPr lang="en-US" sz="1200" b="0" i="0" u="none" strike="noStrike" baseline="0" dirty="0">
                <a:solidFill>
                  <a:srgbClr val="000000"/>
                </a:solidFill>
                <a:latin typeface="Times New Roman" panose="02020603050405020304" pitchFamily="18" charset="0"/>
              </a:rPr>
              <a:t>In the below tree structure, we have shown the traversing of the tree using BFS algorithm from the root node S to goal node K. </a:t>
            </a:r>
          </a:p>
          <a:p>
            <a:pPr marL="0" indent="0">
              <a:buNone/>
            </a:pPr>
            <a:r>
              <a:rPr lang="en-US" sz="1200" dirty="0">
                <a:solidFill>
                  <a:srgbClr val="000000"/>
                </a:solidFill>
                <a:latin typeface="Times New Roman" panose="02020603050405020304" pitchFamily="18" charset="0"/>
              </a:rPr>
              <a:t>      </a:t>
            </a:r>
            <a:r>
              <a:rPr lang="en-US" sz="1200" b="0" i="0" u="none" strike="noStrike" baseline="0" dirty="0">
                <a:solidFill>
                  <a:srgbClr val="000000"/>
                </a:solidFill>
                <a:latin typeface="Times New Roman" panose="02020603050405020304" pitchFamily="18" charset="0"/>
              </a:rPr>
              <a:t>BFS search algorithm traverse in layers, so it will follow the path which is shown by the dotted arrow, and the traversed path will be: </a:t>
            </a:r>
            <a:endParaRPr lang="en-US" sz="1200" b="0" i="0" u="none" strike="noStrike" baseline="0" dirty="0">
              <a:solidFill>
                <a:srgbClr val="000000"/>
              </a:solidFill>
              <a:latin typeface="Wingdings" panose="05000000000000000000" pitchFamily="2" charset="2"/>
            </a:endParaRPr>
          </a:p>
          <a:p>
            <a:pPr marL="0" indent="0">
              <a:buNone/>
            </a:pPr>
            <a:r>
              <a:rPr lang="pt-BR" sz="1200" b="0" i="0" u="none" strike="noStrike" baseline="0" dirty="0">
                <a:solidFill>
                  <a:srgbClr val="000000"/>
                </a:solidFill>
                <a:latin typeface="Times New Roman" panose="02020603050405020304" pitchFamily="18" charset="0"/>
              </a:rPr>
              <a:t>        S---&gt; A---&gt;B----&gt;C---&gt;D----&gt;G---&gt;H---&gt;E----&gt;F----&gt;I &gt;K </a:t>
            </a:r>
          </a:p>
          <a:p>
            <a:pPr marL="0" indent="0">
              <a:buNone/>
            </a:pPr>
            <a:endParaRPr lang="en-IN" dirty="0"/>
          </a:p>
        </p:txBody>
      </p:sp>
      <p:sp>
        <p:nvSpPr>
          <p:cNvPr id="5" name="Slide Number Placeholder 4">
            <a:extLst>
              <a:ext uri="{FF2B5EF4-FFF2-40B4-BE49-F238E27FC236}">
                <a16:creationId xmlns:a16="http://schemas.microsoft.com/office/drawing/2014/main" id="{38EE9AD7-D13D-58F1-E7D6-21A9058AED2B}"/>
              </a:ext>
            </a:extLst>
          </p:cNvPr>
          <p:cNvSpPr>
            <a:spLocks noGrp="1"/>
          </p:cNvSpPr>
          <p:nvPr>
            <p:ph type="sldNum" sz="quarter" idx="12"/>
          </p:nvPr>
        </p:nvSpPr>
        <p:spPr/>
        <p:txBody>
          <a:bodyPr/>
          <a:lstStyle/>
          <a:p>
            <a:fld id="{925DBA28-09A4-46E5-9122-9619524F7BDB}" type="slidenum">
              <a:rPr lang="en-IN" smtClean="0"/>
              <a:t>12</a:t>
            </a:fld>
            <a:endParaRPr lang="en-IN"/>
          </a:p>
        </p:txBody>
      </p:sp>
      <p:pic>
        <p:nvPicPr>
          <p:cNvPr id="4" name="Picture 3">
            <a:extLst>
              <a:ext uri="{FF2B5EF4-FFF2-40B4-BE49-F238E27FC236}">
                <a16:creationId xmlns:a16="http://schemas.microsoft.com/office/drawing/2014/main" id="{C40CE83E-576F-8D47-C81B-B18F56335471}"/>
              </a:ext>
            </a:extLst>
          </p:cNvPr>
          <p:cNvPicPr>
            <a:picLocks noChangeAspect="1"/>
          </p:cNvPicPr>
          <p:nvPr/>
        </p:nvPicPr>
        <p:blipFill>
          <a:blip r:embed="rId2"/>
          <a:stretch>
            <a:fillRect/>
          </a:stretch>
        </p:blipFill>
        <p:spPr>
          <a:xfrm>
            <a:off x="2077376" y="3852910"/>
            <a:ext cx="6418554" cy="2480988"/>
          </a:xfrm>
          <a:prstGeom prst="rect">
            <a:avLst/>
          </a:prstGeom>
        </p:spPr>
      </p:pic>
    </p:spTree>
    <p:extLst>
      <p:ext uri="{BB962C8B-B14F-4D97-AF65-F5344CB8AC3E}">
        <p14:creationId xmlns:p14="http://schemas.microsoft.com/office/powerpoint/2010/main" val="224694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D3461-0339-9721-CE22-AC8DED689B3C}"/>
              </a:ext>
            </a:extLst>
          </p:cNvPr>
          <p:cNvSpPr>
            <a:spLocks noGrp="1"/>
          </p:cNvSpPr>
          <p:nvPr>
            <p:ph type="title"/>
          </p:nvPr>
        </p:nvSpPr>
        <p:spPr>
          <a:xfrm>
            <a:off x="838200" y="365126"/>
            <a:ext cx="10515600" cy="780094"/>
          </a:xfrm>
        </p:spPr>
        <p:txBody>
          <a:bodyPr/>
          <a:lstStyle/>
          <a:p>
            <a:endParaRPr lang="en-IN" dirty="0"/>
          </a:p>
        </p:txBody>
      </p:sp>
      <p:sp>
        <p:nvSpPr>
          <p:cNvPr id="3" name="Content Placeholder 2">
            <a:extLst>
              <a:ext uri="{FF2B5EF4-FFF2-40B4-BE49-F238E27FC236}">
                <a16:creationId xmlns:a16="http://schemas.microsoft.com/office/drawing/2014/main" id="{5244FE8C-15A2-8495-A01C-BF2158D61226}"/>
              </a:ext>
            </a:extLst>
          </p:cNvPr>
          <p:cNvSpPr>
            <a:spLocks noGrp="1"/>
          </p:cNvSpPr>
          <p:nvPr>
            <p:ph idx="1"/>
          </p:nvPr>
        </p:nvSpPr>
        <p:spPr>
          <a:xfrm>
            <a:off x="838200" y="1621439"/>
            <a:ext cx="10515600" cy="4655074"/>
          </a:xfrm>
        </p:spPr>
        <p:txBody>
          <a:bodyPr>
            <a:normAutofit fontScale="62500" lnSpcReduction="20000"/>
          </a:bodyPr>
          <a:lstStyle/>
          <a:p>
            <a:pPr marL="0" indent="0">
              <a:buNone/>
            </a:pPr>
            <a:r>
              <a:rPr lang="en-US" sz="2900" b="1" i="0" u="none" strike="noStrike" baseline="0" dirty="0">
                <a:solidFill>
                  <a:srgbClr val="000000"/>
                </a:solidFill>
                <a:latin typeface="Times New Roman" panose="02020603050405020304" pitchFamily="18" charset="0"/>
              </a:rPr>
              <a:t>Time Complexity: </a:t>
            </a:r>
            <a:r>
              <a:rPr lang="en-US" sz="2900" b="0" i="0" u="none" strike="noStrike" baseline="0" dirty="0">
                <a:solidFill>
                  <a:srgbClr val="000000"/>
                </a:solidFill>
                <a:latin typeface="Times New Roman" panose="02020603050405020304" pitchFamily="18" charset="0"/>
              </a:rPr>
              <a:t>Time Complexity of BFS algorithm can be obtained by the number of nodes traversed in BFS until the shallowest Node. Where the d= depth of shallowest solution and b is a node at every state. </a:t>
            </a:r>
          </a:p>
          <a:p>
            <a:pPr marL="0" indent="0">
              <a:buNone/>
            </a:pPr>
            <a:r>
              <a:rPr lang="en-IN" sz="2900" b="1" i="0" u="none" strike="noStrike" baseline="0" dirty="0">
                <a:solidFill>
                  <a:srgbClr val="000000"/>
                </a:solidFill>
                <a:latin typeface="Times New Roman" panose="02020603050405020304" pitchFamily="18" charset="0"/>
              </a:rPr>
              <a:t>T (b) = 1+b2+b3+ + bd= O (bd) </a:t>
            </a:r>
            <a:endParaRPr lang="en-IN" sz="2900" b="0" i="0" u="none" strike="noStrike" baseline="0" dirty="0">
              <a:solidFill>
                <a:srgbClr val="000000"/>
              </a:solidFill>
              <a:latin typeface="Times New Roman" panose="02020603050405020304" pitchFamily="18" charset="0"/>
            </a:endParaRPr>
          </a:p>
          <a:p>
            <a:pPr marL="0" indent="0">
              <a:buNone/>
            </a:pPr>
            <a:r>
              <a:rPr lang="en-US" sz="2900" b="1" i="0" u="none" strike="noStrike" baseline="0" dirty="0">
                <a:solidFill>
                  <a:srgbClr val="000000"/>
                </a:solidFill>
                <a:latin typeface="Times New Roman" panose="02020603050405020304" pitchFamily="18" charset="0"/>
              </a:rPr>
              <a:t>Space Complexity: </a:t>
            </a:r>
            <a:r>
              <a:rPr lang="en-US" sz="2900" b="0" i="0" u="none" strike="noStrike" baseline="0" dirty="0">
                <a:solidFill>
                  <a:srgbClr val="000000"/>
                </a:solidFill>
                <a:latin typeface="Times New Roman" panose="02020603050405020304" pitchFamily="18" charset="0"/>
              </a:rPr>
              <a:t>Space complexity of BFS algorithm is given by the Memory size of frontier which is O(bd). </a:t>
            </a:r>
          </a:p>
          <a:p>
            <a:pPr marL="0" indent="0">
              <a:buNone/>
            </a:pPr>
            <a:r>
              <a:rPr lang="en-US" sz="2900" b="1" i="0" u="none" strike="noStrike" baseline="0" dirty="0">
                <a:solidFill>
                  <a:srgbClr val="000000"/>
                </a:solidFill>
                <a:latin typeface="Times New Roman" panose="02020603050405020304" pitchFamily="18" charset="0"/>
              </a:rPr>
              <a:t>Completeness: </a:t>
            </a:r>
            <a:r>
              <a:rPr lang="en-US" sz="2900" b="0" i="0" u="none" strike="noStrike" baseline="0" dirty="0">
                <a:solidFill>
                  <a:srgbClr val="000000"/>
                </a:solidFill>
                <a:latin typeface="Times New Roman" panose="02020603050405020304" pitchFamily="18" charset="0"/>
              </a:rPr>
              <a:t>BFS is complete, which means if the shallowest goal node is at some finite depth, then BFS will find a solution. </a:t>
            </a:r>
          </a:p>
          <a:p>
            <a:pPr marL="0" indent="0">
              <a:buNone/>
            </a:pPr>
            <a:r>
              <a:rPr lang="en-US" sz="2900" b="1" i="0" u="none" strike="noStrike" baseline="0" dirty="0">
                <a:solidFill>
                  <a:srgbClr val="000000"/>
                </a:solidFill>
                <a:latin typeface="Times New Roman" panose="02020603050405020304" pitchFamily="18" charset="0"/>
              </a:rPr>
              <a:t>Optimality: </a:t>
            </a:r>
            <a:r>
              <a:rPr lang="en-US" sz="2900" b="0" i="0" u="none" strike="noStrike" baseline="0" dirty="0">
                <a:solidFill>
                  <a:srgbClr val="000000"/>
                </a:solidFill>
                <a:latin typeface="Times New Roman" panose="02020603050405020304" pitchFamily="18" charset="0"/>
              </a:rPr>
              <a:t>BFS is optimal if path cost is a non- decreasing function of the depth of the node. </a:t>
            </a:r>
          </a:p>
          <a:p>
            <a:pPr marL="0" indent="0">
              <a:buNone/>
            </a:pPr>
            <a:r>
              <a:rPr lang="en-IN" sz="2900" b="1" i="0" u="none" strike="noStrike" baseline="0" dirty="0">
                <a:solidFill>
                  <a:srgbClr val="000000"/>
                </a:solidFill>
                <a:latin typeface="Times New Roman" panose="02020603050405020304" pitchFamily="18" charset="0"/>
              </a:rPr>
              <a:t>Advantages: </a:t>
            </a:r>
            <a:endParaRPr lang="en-IN" sz="2900" b="0" i="0" u="none" strike="noStrike" baseline="0" dirty="0">
              <a:solidFill>
                <a:srgbClr val="000000"/>
              </a:solidFill>
              <a:latin typeface="Times New Roman" panose="02020603050405020304" pitchFamily="18" charset="0"/>
            </a:endParaRPr>
          </a:p>
          <a:p>
            <a:r>
              <a:rPr lang="en-US" sz="2900" b="0" i="0" u="none" strike="noStrike" baseline="0" dirty="0">
                <a:solidFill>
                  <a:srgbClr val="000000"/>
                </a:solidFill>
                <a:latin typeface="Times New Roman" panose="02020603050405020304" pitchFamily="18" charset="0"/>
              </a:rPr>
              <a:t>BFS will provide a solution if any solution exists. </a:t>
            </a:r>
            <a:endParaRPr lang="en-US" sz="2900" b="0" i="0" u="none" strike="noStrike" baseline="0" dirty="0">
              <a:solidFill>
                <a:srgbClr val="000000"/>
              </a:solidFill>
              <a:latin typeface="Wingdings" panose="05000000000000000000" pitchFamily="2" charset="2"/>
            </a:endParaRPr>
          </a:p>
          <a:p>
            <a:r>
              <a:rPr lang="en-US" sz="2900" b="0" i="0" u="none" strike="noStrike" baseline="0" dirty="0">
                <a:solidFill>
                  <a:srgbClr val="000000"/>
                </a:solidFill>
                <a:latin typeface="Times New Roman" panose="02020603050405020304" pitchFamily="18" charset="0"/>
              </a:rPr>
              <a:t>If there are more than one solutions for a given problem, then BFS will provide the minimal solution which requires the least number of steps. </a:t>
            </a:r>
          </a:p>
          <a:p>
            <a:pPr marL="0" indent="0">
              <a:buNone/>
            </a:pPr>
            <a:r>
              <a:rPr lang="en-IN" sz="2900" b="1" i="0" u="none" strike="noStrike" baseline="0" dirty="0">
                <a:solidFill>
                  <a:srgbClr val="000000"/>
                </a:solidFill>
                <a:latin typeface="Times New Roman" panose="02020603050405020304" pitchFamily="18" charset="0"/>
              </a:rPr>
              <a:t>Disadvantages: </a:t>
            </a:r>
            <a:endParaRPr lang="en-IN" sz="2900" b="0" i="0" u="none" strike="noStrike" baseline="0" dirty="0">
              <a:solidFill>
                <a:srgbClr val="000000"/>
              </a:solidFill>
              <a:latin typeface="Times New Roman" panose="02020603050405020304" pitchFamily="18" charset="0"/>
            </a:endParaRPr>
          </a:p>
          <a:p>
            <a:r>
              <a:rPr lang="en-US" sz="2900" b="0" i="0" u="none" strike="noStrike" baseline="0" dirty="0">
                <a:solidFill>
                  <a:srgbClr val="000000"/>
                </a:solidFill>
                <a:latin typeface="Times New Roman" panose="02020603050405020304" pitchFamily="18" charset="0"/>
              </a:rPr>
              <a:t>It requires lots of memory since each level of the tree must be saved into memory to expand the next level. </a:t>
            </a:r>
            <a:endParaRPr lang="en-US" sz="2900" b="0" i="0" u="none" strike="noStrike" baseline="0" dirty="0">
              <a:solidFill>
                <a:srgbClr val="000000"/>
              </a:solidFill>
              <a:latin typeface="Wingdings" panose="05000000000000000000" pitchFamily="2" charset="2"/>
            </a:endParaRPr>
          </a:p>
          <a:p>
            <a:r>
              <a:rPr lang="en-US" sz="2900" b="0" i="0" u="none" strike="noStrike" baseline="0" dirty="0">
                <a:solidFill>
                  <a:srgbClr val="000000"/>
                </a:solidFill>
                <a:latin typeface="Times New Roman" panose="02020603050405020304" pitchFamily="18" charset="0"/>
              </a:rPr>
              <a:t>BFS needs lots of time if the solution is far away from the root node. </a:t>
            </a:r>
            <a:endParaRPr lang="en-US" sz="2900" b="0" i="0" u="none" strike="noStrike" baseline="0" dirty="0">
              <a:solidFill>
                <a:srgbClr val="000000"/>
              </a:solidFill>
              <a:latin typeface="Wingdings" panose="05000000000000000000" pitchFamily="2" charset="2"/>
            </a:endParaRPr>
          </a:p>
          <a:p>
            <a:pPr marL="0" indent="0">
              <a:buNone/>
            </a:pPr>
            <a:endParaRPr lang="en-IN" dirty="0"/>
          </a:p>
        </p:txBody>
      </p:sp>
      <p:sp>
        <p:nvSpPr>
          <p:cNvPr id="4" name="Slide Number Placeholder 3">
            <a:extLst>
              <a:ext uri="{FF2B5EF4-FFF2-40B4-BE49-F238E27FC236}">
                <a16:creationId xmlns:a16="http://schemas.microsoft.com/office/drawing/2014/main" id="{D9CA2290-0406-55E8-FB45-BD0D65E9F5AB}"/>
              </a:ext>
            </a:extLst>
          </p:cNvPr>
          <p:cNvSpPr>
            <a:spLocks noGrp="1"/>
          </p:cNvSpPr>
          <p:nvPr>
            <p:ph type="sldNum" sz="quarter" idx="12"/>
          </p:nvPr>
        </p:nvSpPr>
        <p:spPr/>
        <p:txBody>
          <a:bodyPr/>
          <a:lstStyle/>
          <a:p>
            <a:fld id="{925DBA28-09A4-46E5-9122-9619524F7BDB}" type="slidenum">
              <a:rPr lang="en-IN" smtClean="0"/>
              <a:t>13</a:t>
            </a:fld>
            <a:endParaRPr lang="en-IN"/>
          </a:p>
        </p:txBody>
      </p:sp>
    </p:spTree>
    <p:extLst>
      <p:ext uri="{BB962C8B-B14F-4D97-AF65-F5344CB8AC3E}">
        <p14:creationId xmlns:p14="http://schemas.microsoft.com/office/powerpoint/2010/main" val="853853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E214-2071-4F2A-4815-9AFAD970BBB1}"/>
              </a:ext>
            </a:extLst>
          </p:cNvPr>
          <p:cNvSpPr>
            <a:spLocks noGrp="1"/>
          </p:cNvSpPr>
          <p:nvPr>
            <p:ph type="title"/>
          </p:nvPr>
        </p:nvSpPr>
        <p:spPr/>
        <p:txBody>
          <a:bodyPr/>
          <a:lstStyle/>
          <a:p>
            <a:r>
              <a:rPr lang="en-IN" b="1" dirty="0">
                <a:solidFill>
                  <a:srgbClr val="000000"/>
                </a:solidFill>
                <a:latin typeface="Times New Roman" panose="02020603050405020304" pitchFamily="18" charset="0"/>
              </a:rPr>
              <a:t>Dep</a:t>
            </a:r>
            <a:r>
              <a:rPr lang="en-IN" sz="4400" b="1" i="0" u="none" strike="noStrike" baseline="0" dirty="0">
                <a:solidFill>
                  <a:srgbClr val="000000"/>
                </a:solidFill>
                <a:latin typeface="Times New Roman" panose="02020603050405020304" pitchFamily="18" charset="0"/>
              </a:rPr>
              <a:t>th-first Search</a:t>
            </a:r>
            <a:endParaRPr lang="en-IN" dirty="0"/>
          </a:p>
        </p:txBody>
      </p:sp>
      <p:sp>
        <p:nvSpPr>
          <p:cNvPr id="3" name="Content Placeholder 2">
            <a:extLst>
              <a:ext uri="{FF2B5EF4-FFF2-40B4-BE49-F238E27FC236}">
                <a16:creationId xmlns:a16="http://schemas.microsoft.com/office/drawing/2014/main" id="{4893733D-93AB-4B95-8444-BAFF566DCD76}"/>
              </a:ext>
            </a:extLst>
          </p:cNvPr>
          <p:cNvSpPr>
            <a:spLocks noGrp="1"/>
          </p:cNvSpPr>
          <p:nvPr>
            <p:ph idx="1"/>
          </p:nvPr>
        </p:nvSpPr>
        <p:spPr>
          <a:xfrm>
            <a:off x="1104293" y="1520258"/>
            <a:ext cx="8946541" cy="4195481"/>
          </a:xfrm>
        </p:spPr>
        <p:txBody>
          <a:bodyPr>
            <a:normAutofit/>
          </a:bodyPr>
          <a:lstStyle/>
          <a:p>
            <a:r>
              <a:rPr lang="en-US" sz="1200" b="0" i="0" u="none" strike="noStrike" baseline="0" dirty="0">
                <a:solidFill>
                  <a:srgbClr val="000000"/>
                </a:solidFill>
                <a:latin typeface="Times New Roman" panose="02020603050405020304" pitchFamily="18" charset="0"/>
              </a:rPr>
              <a:t>Depth-first search is a recursive algorithm for traversing a tree or graph data structure. </a:t>
            </a:r>
            <a:endParaRPr lang="en-US" sz="1200" b="0" i="0" u="none" strike="noStrike" baseline="0" dirty="0">
              <a:solidFill>
                <a:srgbClr val="000000"/>
              </a:solidFill>
              <a:latin typeface="Wingdings" panose="05000000000000000000" pitchFamily="2" charset="2"/>
            </a:endParaRPr>
          </a:p>
          <a:p>
            <a:r>
              <a:rPr lang="en-US" sz="1200" b="0" i="0" u="none" strike="noStrike" baseline="0" dirty="0">
                <a:solidFill>
                  <a:srgbClr val="000000"/>
                </a:solidFill>
                <a:latin typeface="Times New Roman" panose="02020603050405020304" pitchFamily="18" charset="0"/>
              </a:rPr>
              <a:t>It is called the depth-first search because it starts from the root node and follows each path to its greatest depth node before moving to the next path. </a:t>
            </a:r>
            <a:endParaRPr lang="en-US" sz="1200" b="0" i="0" u="none" strike="noStrike" baseline="0" dirty="0">
              <a:solidFill>
                <a:srgbClr val="000000"/>
              </a:solidFill>
              <a:latin typeface="Wingdings" panose="05000000000000000000" pitchFamily="2" charset="2"/>
            </a:endParaRPr>
          </a:p>
          <a:p>
            <a:r>
              <a:rPr lang="en-US" sz="1200" b="0" i="0" u="none" strike="noStrike" baseline="0" dirty="0">
                <a:solidFill>
                  <a:srgbClr val="000000"/>
                </a:solidFill>
                <a:latin typeface="Times New Roman" panose="02020603050405020304" pitchFamily="18" charset="0"/>
              </a:rPr>
              <a:t>DFS uses a stack data structure for its implementation. </a:t>
            </a:r>
            <a:endParaRPr lang="en-US" sz="1200" b="0" i="0" u="none" strike="noStrike" baseline="0" dirty="0">
              <a:solidFill>
                <a:srgbClr val="000000"/>
              </a:solidFill>
              <a:latin typeface="Wingdings" panose="05000000000000000000" pitchFamily="2" charset="2"/>
            </a:endParaRPr>
          </a:p>
          <a:p>
            <a:r>
              <a:rPr lang="en-US" sz="1200" b="0" i="0" u="none" strike="noStrike" baseline="0" dirty="0">
                <a:solidFill>
                  <a:srgbClr val="000000"/>
                </a:solidFill>
                <a:latin typeface="Times New Roman" panose="02020603050405020304" pitchFamily="18" charset="0"/>
              </a:rPr>
              <a:t>The process of the DFS algorithm is similar to the BFS algorithm. </a:t>
            </a:r>
            <a:endParaRPr lang="en-US" sz="1200" b="0" i="0" u="none" strike="noStrike" baseline="0" dirty="0">
              <a:solidFill>
                <a:srgbClr val="000000"/>
              </a:solidFill>
              <a:latin typeface="Wingdings" panose="05000000000000000000" pitchFamily="2" charset="2"/>
            </a:endParaRPr>
          </a:p>
          <a:p>
            <a:pPr marL="0" indent="0">
              <a:buNone/>
            </a:pPr>
            <a:r>
              <a:rPr lang="en-US" sz="1200" b="1" i="1" u="none" strike="noStrike" baseline="0" dirty="0">
                <a:solidFill>
                  <a:srgbClr val="000000"/>
                </a:solidFill>
                <a:latin typeface="Times New Roman" panose="02020603050405020304" pitchFamily="18" charset="0"/>
              </a:rPr>
              <a:t>Note: Backtracking is an algorithm technique for finding all possible solutions using recursion. </a:t>
            </a:r>
            <a:endParaRPr lang="en-US" sz="1200" b="0" i="0" u="none" strike="noStrike" baseline="0" dirty="0">
              <a:solidFill>
                <a:srgbClr val="000000"/>
              </a:solidFill>
              <a:latin typeface="Wingdings" panose="05000000000000000000" pitchFamily="2" charset="2"/>
            </a:endParaRPr>
          </a:p>
          <a:p>
            <a:pPr marL="0" indent="0">
              <a:buNone/>
            </a:pPr>
            <a:r>
              <a:rPr lang="en-IN" sz="1200" b="1" i="0" u="none" strike="noStrike" baseline="0" dirty="0">
                <a:solidFill>
                  <a:srgbClr val="000000"/>
                </a:solidFill>
                <a:latin typeface="Times New Roman" panose="02020603050405020304" pitchFamily="18" charset="0"/>
              </a:rPr>
              <a:t>Example: </a:t>
            </a:r>
            <a:endParaRPr lang="en-IN" sz="1200" b="0" i="0" u="none" strike="noStrike" baseline="0" dirty="0">
              <a:solidFill>
                <a:srgbClr val="000000"/>
              </a:solidFill>
              <a:latin typeface="Times New Roman" panose="02020603050405020304" pitchFamily="18" charset="0"/>
            </a:endParaRPr>
          </a:p>
          <a:p>
            <a:r>
              <a:rPr lang="en-US" sz="1200" b="0" i="0" u="none" strike="noStrike" baseline="0" dirty="0">
                <a:solidFill>
                  <a:srgbClr val="000000"/>
                </a:solidFill>
                <a:latin typeface="Times New Roman" panose="02020603050405020304" pitchFamily="18" charset="0"/>
              </a:rPr>
              <a:t>In the below search tree, we have shown the flow of depth-first search, and it will follow the order as: Root node---&gt;Left node ----&gt; right node. </a:t>
            </a:r>
            <a:endParaRPr lang="en-US" sz="1200" b="0" i="0" u="none" strike="noStrike" baseline="0" dirty="0">
              <a:solidFill>
                <a:srgbClr val="000000"/>
              </a:solidFill>
              <a:latin typeface="Wingdings" panose="05000000000000000000" pitchFamily="2" charset="2"/>
            </a:endParaRPr>
          </a:p>
          <a:p>
            <a:r>
              <a:rPr lang="en-US" sz="1200" b="0" i="0" u="none" strike="noStrike" baseline="0" dirty="0">
                <a:solidFill>
                  <a:srgbClr val="000000"/>
                </a:solidFill>
                <a:latin typeface="Times New Roman" panose="02020603050405020304" pitchFamily="18" charset="0"/>
              </a:rPr>
              <a:t>It will start searching from root node S, and traverse A, then B, then D and E, after traversing E, it will backtrack the tree as E has no other successor and still goal node is not found. After backtracking it will traverse node C and then G, and here it will terminate as it found goal node. </a:t>
            </a:r>
          </a:p>
          <a:p>
            <a:endParaRPr lang="en-IN" sz="1800" b="0" i="0" u="none" strike="noStrike" baseline="0" dirty="0">
              <a:solidFill>
                <a:srgbClr val="000000"/>
              </a:solidFill>
              <a:latin typeface="Wingdings" panose="05000000000000000000" pitchFamily="2" charset="2"/>
            </a:endParaRPr>
          </a:p>
          <a:p>
            <a:endParaRPr lang="en-IN" dirty="0"/>
          </a:p>
        </p:txBody>
      </p:sp>
      <p:sp>
        <p:nvSpPr>
          <p:cNvPr id="4" name="Slide Number Placeholder 3">
            <a:extLst>
              <a:ext uri="{FF2B5EF4-FFF2-40B4-BE49-F238E27FC236}">
                <a16:creationId xmlns:a16="http://schemas.microsoft.com/office/drawing/2014/main" id="{1E6A2806-DD10-C5BA-0048-F38E3B2A5C47}"/>
              </a:ext>
            </a:extLst>
          </p:cNvPr>
          <p:cNvSpPr>
            <a:spLocks noGrp="1"/>
          </p:cNvSpPr>
          <p:nvPr>
            <p:ph type="sldNum" sz="quarter" idx="12"/>
          </p:nvPr>
        </p:nvSpPr>
        <p:spPr/>
        <p:txBody>
          <a:bodyPr/>
          <a:lstStyle/>
          <a:p>
            <a:fld id="{925DBA28-09A4-46E5-9122-9619524F7BDB}" type="slidenum">
              <a:rPr lang="en-IN" smtClean="0"/>
              <a:t>14</a:t>
            </a:fld>
            <a:endParaRPr lang="en-IN"/>
          </a:p>
        </p:txBody>
      </p:sp>
      <p:pic>
        <p:nvPicPr>
          <p:cNvPr id="5" name="Picture 4">
            <a:extLst>
              <a:ext uri="{FF2B5EF4-FFF2-40B4-BE49-F238E27FC236}">
                <a16:creationId xmlns:a16="http://schemas.microsoft.com/office/drawing/2014/main" id="{D7D6C765-6C69-0BFC-D151-2C0053DDC067}"/>
              </a:ext>
            </a:extLst>
          </p:cNvPr>
          <p:cNvPicPr>
            <a:picLocks noChangeAspect="1"/>
          </p:cNvPicPr>
          <p:nvPr/>
        </p:nvPicPr>
        <p:blipFill>
          <a:blip r:embed="rId2"/>
          <a:stretch>
            <a:fillRect/>
          </a:stretch>
        </p:blipFill>
        <p:spPr>
          <a:xfrm>
            <a:off x="3124941" y="4561630"/>
            <a:ext cx="5734974" cy="2067059"/>
          </a:xfrm>
          <a:prstGeom prst="rect">
            <a:avLst/>
          </a:prstGeom>
        </p:spPr>
      </p:pic>
    </p:spTree>
    <p:extLst>
      <p:ext uri="{BB962C8B-B14F-4D97-AF65-F5344CB8AC3E}">
        <p14:creationId xmlns:p14="http://schemas.microsoft.com/office/powerpoint/2010/main" val="1614292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D8FB0-F6C8-70E9-AF51-CAD9B1ECE8F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23556D9-8D24-8892-5E46-FF0FA1B16F7E}"/>
              </a:ext>
            </a:extLst>
          </p:cNvPr>
          <p:cNvSpPr>
            <a:spLocks noGrp="1"/>
          </p:cNvSpPr>
          <p:nvPr>
            <p:ph idx="1"/>
          </p:nvPr>
        </p:nvSpPr>
        <p:spPr/>
        <p:txBody>
          <a:bodyPr>
            <a:normAutofit fontScale="55000" lnSpcReduction="20000"/>
          </a:bodyPr>
          <a:lstStyle/>
          <a:p>
            <a:pPr marL="0" indent="0">
              <a:buNone/>
            </a:pPr>
            <a:r>
              <a:rPr lang="en-US" sz="2200" b="1" i="0" u="none" strike="noStrike" baseline="0" dirty="0">
                <a:solidFill>
                  <a:srgbClr val="000000"/>
                </a:solidFill>
                <a:latin typeface="Times New Roman" panose="02020603050405020304" pitchFamily="18" charset="0"/>
              </a:rPr>
              <a:t>Completeness: </a:t>
            </a:r>
            <a:r>
              <a:rPr lang="en-US" sz="2200" b="0" i="0" u="none" strike="noStrike" baseline="0" dirty="0">
                <a:solidFill>
                  <a:srgbClr val="000000"/>
                </a:solidFill>
                <a:latin typeface="Times New Roman" panose="02020603050405020304" pitchFamily="18" charset="0"/>
              </a:rPr>
              <a:t>DFS search algorithm is complete within finite state space as it will expand every node within a limited search tree. </a:t>
            </a:r>
          </a:p>
          <a:p>
            <a:pPr marL="0" indent="0">
              <a:buNone/>
            </a:pPr>
            <a:r>
              <a:rPr lang="en-US" sz="2200" b="1" i="0" u="none" strike="noStrike" baseline="0" dirty="0">
                <a:solidFill>
                  <a:srgbClr val="000000"/>
                </a:solidFill>
                <a:latin typeface="Times New Roman" panose="02020603050405020304" pitchFamily="18" charset="0"/>
              </a:rPr>
              <a:t>Time Complexity: </a:t>
            </a:r>
            <a:r>
              <a:rPr lang="en-US" sz="2200" b="0" i="0" u="none" strike="noStrike" baseline="0" dirty="0">
                <a:solidFill>
                  <a:srgbClr val="000000"/>
                </a:solidFill>
                <a:latin typeface="Times New Roman" panose="02020603050405020304" pitchFamily="18" charset="0"/>
              </a:rPr>
              <a:t>Time complexity of DFS will be equivalent to the node traversed by the algorithm. It is given by: </a:t>
            </a:r>
          </a:p>
          <a:p>
            <a:pPr marL="0" indent="0">
              <a:buNone/>
            </a:pPr>
            <a:r>
              <a:rPr lang="pt-BR" sz="2200" b="1" i="0" u="none" strike="noStrike" baseline="0" dirty="0">
                <a:solidFill>
                  <a:srgbClr val="000000"/>
                </a:solidFill>
                <a:latin typeface="Times New Roman" panose="02020603050405020304" pitchFamily="18" charset="0"/>
              </a:rPr>
              <a:t>              T(n)= 1+ n2+ n3 + + nm=O(nm) </a:t>
            </a:r>
            <a:endParaRPr lang="pt-BR" sz="2200" b="0" i="0" u="none" strike="noStrike" baseline="0" dirty="0">
              <a:solidFill>
                <a:srgbClr val="000000"/>
              </a:solidFill>
              <a:latin typeface="Times New Roman" panose="02020603050405020304" pitchFamily="18" charset="0"/>
            </a:endParaRPr>
          </a:p>
          <a:p>
            <a:pPr marL="0" indent="0">
              <a:buNone/>
            </a:pPr>
            <a:r>
              <a:rPr lang="en-US" sz="2200" b="1" i="0" u="none" strike="noStrike" baseline="0" dirty="0">
                <a:solidFill>
                  <a:srgbClr val="000000"/>
                </a:solidFill>
                <a:latin typeface="Times New Roman" panose="02020603050405020304" pitchFamily="18" charset="0"/>
              </a:rPr>
              <a:t>               Where, m= maximum depth of any node and this can be much larger than d (Shallowest solution depth) </a:t>
            </a:r>
            <a:endParaRPr lang="en-US" sz="2200" b="0" i="0" u="none" strike="noStrike" baseline="0" dirty="0">
              <a:solidFill>
                <a:srgbClr val="000000"/>
              </a:solidFill>
              <a:latin typeface="Times New Roman" panose="02020603050405020304" pitchFamily="18" charset="0"/>
            </a:endParaRPr>
          </a:p>
          <a:p>
            <a:pPr marL="0" indent="0">
              <a:buNone/>
            </a:pPr>
            <a:r>
              <a:rPr lang="en-US" sz="2200" b="1" i="0" u="none" strike="noStrike" baseline="0" dirty="0">
                <a:solidFill>
                  <a:srgbClr val="000000"/>
                </a:solidFill>
                <a:latin typeface="Times New Roman" panose="02020603050405020304" pitchFamily="18" charset="0"/>
              </a:rPr>
              <a:t>Space Complexity: </a:t>
            </a:r>
            <a:r>
              <a:rPr lang="en-US" sz="2200" b="0" i="0" u="none" strike="noStrike" baseline="0" dirty="0">
                <a:solidFill>
                  <a:srgbClr val="000000"/>
                </a:solidFill>
                <a:latin typeface="Times New Roman" panose="02020603050405020304" pitchFamily="18" charset="0"/>
              </a:rPr>
              <a:t>DFS algorithm needs to store only single path from the root node, hence space complexity of DFS is equivalent to     the size of the fringe set, which is </a:t>
            </a:r>
            <a:r>
              <a:rPr lang="en-US" sz="2200" b="1" i="0" u="none" strike="noStrike" baseline="0" dirty="0">
                <a:solidFill>
                  <a:srgbClr val="000000"/>
                </a:solidFill>
                <a:latin typeface="Times New Roman" panose="02020603050405020304" pitchFamily="18" charset="0"/>
              </a:rPr>
              <a:t>O(bm)</a:t>
            </a:r>
            <a:r>
              <a:rPr lang="en-US" sz="2200" b="0" i="0" u="none" strike="noStrike" baseline="0" dirty="0">
                <a:solidFill>
                  <a:srgbClr val="000000"/>
                </a:solidFill>
                <a:latin typeface="Times New Roman" panose="02020603050405020304" pitchFamily="18" charset="0"/>
              </a:rPr>
              <a:t>. </a:t>
            </a:r>
          </a:p>
          <a:p>
            <a:pPr marL="0" indent="0">
              <a:buNone/>
            </a:pPr>
            <a:r>
              <a:rPr lang="en-US" sz="2200" b="1" i="0" u="none" strike="noStrike" baseline="0" dirty="0">
                <a:solidFill>
                  <a:srgbClr val="000000"/>
                </a:solidFill>
                <a:latin typeface="Times New Roman" panose="02020603050405020304" pitchFamily="18" charset="0"/>
              </a:rPr>
              <a:t>Optimal: </a:t>
            </a:r>
            <a:r>
              <a:rPr lang="en-US" sz="2200" b="0" i="0" u="none" strike="noStrike" baseline="0" dirty="0">
                <a:solidFill>
                  <a:srgbClr val="000000"/>
                </a:solidFill>
                <a:latin typeface="Times New Roman" panose="02020603050405020304" pitchFamily="18" charset="0"/>
              </a:rPr>
              <a:t>DFS search algorithm is non-optimal, as it may generate a large number of steps or high cost to reach to the goal node.</a:t>
            </a:r>
            <a:endParaRPr lang="en-US" sz="2200" dirty="0"/>
          </a:p>
          <a:p>
            <a:pPr marL="0" indent="0">
              <a:buNone/>
            </a:pPr>
            <a:endParaRPr lang="en-IN" sz="2200" b="1" i="0" u="none" strike="noStrike" baseline="0" dirty="0">
              <a:solidFill>
                <a:srgbClr val="000000"/>
              </a:solidFill>
              <a:latin typeface="Times New Roman" panose="02020603050405020304" pitchFamily="18" charset="0"/>
            </a:endParaRPr>
          </a:p>
          <a:p>
            <a:pPr marL="0" indent="0">
              <a:buNone/>
            </a:pPr>
            <a:r>
              <a:rPr lang="en-IN" sz="2200" b="1" i="0" u="none" strike="noStrike" baseline="0" dirty="0">
                <a:solidFill>
                  <a:srgbClr val="000000"/>
                </a:solidFill>
                <a:latin typeface="Times New Roman" panose="02020603050405020304" pitchFamily="18" charset="0"/>
              </a:rPr>
              <a:t>Advantage: </a:t>
            </a:r>
            <a:endParaRPr lang="en-IN" sz="2200" b="0" i="0" u="none" strike="noStrike" baseline="0" dirty="0">
              <a:solidFill>
                <a:srgbClr val="000000"/>
              </a:solidFill>
              <a:latin typeface="Times New Roman" panose="02020603050405020304" pitchFamily="18" charset="0"/>
            </a:endParaRPr>
          </a:p>
          <a:p>
            <a:r>
              <a:rPr lang="en-US" sz="2200" b="0" i="0" u="none" strike="noStrike" baseline="0" dirty="0">
                <a:solidFill>
                  <a:srgbClr val="000000"/>
                </a:solidFill>
                <a:latin typeface="Times New Roman" panose="02020603050405020304" pitchFamily="18" charset="0"/>
              </a:rPr>
              <a:t>DFS requires very less memory as it only needs to store a stack of the nodes on the path from root node to the current node. </a:t>
            </a:r>
            <a:endParaRPr lang="en-US" sz="2200" b="0" i="0" u="none" strike="noStrike" baseline="0" dirty="0">
              <a:solidFill>
                <a:srgbClr val="000000"/>
              </a:solidFill>
              <a:latin typeface="Wingdings" panose="05000000000000000000" pitchFamily="2" charset="2"/>
            </a:endParaRPr>
          </a:p>
          <a:p>
            <a:r>
              <a:rPr lang="en-US" sz="2200" b="0" i="0" u="none" strike="noStrike" baseline="0" dirty="0">
                <a:solidFill>
                  <a:srgbClr val="000000"/>
                </a:solidFill>
                <a:latin typeface="Times New Roman" panose="02020603050405020304" pitchFamily="18" charset="0"/>
              </a:rPr>
              <a:t>It takes less time to reach to the goal node than BFS algorithm (if it traverses in the right path). </a:t>
            </a:r>
          </a:p>
          <a:p>
            <a:pPr marL="0" indent="0">
              <a:buNone/>
            </a:pPr>
            <a:r>
              <a:rPr lang="en-IN" sz="2200" b="1" i="0" u="none" strike="noStrike" baseline="0" dirty="0">
                <a:solidFill>
                  <a:srgbClr val="000000"/>
                </a:solidFill>
                <a:latin typeface="Times New Roman" panose="02020603050405020304" pitchFamily="18" charset="0"/>
              </a:rPr>
              <a:t>Disadvantage: </a:t>
            </a:r>
            <a:endParaRPr lang="en-IN" sz="2200" b="0" i="0" u="none" strike="noStrike" baseline="0" dirty="0">
              <a:solidFill>
                <a:srgbClr val="000000"/>
              </a:solidFill>
              <a:latin typeface="Times New Roman" panose="02020603050405020304" pitchFamily="18" charset="0"/>
            </a:endParaRPr>
          </a:p>
          <a:p>
            <a:r>
              <a:rPr lang="en-US" sz="2200" b="0" i="0" u="none" strike="noStrike" baseline="0" dirty="0">
                <a:solidFill>
                  <a:srgbClr val="000000"/>
                </a:solidFill>
                <a:latin typeface="Times New Roman" panose="02020603050405020304" pitchFamily="18" charset="0"/>
              </a:rPr>
              <a:t>There is the possibility that many states keep re-occurring, and there is no guarantee of finding the solution. </a:t>
            </a:r>
            <a:endParaRPr lang="en-US" sz="2200" b="0" i="0" u="none" strike="noStrike" baseline="0" dirty="0">
              <a:solidFill>
                <a:srgbClr val="000000"/>
              </a:solidFill>
              <a:latin typeface="Wingdings" panose="05000000000000000000" pitchFamily="2" charset="2"/>
            </a:endParaRPr>
          </a:p>
          <a:p>
            <a:r>
              <a:rPr lang="en-US" sz="2200" b="0" i="0" u="none" strike="noStrike" baseline="0" dirty="0">
                <a:solidFill>
                  <a:srgbClr val="000000"/>
                </a:solidFill>
                <a:latin typeface="Times New Roman" panose="02020603050405020304" pitchFamily="18" charset="0"/>
              </a:rPr>
              <a:t>DFS algorithm goes for deep down searching and sometime it may go to the infinite loop. </a:t>
            </a:r>
            <a:endParaRPr lang="en-US" sz="2200" b="0" i="0" u="none" strike="noStrike" baseline="0" dirty="0">
              <a:solidFill>
                <a:srgbClr val="000000"/>
              </a:solidFill>
              <a:latin typeface="Wingdings" panose="05000000000000000000" pitchFamily="2" charset="2"/>
            </a:endParaRPr>
          </a:p>
          <a:p>
            <a:endParaRPr lang="en-IN" dirty="0"/>
          </a:p>
        </p:txBody>
      </p:sp>
      <p:sp>
        <p:nvSpPr>
          <p:cNvPr id="4" name="Slide Number Placeholder 3">
            <a:extLst>
              <a:ext uri="{FF2B5EF4-FFF2-40B4-BE49-F238E27FC236}">
                <a16:creationId xmlns:a16="http://schemas.microsoft.com/office/drawing/2014/main" id="{F65A596D-8EAB-A628-3465-37F9B2114857}"/>
              </a:ext>
            </a:extLst>
          </p:cNvPr>
          <p:cNvSpPr>
            <a:spLocks noGrp="1"/>
          </p:cNvSpPr>
          <p:nvPr>
            <p:ph type="sldNum" sz="quarter" idx="12"/>
          </p:nvPr>
        </p:nvSpPr>
        <p:spPr/>
        <p:txBody>
          <a:bodyPr/>
          <a:lstStyle/>
          <a:p>
            <a:fld id="{925DBA28-09A4-46E5-9122-9619524F7BDB}" type="slidenum">
              <a:rPr lang="en-IN" smtClean="0"/>
              <a:t>15</a:t>
            </a:fld>
            <a:endParaRPr lang="en-IN"/>
          </a:p>
        </p:txBody>
      </p:sp>
    </p:spTree>
    <p:extLst>
      <p:ext uri="{BB962C8B-B14F-4D97-AF65-F5344CB8AC3E}">
        <p14:creationId xmlns:p14="http://schemas.microsoft.com/office/powerpoint/2010/main" val="4004688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EF86F-C4DB-9C79-FD99-5C8A34A52C97}"/>
              </a:ext>
            </a:extLst>
          </p:cNvPr>
          <p:cNvSpPr>
            <a:spLocks noGrp="1"/>
          </p:cNvSpPr>
          <p:nvPr>
            <p:ph type="title"/>
          </p:nvPr>
        </p:nvSpPr>
        <p:spPr>
          <a:xfrm>
            <a:off x="838200" y="365125"/>
            <a:ext cx="10515600" cy="877749"/>
          </a:xfrm>
        </p:spPr>
        <p:txBody>
          <a:bodyPr>
            <a:normAutofit fontScale="90000"/>
          </a:bodyPr>
          <a:lstStyle/>
          <a:p>
            <a:r>
              <a:rPr lang="en-US" sz="4400" b="1" i="0" u="none" strike="noStrike" baseline="0" dirty="0">
                <a:solidFill>
                  <a:srgbClr val="000000"/>
                </a:solidFill>
                <a:latin typeface="Times New Roman" panose="02020603050405020304" pitchFamily="18" charset="0"/>
              </a:rPr>
              <a:t>Best-first Search Algorithm (Greedy Search) </a:t>
            </a:r>
            <a:br>
              <a:rPr lang="en-US" sz="4400" b="0" i="0" u="none" strike="noStrike" baseline="0" dirty="0">
                <a:solidFill>
                  <a:srgbClr val="000000"/>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F8F5FEE2-5AB6-986E-0D45-E93BA39666F5}"/>
              </a:ext>
            </a:extLst>
          </p:cNvPr>
          <p:cNvSpPr>
            <a:spLocks noGrp="1"/>
          </p:cNvSpPr>
          <p:nvPr>
            <p:ph idx="1"/>
          </p:nvPr>
        </p:nvSpPr>
        <p:spPr>
          <a:xfrm>
            <a:off x="838200" y="1411550"/>
            <a:ext cx="10515600" cy="5081325"/>
          </a:xfrm>
        </p:spPr>
        <p:txBody>
          <a:bodyPr>
            <a:normAutofit fontScale="92500" lnSpcReduction="20000"/>
          </a:bodyPr>
          <a:lstStyle/>
          <a:p>
            <a:pPr marL="0" indent="0">
              <a:buNone/>
            </a:pPr>
            <a:r>
              <a:rPr lang="en-US" sz="1800" b="0" i="0" u="none" strike="noStrike" baseline="0" dirty="0">
                <a:solidFill>
                  <a:srgbClr val="000000"/>
                </a:solidFill>
                <a:latin typeface="Times New Roman" panose="02020603050405020304" pitchFamily="18" charset="0"/>
              </a:rPr>
              <a:t>Greedy best-first search algorithm always selects the path which appears best at that moment. It is the combination of depth-first search and breadth-first search algorithms. It uses the heuristic function and search. Best-first search allows us to take the advantages of both algorithms. With the help of best-first search, at each step, we can choose the most promising node. In the best first search algorithm, we expand the node which is closest to the goal node and the closest cost is estimated by heuristic function, i.e. f(n)= g(n). </a:t>
            </a:r>
            <a:endParaRPr lang="en-US" sz="1800" b="0" i="0" u="none" strike="noStrike" baseline="0" dirty="0">
              <a:solidFill>
                <a:srgbClr val="000000"/>
              </a:solidFill>
              <a:latin typeface="Wingdings" panose="05000000000000000000" pitchFamily="2" charset="2"/>
            </a:endParaRPr>
          </a:p>
          <a:p>
            <a:pPr marL="0" indent="0">
              <a:buNone/>
            </a:pPr>
            <a:r>
              <a:rPr lang="en-US" sz="1800" b="0" i="0" u="none" strike="noStrike" baseline="0" dirty="0">
                <a:solidFill>
                  <a:srgbClr val="000000"/>
                </a:solidFill>
                <a:latin typeface="Times New Roman" panose="02020603050405020304" pitchFamily="18" charset="0"/>
              </a:rPr>
              <a:t>Were, h(n)= estimated cost from node n to the goal. </a:t>
            </a:r>
            <a:endParaRPr lang="en-US" sz="1800" b="0" i="0" u="none" strike="noStrike" baseline="0" dirty="0">
              <a:solidFill>
                <a:srgbClr val="000000"/>
              </a:solidFill>
              <a:latin typeface="Wingdings" panose="05000000000000000000" pitchFamily="2" charset="2"/>
            </a:endParaRPr>
          </a:p>
          <a:p>
            <a:pPr marL="0" indent="0">
              <a:buNone/>
            </a:pPr>
            <a:r>
              <a:rPr lang="en-US" sz="1800" b="0" i="0" u="none" strike="noStrike" baseline="0" dirty="0">
                <a:solidFill>
                  <a:srgbClr val="000000"/>
                </a:solidFill>
                <a:latin typeface="Times New Roman" panose="02020603050405020304" pitchFamily="18" charset="0"/>
              </a:rPr>
              <a:t>The greedy best first algorithm is implemented by the priority queue. Best first search algorithm:</a:t>
            </a:r>
            <a:endParaRPr lang="en-IN" sz="1800" dirty="0"/>
          </a:p>
          <a:p>
            <a:r>
              <a:rPr lang="en-US" sz="1800" b="1" i="0" u="none" strike="noStrike" baseline="0" dirty="0">
                <a:solidFill>
                  <a:srgbClr val="000000"/>
                </a:solidFill>
                <a:latin typeface="Times New Roman" panose="02020603050405020304" pitchFamily="18" charset="0"/>
              </a:rPr>
              <a:t>Step 1: </a:t>
            </a:r>
            <a:r>
              <a:rPr lang="en-US" sz="1800" b="0" i="0" u="none" strike="noStrike" baseline="0" dirty="0">
                <a:solidFill>
                  <a:srgbClr val="000000"/>
                </a:solidFill>
                <a:latin typeface="Times New Roman" panose="02020603050405020304" pitchFamily="18" charset="0"/>
              </a:rPr>
              <a:t>Place the starting node into the OPEN list.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Step 2: </a:t>
            </a:r>
            <a:r>
              <a:rPr lang="en-US" sz="1800" b="0" i="0" u="none" strike="noStrike" baseline="0" dirty="0">
                <a:solidFill>
                  <a:srgbClr val="000000"/>
                </a:solidFill>
                <a:latin typeface="Times New Roman" panose="02020603050405020304" pitchFamily="18" charset="0"/>
              </a:rPr>
              <a:t>If the OPEN list is empty, Stop and return failure.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Step 3: </a:t>
            </a:r>
            <a:r>
              <a:rPr lang="en-US" sz="1800" b="0" i="0" u="none" strike="noStrike" baseline="0" dirty="0">
                <a:solidFill>
                  <a:srgbClr val="000000"/>
                </a:solidFill>
                <a:latin typeface="Times New Roman" panose="02020603050405020304" pitchFamily="18" charset="0"/>
              </a:rPr>
              <a:t>Remove the node n, from the OPEN list which has the lowest value of h(n), and places it in the CLOSED list.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Step 4: </a:t>
            </a:r>
            <a:r>
              <a:rPr lang="en-US" sz="1800" b="0" i="0" u="none" strike="noStrike" baseline="0" dirty="0">
                <a:solidFill>
                  <a:srgbClr val="000000"/>
                </a:solidFill>
                <a:latin typeface="Times New Roman" panose="02020603050405020304" pitchFamily="18" charset="0"/>
              </a:rPr>
              <a:t>Expand the node n, and generate the successors of node n.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Step 5: </a:t>
            </a:r>
            <a:r>
              <a:rPr lang="en-US" sz="1800" b="0" i="0" u="none" strike="noStrike" baseline="0" dirty="0">
                <a:solidFill>
                  <a:srgbClr val="000000"/>
                </a:solidFill>
                <a:latin typeface="Times New Roman" panose="02020603050405020304" pitchFamily="18" charset="0"/>
              </a:rPr>
              <a:t>Check each successor of node n, and find whether any node is a goal node or not. If any successor node is goal node, then return success and terminate the search, else proceed to Step 6.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Step 6: </a:t>
            </a:r>
            <a:r>
              <a:rPr lang="en-US" sz="1800" b="0" i="0" u="none" strike="noStrike" baseline="0" dirty="0">
                <a:solidFill>
                  <a:srgbClr val="000000"/>
                </a:solidFill>
                <a:latin typeface="Times New Roman" panose="02020603050405020304" pitchFamily="18" charset="0"/>
              </a:rPr>
              <a:t>For each successor node, algorithm checks for evaluation function f(n), and then check if the node has been in either OPEN or CLOSED list. If the node has not been in both list, then add it to the OPEN list.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Step 7: </a:t>
            </a:r>
            <a:r>
              <a:rPr lang="en-US" sz="1800" b="0" i="0" u="none" strike="noStrike" baseline="0" dirty="0">
                <a:solidFill>
                  <a:srgbClr val="000000"/>
                </a:solidFill>
                <a:latin typeface="Times New Roman" panose="02020603050405020304" pitchFamily="18" charset="0"/>
              </a:rPr>
              <a:t>Return to Step 2. </a:t>
            </a:r>
            <a:endParaRPr lang="en-US"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p:txBody>
      </p:sp>
      <p:sp>
        <p:nvSpPr>
          <p:cNvPr id="4" name="Slide Number Placeholder 3">
            <a:extLst>
              <a:ext uri="{FF2B5EF4-FFF2-40B4-BE49-F238E27FC236}">
                <a16:creationId xmlns:a16="http://schemas.microsoft.com/office/drawing/2014/main" id="{64481581-E766-3B78-B764-537175EECF9F}"/>
              </a:ext>
            </a:extLst>
          </p:cNvPr>
          <p:cNvSpPr>
            <a:spLocks noGrp="1"/>
          </p:cNvSpPr>
          <p:nvPr>
            <p:ph type="sldNum" sz="quarter" idx="12"/>
          </p:nvPr>
        </p:nvSpPr>
        <p:spPr/>
        <p:txBody>
          <a:bodyPr/>
          <a:lstStyle/>
          <a:p>
            <a:fld id="{925DBA28-09A4-46E5-9122-9619524F7BDB}" type="slidenum">
              <a:rPr lang="en-IN" smtClean="0"/>
              <a:t>16</a:t>
            </a:fld>
            <a:endParaRPr lang="en-IN"/>
          </a:p>
        </p:txBody>
      </p:sp>
    </p:spTree>
    <p:extLst>
      <p:ext uri="{BB962C8B-B14F-4D97-AF65-F5344CB8AC3E}">
        <p14:creationId xmlns:p14="http://schemas.microsoft.com/office/powerpoint/2010/main" val="3114011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65599-8C6D-9FE4-E7D5-EA695FEE097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EEB3EEA-60D5-2960-BF93-DEE69BE60F47}"/>
              </a:ext>
            </a:extLst>
          </p:cNvPr>
          <p:cNvSpPr>
            <a:spLocks noGrp="1"/>
          </p:cNvSpPr>
          <p:nvPr>
            <p:ph idx="1"/>
          </p:nvPr>
        </p:nvSpPr>
        <p:spPr>
          <a:xfrm>
            <a:off x="838200" y="1526959"/>
            <a:ext cx="10515600" cy="4650004"/>
          </a:xfrm>
        </p:spPr>
        <p:txBody>
          <a:bodyPr>
            <a:normAutofit/>
          </a:bodyPr>
          <a:lstStyle/>
          <a:p>
            <a:pPr marL="0" indent="0">
              <a:buNone/>
            </a:pPr>
            <a:r>
              <a:rPr lang="en-IN" sz="1100" b="1" i="0" u="none" strike="noStrike" baseline="0" dirty="0">
                <a:solidFill>
                  <a:srgbClr val="000000"/>
                </a:solidFill>
                <a:latin typeface="Times New Roman" panose="02020603050405020304" pitchFamily="18" charset="0"/>
              </a:rPr>
              <a:t>Example: </a:t>
            </a:r>
            <a:endParaRPr lang="en-IN" sz="1100" b="0" i="0" u="none" strike="noStrike" baseline="0" dirty="0">
              <a:solidFill>
                <a:srgbClr val="000000"/>
              </a:solidFill>
              <a:latin typeface="Times New Roman" panose="02020603050405020304" pitchFamily="18" charset="0"/>
            </a:endParaRPr>
          </a:p>
          <a:p>
            <a:pPr marL="0" indent="0">
              <a:buNone/>
            </a:pPr>
            <a:r>
              <a:rPr lang="en-US" sz="1100" b="0" i="0" u="none" strike="noStrike" baseline="0" dirty="0">
                <a:solidFill>
                  <a:srgbClr val="000000"/>
                </a:solidFill>
                <a:latin typeface="Times New Roman" panose="02020603050405020304" pitchFamily="18" charset="0"/>
              </a:rPr>
              <a:t>Consider the below search problem, and we will traverse it using greedy best-first search. </a:t>
            </a:r>
          </a:p>
          <a:p>
            <a:pPr marL="0" indent="0">
              <a:buNone/>
            </a:pPr>
            <a:r>
              <a:rPr lang="en-US" sz="1100" dirty="0">
                <a:solidFill>
                  <a:srgbClr val="000000"/>
                </a:solidFill>
                <a:latin typeface="Times New Roman" panose="02020603050405020304" pitchFamily="18" charset="0"/>
              </a:rPr>
              <a:t> </a:t>
            </a:r>
            <a:r>
              <a:rPr lang="en-US" sz="1100" b="0" i="0" u="none" strike="noStrike" baseline="0" dirty="0">
                <a:solidFill>
                  <a:srgbClr val="000000"/>
                </a:solidFill>
                <a:latin typeface="Times New Roman" panose="02020603050405020304" pitchFamily="18" charset="0"/>
              </a:rPr>
              <a:t>At each iteration, each node is expanded using evaluation function f(n)=h(n) , which is given in the below table. </a:t>
            </a:r>
            <a:endParaRPr lang="en-US" sz="1100" b="0" i="0" u="none" strike="noStrike" baseline="0" dirty="0">
              <a:solidFill>
                <a:srgbClr val="000000"/>
              </a:solidFill>
              <a:latin typeface="Wingdings" panose="05000000000000000000" pitchFamily="2" charset="2"/>
            </a:endParaRPr>
          </a:p>
          <a:p>
            <a:r>
              <a:rPr lang="en-US" sz="1100" b="1" i="0" u="none" strike="noStrike" baseline="0" dirty="0">
                <a:solidFill>
                  <a:srgbClr val="000000"/>
                </a:solidFill>
                <a:latin typeface="Times New Roman" panose="02020603050405020304" pitchFamily="18" charset="0"/>
              </a:rPr>
              <a:t>Expand the nodes of S and put in the CLOSED list Initialization: </a:t>
            </a:r>
            <a:r>
              <a:rPr lang="en-US" sz="1100" b="0" i="0" u="none" strike="noStrike" baseline="0" dirty="0">
                <a:solidFill>
                  <a:srgbClr val="000000"/>
                </a:solidFill>
                <a:latin typeface="Times New Roman" panose="02020603050405020304" pitchFamily="18" charset="0"/>
              </a:rPr>
              <a:t>Open [A, B], Closed [S] </a:t>
            </a:r>
            <a:endParaRPr lang="en-US" sz="1100" b="0" i="0" u="none" strike="noStrike" baseline="0" dirty="0">
              <a:solidFill>
                <a:srgbClr val="000000"/>
              </a:solidFill>
              <a:latin typeface="Wingdings" panose="05000000000000000000" pitchFamily="2" charset="2"/>
            </a:endParaRPr>
          </a:p>
          <a:p>
            <a:r>
              <a:rPr lang="en-US" sz="1100" b="1" i="0" u="none" strike="noStrike" baseline="0" dirty="0">
                <a:solidFill>
                  <a:srgbClr val="000000"/>
                </a:solidFill>
                <a:latin typeface="Times New Roman" panose="02020603050405020304" pitchFamily="18" charset="0"/>
              </a:rPr>
              <a:t>Iteration 1: </a:t>
            </a:r>
            <a:r>
              <a:rPr lang="en-US" sz="1100" b="0" i="0" u="none" strike="noStrike" baseline="0" dirty="0">
                <a:solidFill>
                  <a:srgbClr val="000000"/>
                </a:solidFill>
                <a:latin typeface="Times New Roman" panose="02020603050405020304" pitchFamily="18" charset="0"/>
              </a:rPr>
              <a:t>Open [A], Closed [S, B] </a:t>
            </a:r>
            <a:endParaRPr lang="en-US" sz="1100" b="0" i="0" u="none" strike="noStrike" baseline="0" dirty="0">
              <a:solidFill>
                <a:srgbClr val="000000"/>
              </a:solidFill>
              <a:latin typeface="Wingdings" panose="05000000000000000000" pitchFamily="2" charset="2"/>
            </a:endParaRPr>
          </a:p>
          <a:p>
            <a:r>
              <a:rPr lang="en-US" sz="1100" b="1" i="0" u="none" strike="noStrike" baseline="0" dirty="0">
                <a:solidFill>
                  <a:srgbClr val="000000"/>
                </a:solidFill>
                <a:latin typeface="Times New Roman" panose="02020603050405020304" pitchFamily="18" charset="0"/>
              </a:rPr>
              <a:t>Iteration 2: </a:t>
            </a:r>
            <a:r>
              <a:rPr lang="en-US" sz="1100" b="0" i="0" u="none" strike="noStrike" baseline="0" dirty="0">
                <a:solidFill>
                  <a:srgbClr val="000000"/>
                </a:solidFill>
                <a:latin typeface="Times New Roman" panose="02020603050405020304" pitchFamily="18" charset="0"/>
              </a:rPr>
              <a:t>Open [E, F, A], Closed [S, B] </a:t>
            </a:r>
            <a:endParaRPr lang="en-US" sz="1100" b="0" i="0" u="none" strike="noStrike" baseline="0" dirty="0">
              <a:solidFill>
                <a:srgbClr val="000000"/>
              </a:solidFill>
              <a:latin typeface="Wingdings" panose="05000000000000000000" pitchFamily="2" charset="2"/>
            </a:endParaRPr>
          </a:p>
          <a:p>
            <a:r>
              <a:rPr lang="en-US" sz="1100" b="0" i="0" u="none" strike="noStrike" baseline="0" dirty="0">
                <a:solidFill>
                  <a:srgbClr val="000000"/>
                </a:solidFill>
                <a:latin typeface="Times New Roman" panose="02020603050405020304" pitchFamily="18" charset="0"/>
              </a:rPr>
              <a:t>: Open [E, A], Closed [S, B, F] </a:t>
            </a:r>
            <a:endParaRPr lang="en-US" sz="1100" b="0" i="0" u="none" strike="noStrike" baseline="0" dirty="0">
              <a:solidFill>
                <a:srgbClr val="000000"/>
              </a:solidFill>
              <a:latin typeface="Wingdings" panose="05000000000000000000" pitchFamily="2" charset="2"/>
            </a:endParaRPr>
          </a:p>
          <a:p>
            <a:r>
              <a:rPr lang="en-US" sz="1100" b="1" i="0" u="none" strike="noStrike" baseline="0" dirty="0">
                <a:solidFill>
                  <a:srgbClr val="000000"/>
                </a:solidFill>
                <a:latin typeface="Times New Roman" panose="02020603050405020304" pitchFamily="18" charset="0"/>
              </a:rPr>
              <a:t>Iteration 3: </a:t>
            </a:r>
            <a:r>
              <a:rPr lang="en-US" sz="1100" b="0" i="0" u="none" strike="noStrike" baseline="0" dirty="0">
                <a:solidFill>
                  <a:srgbClr val="000000"/>
                </a:solidFill>
                <a:latin typeface="Times New Roman" panose="02020603050405020304" pitchFamily="18" charset="0"/>
              </a:rPr>
              <a:t>Open [I, G, E, A], Closed [S, B, F] </a:t>
            </a:r>
            <a:endParaRPr lang="en-US" sz="1100" b="0" i="0" u="none" strike="noStrike" baseline="0" dirty="0">
              <a:solidFill>
                <a:srgbClr val="000000"/>
              </a:solidFill>
              <a:latin typeface="Wingdings" panose="05000000000000000000" pitchFamily="2" charset="2"/>
            </a:endParaRPr>
          </a:p>
          <a:p>
            <a:r>
              <a:rPr lang="en-US" sz="1100" b="0" i="0" u="none" strike="noStrike" baseline="0" dirty="0">
                <a:solidFill>
                  <a:srgbClr val="000000"/>
                </a:solidFill>
                <a:latin typeface="Times New Roman" panose="02020603050405020304" pitchFamily="18" charset="0"/>
              </a:rPr>
              <a:t>: Open [I, E, A], Closed [S, B, F, G] </a:t>
            </a:r>
            <a:endParaRPr lang="en-US" sz="1100" b="0" i="0" u="none" strike="noStrike" baseline="0" dirty="0">
              <a:solidFill>
                <a:srgbClr val="000000"/>
              </a:solidFill>
              <a:latin typeface="Wingdings" panose="05000000000000000000" pitchFamily="2" charset="2"/>
            </a:endParaRPr>
          </a:p>
          <a:p>
            <a:r>
              <a:rPr lang="en-US" sz="1100" b="0" i="0" u="none" strike="noStrike" baseline="0" dirty="0">
                <a:solidFill>
                  <a:srgbClr val="000000"/>
                </a:solidFill>
                <a:latin typeface="Times New Roman" panose="02020603050405020304" pitchFamily="18" charset="0"/>
              </a:rPr>
              <a:t>Hence the final solution path will be: </a:t>
            </a:r>
            <a:r>
              <a:rPr lang="en-US" sz="1100" b="1" i="0" u="none" strike="noStrike" baseline="0" dirty="0">
                <a:solidFill>
                  <a:srgbClr val="000000"/>
                </a:solidFill>
                <a:latin typeface="Times New Roman" panose="02020603050405020304" pitchFamily="18" charset="0"/>
              </a:rPr>
              <a:t>S----&gt; B-----&gt;F --- &gt; G </a:t>
            </a:r>
          </a:p>
          <a:p>
            <a:endParaRPr lang="en-US" sz="1100" b="0" i="0" u="none" strike="noStrike" baseline="0" dirty="0">
              <a:solidFill>
                <a:srgbClr val="000000"/>
              </a:solidFill>
              <a:latin typeface="Wingdings" panose="05000000000000000000" pitchFamily="2" charset="2"/>
            </a:endParaRPr>
          </a:p>
        </p:txBody>
      </p:sp>
      <p:sp>
        <p:nvSpPr>
          <p:cNvPr id="4" name="Slide Number Placeholder 3">
            <a:extLst>
              <a:ext uri="{FF2B5EF4-FFF2-40B4-BE49-F238E27FC236}">
                <a16:creationId xmlns:a16="http://schemas.microsoft.com/office/drawing/2014/main" id="{A05EE5AD-110F-D6A9-10F5-682A8E4584A6}"/>
              </a:ext>
            </a:extLst>
          </p:cNvPr>
          <p:cNvSpPr>
            <a:spLocks noGrp="1"/>
          </p:cNvSpPr>
          <p:nvPr>
            <p:ph type="sldNum" sz="quarter" idx="12"/>
          </p:nvPr>
        </p:nvSpPr>
        <p:spPr/>
        <p:txBody>
          <a:bodyPr/>
          <a:lstStyle/>
          <a:p>
            <a:fld id="{925DBA28-09A4-46E5-9122-9619524F7BDB}" type="slidenum">
              <a:rPr lang="en-IN" smtClean="0"/>
              <a:t>17</a:t>
            </a:fld>
            <a:endParaRPr lang="en-IN"/>
          </a:p>
        </p:txBody>
      </p:sp>
      <p:pic>
        <p:nvPicPr>
          <p:cNvPr id="5" name="Picture 4">
            <a:extLst>
              <a:ext uri="{FF2B5EF4-FFF2-40B4-BE49-F238E27FC236}">
                <a16:creationId xmlns:a16="http://schemas.microsoft.com/office/drawing/2014/main" id="{9C7862CD-C81A-0DD3-F1A9-9D4DA4FF13D2}"/>
              </a:ext>
            </a:extLst>
          </p:cNvPr>
          <p:cNvPicPr>
            <a:picLocks noChangeAspect="1"/>
          </p:cNvPicPr>
          <p:nvPr/>
        </p:nvPicPr>
        <p:blipFill>
          <a:blip r:embed="rId2"/>
          <a:stretch>
            <a:fillRect/>
          </a:stretch>
        </p:blipFill>
        <p:spPr>
          <a:xfrm>
            <a:off x="1110876" y="4418110"/>
            <a:ext cx="4346389" cy="2176530"/>
          </a:xfrm>
          <a:prstGeom prst="rect">
            <a:avLst/>
          </a:prstGeom>
        </p:spPr>
      </p:pic>
      <p:pic>
        <p:nvPicPr>
          <p:cNvPr id="7" name="Picture 6">
            <a:extLst>
              <a:ext uri="{FF2B5EF4-FFF2-40B4-BE49-F238E27FC236}">
                <a16:creationId xmlns:a16="http://schemas.microsoft.com/office/drawing/2014/main" id="{304405D1-860C-1C0E-053C-9CB2B403CA53}"/>
              </a:ext>
            </a:extLst>
          </p:cNvPr>
          <p:cNvPicPr>
            <a:picLocks noChangeAspect="1"/>
          </p:cNvPicPr>
          <p:nvPr/>
        </p:nvPicPr>
        <p:blipFill>
          <a:blip r:embed="rId3"/>
          <a:stretch>
            <a:fillRect/>
          </a:stretch>
        </p:blipFill>
        <p:spPr>
          <a:xfrm>
            <a:off x="5800788" y="4239556"/>
            <a:ext cx="4346389" cy="2182969"/>
          </a:xfrm>
          <a:prstGeom prst="rect">
            <a:avLst/>
          </a:prstGeom>
        </p:spPr>
      </p:pic>
    </p:spTree>
    <p:extLst>
      <p:ext uri="{BB962C8B-B14F-4D97-AF65-F5344CB8AC3E}">
        <p14:creationId xmlns:p14="http://schemas.microsoft.com/office/powerpoint/2010/main" val="7711689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F8650-298B-4FD7-749A-7C353FBE87C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85F70FA-F892-3E8D-51E4-26ABA5B6D2C3}"/>
              </a:ext>
            </a:extLst>
          </p:cNvPr>
          <p:cNvSpPr>
            <a:spLocks noGrp="1"/>
          </p:cNvSpPr>
          <p:nvPr>
            <p:ph idx="1"/>
          </p:nvPr>
        </p:nvSpPr>
        <p:spPr/>
        <p:txBody>
          <a:bodyPr>
            <a:normAutofit fontScale="47500" lnSpcReduction="20000"/>
          </a:bodyPr>
          <a:lstStyle/>
          <a:p>
            <a:pPr marL="0" indent="0">
              <a:buNone/>
            </a:pPr>
            <a:r>
              <a:rPr lang="en-US" sz="2800" b="0" i="0" u="none" strike="noStrike" baseline="0" dirty="0">
                <a:solidFill>
                  <a:srgbClr val="000000"/>
                </a:solidFill>
                <a:latin typeface="Times New Roman" panose="02020603050405020304" pitchFamily="18" charset="0"/>
              </a:rPr>
              <a:t>Advantages:</a:t>
            </a:r>
          </a:p>
          <a:p>
            <a:pPr marL="0" indent="0">
              <a:buNone/>
            </a:pPr>
            <a:endParaRPr lang="en-US" sz="2800" b="0" i="0" u="none" strike="noStrike" baseline="0" dirty="0">
              <a:solidFill>
                <a:srgbClr val="000000"/>
              </a:solidFill>
              <a:latin typeface="Wingdings" panose="05000000000000000000" pitchFamily="2" charset="2"/>
            </a:endParaRPr>
          </a:p>
          <a:p>
            <a:r>
              <a:rPr lang="en-US" sz="2800" b="0" i="0" u="none" strike="noStrike" baseline="0" dirty="0">
                <a:solidFill>
                  <a:srgbClr val="000000"/>
                </a:solidFill>
                <a:latin typeface="Wingdings" panose="05000000000000000000" pitchFamily="2" charset="2"/>
              </a:rPr>
              <a:t> </a:t>
            </a:r>
            <a:r>
              <a:rPr lang="en-US" sz="2800" b="0" i="0" u="none" strike="noStrike" baseline="0" dirty="0">
                <a:solidFill>
                  <a:srgbClr val="000000"/>
                </a:solidFill>
                <a:latin typeface="Times New Roman" panose="02020603050405020304" pitchFamily="18" charset="0"/>
              </a:rPr>
              <a:t>Best first search can switch between BFS and DFS by gaining the advantages of both the algorithms. </a:t>
            </a:r>
            <a:endParaRPr lang="en-US" sz="2800" b="0" i="0" u="none" strike="noStrike" baseline="0" dirty="0">
              <a:solidFill>
                <a:srgbClr val="000000"/>
              </a:solidFill>
              <a:latin typeface="Wingdings" panose="05000000000000000000" pitchFamily="2" charset="2"/>
            </a:endParaRPr>
          </a:p>
          <a:p>
            <a:r>
              <a:rPr lang="en-US" sz="2800" b="0" i="0" u="none" strike="noStrike" baseline="0" dirty="0">
                <a:solidFill>
                  <a:srgbClr val="000000"/>
                </a:solidFill>
                <a:latin typeface="Wingdings" panose="05000000000000000000" pitchFamily="2" charset="2"/>
              </a:rPr>
              <a:t> </a:t>
            </a:r>
            <a:r>
              <a:rPr lang="en-US" sz="2800" b="0" i="0" u="none" strike="noStrike" baseline="0" dirty="0">
                <a:solidFill>
                  <a:srgbClr val="000000"/>
                </a:solidFill>
                <a:latin typeface="Times New Roman" panose="02020603050405020304" pitchFamily="18" charset="0"/>
              </a:rPr>
              <a:t>This algorithm is more efficient than BFS and DFS algorithms. </a:t>
            </a:r>
          </a:p>
          <a:p>
            <a:pPr marL="0" indent="0">
              <a:buNone/>
            </a:pPr>
            <a:r>
              <a:rPr lang="en-US" sz="2800" b="0" i="0" u="none" strike="noStrike" baseline="0" dirty="0">
                <a:solidFill>
                  <a:srgbClr val="000000"/>
                </a:solidFill>
                <a:latin typeface="Times New Roman" panose="02020603050405020304" pitchFamily="18" charset="0"/>
              </a:rPr>
              <a:t>Disadvantages:</a:t>
            </a:r>
          </a:p>
          <a:p>
            <a:pPr marL="0" indent="0">
              <a:buNone/>
            </a:pPr>
            <a:r>
              <a:rPr lang="en-US" sz="2800" b="0" i="0" u="none" strike="noStrike" baseline="0" dirty="0">
                <a:solidFill>
                  <a:srgbClr val="000000"/>
                </a:solidFill>
                <a:latin typeface="Wingdings" panose="05000000000000000000" pitchFamily="2" charset="2"/>
              </a:rPr>
              <a:t> </a:t>
            </a:r>
            <a:r>
              <a:rPr lang="en-US" sz="2800" b="0" i="0" u="none" strike="noStrike" baseline="0" dirty="0">
                <a:solidFill>
                  <a:srgbClr val="000000"/>
                </a:solidFill>
                <a:latin typeface="Times New Roman" panose="02020603050405020304" pitchFamily="18" charset="0"/>
              </a:rPr>
              <a:t>It can behave as an unguided depth-first search in the worst case scenario. </a:t>
            </a:r>
            <a:endParaRPr lang="en-US" sz="2800" b="0" i="0" u="none" strike="noStrike" baseline="0" dirty="0">
              <a:solidFill>
                <a:srgbClr val="000000"/>
              </a:solidFill>
              <a:latin typeface="Wingdings" panose="05000000000000000000" pitchFamily="2" charset="2"/>
            </a:endParaRPr>
          </a:p>
          <a:p>
            <a:r>
              <a:rPr lang="en-US" sz="2800" b="0" i="0" u="none" strike="noStrike" baseline="0" dirty="0">
                <a:solidFill>
                  <a:srgbClr val="000000"/>
                </a:solidFill>
                <a:latin typeface="Times New Roman" panose="02020603050405020304" pitchFamily="18" charset="0"/>
              </a:rPr>
              <a:t>It can get stuck in a loop as DFS. </a:t>
            </a:r>
            <a:endParaRPr lang="en-US" sz="2800" b="0" i="0" u="none" strike="noStrike" baseline="0" dirty="0">
              <a:solidFill>
                <a:srgbClr val="000000"/>
              </a:solidFill>
              <a:latin typeface="Wingdings" panose="05000000000000000000" pitchFamily="2" charset="2"/>
            </a:endParaRPr>
          </a:p>
          <a:p>
            <a:r>
              <a:rPr lang="en-US" sz="2800" b="0" i="0" u="none" strike="noStrike" baseline="0" dirty="0">
                <a:solidFill>
                  <a:srgbClr val="000000"/>
                </a:solidFill>
                <a:latin typeface="Times New Roman" panose="02020603050405020304" pitchFamily="18" charset="0"/>
              </a:rPr>
              <a:t>This algorithm is not optimal. </a:t>
            </a:r>
          </a:p>
          <a:p>
            <a:r>
              <a:rPr lang="en-US" sz="2800" b="1" i="0" u="none" strike="noStrike" baseline="0" dirty="0">
                <a:solidFill>
                  <a:srgbClr val="000000"/>
                </a:solidFill>
                <a:latin typeface="Times New Roman" panose="02020603050405020304" pitchFamily="18" charset="0"/>
              </a:rPr>
              <a:t>Time Complexity: </a:t>
            </a:r>
            <a:r>
              <a:rPr lang="en-US" sz="2800" b="0" i="0" u="none" strike="noStrike" baseline="0" dirty="0">
                <a:solidFill>
                  <a:srgbClr val="000000"/>
                </a:solidFill>
                <a:latin typeface="Times New Roman" panose="02020603050405020304" pitchFamily="18" charset="0"/>
              </a:rPr>
              <a:t>The worst case time complexity of Greedy best first search is O(bm). </a:t>
            </a:r>
            <a:endParaRPr lang="en-US" sz="2800" b="0" i="0" u="none" strike="noStrike" baseline="0" dirty="0">
              <a:solidFill>
                <a:srgbClr val="000000"/>
              </a:solidFill>
              <a:latin typeface="Wingdings" panose="05000000000000000000" pitchFamily="2" charset="2"/>
            </a:endParaRPr>
          </a:p>
          <a:p>
            <a:r>
              <a:rPr lang="en-US" sz="2800" b="1" i="0" u="none" strike="noStrike" baseline="0" dirty="0">
                <a:solidFill>
                  <a:srgbClr val="000000"/>
                </a:solidFill>
                <a:latin typeface="Times New Roman" panose="02020603050405020304" pitchFamily="18" charset="0"/>
              </a:rPr>
              <a:t>Space Complexity: </a:t>
            </a:r>
            <a:r>
              <a:rPr lang="en-US" sz="2800" b="0" i="0" u="none" strike="noStrike" baseline="0" dirty="0">
                <a:solidFill>
                  <a:srgbClr val="000000"/>
                </a:solidFill>
                <a:latin typeface="Times New Roman" panose="02020603050405020304" pitchFamily="18" charset="0"/>
              </a:rPr>
              <a:t>The worst case space complexity of Greedy best first search is O(bm). Where, m is the maximum depth of the search space. </a:t>
            </a:r>
            <a:endParaRPr lang="en-US" sz="2800" b="0" i="0" u="none" strike="noStrike" baseline="0" dirty="0">
              <a:solidFill>
                <a:srgbClr val="000000"/>
              </a:solidFill>
              <a:latin typeface="Wingdings" panose="05000000000000000000" pitchFamily="2" charset="2"/>
            </a:endParaRPr>
          </a:p>
          <a:p>
            <a:r>
              <a:rPr lang="en-US" sz="2800" b="1" i="0" u="none" strike="noStrike" baseline="0" dirty="0">
                <a:solidFill>
                  <a:srgbClr val="000000"/>
                </a:solidFill>
                <a:latin typeface="Times New Roman" panose="02020603050405020304" pitchFamily="18" charset="0"/>
              </a:rPr>
              <a:t>Complete: </a:t>
            </a:r>
            <a:r>
              <a:rPr lang="en-US" sz="2800" b="0" i="0" u="none" strike="noStrike" baseline="0" dirty="0">
                <a:solidFill>
                  <a:srgbClr val="000000"/>
                </a:solidFill>
                <a:latin typeface="Times New Roman" panose="02020603050405020304" pitchFamily="18" charset="0"/>
              </a:rPr>
              <a:t>Greedy best-first search is also incomplete, even if the given state space is finite. </a:t>
            </a:r>
            <a:endParaRPr lang="en-US" sz="2800" b="0" i="0" u="none" strike="noStrike" baseline="0" dirty="0">
              <a:solidFill>
                <a:srgbClr val="000000"/>
              </a:solidFill>
              <a:latin typeface="Wingdings" panose="05000000000000000000" pitchFamily="2" charset="2"/>
            </a:endParaRPr>
          </a:p>
          <a:p>
            <a:r>
              <a:rPr lang="en-US" sz="2800" b="1" i="0" u="none" strike="noStrike" baseline="0" dirty="0">
                <a:solidFill>
                  <a:srgbClr val="000000"/>
                </a:solidFill>
                <a:latin typeface="Times New Roman" panose="02020603050405020304" pitchFamily="18" charset="0"/>
              </a:rPr>
              <a:t>Optimal: </a:t>
            </a:r>
            <a:r>
              <a:rPr lang="en-US" sz="2800" b="0" i="0" u="none" strike="noStrike" baseline="0" dirty="0">
                <a:solidFill>
                  <a:srgbClr val="000000"/>
                </a:solidFill>
                <a:latin typeface="Times New Roman" panose="02020603050405020304" pitchFamily="18" charset="0"/>
              </a:rPr>
              <a:t>Greedy best first search algorithm is not optimal. </a:t>
            </a:r>
            <a:endParaRPr lang="en-IN" dirty="0"/>
          </a:p>
          <a:p>
            <a:endParaRPr lang="en-US" sz="2800" b="0" i="0" u="none" strike="noStrike" baseline="0" dirty="0">
              <a:solidFill>
                <a:srgbClr val="000000"/>
              </a:solidFill>
              <a:latin typeface="Wingdings" panose="05000000000000000000" pitchFamily="2" charset="2"/>
            </a:endParaRPr>
          </a:p>
          <a:p>
            <a:endParaRPr lang="en-IN" dirty="0"/>
          </a:p>
        </p:txBody>
      </p:sp>
      <p:sp>
        <p:nvSpPr>
          <p:cNvPr id="4" name="Slide Number Placeholder 3">
            <a:extLst>
              <a:ext uri="{FF2B5EF4-FFF2-40B4-BE49-F238E27FC236}">
                <a16:creationId xmlns:a16="http://schemas.microsoft.com/office/drawing/2014/main" id="{E2EEE7F7-0199-389E-C253-055C83383EBD}"/>
              </a:ext>
            </a:extLst>
          </p:cNvPr>
          <p:cNvSpPr>
            <a:spLocks noGrp="1"/>
          </p:cNvSpPr>
          <p:nvPr>
            <p:ph type="sldNum" sz="quarter" idx="12"/>
          </p:nvPr>
        </p:nvSpPr>
        <p:spPr/>
        <p:txBody>
          <a:bodyPr/>
          <a:lstStyle/>
          <a:p>
            <a:fld id="{925DBA28-09A4-46E5-9122-9619524F7BDB}" type="slidenum">
              <a:rPr lang="en-IN" smtClean="0"/>
              <a:t>18</a:t>
            </a:fld>
            <a:endParaRPr lang="en-IN"/>
          </a:p>
        </p:txBody>
      </p:sp>
    </p:spTree>
    <p:extLst>
      <p:ext uri="{BB962C8B-B14F-4D97-AF65-F5344CB8AC3E}">
        <p14:creationId xmlns:p14="http://schemas.microsoft.com/office/powerpoint/2010/main" val="1362418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E5125C-7468-E448-E114-F2E217D8B746}"/>
              </a:ext>
            </a:extLst>
          </p:cNvPr>
          <p:cNvSpPr>
            <a:spLocks noGrp="1"/>
          </p:cNvSpPr>
          <p:nvPr>
            <p:ph idx="1"/>
          </p:nvPr>
        </p:nvSpPr>
        <p:spPr>
          <a:xfrm>
            <a:off x="2589212" y="1427584"/>
            <a:ext cx="8915400" cy="4483638"/>
          </a:xfrm>
        </p:spPr>
        <p:txBody>
          <a:bodyPr/>
          <a:lstStyle/>
          <a:p>
            <a:endParaRPr lang="en-IN" dirty="0"/>
          </a:p>
          <a:p>
            <a:endParaRPr lang="en-IN" dirty="0"/>
          </a:p>
          <a:p>
            <a:endParaRPr lang="en-IN" dirty="0"/>
          </a:p>
          <a:p>
            <a:endParaRPr lang="en-IN" dirty="0"/>
          </a:p>
          <a:p>
            <a:endParaRPr lang="en-IN" dirty="0"/>
          </a:p>
        </p:txBody>
      </p:sp>
      <p:sp>
        <p:nvSpPr>
          <p:cNvPr id="4" name="Slide Number Placeholder 3">
            <a:extLst>
              <a:ext uri="{FF2B5EF4-FFF2-40B4-BE49-F238E27FC236}">
                <a16:creationId xmlns:a16="http://schemas.microsoft.com/office/drawing/2014/main" id="{24A86588-402F-DA27-7133-75CFD24191DB}"/>
              </a:ext>
            </a:extLst>
          </p:cNvPr>
          <p:cNvSpPr>
            <a:spLocks noGrp="1"/>
          </p:cNvSpPr>
          <p:nvPr>
            <p:ph type="sldNum" sz="quarter" idx="12"/>
          </p:nvPr>
        </p:nvSpPr>
        <p:spPr/>
        <p:txBody>
          <a:bodyPr/>
          <a:lstStyle/>
          <a:p>
            <a:fld id="{9324F709-037B-4F0A-AFFB-BDF7B109B9BB}" type="slidenum">
              <a:rPr lang="en-IN" smtClean="0"/>
              <a:t>19</a:t>
            </a:fld>
            <a:endParaRPr lang="en-IN"/>
          </a:p>
        </p:txBody>
      </p:sp>
      <p:sp>
        <p:nvSpPr>
          <p:cNvPr id="5" name="Rectangle 4">
            <a:extLst>
              <a:ext uri="{FF2B5EF4-FFF2-40B4-BE49-F238E27FC236}">
                <a16:creationId xmlns:a16="http://schemas.microsoft.com/office/drawing/2014/main" id="{5CDBDA5B-4D9A-AEAC-31D1-6104DC626E96}"/>
              </a:ext>
            </a:extLst>
          </p:cNvPr>
          <p:cNvSpPr/>
          <p:nvPr/>
        </p:nvSpPr>
        <p:spPr>
          <a:xfrm>
            <a:off x="3082420" y="3032650"/>
            <a:ext cx="7053534" cy="1569660"/>
          </a:xfrm>
          <a:prstGeom prst="rect">
            <a:avLst/>
          </a:prstGeom>
          <a:noFill/>
        </p:spPr>
        <p:txBody>
          <a:bodyPr wrap="none" lIns="91440" tIns="45720" rIns="91440" bIns="45720">
            <a:spAutoFit/>
          </a:bodyPr>
          <a:lstStyle/>
          <a:p>
            <a:pPr algn="ctr"/>
            <a:r>
              <a:rPr lang="en-US" sz="96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a:t>
            </a:r>
          </a:p>
        </p:txBody>
      </p:sp>
    </p:spTree>
    <p:extLst>
      <p:ext uri="{BB962C8B-B14F-4D97-AF65-F5344CB8AC3E}">
        <p14:creationId xmlns:p14="http://schemas.microsoft.com/office/powerpoint/2010/main" val="360903200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docProps/app.xml><?xml version="1.0" encoding="utf-8"?>
<Properties xmlns="http://schemas.openxmlformats.org/officeDocument/2006/extended-properties" xmlns:vt="http://schemas.openxmlformats.org/officeDocument/2006/docPropsVTypes">
  <Template>Wisp</Template>
  <TotalTime>108</TotalTime>
  <Words>3043</Words>
  <Application>Microsoft Office PowerPoint</Application>
  <PresentationFormat>Widescreen</PresentationFormat>
  <Paragraphs>168</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Century Gothic</vt:lpstr>
      <vt:lpstr>Times</vt:lpstr>
      <vt:lpstr>Times New Roman</vt:lpstr>
      <vt:lpstr>Wingdings</vt:lpstr>
      <vt:lpstr>Wingdings 3</vt:lpstr>
      <vt:lpstr>Wisp</vt:lpstr>
      <vt:lpstr>Artificial Intelligence </vt:lpstr>
      <vt:lpstr>Reasoning </vt:lpstr>
      <vt:lpstr>Symbolic Reasoning  </vt:lpstr>
      <vt:lpstr>Logical Reasoning  </vt:lpstr>
      <vt:lpstr>Monotonic Reasoning </vt:lpstr>
      <vt:lpstr>Non-monotonic Reasoning  </vt:lpstr>
      <vt:lpstr>Default Reasoning  </vt:lpstr>
      <vt:lpstr>Deductive reasoning </vt:lpstr>
      <vt:lpstr>Inductive Reasoning </vt:lpstr>
      <vt:lpstr>Abductive reasoning </vt:lpstr>
      <vt:lpstr>Forward &amp; Backward Reasoning</vt:lpstr>
      <vt:lpstr>Breadth-first Search </vt:lpstr>
      <vt:lpstr>PowerPoint Presentation</vt:lpstr>
      <vt:lpstr>Depth-first Search</vt:lpstr>
      <vt:lpstr>PowerPoint Presentation</vt:lpstr>
      <vt:lpstr>Best-first Search Algorithm (Greedy Search)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Bidush</dc:creator>
  <cp:lastModifiedBy>Bidush Kumar Sahoo</cp:lastModifiedBy>
  <cp:revision>7</cp:revision>
  <dcterms:created xsi:type="dcterms:W3CDTF">2022-08-26T12:24:36Z</dcterms:created>
  <dcterms:modified xsi:type="dcterms:W3CDTF">2025-08-20T05:24:49Z</dcterms:modified>
</cp:coreProperties>
</file>