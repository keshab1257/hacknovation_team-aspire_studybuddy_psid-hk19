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24"/>
  </p:notesMasterIdLst>
  <p:sldIdLst>
    <p:sldId id="256" r:id="rId2"/>
    <p:sldId id="257" r:id="rId3"/>
    <p:sldId id="258" r:id="rId4"/>
    <p:sldId id="274" r:id="rId5"/>
    <p:sldId id="259" r:id="rId6"/>
    <p:sldId id="261" r:id="rId7"/>
    <p:sldId id="262" r:id="rId8"/>
    <p:sldId id="263" r:id="rId9"/>
    <p:sldId id="264" r:id="rId10"/>
    <p:sldId id="265" r:id="rId11"/>
    <p:sldId id="266" r:id="rId12"/>
    <p:sldId id="275" r:id="rId13"/>
    <p:sldId id="267" r:id="rId14"/>
    <p:sldId id="268" r:id="rId15"/>
    <p:sldId id="269" r:id="rId16"/>
    <p:sldId id="270" r:id="rId17"/>
    <p:sldId id="271" r:id="rId18"/>
    <p:sldId id="272" r:id="rId19"/>
    <p:sldId id="276" r:id="rId20"/>
    <p:sldId id="273" r:id="rId21"/>
    <p:sldId id="277" r:id="rId22"/>
    <p:sldId id="26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77637E-1DF6-4EB3-8595-D31DFE4BB73F}" type="datetimeFigureOut">
              <a:rPr lang="en-IN" smtClean="0"/>
              <a:t>14-10-2025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CDDCA7-A898-44B1-A096-7E176FA944BC}" type="slidenum">
              <a:rPr lang="en-IN" smtClean="0"/>
              <a:t>‹#›</a:t>
            </a:fld>
            <a:endParaRPr lang="en-IN"/>
          </a:p>
        </p:txBody>
      </p:sp>
    </p:spTree>
    <p:extLst>
      <p:ext uri="{BB962C8B-B14F-4D97-AF65-F5344CB8AC3E}">
        <p14:creationId xmlns:p14="http://schemas.microsoft.com/office/powerpoint/2010/main" val="3572697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FCDDCA7-A898-44B1-A096-7E176FA944BC}" type="slidenum">
              <a:rPr lang="en-IN" smtClean="0"/>
              <a:t>3</a:t>
            </a:fld>
            <a:endParaRPr lang="en-IN"/>
          </a:p>
        </p:txBody>
      </p:sp>
    </p:spTree>
    <p:extLst>
      <p:ext uri="{BB962C8B-B14F-4D97-AF65-F5344CB8AC3E}">
        <p14:creationId xmlns:p14="http://schemas.microsoft.com/office/powerpoint/2010/main" val="934922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24FF36-4886-4BEF-AB72-3055726E55A1}"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31977D5-141A-4E95-A2F1-9BC591B1A74B}" type="slidenum">
              <a:rPr lang="en-IN" smtClean="0"/>
              <a:t>‹#›</a:t>
            </a:fld>
            <a:endParaRPr lang="en-IN"/>
          </a:p>
        </p:txBody>
      </p:sp>
    </p:spTree>
    <p:extLst>
      <p:ext uri="{BB962C8B-B14F-4D97-AF65-F5344CB8AC3E}">
        <p14:creationId xmlns:p14="http://schemas.microsoft.com/office/powerpoint/2010/main" val="2340803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24FF36-4886-4BEF-AB72-3055726E55A1}"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31977D5-141A-4E95-A2F1-9BC591B1A74B}" type="slidenum">
              <a:rPr lang="en-IN" smtClean="0"/>
              <a:t>‹#›</a:t>
            </a:fld>
            <a:endParaRPr lang="en-IN"/>
          </a:p>
        </p:txBody>
      </p:sp>
    </p:spTree>
    <p:extLst>
      <p:ext uri="{BB962C8B-B14F-4D97-AF65-F5344CB8AC3E}">
        <p14:creationId xmlns:p14="http://schemas.microsoft.com/office/powerpoint/2010/main" val="2983120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24FF36-4886-4BEF-AB72-3055726E55A1}"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31977D5-141A-4E95-A2F1-9BC591B1A74B}" type="slidenum">
              <a:rPr lang="en-IN" smtClean="0"/>
              <a:t>‹#›</a:t>
            </a:fld>
            <a:endParaRPr lang="en-IN"/>
          </a:p>
        </p:txBody>
      </p:sp>
    </p:spTree>
    <p:extLst>
      <p:ext uri="{BB962C8B-B14F-4D97-AF65-F5344CB8AC3E}">
        <p14:creationId xmlns:p14="http://schemas.microsoft.com/office/powerpoint/2010/main" val="3703952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24FF36-4886-4BEF-AB72-3055726E55A1}"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31977D5-141A-4E95-A2F1-9BC591B1A74B}" type="slidenum">
              <a:rPr lang="en-IN" smtClean="0"/>
              <a:t>‹#›</a:t>
            </a:fld>
            <a:endParaRPr lang="en-IN"/>
          </a:p>
        </p:txBody>
      </p:sp>
    </p:spTree>
    <p:extLst>
      <p:ext uri="{BB962C8B-B14F-4D97-AF65-F5344CB8AC3E}">
        <p14:creationId xmlns:p14="http://schemas.microsoft.com/office/powerpoint/2010/main" val="1215397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24FF36-4886-4BEF-AB72-3055726E55A1}" type="datetimeFigureOut">
              <a:rPr lang="en-IN" smtClean="0"/>
              <a:t>14-10-2025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31977D5-141A-4E95-A2F1-9BC591B1A74B}" type="slidenum">
              <a:rPr lang="en-IN" smtClean="0"/>
              <a:t>‹#›</a:t>
            </a:fld>
            <a:endParaRPr lang="en-IN"/>
          </a:p>
        </p:txBody>
      </p:sp>
    </p:spTree>
    <p:extLst>
      <p:ext uri="{BB962C8B-B14F-4D97-AF65-F5344CB8AC3E}">
        <p14:creationId xmlns:p14="http://schemas.microsoft.com/office/powerpoint/2010/main" val="570886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24FF36-4886-4BEF-AB72-3055726E55A1}" type="datetimeFigureOut">
              <a:rPr lang="en-IN" smtClean="0"/>
              <a:t>14-10-2025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31977D5-141A-4E95-A2F1-9BC591B1A74B}" type="slidenum">
              <a:rPr lang="en-IN" smtClean="0"/>
              <a:t>‹#›</a:t>
            </a:fld>
            <a:endParaRPr lang="en-IN"/>
          </a:p>
        </p:txBody>
      </p:sp>
    </p:spTree>
    <p:extLst>
      <p:ext uri="{BB962C8B-B14F-4D97-AF65-F5344CB8AC3E}">
        <p14:creationId xmlns:p14="http://schemas.microsoft.com/office/powerpoint/2010/main" val="930304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24FF36-4886-4BEF-AB72-3055726E55A1}" type="datetimeFigureOut">
              <a:rPr lang="en-IN" smtClean="0"/>
              <a:t>14-10-2025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31977D5-141A-4E95-A2F1-9BC591B1A74B}" type="slidenum">
              <a:rPr lang="en-IN" smtClean="0"/>
              <a:t>‹#›</a:t>
            </a:fld>
            <a:endParaRPr lang="en-IN"/>
          </a:p>
        </p:txBody>
      </p:sp>
    </p:spTree>
    <p:extLst>
      <p:ext uri="{BB962C8B-B14F-4D97-AF65-F5344CB8AC3E}">
        <p14:creationId xmlns:p14="http://schemas.microsoft.com/office/powerpoint/2010/main" val="992678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24FF36-4886-4BEF-AB72-3055726E55A1}"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31977D5-141A-4E95-A2F1-9BC591B1A74B}" type="slidenum">
              <a:rPr lang="en-IN" smtClean="0"/>
              <a:t>‹#›</a:t>
            </a:fld>
            <a:endParaRPr lang="en-IN"/>
          </a:p>
        </p:txBody>
      </p:sp>
    </p:spTree>
    <p:extLst>
      <p:ext uri="{BB962C8B-B14F-4D97-AF65-F5344CB8AC3E}">
        <p14:creationId xmlns:p14="http://schemas.microsoft.com/office/powerpoint/2010/main" val="3978812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24FF36-4886-4BEF-AB72-3055726E55A1}"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31977D5-141A-4E95-A2F1-9BC591B1A74B}" type="slidenum">
              <a:rPr lang="en-IN" smtClean="0"/>
              <a:t>‹#›</a:t>
            </a:fld>
            <a:endParaRPr lang="en-IN"/>
          </a:p>
        </p:txBody>
      </p:sp>
    </p:spTree>
    <p:extLst>
      <p:ext uri="{BB962C8B-B14F-4D97-AF65-F5344CB8AC3E}">
        <p14:creationId xmlns:p14="http://schemas.microsoft.com/office/powerpoint/2010/main" val="3573964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24FF36-4886-4BEF-AB72-3055726E55A1}"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31977D5-141A-4E95-A2F1-9BC591B1A74B}" type="slidenum">
              <a:rPr lang="en-IN" smtClean="0"/>
              <a:t>‹#›</a:t>
            </a:fld>
            <a:endParaRPr lang="en-IN"/>
          </a:p>
        </p:txBody>
      </p:sp>
    </p:spTree>
    <p:extLst>
      <p:ext uri="{BB962C8B-B14F-4D97-AF65-F5344CB8AC3E}">
        <p14:creationId xmlns:p14="http://schemas.microsoft.com/office/powerpoint/2010/main" val="3504141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24FF36-4886-4BEF-AB72-3055726E55A1}"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31977D5-141A-4E95-A2F1-9BC591B1A74B}"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56018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724FF36-4886-4BEF-AB72-3055726E55A1}"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31977D5-141A-4E95-A2F1-9BC591B1A74B}" type="slidenum">
              <a:rPr lang="en-IN" smtClean="0"/>
              <a:t>‹#›</a:t>
            </a:fld>
            <a:endParaRPr lang="en-IN"/>
          </a:p>
        </p:txBody>
      </p:sp>
    </p:spTree>
    <p:extLst>
      <p:ext uri="{BB962C8B-B14F-4D97-AF65-F5344CB8AC3E}">
        <p14:creationId xmlns:p14="http://schemas.microsoft.com/office/powerpoint/2010/main" val="656878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724FF36-4886-4BEF-AB72-3055726E55A1}"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31977D5-141A-4E95-A2F1-9BC591B1A74B}"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16913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724FF36-4886-4BEF-AB72-3055726E55A1}"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31977D5-141A-4E95-A2F1-9BC591B1A74B}" type="slidenum">
              <a:rPr lang="en-IN" smtClean="0"/>
              <a:t>‹#›</a:t>
            </a:fld>
            <a:endParaRPr lang="en-IN"/>
          </a:p>
        </p:txBody>
      </p:sp>
    </p:spTree>
    <p:extLst>
      <p:ext uri="{BB962C8B-B14F-4D97-AF65-F5344CB8AC3E}">
        <p14:creationId xmlns:p14="http://schemas.microsoft.com/office/powerpoint/2010/main" val="1042287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24FF36-4886-4BEF-AB72-3055726E55A1}"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31977D5-141A-4E95-A2F1-9BC591B1A74B}" type="slidenum">
              <a:rPr lang="en-IN" smtClean="0"/>
              <a:t>‹#›</a:t>
            </a:fld>
            <a:endParaRPr lang="en-IN"/>
          </a:p>
        </p:txBody>
      </p:sp>
    </p:spTree>
    <p:extLst>
      <p:ext uri="{BB962C8B-B14F-4D97-AF65-F5344CB8AC3E}">
        <p14:creationId xmlns:p14="http://schemas.microsoft.com/office/powerpoint/2010/main" val="31251994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24FF36-4886-4BEF-AB72-3055726E55A1}"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31977D5-141A-4E95-A2F1-9BC591B1A74B}" type="slidenum">
              <a:rPr lang="en-IN" smtClean="0"/>
              <a:t>‹#›</a:t>
            </a:fld>
            <a:endParaRPr lang="en-IN"/>
          </a:p>
        </p:txBody>
      </p:sp>
    </p:spTree>
    <p:extLst>
      <p:ext uri="{BB962C8B-B14F-4D97-AF65-F5344CB8AC3E}">
        <p14:creationId xmlns:p14="http://schemas.microsoft.com/office/powerpoint/2010/main" val="3246250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724FF36-4886-4BEF-AB72-3055726E55A1}" type="datetimeFigureOut">
              <a:rPr lang="en-IN" smtClean="0"/>
              <a:t>14-10-2025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31977D5-141A-4E95-A2F1-9BC591B1A74B}" type="slidenum">
              <a:rPr lang="en-IN" smtClean="0"/>
              <a:t>‹#›</a:t>
            </a:fld>
            <a:endParaRPr lang="en-IN"/>
          </a:p>
        </p:txBody>
      </p:sp>
    </p:spTree>
    <p:extLst>
      <p:ext uri="{BB962C8B-B14F-4D97-AF65-F5344CB8AC3E}">
        <p14:creationId xmlns:p14="http://schemas.microsoft.com/office/powerpoint/2010/main" val="3449332626"/>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55F16-ED23-C67A-6D6A-A48C0A4F6C2B}"/>
              </a:ext>
            </a:extLst>
          </p:cNvPr>
          <p:cNvSpPr>
            <a:spLocks noGrp="1"/>
          </p:cNvSpPr>
          <p:nvPr>
            <p:ph type="ctrTitle"/>
          </p:nvPr>
        </p:nvSpPr>
        <p:spPr>
          <a:xfrm>
            <a:off x="2805523" y="744793"/>
            <a:ext cx="8915399" cy="2262781"/>
          </a:xfrm>
        </p:spPr>
        <p:txBody>
          <a:bodyPr/>
          <a:lstStyle/>
          <a:p>
            <a:pPr algn="ctr"/>
            <a:r>
              <a:rPr lang="en-GB" dirty="0">
                <a:latin typeface="Times" panose="02020603050405020304" pitchFamily="18" charset="0"/>
                <a:cs typeface="Times" panose="02020603050405020304" pitchFamily="18" charset="0"/>
              </a:rPr>
              <a:t>Artificial Intelligence</a:t>
            </a:r>
            <a:endParaRPr lang="en-IN" dirty="0"/>
          </a:p>
        </p:txBody>
      </p:sp>
      <p:sp>
        <p:nvSpPr>
          <p:cNvPr id="3" name="Subtitle 2">
            <a:extLst>
              <a:ext uri="{FF2B5EF4-FFF2-40B4-BE49-F238E27FC236}">
                <a16:creationId xmlns:a16="http://schemas.microsoft.com/office/drawing/2014/main" id="{8E8D7578-7F03-A5B0-5D17-2E3E89755F49}"/>
              </a:ext>
            </a:extLst>
          </p:cNvPr>
          <p:cNvSpPr>
            <a:spLocks noGrp="1"/>
          </p:cNvSpPr>
          <p:nvPr>
            <p:ph type="subTitle" idx="1"/>
          </p:nvPr>
        </p:nvSpPr>
        <p:spPr>
          <a:xfrm>
            <a:off x="2589213" y="3303639"/>
            <a:ext cx="8915399" cy="2600023"/>
          </a:xfrm>
        </p:spPr>
        <p:txBody>
          <a:bodyPr>
            <a:normAutofit/>
          </a:bodyPr>
          <a:lstStyle/>
          <a:p>
            <a:pPr algn="ctr"/>
            <a:r>
              <a:rPr lang="en-US" altLang="en-US" sz="2600" dirty="0">
                <a:latin typeface="Times" panose="02020603050405020304" pitchFamily="18" charset="0"/>
                <a:ea typeface="ＭＳ Ｐゴシック" panose="020B0600070205080204" pitchFamily="34" charset="-128"/>
                <a:cs typeface="Times" panose="02020603050405020304" pitchFamily="18" charset="0"/>
              </a:rPr>
              <a:t>Dr. Bidush Kumar Sahoo</a:t>
            </a:r>
            <a:br>
              <a:rPr lang="en-US" altLang="en-US" sz="3500" dirty="0">
                <a:latin typeface="Times" panose="02020603050405020304" pitchFamily="18" charset="0"/>
                <a:ea typeface="ＭＳ Ｐゴシック" panose="020B0600070205080204" pitchFamily="34" charset="-128"/>
                <a:cs typeface="Times" panose="02020603050405020304" pitchFamily="18" charset="0"/>
              </a:rPr>
            </a:br>
            <a:r>
              <a:rPr lang="en-US" altLang="en-US" sz="3500" dirty="0">
                <a:latin typeface="Times" panose="02020603050405020304" pitchFamily="18" charset="0"/>
                <a:ea typeface="ＭＳ Ｐゴシック" panose="020B0600070205080204" pitchFamily="34" charset="-128"/>
                <a:cs typeface="Times" panose="02020603050405020304" pitchFamily="18" charset="0"/>
              </a:rPr>
              <a:t>G.I.E.T. University,</a:t>
            </a:r>
            <a:br>
              <a:rPr lang="en-US" altLang="en-US" sz="3500" dirty="0">
                <a:latin typeface="Times" panose="02020603050405020304" pitchFamily="18" charset="0"/>
                <a:ea typeface="ＭＳ Ｐゴシック" panose="020B0600070205080204" pitchFamily="34" charset="-128"/>
                <a:cs typeface="Times" panose="02020603050405020304" pitchFamily="18" charset="0"/>
              </a:rPr>
            </a:br>
            <a:r>
              <a:rPr lang="en-US" altLang="en-US" sz="3500" dirty="0" err="1">
                <a:latin typeface="Times" panose="02020603050405020304" pitchFamily="18" charset="0"/>
                <a:ea typeface="ＭＳ Ｐゴシック" panose="020B0600070205080204" pitchFamily="34" charset="-128"/>
                <a:cs typeface="Times" panose="02020603050405020304" pitchFamily="18" charset="0"/>
              </a:rPr>
              <a:t>Gunupur</a:t>
            </a:r>
            <a:r>
              <a:rPr lang="en-US" altLang="en-US" sz="3500" dirty="0">
                <a:latin typeface="Times" panose="02020603050405020304" pitchFamily="18" charset="0"/>
                <a:ea typeface="ＭＳ Ｐゴシック" panose="020B0600070205080204" pitchFamily="34" charset="-128"/>
                <a:cs typeface="Times" panose="02020603050405020304" pitchFamily="18" charset="0"/>
              </a:rPr>
              <a:t>, Odisha</a:t>
            </a:r>
            <a:endParaRPr lang="en-IN" sz="3500" dirty="0"/>
          </a:p>
          <a:p>
            <a:endParaRPr lang="en-IN" dirty="0"/>
          </a:p>
        </p:txBody>
      </p:sp>
    </p:spTree>
    <p:extLst>
      <p:ext uri="{BB962C8B-B14F-4D97-AF65-F5344CB8AC3E}">
        <p14:creationId xmlns:p14="http://schemas.microsoft.com/office/powerpoint/2010/main" val="3797761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4D13F-6ADB-E48D-18C5-2BDCB8523FD6}"/>
              </a:ext>
            </a:extLst>
          </p:cNvPr>
          <p:cNvSpPr>
            <a:spLocks noGrp="1"/>
          </p:cNvSpPr>
          <p:nvPr>
            <p:ph type="title"/>
          </p:nvPr>
        </p:nvSpPr>
        <p:spPr/>
        <p:txBody>
          <a:bodyPr/>
          <a:lstStyle/>
          <a:p>
            <a:pPr algn="ctr"/>
            <a:br>
              <a:rPr lang="en-IN" dirty="0"/>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LEARNING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271854-A387-8AFA-4B8A-80069A69AB1F}"/>
              </a:ext>
            </a:extLst>
          </p:cNvPr>
          <p:cNvSpPr>
            <a:spLocks noGrp="1"/>
          </p:cNvSpPr>
          <p:nvPr>
            <p:ph idx="1"/>
          </p:nvPr>
        </p:nvSpPr>
        <p:spPr>
          <a:xfrm>
            <a:off x="2589212" y="2133600"/>
            <a:ext cx="8915400" cy="4100290"/>
          </a:xfrm>
        </p:spPr>
        <p:txBody>
          <a:bodyPr>
            <a:normAutofit fontScale="92500" lnSpcReduction="20000"/>
          </a:bodyPr>
          <a:lstStyle/>
          <a:p>
            <a:endParaRPr lang="en-IN" dirty="0"/>
          </a:p>
          <a:p>
            <a:pPr marL="0" indent="0">
              <a:buNone/>
            </a:pPr>
            <a:r>
              <a:rPr lang="en-US" dirty="0">
                <a:latin typeface="Times New Roman" panose="02020603050405020304" pitchFamily="18" charset="0"/>
                <a:cs typeface="Times New Roman" panose="02020603050405020304" pitchFamily="18" charset="0"/>
              </a:rPr>
              <a:t>Learning is one of the fundamental building blocks of artificial intelligence (AI) solutions. From a conceptual standpoint, learning is a process that improves the knowledge of an AI program by making observations about its environment. </a:t>
            </a:r>
          </a:p>
          <a:p>
            <a:r>
              <a:rPr lang="en-US" dirty="0">
                <a:latin typeface="Times New Roman" panose="02020603050405020304" pitchFamily="18" charset="0"/>
                <a:cs typeface="Times New Roman" panose="02020603050405020304" pitchFamily="18" charset="0"/>
              </a:rPr>
              <a:t> Learning is the improvement of performance with experience over time. </a:t>
            </a:r>
          </a:p>
          <a:p>
            <a:r>
              <a:rPr lang="en-US" dirty="0">
                <a:latin typeface="Times New Roman" panose="02020603050405020304" pitchFamily="18" charset="0"/>
                <a:cs typeface="Times New Roman" panose="02020603050405020304" pitchFamily="18" charset="0"/>
              </a:rPr>
              <a:t> Learning element is the portion of a learning AI system that decides how to modify the performance element and implements those modifications. </a:t>
            </a:r>
          </a:p>
          <a:p>
            <a:r>
              <a:rPr lang="en-US" dirty="0">
                <a:latin typeface="Times New Roman" panose="02020603050405020304" pitchFamily="18" charset="0"/>
                <a:cs typeface="Times New Roman" panose="02020603050405020304" pitchFamily="18" charset="0"/>
              </a:rPr>
              <a:t>From a technical/mathematical standpoint, AI learning processes focused on processing a collection of input-output pairs for a specific function and predict the outputs for new inputs. Most of the artificial intelligence (AI) basic literature identifies two main groups of learning models: supervised and unsupervised. However, that classification is an oversimplification of real world AI learning models and techniques. </a:t>
            </a:r>
          </a:p>
          <a:p>
            <a:r>
              <a:rPr lang="en-US" dirty="0">
                <a:latin typeface="Times New Roman" panose="02020603050405020304" pitchFamily="18" charset="0"/>
                <a:cs typeface="Times New Roman" panose="02020603050405020304" pitchFamily="18" charset="0"/>
              </a:rPr>
              <a:t>To understand the different types of AI learning models, we can use two of the main elements of human learning processes: knowledge and feedback. From the knowledge perspective, learning models can be classified based on the representation of input and output data points. </a:t>
            </a:r>
          </a:p>
          <a:p>
            <a:endParaRPr lang="en-IN" dirty="0"/>
          </a:p>
        </p:txBody>
      </p:sp>
    </p:spTree>
    <p:extLst>
      <p:ext uri="{BB962C8B-B14F-4D97-AF65-F5344CB8AC3E}">
        <p14:creationId xmlns:p14="http://schemas.microsoft.com/office/powerpoint/2010/main" val="2455827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17458-B4EA-67D8-6B3B-85BD3C7D1887}"/>
              </a:ext>
            </a:extLst>
          </p:cNvPr>
          <p:cNvSpPr>
            <a:spLocks noGrp="1"/>
          </p:cNvSpPr>
          <p:nvPr>
            <p:ph type="title"/>
          </p:nvPr>
        </p:nvSpPr>
        <p:spPr/>
        <p:txBody>
          <a:bodyPr/>
          <a:lstStyle/>
          <a:p>
            <a:pPr algn="ctr"/>
            <a:br>
              <a:rPr lang="en-IN" dirty="0"/>
            </a:br>
            <a:r>
              <a:rPr lang="en-IN" dirty="0"/>
              <a:t> </a:t>
            </a:r>
            <a:r>
              <a:rPr lang="en-IN" b="1" dirty="0">
                <a:latin typeface="Times New Roman" panose="02020603050405020304" pitchFamily="18" charset="0"/>
                <a:cs typeface="Times New Roman" panose="02020603050405020304" pitchFamily="18" charset="0"/>
              </a:rPr>
              <a:t>AI LEARNING MODELS </a:t>
            </a:r>
          </a:p>
        </p:txBody>
      </p:sp>
      <p:sp>
        <p:nvSpPr>
          <p:cNvPr id="3" name="Content Placeholder 2">
            <a:extLst>
              <a:ext uri="{FF2B5EF4-FFF2-40B4-BE49-F238E27FC236}">
                <a16:creationId xmlns:a16="http://schemas.microsoft.com/office/drawing/2014/main" id="{80AE317F-BA1C-F013-B594-E51146D3BF0F}"/>
              </a:ext>
            </a:extLst>
          </p:cNvPr>
          <p:cNvSpPr>
            <a:spLocks noGrp="1"/>
          </p:cNvSpPr>
          <p:nvPr>
            <p:ph idx="1"/>
          </p:nvPr>
        </p:nvSpPr>
        <p:spPr>
          <a:xfrm>
            <a:off x="2589212" y="2133599"/>
            <a:ext cx="8915400" cy="4591666"/>
          </a:xfrm>
        </p:spPr>
        <p:txBody>
          <a:bodyPr>
            <a:normAutofit fontScale="55000" lnSpcReduction="20000"/>
          </a:bodyPr>
          <a:lstStyle/>
          <a:p>
            <a:endParaRPr lang="en-IN" dirty="0"/>
          </a:p>
          <a:p>
            <a:pPr marL="0" indent="0">
              <a:buNone/>
            </a:pPr>
            <a:r>
              <a:rPr lang="en-IN" sz="2400" dirty="0">
                <a:latin typeface="Times New Roman" panose="02020603050405020304" pitchFamily="18" charset="0"/>
                <a:cs typeface="Times New Roman" panose="02020603050405020304" pitchFamily="18" charset="0"/>
              </a:rPr>
              <a:t> </a:t>
            </a:r>
            <a:r>
              <a:rPr lang="en-IN" sz="2900" b="1" dirty="0">
                <a:latin typeface="Times New Roman" panose="02020603050405020304" pitchFamily="18" charset="0"/>
                <a:cs typeface="Times New Roman" panose="02020603050405020304" pitchFamily="18" charset="0"/>
              </a:rPr>
              <a:t>Supervised Machine Learning: </a:t>
            </a:r>
          </a:p>
          <a:p>
            <a:pPr marL="0" indent="0">
              <a:buNone/>
            </a:pPr>
            <a:endParaRPr lang="en-IN" sz="2900" b="1" dirty="0">
              <a:latin typeface="Times New Roman" panose="02020603050405020304" pitchFamily="18" charset="0"/>
              <a:cs typeface="Times New Roman" panose="02020603050405020304" pitchFamily="18" charset="0"/>
            </a:endParaRPr>
          </a:p>
          <a:p>
            <a:r>
              <a:rPr lang="en-US" sz="2500" dirty="0">
                <a:latin typeface="Times New Roman" panose="02020603050405020304" pitchFamily="18" charset="0"/>
                <a:cs typeface="Times New Roman" panose="02020603050405020304" pitchFamily="18" charset="0"/>
              </a:rPr>
              <a:t>In Supervised machine learning, the machine mainly focuses on regression and classification types of problems. </a:t>
            </a:r>
          </a:p>
          <a:p>
            <a:r>
              <a:rPr lang="en-US" sz="2500" dirty="0">
                <a:latin typeface="Times New Roman" panose="02020603050405020304" pitchFamily="18" charset="0"/>
                <a:cs typeface="Times New Roman" panose="02020603050405020304" pitchFamily="18" charset="0"/>
              </a:rPr>
              <a:t>We know the correct output and relationship with input and output in this phase. It deals with labeled datasets and algorithms. </a:t>
            </a:r>
          </a:p>
          <a:p>
            <a:r>
              <a:rPr lang="en-US" sz="2500" dirty="0">
                <a:latin typeface="Times New Roman" panose="02020603050405020304" pitchFamily="18" charset="0"/>
                <a:cs typeface="Times New Roman" panose="02020603050405020304" pitchFamily="18" charset="0"/>
              </a:rPr>
              <a:t>In supervised learning, the machine gets the last calculated data on the machine, also be called “target data”. It includes the data and the result. </a:t>
            </a:r>
          </a:p>
          <a:p>
            <a:r>
              <a:rPr lang="en-US" sz="2500" dirty="0">
                <a:latin typeface="Times New Roman" panose="02020603050405020304" pitchFamily="18" charset="0"/>
                <a:cs typeface="Times New Roman" panose="02020603050405020304" pitchFamily="18" charset="0"/>
              </a:rPr>
              <a:t>The models are stored in the machines to make the prediction. There are two major processes </a:t>
            </a:r>
          </a:p>
          <a:p>
            <a:pPr marL="0" indent="0">
              <a:buNone/>
            </a:pPr>
            <a:r>
              <a:rPr lang="en-US" sz="2500" b="1" dirty="0">
                <a:latin typeface="Times New Roman" panose="02020603050405020304" pitchFamily="18" charset="0"/>
                <a:cs typeface="Times New Roman" panose="02020603050405020304" pitchFamily="18" charset="0"/>
              </a:rPr>
              <a:t>Classification</a:t>
            </a:r>
            <a:r>
              <a:rPr lang="en-US" sz="2500" dirty="0">
                <a:latin typeface="Times New Roman" panose="02020603050405020304" pitchFamily="18" charset="0"/>
                <a:cs typeface="Times New Roman" panose="02020603050405020304" pitchFamily="18" charset="0"/>
              </a:rPr>
              <a:t> is the process in which the input data is labeled on the basis of past data experiences. Machines are also trained with algorithms about the data format. </a:t>
            </a:r>
          </a:p>
          <a:p>
            <a:r>
              <a:rPr lang="en-US" sz="2500" dirty="0">
                <a:latin typeface="Times New Roman" panose="02020603050405020304" pitchFamily="18" charset="0"/>
                <a:cs typeface="Times New Roman" panose="02020603050405020304" pitchFamily="18" charset="0"/>
              </a:rPr>
              <a:t>The algorithms specify the format to recognize by the machine. It identifies a unique class whether it has discrete or </a:t>
            </a:r>
            <a:r>
              <a:rPr lang="en-US" sz="2500" dirty="0" err="1">
                <a:latin typeface="Times New Roman" panose="02020603050405020304" pitchFamily="18" charset="0"/>
                <a:cs typeface="Times New Roman" panose="02020603050405020304" pitchFamily="18" charset="0"/>
              </a:rPr>
              <a:t>boolean</a:t>
            </a:r>
            <a:r>
              <a:rPr lang="en-US" sz="2500" dirty="0">
                <a:latin typeface="Times New Roman" panose="02020603050405020304" pitchFamily="18" charset="0"/>
                <a:cs typeface="Times New Roman" panose="02020603050405020304" pitchFamily="18" charset="0"/>
              </a:rPr>
              <a:t> value. The example of classification is weather forecasting, and specify tomorrow will be hot or cold. </a:t>
            </a:r>
          </a:p>
          <a:p>
            <a:pPr marL="0" indent="0">
              <a:buNone/>
            </a:pPr>
            <a:r>
              <a:rPr lang="en-US" sz="2500" b="1" dirty="0">
                <a:latin typeface="Times New Roman" panose="02020603050405020304" pitchFamily="18" charset="0"/>
                <a:cs typeface="Times New Roman" panose="02020603050405020304" pitchFamily="18" charset="0"/>
              </a:rPr>
              <a:t>Regression</a:t>
            </a:r>
            <a:r>
              <a:rPr lang="en-US" sz="2500" dirty="0">
                <a:latin typeface="Times New Roman" panose="02020603050405020304" pitchFamily="18" charset="0"/>
                <a:cs typeface="Times New Roman" panose="02020603050405020304" pitchFamily="18" charset="0"/>
              </a:rPr>
              <a:t> is the process to identify the labeled data and calculate the results on the basis of prediction. The machine has the ability to learn the data and display real-valued results. These results are based on independent values </a:t>
            </a:r>
          </a:p>
          <a:p>
            <a:r>
              <a:rPr lang="en-US" sz="2500" dirty="0">
                <a:latin typeface="Times New Roman" panose="02020603050405020304" pitchFamily="18" charset="0"/>
                <a:cs typeface="Times New Roman" panose="02020603050405020304" pitchFamily="18" charset="0"/>
              </a:rPr>
              <a:t>Example of Regression: A human picture is given to a common man to identify the gender of the person in the picture. Another example, prediction of temperature on tomorrow on the basis of past data. </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4877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6A558-D3EB-10C4-5AE1-C10A824820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BA6BB-646B-2745-1080-AAFE540DE881}"/>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66585EB1-3566-987C-8C9F-C3CCC31A1B66}"/>
              </a:ext>
            </a:extLst>
          </p:cNvPr>
          <p:cNvSpPr txBox="1"/>
          <p:nvPr/>
        </p:nvSpPr>
        <p:spPr>
          <a:xfrm>
            <a:off x="2592925" y="2081925"/>
            <a:ext cx="8682293" cy="4308872"/>
          </a:xfrm>
          <a:prstGeom prst="rect">
            <a:avLst/>
          </a:prstGeom>
          <a:noFill/>
        </p:spPr>
        <p:txBody>
          <a:bodyPr wrap="square">
            <a:spAutoFit/>
          </a:bodyPr>
          <a:lstStyle/>
          <a:p>
            <a:r>
              <a:rPr lang="en-IN" sz="2000" b="0" i="0" u="none" strike="noStrike" baseline="0" dirty="0">
                <a:solidFill>
                  <a:srgbClr val="000000"/>
                </a:solidFill>
                <a:latin typeface="Times New Roman" panose="02020603050405020304" pitchFamily="18" charset="0"/>
              </a:rPr>
              <a:t> </a:t>
            </a:r>
            <a:r>
              <a:rPr lang="en-IN" sz="1400" b="1" i="0" u="none" strike="noStrike" baseline="0" dirty="0">
                <a:solidFill>
                  <a:srgbClr val="000000"/>
                </a:solidFill>
                <a:latin typeface="Times New Roman" panose="02020603050405020304" pitchFamily="18" charset="0"/>
              </a:rPr>
              <a:t>Unsupervised Machine Learning </a:t>
            </a:r>
          </a:p>
          <a:p>
            <a:endParaRPr lang="en-IN" sz="1400" b="0" i="0" u="none" strike="noStrike" baseline="0" dirty="0">
              <a:solidFill>
                <a:srgbClr val="000000"/>
              </a:solidFill>
              <a:latin typeface="Times New Roman" panose="02020603050405020304" pitchFamily="18" charset="0"/>
            </a:endParaRPr>
          </a:p>
          <a:p>
            <a:pPr marL="285750" indent="-285750">
              <a:buFont typeface="Wingdings" panose="05000000000000000000" pitchFamily="2" charset="2"/>
              <a:buChar char="Ø"/>
            </a:pPr>
            <a:r>
              <a:rPr lang="en-US" sz="1600" b="0" i="0" u="none" strike="noStrike" baseline="0" dirty="0">
                <a:solidFill>
                  <a:srgbClr val="000000"/>
                </a:solidFill>
                <a:latin typeface="Times New Roman" panose="02020603050405020304" pitchFamily="18" charset="0"/>
              </a:rPr>
              <a:t>The unsupervised machine learning is totally opposite to supervised machine learning. </a:t>
            </a:r>
          </a:p>
          <a:p>
            <a:pPr marL="285750" indent="-285750">
              <a:buFont typeface="Wingdings" panose="05000000000000000000" pitchFamily="2" charset="2"/>
              <a:buChar char="Ø"/>
            </a:pPr>
            <a:r>
              <a:rPr lang="en-US" sz="1600" b="0" i="0" u="none" strike="noStrike" baseline="0" dirty="0">
                <a:solidFill>
                  <a:srgbClr val="000000"/>
                </a:solidFill>
                <a:latin typeface="Times New Roman" panose="02020603050405020304" pitchFamily="18" charset="0"/>
              </a:rPr>
              <a:t>In this type of learning, the results are unknown and to be defined. It uses unlabeled data for machine learning. We have no idea which types of results are expected. </a:t>
            </a:r>
          </a:p>
          <a:p>
            <a:pPr marL="285750" indent="-285750">
              <a:buFont typeface="Wingdings" panose="05000000000000000000" pitchFamily="2" charset="2"/>
              <a:buChar char="Ø"/>
            </a:pPr>
            <a:r>
              <a:rPr lang="en-US" sz="1600" b="0" i="0" u="none" strike="noStrike" baseline="0" dirty="0">
                <a:solidFill>
                  <a:srgbClr val="000000"/>
                </a:solidFill>
                <a:latin typeface="Times New Roman" panose="02020603050405020304" pitchFamily="18" charset="0"/>
              </a:rPr>
              <a:t>In this model, the machine observes the algorithms and finds the structure of data. It has less computational complexity and uses real-time analysis of data through this model. </a:t>
            </a:r>
          </a:p>
          <a:p>
            <a:pPr marL="285750" indent="-285750">
              <a:buFont typeface="Wingdings" panose="05000000000000000000" pitchFamily="2" charset="2"/>
              <a:buChar char="Ø"/>
            </a:pPr>
            <a:r>
              <a:rPr lang="en-US" sz="1600" b="0" i="0" u="none" strike="noStrike" baseline="0" dirty="0">
                <a:solidFill>
                  <a:srgbClr val="000000"/>
                </a:solidFill>
                <a:latin typeface="Times New Roman" panose="02020603050405020304" pitchFamily="18" charset="0"/>
              </a:rPr>
              <a:t>The results are very reliable when compared to supervised learning. For example, we present images of fruits to this model; this model makes clusters and separates them on the basis of a given pattern and relationships. </a:t>
            </a:r>
          </a:p>
          <a:p>
            <a:r>
              <a:rPr lang="en-IN" sz="1600" b="0" i="0" u="none" strike="noStrike" baseline="0" dirty="0">
                <a:solidFill>
                  <a:srgbClr val="000000"/>
                </a:solidFill>
                <a:latin typeface="Times New Roman" panose="02020603050405020304" pitchFamily="18" charset="0"/>
              </a:rPr>
              <a:t>There are two types </a:t>
            </a:r>
          </a:p>
          <a:p>
            <a:r>
              <a:rPr lang="en-IN" sz="1600" b="1" i="0" u="none" strike="noStrike" baseline="0" dirty="0">
                <a:solidFill>
                  <a:srgbClr val="000000"/>
                </a:solidFill>
                <a:latin typeface="Times New Roman" panose="02020603050405020304" pitchFamily="18" charset="0"/>
              </a:rPr>
              <a:t>Clustering </a:t>
            </a:r>
            <a:endParaRPr lang="en-IN" sz="1600" b="0" i="0" u="none" strike="noStrike" baseline="0" dirty="0">
              <a:solidFill>
                <a:srgbClr val="000000"/>
              </a:solidFill>
              <a:latin typeface="Times New Roman" panose="02020603050405020304" pitchFamily="18" charset="0"/>
            </a:endParaRPr>
          </a:p>
          <a:p>
            <a:r>
              <a:rPr lang="en-US" sz="1600" b="0" i="0" u="none" strike="noStrike" baseline="0" dirty="0">
                <a:solidFill>
                  <a:srgbClr val="000000"/>
                </a:solidFill>
                <a:latin typeface="Times New Roman" panose="02020603050405020304" pitchFamily="18" charset="0"/>
              </a:rPr>
              <a:t>In clustering, data is found in segments and meaningful groups. It is based in small groups. These groups have their own patterns through which data is arranged and segmented. </a:t>
            </a:r>
          </a:p>
          <a:p>
            <a:r>
              <a:rPr lang="en-IN" sz="1600" b="1" i="0" u="none" strike="noStrike" baseline="0" dirty="0">
                <a:solidFill>
                  <a:srgbClr val="000000"/>
                </a:solidFill>
                <a:latin typeface="Times New Roman" panose="02020603050405020304" pitchFamily="18" charset="0"/>
              </a:rPr>
              <a:t>Dimensionality Reduction </a:t>
            </a:r>
            <a:endParaRPr lang="en-IN" sz="1600" b="0" i="0" u="none" strike="noStrike" baseline="0" dirty="0">
              <a:solidFill>
                <a:srgbClr val="000000"/>
              </a:solidFill>
              <a:latin typeface="Times New Roman" panose="02020603050405020304" pitchFamily="18" charset="0"/>
            </a:endParaRPr>
          </a:p>
          <a:p>
            <a:r>
              <a:rPr lang="en-US" sz="1600" b="0" i="0" u="none" strike="noStrike" baseline="0" dirty="0">
                <a:solidFill>
                  <a:srgbClr val="000000"/>
                </a:solidFill>
                <a:latin typeface="Times New Roman" panose="02020603050405020304" pitchFamily="18" charset="0"/>
              </a:rPr>
              <a:t>The unnecessary data is removed in this phase. In unsupervised-machine, algorithms remove unnecessary data to summaries the distribution of data in groups. </a:t>
            </a:r>
            <a:endParaRPr lang="en-IN" sz="1600" dirty="0"/>
          </a:p>
        </p:txBody>
      </p:sp>
    </p:spTree>
    <p:extLst>
      <p:ext uri="{BB962C8B-B14F-4D97-AF65-F5344CB8AC3E}">
        <p14:creationId xmlns:p14="http://schemas.microsoft.com/office/powerpoint/2010/main" val="3931478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9D6D8-978C-7E71-DF76-F7F76E4C6F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A5A5D06-9782-8244-D13E-43D04AF3155F}"/>
              </a:ext>
            </a:extLst>
          </p:cNvPr>
          <p:cNvSpPr>
            <a:spLocks noGrp="1"/>
          </p:cNvSpPr>
          <p:nvPr>
            <p:ph idx="1"/>
          </p:nvPr>
        </p:nvSpPr>
        <p:spPr/>
        <p:txBody>
          <a:bodyPr>
            <a:normAutofit/>
          </a:bodyPr>
          <a:lstStyle/>
          <a:p>
            <a:endParaRPr lang="en-IN" dirty="0"/>
          </a:p>
          <a:p>
            <a:pPr marL="0" indent="0">
              <a:lnSpc>
                <a:spcPct val="90000"/>
              </a:lnSpc>
              <a:buNone/>
            </a:pPr>
            <a:r>
              <a:rPr lang="en-IN" sz="1600" b="1" dirty="0">
                <a:latin typeface="Times New Roman" panose="02020603050405020304" pitchFamily="18" charset="0"/>
                <a:cs typeface="Times New Roman" panose="02020603050405020304" pitchFamily="18" charset="0"/>
              </a:rPr>
              <a:t>Reinforcement Machine Learning </a:t>
            </a:r>
          </a:p>
          <a:p>
            <a:pPr marL="0" indent="0">
              <a:lnSpc>
                <a:spcPct val="90000"/>
              </a:lnSpc>
              <a:buNone/>
            </a:pPr>
            <a:endParaRPr lang="en-IN" sz="1600" b="1" dirty="0">
              <a:latin typeface="Times New Roman" panose="02020603050405020304" pitchFamily="18" charset="0"/>
              <a:cs typeface="Times New Roman" panose="02020603050405020304" pitchFamily="18" charset="0"/>
            </a:endParaRPr>
          </a:p>
          <a:p>
            <a:pPr>
              <a:lnSpc>
                <a:spcPct val="90000"/>
              </a:lnSpc>
            </a:pPr>
            <a:r>
              <a:rPr lang="en-US" sz="1600" dirty="0">
                <a:latin typeface="Times New Roman" panose="02020603050405020304" pitchFamily="18" charset="0"/>
                <a:cs typeface="Times New Roman" panose="02020603050405020304" pitchFamily="18" charset="0"/>
              </a:rPr>
              <a:t>There are no training data sets. The machine has a special software. It works as an agent with the environment to get feedback. </a:t>
            </a:r>
          </a:p>
          <a:p>
            <a:pPr>
              <a:lnSpc>
                <a:spcPct val="90000"/>
              </a:lnSpc>
            </a:pPr>
            <a:r>
              <a:rPr lang="en-US" sz="1600" dirty="0">
                <a:latin typeface="Times New Roman" panose="02020603050405020304" pitchFamily="18" charset="0"/>
                <a:cs typeface="Times New Roman" panose="02020603050405020304" pitchFamily="18" charset="0"/>
              </a:rPr>
              <a:t>The environment means there are no training data sets. The work of an agent is to achieve the target and get the required feedback. </a:t>
            </a:r>
          </a:p>
          <a:p>
            <a:pPr>
              <a:lnSpc>
                <a:spcPct val="90000"/>
              </a:lnSpc>
            </a:pPr>
            <a:r>
              <a:rPr lang="en-US" sz="1600" dirty="0">
                <a:latin typeface="Times New Roman" panose="02020603050405020304" pitchFamily="18" charset="0"/>
                <a:cs typeface="Times New Roman" panose="02020603050405020304" pitchFamily="18" charset="0"/>
              </a:rPr>
              <a:t>An example of a reinforcement learning problem is playing game. In which an agent has a set of goals to get high score and feedback in terms of punishment and rewards while playing. </a:t>
            </a:r>
          </a:p>
          <a:p>
            <a:pPr>
              <a:lnSpc>
                <a:spcPct val="90000"/>
              </a:lnSpc>
            </a:pPr>
            <a:r>
              <a:rPr lang="en-US" sz="1600" dirty="0">
                <a:latin typeface="Times New Roman" panose="02020603050405020304" pitchFamily="18" charset="0"/>
                <a:cs typeface="Times New Roman" panose="02020603050405020304" pitchFamily="18" charset="0"/>
              </a:rPr>
              <a:t>We all learn new knowledge through different methods, depending on the type of material to be learned, the amount of relevant knowledge we already possess, and the environment in which the learning takes place. </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4747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82811-45A8-8A1F-DC26-800625110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A400C6-7014-6B86-9E32-A104DEC91C42}"/>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METHODS OF LEARNING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76EC48-BB29-B096-0580-95458A12BED3}"/>
              </a:ext>
            </a:extLst>
          </p:cNvPr>
          <p:cNvSpPr>
            <a:spLocks noGrp="1"/>
          </p:cNvSpPr>
          <p:nvPr>
            <p:ph idx="1"/>
          </p:nvPr>
        </p:nvSpPr>
        <p:spPr>
          <a:xfrm>
            <a:off x="2589212" y="2133600"/>
            <a:ext cx="8915400" cy="4100290"/>
          </a:xfrm>
        </p:spPr>
        <p:txBody>
          <a:bodyPr>
            <a:normAutofit fontScale="55000" lnSpcReduction="20000"/>
          </a:bodyPr>
          <a:lstStyle/>
          <a:p>
            <a:pPr marL="0" indent="0">
              <a:buNone/>
            </a:pPr>
            <a:r>
              <a:rPr lang="en-US" sz="2600" dirty="0">
                <a:latin typeface="Times New Roman" panose="02020603050405020304" pitchFamily="18" charset="0"/>
                <a:cs typeface="Times New Roman" panose="02020603050405020304" pitchFamily="18" charset="0"/>
              </a:rPr>
              <a:t>There are five methods of learning. They are, </a:t>
            </a:r>
          </a:p>
          <a:p>
            <a:pPr marL="0" indent="0">
              <a:buNone/>
            </a:pPr>
            <a:r>
              <a:rPr lang="en-IN" sz="2600" dirty="0">
                <a:latin typeface="Times New Roman" panose="02020603050405020304" pitchFamily="18" charset="0"/>
                <a:cs typeface="Times New Roman" panose="02020603050405020304" pitchFamily="18" charset="0"/>
              </a:rPr>
              <a:t>1. </a:t>
            </a:r>
            <a:r>
              <a:rPr lang="en-IN" sz="2600" b="1" dirty="0">
                <a:latin typeface="Times New Roman" panose="02020603050405020304" pitchFamily="18" charset="0"/>
                <a:cs typeface="Times New Roman" panose="02020603050405020304" pitchFamily="18" charset="0"/>
              </a:rPr>
              <a:t>Memorization</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Learning by memorizations is the simplest form of learning. It requires the least amount of inference and is accomplished by simply copying the knowledge in the same form that it will be used directly into the knowledge base. Example: Memorizing multiplication tables, formulate, etc. </a:t>
            </a:r>
          </a:p>
          <a:p>
            <a:pPr marL="0" indent="0">
              <a:buNone/>
            </a:pPr>
            <a:r>
              <a:rPr lang="en-US" sz="2600" dirty="0">
                <a:latin typeface="Times New Roman" panose="02020603050405020304" pitchFamily="18" charset="0"/>
                <a:cs typeface="Times New Roman" panose="02020603050405020304" pitchFamily="18" charset="0"/>
              </a:rPr>
              <a:t>2. </a:t>
            </a:r>
            <a:r>
              <a:rPr lang="en-US" sz="2600" b="1" dirty="0">
                <a:latin typeface="Times New Roman" panose="02020603050405020304" pitchFamily="18" charset="0"/>
                <a:cs typeface="Times New Roman" panose="02020603050405020304" pitchFamily="18" charset="0"/>
              </a:rPr>
              <a:t>Direct instruction </a:t>
            </a:r>
            <a:r>
              <a:rPr lang="en-US" sz="2600" dirty="0">
                <a:latin typeface="Times New Roman" panose="02020603050405020304" pitchFamily="18" charset="0"/>
                <a:cs typeface="Times New Roman" panose="02020603050405020304" pitchFamily="18" charset="0"/>
              </a:rPr>
              <a:t>is a complex form of learning. This type of learning requires more inference than role learning since the knowledge must be transformed into an operational form before learning when a teacher presents a number of facts directly to us in a well organized manner. </a:t>
            </a:r>
          </a:p>
          <a:p>
            <a:pPr marL="0" indent="0">
              <a:buNone/>
            </a:pPr>
            <a:r>
              <a:rPr lang="en-US" sz="2600" dirty="0">
                <a:latin typeface="Times New Roman" panose="02020603050405020304" pitchFamily="18" charset="0"/>
                <a:cs typeface="Times New Roman" panose="02020603050405020304" pitchFamily="18" charset="0"/>
              </a:rPr>
              <a:t>3. </a:t>
            </a:r>
            <a:r>
              <a:rPr lang="en-US" sz="2600" b="1" dirty="0">
                <a:latin typeface="Times New Roman" panose="02020603050405020304" pitchFamily="18" charset="0"/>
                <a:cs typeface="Times New Roman" panose="02020603050405020304" pitchFamily="18" charset="0"/>
              </a:rPr>
              <a:t>Analogical learning </a:t>
            </a:r>
            <a:r>
              <a:rPr lang="en-US" sz="2600" dirty="0">
                <a:latin typeface="Times New Roman" panose="02020603050405020304" pitchFamily="18" charset="0"/>
                <a:cs typeface="Times New Roman" panose="02020603050405020304" pitchFamily="18" charset="0"/>
              </a:rPr>
              <a:t>is the process of learning a new concept or solution through the use of similar known concepts or solutions. We use this type of learning when solving problems on an exam where previously learned examples serve as a guide or when make frequent use of analogical learning. This form of learning requires still more inferring than either of the previous forms. Since difficult transformations must be made between the known and unknown situations. </a:t>
            </a:r>
          </a:p>
          <a:p>
            <a:pPr marL="0" indent="0">
              <a:buNone/>
            </a:pPr>
            <a:r>
              <a:rPr lang="en-US" sz="2600" dirty="0">
                <a:latin typeface="Times New Roman" panose="02020603050405020304" pitchFamily="18" charset="0"/>
                <a:cs typeface="Times New Roman" panose="02020603050405020304" pitchFamily="18" charset="0"/>
              </a:rPr>
              <a:t>4. </a:t>
            </a:r>
            <a:r>
              <a:rPr lang="en-US" sz="2600" b="1" dirty="0">
                <a:latin typeface="Times New Roman" panose="02020603050405020304" pitchFamily="18" charset="0"/>
                <a:cs typeface="Times New Roman" panose="02020603050405020304" pitchFamily="18" charset="0"/>
              </a:rPr>
              <a:t>Learning by induction </a:t>
            </a:r>
            <a:r>
              <a:rPr lang="en-US" sz="2600" dirty="0">
                <a:latin typeface="Times New Roman" panose="02020603050405020304" pitchFamily="18" charset="0"/>
                <a:cs typeface="Times New Roman" panose="02020603050405020304" pitchFamily="18" charset="0"/>
              </a:rPr>
              <a:t>is also one that is used frequently by humans. It is a powerful form of learning like analogical learning which also require s more inferring than the first two methods. This learning requires the use of inductive inference, a form of invalid but useful inference. We use inductive learning of instances of examples of the concept. For example we learn the concepts of color or sweet taste after experiencing the sensations associated with several examples of colored objects or sweet foods. </a:t>
            </a:r>
          </a:p>
          <a:p>
            <a:pPr marL="0" indent="0">
              <a:buNone/>
            </a:pPr>
            <a:r>
              <a:rPr lang="en-US" sz="2600" dirty="0">
                <a:latin typeface="Times New Roman" panose="02020603050405020304" pitchFamily="18" charset="0"/>
                <a:cs typeface="Times New Roman" panose="02020603050405020304" pitchFamily="18" charset="0"/>
              </a:rPr>
              <a:t>5. </a:t>
            </a:r>
            <a:r>
              <a:rPr lang="en-US" sz="2600" b="1" dirty="0">
                <a:latin typeface="Times New Roman" panose="02020603050405020304" pitchFamily="18" charset="0"/>
                <a:cs typeface="Times New Roman" panose="02020603050405020304" pitchFamily="18" charset="0"/>
              </a:rPr>
              <a:t>Deductive learning </a:t>
            </a:r>
            <a:r>
              <a:rPr lang="en-US" sz="2600" dirty="0">
                <a:latin typeface="Times New Roman" panose="02020603050405020304" pitchFamily="18" charset="0"/>
                <a:cs typeface="Times New Roman" panose="02020603050405020304" pitchFamily="18" charset="0"/>
              </a:rPr>
              <a:t>is accomplished through a sequence of deductive inference steps using known facts. From the known facts, new facts or relationships are logically derived. Deductive learning usually requires more inference than the other methods. </a:t>
            </a:r>
          </a:p>
          <a:p>
            <a:endParaRPr lang="en-IN" dirty="0"/>
          </a:p>
        </p:txBody>
      </p:sp>
    </p:spTree>
    <p:extLst>
      <p:ext uri="{BB962C8B-B14F-4D97-AF65-F5344CB8AC3E}">
        <p14:creationId xmlns:p14="http://schemas.microsoft.com/office/powerpoint/2010/main" val="1552601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14B1C-FCCB-7F35-5B46-4FD4DFDF8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096F8-1EC2-DFF7-25DA-1D948B1CD896}"/>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ROTE LEARNING</a:t>
            </a:r>
          </a:p>
        </p:txBody>
      </p:sp>
      <p:sp>
        <p:nvSpPr>
          <p:cNvPr id="3" name="Content Placeholder 2">
            <a:extLst>
              <a:ext uri="{FF2B5EF4-FFF2-40B4-BE49-F238E27FC236}">
                <a16:creationId xmlns:a16="http://schemas.microsoft.com/office/drawing/2014/main" id="{E9A005C9-51FD-CB38-44B0-F0EC5CFCEA8A}"/>
              </a:ext>
            </a:extLst>
          </p:cNvPr>
          <p:cNvSpPr>
            <a:spLocks noGrp="1"/>
          </p:cNvSpPr>
          <p:nvPr>
            <p:ph idx="1"/>
          </p:nvPr>
        </p:nvSpPr>
        <p:spPr>
          <a:xfrm>
            <a:off x="2589212" y="1757238"/>
            <a:ext cx="8915400" cy="4153984"/>
          </a:xfrm>
        </p:spPr>
        <p:txBody>
          <a:bodyPr>
            <a:normAutofit fontScale="92500" lnSpcReduction="20000"/>
          </a:bodyPr>
          <a:lstStyle/>
          <a:p>
            <a:endParaRPr lang="en-IN" dirty="0"/>
          </a:p>
          <a:p>
            <a:r>
              <a:rPr lang="en-US" sz="1400" dirty="0">
                <a:latin typeface="Times New Roman" panose="02020603050405020304" pitchFamily="18" charset="0"/>
                <a:cs typeface="Times New Roman" panose="02020603050405020304" pitchFamily="18" charset="0"/>
              </a:rPr>
              <a:t>Rote learning is possible on the basis of memorization. </a:t>
            </a:r>
            <a:endParaRPr lang="en-IN" dirty="0"/>
          </a:p>
          <a:p>
            <a:r>
              <a:rPr lang="en-US" sz="1400" dirty="0">
                <a:latin typeface="Times New Roman" panose="02020603050405020304" pitchFamily="18" charset="0"/>
                <a:cs typeface="Times New Roman" panose="02020603050405020304" pitchFamily="18" charset="0"/>
              </a:rPr>
              <a:t>This technique mainly focuses on memorization by avoiding the inner complexities. So, it becomes possible for the learner to recall the stored knowledge. </a:t>
            </a:r>
          </a:p>
          <a:p>
            <a:r>
              <a:rPr lang="en-US" sz="1400" dirty="0">
                <a:latin typeface="Times New Roman" panose="02020603050405020304" pitchFamily="18" charset="0"/>
                <a:cs typeface="Times New Roman" panose="02020603050405020304" pitchFamily="18" charset="0"/>
              </a:rPr>
              <a:t>For example: When a learner learns a poem or song by reciting or repeating it, without knowing the actual meaning of the poem or song. </a:t>
            </a:r>
          </a:p>
          <a:p>
            <a:r>
              <a:rPr lang="en-US" sz="1400" dirty="0">
                <a:latin typeface="Times New Roman" panose="02020603050405020304" pitchFamily="18" charset="0"/>
                <a:cs typeface="Times New Roman" panose="02020603050405020304" pitchFamily="18" charset="0"/>
              </a:rPr>
              <a:t>This strategy does not require the learning system to transform or infer knowledge. It is the simplest form of learning. It requires the least amount of inference and is accomplished by simply copying the knowledge in the same form that it will be used directly into the knowledge base. It includes learning my imitation, simple memorization and learning by being performed. </a:t>
            </a:r>
          </a:p>
          <a:p>
            <a:r>
              <a:rPr lang="en-US" sz="1400" dirty="0">
                <a:latin typeface="Times New Roman" panose="02020603050405020304" pitchFamily="18" charset="0"/>
                <a:cs typeface="Times New Roman" panose="02020603050405020304" pitchFamily="18" charset="0"/>
              </a:rPr>
              <a:t>For example we may use this type of learning when we memorize multiplication tables. </a:t>
            </a:r>
          </a:p>
          <a:p>
            <a:r>
              <a:rPr lang="en-US" sz="1400" dirty="0">
                <a:latin typeface="Times New Roman" panose="02020603050405020304" pitchFamily="18" charset="0"/>
                <a:cs typeface="Times New Roman" panose="02020603050405020304" pitchFamily="18" charset="0"/>
              </a:rPr>
              <a:t>In this method we store the previous computed values, for which we do not have for recomputed them later. Also we can say rote learning is one type of existing or base learning. </a:t>
            </a:r>
          </a:p>
          <a:p>
            <a:r>
              <a:rPr lang="en-US" sz="1400" dirty="0">
                <a:latin typeface="Times New Roman" panose="02020603050405020304" pitchFamily="18" charset="0"/>
                <a:cs typeface="Times New Roman" panose="02020603050405020304" pitchFamily="18" charset="0"/>
              </a:rPr>
              <a:t>For example, in our childhood, we have the knowledge that “sun rises in the east”. So in our later stage of learning we can easily memorize the thing. Hence in this context, a system may simply memorize previous solutions and recall them when confronted with the same problem. Generally access of stored value must be faster than it would be to recompute. </a:t>
            </a:r>
          </a:p>
          <a:p>
            <a:r>
              <a:rPr lang="en-US" sz="1400" dirty="0">
                <a:latin typeface="Times New Roman" panose="02020603050405020304" pitchFamily="18" charset="0"/>
                <a:cs typeface="Times New Roman" panose="02020603050405020304" pitchFamily="18" charset="0"/>
              </a:rPr>
              <a:t>Methods like hashing, indexing and sorting can be employed to enable this. </a:t>
            </a:r>
          </a:p>
          <a:p>
            <a:endParaRPr lang="en-US" sz="1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5929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DC938-971F-2C6D-5705-BB7A908B3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7C3D59-56C7-3BCD-9D39-E1B10B4A28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AC72425-CE1D-22CB-A82D-90B61CC61DA9}"/>
              </a:ext>
            </a:extLst>
          </p:cNvPr>
          <p:cNvSpPr>
            <a:spLocks noGrp="1"/>
          </p:cNvSpPr>
          <p:nvPr>
            <p:ph idx="1"/>
          </p:nvPr>
        </p:nvSpPr>
        <p:spPr>
          <a:xfrm>
            <a:off x="2589212" y="2133599"/>
            <a:ext cx="8915400" cy="3957099"/>
          </a:xfrm>
        </p:spPr>
        <p:txBody>
          <a:bodyPr>
            <a:normAutofit fontScale="92500" lnSpcReduction="20000"/>
          </a:bodyPr>
          <a:lstStyle/>
          <a:p>
            <a:endParaRPr lang="en-IN" dirty="0"/>
          </a:p>
          <a:p>
            <a:pPr marL="0" indent="0">
              <a:buNone/>
            </a:pPr>
            <a:r>
              <a:rPr lang="en-US" sz="1500" b="1" dirty="0">
                <a:latin typeface="Times New Roman" panose="02020603050405020304" pitchFamily="18" charset="0"/>
                <a:cs typeface="Times New Roman" panose="02020603050405020304" pitchFamily="18" charset="0"/>
              </a:rPr>
              <a:t>Drawback of rote learning:</a:t>
            </a:r>
          </a:p>
          <a:p>
            <a:pPr marL="0" indent="0">
              <a:buNone/>
            </a:pPr>
            <a:r>
              <a:rPr lang="en-US" sz="1500" dirty="0">
                <a:latin typeface="Times New Roman" panose="02020603050405020304" pitchFamily="18" charset="0"/>
                <a:cs typeface="Times New Roman" panose="02020603050405020304" pitchFamily="18" charset="0"/>
              </a:rPr>
              <a:t>It is not very effective in a rapidly changing environment. If the environment does change then we must detect and record exactly what has changed. Also this technique must not decrease the efficiency of the system. </a:t>
            </a:r>
          </a:p>
          <a:p>
            <a:pPr marL="0" indent="0">
              <a:buNone/>
            </a:pPr>
            <a:r>
              <a:rPr lang="en-US" sz="1500" dirty="0">
                <a:latin typeface="Times New Roman" panose="02020603050405020304" pitchFamily="18" charset="0"/>
                <a:cs typeface="Times New Roman" panose="02020603050405020304" pitchFamily="18" charset="0"/>
              </a:rPr>
              <a:t>We must be able to decide whether it is worth storing the value in the first place. </a:t>
            </a:r>
          </a:p>
          <a:p>
            <a:pPr marL="0" indent="0">
              <a:buNone/>
            </a:pPr>
            <a:endParaRPr lang="en-US" sz="1500"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Example</a:t>
            </a:r>
            <a:r>
              <a:rPr lang="en-US" sz="1500" dirty="0">
                <a:latin typeface="Times New Roman" panose="02020603050405020304" pitchFamily="18" charset="0"/>
                <a:cs typeface="Times New Roman" panose="02020603050405020304" pitchFamily="18" charset="0"/>
              </a:rPr>
              <a:t>: A simple example of rote learning is caching </a:t>
            </a:r>
          </a:p>
          <a:p>
            <a:r>
              <a:rPr lang="en-US" sz="1500" dirty="0">
                <a:latin typeface="Times New Roman" panose="02020603050405020304" pitchFamily="18" charset="0"/>
                <a:cs typeface="Times New Roman" panose="02020603050405020304" pitchFamily="18" charset="0"/>
              </a:rPr>
              <a:t>Store computed values (or large piece of data) </a:t>
            </a:r>
          </a:p>
          <a:p>
            <a:r>
              <a:rPr lang="en-US" sz="1500" dirty="0">
                <a:latin typeface="Times New Roman" panose="02020603050405020304" pitchFamily="18" charset="0"/>
                <a:cs typeface="Times New Roman" panose="02020603050405020304" pitchFamily="18" charset="0"/>
              </a:rPr>
              <a:t>Recall this information when required by computation. </a:t>
            </a:r>
          </a:p>
          <a:p>
            <a:r>
              <a:rPr lang="en-US" sz="1500" dirty="0">
                <a:latin typeface="Times New Roman" panose="02020603050405020304" pitchFamily="18" charset="0"/>
                <a:cs typeface="Times New Roman" panose="02020603050405020304" pitchFamily="18" charset="0"/>
              </a:rPr>
              <a:t>Significant time savings can be achieved. </a:t>
            </a:r>
          </a:p>
          <a:p>
            <a:endParaRPr lang="en-IN" sz="1500"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Example</a:t>
            </a:r>
            <a:r>
              <a:rPr lang="en-US" sz="1500" dirty="0">
                <a:latin typeface="Times New Roman" panose="02020603050405020304" pitchFamily="18" charset="0"/>
                <a:cs typeface="Times New Roman" panose="02020603050405020304" pitchFamily="18" charset="0"/>
              </a:rPr>
              <a:t>: Samuel's Checkers program employed rote learning </a:t>
            </a:r>
          </a:p>
          <a:p>
            <a:r>
              <a:rPr lang="en-US" sz="1500" dirty="0">
                <a:latin typeface="Times New Roman" panose="02020603050405020304" pitchFamily="18" charset="0"/>
                <a:cs typeface="Times New Roman" panose="02020603050405020304" pitchFamily="18" charset="0"/>
              </a:rPr>
              <a:t>Rote learning is basically a simple process. However it does illustrate some issues that are relevant to more complex learning issues. </a:t>
            </a: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3030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E7705-DA6F-E46D-88E8-ECF84A7A53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0DEAA-CE47-5500-740C-3F6BA96A82A7}"/>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LEARNING BY TAKING ADVICE </a:t>
            </a:r>
          </a:p>
        </p:txBody>
      </p:sp>
      <p:sp>
        <p:nvSpPr>
          <p:cNvPr id="3" name="Content Placeholder 2">
            <a:extLst>
              <a:ext uri="{FF2B5EF4-FFF2-40B4-BE49-F238E27FC236}">
                <a16:creationId xmlns:a16="http://schemas.microsoft.com/office/drawing/2014/main" id="{661182A3-9FC4-DC28-CB87-0DAA11707754}"/>
              </a:ext>
            </a:extLst>
          </p:cNvPr>
          <p:cNvSpPr>
            <a:spLocks noGrp="1"/>
          </p:cNvSpPr>
          <p:nvPr>
            <p:ph idx="1"/>
          </p:nvPr>
        </p:nvSpPr>
        <p:spPr/>
        <p:txBody>
          <a:bodyPr>
            <a:normAutofit fontScale="92500" lnSpcReduction="10000"/>
          </a:bodyPr>
          <a:lstStyle/>
          <a:p>
            <a:endParaRPr lang="en-IN" dirty="0"/>
          </a:p>
          <a:p>
            <a:r>
              <a:rPr lang="en-US" sz="1600" dirty="0">
                <a:latin typeface="Times New Roman" panose="02020603050405020304" pitchFamily="18" charset="0"/>
                <a:cs typeface="Times New Roman" panose="02020603050405020304" pitchFamily="18" charset="0"/>
              </a:rPr>
              <a:t>All most all the initial things and all type of knowledge we acquire through the advices of others. We know the computer programs are written by programmers. When a programmer writes a computer program he or she gives many instructions to computer to follow, the same way a teacher gives his/her advice to his students. The computer follows the instructions given by the programmer. Hence, a kind of learning takes place when computer runs a particular program by taking advice from the creator of the program. </a:t>
            </a:r>
          </a:p>
          <a:p>
            <a:r>
              <a:rPr lang="en-US" sz="1600" dirty="0">
                <a:latin typeface="Times New Roman" panose="02020603050405020304" pitchFamily="18" charset="0"/>
                <a:cs typeface="Times New Roman" panose="02020603050405020304" pitchFamily="18" charset="0"/>
              </a:rPr>
              <a:t>This is a simple form of learning. Suppose a programmer writes a set of instructions to instruct the computer what to do, the programmer is a teacher and the computer is a student. Once learned (i.e. programmed), the system will be in a position to do new things. </a:t>
            </a:r>
          </a:p>
          <a:p>
            <a:r>
              <a:rPr lang="en-US" sz="1600" dirty="0">
                <a:latin typeface="Times New Roman" panose="02020603050405020304" pitchFamily="18" charset="0"/>
                <a:cs typeface="Times New Roman" panose="02020603050405020304" pitchFamily="18" charset="0"/>
              </a:rPr>
              <a:t>The advice may come from many sources: human experts, internet to name a few. This type of learning requires more inference than rote learning. The knowledge must be transformed into an operational form before stored in the knowledge base. Moreover the reliability of the source of knowledge should be considered. </a:t>
            </a:r>
          </a:p>
          <a:p>
            <a:r>
              <a:rPr lang="en-US" sz="1600" dirty="0">
                <a:latin typeface="Times New Roman" panose="02020603050405020304" pitchFamily="18" charset="0"/>
                <a:cs typeface="Times New Roman" panose="02020603050405020304" pitchFamily="18" charset="0"/>
              </a:rPr>
              <a:t>The system should ensure that the new knowledge is conflicting with the existing knowledge. FOO (First Operational </a:t>
            </a:r>
            <a:r>
              <a:rPr lang="en-US" sz="1600" dirty="0" err="1">
                <a:latin typeface="Times New Roman" panose="02020603050405020304" pitchFamily="18" charset="0"/>
                <a:cs typeface="Times New Roman" panose="02020603050405020304" pitchFamily="18" charset="0"/>
              </a:rPr>
              <a:t>Operationaliser</a:t>
            </a:r>
            <a:r>
              <a:rPr lang="en-US" sz="1600" dirty="0">
                <a:latin typeface="Times New Roman" panose="02020603050405020304" pitchFamily="18" charset="0"/>
                <a:cs typeface="Times New Roman" panose="02020603050405020304" pitchFamily="18" charset="0"/>
              </a:rPr>
              <a:t>), for example, is a learning system which is used to learn the game of Hearts. </a:t>
            </a:r>
          </a:p>
          <a:p>
            <a:endParaRPr lang="en-US" sz="1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42749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3578A-7451-BDD1-4B9E-FBBB4AF7D5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67F2C0-2676-4D51-A660-8E64090F0F2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LEARNING IN PROBLEM-SOLVING</a:t>
            </a:r>
          </a:p>
        </p:txBody>
      </p:sp>
      <p:sp>
        <p:nvSpPr>
          <p:cNvPr id="3" name="Content Placeholder 2">
            <a:extLst>
              <a:ext uri="{FF2B5EF4-FFF2-40B4-BE49-F238E27FC236}">
                <a16:creationId xmlns:a16="http://schemas.microsoft.com/office/drawing/2014/main" id="{EC58D85E-7A28-21DE-D8C0-DC8FED04F128}"/>
              </a:ext>
            </a:extLst>
          </p:cNvPr>
          <p:cNvSpPr>
            <a:spLocks noGrp="1"/>
          </p:cNvSpPr>
          <p:nvPr>
            <p:ph idx="1"/>
          </p:nvPr>
        </p:nvSpPr>
        <p:spPr/>
        <p:txBody>
          <a:bodyPr>
            <a:normAutofit/>
          </a:bodyPr>
          <a:lstStyle/>
          <a:p>
            <a:pPr marL="0" indent="0">
              <a:buNone/>
            </a:pPr>
            <a:r>
              <a:rPr lang="en-US" sz="1500" dirty="0">
                <a:latin typeface="Times New Roman" panose="02020603050405020304" pitchFamily="18" charset="0"/>
                <a:cs typeface="Times New Roman" panose="02020603050405020304" pitchFamily="18" charset="0"/>
              </a:rPr>
              <a:t>There are three basic methods in which a system can learn from its own experiences. </a:t>
            </a:r>
          </a:p>
          <a:p>
            <a:pPr>
              <a:buAutoNum type="arabicPeriod"/>
            </a:pPr>
            <a:r>
              <a:rPr lang="en-IN" sz="1500" b="1" dirty="0">
                <a:latin typeface="Times New Roman" panose="02020603050405020304" pitchFamily="18" charset="0"/>
                <a:cs typeface="Times New Roman" panose="02020603050405020304" pitchFamily="18" charset="0"/>
              </a:rPr>
              <a:t>Learning by Parameter Adjustment </a:t>
            </a:r>
          </a:p>
          <a:p>
            <a:r>
              <a:rPr lang="en-US" sz="1500" dirty="0">
                <a:latin typeface="Times New Roman" panose="02020603050405020304" pitchFamily="18" charset="0"/>
                <a:cs typeface="Times New Roman" panose="02020603050405020304" pitchFamily="18" charset="0"/>
              </a:rPr>
              <a:t>Here the learning system relies on evaluation procedure that combines information from several sources into a single summary static. </a:t>
            </a:r>
          </a:p>
          <a:p>
            <a:r>
              <a:rPr lang="en-US" sz="1500" dirty="0">
                <a:latin typeface="Times New Roman" panose="02020603050405020304" pitchFamily="18" charset="0"/>
                <a:cs typeface="Times New Roman" panose="02020603050405020304" pitchFamily="18" charset="0"/>
              </a:rPr>
              <a:t>For example, the factors such as demand and production capacity may be combined into a single score to indicate the chance for increase of production. </a:t>
            </a:r>
          </a:p>
          <a:p>
            <a:r>
              <a:rPr lang="en-US" sz="1500" dirty="0">
                <a:latin typeface="Times New Roman" panose="02020603050405020304" pitchFamily="18" charset="0"/>
                <a:cs typeface="Times New Roman" panose="02020603050405020304" pitchFamily="18" charset="0"/>
              </a:rPr>
              <a:t>But it is difficult to know a priori how much weight should be attached to each factor. </a:t>
            </a:r>
          </a:p>
          <a:p>
            <a:r>
              <a:rPr lang="en-US" sz="1500" dirty="0">
                <a:latin typeface="Times New Roman" panose="02020603050405020304" pitchFamily="18" charset="0"/>
                <a:cs typeface="Times New Roman" panose="02020603050405020304" pitchFamily="18" charset="0"/>
              </a:rPr>
              <a:t>The correct weight can be found by taking some estimate of the correct settings and then allow the program modify its settings based on its experience. </a:t>
            </a:r>
          </a:p>
          <a:p>
            <a:r>
              <a:rPr lang="en-US" sz="1500" dirty="0">
                <a:latin typeface="Times New Roman" panose="02020603050405020304" pitchFamily="18" charset="0"/>
                <a:cs typeface="Times New Roman" panose="02020603050405020304" pitchFamily="18" charset="0"/>
              </a:rPr>
              <a:t>Features that appear to be good predictors of overall success will have their weights increases, while those that do not will have their weights decreased. </a:t>
            </a:r>
          </a:p>
          <a:p>
            <a:r>
              <a:rPr lang="en-US" sz="1500" dirty="0">
                <a:latin typeface="Times New Roman" panose="02020603050405020304" pitchFamily="18" charset="0"/>
                <a:cs typeface="Times New Roman" panose="02020603050405020304" pitchFamily="18" charset="0"/>
              </a:rPr>
              <a:t>This type of learning systems is useful when little knowledge is available. </a:t>
            </a: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8003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D408C-700D-5BD7-1751-3563B65B5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96D2E6-B358-8A7F-69D5-751B66A5A78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A0D83D4-7AC9-0B97-7275-C79CB7C739C7}"/>
              </a:ext>
            </a:extLst>
          </p:cNvPr>
          <p:cNvSpPr>
            <a:spLocks noGrp="1"/>
          </p:cNvSpPr>
          <p:nvPr>
            <p:ph idx="1"/>
          </p:nvPr>
        </p:nvSpPr>
        <p:spPr/>
        <p:txBody>
          <a:bodyPr>
            <a:normAutofit fontScale="92500" lnSpcReduction="10000"/>
          </a:bodyPr>
          <a:lstStyle/>
          <a:p>
            <a:pPr marL="0" indent="0">
              <a:buNone/>
            </a:pPr>
            <a:r>
              <a:rPr lang="en-IN" b="1" dirty="0">
                <a:latin typeface="Times New Roman" panose="02020603050405020304" pitchFamily="18" charset="0"/>
                <a:cs typeface="Times New Roman" panose="02020603050405020304" pitchFamily="18" charset="0"/>
              </a:rPr>
              <a:t>2. Learning by Macro Operators </a:t>
            </a:r>
          </a:p>
          <a:p>
            <a:r>
              <a:rPr lang="en-US" dirty="0">
                <a:latin typeface="Times New Roman" panose="02020603050405020304" pitchFamily="18" charset="0"/>
                <a:cs typeface="Times New Roman" panose="02020603050405020304" pitchFamily="18" charset="0"/>
              </a:rPr>
              <a:t>Sequence of actions that can be treated as a whole are called macro-operators. </a:t>
            </a:r>
          </a:p>
          <a:p>
            <a:r>
              <a:rPr lang="en-US" dirty="0">
                <a:latin typeface="Times New Roman" panose="02020603050405020304" pitchFamily="18" charset="0"/>
                <a:cs typeface="Times New Roman" panose="02020603050405020304" pitchFamily="18" charset="0"/>
              </a:rPr>
              <a:t>Once a problem is solved, the learning component takes the computed plan and stores it as a macro- operator. </a:t>
            </a:r>
          </a:p>
          <a:p>
            <a:r>
              <a:rPr lang="en-US" dirty="0">
                <a:latin typeface="Times New Roman" panose="02020603050405020304" pitchFamily="18" charset="0"/>
                <a:cs typeface="Times New Roman" panose="02020603050405020304" pitchFamily="18" charset="0"/>
              </a:rPr>
              <a:t>The preconditions are the initial conditions of the problem just solved, and its post conditions correspond to the goal just achieved. </a:t>
            </a:r>
          </a:p>
          <a:p>
            <a:r>
              <a:rPr lang="en-US" dirty="0">
                <a:latin typeface="Times New Roman" panose="02020603050405020304" pitchFamily="18" charset="0"/>
                <a:cs typeface="Times New Roman" panose="02020603050405020304" pitchFamily="18" charset="0"/>
              </a:rPr>
              <a:t>The problem solver efficiently uses the knowledge base it gained from its previous experiences. </a:t>
            </a:r>
          </a:p>
          <a:p>
            <a:r>
              <a:rPr lang="en-US" dirty="0">
                <a:latin typeface="Times New Roman" panose="02020603050405020304" pitchFamily="18" charset="0"/>
                <a:cs typeface="Times New Roman" panose="02020603050405020304" pitchFamily="18" charset="0"/>
              </a:rPr>
              <a:t>By generalizing macro-operators the problem solver can even solve different problems. Generalization is done by replacing all the constants in the macro-operators with variables. </a:t>
            </a:r>
          </a:p>
          <a:p>
            <a:r>
              <a:rPr lang="en-US" dirty="0">
                <a:latin typeface="Times New Roman" panose="02020603050405020304" pitchFamily="18" charset="0"/>
                <a:cs typeface="Times New Roman" panose="02020603050405020304" pitchFamily="18" charset="0"/>
              </a:rPr>
              <a:t>The STRIPS, for example, is a planning algorithm that employed macro-operators in its learning phase. It builds a macro operator MACROP, which contains preconditions, post conditions and the sequence of actions. The macro operator will be used in the future operation. </a:t>
            </a:r>
          </a:p>
          <a:p>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13792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0EEE1-9F27-9929-BAC1-858F56304E2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907D18B-BC91-6E6C-8FFF-D87CE4580402}"/>
              </a:ext>
            </a:extLst>
          </p:cNvPr>
          <p:cNvSpPr>
            <a:spLocks noGrp="1"/>
          </p:cNvSpPr>
          <p:nvPr>
            <p:ph idx="1"/>
          </p:nvPr>
        </p:nvSpPr>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3. </a:t>
            </a:r>
            <a:r>
              <a:rPr lang="en-IN" b="1" dirty="0">
                <a:latin typeface="Times New Roman" panose="02020603050405020304" pitchFamily="18" charset="0"/>
                <a:cs typeface="Times New Roman" panose="02020603050405020304" pitchFamily="18" charset="0"/>
              </a:rPr>
              <a:t>Learning by Chunking </a:t>
            </a:r>
          </a:p>
          <a:p>
            <a:r>
              <a:rPr lang="en-US" dirty="0">
                <a:latin typeface="Times New Roman" panose="02020603050405020304" pitchFamily="18" charset="0"/>
                <a:cs typeface="Times New Roman" panose="02020603050405020304" pitchFamily="18" charset="0"/>
              </a:rPr>
              <a:t>Chunking is similar to learning with macro-operators. Generally, it is used by problem solver systems that make use of production systems. </a:t>
            </a:r>
          </a:p>
          <a:p>
            <a:r>
              <a:rPr lang="en-US" dirty="0">
                <a:latin typeface="Times New Roman" panose="02020603050405020304" pitchFamily="18" charset="0"/>
                <a:cs typeface="Times New Roman" panose="02020603050405020304" pitchFamily="18" charset="0"/>
              </a:rPr>
              <a:t>A production system consists of a set of rules that are in if-then form. That is given a particular situation, what are the actions to be performed. For example, if it is raining then take umbrella. </a:t>
            </a:r>
          </a:p>
          <a:p>
            <a:r>
              <a:rPr lang="en-US" dirty="0">
                <a:latin typeface="Times New Roman" panose="02020603050405020304" pitchFamily="18" charset="0"/>
                <a:cs typeface="Times New Roman" panose="02020603050405020304" pitchFamily="18" charset="0"/>
              </a:rPr>
              <a:t>Production system also contains knowledge base, control strategy and a rule applier. To solve a problem, a system will compare the present situation with the left hand side of the rules. If there is a match then the system will perform the actions described in the right hand side of the corresponding rule. </a:t>
            </a:r>
          </a:p>
          <a:p>
            <a:r>
              <a:rPr lang="en-US" dirty="0">
                <a:latin typeface="Times New Roman" panose="02020603050405020304" pitchFamily="18" charset="0"/>
                <a:cs typeface="Times New Roman" panose="02020603050405020304" pitchFamily="18" charset="0"/>
              </a:rPr>
              <a:t>Problem solvers solve problems by applying the rules. Some of these rules may be more useful than others and the results are stored as a chunk. </a:t>
            </a:r>
          </a:p>
          <a:p>
            <a:r>
              <a:rPr lang="en-US" dirty="0">
                <a:latin typeface="Times New Roman" panose="02020603050405020304" pitchFamily="18" charset="0"/>
                <a:cs typeface="Times New Roman" panose="02020603050405020304" pitchFamily="18" charset="0"/>
              </a:rPr>
              <a:t>Chunking can be used to learn general search control knowledge. </a:t>
            </a:r>
          </a:p>
          <a:p>
            <a:endParaRPr lang="en-IN" dirty="0"/>
          </a:p>
        </p:txBody>
      </p:sp>
    </p:spTree>
    <p:extLst>
      <p:ext uri="{BB962C8B-B14F-4D97-AF65-F5344CB8AC3E}">
        <p14:creationId xmlns:p14="http://schemas.microsoft.com/office/powerpoint/2010/main" val="2131397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E239F-7CC6-236B-4AA9-1467E7BC0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2C519-1FFD-082C-941E-66855216E6DC}"/>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LEARNING FROM EXAMPLES</a:t>
            </a:r>
          </a:p>
        </p:txBody>
      </p:sp>
      <p:sp>
        <p:nvSpPr>
          <p:cNvPr id="3" name="Content Placeholder 2">
            <a:extLst>
              <a:ext uri="{FF2B5EF4-FFF2-40B4-BE49-F238E27FC236}">
                <a16:creationId xmlns:a16="http://schemas.microsoft.com/office/drawing/2014/main" id="{2D5418D0-755A-0705-7594-E15C982D7592}"/>
              </a:ext>
            </a:extLst>
          </p:cNvPr>
          <p:cNvSpPr>
            <a:spLocks noGrp="1"/>
          </p:cNvSpPr>
          <p:nvPr>
            <p:ph idx="1"/>
          </p:nvPr>
        </p:nvSpPr>
        <p:spPr>
          <a:xfrm>
            <a:off x="2589212" y="2133600"/>
            <a:ext cx="8915400" cy="4572000"/>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In this process of learning it includes the learning through various interactive and innovative examples. This strategy, also called concept acquisition. It requires the learning system to induce general class or concept descriptions from examples. </a:t>
            </a:r>
          </a:p>
          <a:p>
            <a:pPr marL="0" indent="0">
              <a:buNone/>
            </a:pPr>
            <a:r>
              <a:rPr lang="en-IN" b="1" dirty="0">
                <a:latin typeface="Times New Roman" panose="02020603050405020304" pitchFamily="18" charset="0"/>
                <a:cs typeface="Times New Roman" panose="02020603050405020304" pitchFamily="18" charset="0"/>
              </a:rPr>
              <a:t>Learning by Deduction </a:t>
            </a:r>
          </a:p>
          <a:p>
            <a:r>
              <a:rPr lang="en-US" dirty="0">
                <a:latin typeface="Times New Roman" panose="02020603050405020304" pitchFamily="18" charset="0"/>
                <a:cs typeface="Times New Roman" panose="02020603050405020304" pitchFamily="18" charset="0"/>
              </a:rPr>
              <a:t>This process is accomplished through a sequence of deductive inference steps using known facts. From the known facts, new facts or relationships are logically derived. </a:t>
            </a:r>
          </a:p>
          <a:p>
            <a:r>
              <a:rPr lang="en-US" dirty="0">
                <a:latin typeface="Times New Roman" panose="02020603050405020304" pitchFamily="18" charset="0"/>
                <a:cs typeface="Times New Roman" panose="02020603050405020304" pitchFamily="18" charset="0"/>
              </a:rPr>
              <a:t>Using this strategy, the learning system derives new facts from existing information or knowledge by employing deductive inference. It requires more inferences than other techniques. </a:t>
            </a:r>
          </a:p>
          <a:p>
            <a:r>
              <a:rPr lang="en-US" dirty="0">
                <a:latin typeface="Times New Roman" panose="02020603050405020304" pitchFamily="18" charset="0"/>
                <a:cs typeface="Times New Roman" panose="02020603050405020304" pitchFamily="18" charset="0"/>
              </a:rPr>
              <a:t>The inference method used is a deductive type, which is a valid form of inference. For example we can say x is the cousin of y if we have the knowledge of x’s and y’s parents and the rules for cousin relationships.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0071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952AD-2B66-1977-A313-2F2A5EE50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AA9492-3905-B83F-7205-AA72D9D0B05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59E9EEC-CAFE-680B-E0AD-17C45F69389D}"/>
              </a:ext>
            </a:extLst>
          </p:cNvPr>
          <p:cNvSpPr>
            <a:spLocks noGrp="1"/>
          </p:cNvSpPr>
          <p:nvPr>
            <p:ph idx="1"/>
          </p:nvPr>
        </p:nvSpPr>
        <p:spPr/>
        <p:txBody>
          <a:bodyPr/>
          <a:lstStyle/>
          <a:p>
            <a:pPr marL="0" indent="0">
              <a:buNone/>
            </a:pPr>
            <a:r>
              <a:rPr lang="en-IN" sz="2000" b="1" dirty="0">
                <a:latin typeface="Times New Roman" panose="02020603050405020304" pitchFamily="18" charset="0"/>
                <a:cs typeface="Times New Roman" panose="02020603050405020304" pitchFamily="18" charset="0"/>
              </a:rPr>
              <a:t>Learning by Induction </a:t>
            </a:r>
          </a:p>
          <a:p>
            <a:r>
              <a:rPr lang="en-US" dirty="0">
                <a:latin typeface="Times New Roman" panose="02020603050405020304" pitchFamily="18" charset="0"/>
                <a:cs typeface="Times New Roman" panose="02020603050405020304" pitchFamily="18" charset="0"/>
              </a:rPr>
              <a:t>Inductive learning is the system that tries to induce a general rule based on observed instances. In other words, the system tries to infer an association between specific inputs and outputs.</a:t>
            </a:r>
          </a:p>
          <a:p>
            <a:r>
              <a:rPr lang="en-US" dirty="0">
                <a:latin typeface="Times New Roman" panose="02020603050405020304" pitchFamily="18" charset="0"/>
                <a:cs typeface="Times New Roman" panose="02020603050405020304" pitchFamily="18" charset="0"/>
              </a:rPr>
              <a:t> In general, the input of the program is a set of training instance where the output is a method of classifying subsequent instance. For example, the input of the program may be color of types of fruits where the output may be the types of fruits those are useful for protein. </a:t>
            </a:r>
          </a:p>
          <a:p>
            <a:r>
              <a:rPr lang="en-US" dirty="0">
                <a:latin typeface="Times New Roman" panose="02020603050405020304" pitchFamily="18" charset="0"/>
                <a:cs typeface="Times New Roman" panose="02020603050405020304" pitchFamily="18" charset="0"/>
              </a:rPr>
              <a:t>Induction method involves the learning by examples, experimentation, observation and discovery. The search spaces encountered in learning tend to be extremely large, even by the standards of search based problem solving.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3186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1CB1A-EBFB-3682-AD4C-B5DAEACF2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3C2E56-3784-1FDB-4EAC-35403E25B7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085F8F-5CEF-C5A1-28CB-0FC23335A4C0}"/>
              </a:ext>
            </a:extLst>
          </p:cNvPr>
          <p:cNvSpPr>
            <a:spLocks noGrp="1"/>
          </p:cNvSpPr>
          <p:nvPr>
            <p:ph idx="1"/>
          </p:nvPr>
        </p:nvSpPr>
        <p:spPr/>
        <p:txBody>
          <a:bodyPr>
            <a:normAutofit fontScale="92500" lnSpcReduction="10000"/>
          </a:bodyPr>
          <a:lstStyle/>
          <a:p>
            <a:pPr marL="0" indent="0">
              <a:buNone/>
            </a:pPr>
            <a:r>
              <a:rPr lang="en-IN" b="1" dirty="0">
                <a:latin typeface="Times New Roman" panose="02020603050405020304" pitchFamily="18" charset="0"/>
                <a:cs typeface="Times New Roman" panose="02020603050405020304" pitchFamily="18" charset="0"/>
              </a:rPr>
              <a:t>Explanation-based Learning </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Explanation based learning has ability to learn from a single training instance. Instead of taking more examples the explanation based learning is emphasized to learn a single, specific example.</a:t>
            </a:r>
          </a:p>
          <a:p>
            <a:r>
              <a:rPr lang="en-US" dirty="0">
                <a:latin typeface="Times New Roman" panose="02020603050405020304" pitchFamily="18" charset="0"/>
                <a:cs typeface="Times New Roman" panose="02020603050405020304" pitchFamily="18" charset="0"/>
              </a:rPr>
              <a:t> For example, consider the Ludo game. In a Ludo game, there are generally four colors of buttons. For a single color there are four different squares. Suppose the colors are red, green, blue and yellow. </a:t>
            </a:r>
          </a:p>
          <a:p>
            <a:r>
              <a:rPr lang="en-US" dirty="0">
                <a:latin typeface="Times New Roman" panose="02020603050405020304" pitchFamily="18" charset="0"/>
                <a:cs typeface="Times New Roman" panose="02020603050405020304" pitchFamily="18" charset="0"/>
              </a:rPr>
              <a:t>So maximum four members are possible for this game. Two members are considered for one side (suppose green and red) and other two are considered for another side (suppose blue and yellow). So for any one opponent the other will play his game.</a:t>
            </a:r>
          </a:p>
          <a:p>
            <a:r>
              <a:rPr lang="en-US" dirty="0">
                <a:latin typeface="Times New Roman" panose="02020603050405020304" pitchFamily="18" charset="0"/>
                <a:cs typeface="Times New Roman" panose="02020603050405020304" pitchFamily="18" charset="0"/>
              </a:rPr>
              <a:t> A square sized small box marked by symbols one to six is circulated among the four members. The number one is the lowest number and the number six is the highest for which all the operations are done. Always any one from the 1st side will try to attack any one member in the 2nd side and vice versa.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5824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12786-F741-5FF8-F0A7-DA195FA74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A2C94-580B-054F-0924-E66B0D08C27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2BDEAE7-42EE-E4C8-73AE-73225F454E60}"/>
              </a:ext>
            </a:extLst>
          </p:cNvPr>
          <p:cNvSpPr>
            <a:spLocks noGrp="1"/>
          </p:cNvSpPr>
          <p:nvPr>
            <p:ph idx="1"/>
          </p:nvPr>
        </p:nvSpPr>
        <p:spPr/>
        <p:txBody>
          <a:bodyPr>
            <a:normAutofit fontScale="85000" lnSpcReduction="10000"/>
          </a:bodyPr>
          <a:lstStyle/>
          <a:p>
            <a:pPr marL="0" indent="0">
              <a:buNone/>
            </a:pPr>
            <a:r>
              <a:rPr lang="en-US" b="1" dirty="0">
                <a:latin typeface="Times New Roman" panose="02020603050405020304" pitchFamily="18" charset="0"/>
                <a:cs typeface="Times New Roman" panose="02020603050405020304" pitchFamily="18" charset="0"/>
              </a:rPr>
              <a:t>Learning from Observations and Discovery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Using this strategy, the learning system must either induce class descriptions from observing the environment or manipulate the environment to acquire class descriptions or concepts. This is an unsupervised learning technique. It requires the greatest amount of inferencing among all of the different forms of learning. From an existing knowledge base, some new forms of discovery of knowledge may form. The learning discovery process is very important in the respect of constructing new knowledge base. </a:t>
            </a:r>
          </a:p>
          <a:p>
            <a:pPr marL="0" indent="0">
              <a:buNone/>
            </a:pPr>
            <a:r>
              <a:rPr lang="en-IN" b="1" dirty="0">
                <a:latin typeface="Times New Roman" panose="02020603050405020304" pitchFamily="18" charset="0"/>
                <a:cs typeface="Times New Roman" panose="02020603050405020304" pitchFamily="18" charset="0"/>
              </a:rPr>
              <a:t>Learning by Analogy </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is a process of learning a new concept or solution through the use of similar known concepts or solutions. We make frequent use of analogical learning. The first step is inductive inference, required to find a common substructure between the problem domain and one of the analogous domains stored in the learner’s existing knowledge base. This form of learning requires the learning system to transform and supplement its existing knowledge from one domain or problem area into new domain. This strategy requires more inferencing by the learning system than previous strategies. Relevant knowledge must be found in the systems existing knowledge by using induction strategies.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5570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08E85-9CB8-E9EE-DBD3-44C28438B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283F82-C515-301F-5134-0A3C052D8878}"/>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FORMAL LEARNING THEORY </a:t>
            </a:r>
            <a:br>
              <a:rPr lang="en-IN" dirty="0"/>
            </a:br>
            <a:endParaRPr lang="en-IN" dirty="0"/>
          </a:p>
        </p:txBody>
      </p:sp>
      <p:sp>
        <p:nvSpPr>
          <p:cNvPr id="3" name="Content Placeholder 2">
            <a:extLst>
              <a:ext uri="{FF2B5EF4-FFF2-40B4-BE49-F238E27FC236}">
                <a16:creationId xmlns:a16="http://schemas.microsoft.com/office/drawing/2014/main" id="{F4E84C95-3BF6-5E6F-C84F-60EF65DF92AA}"/>
              </a:ext>
            </a:extLst>
          </p:cNvPr>
          <p:cNvSpPr>
            <a:spLocks noGrp="1"/>
          </p:cNvSpPr>
          <p:nvPr>
            <p:ph idx="1"/>
          </p:nvPr>
        </p:nvSpPr>
        <p:spPr>
          <a:xfrm>
            <a:off x="2589212" y="2133600"/>
            <a:ext cx="8915400" cy="4561114"/>
          </a:xfrm>
        </p:spPr>
        <p:txBody>
          <a:bodyPr>
            <a:normAutofit fontScale="92500"/>
          </a:bodyPr>
          <a:lstStyle/>
          <a:p>
            <a:r>
              <a:rPr lang="en-US" sz="1900" dirty="0">
                <a:latin typeface="Times New Roman" panose="02020603050405020304" pitchFamily="18" charset="0"/>
                <a:cs typeface="Times New Roman" panose="02020603050405020304" pitchFamily="18" charset="0"/>
              </a:rPr>
              <a:t>Theory of the learnable by Valiant: classifies problems by how difficult they are to learn. </a:t>
            </a:r>
          </a:p>
          <a:p>
            <a:r>
              <a:rPr lang="en-US" sz="1900" dirty="0">
                <a:latin typeface="Times New Roman" panose="02020603050405020304" pitchFamily="18" charset="0"/>
                <a:cs typeface="Times New Roman" panose="02020603050405020304" pitchFamily="18" charset="0"/>
              </a:rPr>
              <a:t>Formally, a device can learn a concept if it can, given positive and negative examples, produce an algorithm that will classify future examples correctly with probability 1/h. </a:t>
            </a:r>
          </a:p>
          <a:p>
            <a:endParaRPr lang="en-IN"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Complexity of learning a function is decided by three factors: </a:t>
            </a:r>
          </a:p>
          <a:p>
            <a:r>
              <a:rPr lang="en-IN" sz="1900" dirty="0">
                <a:latin typeface="Times New Roman" panose="02020603050405020304" pitchFamily="18" charset="0"/>
                <a:cs typeface="Times New Roman" panose="02020603050405020304" pitchFamily="18" charset="0"/>
              </a:rPr>
              <a:t>The error tolerance (h) </a:t>
            </a:r>
          </a:p>
          <a:p>
            <a:r>
              <a:rPr lang="en-US" sz="1900" dirty="0">
                <a:latin typeface="Times New Roman" panose="02020603050405020304" pitchFamily="18" charset="0"/>
                <a:cs typeface="Times New Roman" panose="02020603050405020304" pitchFamily="18" charset="0"/>
              </a:rPr>
              <a:t>The number of binary features present in the example (t) </a:t>
            </a:r>
          </a:p>
          <a:p>
            <a:r>
              <a:rPr lang="en-US" sz="1900" dirty="0">
                <a:latin typeface="Times New Roman" panose="02020603050405020304" pitchFamily="18" charset="0"/>
                <a:cs typeface="Times New Roman" panose="02020603050405020304" pitchFamily="18" charset="0"/>
              </a:rPr>
              <a:t>Size of rules necessary to make the discrimination (f) </a:t>
            </a:r>
          </a:p>
          <a:p>
            <a:r>
              <a:rPr lang="en-US" sz="1900" dirty="0">
                <a:latin typeface="Times New Roman" panose="02020603050405020304" pitchFamily="18" charset="0"/>
                <a:cs typeface="Times New Roman" panose="02020603050405020304" pitchFamily="18" charset="0"/>
              </a:rPr>
              <a:t>If the number of training examples is a polynomial in </a:t>
            </a:r>
            <a:r>
              <a:rPr lang="en-US" sz="1900" dirty="0" err="1">
                <a:latin typeface="Times New Roman" panose="02020603050405020304" pitchFamily="18" charset="0"/>
                <a:cs typeface="Times New Roman" panose="02020603050405020304" pitchFamily="18" charset="0"/>
              </a:rPr>
              <a:t>h,t</a:t>
            </a:r>
            <a:r>
              <a:rPr lang="en-US" sz="1900" dirty="0">
                <a:latin typeface="Times New Roman" panose="02020603050405020304" pitchFamily="18" charset="0"/>
                <a:cs typeface="Times New Roman" panose="02020603050405020304" pitchFamily="18" charset="0"/>
              </a:rPr>
              <a:t>, f, then the system is said to be trainable. </a:t>
            </a:r>
          </a:p>
          <a:p>
            <a:r>
              <a:rPr lang="en-IN" sz="1900" dirty="0">
                <a:latin typeface="Times New Roman" panose="02020603050405020304" pitchFamily="18" charset="0"/>
                <a:cs typeface="Times New Roman" panose="02020603050405020304" pitchFamily="18" charset="0"/>
              </a:rPr>
              <a:t>Example: learning feature descriptions </a:t>
            </a:r>
          </a:p>
          <a:p>
            <a:r>
              <a:rPr lang="en-US" sz="1900" dirty="0">
                <a:latin typeface="Times New Roman" panose="02020603050405020304" pitchFamily="18" charset="0"/>
                <a:cs typeface="Times New Roman" panose="02020603050405020304" pitchFamily="18" charset="0"/>
              </a:rPr>
              <a:t>Mathematical theory will be used to quantify the use of knowledge </a:t>
            </a:r>
          </a:p>
          <a:p>
            <a:endParaRPr lang="en-IN" dirty="0"/>
          </a:p>
        </p:txBody>
      </p:sp>
    </p:spTree>
    <p:extLst>
      <p:ext uri="{BB962C8B-B14F-4D97-AF65-F5344CB8AC3E}">
        <p14:creationId xmlns:p14="http://schemas.microsoft.com/office/powerpoint/2010/main" val="2466715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91514-AC76-B0F3-0718-A8CE3C016F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003D2-B833-189A-3DBF-F980635FDC56}"/>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NEURAL NET LEARNING</a:t>
            </a:r>
            <a:br>
              <a:rPr lang="en-IN" dirty="0"/>
            </a:br>
            <a:endParaRPr lang="en-IN" dirty="0"/>
          </a:p>
        </p:txBody>
      </p:sp>
      <p:sp>
        <p:nvSpPr>
          <p:cNvPr id="3" name="Content Placeholder 2">
            <a:extLst>
              <a:ext uri="{FF2B5EF4-FFF2-40B4-BE49-F238E27FC236}">
                <a16:creationId xmlns:a16="http://schemas.microsoft.com/office/drawing/2014/main" id="{CFC7766C-5289-8E40-BF42-17E1BC1A7EBF}"/>
              </a:ext>
            </a:extLst>
          </p:cNvPr>
          <p:cNvSpPr>
            <a:spLocks noGrp="1"/>
          </p:cNvSpPr>
          <p:nvPr>
            <p:ph idx="1"/>
          </p:nvPr>
        </p:nvSpPr>
        <p:spPr>
          <a:xfrm>
            <a:off x="2589212" y="2133600"/>
            <a:ext cx="8915400" cy="4419600"/>
          </a:xfrm>
        </p:spPr>
        <p:txBody>
          <a:bodyPr>
            <a:normAutofit fontScale="92500" lnSpcReduction="20000"/>
          </a:bodyPr>
          <a:lstStyle/>
          <a:p>
            <a:pPr marL="0" indent="0">
              <a:buNone/>
            </a:pPr>
            <a:r>
              <a:rPr lang="en-US" sz="1900" dirty="0">
                <a:latin typeface="Times New Roman" panose="02020603050405020304" pitchFamily="18" charset="0"/>
                <a:cs typeface="Times New Roman" panose="02020603050405020304" pitchFamily="18" charset="0"/>
              </a:rPr>
              <a:t>We’ve probably already been using neural networks on a daily basis. When we ask our mobile assistant to perform a search for us—say, Google or Siri or Amazon Web—or use a self-driving car, these are all neural network-driven. </a:t>
            </a:r>
          </a:p>
          <a:p>
            <a:pPr marL="0" indent="0">
              <a:buNone/>
            </a:pPr>
            <a:r>
              <a:rPr lang="en-US" sz="1900" dirty="0">
                <a:latin typeface="Times New Roman" panose="02020603050405020304" pitchFamily="18" charset="0"/>
                <a:cs typeface="Times New Roman" panose="02020603050405020304" pitchFamily="18" charset="0"/>
              </a:rPr>
              <a:t>Computer games also use neural networks on the back end, as part of the game system and how it adjusts to the players, and so do map applications, in processing map images and helping you find the quickest way to get to your destination. A neural network is a system or hardware that is designed to operate like a human brain. </a:t>
            </a:r>
          </a:p>
          <a:p>
            <a:endParaRPr lang="en-IN" sz="1900" dirty="0">
              <a:latin typeface="Times New Roman" panose="02020603050405020304" pitchFamily="18" charset="0"/>
              <a:cs typeface="Times New Roman" panose="02020603050405020304" pitchFamily="18" charset="0"/>
            </a:endParaRPr>
          </a:p>
          <a:p>
            <a:pPr marL="0" indent="0">
              <a:buNone/>
            </a:pPr>
            <a:r>
              <a:rPr lang="en-US" sz="1900" dirty="0">
                <a:latin typeface="Times New Roman" panose="02020603050405020304" pitchFamily="18" charset="0"/>
                <a:cs typeface="Times New Roman" panose="02020603050405020304" pitchFamily="18" charset="0"/>
              </a:rPr>
              <a:t>Neural </a:t>
            </a:r>
            <a:r>
              <a:rPr lang="en-US" sz="1900" dirty="0" err="1">
                <a:latin typeface="Times New Roman" panose="02020603050405020304" pitchFamily="18" charset="0"/>
                <a:cs typeface="Times New Roman" panose="02020603050405020304" pitchFamily="18" charset="0"/>
              </a:rPr>
              <a:t>NetworkNeural</a:t>
            </a:r>
            <a:r>
              <a:rPr lang="en-US" sz="1900" dirty="0">
                <a:latin typeface="Times New Roman" panose="02020603050405020304" pitchFamily="18" charset="0"/>
                <a:cs typeface="Times New Roman" panose="02020603050405020304" pitchFamily="18" charset="0"/>
              </a:rPr>
              <a:t> networks can perform the following tasks: </a:t>
            </a:r>
          </a:p>
          <a:p>
            <a:r>
              <a:rPr lang="en-IN" sz="1900" dirty="0">
                <a:latin typeface="Times New Roman" panose="02020603050405020304" pitchFamily="18" charset="0"/>
                <a:cs typeface="Times New Roman" panose="02020603050405020304" pitchFamily="18" charset="0"/>
              </a:rPr>
              <a:t>Translate text </a:t>
            </a:r>
          </a:p>
          <a:p>
            <a:r>
              <a:rPr lang="en-IN" sz="1900" dirty="0">
                <a:latin typeface="Times New Roman" panose="02020603050405020304" pitchFamily="18" charset="0"/>
                <a:cs typeface="Times New Roman" panose="02020603050405020304" pitchFamily="18" charset="0"/>
              </a:rPr>
              <a:t>Identify faces </a:t>
            </a:r>
          </a:p>
          <a:p>
            <a:r>
              <a:rPr lang="en-IN" sz="1900" dirty="0">
                <a:latin typeface="Times New Roman" panose="02020603050405020304" pitchFamily="18" charset="0"/>
                <a:cs typeface="Times New Roman" panose="02020603050405020304" pitchFamily="18" charset="0"/>
              </a:rPr>
              <a:t>Recognize speech </a:t>
            </a:r>
          </a:p>
          <a:p>
            <a:r>
              <a:rPr lang="en-IN" sz="1900" dirty="0">
                <a:latin typeface="Times New Roman" panose="02020603050405020304" pitchFamily="18" charset="0"/>
                <a:cs typeface="Times New Roman" panose="02020603050405020304" pitchFamily="18" charset="0"/>
              </a:rPr>
              <a:t>Read handwritten text </a:t>
            </a:r>
          </a:p>
          <a:p>
            <a:r>
              <a:rPr lang="en-IN" sz="1900" dirty="0">
                <a:latin typeface="Times New Roman" panose="02020603050405020304" pitchFamily="18" charset="0"/>
                <a:cs typeface="Times New Roman" panose="02020603050405020304" pitchFamily="18" charset="0"/>
              </a:rPr>
              <a:t>Control robots </a:t>
            </a:r>
          </a:p>
          <a:p>
            <a:endParaRPr lang="en-IN" dirty="0"/>
          </a:p>
        </p:txBody>
      </p:sp>
    </p:spTree>
    <p:extLst>
      <p:ext uri="{BB962C8B-B14F-4D97-AF65-F5344CB8AC3E}">
        <p14:creationId xmlns:p14="http://schemas.microsoft.com/office/powerpoint/2010/main" val="38226113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EFEB5-43D6-2E8B-185D-21C30EC0C22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F561AF0-342C-19A3-4EF5-BBD81002B4F2}"/>
              </a:ext>
            </a:extLst>
          </p:cNvPr>
          <p:cNvSpPr>
            <a:spLocks noGrp="1"/>
          </p:cNvSpPr>
          <p:nvPr>
            <p:ph idx="1"/>
          </p:nvPr>
        </p:nvSpPr>
        <p:spPr/>
        <p:txBody>
          <a:bodyPr>
            <a:normAutofit/>
          </a:bodyPr>
          <a:lstStyle/>
          <a:p>
            <a:r>
              <a:rPr lang="en-IN" b="1" dirty="0">
                <a:latin typeface="Times New Roman" panose="02020603050405020304" pitchFamily="18" charset="0"/>
                <a:cs typeface="Times New Roman" panose="02020603050405020304" pitchFamily="18" charset="0"/>
              </a:rPr>
              <a:t>Input Layer: </a:t>
            </a:r>
            <a:r>
              <a:rPr lang="en-US" dirty="0">
                <a:latin typeface="Times New Roman" panose="02020603050405020304" pitchFamily="18" charset="0"/>
                <a:cs typeface="Times New Roman" panose="02020603050405020304" pitchFamily="18" charset="0"/>
              </a:rPr>
              <a:t>As the name suggests, it accepts inputs in several different formats provided by the programmer. </a:t>
            </a:r>
          </a:p>
          <a:p>
            <a:r>
              <a:rPr lang="en-IN" b="1" dirty="0">
                <a:latin typeface="Times New Roman" panose="02020603050405020304" pitchFamily="18" charset="0"/>
                <a:cs typeface="Times New Roman" panose="02020603050405020304" pitchFamily="18" charset="0"/>
              </a:rPr>
              <a:t>Hidden Layer: </a:t>
            </a:r>
            <a:r>
              <a:rPr lang="en-US" dirty="0">
                <a:latin typeface="Times New Roman" panose="02020603050405020304" pitchFamily="18" charset="0"/>
                <a:cs typeface="Times New Roman" panose="02020603050405020304" pitchFamily="18" charset="0"/>
              </a:rPr>
              <a:t>The hidden layer presents in-between input and output layers. It performs all the calculations to find hidden features and patterns. </a:t>
            </a:r>
          </a:p>
          <a:p>
            <a:r>
              <a:rPr lang="en-IN" b="1" dirty="0">
                <a:latin typeface="Times New Roman" panose="02020603050405020304" pitchFamily="18" charset="0"/>
                <a:cs typeface="Times New Roman" panose="02020603050405020304" pitchFamily="18" charset="0"/>
              </a:rPr>
              <a:t>Output Layer</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input goes through a series of transformations using the hidden layer, which finally results in output that is conveyed using this layer. </a:t>
            </a:r>
          </a:p>
          <a:p>
            <a:r>
              <a:rPr lang="en-US" dirty="0">
                <a:latin typeface="Times New Roman" panose="02020603050405020304" pitchFamily="18" charset="0"/>
                <a:cs typeface="Times New Roman" panose="02020603050405020304" pitchFamily="18" charset="0"/>
              </a:rPr>
              <a:t>The artificial neural network takes input and computes the weighted sum of the inputs and includes a bias. This computation is represented in the form of a transfer function</a:t>
            </a:r>
            <a:r>
              <a:rPr lang="en-US" dirty="0"/>
              <a:t>. </a:t>
            </a:r>
          </a:p>
          <a:p>
            <a:endParaRPr lang="en-IN" dirty="0"/>
          </a:p>
        </p:txBody>
      </p:sp>
      <p:pic>
        <p:nvPicPr>
          <p:cNvPr id="5" name="Picture 4">
            <a:extLst>
              <a:ext uri="{FF2B5EF4-FFF2-40B4-BE49-F238E27FC236}">
                <a16:creationId xmlns:a16="http://schemas.microsoft.com/office/drawing/2014/main" id="{9B2FCA84-68EC-9536-55C5-DC3DE904D760}"/>
              </a:ext>
            </a:extLst>
          </p:cNvPr>
          <p:cNvPicPr>
            <a:picLocks noChangeAspect="1"/>
          </p:cNvPicPr>
          <p:nvPr/>
        </p:nvPicPr>
        <p:blipFill>
          <a:blip r:embed="rId2"/>
          <a:stretch>
            <a:fillRect/>
          </a:stretch>
        </p:blipFill>
        <p:spPr>
          <a:xfrm>
            <a:off x="4838591" y="4957157"/>
            <a:ext cx="1257409" cy="502964"/>
          </a:xfrm>
          <a:prstGeom prst="rect">
            <a:avLst/>
          </a:prstGeom>
        </p:spPr>
      </p:pic>
    </p:spTree>
    <p:extLst>
      <p:ext uri="{BB962C8B-B14F-4D97-AF65-F5344CB8AC3E}">
        <p14:creationId xmlns:p14="http://schemas.microsoft.com/office/powerpoint/2010/main" val="2062246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46C45-0B15-1401-C3AE-1EE715B12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ACAC72-D28A-E758-6AE4-827407E09ED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GENETIC LEARNING</a:t>
            </a:r>
            <a:br>
              <a:rPr lang="en-IN" dirty="0"/>
            </a:br>
            <a:endParaRPr lang="en-IN" dirty="0"/>
          </a:p>
        </p:txBody>
      </p:sp>
      <p:sp>
        <p:nvSpPr>
          <p:cNvPr id="3" name="Content Placeholder 2">
            <a:extLst>
              <a:ext uri="{FF2B5EF4-FFF2-40B4-BE49-F238E27FC236}">
                <a16:creationId xmlns:a16="http://schemas.microsoft.com/office/drawing/2014/main" id="{F89DB56E-CB02-DD4C-D01C-8276707A9FB5}"/>
              </a:ext>
            </a:extLst>
          </p:cNvPr>
          <p:cNvSpPr>
            <a:spLocks noGrp="1"/>
          </p:cNvSpPr>
          <p:nvPr>
            <p:ph idx="1"/>
          </p:nvPr>
        </p:nvSpPr>
        <p:spPr>
          <a:xfrm>
            <a:off x="2589212" y="2133600"/>
            <a:ext cx="8915400" cy="4256314"/>
          </a:xfrm>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A genetic algorithm is a search-based algorithm used for solving optimization problems in machine learning. This algorithm is important because it solves difficult problems that would take a long time to solve. It has been used in various real-life applications such as data centers, electronic circuit design, code-breaking, image processing, and artificial creativity. </a:t>
            </a:r>
          </a:p>
          <a:p>
            <a:pPr marL="0" indent="0">
              <a:buNone/>
            </a:pPr>
            <a:r>
              <a:rPr lang="en-US" dirty="0">
                <a:latin typeface="Times New Roman" panose="02020603050405020304" pitchFamily="18" charset="0"/>
                <a:cs typeface="Times New Roman" panose="02020603050405020304" pitchFamily="18" charset="0"/>
              </a:rPr>
              <a:t>The following are some of the basic terminologies that can help us to understand genetic algorithms: </a:t>
            </a:r>
          </a:p>
          <a:p>
            <a:r>
              <a:rPr lang="en-US" b="1" dirty="0">
                <a:latin typeface="Times New Roman" panose="02020603050405020304" pitchFamily="18" charset="0"/>
                <a:cs typeface="Times New Roman" panose="02020603050405020304" pitchFamily="18" charset="0"/>
              </a:rPr>
              <a:t>Population: </a:t>
            </a:r>
            <a:r>
              <a:rPr lang="en-US" dirty="0">
                <a:latin typeface="Times New Roman" panose="02020603050405020304" pitchFamily="18" charset="0"/>
                <a:cs typeface="Times New Roman" panose="02020603050405020304" pitchFamily="18" charset="0"/>
              </a:rPr>
              <a:t>This is a subset of all the probable solutions that can solve the given problem. </a:t>
            </a:r>
          </a:p>
          <a:p>
            <a:r>
              <a:rPr lang="en-US" b="1" dirty="0">
                <a:latin typeface="Times New Roman" panose="02020603050405020304" pitchFamily="18" charset="0"/>
                <a:cs typeface="Times New Roman" panose="02020603050405020304" pitchFamily="18" charset="0"/>
              </a:rPr>
              <a:t>Chromosomes: </a:t>
            </a:r>
            <a:r>
              <a:rPr lang="en-US" dirty="0">
                <a:latin typeface="Times New Roman" panose="02020603050405020304" pitchFamily="18" charset="0"/>
                <a:cs typeface="Times New Roman" panose="02020603050405020304" pitchFamily="18" charset="0"/>
              </a:rPr>
              <a:t>A chromosome is one of the solutions in the population. </a:t>
            </a:r>
          </a:p>
          <a:p>
            <a:r>
              <a:rPr lang="en-US" b="1" dirty="0">
                <a:latin typeface="Times New Roman" panose="02020603050405020304" pitchFamily="18" charset="0"/>
                <a:cs typeface="Times New Roman" panose="02020603050405020304" pitchFamily="18" charset="0"/>
              </a:rPr>
              <a:t>Gene: </a:t>
            </a:r>
            <a:r>
              <a:rPr lang="en-US" dirty="0">
                <a:latin typeface="Times New Roman" panose="02020603050405020304" pitchFamily="18" charset="0"/>
                <a:cs typeface="Times New Roman" panose="02020603050405020304" pitchFamily="18" charset="0"/>
              </a:rPr>
              <a:t>This is an element in a chromosome. </a:t>
            </a:r>
          </a:p>
          <a:p>
            <a:r>
              <a:rPr lang="en-US" b="1" dirty="0">
                <a:latin typeface="Times New Roman" panose="02020603050405020304" pitchFamily="18" charset="0"/>
                <a:cs typeface="Times New Roman" panose="02020603050405020304" pitchFamily="18" charset="0"/>
              </a:rPr>
              <a:t>Allele: </a:t>
            </a:r>
            <a:r>
              <a:rPr lang="en-US" dirty="0">
                <a:latin typeface="Times New Roman" panose="02020603050405020304" pitchFamily="18" charset="0"/>
                <a:cs typeface="Times New Roman" panose="02020603050405020304" pitchFamily="18" charset="0"/>
              </a:rPr>
              <a:t>This is the value given to a gene in a specific chromosome. </a:t>
            </a:r>
          </a:p>
          <a:p>
            <a:r>
              <a:rPr lang="en-US" b="1" dirty="0">
                <a:latin typeface="Times New Roman" panose="02020603050405020304" pitchFamily="18" charset="0"/>
                <a:cs typeface="Times New Roman" panose="02020603050405020304" pitchFamily="18" charset="0"/>
              </a:rPr>
              <a:t>Fitness function: </a:t>
            </a:r>
            <a:r>
              <a:rPr lang="en-US" dirty="0">
                <a:latin typeface="Times New Roman" panose="02020603050405020304" pitchFamily="18" charset="0"/>
                <a:cs typeface="Times New Roman" panose="02020603050405020304" pitchFamily="18" charset="0"/>
              </a:rPr>
              <a:t>This is a function that uses a specific input to produce an improved output. The solution is used as the input while the output is in the form of solution suitability. </a:t>
            </a:r>
          </a:p>
          <a:p>
            <a:r>
              <a:rPr lang="en-US" b="1" dirty="0">
                <a:latin typeface="Times New Roman" panose="02020603050405020304" pitchFamily="18" charset="0"/>
                <a:cs typeface="Times New Roman" panose="02020603050405020304" pitchFamily="18" charset="0"/>
              </a:rPr>
              <a:t>Genetic operators: </a:t>
            </a:r>
            <a:r>
              <a:rPr lang="en-US" dirty="0">
                <a:latin typeface="Times New Roman" panose="02020603050405020304" pitchFamily="18" charset="0"/>
                <a:cs typeface="Times New Roman" panose="02020603050405020304" pitchFamily="18" charset="0"/>
              </a:rPr>
              <a:t>In genetic algorithms, the best individuals mate to reproduce an offspring that is better than the parents. Genetic operators are used for changing the genetic composition of this next generation. </a:t>
            </a:r>
          </a:p>
          <a:p>
            <a:endParaRPr lang="en-IN" dirty="0"/>
          </a:p>
        </p:txBody>
      </p:sp>
    </p:spTree>
    <p:extLst>
      <p:ext uri="{BB962C8B-B14F-4D97-AF65-F5344CB8AC3E}">
        <p14:creationId xmlns:p14="http://schemas.microsoft.com/office/powerpoint/2010/main" val="3909075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69300-9242-77F2-3124-13C760204F1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3448F27-FA07-5633-D115-30C3DDEBF1D0}"/>
              </a:ext>
            </a:extLst>
          </p:cNvPr>
          <p:cNvSpPr>
            <a:spLocks noGrp="1"/>
          </p:cNvSpPr>
          <p:nvPr>
            <p:ph idx="1"/>
          </p:nvPr>
        </p:nvSpPr>
        <p:spPr/>
        <p:txBody>
          <a:bodyPr/>
          <a:lstStyle/>
          <a:p>
            <a:r>
              <a:rPr lang="en-US" sz="1700" dirty="0">
                <a:latin typeface="Times New Roman" panose="02020603050405020304" pitchFamily="18" charset="0"/>
                <a:cs typeface="Times New Roman" panose="02020603050405020304" pitchFamily="18" charset="0"/>
              </a:rPr>
              <a:t>A genetic algorithm (GA) is a heuristic search algorithm used to solve search and optimization problems. </a:t>
            </a:r>
          </a:p>
          <a:p>
            <a:r>
              <a:rPr lang="en-US" sz="1700" dirty="0">
                <a:latin typeface="Times New Roman" panose="02020603050405020304" pitchFamily="18" charset="0"/>
                <a:cs typeface="Times New Roman" panose="02020603050405020304" pitchFamily="18" charset="0"/>
              </a:rPr>
              <a:t>This algorithm is a subset of evolutionary algorithms, which are used in computation. Genetic algorithms employ the concept of genetics and natural selection to provide solutions to problems. </a:t>
            </a:r>
          </a:p>
          <a:p>
            <a:r>
              <a:rPr lang="en-US" sz="1700" dirty="0">
                <a:latin typeface="Times New Roman" panose="02020603050405020304" pitchFamily="18" charset="0"/>
                <a:cs typeface="Times New Roman" panose="02020603050405020304" pitchFamily="18" charset="0"/>
              </a:rPr>
              <a:t>These algorithms have better intelligence than random search algorithms because they use historical data to take the search to the best performing region within the solution space. </a:t>
            </a:r>
          </a:p>
          <a:p>
            <a:r>
              <a:rPr lang="en-US" sz="1700" dirty="0">
                <a:latin typeface="Times New Roman" panose="02020603050405020304" pitchFamily="18" charset="0"/>
                <a:cs typeface="Times New Roman" panose="02020603050405020304" pitchFamily="18" charset="0"/>
              </a:rPr>
              <a:t>GAs are also based on the behavior of chromosomes and their genetic structure. Every chromosome plays the role of providing a possible solution. </a:t>
            </a:r>
          </a:p>
          <a:p>
            <a:r>
              <a:rPr lang="en-US" sz="1700" dirty="0">
                <a:latin typeface="Times New Roman" panose="02020603050405020304" pitchFamily="18" charset="0"/>
                <a:cs typeface="Times New Roman" panose="02020603050405020304" pitchFamily="18" charset="0"/>
              </a:rPr>
              <a:t>The fitness function helps in providing the characteristics of all individuals within the population. The greater the function, the better the solution. </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97878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9F5348D-F17B-0648-4FE0-744DB1E310FA}"/>
              </a:ext>
            </a:extLst>
          </p:cNvPr>
          <p:cNvSpPr>
            <a:spLocks noGrp="1"/>
          </p:cNvSpPr>
          <p:nvPr>
            <p:ph idx="1"/>
          </p:nvPr>
        </p:nvSpPr>
        <p:spPr>
          <a:xfrm>
            <a:off x="2079762" y="2767280"/>
            <a:ext cx="8915400" cy="1323439"/>
          </a:xfrm>
          <a:prstGeom prst="rect">
            <a:avLst/>
          </a:prstGeom>
          <a:noFill/>
        </p:spPr>
        <p:txBody>
          <a:bodyPr wrap="square" lIns="91440" tIns="45720" rIns="91440" bIns="45720">
            <a:spAutoFit/>
          </a:bodyPr>
          <a:lstStyle/>
          <a:p>
            <a:pPr marL="0" indent="0" algn="ctr">
              <a:buNone/>
            </a:pPr>
            <a:r>
              <a:rPr lang="en-US" sz="8000" b="1" dirty="0">
                <a:ln w="22225">
                  <a:solidFill>
                    <a:schemeClr val="accent2"/>
                  </a:solidFill>
                  <a:prstDash val="solid"/>
                </a:ln>
                <a:solidFill>
                  <a:schemeClr val="accent2">
                    <a:lumMod val="40000"/>
                    <a:lumOff val="60000"/>
                  </a:schemeClr>
                </a:solidFill>
              </a:rPr>
              <a:t>THANK YOU</a:t>
            </a:r>
          </a:p>
        </p:txBody>
      </p:sp>
    </p:spTree>
    <p:extLst>
      <p:ext uri="{BB962C8B-B14F-4D97-AF65-F5344CB8AC3E}">
        <p14:creationId xmlns:p14="http://schemas.microsoft.com/office/powerpoint/2010/main" val="151413707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1918</TotalTime>
  <Words>3611</Words>
  <Application>Microsoft Office PowerPoint</Application>
  <PresentationFormat>Widescreen</PresentationFormat>
  <Paragraphs>156</Paragraphs>
  <Slides>22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Century Gothic</vt:lpstr>
      <vt:lpstr>Times</vt:lpstr>
      <vt:lpstr>Times New Roman</vt:lpstr>
      <vt:lpstr>Wingdings</vt:lpstr>
      <vt:lpstr>Wingdings 3</vt:lpstr>
      <vt:lpstr>Wisp</vt:lpstr>
      <vt:lpstr>Artificial Intelligence</vt:lpstr>
      <vt:lpstr>  LEARNING </vt:lpstr>
      <vt:lpstr>  AI LEARNING MODELS </vt:lpstr>
      <vt:lpstr>PowerPoint Presentation</vt:lpstr>
      <vt:lpstr>PowerPoint Presentation</vt:lpstr>
      <vt:lpstr>METHODS OF LEARNING</vt:lpstr>
      <vt:lpstr>ROTE LEARNING</vt:lpstr>
      <vt:lpstr>PowerPoint Presentation</vt:lpstr>
      <vt:lpstr>LEARNING BY TAKING ADVICE </vt:lpstr>
      <vt:lpstr>LEARNING IN PROBLEM-SOLVING</vt:lpstr>
      <vt:lpstr>PowerPoint Presentation</vt:lpstr>
      <vt:lpstr>PowerPoint Presentation</vt:lpstr>
      <vt:lpstr>LEARNING FROM EXAMPLES</vt:lpstr>
      <vt:lpstr>PowerPoint Presentation</vt:lpstr>
      <vt:lpstr>PowerPoint Presentation</vt:lpstr>
      <vt:lpstr>PowerPoint Presentation</vt:lpstr>
      <vt:lpstr>FORMAL LEARNING THEORY  </vt:lpstr>
      <vt:lpstr>NEURAL NET LEARNING </vt:lpstr>
      <vt:lpstr>PowerPoint Presentation</vt:lpstr>
      <vt:lpstr>GENETIC LEARNING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Bidush Kumar Sahoo</dc:creator>
  <cp:lastModifiedBy>Bidush Kumar Sahoo</cp:lastModifiedBy>
  <cp:revision>8</cp:revision>
  <dcterms:created xsi:type="dcterms:W3CDTF">2025-09-24T05:58:50Z</dcterms:created>
  <dcterms:modified xsi:type="dcterms:W3CDTF">2025-10-15T04:01:53Z</dcterms:modified>
</cp:coreProperties>
</file>