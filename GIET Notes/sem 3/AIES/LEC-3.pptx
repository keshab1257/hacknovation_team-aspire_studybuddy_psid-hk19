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17" r:id="rId2"/>
    <p:sldId id="320" r:id="rId3"/>
    <p:sldId id="257" r:id="rId4"/>
    <p:sldId id="258" r:id="rId5"/>
    <p:sldId id="309" r:id="rId6"/>
    <p:sldId id="311" r:id="rId7"/>
    <p:sldId id="313" r:id="rId8"/>
    <p:sldId id="312" r:id="rId9"/>
    <p:sldId id="314" r:id="rId10"/>
    <p:sldId id="307" r:id="rId11"/>
    <p:sldId id="308" r:id="rId12"/>
    <p:sldId id="315" r:id="rId13"/>
    <p:sldId id="318" r:id="rId14"/>
    <p:sldId id="319" r:id="rId15"/>
    <p:sldId id="316" r:id="rId16"/>
    <p:sldId id="321" r:id="rId17"/>
    <p:sldId id="32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48ACB9-4FBE-4AB3-8662-36810DC51F08}" type="datetimeFigureOut">
              <a:rPr lang="en-IN" smtClean="0"/>
              <a:t>01-08-2025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AC2C4C-2639-4A78-ADD5-FB4A0A893657}" type="slidenum">
              <a:rPr lang="en-IN" smtClean="0"/>
              <a:t>‹#›</a:t>
            </a:fld>
            <a:endParaRPr lang="en-IN"/>
          </a:p>
        </p:txBody>
      </p:sp>
    </p:spTree>
    <p:extLst>
      <p:ext uri="{BB962C8B-B14F-4D97-AF65-F5344CB8AC3E}">
        <p14:creationId xmlns:p14="http://schemas.microsoft.com/office/powerpoint/2010/main" val="23018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333BD1EA-54A6-3159-B346-176AE62B36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149F248-FA98-4A2E-ABF9-6C7CCAC44D1B}" type="slidenum">
              <a:rPr lang="ar-SA" altLang="ar-JO">
                <a:latin typeface="Times" panose="02020603050405020304" pitchFamily="18" charset="0"/>
              </a:rPr>
              <a:pPr fontAlgn="base">
                <a:spcBef>
                  <a:spcPct val="0"/>
                </a:spcBef>
                <a:spcAft>
                  <a:spcPct val="0"/>
                </a:spcAft>
              </a:pPr>
              <a:t>1</a:t>
            </a:fld>
            <a:endParaRPr lang="en-US" altLang="ar-JO">
              <a:latin typeface="Times" panose="02020603050405020304" pitchFamily="18" charset="0"/>
            </a:endParaRPr>
          </a:p>
        </p:txBody>
      </p:sp>
      <p:sp>
        <p:nvSpPr>
          <p:cNvPr id="7171" name="Rectangle 2">
            <a:extLst>
              <a:ext uri="{FF2B5EF4-FFF2-40B4-BE49-F238E27FC236}">
                <a16:creationId xmlns:a16="http://schemas.microsoft.com/office/drawing/2014/main" id="{F1ECE154-6518-4E4F-999C-AEA4E8134B10}"/>
              </a:ext>
            </a:extLst>
          </p:cNvPr>
          <p:cNvSpPr>
            <a:spLocks noGrp="1" noRot="1" noChangeAspect="1" noChangeArrowheads="1" noTextEdit="1"/>
          </p:cNvSpPr>
          <p:nvPr>
            <p:ph type="sldImg"/>
          </p:nvPr>
        </p:nvSpPr>
        <p:spPr>
          <a:solidFill>
            <a:srgbClr val="FFFFFF"/>
          </a:solidFill>
          <a:ln/>
        </p:spPr>
      </p:sp>
      <p:sp>
        <p:nvSpPr>
          <p:cNvPr id="7172" name="Rectangle 3">
            <a:extLst>
              <a:ext uri="{FF2B5EF4-FFF2-40B4-BE49-F238E27FC236}">
                <a16:creationId xmlns:a16="http://schemas.microsoft.com/office/drawing/2014/main" id="{DCFE76D8-4177-40E3-E069-E95BD1912F4E}"/>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ar-JO" altLang="ar-JO">
              <a:latin typeface="Times"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0F373DA-5000-45CF-96D0-3E2B917CF44B}"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4151448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F373DA-5000-45CF-96D0-3E2B917CF44B}"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1582605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F373DA-5000-45CF-96D0-3E2B917CF44B}"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3317324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F373DA-5000-45CF-96D0-3E2B917CF44B}" type="datetimeFigureOut">
              <a:rPr lang="en-IN" smtClean="0"/>
              <a:t>01-08-2025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3866176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F373DA-5000-45CF-96D0-3E2B917CF44B}" type="datetimeFigureOut">
              <a:rPr lang="en-IN" smtClean="0"/>
              <a:t>01-08-2025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2502371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F373DA-5000-45CF-96D0-3E2B917CF44B}" type="datetimeFigureOut">
              <a:rPr lang="en-IN" smtClean="0"/>
              <a:t>01-08-2025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105548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F373DA-5000-45CF-96D0-3E2B917CF44B}" type="datetimeFigureOut">
              <a:rPr lang="en-IN" smtClean="0"/>
              <a:t>01-08-2025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290258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F373DA-5000-45CF-96D0-3E2B917CF44B}" type="datetimeFigureOut">
              <a:rPr lang="en-IN" smtClean="0"/>
              <a:t>01-08-2025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3542054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F373DA-5000-45CF-96D0-3E2B917CF44B}" type="datetimeFigureOut">
              <a:rPr lang="en-IN" smtClean="0"/>
              <a:t>01-08-2025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1572045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F373DA-5000-45CF-96D0-3E2B917CF44B}"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1512911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F373DA-5000-45CF-96D0-3E2B917CF44B}"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9DE0D9-ACA8-4432-8BA1-A1F9409F470E}"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3998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0F373DA-5000-45CF-96D0-3E2B917CF44B}" type="datetimeFigureOut">
              <a:rPr lang="en-IN" smtClean="0"/>
              <a:t>01-08-2025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18910394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0F373DA-5000-45CF-96D0-3E2B917CF44B}" type="datetimeFigureOut">
              <a:rPr lang="en-IN" smtClean="0"/>
              <a:t>01-08-2025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9DE0D9-ACA8-4432-8BA1-A1F9409F470E}"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09178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0F373DA-5000-45CF-96D0-3E2B917CF44B}" type="datetimeFigureOut">
              <a:rPr lang="en-IN" smtClean="0"/>
              <a:t>01-08-2025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3720176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F373DA-5000-45CF-96D0-3E2B917CF44B}"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153385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F373DA-5000-45CF-96D0-3E2B917CF44B}" type="datetimeFigureOut">
              <a:rPr lang="en-IN" smtClean="0"/>
              <a:t>01-08-2025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79DE0D9-ACA8-4432-8BA1-A1F9409F470E}" type="slidenum">
              <a:rPr lang="en-IN" smtClean="0"/>
              <a:t>‹#›</a:t>
            </a:fld>
            <a:endParaRPr lang="en-IN"/>
          </a:p>
        </p:txBody>
      </p:sp>
    </p:spTree>
    <p:extLst>
      <p:ext uri="{BB962C8B-B14F-4D97-AF65-F5344CB8AC3E}">
        <p14:creationId xmlns:p14="http://schemas.microsoft.com/office/powerpoint/2010/main" val="1598951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0F373DA-5000-45CF-96D0-3E2B917CF44B}" type="datetimeFigureOut">
              <a:rPr lang="en-IN" smtClean="0"/>
              <a:t>01-08-2025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79DE0D9-ACA8-4432-8BA1-A1F9409F470E}" type="slidenum">
              <a:rPr lang="en-IN" smtClean="0"/>
              <a:t>‹#›</a:t>
            </a:fld>
            <a:endParaRPr lang="en-IN"/>
          </a:p>
        </p:txBody>
      </p:sp>
    </p:spTree>
    <p:extLst>
      <p:ext uri="{BB962C8B-B14F-4D97-AF65-F5344CB8AC3E}">
        <p14:creationId xmlns:p14="http://schemas.microsoft.com/office/powerpoint/2010/main" val="20405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E1393D4-C5F1-94C5-E64E-09276A8ADA4D}"/>
              </a:ext>
            </a:extLst>
          </p:cNvPr>
          <p:cNvSpPr>
            <a:spLocks noGrp="1" noChangeArrowheads="1"/>
          </p:cNvSpPr>
          <p:nvPr>
            <p:ph type="ctrTitle"/>
          </p:nvPr>
        </p:nvSpPr>
        <p:spPr>
          <a:xfrm>
            <a:off x="2209800" y="3334139"/>
            <a:ext cx="7772400" cy="1143000"/>
          </a:xfrm>
        </p:spPr>
        <p:txBody>
          <a:bodyPr rtlCol="0">
            <a:normAutofit fontScale="90000"/>
          </a:bodyPr>
          <a:lstStyle/>
          <a:p>
            <a:pPr>
              <a:defRPr/>
            </a:pPr>
            <a:r>
              <a:rPr lang="en-GB" sz="7300" dirty="0">
                <a:latin typeface="Times" panose="02020603050405020304" pitchFamily="18" charset="0"/>
                <a:cs typeface="Times" panose="02020603050405020304" pitchFamily="18" charset="0"/>
              </a:rPr>
              <a:t>Artificial Intelligence</a:t>
            </a:r>
            <a:br>
              <a:rPr lang="en-GB" dirty="0">
                <a:latin typeface="Times" panose="02020603050405020304" pitchFamily="18" charset="0"/>
                <a:cs typeface="Times" panose="02020603050405020304" pitchFamily="18" charset="0"/>
              </a:rPr>
            </a:br>
            <a:br>
              <a:rPr lang="en-GB" dirty="0">
                <a:latin typeface="Times" panose="02020603050405020304" pitchFamily="18" charset="0"/>
                <a:cs typeface="Times" panose="02020603050405020304" pitchFamily="18" charset="0"/>
              </a:rPr>
            </a:br>
            <a:r>
              <a:rPr lang="en-US" altLang="en-US" sz="5300" dirty="0">
                <a:latin typeface="Times" panose="02020603050405020304" pitchFamily="18" charset="0"/>
                <a:ea typeface="ＭＳ Ｐゴシック" panose="020B0600070205080204" pitchFamily="34" charset="-128"/>
                <a:cs typeface="Times" panose="02020603050405020304" pitchFamily="18" charset="0"/>
              </a:rPr>
              <a:t>Dr. Bidush Kumar Sahoo</a:t>
            </a:r>
            <a:br>
              <a:rPr lang="en-US" altLang="en-US" sz="7300" dirty="0">
                <a:latin typeface="Times" panose="02020603050405020304" pitchFamily="18" charset="0"/>
                <a:ea typeface="ＭＳ Ｐゴシック" panose="020B0600070205080204" pitchFamily="34" charset="-128"/>
                <a:cs typeface="Times" panose="02020603050405020304" pitchFamily="18" charset="0"/>
              </a:rPr>
            </a:br>
            <a:r>
              <a:rPr lang="en-US" altLang="en-US" sz="7300" dirty="0">
                <a:latin typeface="Times" panose="02020603050405020304" pitchFamily="18" charset="0"/>
                <a:ea typeface="ＭＳ Ｐゴシック" panose="020B0600070205080204" pitchFamily="34" charset="-128"/>
                <a:cs typeface="Times" panose="02020603050405020304" pitchFamily="18" charset="0"/>
              </a:rPr>
              <a:t>G.I.E.T. University,</a:t>
            </a:r>
            <a:br>
              <a:rPr lang="en-US" altLang="en-US" sz="7300" dirty="0">
                <a:latin typeface="Times" panose="02020603050405020304" pitchFamily="18" charset="0"/>
                <a:ea typeface="ＭＳ Ｐゴシック" panose="020B0600070205080204" pitchFamily="34" charset="-128"/>
                <a:cs typeface="Times" panose="02020603050405020304" pitchFamily="18" charset="0"/>
              </a:rPr>
            </a:br>
            <a:r>
              <a:rPr lang="en-US" altLang="en-US" sz="7300" dirty="0" err="1">
                <a:latin typeface="Times" panose="02020603050405020304" pitchFamily="18" charset="0"/>
                <a:ea typeface="ＭＳ Ｐゴシック" panose="020B0600070205080204" pitchFamily="34" charset="-128"/>
                <a:cs typeface="Times" panose="02020603050405020304" pitchFamily="18" charset="0"/>
              </a:rPr>
              <a:t>Gunupur</a:t>
            </a:r>
            <a:r>
              <a:rPr lang="en-US" altLang="en-US" sz="7300" dirty="0">
                <a:latin typeface="Times" panose="02020603050405020304" pitchFamily="18" charset="0"/>
                <a:ea typeface="ＭＳ Ｐゴシック" panose="020B0600070205080204" pitchFamily="34" charset="-128"/>
                <a:cs typeface="Times" panose="02020603050405020304" pitchFamily="18" charset="0"/>
              </a:rPr>
              <a:t>, Odisha</a:t>
            </a:r>
            <a:endParaRPr lang="en-GB" dirty="0">
              <a:latin typeface="Times" panose="02020603050405020304" pitchFamily="18" charset="0"/>
              <a:cs typeface="Times" panose="02020603050405020304" pitchFamily="18" charset="0"/>
            </a:endParaRPr>
          </a:p>
        </p:txBody>
      </p:sp>
      <p:sp>
        <p:nvSpPr>
          <p:cNvPr id="2" name="Slide Number Placeholder 1">
            <a:extLst>
              <a:ext uri="{FF2B5EF4-FFF2-40B4-BE49-F238E27FC236}">
                <a16:creationId xmlns:a16="http://schemas.microsoft.com/office/drawing/2014/main" id="{AAF99A6A-F416-83CA-5CC8-477FF8BBE903}"/>
              </a:ext>
            </a:extLst>
          </p:cNvPr>
          <p:cNvSpPr>
            <a:spLocks noGrp="1"/>
          </p:cNvSpPr>
          <p:nvPr>
            <p:ph type="sldNum" sz="quarter" idx="12"/>
          </p:nvPr>
        </p:nvSpPr>
        <p:spPr/>
        <p:txBody>
          <a:bodyPr/>
          <a:lstStyle/>
          <a:p>
            <a:fld id="{925DBA28-09A4-46E5-9122-9619524F7BDB}" type="slidenum">
              <a:rPr lang="en-IN" smtClean="0"/>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249CF-53DA-9461-7113-D6DF54B4E751}"/>
              </a:ext>
            </a:extLst>
          </p:cNvPr>
          <p:cNvSpPr>
            <a:spLocks noGrp="1"/>
          </p:cNvSpPr>
          <p:nvPr>
            <p:ph type="title"/>
          </p:nvPr>
        </p:nvSpPr>
        <p:spPr/>
        <p:txBody>
          <a:bodyPr/>
          <a:lstStyle/>
          <a:p>
            <a:r>
              <a:rPr lang="en-US" sz="4000" b="1" dirty="0">
                <a:solidFill>
                  <a:srgbClr val="000000"/>
                </a:solidFill>
                <a:latin typeface="Times New Roman" panose="02020603050405020304" pitchFamily="18" charset="0"/>
              </a:rPr>
              <a:t>LEVEL OF THE AI MODEL </a:t>
            </a:r>
            <a:endParaRPr lang="en-IN" sz="4000" b="1" dirty="0">
              <a:solidFill>
                <a:srgbClr val="00000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9AFAB956-D772-15CA-920C-72951F7710B8}"/>
              </a:ext>
            </a:extLst>
          </p:cNvPr>
          <p:cNvSpPr>
            <a:spLocks noGrp="1"/>
          </p:cNvSpPr>
          <p:nvPr>
            <p:ph idx="1"/>
          </p:nvPr>
        </p:nvSpPr>
        <p:spPr/>
        <p:txBody>
          <a:bodyPr>
            <a:normAutofit fontScale="77500" lnSpcReduction="20000"/>
          </a:bodyPr>
          <a:lstStyle/>
          <a:p>
            <a:pPr marL="0" indent="0" algn="just">
              <a:buNone/>
            </a:pPr>
            <a:r>
              <a:rPr lang="en-US" sz="1800" dirty="0">
                <a:solidFill>
                  <a:srgbClr val="000000"/>
                </a:solidFill>
                <a:latin typeface="Times New Roman" panose="02020603050405020304" pitchFamily="18" charset="0"/>
              </a:rPr>
              <a:t>I</a:t>
            </a:r>
            <a:r>
              <a:rPr lang="en-US" sz="1800" b="0" i="0" u="none" strike="noStrike" baseline="0" dirty="0">
                <a:solidFill>
                  <a:srgbClr val="000000"/>
                </a:solidFill>
                <a:latin typeface="Times New Roman" panose="02020603050405020304" pitchFamily="18" charset="0"/>
              </a:rPr>
              <a:t>n the first Level attempt to solve problems that a computer can easily solve and do not usually use AI techniques. </a:t>
            </a:r>
          </a:p>
          <a:p>
            <a:pPr marL="0" indent="0" algn="just">
              <a:buNone/>
            </a:pPr>
            <a:r>
              <a:rPr lang="en-US" sz="1800" b="0" i="0" u="none" strike="noStrike" baseline="0" dirty="0">
                <a:solidFill>
                  <a:srgbClr val="000000"/>
                </a:solidFill>
                <a:latin typeface="Times New Roman" panose="02020603050405020304" pitchFamily="18" charset="0"/>
              </a:rPr>
              <a:t>AI techniques usually include a search, as no direct method is available, the use of knowledge about the objects involved in the problem area and abstraction on which allows an element of pruning to occur and to enable a solution to be found in real time; otherwise, and the data could explode in size. Examples of these trivial problems in the first class, which are now of interest only to psychologists are EPAM (Elementary Perceiver and Memorizer) which memorized garbage syllables. </a:t>
            </a:r>
          </a:p>
          <a:p>
            <a:pPr marL="0" indent="0" algn="just">
              <a:buNone/>
            </a:pPr>
            <a:r>
              <a:rPr lang="en-US" sz="1800" b="0" i="0" u="none" strike="noStrike" baseline="0" dirty="0">
                <a:solidFill>
                  <a:srgbClr val="000000"/>
                </a:solidFill>
                <a:latin typeface="Times New Roman" panose="02020603050405020304" pitchFamily="18" charset="0"/>
              </a:rPr>
              <a:t>The second Level of problems attempts to solve problems that are non-trivial for a computer and use AI techniques. </a:t>
            </a:r>
          </a:p>
          <a:p>
            <a:pPr marL="0" indent="0" algn="just">
              <a:buNone/>
            </a:pPr>
            <a:r>
              <a:rPr lang="en-US" sz="1800" b="0" i="0" u="none" strike="noStrike" baseline="0" dirty="0">
                <a:solidFill>
                  <a:srgbClr val="000000"/>
                </a:solidFill>
                <a:latin typeface="Times New Roman" panose="02020603050405020304" pitchFamily="18" charset="0"/>
              </a:rPr>
              <a:t>We wish to model human performance on these: </a:t>
            </a:r>
          </a:p>
          <a:p>
            <a:pPr algn="just"/>
            <a:r>
              <a:rPr lang="en-US" sz="1800" b="0" i="0" u="none" strike="noStrike" baseline="0" dirty="0">
                <a:solidFill>
                  <a:srgbClr val="000000"/>
                </a:solidFill>
                <a:latin typeface="Times New Roman" panose="02020603050405020304" pitchFamily="18" charset="0"/>
              </a:rPr>
              <a:t>To test psychological theories of human performance. Ex. PARRY [Colby, 1975] – a program to simulate the conversational behavior of a paranoid person. </a:t>
            </a:r>
          </a:p>
          <a:p>
            <a:pPr algn="just"/>
            <a:r>
              <a:rPr lang="en-US" sz="1800" b="0" i="0" u="none" strike="noStrike" baseline="0" dirty="0">
                <a:solidFill>
                  <a:srgbClr val="000000"/>
                </a:solidFill>
                <a:latin typeface="Times New Roman" panose="02020603050405020304" pitchFamily="18" charset="0"/>
              </a:rPr>
              <a:t>To enable computers to understand human reasoning – for example, programs that answer questions based upon newspaper articles indicating human behavior. </a:t>
            </a:r>
          </a:p>
          <a:p>
            <a:pPr algn="just"/>
            <a:r>
              <a:rPr lang="en-US" sz="1800" b="0" i="0" u="none" strike="noStrike" baseline="0" dirty="0">
                <a:solidFill>
                  <a:srgbClr val="000000"/>
                </a:solidFill>
                <a:latin typeface="Times New Roman" panose="02020603050405020304" pitchFamily="18" charset="0"/>
              </a:rPr>
              <a:t>To enable people to understand computer reasoning. Some people are reluctant to accept computer results unless they understand the mechanisms involved in arriving at the results. </a:t>
            </a:r>
          </a:p>
          <a:p>
            <a:pPr algn="just"/>
            <a:r>
              <a:rPr lang="en-US" sz="1800" b="0" i="0" u="none" strike="noStrike" baseline="0" dirty="0">
                <a:solidFill>
                  <a:srgbClr val="000000"/>
                </a:solidFill>
                <a:latin typeface="Times New Roman" panose="02020603050405020304" pitchFamily="18" charset="0"/>
              </a:rPr>
              <a:t>To exploit the knowledge gained by people who are best at gathering information. Examples of this type of approach led to GPS (General Problem Solver). </a:t>
            </a:r>
          </a:p>
          <a:p>
            <a:endParaRPr lang="en-IN" dirty="0"/>
          </a:p>
        </p:txBody>
      </p:sp>
      <p:sp>
        <p:nvSpPr>
          <p:cNvPr id="4" name="Slide Number Placeholder 3">
            <a:extLst>
              <a:ext uri="{FF2B5EF4-FFF2-40B4-BE49-F238E27FC236}">
                <a16:creationId xmlns:a16="http://schemas.microsoft.com/office/drawing/2014/main" id="{DB818F9A-B069-FF9A-33C1-E43FE11DE9BF}"/>
              </a:ext>
            </a:extLst>
          </p:cNvPr>
          <p:cNvSpPr>
            <a:spLocks noGrp="1"/>
          </p:cNvSpPr>
          <p:nvPr>
            <p:ph type="sldNum" sz="quarter" idx="12"/>
          </p:nvPr>
        </p:nvSpPr>
        <p:spPr/>
        <p:txBody>
          <a:bodyPr/>
          <a:lstStyle/>
          <a:p>
            <a:fld id="{925DBA28-09A4-46E5-9122-9619524F7BDB}" type="slidenum">
              <a:rPr lang="en-IN" smtClean="0"/>
              <a:t>2</a:t>
            </a:fld>
            <a:endParaRPr lang="en-IN"/>
          </a:p>
        </p:txBody>
      </p:sp>
    </p:spTree>
    <p:extLst>
      <p:ext uri="{BB962C8B-B14F-4D97-AF65-F5344CB8AC3E}">
        <p14:creationId xmlns:p14="http://schemas.microsoft.com/office/powerpoint/2010/main" val="968267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CF015-FC02-02F8-901F-881A318BB5EA}"/>
              </a:ext>
            </a:extLst>
          </p:cNvPr>
          <p:cNvSpPr>
            <a:spLocks noGrp="1"/>
          </p:cNvSpPr>
          <p:nvPr>
            <p:ph type="title"/>
          </p:nvPr>
        </p:nvSpPr>
        <p:spPr/>
        <p:txBody>
          <a:bodyPr/>
          <a:lstStyle/>
          <a:p>
            <a:r>
              <a:rPr lang="en-US" altLang="en-US" sz="4000" b="1" dirty="0">
                <a:solidFill>
                  <a:srgbClr val="000000"/>
                </a:solidFill>
                <a:latin typeface="Times New Roman" panose="02020603050405020304" pitchFamily="18" charset="0"/>
              </a:rPr>
              <a:t>What is Problem?</a:t>
            </a:r>
            <a:endParaRPr lang="en-IN" sz="4000" b="1" dirty="0">
              <a:solidFill>
                <a:srgbClr val="00000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20E668B0-3A98-5887-6850-D0A10AED8B79}"/>
              </a:ext>
            </a:extLst>
          </p:cNvPr>
          <p:cNvSpPr>
            <a:spLocks noGrp="1"/>
          </p:cNvSpPr>
          <p:nvPr>
            <p:ph idx="1"/>
          </p:nvPr>
        </p:nvSpPr>
        <p:spPr/>
        <p:txBody>
          <a:bodyPr>
            <a:normAutofit/>
          </a:bodyPr>
          <a:lstStyle/>
          <a:p>
            <a:pPr marL="0" indent="0" algn="just">
              <a:lnSpc>
                <a:spcPct val="80000"/>
              </a:lnSpc>
              <a:buNone/>
            </a:pPr>
            <a:r>
              <a:rPr lang="en-US" sz="1500" dirty="0">
                <a:latin typeface="Times" panose="02020603050405020304" pitchFamily="18" charset="0"/>
                <a:cs typeface="Times" panose="02020603050405020304" pitchFamily="18" charset="0"/>
              </a:rPr>
              <a:t>Problem solving is a process of generating solutions from observed data. </a:t>
            </a:r>
          </a:p>
          <a:p>
            <a:pPr algn="just">
              <a:lnSpc>
                <a:spcPct val="80000"/>
              </a:lnSpc>
            </a:pPr>
            <a:r>
              <a:rPr lang="en-US" sz="1500" dirty="0">
                <a:latin typeface="Times" panose="02020603050405020304" pitchFamily="18" charset="0"/>
                <a:cs typeface="Times" panose="02020603050405020304" pitchFamily="18" charset="0"/>
              </a:rPr>
              <a:t>a ‘problem’ is characterized by a set of goals, a set of objects, and a set of operations. These could be ill-defined and may evolve during problem solving. </a:t>
            </a:r>
          </a:p>
          <a:p>
            <a:pPr algn="just">
              <a:lnSpc>
                <a:spcPct val="80000"/>
              </a:lnSpc>
            </a:pPr>
            <a:r>
              <a:rPr lang="en-US" sz="1500" dirty="0">
                <a:latin typeface="Times" panose="02020603050405020304" pitchFamily="18" charset="0"/>
                <a:cs typeface="Times" panose="02020603050405020304" pitchFamily="18" charset="0"/>
              </a:rPr>
              <a:t>A ‘problem space’ is an abstract space. A problem space is represented by a directed graph, where nodes </a:t>
            </a:r>
          </a:p>
          <a:p>
            <a:pPr algn="just">
              <a:lnSpc>
                <a:spcPct val="80000"/>
              </a:lnSpc>
            </a:pPr>
            <a:r>
              <a:rPr lang="en-US" sz="1500" dirty="0">
                <a:latin typeface="Times" panose="02020603050405020304" pitchFamily="18" charset="0"/>
                <a:cs typeface="Times" panose="02020603050405020304" pitchFamily="18" charset="0"/>
              </a:rPr>
              <a:t>represent search state and paths represent the operators applied to change the state. </a:t>
            </a:r>
          </a:p>
          <a:p>
            <a:pPr marL="0" indent="0" algn="just">
              <a:lnSpc>
                <a:spcPct val="80000"/>
              </a:lnSpc>
              <a:buNone/>
            </a:pPr>
            <a:r>
              <a:rPr lang="en-US" sz="1500" dirty="0">
                <a:latin typeface="Times" panose="02020603050405020304" pitchFamily="18" charset="0"/>
                <a:cs typeface="Times" panose="02020603050405020304" pitchFamily="18" charset="0"/>
              </a:rPr>
              <a:t>➢ A problem space encompasses all valid states that can be generated by the application of any combination of operators on any combination of objects. </a:t>
            </a:r>
          </a:p>
          <a:p>
            <a:pPr marL="0" indent="0" algn="just">
              <a:lnSpc>
                <a:spcPct val="80000"/>
              </a:lnSpc>
              <a:buNone/>
            </a:pPr>
            <a:r>
              <a:rPr lang="en-US" sz="1500" dirty="0">
                <a:latin typeface="Times" panose="02020603050405020304" pitchFamily="18" charset="0"/>
                <a:cs typeface="Times" panose="02020603050405020304" pitchFamily="18" charset="0"/>
              </a:rPr>
              <a:t>➢ The problem space may contain one or more solutions. A solution is a combination of operations and </a:t>
            </a:r>
          </a:p>
          <a:p>
            <a:pPr algn="just">
              <a:lnSpc>
                <a:spcPct val="80000"/>
              </a:lnSpc>
            </a:pPr>
            <a:endParaRPr lang="en-IN" sz="1500" dirty="0">
              <a:latin typeface="Times" panose="02020603050405020304" pitchFamily="18" charset="0"/>
              <a:cs typeface="Times" panose="02020603050405020304" pitchFamily="18" charset="0"/>
            </a:endParaRPr>
          </a:p>
          <a:p>
            <a:pPr marL="0" indent="0" algn="just">
              <a:lnSpc>
                <a:spcPct val="80000"/>
              </a:lnSpc>
              <a:buNone/>
            </a:pPr>
            <a:r>
              <a:rPr lang="en-US" sz="1500" dirty="0">
                <a:latin typeface="Times" panose="02020603050405020304" pitchFamily="18" charset="0"/>
                <a:cs typeface="Times" panose="02020603050405020304" pitchFamily="18" charset="0"/>
              </a:rPr>
              <a:t>objects that achieve the goals. </a:t>
            </a:r>
          </a:p>
          <a:p>
            <a:pPr marL="0" indent="0" algn="just">
              <a:lnSpc>
                <a:spcPct val="80000"/>
              </a:lnSpc>
              <a:buNone/>
            </a:pPr>
            <a:r>
              <a:rPr lang="en-US" sz="1500" dirty="0">
                <a:latin typeface="Times" panose="02020603050405020304" pitchFamily="18" charset="0"/>
                <a:cs typeface="Times" panose="02020603050405020304" pitchFamily="18" charset="0"/>
              </a:rPr>
              <a:t>➢ A ‘search’ refers to the search for a solution in a problem space. </a:t>
            </a:r>
          </a:p>
          <a:p>
            <a:pPr marL="0" indent="0" algn="just">
              <a:lnSpc>
                <a:spcPct val="80000"/>
              </a:lnSpc>
              <a:buNone/>
            </a:pPr>
            <a:r>
              <a:rPr lang="en-US" sz="1500" dirty="0">
                <a:latin typeface="Times" panose="02020603050405020304" pitchFamily="18" charset="0"/>
                <a:cs typeface="Times" panose="02020603050405020304" pitchFamily="18" charset="0"/>
              </a:rPr>
              <a:t>➢ Search proceeds with different types of ‘search control strategies’. </a:t>
            </a:r>
          </a:p>
          <a:p>
            <a:pPr marL="0" indent="0" algn="just">
              <a:lnSpc>
                <a:spcPct val="80000"/>
              </a:lnSpc>
              <a:buNone/>
            </a:pPr>
            <a:r>
              <a:rPr lang="en-US" sz="1500" dirty="0">
                <a:latin typeface="Times" panose="02020603050405020304" pitchFamily="18" charset="0"/>
                <a:cs typeface="Times" panose="02020603050405020304" pitchFamily="18" charset="0"/>
              </a:rPr>
              <a:t>➢ The depth-first search and breadth-first search are the two common search strategies. </a:t>
            </a:r>
          </a:p>
          <a:p>
            <a:endParaRPr lang="en-IN" sz="1800" b="0" i="0" u="none" strike="noStrike" baseline="0" dirty="0">
              <a:solidFill>
                <a:srgbClr val="000000"/>
              </a:solidFill>
              <a:latin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575561F9-2F11-50B2-3DF7-AFC562283954}"/>
              </a:ext>
            </a:extLst>
          </p:cNvPr>
          <p:cNvSpPr>
            <a:spLocks noGrp="1"/>
          </p:cNvSpPr>
          <p:nvPr>
            <p:ph type="sldNum" sz="quarter" idx="12"/>
          </p:nvPr>
        </p:nvSpPr>
        <p:spPr/>
        <p:txBody>
          <a:bodyPr/>
          <a:lstStyle/>
          <a:p>
            <a:fld id="{925DBA28-09A4-46E5-9122-9619524F7BDB}" type="slidenum">
              <a:rPr lang="en-IN" smtClean="0"/>
              <a:t>3</a:t>
            </a:fld>
            <a:endParaRPr lang="en-IN"/>
          </a:p>
        </p:txBody>
      </p:sp>
    </p:spTree>
    <p:extLst>
      <p:ext uri="{BB962C8B-B14F-4D97-AF65-F5344CB8AC3E}">
        <p14:creationId xmlns:p14="http://schemas.microsoft.com/office/powerpoint/2010/main" val="1245593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CF015-FC02-02F8-901F-881A318BB5EA}"/>
              </a:ext>
            </a:extLst>
          </p:cNvPr>
          <p:cNvSpPr>
            <a:spLocks noGrp="1"/>
          </p:cNvSpPr>
          <p:nvPr>
            <p:ph type="title"/>
          </p:nvPr>
        </p:nvSpPr>
        <p:spPr/>
        <p:txBody>
          <a:bodyPr/>
          <a:lstStyle/>
          <a:p>
            <a:r>
              <a:rPr lang="en-US" altLang="en-US" sz="4000" b="1" dirty="0">
                <a:solidFill>
                  <a:srgbClr val="000000"/>
                </a:solidFill>
                <a:latin typeface="Times New Roman" panose="02020603050405020304" pitchFamily="18" charset="0"/>
              </a:rPr>
              <a:t>What is Problem? </a:t>
            </a:r>
            <a:r>
              <a:rPr lang="en-US" sz="4000" b="1" dirty="0">
                <a:solidFill>
                  <a:srgbClr val="000000"/>
                </a:solidFill>
                <a:latin typeface="Times New Roman" panose="02020603050405020304" pitchFamily="18" charset="0"/>
              </a:rPr>
              <a:t>Contd..</a:t>
            </a:r>
            <a:endParaRPr lang="en-IN" sz="4000" b="1" dirty="0">
              <a:solidFill>
                <a:srgbClr val="00000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20E668B0-3A98-5887-6850-D0A10AED8B79}"/>
              </a:ext>
            </a:extLst>
          </p:cNvPr>
          <p:cNvSpPr>
            <a:spLocks noGrp="1"/>
          </p:cNvSpPr>
          <p:nvPr>
            <p:ph idx="1"/>
          </p:nvPr>
        </p:nvSpPr>
        <p:spPr/>
        <p:txBody>
          <a:bodyPr>
            <a:normAutofit fontScale="25000" lnSpcReduction="20000"/>
          </a:bodyPr>
          <a:lstStyle/>
          <a:p>
            <a:pPr marL="0" indent="0">
              <a:buNone/>
            </a:pPr>
            <a:r>
              <a:rPr lang="en-US" sz="4400" dirty="0">
                <a:latin typeface="Times" panose="02020603050405020304" pitchFamily="18" charset="0"/>
                <a:cs typeface="Times" panose="02020603050405020304" pitchFamily="18" charset="0"/>
              </a:rPr>
              <a:t>To build a system to solve a particular problem, we need to: </a:t>
            </a:r>
          </a:p>
          <a:p>
            <a:pPr marL="0" indent="0">
              <a:buNone/>
            </a:pPr>
            <a:endParaRPr lang="en-US" sz="4400" dirty="0">
              <a:latin typeface="Times" panose="02020603050405020304" pitchFamily="18" charset="0"/>
              <a:cs typeface="Times" panose="02020603050405020304" pitchFamily="18" charset="0"/>
            </a:endParaRPr>
          </a:p>
          <a:p>
            <a:pPr marL="0" indent="0">
              <a:buNone/>
            </a:pPr>
            <a:r>
              <a:rPr lang="en-US" sz="4400" dirty="0">
                <a:latin typeface="Times" panose="02020603050405020304" pitchFamily="18" charset="0"/>
                <a:cs typeface="Times" panose="02020603050405020304" pitchFamily="18" charset="0"/>
              </a:rPr>
              <a:t>➢ Define the problem precisely – find input situations as well as final situations for an acceptable solution to the problem </a:t>
            </a:r>
          </a:p>
          <a:p>
            <a:pPr marL="0" indent="0">
              <a:buNone/>
            </a:pPr>
            <a:r>
              <a:rPr lang="en-US" sz="4400" dirty="0">
                <a:latin typeface="Times" panose="02020603050405020304" pitchFamily="18" charset="0"/>
                <a:cs typeface="Times" panose="02020603050405020304" pitchFamily="18" charset="0"/>
              </a:rPr>
              <a:t>➢ Analyze the problem – find few important features that may have impact on the appropriateness of various possible techniques for solving the problem </a:t>
            </a:r>
          </a:p>
          <a:p>
            <a:pPr marL="0" indent="0">
              <a:buNone/>
            </a:pPr>
            <a:r>
              <a:rPr lang="en-US" sz="4400" dirty="0">
                <a:latin typeface="Times" panose="02020603050405020304" pitchFamily="18" charset="0"/>
                <a:cs typeface="Times" panose="02020603050405020304" pitchFamily="18" charset="0"/>
              </a:rPr>
              <a:t>➢ Isolate and represent task knowledge necessary to solve the problem </a:t>
            </a:r>
          </a:p>
          <a:p>
            <a:pPr marL="0" indent="0">
              <a:buNone/>
            </a:pPr>
            <a:r>
              <a:rPr lang="en-US" sz="4400" dirty="0">
                <a:latin typeface="Times" panose="02020603050405020304" pitchFamily="18" charset="0"/>
                <a:cs typeface="Times" panose="02020603050405020304" pitchFamily="18" charset="0"/>
              </a:rPr>
              <a:t>➢ Choose the best problem-solving technique(s) and apply to the particular problem </a:t>
            </a:r>
          </a:p>
          <a:p>
            <a:endParaRPr lang="en-IN" sz="4400" dirty="0">
              <a:latin typeface="Times" panose="02020603050405020304" pitchFamily="18" charset="0"/>
              <a:cs typeface="Times" panose="02020603050405020304" pitchFamily="18" charset="0"/>
            </a:endParaRPr>
          </a:p>
          <a:p>
            <a:pPr marL="0" indent="0">
              <a:buNone/>
            </a:pPr>
            <a:r>
              <a:rPr lang="en-IN" sz="4400" b="1" dirty="0">
                <a:latin typeface="Times" panose="02020603050405020304" pitchFamily="18" charset="0"/>
                <a:cs typeface="Times" panose="02020603050405020304" pitchFamily="18" charset="0"/>
              </a:rPr>
              <a:t>Problem definitions </a:t>
            </a:r>
          </a:p>
          <a:p>
            <a:pPr marL="0" indent="0">
              <a:buNone/>
            </a:pPr>
            <a:r>
              <a:rPr lang="en-US" sz="4400" dirty="0">
                <a:latin typeface="Times" panose="02020603050405020304" pitchFamily="18" charset="0"/>
                <a:cs typeface="Times" panose="02020603050405020304" pitchFamily="18" charset="0"/>
              </a:rPr>
              <a:t>A problem is defined by its ‘elements’ and their ‘relations’. To provide a formal description of a problem, we need to do the following: </a:t>
            </a:r>
          </a:p>
          <a:p>
            <a:pPr marL="0" indent="0">
              <a:buNone/>
            </a:pPr>
            <a:r>
              <a:rPr lang="en-US" sz="4400" dirty="0">
                <a:latin typeface="Times" panose="02020603050405020304" pitchFamily="18" charset="0"/>
                <a:cs typeface="Times" panose="02020603050405020304" pitchFamily="18" charset="0"/>
              </a:rPr>
              <a:t>➢ Define a state space that contains all the possible configurations of the relevant objects, including some impossible ones. </a:t>
            </a:r>
          </a:p>
          <a:p>
            <a:pPr marL="0" indent="0">
              <a:buNone/>
            </a:pPr>
            <a:r>
              <a:rPr lang="en-US" sz="4400" dirty="0">
                <a:latin typeface="Times" panose="02020603050405020304" pitchFamily="18" charset="0"/>
                <a:cs typeface="Times" panose="02020603050405020304" pitchFamily="18" charset="0"/>
              </a:rPr>
              <a:t>➢ Specify one or more states that describe possible situations, from which the problem- solving process may start. These states are called initial states. </a:t>
            </a:r>
          </a:p>
          <a:p>
            <a:pPr marL="0" indent="0">
              <a:buNone/>
            </a:pPr>
            <a:r>
              <a:rPr lang="en-US" sz="4400" dirty="0">
                <a:latin typeface="Times" panose="02020603050405020304" pitchFamily="18" charset="0"/>
                <a:cs typeface="Times" panose="02020603050405020304" pitchFamily="18" charset="0"/>
              </a:rPr>
              <a:t>➢ Specify one or more states that would be acceptable solution to the problem. These states are called goal states </a:t>
            </a:r>
          </a:p>
          <a:p>
            <a:endParaRPr lang="en-IN" dirty="0"/>
          </a:p>
        </p:txBody>
      </p:sp>
      <p:sp>
        <p:nvSpPr>
          <p:cNvPr id="4" name="Slide Number Placeholder 3">
            <a:extLst>
              <a:ext uri="{FF2B5EF4-FFF2-40B4-BE49-F238E27FC236}">
                <a16:creationId xmlns:a16="http://schemas.microsoft.com/office/drawing/2014/main" id="{07347EF8-15BE-BE10-FE5F-8C6391EFD4C8}"/>
              </a:ext>
            </a:extLst>
          </p:cNvPr>
          <p:cNvSpPr>
            <a:spLocks noGrp="1"/>
          </p:cNvSpPr>
          <p:nvPr>
            <p:ph type="sldNum" sz="quarter" idx="12"/>
          </p:nvPr>
        </p:nvSpPr>
        <p:spPr/>
        <p:txBody>
          <a:bodyPr/>
          <a:lstStyle/>
          <a:p>
            <a:fld id="{925DBA28-09A4-46E5-9122-9619524F7BDB}" type="slidenum">
              <a:rPr lang="en-IN" smtClean="0"/>
              <a:t>4</a:t>
            </a:fld>
            <a:endParaRPr lang="en-IN"/>
          </a:p>
        </p:txBody>
      </p:sp>
    </p:spTree>
    <p:extLst>
      <p:ext uri="{BB962C8B-B14F-4D97-AF65-F5344CB8AC3E}">
        <p14:creationId xmlns:p14="http://schemas.microsoft.com/office/powerpoint/2010/main" val="3824159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a:extLst>
              <a:ext uri="{FF2B5EF4-FFF2-40B4-BE49-F238E27FC236}">
                <a16:creationId xmlns:a16="http://schemas.microsoft.com/office/drawing/2014/main" id="{5CA3D0C7-AC51-E8D3-8E71-2FC69DEA70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
            <a:ext cx="4267200"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Picture 4">
            <a:extLst>
              <a:ext uri="{FF2B5EF4-FFF2-40B4-BE49-F238E27FC236}">
                <a16:creationId xmlns:a16="http://schemas.microsoft.com/office/drawing/2014/main" id="{4452C3FC-2F38-B3D5-263F-C03E56DF23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600576"/>
            <a:ext cx="426720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Picture 4">
            <a:extLst>
              <a:ext uri="{FF2B5EF4-FFF2-40B4-BE49-F238E27FC236}">
                <a16:creationId xmlns:a16="http://schemas.microsoft.com/office/drawing/2014/main" id="{949FFC31-B953-0A2C-61A3-FBD05C36E2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6764" y="0"/>
            <a:ext cx="4821237"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3">
            <a:extLst>
              <a:ext uri="{FF2B5EF4-FFF2-40B4-BE49-F238E27FC236}">
                <a16:creationId xmlns:a16="http://schemas.microsoft.com/office/drawing/2014/main" id="{FF6DA969-60AC-F837-961B-9CF2659F56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53680" y="2470150"/>
            <a:ext cx="48037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16F0F62-5FFB-B8CD-C484-74FB9082C62B}"/>
              </a:ext>
            </a:extLst>
          </p:cNvPr>
          <p:cNvSpPr>
            <a:spLocks noGrp="1"/>
          </p:cNvSpPr>
          <p:nvPr>
            <p:ph type="sldNum" sz="quarter" idx="12"/>
          </p:nvPr>
        </p:nvSpPr>
        <p:spPr/>
        <p:txBody>
          <a:bodyPr/>
          <a:lstStyle/>
          <a:p>
            <a:fld id="{925DBA28-09A4-46E5-9122-9619524F7BDB}"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301EF-BD9A-6DA5-7182-92E55C4F6C53}"/>
              </a:ext>
            </a:extLst>
          </p:cNvPr>
          <p:cNvSpPr>
            <a:spLocks noGrp="1"/>
          </p:cNvSpPr>
          <p:nvPr>
            <p:ph type="title"/>
          </p:nvPr>
        </p:nvSpPr>
        <p:spPr/>
        <p:txBody>
          <a:bodyPr>
            <a:normAutofit fontScale="90000"/>
          </a:bodyPr>
          <a:lstStyle/>
          <a:p>
            <a:br>
              <a:rPr lang="en-IN" sz="4400" b="0" i="0" u="none" strike="noStrike" baseline="0" dirty="0">
                <a:solidFill>
                  <a:srgbClr val="000000"/>
                </a:solidFill>
                <a:latin typeface="Wingdings" panose="05000000000000000000" pitchFamily="2" charset="2"/>
              </a:rPr>
            </a:br>
            <a:r>
              <a:rPr lang="en-IN" sz="4400" b="1" i="0" u="none" strike="noStrike" baseline="0" dirty="0">
                <a:solidFill>
                  <a:srgbClr val="000000"/>
                </a:solidFill>
                <a:latin typeface="Times New Roman" panose="02020603050405020304" pitchFamily="18" charset="0"/>
              </a:rPr>
              <a:t>PROBLEM CHARACTERISTICS </a:t>
            </a:r>
            <a:br>
              <a:rPr lang="en-IN" dirty="0"/>
            </a:br>
            <a:endParaRPr lang="en-IN" dirty="0"/>
          </a:p>
        </p:txBody>
      </p:sp>
      <p:sp>
        <p:nvSpPr>
          <p:cNvPr id="3" name="Content Placeholder 2">
            <a:extLst>
              <a:ext uri="{FF2B5EF4-FFF2-40B4-BE49-F238E27FC236}">
                <a16:creationId xmlns:a16="http://schemas.microsoft.com/office/drawing/2014/main" id="{99FBF367-BCC0-BA8C-DA7A-254DD787D2E2}"/>
              </a:ext>
            </a:extLst>
          </p:cNvPr>
          <p:cNvSpPr>
            <a:spLocks noGrp="1"/>
          </p:cNvSpPr>
          <p:nvPr>
            <p:ph idx="1"/>
          </p:nvPr>
        </p:nvSpPr>
        <p:spPr/>
        <p:txBody>
          <a:bodyPr>
            <a:normAutofit lnSpcReduction="10000"/>
          </a:bodyPr>
          <a:lstStyle/>
          <a:p>
            <a:pPr algn="l"/>
            <a:endParaRPr lang="en-IN"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Decomposability of the problem into a set of independent smaller subproblems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Possibility of undoing solution steps, if they are found to be unwise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Predictability of the problem universe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Possibility of obtaining an obvious solution to a problem without comparison of all other possible solutions </a:t>
            </a:r>
            <a:endParaRPr lang="en-US" sz="1800" b="0" i="0" u="none" strike="noStrike" baseline="0" dirty="0">
              <a:solidFill>
                <a:srgbClr val="000000"/>
              </a:solidFill>
              <a:latin typeface="Wingdings" panose="05000000000000000000" pitchFamily="2" charset="2"/>
            </a:endParaRPr>
          </a:p>
          <a:p>
            <a:pPr algn="l"/>
            <a:endParaRPr lang="en-IN"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Type of the solution: whether it is a state or a path to the goal state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Role of knowledge in problem solving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Nature of solution process: with or without interacting with the user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DBC780BF-FB13-9697-0645-1AD269D2C978}"/>
              </a:ext>
            </a:extLst>
          </p:cNvPr>
          <p:cNvSpPr>
            <a:spLocks noGrp="1"/>
          </p:cNvSpPr>
          <p:nvPr>
            <p:ph type="sldNum" sz="quarter" idx="12"/>
          </p:nvPr>
        </p:nvSpPr>
        <p:spPr/>
        <p:txBody>
          <a:bodyPr/>
          <a:lstStyle/>
          <a:p>
            <a:fld id="{925DBA28-09A4-46E5-9122-9619524F7BDB}" type="slidenum">
              <a:rPr lang="en-IN" smtClean="0"/>
              <a:t>6</a:t>
            </a:fld>
            <a:endParaRPr lang="en-IN"/>
          </a:p>
        </p:txBody>
      </p:sp>
    </p:spTree>
    <p:extLst>
      <p:ext uri="{BB962C8B-B14F-4D97-AF65-F5344CB8AC3E}">
        <p14:creationId xmlns:p14="http://schemas.microsoft.com/office/powerpoint/2010/main" val="228757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301EF-BD9A-6DA5-7182-92E55C4F6C53}"/>
              </a:ext>
            </a:extLst>
          </p:cNvPr>
          <p:cNvSpPr>
            <a:spLocks noGrp="1"/>
          </p:cNvSpPr>
          <p:nvPr>
            <p:ph type="title"/>
          </p:nvPr>
        </p:nvSpPr>
        <p:spPr/>
        <p:txBody>
          <a:bodyPr>
            <a:normAutofit fontScale="90000"/>
          </a:bodyPr>
          <a:lstStyle/>
          <a:p>
            <a:r>
              <a:rPr lang="en-IN" sz="4400" b="1" i="0" u="none" strike="noStrike" baseline="0" dirty="0">
                <a:solidFill>
                  <a:srgbClr val="000000"/>
                </a:solidFill>
                <a:latin typeface="Times New Roman" panose="02020603050405020304" pitchFamily="18" charset="0"/>
              </a:rPr>
              <a:t>Production System in AI </a:t>
            </a:r>
            <a:br>
              <a:rPr lang="en-IN" sz="44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9FBF367-BCC0-BA8C-DA7A-254DD787D2E2}"/>
              </a:ext>
            </a:extLst>
          </p:cNvPr>
          <p:cNvSpPr>
            <a:spLocks noGrp="1"/>
          </p:cNvSpPr>
          <p:nvPr>
            <p:ph idx="1"/>
          </p:nvPr>
        </p:nvSpPr>
        <p:spPr/>
        <p:txBody>
          <a:bodyPr/>
          <a:lstStyle/>
          <a:p>
            <a:r>
              <a:rPr lang="en-US" sz="1800" b="0" i="0" u="none" strike="noStrike" baseline="0" dirty="0">
                <a:solidFill>
                  <a:srgbClr val="000000"/>
                </a:solidFill>
                <a:latin typeface="Times New Roman" panose="02020603050405020304" pitchFamily="18" charset="0"/>
              </a:rPr>
              <a:t>A production system (popularly known as a production rule system) is a kind of cognitive architecture that is used to implement search algorithms and replicate human problem-solving skills. This problem-solving knowledge is encoded in the system in the form of little quanta popularly known as productions. It consists of two components: rule and action. </a:t>
            </a:r>
          </a:p>
          <a:p>
            <a:r>
              <a:rPr lang="en-US" sz="1800" b="0" i="0" u="none" strike="noStrike" baseline="0" dirty="0">
                <a:solidFill>
                  <a:srgbClr val="000000"/>
                </a:solidFill>
                <a:latin typeface="Times New Roman" panose="02020603050405020304" pitchFamily="18" charset="0"/>
              </a:rPr>
              <a:t>Rules recognize the condition, and the actions part has the knowledge of how to deal with the condition. In simpler words, the production system in AI contains a set of rules which are defined by the left side and right side of the system. The left side contains a set of things to watch for (condition), and the right side contains the things to do (action). </a:t>
            </a:r>
          </a:p>
          <a:p>
            <a:pPr marL="0" indent="0">
              <a:buNone/>
            </a:pPr>
            <a:endParaRPr lang="en-IN" dirty="0"/>
          </a:p>
        </p:txBody>
      </p:sp>
      <p:sp>
        <p:nvSpPr>
          <p:cNvPr id="4" name="Slide Number Placeholder 3">
            <a:extLst>
              <a:ext uri="{FF2B5EF4-FFF2-40B4-BE49-F238E27FC236}">
                <a16:creationId xmlns:a16="http://schemas.microsoft.com/office/drawing/2014/main" id="{05D03752-AC94-C81F-129C-2F769FD7F1E1}"/>
              </a:ext>
            </a:extLst>
          </p:cNvPr>
          <p:cNvSpPr>
            <a:spLocks noGrp="1"/>
          </p:cNvSpPr>
          <p:nvPr>
            <p:ph type="sldNum" sz="quarter" idx="12"/>
          </p:nvPr>
        </p:nvSpPr>
        <p:spPr/>
        <p:txBody>
          <a:bodyPr/>
          <a:lstStyle/>
          <a:p>
            <a:fld id="{925DBA28-09A4-46E5-9122-9619524F7BDB}" type="slidenum">
              <a:rPr lang="en-IN" smtClean="0"/>
              <a:t>7</a:t>
            </a:fld>
            <a:endParaRPr lang="en-IN"/>
          </a:p>
        </p:txBody>
      </p:sp>
    </p:spTree>
    <p:extLst>
      <p:ext uri="{BB962C8B-B14F-4D97-AF65-F5344CB8AC3E}">
        <p14:creationId xmlns:p14="http://schemas.microsoft.com/office/powerpoint/2010/main" val="3492394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301EF-BD9A-6DA5-7182-92E55C4F6C53}"/>
              </a:ext>
            </a:extLst>
          </p:cNvPr>
          <p:cNvSpPr>
            <a:spLocks noGrp="1"/>
          </p:cNvSpPr>
          <p:nvPr>
            <p:ph type="title"/>
          </p:nvPr>
        </p:nvSpPr>
        <p:spPr/>
        <p:txBody>
          <a:bodyPr>
            <a:normAutofit fontScale="90000"/>
          </a:bodyPr>
          <a:lstStyle/>
          <a:p>
            <a:r>
              <a:rPr lang="en-US" sz="4400" b="1" i="0" u="none" strike="noStrike" baseline="0" dirty="0">
                <a:solidFill>
                  <a:srgbClr val="000000"/>
                </a:solidFill>
                <a:latin typeface="Times New Roman" panose="02020603050405020304" pitchFamily="18" charset="0"/>
              </a:rPr>
              <a:t> Features of a Production System</a:t>
            </a:r>
            <a:br>
              <a:rPr lang="en-US" sz="44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9FBF367-BCC0-BA8C-DA7A-254DD787D2E2}"/>
              </a:ext>
            </a:extLst>
          </p:cNvPr>
          <p:cNvSpPr>
            <a:spLocks noGrp="1"/>
          </p:cNvSpPr>
          <p:nvPr>
            <p:ph idx="1"/>
          </p:nvPr>
        </p:nvSpPr>
        <p:spPr/>
        <p:txBody>
          <a:bodyPr>
            <a:normAutofit lnSpcReduction="10000"/>
          </a:bodyPr>
          <a:lstStyle/>
          <a:p>
            <a:pPr marL="0" indent="0">
              <a:buNone/>
            </a:pPr>
            <a:r>
              <a:rPr lang="en-US" sz="1800" b="1" i="0" u="none" strike="noStrike" baseline="0" dirty="0">
                <a:solidFill>
                  <a:srgbClr val="000000"/>
                </a:solidFill>
                <a:latin typeface="Times New Roman" panose="02020603050405020304" pitchFamily="18" charset="0"/>
              </a:rPr>
              <a:t>A production system has the following features: </a:t>
            </a:r>
            <a:endParaRPr lang="en-US" sz="1800" b="0" i="0" u="none" strike="noStrike" baseline="0" dirty="0">
              <a:solidFill>
                <a:srgbClr val="000000"/>
              </a:solidFill>
              <a:latin typeface="Times New Roman" panose="02020603050405020304" pitchFamily="18" charset="0"/>
            </a:endParaRPr>
          </a:p>
          <a:p>
            <a:r>
              <a:rPr lang="en-US" sz="1800" b="1" i="0" u="none" strike="noStrike" baseline="0" dirty="0">
                <a:solidFill>
                  <a:srgbClr val="000000"/>
                </a:solidFill>
                <a:latin typeface="Times New Roman" panose="02020603050405020304" pitchFamily="18" charset="0"/>
              </a:rPr>
              <a:t>Simplicity: </a:t>
            </a:r>
            <a:r>
              <a:rPr lang="en-US" sz="1800" b="0" i="0" u="none" strike="noStrike" baseline="0" dirty="0">
                <a:solidFill>
                  <a:srgbClr val="000000"/>
                </a:solidFill>
                <a:latin typeface="Times New Roman" panose="02020603050405020304" pitchFamily="18" charset="0"/>
              </a:rPr>
              <a:t>Due to the use of the IF-THEN structure, each sentence is unique in the production system. This uniqueness makes the knowledge representation simple to enhance the readability of the production rules. </a:t>
            </a:r>
          </a:p>
          <a:p>
            <a:r>
              <a:rPr lang="en-US" sz="1800" b="1" i="0" u="none" strike="noStrike" baseline="0" dirty="0">
                <a:solidFill>
                  <a:srgbClr val="000000"/>
                </a:solidFill>
                <a:latin typeface="Times New Roman" panose="02020603050405020304" pitchFamily="18" charset="0"/>
              </a:rPr>
              <a:t>Modularity: </a:t>
            </a:r>
            <a:r>
              <a:rPr lang="en-US" sz="1800" b="0" i="0" u="none" strike="noStrike" baseline="0" dirty="0">
                <a:solidFill>
                  <a:srgbClr val="000000"/>
                </a:solidFill>
                <a:latin typeface="Times New Roman" panose="02020603050405020304" pitchFamily="18" charset="0"/>
              </a:rPr>
              <a:t>The knowledge available is coded in discrete pieces by the production system, which makes it easy to add, modify, or delete the information without any side effects. </a:t>
            </a:r>
          </a:p>
          <a:p>
            <a:r>
              <a:rPr lang="en-US" sz="1800" b="1" i="0" u="none" strike="noStrike" baseline="0" dirty="0">
                <a:solidFill>
                  <a:srgbClr val="000000"/>
                </a:solidFill>
                <a:latin typeface="Times New Roman" panose="02020603050405020304" pitchFamily="18" charset="0"/>
              </a:rPr>
              <a:t>Modifiability: </a:t>
            </a:r>
            <a:r>
              <a:rPr lang="en-US" sz="1800" b="0" i="0" u="none" strike="noStrike" baseline="0" dirty="0">
                <a:solidFill>
                  <a:srgbClr val="000000"/>
                </a:solidFill>
                <a:latin typeface="Times New Roman" panose="02020603050405020304" pitchFamily="18" charset="0"/>
              </a:rPr>
              <a:t>This feature allows for the modification of the production rules. The rules are first defined in the skeletal form and then modified to suit an application. </a:t>
            </a:r>
          </a:p>
          <a:p>
            <a:r>
              <a:rPr lang="en-US" sz="1800" b="1" i="0" u="none" strike="noStrike" baseline="0" dirty="0">
                <a:solidFill>
                  <a:srgbClr val="000000"/>
                </a:solidFill>
                <a:latin typeface="Times New Roman" panose="02020603050405020304" pitchFamily="18" charset="0"/>
              </a:rPr>
              <a:t>Knowledge-intensive: </a:t>
            </a:r>
            <a:r>
              <a:rPr lang="en-US" sz="1800" b="0" i="0" u="none" strike="noStrike" baseline="0" dirty="0">
                <a:solidFill>
                  <a:srgbClr val="000000"/>
                </a:solidFill>
                <a:latin typeface="Times New Roman" panose="02020603050405020304" pitchFamily="18" charset="0"/>
              </a:rPr>
              <a:t>As the name suggests, the system only stores knowledge. All the rules are written in the English language. This type of representation solves the semantics problem. </a:t>
            </a:r>
            <a:endParaRPr lang="en-IN" dirty="0"/>
          </a:p>
        </p:txBody>
      </p:sp>
      <p:sp>
        <p:nvSpPr>
          <p:cNvPr id="4" name="Slide Number Placeholder 3">
            <a:extLst>
              <a:ext uri="{FF2B5EF4-FFF2-40B4-BE49-F238E27FC236}">
                <a16:creationId xmlns:a16="http://schemas.microsoft.com/office/drawing/2014/main" id="{E146D2AF-3F4E-DBDA-FCB6-A14DCCD9D477}"/>
              </a:ext>
            </a:extLst>
          </p:cNvPr>
          <p:cNvSpPr>
            <a:spLocks noGrp="1"/>
          </p:cNvSpPr>
          <p:nvPr>
            <p:ph type="sldNum" sz="quarter" idx="12"/>
          </p:nvPr>
        </p:nvSpPr>
        <p:spPr/>
        <p:txBody>
          <a:bodyPr/>
          <a:lstStyle/>
          <a:p>
            <a:fld id="{925DBA28-09A4-46E5-9122-9619524F7BDB}" type="slidenum">
              <a:rPr lang="en-IN" smtClean="0"/>
              <a:t>8</a:t>
            </a:fld>
            <a:endParaRPr lang="en-IN"/>
          </a:p>
        </p:txBody>
      </p:sp>
    </p:spTree>
    <p:extLst>
      <p:ext uri="{BB962C8B-B14F-4D97-AF65-F5344CB8AC3E}">
        <p14:creationId xmlns:p14="http://schemas.microsoft.com/office/powerpoint/2010/main" val="3359499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4A53C-4277-E8E3-96C2-488577BCEA12}"/>
              </a:ext>
            </a:extLst>
          </p:cNvPr>
          <p:cNvSpPr>
            <a:spLocks noGrp="1"/>
          </p:cNvSpPr>
          <p:nvPr>
            <p:ph type="title"/>
          </p:nvPr>
        </p:nvSpPr>
        <p:spPr/>
        <p:txBody>
          <a:bodyPr>
            <a:normAutofit fontScale="90000"/>
          </a:bodyPr>
          <a:lstStyle/>
          <a:p>
            <a:r>
              <a:rPr lang="en-IN" sz="4400" b="1" i="0" u="none" strike="noStrike" baseline="0" dirty="0">
                <a:solidFill>
                  <a:srgbClr val="000000"/>
                </a:solidFill>
                <a:latin typeface="Times New Roman" panose="02020603050405020304" pitchFamily="18" charset="0"/>
              </a:rPr>
              <a:t>Production System Characteristics </a:t>
            </a:r>
            <a:br>
              <a:rPr lang="en-IN" dirty="0"/>
            </a:br>
            <a:endParaRPr lang="en-IN" dirty="0"/>
          </a:p>
        </p:txBody>
      </p:sp>
      <p:sp>
        <p:nvSpPr>
          <p:cNvPr id="3" name="Content Placeholder 2">
            <a:extLst>
              <a:ext uri="{FF2B5EF4-FFF2-40B4-BE49-F238E27FC236}">
                <a16:creationId xmlns:a16="http://schemas.microsoft.com/office/drawing/2014/main" id="{45D0421B-03B7-93A4-5BDB-E5FC2772C8F4}"/>
              </a:ext>
            </a:extLst>
          </p:cNvPr>
          <p:cNvSpPr>
            <a:spLocks noGrp="1"/>
          </p:cNvSpPr>
          <p:nvPr>
            <p:ph idx="1"/>
          </p:nvPr>
        </p:nvSpPr>
        <p:spPr/>
        <p:txBody>
          <a:bodyPr>
            <a:normAutofit fontScale="85000" lnSpcReduction="10000"/>
          </a:bodyPr>
          <a:lstStyle/>
          <a:p>
            <a:pPr algn="l"/>
            <a:endParaRPr lang="en-IN"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Monotonic Production System</a:t>
            </a:r>
            <a:r>
              <a:rPr lang="en-US" sz="1800" b="0" i="0" u="none" strike="noStrike" baseline="0" dirty="0">
                <a:solidFill>
                  <a:srgbClr val="000000"/>
                </a:solidFill>
                <a:latin typeface="Times New Roman" panose="02020603050405020304" pitchFamily="18" charset="0"/>
              </a:rPr>
              <a:t>: It’s a production system in which the application of a rule never prevents the later application of another rule, which could have also been applied at the time the first rule was selected.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Partially Commutative Production System</a:t>
            </a:r>
            <a:r>
              <a:rPr lang="en-US" sz="1800" b="0" i="0" u="none" strike="noStrike" baseline="0" dirty="0">
                <a:solidFill>
                  <a:srgbClr val="000000"/>
                </a:solidFill>
                <a:latin typeface="Times New Roman" panose="02020603050405020304" pitchFamily="18" charset="0"/>
              </a:rPr>
              <a:t>: It’s a type of production system in which the application of a sequence of rules transforms state X into state Y, then any permutation of those rules that is allowable also transforms state x into state Y. Theorem proving falls under the monotonic partially communicative system.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Non-Monotonic Production Systems</a:t>
            </a:r>
            <a:r>
              <a:rPr lang="en-US" sz="1800" b="0" i="0" u="none" strike="noStrike" baseline="0" dirty="0">
                <a:solidFill>
                  <a:srgbClr val="000000"/>
                </a:solidFill>
                <a:latin typeface="Times New Roman" panose="02020603050405020304" pitchFamily="18" charset="0"/>
              </a:rPr>
              <a:t>: These are useful for solving ignorable problems. These systems are important from an implementation standpoint because they can be implemented without the ability to backtrack to previous states when it is discovered that an incorrect path was followed. This production system increases efficiency since it is not necessary to keep track of the changes made in the search process.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Commutative Systems</a:t>
            </a:r>
            <a:r>
              <a:rPr lang="en-US" sz="1800" b="0" i="0" u="none" strike="noStrike" baseline="0" dirty="0">
                <a:solidFill>
                  <a:srgbClr val="000000"/>
                </a:solidFill>
                <a:latin typeface="Times New Roman" panose="02020603050405020304" pitchFamily="18" charset="0"/>
              </a:rPr>
              <a:t>: These are usually useful for problems in which changes occur but can be reversed and in which the order of operation is not critical. Production systems that are not partially commutative are useful for many problems in which irreversible changes occur, such as chemical analysis. When dealing with such systems, the order in which operations are performed is very important and hence correct decisions must be made at the first attempt itself.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2801AEE8-96B6-47E2-2BE2-9361B96FE156}"/>
              </a:ext>
            </a:extLst>
          </p:cNvPr>
          <p:cNvSpPr>
            <a:spLocks noGrp="1"/>
          </p:cNvSpPr>
          <p:nvPr>
            <p:ph type="sldNum" sz="quarter" idx="12"/>
          </p:nvPr>
        </p:nvSpPr>
        <p:spPr/>
        <p:txBody>
          <a:bodyPr/>
          <a:lstStyle/>
          <a:p>
            <a:fld id="{925DBA28-09A4-46E5-9122-9619524F7BDB}" type="slidenum">
              <a:rPr lang="en-IN" smtClean="0"/>
              <a:t>9</a:t>
            </a:fld>
            <a:endParaRPr lang="en-IN"/>
          </a:p>
        </p:txBody>
      </p:sp>
    </p:spTree>
    <p:extLst>
      <p:ext uri="{BB962C8B-B14F-4D97-AF65-F5344CB8AC3E}">
        <p14:creationId xmlns:p14="http://schemas.microsoft.com/office/powerpoint/2010/main" val="140526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4F11F94A-4EBC-7C62-3B45-DB6068AFA054}"/>
              </a:ext>
            </a:extLst>
          </p:cNvPr>
          <p:cNvSpPr>
            <a:spLocks noGrp="1"/>
          </p:cNvSpPr>
          <p:nvPr>
            <p:ph type="title"/>
          </p:nvPr>
        </p:nvSpPr>
        <p:spPr>
          <a:xfrm>
            <a:off x="2209800" y="-152400"/>
            <a:ext cx="7772400" cy="1143000"/>
          </a:xfrm>
        </p:spPr>
        <p:txBody>
          <a:bodyPr>
            <a:normAutofit/>
          </a:bodyPr>
          <a:lstStyle/>
          <a:p>
            <a:r>
              <a:rPr lang="en-US" altLang="en-US" sz="4000" b="1" dirty="0">
                <a:solidFill>
                  <a:srgbClr val="000000"/>
                </a:solidFill>
                <a:latin typeface="Times New Roman" panose="02020603050405020304" pitchFamily="18" charset="0"/>
              </a:rPr>
              <a:t>What is Search?</a:t>
            </a:r>
          </a:p>
        </p:txBody>
      </p:sp>
      <p:sp>
        <p:nvSpPr>
          <p:cNvPr id="26627" name="Content Placeholder 2">
            <a:extLst>
              <a:ext uri="{FF2B5EF4-FFF2-40B4-BE49-F238E27FC236}">
                <a16:creationId xmlns:a16="http://schemas.microsoft.com/office/drawing/2014/main" id="{8842C613-1A37-BDBE-1414-6108A014321C}"/>
              </a:ext>
            </a:extLst>
          </p:cNvPr>
          <p:cNvSpPr>
            <a:spLocks noGrp="1"/>
          </p:cNvSpPr>
          <p:nvPr>
            <p:ph sz="half" idx="1"/>
          </p:nvPr>
        </p:nvSpPr>
        <p:spPr>
          <a:xfrm>
            <a:off x="1957874" y="1769817"/>
            <a:ext cx="8915400" cy="2057400"/>
          </a:xfrm>
        </p:spPr>
        <p:txBody>
          <a:bodyPr/>
          <a:lstStyle/>
          <a:p>
            <a:r>
              <a:rPr lang="en-US" altLang="en-US" dirty="0">
                <a:latin typeface="Times" panose="02020603050405020304" pitchFamily="18" charset="0"/>
                <a:cs typeface="Times" panose="02020603050405020304" pitchFamily="18" charset="0"/>
              </a:rPr>
              <a:t>We define the state of the problem being solved as the values of the active variables</a:t>
            </a:r>
          </a:p>
          <a:p>
            <a:pPr lvl="1"/>
            <a:r>
              <a:rPr lang="en-US" altLang="en-US" dirty="0">
                <a:latin typeface="Times" panose="02020603050405020304" pitchFamily="18" charset="0"/>
                <a:cs typeface="Times" panose="02020603050405020304" pitchFamily="18" charset="0"/>
              </a:rPr>
              <a:t>this will include any partial solutions, previous conclusions, user answers to questions, </a:t>
            </a:r>
            <a:r>
              <a:rPr lang="en-US" altLang="en-US" dirty="0" err="1">
                <a:latin typeface="Times" panose="02020603050405020304" pitchFamily="18" charset="0"/>
                <a:cs typeface="Times" panose="02020603050405020304" pitchFamily="18" charset="0"/>
              </a:rPr>
              <a:t>etc</a:t>
            </a:r>
            <a:endParaRPr lang="en-US" altLang="en-US" dirty="0">
              <a:latin typeface="Times" panose="02020603050405020304" pitchFamily="18" charset="0"/>
              <a:cs typeface="Times" panose="02020603050405020304" pitchFamily="18" charset="0"/>
            </a:endParaRPr>
          </a:p>
          <a:p>
            <a:pPr lvl="1">
              <a:buFontTx/>
              <a:buNone/>
            </a:pPr>
            <a:endParaRPr lang="en-US" altLang="en-US" dirty="0"/>
          </a:p>
        </p:txBody>
      </p:sp>
      <p:sp>
        <p:nvSpPr>
          <p:cNvPr id="26628" name="Content Placeholder 7">
            <a:extLst>
              <a:ext uri="{FF2B5EF4-FFF2-40B4-BE49-F238E27FC236}">
                <a16:creationId xmlns:a16="http://schemas.microsoft.com/office/drawing/2014/main" id="{3F108353-178E-4F3B-203D-6799DC4DF1DC}"/>
              </a:ext>
            </a:extLst>
          </p:cNvPr>
          <p:cNvSpPr>
            <a:spLocks noGrp="1"/>
          </p:cNvSpPr>
          <p:nvPr>
            <p:ph sz="half" idx="2"/>
          </p:nvPr>
        </p:nvSpPr>
        <p:spPr>
          <a:xfrm>
            <a:off x="1752600" y="2438400"/>
            <a:ext cx="4191000" cy="4419600"/>
          </a:xfrm>
        </p:spPr>
        <p:txBody>
          <a:bodyPr>
            <a:normAutofit/>
          </a:bodyPr>
          <a:lstStyle/>
          <a:p>
            <a:pPr marL="742950" lvl="2" indent="-342900"/>
            <a:r>
              <a:rPr lang="en-US" altLang="en-US" sz="2400" dirty="0">
                <a:latin typeface="Times" panose="02020603050405020304" pitchFamily="18" charset="0"/>
                <a:cs typeface="Times" panose="02020603050405020304" pitchFamily="18" charset="0"/>
              </a:rPr>
              <a:t>while humans are often able to make intuitive leaps, or recall solutions with little thought, the computer must search through various combinations to find a solution</a:t>
            </a:r>
          </a:p>
          <a:p>
            <a:r>
              <a:rPr lang="en-US" altLang="en-US" dirty="0">
                <a:latin typeface="Times" panose="02020603050405020304" pitchFamily="18" charset="0"/>
                <a:cs typeface="Times" panose="02020603050405020304" pitchFamily="18" charset="0"/>
              </a:rPr>
              <a:t>To the right is a search space for a tic-tac-toe game</a:t>
            </a:r>
          </a:p>
        </p:txBody>
      </p:sp>
      <p:sp>
        <p:nvSpPr>
          <p:cNvPr id="2" name="Slide Number Placeholder 1">
            <a:extLst>
              <a:ext uri="{FF2B5EF4-FFF2-40B4-BE49-F238E27FC236}">
                <a16:creationId xmlns:a16="http://schemas.microsoft.com/office/drawing/2014/main" id="{980AE54D-A9EF-EF2E-806F-822DC74BDA3D}"/>
              </a:ext>
            </a:extLst>
          </p:cNvPr>
          <p:cNvSpPr>
            <a:spLocks noGrp="1"/>
          </p:cNvSpPr>
          <p:nvPr>
            <p:ph type="sldNum" sz="quarter" idx="12"/>
          </p:nvPr>
        </p:nvSpPr>
        <p:spPr/>
        <p:txBody>
          <a:bodyPr/>
          <a:lstStyle/>
          <a:p>
            <a:fld id="{925DBA28-09A4-46E5-9122-9619524F7BDB}" type="slidenum">
              <a:rPr lang="en-IN" smtClean="0"/>
              <a:t>10</a:t>
            </a:fld>
            <a:endParaRPr lang="en-IN"/>
          </a:p>
        </p:txBody>
      </p:sp>
      <p:pic>
        <p:nvPicPr>
          <p:cNvPr id="26629" name="Picture 4">
            <a:extLst>
              <a:ext uri="{FF2B5EF4-FFF2-40B4-BE49-F238E27FC236}">
                <a16:creationId xmlns:a16="http://schemas.microsoft.com/office/drawing/2014/main" id="{54F339F0-165F-5BF0-45E3-61D545989A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2" y="2590800"/>
            <a:ext cx="4567237"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4660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4">
            <a:extLst>
              <a:ext uri="{FF2B5EF4-FFF2-40B4-BE49-F238E27FC236}">
                <a16:creationId xmlns:a16="http://schemas.microsoft.com/office/drawing/2014/main" id="{B8CF3214-F05A-5BD4-BFEA-90F9D656216B}"/>
              </a:ext>
            </a:extLst>
          </p:cNvPr>
          <p:cNvSpPr>
            <a:spLocks noGrp="1"/>
          </p:cNvSpPr>
          <p:nvPr>
            <p:ph type="title"/>
          </p:nvPr>
        </p:nvSpPr>
        <p:spPr>
          <a:xfrm>
            <a:off x="1905000" y="-76200"/>
            <a:ext cx="8534400" cy="1143000"/>
          </a:xfrm>
        </p:spPr>
        <p:txBody>
          <a:bodyPr>
            <a:normAutofit/>
          </a:bodyPr>
          <a:lstStyle/>
          <a:p>
            <a:r>
              <a:rPr lang="en-US" altLang="en-US" sz="4000" b="1" dirty="0">
                <a:solidFill>
                  <a:srgbClr val="000000"/>
                </a:solidFill>
                <a:latin typeface="Times New Roman" panose="02020603050405020304" pitchFamily="18" charset="0"/>
              </a:rPr>
              <a:t>Search Spaces and Types of Search</a:t>
            </a:r>
          </a:p>
        </p:txBody>
      </p:sp>
      <p:sp>
        <p:nvSpPr>
          <p:cNvPr id="6" name="Content Placeholder 5">
            <a:extLst>
              <a:ext uri="{FF2B5EF4-FFF2-40B4-BE49-F238E27FC236}">
                <a16:creationId xmlns:a16="http://schemas.microsoft.com/office/drawing/2014/main" id="{5FC00F2D-614E-05EE-2AD0-6C834569F34D}"/>
              </a:ext>
            </a:extLst>
          </p:cNvPr>
          <p:cNvSpPr>
            <a:spLocks noGrp="1"/>
          </p:cNvSpPr>
          <p:nvPr>
            <p:ph idx="1"/>
          </p:nvPr>
        </p:nvSpPr>
        <p:spPr>
          <a:xfrm>
            <a:off x="1763486" y="1884784"/>
            <a:ext cx="8534400" cy="5943600"/>
          </a:xfrm>
        </p:spPr>
        <p:txBody>
          <a:bodyPr>
            <a:normAutofit/>
          </a:bodyPr>
          <a:lstStyle/>
          <a:p>
            <a:pPr>
              <a:defRPr/>
            </a:pPr>
            <a:r>
              <a:rPr lang="en-US" dirty="0">
                <a:latin typeface="Times" panose="02020603050405020304" pitchFamily="18" charset="0"/>
                <a:cs typeface="Times" panose="02020603050405020304" pitchFamily="18" charset="0"/>
              </a:rPr>
              <a:t>The search space consists of all possible states of the problem as it is being solved</a:t>
            </a:r>
          </a:p>
          <a:p>
            <a:pPr lvl="1">
              <a:defRPr/>
            </a:pPr>
            <a:r>
              <a:rPr lang="en-US" dirty="0">
                <a:latin typeface="Times" panose="02020603050405020304" pitchFamily="18" charset="0"/>
                <a:cs typeface="Times" panose="02020603050405020304" pitchFamily="18" charset="0"/>
              </a:rPr>
              <a:t>A search space is often viewed as a tree and can very well consist of an exponential number of nodes making the search process intractable</a:t>
            </a:r>
          </a:p>
          <a:p>
            <a:pPr lvl="1">
              <a:defRPr/>
            </a:pPr>
            <a:r>
              <a:rPr lang="en-US" dirty="0">
                <a:latin typeface="Times" panose="02020603050405020304" pitchFamily="18" charset="0"/>
                <a:cs typeface="Times" panose="02020603050405020304" pitchFamily="18" charset="0"/>
              </a:rPr>
              <a:t>Search spaces might be pre-enumerated or generated during the search process</a:t>
            </a:r>
          </a:p>
          <a:p>
            <a:pPr lvl="1">
              <a:defRPr/>
            </a:pPr>
            <a:r>
              <a:rPr lang="en-US" dirty="0">
                <a:latin typeface="Times" panose="02020603050405020304" pitchFamily="18" charset="0"/>
                <a:cs typeface="Times" panose="02020603050405020304" pitchFamily="18" charset="0"/>
              </a:rPr>
              <a:t>Some search algorithms may search the entire space until a solution is found, others will only search parts of the space, possibly selecting where to search through a heuristic</a:t>
            </a:r>
          </a:p>
          <a:p>
            <a:pPr>
              <a:defRPr/>
            </a:pPr>
            <a:r>
              <a:rPr lang="en-US" dirty="0">
                <a:latin typeface="Times" panose="02020603050405020304" pitchFamily="18" charset="0"/>
                <a:cs typeface="Times" panose="02020603050405020304" pitchFamily="18" charset="0"/>
              </a:rPr>
              <a:t>Search spaces include</a:t>
            </a:r>
          </a:p>
          <a:p>
            <a:pPr lvl="1">
              <a:defRPr/>
            </a:pPr>
            <a:r>
              <a:rPr lang="en-US" dirty="0">
                <a:latin typeface="Times" panose="02020603050405020304" pitchFamily="18" charset="0"/>
                <a:cs typeface="Times" panose="02020603050405020304" pitchFamily="18" charset="0"/>
              </a:rPr>
              <a:t>Game trees like the tic-tac-toe game</a:t>
            </a:r>
          </a:p>
          <a:p>
            <a:pPr lvl="1">
              <a:defRPr/>
            </a:pPr>
            <a:r>
              <a:rPr lang="en-US" dirty="0">
                <a:latin typeface="Times" panose="02020603050405020304" pitchFamily="18" charset="0"/>
                <a:cs typeface="Times" panose="02020603050405020304" pitchFamily="18" charset="0"/>
              </a:rPr>
              <a:t>Decision trees (see next slides)</a:t>
            </a:r>
          </a:p>
          <a:p>
            <a:pPr lvl="1">
              <a:defRPr/>
            </a:pPr>
            <a:r>
              <a:rPr lang="en-US" dirty="0">
                <a:latin typeface="Times" panose="02020603050405020304" pitchFamily="18" charset="0"/>
                <a:cs typeface="Times" panose="02020603050405020304" pitchFamily="18" charset="0"/>
              </a:rPr>
              <a:t>Combinations of rules to select in a production system</a:t>
            </a:r>
          </a:p>
          <a:p>
            <a:pPr lvl="1">
              <a:defRPr/>
            </a:pPr>
            <a:r>
              <a:rPr lang="en-US" dirty="0">
                <a:latin typeface="Times" panose="02020603050405020304" pitchFamily="18" charset="0"/>
                <a:cs typeface="Times" panose="02020603050405020304" pitchFamily="18" charset="0"/>
              </a:rPr>
              <a:t>Networks of various forms (see next slides)</a:t>
            </a:r>
          </a:p>
          <a:p>
            <a:pPr lvl="1">
              <a:defRPr/>
            </a:pPr>
            <a:r>
              <a:rPr lang="en-US" dirty="0">
                <a:latin typeface="Times" panose="02020603050405020304" pitchFamily="18" charset="0"/>
                <a:cs typeface="Times" panose="02020603050405020304" pitchFamily="18" charset="0"/>
              </a:rPr>
              <a:t>Other types of spaces</a:t>
            </a:r>
          </a:p>
        </p:txBody>
      </p:sp>
      <p:sp>
        <p:nvSpPr>
          <p:cNvPr id="2" name="Slide Number Placeholder 1">
            <a:extLst>
              <a:ext uri="{FF2B5EF4-FFF2-40B4-BE49-F238E27FC236}">
                <a16:creationId xmlns:a16="http://schemas.microsoft.com/office/drawing/2014/main" id="{B442383C-F4AE-B890-34E1-46422AFFEB5D}"/>
              </a:ext>
            </a:extLst>
          </p:cNvPr>
          <p:cNvSpPr>
            <a:spLocks noGrp="1"/>
          </p:cNvSpPr>
          <p:nvPr>
            <p:ph type="sldNum" sz="quarter" idx="12"/>
          </p:nvPr>
        </p:nvSpPr>
        <p:spPr/>
        <p:txBody>
          <a:bodyPr/>
          <a:lstStyle/>
          <a:p>
            <a:fld id="{925DBA28-09A4-46E5-9122-9619524F7BDB}" type="slidenum">
              <a:rPr lang="en-IN" smtClean="0"/>
              <a:t>11</a:t>
            </a:fld>
            <a:endParaRPr lang="en-IN"/>
          </a:p>
        </p:txBody>
      </p:sp>
    </p:spTree>
    <p:extLst>
      <p:ext uri="{BB962C8B-B14F-4D97-AF65-F5344CB8AC3E}">
        <p14:creationId xmlns:p14="http://schemas.microsoft.com/office/powerpoint/2010/main" val="4255164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8AA07-3652-9C1E-111C-257034A25652}"/>
              </a:ext>
            </a:extLst>
          </p:cNvPr>
          <p:cNvSpPr>
            <a:spLocks noGrp="1"/>
          </p:cNvSpPr>
          <p:nvPr>
            <p:ph type="title"/>
          </p:nvPr>
        </p:nvSpPr>
        <p:spPr/>
        <p:txBody>
          <a:bodyPr>
            <a:normAutofit fontScale="90000"/>
          </a:bodyPr>
          <a:lstStyle/>
          <a:p>
            <a:r>
              <a:rPr lang="en-US" sz="4400" b="1" i="0" u="none" strike="noStrike" baseline="0" dirty="0">
                <a:solidFill>
                  <a:srgbClr val="000000"/>
                </a:solidFill>
                <a:latin typeface="Times New Roman" panose="02020603050405020304" pitchFamily="18" charset="0"/>
              </a:rPr>
              <a:t>Issues in the Design of Search Programs </a:t>
            </a:r>
            <a:br>
              <a:rPr lang="en-US" sz="4400" b="0" i="0" u="none" strike="noStrike" baseline="0" dirty="0">
                <a:solidFill>
                  <a:srgbClr val="000000"/>
                </a:solidFill>
                <a:latin typeface="Wingdings" panose="05000000000000000000" pitchFamily="2" charset="2"/>
              </a:rPr>
            </a:br>
            <a:endParaRPr lang="en-IN" dirty="0"/>
          </a:p>
        </p:txBody>
      </p:sp>
      <p:sp>
        <p:nvSpPr>
          <p:cNvPr id="3" name="Content Placeholder 2">
            <a:extLst>
              <a:ext uri="{FF2B5EF4-FFF2-40B4-BE49-F238E27FC236}">
                <a16:creationId xmlns:a16="http://schemas.microsoft.com/office/drawing/2014/main" id="{A80A4BF8-8870-9166-92A6-619F67972A31}"/>
              </a:ext>
            </a:extLst>
          </p:cNvPr>
          <p:cNvSpPr>
            <a:spLocks noGrp="1"/>
          </p:cNvSpPr>
          <p:nvPr>
            <p:ph idx="1"/>
          </p:nvPr>
        </p:nvSpPr>
        <p:spPr/>
        <p:txBody>
          <a:bodyPr>
            <a:normAutofit fontScale="85000" lnSpcReduction="20000"/>
          </a:bodyPr>
          <a:lstStyle/>
          <a:p>
            <a:pPr algn="l"/>
            <a:endParaRPr lang="en-IN"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Each search process can be considered to be a tree traversal. The object of the search is to find a path from the initial state to a goal state using a tree. The number of nodes generated might be huge; and in practice many of the nodes would not be needed. The secret of a good search routine is to generate only those nodes that are likely to be useful, rather than having a precise tree. The rules are used to represent the tree implicitly and only to create nodes explicitly if they are actually to be of use. </a:t>
            </a:r>
            <a:endParaRPr lang="en-US"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The following issues arise when searching: </a:t>
            </a:r>
            <a:endParaRPr lang="en-IN" sz="1800" dirty="0"/>
          </a:p>
          <a:p>
            <a:pPr marL="0" indent="0" algn="l">
              <a:buNone/>
            </a:pPr>
            <a:endParaRPr lang="en-IN"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The tree can be searched forward from the initial node to the goal state or backwards from the goal state to the initial state.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To select applicable rules, it is critical to have an efficient procedure for matching rules against states.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How to represent each node of the search process? This is the knowledge representation problem or the frame problem. In games, an array suffices; in other problems, more complex data structures are needed.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Finally in terms of data structures, considering the water jug as a typical problem do we use a graph or tree? The breadth-first structure does take note of all nodes generated but the depth-first one can be modified.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BB901A63-321E-85E4-A36B-D42A92666BE1}"/>
              </a:ext>
            </a:extLst>
          </p:cNvPr>
          <p:cNvSpPr>
            <a:spLocks noGrp="1"/>
          </p:cNvSpPr>
          <p:nvPr>
            <p:ph type="sldNum" sz="quarter" idx="12"/>
          </p:nvPr>
        </p:nvSpPr>
        <p:spPr/>
        <p:txBody>
          <a:bodyPr/>
          <a:lstStyle/>
          <a:p>
            <a:fld id="{925DBA28-09A4-46E5-9122-9619524F7BDB}" type="slidenum">
              <a:rPr lang="en-IN" smtClean="0"/>
              <a:t>12</a:t>
            </a:fld>
            <a:endParaRPr lang="en-IN"/>
          </a:p>
        </p:txBody>
      </p:sp>
    </p:spTree>
    <p:extLst>
      <p:ext uri="{BB962C8B-B14F-4D97-AF65-F5344CB8AC3E}">
        <p14:creationId xmlns:p14="http://schemas.microsoft.com/office/powerpoint/2010/main" val="2537585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8AA07-3652-9C1E-111C-257034A25652}"/>
              </a:ext>
            </a:extLst>
          </p:cNvPr>
          <p:cNvSpPr>
            <a:spLocks noGrp="1"/>
          </p:cNvSpPr>
          <p:nvPr>
            <p:ph type="title"/>
          </p:nvPr>
        </p:nvSpPr>
        <p:spPr/>
        <p:txBody>
          <a:bodyPr/>
          <a:lstStyle/>
          <a:p>
            <a:r>
              <a:rPr lang="en-IN" b="1" dirty="0">
                <a:solidFill>
                  <a:srgbClr val="000000"/>
                </a:solidFill>
                <a:latin typeface="Times New Roman" panose="02020603050405020304" pitchFamily="18" charset="0"/>
              </a:rPr>
              <a:t>Search Algorithm Terminologies </a:t>
            </a:r>
          </a:p>
        </p:txBody>
      </p:sp>
      <p:sp>
        <p:nvSpPr>
          <p:cNvPr id="3" name="Content Placeholder 2">
            <a:extLst>
              <a:ext uri="{FF2B5EF4-FFF2-40B4-BE49-F238E27FC236}">
                <a16:creationId xmlns:a16="http://schemas.microsoft.com/office/drawing/2014/main" id="{A80A4BF8-8870-9166-92A6-619F67972A31}"/>
              </a:ext>
            </a:extLst>
          </p:cNvPr>
          <p:cNvSpPr>
            <a:spLocks noGrp="1"/>
          </p:cNvSpPr>
          <p:nvPr>
            <p:ph idx="1"/>
          </p:nvPr>
        </p:nvSpPr>
        <p:spPr/>
        <p:txBody>
          <a:bodyPr>
            <a:normAutofit fontScale="62500" lnSpcReduction="20000"/>
          </a:bodyPr>
          <a:lstStyle/>
          <a:p>
            <a:pPr algn="l"/>
            <a:endParaRPr lang="en-IN"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Searching is a step by step procedure to solve a search-problem in a given search space. A search problem can have three main factors: </a:t>
            </a:r>
            <a:endParaRPr lang="en-US" sz="1800" b="0" i="0" u="none" strike="noStrike" baseline="0" dirty="0">
              <a:solidFill>
                <a:srgbClr val="000000"/>
              </a:solidFill>
              <a:latin typeface="Wingdings" panose="05000000000000000000" pitchFamily="2" charset="2"/>
            </a:endParaRPr>
          </a:p>
          <a:p>
            <a:pPr algn="l"/>
            <a:endParaRPr lang="en-IN"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Wingdings" panose="05000000000000000000" pitchFamily="2" charset="2"/>
              </a:rPr>
              <a:t> </a:t>
            </a:r>
            <a:r>
              <a:rPr lang="en-US" sz="1800" b="1" i="0" u="none" strike="noStrike" baseline="0" dirty="0">
                <a:solidFill>
                  <a:srgbClr val="000000"/>
                </a:solidFill>
                <a:latin typeface="Times New Roman" panose="02020603050405020304" pitchFamily="18" charset="0"/>
              </a:rPr>
              <a:t>Search Space: </a:t>
            </a:r>
            <a:r>
              <a:rPr lang="en-US" sz="1800" b="0" i="0" u="none" strike="noStrike" baseline="0" dirty="0">
                <a:solidFill>
                  <a:srgbClr val="000000"/>
                </a:solidFill>
                <a:latin typeface="Times New Roman" panose="02020603050405020304" pitchFamily="18" charset="0"/>
              </a:rPr>
              <a:t>Search space represents a set of possible solutions, which a system may have.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Wingdings" panose="05000000000000000000" pitchFamily="2" charset="2"/>
              </a:rPr>
              <a:t> </a:t>
            </a:r>
            <a:r>
              <a:rPr lang="en-US" sz="1800" b="1" i="0" u="none" strike="noStrike" baseline="0" dirty="0">
                <a:solidFill>
                  <a:srgbClr val="000000"/>
                </a:solidFill>
                <a:latin typeface="Times New Roman" panose="02020603050405020304" pitchFamily="18" charset="0"/>
              </a:rPr>
              <a:t>Start State: </a:t>
            </a:r>
            <a:r>
              <a:rPr lang="en-US" sz="1800" b="0" i="0" u="none" strike="noStrike" baseline="0" dirty="0">
                <a:solidFill>
                  <a:srgbClr val="000000"/>
                </a:solidFill>
                <a:latin typeface="Times New Roman" panose="02020603050405020304" pitchFamily="18" charset="0"/>
              </a:rPr>
              <a:t>It is a state from where agent begins </a:t>
            </a:r>
            <a:r>
              <a:rPr lang="en-US" sz="1800" b="1" i="0" u="none" strike="noStrike" baseline="0" dirty="0">
                <a:solidFill>
                  <a:srgbClr val="000000"/>
                </a:solidFill>
                <a:latin typeface="Times New Roman" panose="02020603050405020304" pitchFamily="18" charset="0"/>
              </a:rPr>
              <a:t>the search</a:t>
            </a:r>
            <a:r>
              <a:rPr lang="en-US" sz="1800" b="0" i="0" u="none" strike="noStrike" baseline="0" dirty="0">
                <a:solidFill>
                  <a:srgbClr val="000000"/>
                </a:solidFill>
                <a:latin typeface="Times New Roman" panose="02020603050405020304" pitchFamily="18" charset="0"/>
              </a:rPr>
              <a:t>. </a:t>
            </a:r>
            <a:endParaRPr lang="en-US" sz="1800" b="0"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Wingdings" panose="05000000000000000000" pitchFamily="2" charset="2"/>
              </a:rPr>
              <a:t> </a:t>
            </a:r>
            <a:r>
              <a:rPr lang="en-US" sz="1800" b="1" i="0" u="none" strike="noStrike" baseline="0" dirty="0">
                <a:solidFill>
                  <a:srgbClr val="000000"/>
                </a:solidFill>
                <a:latin typeface="Times New Roman" panose="02020603050405020304" pitchFamily="18" charset="0"/>
              </a:rPr>
              <a:t>Goal test: </a:t>
            </a:r>
            <a:r>
              <a:rPr lang="en-US" sz="1800" b="0" i="0" u="none" strike="noStrike" baseline="0" dirty="0">
                <a:solidFill>
                  <a:srgbClr val="000000"/>
                </a:solidFill>
                <a:latin typeface="Times New Roman" panose="02020603050405020304" pitchFamily="18" charset="0"/>
              </a:rPr>
              <a:t>It is a function which observe the current state and returns whether the goal state is achieved or not.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Search tree: </a:t>
            </a:r>
            <a:r>
              <a:rPr lang="en-US" sz="1800" b="0" i="0" u="none" strike="noStrike" baseline="0" dirty="0">
                <a:solidFill>
                  <a:srgbClr val="000000"/>
                </a:solidFill>
                <a:latin typeface="Times New Roman" panose="02020603050405020304" pitchFamily="18" charset="0"/>
              </a:rPr>
              <a:t>A tree representation of search problem is called Search tree. The root of the search tree is the root node which is corresponding to the initial state.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Actions: </a:t>
            </a:r>
            <a:r>
              <a:rPr lang="en-US" sz="1800" b="0" i="0" u="none" strike="noStrike" baseline="0" dirty="0">
                <a:solidFill>
                  <a:srgbClr val="000000"/>
                </a:solidFill>
                <a:latin typeface="Times New Roman" panose="02020603050405020304" pitchFamily="18" charset="0"/>
              </a:rPr>
              <a:t>It gives the description of all the available actions to the agent.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Transition model: </a:t>
            </a:r>
            <a:r>
              <a:rPr lang="en-US" sz="1800" b="0" i="0" u="none" strike="noStrike" baseline="0" dirty="0">
                <a:solidFill>
                  <a:srgbClr val="000000"/>
                </a:solidFill>
                <a:latin typeface="Times New Roman" panose="02020603050405020304" pitchFamily="18" charset="0"/>
              </a:rPr>
              <a:t>A description of what each action do, can be represented as a transition model.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Path Cost: </a:t>
            </a:r>
            <a:r>
              <a:rPr lang="en-US" sz="1800" b="0" i="0" u="none" strike="noStrike" baseline="0" dirty="0">
                <a:solidFill>
                  <a:srgbClr val="000000"/>
                </a:solidFill>
                <a:latin typeface="Times New Roman" panose="02020603050405020304" pitchFamily="18" charset="0"/>
              </a:rPr>
              <a:t>It is a function which assigns a numeric cost to each path.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Solution: </a:t>
            </a:r>
            <a:r>
              <a:rPr lang="en-US" sz="1800" b="0" i="0" u="none" strike="noStrike" baseline="0" dirty="0">
                <a:solidFill>
                  <a:srgbClr val="000000"/>
                </a:solidFill>
                <a:latin typeface="Times New Roman" panose="02020603050405020304" pitchFamily="18" charset="0"/>
              </a:rPr>
              <a:t>It is an action sequence which leads from the start node to the goal node.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Optimal Solution: </a:t>
            </a:r>
            <a:r>
              <a:rPr lang="en-US" sz="1800" b="0" i="0" u="none" strike="noStrike" baseline="0" dirty="0">
                <a:solidFill>
                  <a:srgbClr val="000000"/>
                </a:solidFill>
                <a:latin typeface="Times New Roman" panose="02020603050405020304" pitchFamily="18" charset="0"/>
              </a:rPr>
              <a:t>If a solution has the lowest cost among all solutions. </a:t>
            </a:r>
            <a:endParaRPr lang="en-IN" dirty="0"/>
          </a:p>
        </p:txBody>
      </p:sp>
      <p:sp>
        <p:nvSpPr>
          <p:cNvPr id="4" name="Slide Number Placeholder 3">
            <a:extLst>
              <a:ext uri="{FF2B5EF4-FFF2-40B4-BE49-F238E27FC236}">
                <a16:creationId xmlns:a16="http://schemas.microsoft.com/office/drawing/2014/main" id="{12AC9AA2-F053-6504-7770-E4773A9088B2}"/>
              </a:ext>
            </a:extLst>
          </p:cNvPr>
          <p:cNvSpPr>
            <a:spLocks noGrp="1"/>
          </p:cNvSpPr>
          <p:nvPr>
            <p:ph type="sldNum" sz="quarter" idx="12"/>
          </p:nvPr>
        </p:nvSpPr>
        <p:spPr/>
        <p:txBody>
          <a:bodyPr/>
          <a:lstStyle/>
          <a:p>
            <a:fld id="{925DBA28-09A4-46E5-9122-9619524F7BDB}" type="slidenum">
              <a:rPr lang="en-IN" smtClean="0"/>
              <a:t>13</a:t>
            </a:fld>
            <a:endParaRPr lang="en-IN"/>
          </a:p>
        </p:txBody>
      </p:sp>
    </p:spTree>
    <p:extLst>
      <p:ext uri="{BB962C8B-B14F-4D97-AF65-F5344CB8AC3E}">
        <p14:creationId xmlns:p14="http://schemas.microsoft.com/office/powerpoint/2010/main" val="152027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8AA07-3652-9C1E-111C-257034A25652}"/>
              </a:ext>
            </a:extLst>
          </p:cNvPr>
          <p:cNvSpPr>
            <a:spLocks noGrp="1"/>
          </p:cNvSpPr>
          <p:nvPr>
            <p:ph type="title"/>
          </p:nvPr>
        </p:nvSpPr>
        <p:spPr/>
        <p:txBody>
          <a:bodyPr/>
          <a:lstStyle/>
          <a:p>
            <a:r>
              <a:rPr lang="en-IN" b="1" dirty="0">
                <a:solidFill>
                  <a:srgbClr val="000000"/>
                </a:solidFill>
                <a:latin typeface="Times New Roman" panose="02020603050405020304" pitchFamily="18" charset="0"/>
              </a:rPr>
              <a:t>Properties of Search Algorithms</a:t>
            </a:r>
          </a:p>
        </p:txBody>
      </p:sp>
      <p:sp>
        <p:nvSpPr>
          <p:cNvPr id="3" name="Content Placeholder 2">
            <a:extLst>
              <a:ext uri="{FF2B5EF4-FFF2-40B4-BE49-F238E27FC236}">
                <a16:creationId xmlns:a16="http://schemas.microsoft.com/office/drawing/2014/main" id="{A80A4BF8-8870-9166-92A6-619F67972A31}"/>
              </a:ext>
            </a:extLst>
          </p:cNvPr>
          <p:cNvSpPr>
            <a:spLocks noGrp="1"/>
          </p:cNvSpPr>
          <p:nvPr>
            <p:ph idx="1"/>
          </p:nvPr>
        </p:nvSpPr>
        <p:spPr/>
        <p:txBody>
          <a:bodyPr>
            <a:normAutofit fontScale="92500" lnSpcReduction="20000"/>
          </a:bodyPr>
          <a:lstStyle/>
          <a:p>
            <a:pPr algn="l"/>
            <a:endParaRPr lang="en-IN"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Following are the four essential properties of search algorithms to compare the efficiency of these algorithms: </a:t>
            </a:r>
            <a:endParaRPr lang="en-IN" sz="1800" dirty="0"/>
          </a:p>
          <a:p>
            <a:pPr algn="l"/>
            <a:endParaRPr lang="en-IN"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Completeness: </a:t>
            </a:r>
            <a:r>
              <a:rPr lang="en-US" sz="1800" b="0" i="0" u="none" strike="noStrike" baseline="0" dirty="0">
                <a:solidFill>
                  <a:srgbClr val="000000"/>
                </a:solidFill>
                <a:latin typeface="Times New Roman" panose="02020603050405020304" pitchFamily="18" charset="0"/>
              </a:rPr>
              <a:t>A search algorithm is said to be complete if it guarantees to return a solution if at least any solution exists for any random input.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Optimality: </a:t>
            </a:r>
            <a:r>
              <a:rPr lang="en-US" sz="1800" b="0" i="0" u="none" strike="noStrike" baseline="0" dirty="0">
                <a:solidFill>
                  <a:srgbClr val="000000"/>
                </a:solidFill>
                <a:latin typeface="Times New Roman" panose="02020603050405020304" pitchFamily="18" charset="0"/>
              </a:rPr>
              <a:t>If a solution found for an algorithm is guaranteed to be the best solution (lowest path cost) among all other solutions, then such a solution for is said to be an optimal solution.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Time Complexity: </a:t>
            </a:r>
            <a:r>
              <a:rPr lang="en-US" sz="1800" b="0" i="0" u="none" strike="noStrike" baseline="0" dirty="0">
                <a:solidFill>
                  <a:srgbClr val="000000"/>
                </a:solidFill>
                <a:latin typeface="Times New Roman" panose="02020603050405020304" pitchFamily="18" charset="0"/>
              </a:rPr>
              <a:t>Time complexity is a measure of time for an algorithm to complete its task. </a:t>
            </a:r>
            <a:endParaRPr lang="en-US" sz="1800" b="0" i="0" u="none" strike="noStrike" baseline="0" dirty="0">
              <a:solidFill>
                <a:srgbClr val="000000"/>
              </a:solidFill>
              <a:latin typeface="Wingdings" panose="05000000000000000000" pitchFamily="2" charset="2"/>
            </a:endParaRPr>
          </a:p>
          <a:p>
            <a:r>
              <a:rPr lang="en-US" sz="1800" b="1" i="0" u="none" strike="noStrike" baseline="0" dirty="0">
                <a:solidFill>
                  <a:srgbClr val="000000"/>
                </a:solidFill>
                <a:latin typeface="Times New Roman" panose="02020603050405020304" pitchFamily="18" charset="0"/>
              </a:rPr>
              <a:t>Space Complexity: </a:t>
            </a:r>
            <a:r>
              <a:rPr lang="en-US" sz="1800" b="0" i="0" u="none" strike="noStrike" baseline="0" dirty="0">
                <a:solidFill>
                  <a:srgbClr val="000000"/>
                </a:solidFill>
                <a:latin typeface="Times New Roman" panose="02020603050405020304" pitchFamily="18" charset="0"/>
              </a:rPr>
              <a:t>It is the maximum storage space required at any point during the search, as the complexity of the problem. </a:t>
            </a:r>
            <a:endParaRPr lang="en-US" sz="1800" b="0" i="0" u="none" strike="noStrike" baseline="0" dirty="0">
              <a:solidFill>
                <a:srgbClr val="000000"/>
              </a:solidFill>
              <a:latin typeface="Wingdings" panose="05000000000000000000" pitchFamily="2" charset="2"/>
            </a:endParaRPr>
          </a:p>
          <a:p>
            <a:endParaRPr lang="en-IN" sz="1800" b="0" i="0" u="none" strike="noStrike" baseline="0" dirty="0">
              <a:solidFill>
                <a:srgbClr val="000000"/>
              </a:solidFill>
              <a:latin typeface="Wingdings" panose="05000000000000000000" pitchFamily="2" charset="2"/>
            </a:endParaRPr>
          </a:p>
        </p:txBody>
      </p:sp>
      <p:sp>
        <p:nvSpPr>
          <p:cNvPr id="4" name="Slide Number Placeholder 3">
            <a:extLst>
              <a:ext uri="{FF2B5EF4-FFF2-40B4-BE49-F238E27FC236}">
                <a16:creationId xmlns:a16="http://schemas.microsoft.com/office/drawing/2014/main" id="{9F5FD1D4-1357-DE99-0E59-97ED346DB385}"/>
              </a:ext>
            </a:extLst>
          </p:cNvPr>
          <p:cNvSpPr>
            <a:spLocks noGrp="1"/>
          </p:cNvSpPr>
          <p:nvPr>
            <p:ph type="sldNum" sz="quarter" idx="12"/>
          </p:nvPr>
        </p:nvSpPr>
        <p:spPr/>
        <p:txBody>
          <a:bodyPr/>
          <a:lstStyle/>
          <a:p>
            <a:fld id="{925DBA28-09A4-46E5-9122-9619524F7BDB}" type="slidenum">
              <a:rPr lang="en-IN" smtClean="0"/>
              <a:t>14</a:t>
            </a:fld>
            <a:endParaRPr lang="en-IN"/>
          </a:p>
        </p:txBody>
      </p:sp>
    </p:spTree>
    <p:extLst>
      <p:ext uri="{BB962C8B-B14F-4D97-AF65-F5344CB8AC3E}">
        <p14:creationId xmlns:p14="http://schemas.microsoft.com/office/powerpoint/2010/main" val="1227124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4C72A-6D5C-7EDC-5EEE-35971EA26550}"/>
              </a:ext>
            </a:extLst>
          </p:cNvPr>
          <p:cNvSpPr>
            <a:spLocks noGrp="1"/>
          </p:cNvSpPr>
          <p:nvPr>
            <p:ph type="title"/>
          </p:nvPr>
        </p:nvSpPr>
        <p:spPr/>
        <p:txBody>
          <a:bodyPr/>
          <a:lstStyle/>
          <a:p>
            <a:r>
              <a:rPr lang="en-IN" b="1" dirty="0">
                <a:solidFill>
                  <a:srgbClr val="000000"/>
                </a:solidFill>
                <a:latin typeface="Times New Roman" panose="02020603050405020304" pitchFamily="18" charset="0"/>
              </a:rPr>
              <a:t>Types of search algorithms </a:t>
            </a:r>
          </a:p>
        </p:txBody>
      </p:sp>
      <p:sp>
        <p:nvSpPr>
          <p:cNvPr id="3" name="Content Placeholder 2">
            <a:extLst>
              <a:ext uri="{FF2B5EF4-FFF2-40B4-BE49-F238E27FC236}">
                <a16:creationId xmlns:a16="http://schemas.microsoft.com/office/drawing/2014/main" id="{E0D9A69A-26A5-D939-9A53-BED0750D7937}"/>
              </a:ext>
            </a:extLst>
          </p:cNvPr>
          <p:cNvSpPr>
            <a:spLocks noGrp="1"/>
          </p:cNvSpPr>
          <p:nvPr>
            <p:ph idx="1"/>
          </p:nvPr>
        </p:nvSpPr>
        <p:spPr/>
        <p:txBody>
          <a:bodyPr>
            <a:normAutofit fontScale="85000" lnSpcReduction="20000"/>
          </a:bodyPr>
          <a:lstStyle/>
          <a:p>
            <a:r>
              <a:rPr lang="en-US" sz="1800" b="0" i="0" u="none" strike="noStrike" baseline="0" dirty="0">
                <a:solidFill>
                  <a:srgbClr val="000000"/>
                </a:solidFill>
                <a:latin typeface="Times New Roman" panose="02020603050405020304" pitchFamily="18" charset="0"/>
              </a:rPr>
              <a:t>Based on the search problems we can classify the search algorithms into uninformed (Blind search) search and informed search (Heuristic search) algorithms. </a:t>
            </a:r>
            <a:endParaRPr lang="en-US" sz="1800" b="0" i="0" u="none" strike="noStrike" baseline="0" dirty="0">
              <a:solidFill>
                <a:srgbClr val="000000"/>
              </a:solidFill>
              <a:latin typeface="Wingdings" panose="05000000000000000000" pitchFamily="2" charset="2"/>
            </a:endParaRPr>
          </a:p>
          <a:p>
            <a:pPr marL="0" indent="0">
              <a:buNone/>
            </a:pPr>
            <a:r>
              <a:rPr lang="en-IN" sz="1800" b="1" i="0" u="none" strike="noStrike" baseline="0" dirty="0">
                <a:solidFill>
                  <a:srgbClr val="000000"/>
                </a:solidFill>
                <a:latin typeface="Times New Roman" panose="02020603050405020304" pitchFamily="18" charset="0"/>
              </a:rPr>
              <a:t>Uninformed/Blind Search</a:t>
            </a:r>
            <a:endParaRPr lang="en-IN" sz="1800" b="1" i="0" u="none" strike="noStrike" baseline="0" dirty="0">
              <a:solidFill>
                <a:srgbClr val="000000"/>
              </a:solidFill>
              <a:latin typeface="Wingdings" panose="05000000000000000000" pitchFamily="2" charset="2"/>
            </a:endParaRPr>
          </a:p>
          <a:p>
            <a:r>
              <a:rPr lang="en-US" sz="1800" b="0" i="0" u="none" strike="noStrike" baseline="0" dirty="0">
                <a:solidFill>
                  <a:srgbClr val="000000"/>
                </a:solidFill>
                <a:latin typeface="Times New Roman" panose="02020603050405020304" pitchFamily="18" charset="0"/>
              </a:rPr>
              <a:t>The uninformed search does not contain any domain knowledge such as closeness, the location of the goal. It operates in a brute-force way as it only includes information about how to traverse the tree and how to identify leaf and goal nodes. Uninformed search applies a way in which search tree is searched without any information about the search space like initial state operators and test for the goal, so it is also called blind search. It examines each node of the tree until it achieves the goal node. </a:t>
            </a:r>
            <a:endParaRPr lang="en-US" sz="1800" b="0" i="0" u="none" strike="noStrike" baseline="0" dirty="0">
              <a:solidFill>
                <a:srgbClr val="000000"/>
              </a:solidFill>
              <a:latin typeface="Wingdings" panose="05000000000000000000" pitchFamily="2" charset="2"/>
            </a:endParaRPr>
          </a:p>
          <a:p>
            <a:pPr marL="0" indent="0">
              <a:buNone/>
            </a:pPr>
            <a:r>
              <a:rPr lang="en-US" sz="1800" b="1" i="0" u="none" strike="noStrike" baseline="0" dirty="0">
                <a:solidFill>
                  <a:srgbClr val="000000"/>
                </a:solidFill>
                <a:latin typeface="Times New Roman" panose="02020603050405020304" pitchFamily="18" charset="0"/>
              </a:rPr>
              <a:t>It can be divided into five main types: </a:t>
            </a:r>
          </a:p>
          <a:p>
            <a:pPr marL="0" indent="0">
              <a:buNone/>
            </a:pPr>
            <a:r>
              <a:rPr lang="en-US" sz="1800" b="0" i="0" u="none" strike="noStrike" baseline="0" dirty="0">
                <a:solidFill>
                  <a:srgbClr val="000000"/>
                </a:solidFill>
                <a:latin typeface="Times New Roman" panose="02020603050405020304" pitchFamily="18" charset="0"/>
              </a:rPr>
              <a:t>Breadth-first search, </a:t>
            </a:r>
          </a:p>
          <a:p>
            <a:pPr marL="0" indent="0">
              <a:buNone/>
            </a:pPr>
            <a:r>
              <a:rPr lang="en-US" sz="1800" b="0" i="0" u="none" strike="noStrike" baseline="0" dirty="0">
                <a:solidFill>
                  <a:srgbClr val="000000"/>
                </a:solidFill>
                <a:latin typeface="Times New Roman" panose="02020603050405020304" pitchFamily="18" charset="0"/>
              </a:rPr>
              <a:t>Uniform cost search, </a:t>
            </a:r>
          </a:p>
          <a:p>
            <a:pPr marL="0" indent="0">
              <a:buNone/>
            </a:pPr>
            <a:r>
              <a:rPr lang="en-US" sz="1800" b="0" i="0" u="none" strike="noStrike" baseline="0" dirty="0">
                <a:solidFill>
                  <a:srgbClr val="000000"/>
                </a:solidFill>
                <a:latin typeface="Times New Roman" panose="02020603050405020304" pitchFamily="18" charset="0"/>
              </a:rPr>
              <a:t>Depth-first search, </a:t>
            </a:r>
          </a:p>
          <a:p>
            <a:pPr marL="0" indent="0">
              <a:buNone/>
            </a:pPr>
            <a:r>
              <a:rPr lang="en-US" sz="1800" b="0" i="0" u="none" strike="noStrike" baseline="0" dirty="0">
                <a:solidFill>
                  <a:srgbClr val="000000"/>
                </a:solidFill>
                <a:latin typeface="Times New Roman" panose="02020603050405020304" pitchFamily="18" charset="0"/>
              </a:rPr>
              <a:t>Iterative deepening depth-first search, </a:t>
            </a:r>
          </a:p>
          <a:p>
            <a:pPr marL="0" indent="0">
              <a:buNone/>
            </a:pPr>
            <a:r>
              <a:rPr lang="en-US" sz="1800" b="0" i="0" u="none" strike="noStrike" baseline="0" dirty="0">
                <a:solidFill>
                  <a:srgbClr val="000000"/>
                </a:solidFill>
                <a:latin typeface="Times New Roman" panose="02020603050405020304" pitchFamily="18" charset="0"/>
              </a:rPr>
              <a:t>Bidirectional Search </a:t>
            </a:r>
            <a:endParaRPr lang="en-US" sz="1800" b="0" i="0" u="none" strike="noStrike" baseline="0" dirty="0">
              <a:solidFill>
                <a:srgbClr val="000000"/>
              </a:solidFill>
              <a:latin typeface="Wingdings" panose="05000000000000000000" pitchFamily="2" charset="2"/>
            </a:endParaRPr>
          </a:p>
          <a:p>
            <a:endParaRPr lang="en-US" sz="1800" b="0" i="0" u="none" strike="noStrike" baseline="0" dirty="0">
              <a:solidFill>
                <a:srgbClr val="000000"/>
              </a:solidFill>
              <a:latin typeface="Wingdings" panose="05000000000000000000" pitchFamily="2" charset="2"/>
            </a:endParaRPr>
          </a:p>
          <a:p>
            <a:endParaRPr lang="en-IN" dirty="0"/>
          </a:p>
        </p:txBody>
      </p:sp>
      <p:sp>
        <p:nvSpPr>
          <p:cNvPr id="4" name="Slide Number Placeholder 3">
            <a:extLst>
              <a:ext uri="{FF2B5EF4-FFF2-40B4-BE49-F238E27FC236}">
                <a16:creationId xmlns:a16="http://schemas.microsoft.com/office/drawing/2014/main" id="{89EAAF95-45A7-2FF2-3C6F-68DAEF83018C}"/>
              </a:ext>
            </a:extLst>
          </p:cNvPr>
          <p:cNvSpPr>
            <a:spLocks noGrp="1"/>
          </p:cNvSpPr>
          <p:nvPr>
            <p:ph type="sldNum" sz="quarter" idx="12"/>
          </p:nvPr>
        </p:nvSpPr>
        <p:spPr/>
        <p:txBody>
          <a:bodyPr/>
          <a:lstStyle/>
          <a:p>
            <a:fld id="{925DBA28-09A4-46E5-9122-9619524F7BDB}" type="slidenum">
              <a:rPr lang="en-IN" smtClean="0"/>
              <a:t>15</a:t>
            </a:fld>
            <a:endParaRPr lang="en-IN"/>
          </a:p>
        </p:txBody>
      </p:sp>
    </p:spTree>
    <p:extLst>
      <p:ext uri="{BB962C8B-B14F-4D97-AF65-F5344CB8AC3E}">
        <p14:creationId xmlns:p14="http://schemas.microsoft.com/office/powerpoint/2010/main" val="3303107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E2C3-8D00-764D-977B-CE67275FE7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2CBEFB8-8836-B8CD-CCA5-6D2E11373AF9}"/>
              </a:ext>
            </a:extLst>
          </p:cNvPr>
          <p:cNvSpPr>
            <a:spLocks noGrp="1"/>
          </p:cNvSpPr>
          <p:nvPr>
            <p:ph idx="1"/>
          </p:nvPr>
        </p:nvSpPr>
        <p:spPr/>
        <p:txBody>
          <a:bodyPr>
            <a:normAutofit fontScale="70000" lnSpcReduction="20000"/>
          </a:bodyPr>
          <a:lstStyle/>
          <a:p>
            <a:pPr marL="0" indent="0">
              <a:buNone/>
            </a:pPr>
            <a:r>
              <a:rPr lang="en-IN" sz="2800" b="1" i="0" u="none" strike="noStrike" baseline="0" dirty="0">
                <a:solidFill>
                  <a:srgbClr val="000000"/>
                </a:solidFill>
                <a:latin typeface="Times New Roman" panose="02020603050405020304" pitchFamily="18" charset="0"/>
              </a:rPr>
              <a:t>Informed Search </a:t>
            </a:r>
            <a:endParaRPr lang="en-IN" sz="2800" b="0" i="0" u="none" strike="noStrike" baseline="0" dirty="0">
              <a:solidFill>
                <a:srgbClr val="000000"/>
              </a:solidFill>
              <a:latin typeface="Wingdings" panose="05000000000000000000" pitchFamily="2" charset="2"/>
            </a:endParaRPr>
          </a:p>
          <a:p>
            <a:r>
              <a:rPr lang="en-US" sz="2800" b="0" i="0" u="none" strike="noStrike" baseline="0" dirty="0">
                <a:solidFill>
                  <a:srgbClr val="000000"/>
                </a:solidFill>
                <a:latin typeface="Times New Roman" panose="02020603050405020304" pitchFamily="18" charset="0"/>
              </a:rPr>
              <a:t>Informed search algorithms use domain knowledge. In an informed search, problem information is available which can guide the search. Informed search strategies can find a solution more efficiently than an uninformed search strategy. Informed search is also called a Heuristic search. </a:t>
            </a:r>
            <a:endParaRPr lang="en-US" sz="2800" b="0" i="0" u="none" strike="noStrike" baseline="0" dirty="0">
              <a:solidFill>
                <a:srgbClr val="000000"/>
              </a:solidFill>
              <a:latin typeface="Wingdings" panose="05000000000000000000" pitchFamily="2" charset="2"/>
            </a:endParaRPr>
          </a:p>
          <a:p>
            <a:r>
              <a:rPr lang="en-US" sz="2800" b="0" i="0" u="none" strike="noStrike" baseline="0" dirty="0">
                <a:solidFill>
                  <a:srgbClr val="000000"/>
                </a:solidFill>
                <a:latin typeface="Times New Roman" panose="02020603050405020304" pitchFamily="18" charset="0"/>
              </a:rPr>
              <a:t>A heuristic is a way which might not always be guaranteed for best solutions but guaranteed to find a good solution in reasonable time. </a:t>
            </a:r>
            <a:endParaRPr lang="en-US" sz="2800" b="0" i="0" u="none" strike="noStrike" baseline="0" dirty="0">
              <a:solidFill>
                <a:srgbClr val="000000"/>
              </a:solidFill>
              <a:latin typeface="Wingdings" panose="05000000000000000000" pitchFamily="2" charset="2"/>
            </a:endParaRPr>
          </a:p>
          <a:p>
            <a:r>
              <a:rPr lang="en-US" sz="2800" b="0" i="0" u="none" strike="noStrike" baseline="0" dirty="0">
                <a:solidFill>
                  <a:srgbClr val="000000"/>
                </a:solidFill>
                <a:latin typeface="Times New Roman" panose="02020603050405020304" pitchFamily="18" charset="0"/>
              </a:rPr>
              <a:t>Informed search can solve much complex problem which could not be solved in another way. An example of informed search algorithms is a traveling salesman problem. </a:t>
            </a:r>
            <a:endParaRPr lang="en-US" sz="2800" b="0" i="0" u="none" strike="noStrike" baseline="0" dirty="0">
              <a:solidFill>
                <a:srgbClr val="000000"/>
              </a:solidFill>
              <a:latin typeface="Wingdings" panose="05000000000000000000" pitchFamily="2" charset="2"/>
            </a:endParaRPr>
          </a:p>
          <a:p>
            <a:r>
              <a:rPr lang="en-IN" sz="2800" b="0" i="0" u="none" strike="noStrike" baseline="0" dirty="0">
                <a:solidFill>
                  <a:srgbClr val="000000"/>
                </a:solidFill>
                <a:latin typeface="Times New Roman" panose="02020603050405020304" pitchFamily="18" charset="0"/>
              </a:rPr>
              <a:t>1. Greedy Search </a:t>
            </a:r>
            <a:endParaRPr lang="en-IN" sz="2800" b="0" i="0" u="none" strike="noStrike" baseline="0" dirty="0">
              <a:solidFill>
                <a:srgbClr val="000000"/>
              </a:solidFill>
              <a:latin typeface="Wingdings" panose="05000000000000000000" pitchFamily="2" charset="2"/>
            </a:endParaRPr>
          </a:p>
          <a:p>
            <a:r>
              <a:rPr lang="en-IN" sz="2800" b="0" i="0" u="none" strike="noStrike" baseline="0" dirty="0">
                <a:solidFill>
                  <a:srgbClr val="000000"/>
                </a:solidFill>
                <a:latin typeface="Times New Roman" panose="02020603050405020304" pitchFamily="18" charset="0"/>
              </a:rPr>
              <a:t>2. A* Search </a:t>
            </a:r>
          </a:p>
          <a:p>
            <a:endParaRPr lang="en-IN" dirty="0"/>
          </a:p>
        </p:txBody>
      </p:sp>
      <p:sp>
        <p:nvSpPr>
          <p:cNvPr id="4" name="Slide Number Placeholder 3">
            <a:extLst>
              <a:ext uri="{FF2B5EF4-FFF2-40B4-BE49-F238E27FC236}">
                <a16:creationId xmlns:a16="http://schemas.microsoft.com/office/drawing/2014/main" id="{89C5419C-CFAC-6E42-79EB-3A0EB8E627B3}"/>
              </a:ext>
            </a:extLst>
          </p:cNvPr>
          <p:cNvSpPr>
            <a:spLocks noGrp="1"/>
          </p:cNvSpPr>
          <p:nvPr>
            <p:ph type="sldNum" sz="quarter" idx="12"/>
          </p:nvPr>
        </p:nvSpPr>
        <p:spPr/>
        <p:txBody>
          <a:bodyPr/>
          <a:lstStyle/>
          <a:p>
            <a:fld id="{925DBA28-09A4-46E5-9122-9619524F7BDB}" type="slidenum">
              <a:rPr lang="en-IN" smtClean="0"/>
              <a:t>16</a:t>
            </a:fld>
            <a:endParaRPr lang="en-IN"/>
          </a:p>
        </p:txBody>
      </p:sp>
    </p:spTree>
    <p:extLst>
      <p:ext uri="{BB962C8B-B14F-4D97-AF65-F5344CB8AC3E}">
        <p14:creationId xmlns:p14="http://schemas.microsoft.com/office/powerpoint/2010/main" val="265810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61775B-9116-18C5-3B8C-124A11030435}"/>
              </a:ext>
            </a:extLst>
          </p:cNvPr>
          <p:cNvSpPr/>
          <p:nvPr/>
        </p:nvSpPr>
        <p:spPr>
          <a:xfrm>
            <a:off x="4447279" y="3213141"/>
            <a:ext cx="4044698"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spTree>
    <p:extLst>
      <p:ext uri="{BB962C8B-B14F-4D97-AF65-F5344CB8AC3E}">
        <p14:creationId xmlns:p14="http://schemas.microsoft.com/office/powerpoint/2010/main" val="98197001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2325</Words>
  <Application>Microsoft Office PowerPoint</Application>
  <PresentationFormat>Widescreen</PresentationFormat>
  <Paragraphs>144</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Century Gothic</vt:lpstr>
      <vt:lpstr>Times</vt:lpstr>
      <vt:lpstr>Times New Roman</vt:lpstr>
      <vt:lpstr>Wingdings</vt:lpstr>
      <vt:lpstr>Wingdings 3</vt:lpstr>
      <vt:lpstr>Wisp</vt:lpstr>
      <vt:lpstr>Artificial Intelligence  Dr. Bidush Kumar Sahoo G.I.E.T. University, Gunupur, Odisha</vt:lpstr>
      <vt:lpstr>LEVEL OF THE AI MODEL </vt:lpstr>
      <vt:lpstr>What is Problem?</vt:lpstr>
      <vt:lpstr>What is Problem? Contd..</vt:lpstr>
      <vt:lpstr>PowerPoint Presentation</vt:lpstr>
      <vt:lpstr> PROBLEM CHARACTERISTICS  </vt:lpstr>
      <vt:lpstr>Production System in AI  </vt:lpstr>
      <vt:lpstr> Features of a Production System </vt:lpstr>
      <vt:lpstr>Production System Characteristics  </vt:lpstr>
      <vt:lpstr>What is Search?</vt:lpstr>
      <vt:lpstr>Search Spaces and Types of Search</vt:lpstr>
      <vt:lpstr>Issues in the Design of Search Programs  </vt:lpstr>
      <vt:lpstr>Search Algorithm Terminologies </vt:lpstr>
      <vt:lpstr>Properties of Search Algorithms</vt:lpstr>
      <vt:lpstr>Types of search algorithms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Bidush Kumar Sahoo</dc:creator>
  <cp:lastModifiedBy>Bidush Kumar Sahoo</cp:lastModifiedBy>
  <cp:revision>2</cp:revision>
  <dcterms:created xsi:type="dcterms:W3CDTF">2025-07-31T23:48:21Z</dcterms:created>
  <dcterms:modified xsi:type="dcterms:W3CDTF">2025-07-31T23:50:37Z</dcterms:modified>
</cp:coreProperties>
</file>