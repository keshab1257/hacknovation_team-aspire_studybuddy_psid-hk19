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71" r:id="rId11"/>
    <p:sldId id="269" r:id="rId12"/>
    <p:sldId id="272" r:id="rId13"/>
    <p:sldId id="274" r:id="rId14"/>
    <p:sldId id="273" r:id="rId15"/>
    <p:sldId id="265" r:id="rId16"/>
    <p:sldId id="266" r:id="rId17"/>
    <p:sldId id="267" r:id="rId18"/>
    <p:sldId id="268" r:id="rId19"/>
    <p:sldId id="275" r:id="rId20"/>
    <p:sldId id="276" r:id="rId21"/>
    <p:sldId id="277" r:id="rId22"/>
    <p:sldId id="27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6A0A5E-9261-40AE-9565-85BB80EE1BAB}"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545991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6A0A5E-9261-40AE-9565-85BB80EE1BAB}"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2801520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6A0A5E-9261-40AE-9565-85BB80EE1BAB}"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1494810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6A0A5E-9261-40AE-9565-85BB80EE1BAB}"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1937971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6A0A5E-9261-40AE-9565-85BB80EE1BAB}" type="datetimeFigureOut">
              <a:rPr lang="en-IN" smtClean="0"/>
              <a:t>22-10-2025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918624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6A0A5E-9261-40AE-9565-85BB80EE1BAB}" type="datetimeFigureOut">
              <a:rPr lang="en-IN" smtClean="0"/>
              <a:t>22-10-2025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379043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6A0A5E-9261-40AE-9565-85BB80EE1BAB}" type="datetimeFigureOut">
              <a:rPr lang="en-IN" smtClean="0"/>
              <a:t>22-10-2025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1021056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6A0A5E-9261-40AE-9565-85BB80EE1BAB}"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2780515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6A0A5E-9261-40AE-9565-85BB80EE1BAB}"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201704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6A0A5E-9261-40AE-9565-85BB80EE1BAB}"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3024727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6A0A5E-9261-40AE-9565-85BB80EE1BAB}"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0302DE7-A296-4A22-89D4-F9181BBD6445}"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88543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A6A0A5E-9261-40AE-9565-85BB80EE1BAB}"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4009505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A6A0A5E-9261-40AE-9565-85BB80EE1BAB}"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0302DE7-A296-4A22-89D4-F9181BBD6445}"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25242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A6A0A5E-9261-40AE-9565-85BB80EE1BAB}"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24741683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6A0A5E-9261-40AE-9565-85BB80EE1BAB}"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4116381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6A0A5E-9261-40AE-9565-85BB80EE1BAB}"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0302DE7-A296-4A22-89D4-F9181BBD6445}" type="slidenum">
              <a:rPr lang="en-IN" smtClean="0"/>
              <a:t>‹#›</a:t>
            </a:fld>
            <a:endParaRPr lang="en-IN"/>
          </a:p>
        </p:txBody>
      </p:sp>
    </p:spTree>
    <p:extLst>
      <p:ext uri="{BB962C8B-B14F-4D97-AF65-F5344CB8AC3E}">
        <p14:creationId xmlns:p14="http://schemas.microsoft.com/office/powerpoint/2010/main" val="500363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A6A0A5E-9261-40AE-9565-85BB80EE1BAB}" type="datetimeFigureOut">
              <a:rPr lang="en-IN" smtClean="0"/>
              <a:t>22-10-2025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0302DE7-A296-4A22-89D4-F9181BBD6445}" type="slidenum">
              <a:rPr lang="en-IN" smtClean="0"/>
              <a:t>‹#›</a:t>
            </a:fld>
            <a:endParaRPr lang="en-IN"/>
          </a:p>
        </p:txBody>
      </p:sp>
    </p:spTree>
    <p:extLst>
      <p:ext uri="{BB962C8B-B14F-4D97-AF65-F5344CB8AC3E}">
        <p14:creationId xmlns:p14="http://schemas.microsoft.com/office/powerpoint/2010/main" val="322030136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nlp/introduction-to-natural-language-processin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geeksforgeeks.org/artificial-intelligence/artificial-neural-networks-and-its-applications/" TargetMode="External"/><Relationship Id="rId2" Type="http://schemas.openxmlformats.org/officeDocument/2006/relationships/hyperlink" Target="https://www.geeksforgeeks.org/artificial-intelligence/fuzzy-logic-introduction/" TargetMode="External"/><Relationship Id="rId1" Type="http://schemas.openxmlformats.org/officeDocument/2006/relationships/slideLayout" Target="../slideLayouts/slideLayout2.xml"/><Relationship Id="rId4" Type="http://schemas.openxmlformats.org/officeDocument/2006/relationships/hyperlink" Target="https://www.geeksforgeeks.org/machine-learning/neural-networks-a-beginners-guid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43D3-D078-F36E-5BE6-96F05C05216C}"/>
              </a:ext>
            </a:extLst>
          </p:cNvPr>
          <p:cNvSpPr>
            <a:spLocks noGrp="1"/>
          </p:cNvSpPr>
          <p:nvPr>
            <p:ph type="ctrTitle"/>
          </p:nvPr>
        </p:nvSpPr>
        <p:spPr>
          <a:xfrm>
            <a:off x="1876424" y="1122363"/>
            <a:ext cx="8791575" cy="5563572"/>
          </a:xfrm>
        </p:spPr>
        <p:txBody>
          <a:bodyPr>
            <a:normAutofit fontScale="90000"/>
          </a:bodyPr>
          <a:lstStyle/>
          <a:p>
            <a:pPr algn="ctr"/>
            <a:br>
              <a:rPr lang="en-US" altLang="en-US" sz="4000" dirty="0">
                <a:latin typeface="Times" panose="02020603050405020304" pitchFamily="18" charset="0"/>
                <a:ea typeface="ＭＳ Ｐゴシック" panose="020B0600070205080204" pitchFamily="34" charset="-128"/>
                <a:cs typeface="Times" panose="02020603050405020304" pitchFamily="18" charset="0"/>
              </a:rPr>
            </a:br>
            <a:br>
              <a:rPr lang="en-US" altLang="en-US" sz="4000" dirty="0">
                <a:latin typeface="Times" panose="02020603050405020304" pitchFamily="18" charset="0"/>
                <a:ea typeface="ＭＳ Ｐゴシック" panose="020B0600070205080204" pitchFamily="34" charset="-128"/>
                <a:cs typeface="Times" panose="02020603050405020304" pitchFamily="18" charset="0"/>
              </a:rPr>
            </a:br>
            <a:r>
              <a:rPr lang="en-GB" sz="5300" dirty="0">
                <a:latin typeface="Times" panose="02020603050405020304" pitchFamily="18" charset="0"/>
                <a:cs typeface="Times" panose="02020603050405020304" pitchFamily="18" charset="0"/>
              </a:rPr>
              <a:t>Artificial Intelligence</a:t>
            </a:r>
            <a:br>
              <a:rPr lang="en-GB" sz="4000" dirty="0">
                <a:latin typeface="Times" panose="02020603050405020304" pitchFamily="18" charset="0"/>
                <a:cs typeface="Times" panose="02020603050405020304" pitchFamily="18" charset="0"/>
              </a:rPr>
            </a:br>
            <a:br>
              <a:rPr lang="en-GB" sz="4000" dirty="0">
                <a:latin typeface="Times" panose="02020603050405020304" pitchFamily="18" charset="0"/>
                <a:cs typeface="Times" panose="02020603050405020304" pitchFamily="18" charset="0"/>
              </a:rPr>
            </a:br>
            <a:br>
              <a:rPr lang="en-GB" sz="4000" dirty="0">
                <a:latin typeface="Times" panose="02020603050405020304" pitchFamily="18" charset="0"/>
                <a:cs typeface="Times" panose="02020603050405020304" pitchFamily="18" charset="0"/>
              </a:rPr>
            </a:br>
            <a:br>
              <a:rPr lang="en-US" altLang="en-US" sz="4000" dirty="0">
                <a:latin typeface="Times" panose="02020603050405020304" pitchFamily="18" charset="0"/>
                <a:ea typeface="ＭＳ Ｐゴシック" panose="020B0600070205080204" pitchFamily="34" charset="-128"/>
                <a:cs typeface="Times" panose="02020603050405020304" pitchFamily="18" charset="0"/>
              </a:rPr>
            </a:br>
            <a:r>
              <a:rPr lang="en-US" altLang="en-US" sz="4000" dirty="0">
                <a:latin typeface="Times" panose="02020603050405020304" pitchFamily="18" charset="0"/>
                <a:ea typeface="ＭＳ Ｐゴシック" panose="020B0600070205080204" pitchFamily="34" charset="-128"/>
                <a:cs typeface="Times" panose="02020603050405020304" pitchFamily="18" charset="0"/>
              </a:rPr>
              <a:t>Dr. Bidush Kumar Sahoo</a:t>
            </a:r>
            <a:br>
              <a:rPr lang="en-US" altLang="en-US" dirty="0">
                <a:latin typeface="Times" panose="02020603050405020304" pitchFamily="18" charset="0"/>
                <a:ea typeface="ＭＳ Ｐゴシック" panose="020B0600070205080204" pitchFamily="34" charset="-128"/>
                <a:cs typeface="Times" panose="02020603050405020304" pitchFamily="18" charset="0"/>
              </a:rPr>
            </a:br>
            <a:r>
              <a:rPr lang="en-US" altLang="en-US" dirty="0">
                <a:latin typeface="Times" panose="02020603050405020304" pitchFamily="18" charset="0"/>
                <a:ea typeface="ＭＳ Ｐゴシック" panose="020B0600070205080204" pitchFamily="34" charset="-128"/>
                <a:cs typeface="Times" panose="02020603050405020304" pitchFamily="18" charset="0"/>
              </a:rPr>
              <a:t>G.I.E.T. University,</a:t>
            </a:r>
            <a:br>
              <a:rPr lang="en-US" altLang="en-US" dirty="0">
                <a:latin typeface="Times" panose="02020603050405020304" pitchFamily="18" charset="0"/>
                <a:ea typeface="ＭＳ Ｐゴシック" panose="020B0600070205080204" pitchFamily="34" charset="-128"/>
                <a:cs typeface="Times" panose="02020603050405020304" pitchFamily="18" charset="0"/>
              </a:rPr>
            </a:br>
            <a:r>
              <a:rPr lang="en-US" altLang="en-US" dirty="0" err="1">
                <a:latin typeface="Times" panose="02020603050405020304" pitchFamily="18" charset="0"/>
                <a:ea typeface="ＭＳ Ｐゴシック" panose="020B0600070205080204" pitchFamily="34" charset="-128"/>
                <a:cs typeface="Times" panose="02020603050405020304" pitchFamily="18" charset="0"/>
              </a:rPr>
              <a:t>Gunupur</a:t>
            </a:r>
            <a:r>
              <a:rPr lang="en-US" altLang="en-US" dirty="0">
                <a:latin typeface="Times" panose="02020603050405020304" pitchFamily="18" charset="0"/>
                <a:ea typeface="ＭＳ Ｐゴシック" panose="020B0600070205080204" pitchFamily="34" charset="-128"/>
                <a:cs typeface="Times" panose="02020603050405020304" pitchFamily="18" charset="0"/>
              </a:rPr>
              <a:t>, Odisha</a:t>
            </a:r>
            <a:br>
              <a:rPr lang="en-IN" dirty="0"/>
            </a:br>
            <a:endParaRPr lang="en-IN" dirty="0"/>
          </a:p>
        </p:txBody>
      </p:sp>
    </p:spTree>
    <p:extLst>
      <p:ext uri="{BB962C8B-B14F-4D97-AF65-F5344CB8AC3E}">
        <p14:creationId xmlns:p14="http://schemas.microsoft.com/office/powerpoint/2010/main" val="1213802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A1BCE-893A-0D26-A5A4-7C05F42F7540}"/>
              </a:ext>
            </a:extLst>
          </p:cNvPr>
          <p:cNvSpPr>
            <a:spLocks noGrp="1"/>
          </p:cNvSpPr>
          <p:nvPr>
            <p:ph type="title"/>
          </p:nvPr>
        </p:nvSpPr>
        <p:spPr/>
        <p:txBody>
          <a:bodyPr/>
          <a:lstStyle/>
          <a:p>
            <a:pPr algn="ctr"/>
            <a:br>
              <a:rPr lang="en-IN" dirty="0"/>
            </a:br>
            <a:r>
              <a:rPr lang="en-IN" dirty="0"/>
              <a:t> </a:t>
            </a:r>
            <a:r>
              <a:rPr lang="en-IN" b="1" dirty="0"/>
              <a:t>EXPERT SYSTEMS </a:t>
            </a:r>
            <a:endParaRPr lang="en-IN" dirty="0"/>
          </a:p>
        </p:txBody>
      </p:sp>
      <p:sp>
        <p:nvSpPr>
          <p:cNvPr id="3" name="Content Placeholder 2">
            <a:extLst>
              <a:ext uri="{FF2B5EF4-FFF2-40B4-BE49-F238E27FC236}">
                <a16:creationId xmlns:a16="http://schemas.microsoft.com/office/drawing/2014/main" id="{31851F36-E478-2FD8-98CE-8BB3D84B724B}"/>
              </a:ext>
            </a:extLst>
          </p:cNvPr>
          <p:cNvSpPr>
            <a:spLocks noGrp="1"/>
          </p:cNvSpPr>
          <p:nvPr>
            <p:ph idx="1"/>
          </p:nvPr>
        </p:nvSpPr>
        <p:spPr>
          <a:xfrm>
            <a:off x="2589212" y="2133599"/>
            <a:ext cx="8915400" cy="4296697"/>
          </a:xfrm>
        </p:spPr>
        <p:txBody>
          <a:bodyPr>
            <a:normAutofit fontScale="92500" lnSpcReduction="10000"/>
          </a:bodyPr>
          <a:lstStyle/>
          <a:p>
            <a:r>
              <a:rPr lang="en-US" dirty="0"/>
              <a:t>An expert system is a computer program that is designed to solve complex problems and to provide decision-making ability like a human expert. </a:t>
            </a:r>
          </a:p>
          <a:p>
            <a:r>
              <a:rPr lang="en-US" dirty="0"/>
              <a:t>It performs this by extracting knowledge from its knowledge base using the reasoning and inference rules according to the user queries. </a:t>
            </a:r>
          </a:p>
          <a:p>
            <a:r>
              <a:rPr lang="en-US" dirty="0"/>
              <a:t>The expert system is a part of AI, and the first ES was developed in the year 1970, which was the first successful approach of artificial intelligence.</a:t>
            </a:r>
          </a:p>
          <a:p>
            <a:r>
              <a:rPr lang="en-US" dirty="0"/>
              <a:t> It solves the most complex issue as an expert by extracting the knowledge stored in its knowledge base. The system helps in decision making for complex problems using both facts and heuristics like a human expert</a:t>
            </a:r>
            <a:r>
              <a:rPr lang="en-US" b="1" dirty="0"/>
              <a:t>. </a:t>
            </a:r>
            <a:endParaRPr lang="en-US" dirty="0"/>
          </a:p>
          <a:p>
            <a:r>
              <a:rPr lang="en-US" dirty="0"/>
              <a:t>The Expert System in AI can resolve many issues which generally would require a human expert. It is based on knowledge acquired from an expert. Artificial Intelligence and Expert Systems are capable of expressing and reasoning about some domain of knowledge.</a:t>
            </a:r>
          </a:p>
          <a:p>
            <a:r>
              <a:rPr lang="en-US" dirty="0"/>
              <a:t> Expert systems were the predecessor of the current day artificial intelligence, deep learning and machine learning systems. </a:t>
            </a:r>
          </a:p>
          <a:p>
            <a:endParaRPr lang="en-IN" dirty="0"/>
          </a:p>
        </p:txBody>
      </p:sp>
    </p:spTree>
    <p:extLst>
      <p:ext uri="{BB962C8B-B14F-4D97-AF65-F5344CB8AC3E}">
        <p14:creationId xmlns:p14="http://schemas.microsoft.com/office/powerpoint/2010/main" val="3640552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93E2E-CFD0-C928-0E0D-A56DA6B6A61C}"/>
              </a:ext>
            </a:extLst>
          </p:cNvPr>
          <p:cNvSpPr>
            <a:spLocks noGrp="1"/>
          </p:cNvSpPr>
          <p:nvPr>
            <p:ph type="title"/>
          </p:nvPr>
        </p:nvSpPr>
        <p:spPr/>
        <p:txBody>
          <a:bodyPr/>
          <a:lstStyle/>
          <a:p>
            <a:pPr algn="ctr"/>
            <a:br>
              <a:rPr lang="en-IN" dirty="0"/>
            </a:br>
            <a:r>
              <a:rPr lang="en-IN" dirty="0"/>
              <a:t> </a:t>
            </a:r>
            <a:r>
              <a:rPr lang="en-IN" b="1" dirty="0"/>
              <a:t>EXAMPLES OF EXPERT SYSTEMS </a:t>
            </a:r>
          </a:p>
        </p:txBody>
      </p:sp>
      <p:sp>
        <p:nvSpPr>
          <p:cNvPr id="3" name="Content Placeholder 2">
            <a:extLst>
              <a:ext uri="{FF2B5EF4-FFF2-40B4-BE49-F238E27FC236}">
                <a16:creationId xmlns:a16="http://schemas.microsoft.com/office/drawing/2014/main" id="{6F85E0C6-71C0-F300-1BE8-5457883A21A9}"/>
              </a:ext>
            </a:extLst>
          </p:cNvPr>
          <p:cNvSpPr>
            <a:spLocks noGrp="1"/>
          </p:cNvSpPr>
          <p:nvPr>
            <p:ph idx="1"/>
          </p:nvPr>
        </p:nvSpPr>
        <p:spPr/>
        <p:txBody>
          <a:bodyPr>
            <a:normAutofit fontScale="92500" lnSpcReduction="20000"/>
          </a:bodyPr>
          <a:lstStyle/>
          <a:p>
            <a:endParaRPr lang="en-IN" dirty="0"/>
          </a:p>
          <a:p>
            <a:r>
              <a:rPr lang="en-US" b="1" dirty="0"/>
              <a:t>DENDRAL: </a:t>
            </a:r>
            <a:r>
              <a:rPr lang="en-US" dirty="0"/>
              <a:t>It was an artificial intelligence project that was made as a chemical analysis expert system. It was used in organic chemistry to detect unknown organic molecules with the help of their mass spectra and knowledge base of chemistry. </a:t>
            </a:r>
          </a:p>
          <a:p>
            <a:r>
              <a:rPr lang="en-US" b="1" dirty="0"/>
              <a:t>MYCIN: </a:t>
            </a:r>
            <a:r>
              <a:rPr lang="en-US" dirty="0"/>
              <a:t>It was one of the earliest backward chaining expert systems that was designed to find the bacteria causing infections like </a:t>
            </a:r>
            <a:r>
              <a:rPr lang="en-US" dirty="0" err="1"/>
              <a:t>bacteraemia</a:t>
            </a:r>
            <a:r>
              <a:rPr lang="en-US" dirty="0"/>
              <a:t> and meningitis. It was also used for the recommendation of antibiotics and the diagnosis of blood clotting diseases. </a:t>
            </a:r>
          </a:p>
          <a:p>
            <a:r>
              <a:rPr lang="en-US" b="1" dirty="0"/>
              <a:t>PXDES: </a:t>
            </a:r>
            <a:r>
              <a:rPr lang="en-US" dirty="0"/>
              <a:t>It is an expert system that is used to determine the type and level of lung cancer. To determine the disease, it takes a picture from the upper body, which looks like the shadow. This shadow identifies the type and degree of harm. </a:t>
            </a:r>
          </a:p>
          <a:p>
            <a:r>
              <a:rPr lang="en-US" b="1" dirty="0" err="1"/>
              <a:t>CaDeT</a:t>
            </a:r>
            <a:r>
              <a:rPr lang="en-US" b="1" dirty="0"/>
              <a:t>: </a:t>
            </a:r>
            <a:r>
              <a:rPr lang="en-US" dirty="0"/>
              <a:t>The </a:t>
            </a:r>
            <a:r>
              <a:rPr lang="en-US" dirty="0" err="1"/>
              <a:t>CaDet</a:t>
            </a:r>
            <a:r>
              <a:rPr lang="en-US" dirty="0"/>
              <a:t> expert system is a diagnostic support system that can detect cancer at early stages. </a:t>
            </a:r>
          </a:p>
          <a:p>
            <a:endParaRPr lang="en-IN" dirty="0"/>
          </a:p>
        </p:txBody>
      </p:sp>
    </p:spTree>
    <p:extLst>
      <p:ext uri="{BB962C8B-B14F-4D97-AF65-F5344CB8AC3E}">
        <p14:creationId xmlns:p14="http://schemas.microsoft.com/office/powerpoint/2010/main" val="1058927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5F337-DA86-D2F5-C442-4743BED6D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85ED6-EA56-C405-F08F-6490FFC396D0}"/>
              </a:ext>
            </a:extLst>
          </p:cNvPr>
          <p:cNvSpPr>
            <a:spLocks noGrp="1"/>
          </p:cNvSpPr>
          <p:nvPr>
            <p:ph type="title"/>
          </p:nvPr>
        </p:nvSpPr>
        <p:spPr/>
        <p:txBody>
          <a:bodyPr/>
          <a:lstStyle/>
          <a:p>
            <a:pPr algn="ctr"/>
            <a:br>
              <a:rPr lang="en-IN" dirty="0"/>
            </a:br>
            <a:r>
              <a:rPr lang="en-IN" dirty="0"/>
              <a:t> </a:t>
            </a:r>
            <a:r>
              <a:rPr lang="en-IN" b="1" dirty="0"/>
              <a:t>CHARACTERISTICS OF EXPERT SYSTEM </a:t>
            </a:r>
            <a:endParaRPr lang="en-IN" dirty="0"/>
          </a:p>
        </p:txBody>
      </p:sp>
      <p:sp>
        <p:nvSpPr>
          <p:cNvPr id="3" name="Content Placeholder 2">
            <a:extLst>
              <a:ext uri="{FF2B5EF4-FFF2-40B4-BE49-F238E27FC236}">
                <a16:creationId xmlns:a16="http://schemas.microsoft.com/office/drawing/2014/main" id="{3A82C1DF-9842-1422-F05D-EC4AE740CCFD}"/>
              </a:ext>
            </a:extLst>
          </p:cNvPr>
          <p:cNvSpPr>
            <a:spLocks noGrp="1"/>
          </p:cNvSpPr>
          <p:nvPr>
            <p:ph idx="1"/>
          </p:nvPr>
        </p:nvSpPr>
        <p:spPr/>
        <p:txBody>
          <a:bodyPr>
            <a:normAutofit/>
          </a:bodyPr>
          <a:lstStyle/>
          <a:p>
            <a:r>
              <a:rPr lang="en-US" b="1" dirty="0"/>
              <a:t>High Performance: </a:t>
            </a:r>
            <a:r>
              <a:rPr lang="en-US" dirty="0"/>
              <a:t>The expert system provides high performance for solving any type of complex problem of a specific domain with high efficiency and accuracy. </a:t>
            </a:r>
          </a:p>
          <a:p>
            <a:r>
              <a:rPr lang="en-US" b="1" dirty="0"/>
              <a:t>Understandable: </a:t>
            </a:r>
            <a:r>
              <a:rPr lang="en-US" dirty="0"/>
              <a:t>It responds in a way that can be easily understandable by the user. It can take input in human language and provides the output in the same way. </a:t>
            </a:r>
          </a:p>
          <a:p>
            <a:r>
              <a:rPr lang="en-US" b="1" dirty="0"/>
              <a:t>Reliable: </a:t>
            </a:r>
            <a:r>
              <a:rPr lang="en-US" dirty="0"/>
              <a:t>It is much reliable for generating an efficient and accurate output. </a:t>
            </a:r>
          </a:p>
          <a:p>
            <a:r>
              <a:rPr lang="en-US" b="1" dirty="0"/>
              <a:t>Highly responsive: </a:t>
            </a:r>
            <a:r>
              <a:rPr lang="en-US" dirty="0"/>
              <a:t>ES provides the result for any complex query within a very short period of time. </a:t>
            </a:r>
          </a:p>
          <a:p>
            <a:endParaRPr lang="en-IN" dirty="0"/>
          </a:p>
        </p:txBody>
      </p:sp>
    </p:spTree>
    <p:extLst>
      <p:ext uri="{BB962C8B-B14F-4D97-AF65-F5344CB8AC3E}">
        <p14:creationId xmlns:p14="http://schemas.microsoft.com/office/powerpoint/2010/main" val="1379212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41877-1F63-DEF2-BCF2-A794BF9E2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35176-22A8-7E12-FDC7-11F18E5B3DCE}"/>
              </a:ext>
            </a:extLst>
          </p:cNvPr>
          <p:cNvSpPr>
            <a:spLocks noGrp="1"/>
          </p:cNvSpPr>
          <p:nvPr>
            <p:ph type="title"/>
          </p:nvPr>
        </p:nvSpPr>
        <p:spPr/>
        <p:txBody>
          <a:bodyPr/>
          <a:lstStyle/>
          <a:p>
            <a:pPr algn="ctr"/>
            <a:br>
              <a:rPr lang="en-IN" dirty="0"/>
            </a:br>
            <a:r>
              <a:rPr lang="en-IN" dirty="0"/>
              <a:t> </a:t>
            </a:r>
            <a:r>
              <a:rPr lang="en-IN" b="1" dirty="0"/>
              <a:t>BENEFITS OF EXPERT SYSTEMS </a:t>
            </a:r>
            <a:endParaRPr lang="en-IN" dirty="0"/>
          </a:p>
        </p:txBody>
      </p:sp>
      <p:sp>
        <p:nvSpPr>
          <p:cNvPr id="3" name="Content Placeholder 2">
            <a:extLst>
              <a:ext uri="{FF2B5EF4-FFF2-40B4-BE49-F238E27FC236}">
                <a16:creationId xmlns:a16="http://schemas.microsoft.com/office/drawing/2014/main" id="{BFD7F2A2-C559-42D5-DEBF-ED45A9E9F57D}"/>
              </a:ext>
            </a:extLst>
          </p:cNvPr>
          <p:cNvSpPr>
            <a:spLocks noGrp="1"/>
          </p:cNvSpPr>
          <p:nvPr>
            <p:ph idx="1"/>
          </p:nvPr>
        </p:nvSpPr>
        <p:spPr/>
        <p:txBody>
          <a:bodyPr>
            <a:normAutofit/>
          </a:bodyPr>
          <a:lstStyle/>
          <a:p>
            <a:r>
              <a:rPr lang="en-US" dirty="0"/>
              <a:t>It improves the decision quality </a:t>
            </a:r>
          </a:p>
          <a:p>
            <a:r>
              <a:rPr lang="en-US" dirty="0"/>
              <a:t>Cuts the expense of consulting experts for problem-solving </a:t>
            </a:r>
          </a:p>
          <a:p>
            <a:r>
              <a:rPr lang="en-US" dirty="0"/>
              <a:t>It provides fast and efficient solutions to problems in a narrow area of specialization. </a:t>
            </a:r>
          </a:p>
          <a:p>
            <a:r>
              <a:rPr lang="en-US" dirty="0"/>
              <a:t>Offers consistent answer for the repetitive problem </a:t>
            </a:r>
          </a:p>
          <a:p>
            <a:r>
              <a:rPr lang="en-US" dirty="0"/>
              <a:t>Helps you to get fast and accurate answers </a:t>
            </a:r>
          </a:p>
          <a:p>
            <a:r>
              <a:rPr lang="en-US" dirty="0"/>
              <a:t>A proper explanation of decision making </a:t>
            </a:r>
          </a:p>
          <a:p>
            <a:r>
              <a:rPr lang="en-US" dirty="0"/>
              <a:t>Ability to solve complex and challenging issues </a:t>
            </a:r>
          </a:p>
          <a:p>
            <a:endParaRPr lang="en-IN" dirty="0"/>
          </a:p>
        </p:txBody>
      </p:sp>
    </p:spTree>
    <p:extLst>
      <p:ext uri="{BB962C8B-B14F-4D97-AF65-F5344CB8AC3E}">
        <p14:creationId xmlns:p14="http://schemas.microsoft.com/office/powerpoint/2010/main" val="1298757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86DE9-1C0C-0EDE-297E-DE4D0D0F8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579FF-E588-50C0-9938-D249BE56CE46}"/>
              </a:ext>
            </a:extLst>
          </p:cNvPr>
          <p:cNvSpPr>
            <a:spLocks noGrp="1"/>
          </p:cNvSpPr>
          <p:nvPr>
            <p:ph type="title"/>
          </p:nvPr>
        </p:nvSpPr>
        <p:spPr/>
        <p:txBody>
          <a:bodyPr/>
          <a:lstStyle/>
          <a:p>
            <a:pPr algn="ctr"/>
            <a:br>
              <a:rPr lang="en-IN" dirty="0"/>
            </a:br>
            <a:r>
              <a:rPr lang="en-US" dirty="0"/>
              <a:t> </a:t>
            </a:r>
            <a:r>
              <a:rPr lang="en-US" b="1" dirty="0"/>
              <a:t>LIMITATIONS OF THE EXPERT SYSTEM </a:t>
            </a:r>
            <a:endParaRPr lang="en-IN" dirty="0"/>
          </a:p>
        </p:txBody>
      </p:sp>
      <p:sp>
        <p:nvSpPr>
          <p:cNvPr id="3" name="Content Placeholder 2">
            <a:extLst>
              <a:ext uri="{FF2B5EF4-FFF2-40B4-BE49-F238E27FC236}">
                <a16:creationId xmlns:a16="http://schemas.microsoft.com/office/drawing/2014/main" id="{FF0CA9BF-60D9-E40D-9563-AFE3B4F9EE35}"/>
              </a:ext>
            </a:extLst>
          </p:cNvPr>
          <p:cNvSpPr>
            <a:spLocks noGrp="1"/>
          </p:cNvSpPr>
          <p:nvPr>
            <p:ph idx="1"/>
          </p:nvPr>
        </p:nvSpPr>
        <p:spPr/>
        <p:txBody>
          <a:bodyPr/>
          <a:lstStyle/>
          <a:p>
            <a:pPr marL="0" indent="0">
              <a:buNone/>
            </a:pPr>
            <a:endParaRPr lang="en-IN" dirty="0"/>
          </a:p>
          <a:p>
            <a:r>
              <a:rPr lang="en-US" dirty="0"/>
              <a:t>Unable to make a creative response in an extraordinary situation </a:t>
            </a:r>
          </a:p>
          <a:p>
            <a:pPr marL="0" indent="0">
              <a:buNone/>
            </a:pPr>
            <a:endParaRPr lang="en-US" dirty="0"/>
          </a:p>
          <a:p>
            <a:r>
              <a:rPr lang="en-US" dirty="0"/>
              <a:t>Errors in the knowledge base can lead to wrong decision </a:t>
            </a:r>
          </a:p>
          <a:p>
            <a:pPr marL="0" indent="0">
              <a:buNone/>
            </a:pPr>
            <a:endParaRPr lang="en-US" dirty="0"/>
          </a:p>
          <a:p>
            <a:r>
              <a:rPr lang="en-US" dirty="0"/>
              <a:t>The maintenance cost of an expert system is too expensive </a:t>
            </a:r>
          </a:p>
          <a:p>
            <a:pPr marL="0" indent="0">
              <a:buNone/>
            </a:pPr>
            <a:endParaRPr lang="en-US" dirty="0"/>
          </a:p>
          <a:p>
            <a:r>
              <a:rPr lang="en-US" dirty="0"/>
              <a:t>Each problem is different therefore the solution from a human expert can also be different and more creative </a:t>
            </a:r>
          </a:p>
          <a:p>
            <a:endParaRPr lang="en-IN" dirty="0"/>
          </a:p>
        </p:txBody>
      </p:sp>
    </p:spTree>
    <p:extLst>
      <p:ext uri="{BB962C8B-B14F-4D97-AF65-F5344CB8AC3E}">
        <p14:creationId xmlns:p14="http://schemas.microsoft.com/office/powerpoint/2010/main" val="522699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D9211-7B68-E5E5-24F8-B6089375A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6621B-E6BF-57CF-DCA2-2E8CC0115758}"/>
              </a:ext>
            </a:extLst>
          </p:cNvPr>
          <p:cNvSpPr>
            <a:spLocks noGrp="1"/>
          </p:cNvSpPr>
          <p:nvPr>
            <p:ph type="title"/>
          </p:nvPr>
        </p:nvSpPr>
        <p:spPr/>
        <p:txBody>
          <a:bodyPr/>
          <a:lstStyle/>
          <a:p>
            <a:pPr algn="ctr"/>
            <a:br>
              <a:rPr lang="en-IN" dirty="0"/>
            </a:br>
            <a:r>
              <a:rPr lang="en-IN" dirty="0"/>
              <a:t> </a:t>
            </a:r>
            <a:r>
              <a:rPr lang="en-IN" b="1" dirty="0"/>
              <a:t>APPLICATIONS OF EXPERT SYSTEMS </a:t>
            </a:r>
            <a:endParaRPr lang="en-IN" dirty="0"/>
          </a:p>
        </p:txBody>
      </p:sp>
      <p:sp>
        <p:nvSpPr>
          <p:cNvPr id="3" name="Content Placeholder 2">
            <a:extLst>
              <a:ext uri="{FF2B5EF4-FFF2-40B4-BE49-F238E27FC236}">
                <a16:creationId xmlns:a16="http://schemas.microsoft.com/office/drawing/2014/main" id="{2B033EF7-C94A-05D2-533F-1125E1187FB5}"/>
              </a:ext>
            </a:extLst>
          </p:cNvPr>
          <p:cNvSpPr>
            <a:spLocks noGrp="1"/>
          </p:cNvSpPr>
          <p:nvPr>
            <p:ph idx="1"/>
          </p:nvPr>
        </p:nvSpPr>
        <p:spPr>
          <a:xfrm>
            <a:off x="2589212" y="2133600"/>
            <a:ext cx="8915400" cy="4336026"/>
          </a:xfrm>
        </p:spPr>
        <p:txBody>
          <a:bodyPr>
            <a:normAutofit lnSpcReduction="10000"/>
          </a:bodyPr>
          <a:lstStyle/>
          <a:p>
            <a:r>
              <a:rPr lang="en-US" dirty="0"/>
              <a:t> Information management</a:t>
            </a:r>
          </a:p>
          <a:p>
            <a:r>
              <a:rPr lang="en-US" dirty="0"/>
              <a:t> Hospitals and medical facilities management</a:t>
            </a:r>
          </a:p>
          <a:p>
            <a:r>
              <a:rPr lang="en-US" dirty="0"/>
              <a:t>Help desks management</a:t>
            </a:r>
          </a:p>
          <a:p>
            <a:r>
              <a:rPr lang="en-US" dirty="0"/>
              <a:t>Employee performance evaluation</a:t>
            </a:r>
          </a:p>
          <a:p>
            <a:r>
              <a:rPr lang="en-US" dirty="0"/>
              <a:t>Loan analysis</a:t>
            </a:r>
          </a:p>
          <a:p>
            <a:r>
              <a:rPr lang="en-US" dirty="0"/>
              <a:t>Virus detection</a:t>
            </a:r>
          </a:p>
          <a:p>
            <a:r>
              <a:rPr lang="en-US" dirty="0"/>
              <a:t>Financial decision making</a:t>
            </a:r>
          </a:p>
          <a:p>
            <a:r>
              <a:rPr lang="en-US" dirty="0"/>
              <a:t>Knowledge publishing</a:t>
            </a:r>
          </a:p>
          <a:p>
            <a:r>
              <a:rPr lang="en-US" dirty="0"/>
              <a:t>Process monitoring and control</a:t>
            </a:r>
          </a:p>
          <a:p>
            <a:r>
              <a:rPr lang="en-US" dirty="0"/>
              <a:t>Stock market trading</a:t>
            </a:r>
          </a:p>
          <a:p>
            <a:r>
              <a:rPr lang="en-US" dirty="0"/>
              <a:t>Airline scheduling &amp; cargo schedules </a:t>
            </a:r>
            <a:endParaRPr lang="en-IN" dirty="0"/>
          </a:p>
        </p:txBody>
      </p:sp>
    </p:spTree>
    <p:extLst>
      <p:ext uri="{BB962C8B-B14F-4D97-AF65-F5344CB8AC3E}">
        <p14:creationId xmlns:p14="http://schemas.microsoft.com/office/powerpoint/2010/main" val="737061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A5018-0BC4-58B7-C1AA-0A33418DB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2CAB4-A692-1FA2-5BEA-E54C3559AF34}"/>
              </a:ext>
            </a:extLst>
          </p:cNvPr>
          <p:cNvSpPr>
            <a:spLocks noGrp="1"/>
          </p:cNvSpPr>
          <p:nvPr>
            <p:ph type="title"/>
          </p:nvPr>
        </p:nvSpPr>
        <p:spPr>
          <a:xfrm>
            <a:off x="2589212" y="555284"/>
            <a:ext cx="8911687" cy="1280890"/>
          </a:xfrm>
        </p:spPr>
        <p:txBody>
          <a:bodyPr>
            <a:normAutofit fontScale="90000"/>
          </a:bodyPr>
          <a:lstStyle/>
          <a:p>
            <a:pPr algn="ctr"/>
            <a:br>
              <a:rPr lang="en-IN" dirty="0"/>
            </a:br>
            <a:r>
              <a:rPr lang="en-US" dirty="0"/>
              <a:t> </a:t>
            </a:r>
            <a:r>
              <a:rPr lang="en-US" sz="3100" b="1" dirty="0"/>
              <a:t>REPRESENTING AND USING DOMAIN KNOWLEDGE </a:t>
            </a:r>
            <a:endParaRPr lang="en-IN" dirty="0"/>
          </a:p>
        </p:txBody>
      </p:sp>
      <p:sp>
        <p:nvSpPr>
          <p:cNvPr id="3" name="Content Placeholder 2">
            <a:extLst>
              <a:ext uri="{FF2B5EF4-FFF2-40B4-BE49-F238E27FC236}">
                <a16:creationId xmlns:a16="http://schemas.microsoft.com/office/drawing/2014/main" id="{945FC7C6-2B53-C8AD-4697-309B6C4633B6}"/>
              </a:ext>
            </a:extLst>
          </p:cNvPr>
          <p:cNvSpPr>
            <a:spLocks noGrp="1"/>
          </p:cNvSpPr>
          <p:nvPr>
            <p:ph idx="1"/>
          </p:nvPr>
        </p:nvSpPr>
        <p:spPr/>
        <p:txBody>
          <a:bodyPr>
            <a:normAutofit fontScale="92500" lnSpcReduction="20000"/>
          </a:bodyPr>
          <a:lstStyle/>
          <a:p>
            <a:r>
              <a:rPr lang="en-US" dirty="0"/>
              <a:t>Expert system is built around a knowledge base module. </a:t>
            </a:r>
          </a:p>
          <a:p>
            <a:r>
              <a:rPr lang="en-US" dirty="0"/>
              <a:t>Expert system contains a formal representation of the information provided by the domain expert. This information may be in the form of problem-solving rules, procedures, or data intrinsic to the domain.</a:t>
            </a:r>
          </a:p>
          <a:p>
            <a:r>
              <a:rPr lang="en-US" dirty="0"/>
              <a:t>To incorporate this information into the system, it is necessary to make use of one or more knowledge representation methods. Some of these methods are described here. </a:t>
            </a:r>
          </a:p>
          <a:p>
            <a:r>
              <a:rPr lang="en-US" dirty="0"/>
              <a:t>Transferring knowledge from the human expert to a computer is often the most difficult part of building an </a:t>
            </a:r>
            <a:r>
              <a:rPr lang="en-IN" dirty="0"/>
              <a:t>expert system. </a:t>
            </a:r>
          </a:p>
          <a:p>
            <a:r>
              <a:rPr lang="en-US" dirty="0"/>
              <a:t>The knowledge acquired from the human expert must be encoded in such a way that it remains a faithful representation of what the expert knows, and it can be manipulated by a computer. </a:t>
            </a:r>
          </a:p>
          <a:p>
            <a:r>
              <a:rPr lang="en-IN" dirty="0"/>
              <a:t>Three common </a:t>
            </a:r>
            <a:r>
              <a:rPr lang="en-US" dirty="0"/>
              <a:t>methods of knowledge representation evolved over the years are IF-THEN rules, Semantic networks and Frames. </a:t>
            </a:r>
          </a:p>
          <a:p>
            <a:endParaRPr lang="en-IN" dirty="0"/>
          </a:p>
          <a:p>
            <a:endParaRPr lang="en-IN" dirty="0"/>
          </a:p>
        </p:txBody>
      </p:sp>
    </p:spTree>
    <p:extLst>
      <p:ext uri="{BB962C8B-B14F-4D97-AF65-F5344CB8AC3E}">
        <p14:creationId xmlns:p14="http://schemas.microsoft.com/office/powerpoint/2010/main" val="2531382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74DC3-9F94-8BC8-F347-4548FC641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FAB60-19D6-E3FA-F8FC-779A4A76CA68}"/>
              </a:ext>
            </a:extLst>
          </p:cNvPr>
          <p:cNvSpPr>
            <a:spLocks noGrp="1"/>
          </p:cNvSpPr>
          <p:nvPr>
            <p:ph type="title"/>
          </p:nvPr>
        </p:nvSpPr>
        <p:spPr/>
        <p:txBody>
          <a:bodyPr/>
          <a:lstStyle/>
          <a:p>
            <a:pPr algn="ctr"/>
            <a:r>
              <a:rPr lang="en-IN" b="1" dirty="0"/>
              <a:t>DEVELOPMENT OF EXPERT SYSTEM </a:t>
            </a:r>
            <a:endParaRPr lang="en-IN" dirty="0"/>
          </a:p>
        </p:txBody>
      </p:sp>
      <p:sp>
        <p:nvSpPr>
          <p:cNvPr id="3" name="Content Placeholder 2">
            <a:extLst>
              <a:ext uri="{FF2B5EF4-FFF2-40B4-BE49-F238E27FC236}">
                <a16:creationId xmlns:a16="http://schemas.microsoft.com/office/drawing/2014/main" id="{0AFF16AE-C258-F149-3511-42F478E9CE96}"/>
              </a:ext>
            </a:extLst>
          </p:cNvPr>
          <p:cNvSpPr>
            <a:spLocks noGrp="1"/>
          </p:cNvSpPr>
          <p:nvPr>
            <p:ph idx="1"/>
          </p:nvPr>
        </p:nvSpPr>
        <p:spPr>
          <a:xfrm>
            <a:off x="2589212" y="2133600"/>
            <a:ext cx="8915400" cy="4100290"/>
          </a:xfrm>
        </p:spPr>
        <p:txBody>
          <a:bodyPr>
            <a:normAutofit fontScale="92500" lnSpcReduction="20000"/>
          </a:bodyPr>
          <a:lstStyle/>
          <a:p>
            <a:pPr marL="0" indent="0">
              <a:buNone/>
            </a:pPr>
            <a:r>
              <a:rPr lang="en-US" dirty="0"/>
              <a:t>Here, we will explain the working of an expert system by taking an example of MYCIN ES. Below are some steps to build an </a:t>
            </a:r>
            <a:r>
              <a:rPr lang="en-US" b="1" i="1" dirty="0"/>
              <a:t>MYCIN: </a:t>
            </a:r>
            <a:endParaRPr lang="en-US" dirty="0"/>
          </a:p>
          <a:p>
            <a:r>
              <a:rPr lang="en-US" dirty="0"/>
              <a:t>Firstly, ES should be fed with expert knowledge. In the case of MYCIN, human experts specialized in the medical field of bacterial infection; provide information about the causes, symptoms, and other knowledge in that domain. </a:t>
            </a:r>
          </a:p>
          <a:p>
            <a:r>
              <a:rPr lang="en-US" dirty="0"/>
              <a:t>The KB of the MYCIN is updated successfully. In order to test it, the doctor provides a new problem to it. The problem is to identify the presence of the bacteria by inputting the details of a patient, including the symptoms, current condition, and medical history. </a:t>
            </a:r>
          </a:p>
          <a:p>
            <a:r>
              <a:rPr lang="en-US" dirty="0"/>
              <a:t>The ES will need a questionnaire to be filled by the patient to know the general information about the patient, such as gender, age, etc. </a:t>
            </a:r>
          </a:p>
          <a:p>
            <a:r>
              <a:rPr lang="en-US" dirty="0"/>
              <a:t>Now the system has collected all the information, so it will find the solution for the problem by applying if- then rules using the inference engine and using the facts stored within the KB. </a:t>
            </a:r>
          </a:p>
          <a:p>
            <a:r>
              <a:rPr lang="en-US" dirty="0"/>
              <a:t>In the end, it will provide a response to the patient by using the user interface. </a:t>
            </a:r>
          </a:p>
          <a:p>
            <a:endParaRPr lang="en-IN" dirty="0"/>
          </a:p>
        </p:txBody>
      </p:sp>
    </p:spTree>
    <p:extLst>
      <p:ext uri="{BB962C8B-B14F-4D97-AF65-F5344CB8AC3E}">
        <p14:creationId xmlns:p14="http://schemas.microsoft.com/office/powerpoint/2010/main" val="1908571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3BE26-E6D7-60F3-1B32-1BB9967C46CA}"/>
              </a:ext>
            </a:extLst>
          </p:cNvPr>
          <p:cNvSpPr>
            <a:spLocks noGrp="1"/>
          </p:cNvSpPr>
          <p:nvPr>
            <p:ph type="title"/>
          </p:nvPr>
        </p:nvSpPr>
        <p:spPr/>
        <p:txBody>
          <a:bodyPr/>
          <a:lstStyle/>
          <a:p>
            <a:pPr algn="ctr"/>
            <a:r>
              <a:rPr lang="en-IN" b="1" dirty="0"/>
              <a:t>EXPERT SYSTEM SHELLS</a:t>
            </a:r>
            <a:endParaRPr lang="en-IN" dirty="0"/>
          </a:p>
        </p:txBody>
      </p:sp>
      <p:sp>
        <p:nvSpPr>
          <p:cNvPr id="3" name="Content Placeholder 2">
            <a:extLst>
              <a:ext uri="{FF2B5EF4-FFF2-40B4-BE49-F238E27FC236}">
                <a16:creationId xmlns:a16="http://schemas.microsoft.com/office/drawing/2014/main" id="{A665A279-20CB-9BC8-946B-7F31E9F0C146}"/>
              </a:ext>
            </a:extLst>
          </p:cNvPr>
          <p:cNvSpPr>
            <a:spLocks noGrp="1"/>
          </p:cNvSpPr>
          <p:nvPr>
            <p:ph idx="1"/>
          </p:nvPr>
        </p:nvSpPr>
        <p:spPr/>
        <p:txBody>
          <a:bodyPr/>
          <a:lstStyle/>
          <a:p>
            <a:pPr marL="0" indent="0">
              <a:buNone/>
            </a:pPr>
            <a:r>
              <a:rPr lang="en-US" dirty="0"/>
              <a:t>A new expert system can be developed by adding domain knowledge to the shell. The figure depicts generic components of expert system. </a:t>
            </a:r>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C5AC172A-B50A-AB86-8118-93926C93A1F0}"/>
              </a:ext>
            </a:extLst>
          </p:cNvPr>
          <p:cNvPicPr>
            <a:picLocks noChangeAspect="1"/>
          </p:cNvPicPr>
          <p:nvPr/>
        </p:nvPicPr>
        <p:blipFill>
          <a:blip r:embed="rId2"/>
          <a:stretch>
            <a:fillRect/>
          </a:stretch>
        </p:blipFill>
        <p:spPr>
          <a:xfrm>
            <a:off x="2589213" y="2843010"/>
            <a:ext cx="8688387" cy="3498795"/>
          </a:xfrm>
          <a:prstGeom prst="rect">
            <a:avLst/>
          </a:prstGeom>
        </p:spPr>
      </p:pic>
    </p:spTree>
    <p:extLst>
      <p:ext uri="{BB962C8B-B14F-4D97-AF65-F5344CB8AC3E}">
        <p14:creationId xmlns:p14="http://schemas.microsoft.com/office/powerpoint/2010/main" val="2611336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20349-18F7-CF23-AA29-EF530BE57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1D7AC1-2B10-7AD4-CA8A-3EB4113A14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5EA284-6A4A-0161-5022-38BFC131CCC0}"/>
              </a:ext>
            </a:extLst>
          </p:cNvPr>
          <p:cNvSpPr>
            <a:spLocks noGrp="1"/>
          </p:cNvSpPr>
          <p:nvPr>
            <p:ph idx="1"/>
          </p:nvPr>
        </p:nvSpPr>
        <p:spPr/>
        <p:txBody>
          <a:bodyPr>
            <a:normAutofit fontScale="92500" lnSpcReduction="20000"/>
          </a:bodyPr>
          <a:lstStyle/>
          <a:p>
            <a:pPr marL="0" indent="0">
              <a:buNone/>
            </a:pPr>
            <a:r>
              <a:rPr lang="en-US" b="1" dirty="0"/>
              <a:t>Knowledge acquisition system: </a:t>
            </a:r>
            <a:r>
              <a:rPr lang="en-US" dirty="0"/>
              <a:t>It is the first and fundamental step. It helps to collect the experts knowledge required to solve the Problems and build the knowledge base. </a:t>
            </a:r>
          </a:p>
          <a:p>
            <a:pPr marL="0" indent="0">
              <a:buNone/>
            </a:pPr>
            <a:r>
              <a:rPr lang="en-US" b="1" dirty="0"/>
              <a:t>Knowledge Base: </a:t>
            </a:r>
            <a:r>
              <a:rPr lang="en-US" dirty="0"/>
              <a:t>This component is the heart of expert systems. It stores all factual and heuristic knowledge about the application domain. It provides with the various representation techniques for all the data. </a:t>
            </a:r>
          </a:p>
          <a:p>
            <a:r>
              <a:rPr lang="en-US" dirty="0"/>
              <a:t>The knowledgebase is a type of storage that stores knowledge acquired from the different experts of the particular domain. It is considered as big storage of knowledge. The more the knowledge base, the more precise will be the Expert System. </a:t>
            </a:r>
          </a:p>
          <a:p>
            <a:r>
              <a:rPr lang="en-US" dirty="0"/>
              <a:t>It is similar to a database that contains information and rules of a particular domain or subject. </a:t>
            </a:r>
          </a:p>
          <a:p>
            <a:r>
              <a:rPr lang="en-US" dirty="0"/>
              <a:t>One can also view the knowledge base as collections of objects and their attributes. Such as a Lion is an object and its attributes are it is a mammal, it is not a domestic animal, etc. </a:t>
            </a:r>
          </a:p>
          <a:p>
            <a:endParaRPr lang="en-IN" dirty="0"/>
          </a:p>
        </p:txBody>
      </p:sp>
    </p:spTree>
    <p:extLst>
      <p:ext uri="{BB962C8B-B14F-4D97-AF65-F5344CB8AC3E}">
        <p14:creationId xmlns:p14="http://schemas.microsoft.com/office/powerpoint/2010/main" val="4255117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0E29-C484-67FA-C11C-68838E9E9C80}"/>
              </a:ext>
            </a:extLst>
          </p:cNvPr>
          <p:cNvSpPr>
            <a:spLocks noGrp="1"/>
          </p:cNvSpPr>
          <p:nvPr>
            <p:ph type="title"/>
          </p:nvPr>
        </p:nvSpPr>
        <p:spPr/>
        <p:txBody>
          <a:bodyPr/>
          <a:lstStyle/>
          <a:p>
            <a:pPr algn="ctr"/>
            <a:r>
              <a:rPr lang="en-IN" b="1" dirty="0"/>
              <a:t>COMPONENTS OF KNOWLEDGE BASE </a:t>
            </a:r>
            <a:endParaRPr lang="en-IN" dirty="0"/>
          </a:p>
        </p:txBody>
      </p:sp>
      <p:sp>
        <p:nvSpPr>
          <p:cNvPr id="3" name="Content Placeholder 2">
            <a:extLst>
              <a:ext uri="{FF2B5EF4-FFF2-40B4-BE49-F238E27FC236}">
                <a16:creationId xmlns:a16="http://schemas.microsoft.com/office/drawing/2014/main" id="{676FC483-FCB3-314F-1E9B-44BA3377E652}"/>
              </a:ext>
            </a:extLst>
          </p:cNvPr>
          <p:cNvSpPr>
            <a:spLocks noGrp="1"/>
          </p:cNvSpPr>
          <p:nvPr>
            <p:ph idx="1"/>
          </p:nvPr>
        </p:nvSpPr>
        <p:spPr>
          <a:xfrm>
            <a:off x="2589212" y="2133600"/>
            <a:ext cx="8915400" cy="4100290"/>
          </a:xfrm>
        </p:spPr>
        <p:txBody>
          <a:bodyPr>
            <a:normAutofit/>
          </a:bodyPr>
          <a:lstStyle/>
          <a:p>
            <a:endParaRPr lang="en-IN" dirty="0"/>
          </a:p>
          <a:p>
            <a:pPr marL="0" indent="0">
              <a:buNone/>
            </a:pPr>
            <a:r>
              <a:rPr lang="en-US" b="1" dirty="0"/>
              <a:t>Factual Knowledge: </a:t>
            </a:r>
            <a:r>
              <a:rPr lang="en-US" dirty="0"/>
              <a:t>The knowledge which is based on facts and accepted by knowledge engineers comes under factual knowledge. </a:t>
            </a:r>
          </a:p>
          <a:p>
            <a:pPr marL="0" indent="0">
              <a:buNone/>
            </a:pPr>
            <a:r>
              <a:rPr lang="en-US" b="1" dirty="0"/>
              <a:t>Heuristic Knowledge: </a:t>
            </a:r>
            <a:r>
              <a:rPr lang="en-US" dirty="0"/>
              <a:t>This knowledge is based on practice, the ability to guess, evaluation, and experiences. </a:t>
            </a:r>
          </a:p>
          <a:p>
            <a:pPr marL="0" indent="0">
              <a:buNone/>
            </a:pPr>
            <a:r>
              <a:rPr lang="en-US" b="1" dirty="0"/>
              <a:t>Inference mechanism: </a:t>
            </a:r>
            <a:r>
              <a:rPr lang="en-US" dirty="0"/>
              <a:t>Inference engine is the brain of the expert system. This component is mainly responsible for generating inference from the given knowledge from the knowledge base and produce line of reasoning in turn the result of the user's query. </a:t>
            </a:r>
          </a:p>
          <a:p>
            <a:r>
              <a:rPr lang="en-US" dirty="0"/>
              <a:t>It helps in deriving an error-free solution of queries asked by the user. </a:t>
            </a:r>
          </a:p>
          <a:p>
            <a:r>
              <a:rPr lang="en-US" dirty="0"/>
              <a:t>With the help of an inference engine, the system extracts the knowledge from the knowledge base. </a:t>
            </a:r>
          </a:p>
          <a:p>
            <a:endParaRPr lang="en-IN" dirty="0"/>
          </a:p>
        </p:txBody>
      </p:sp>
    </p:spTree>
    <p:extLst>
      <p:ext uri="{BB962C8B-B14F-4D97-AF65-F5344CB8AC3E}">
        <p14:creationId xmlns:p14="http://schemas.microsoft.com/office/powerpoint/2010/main" val="2386629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29E3F1-094E-9F62-6A85-C4F66A9DD1A9}"/>
              </a:ext>
            </a:extLst>
          </p:cNvPr>
          <p:cNvSpPr>
            <a:spLocks noGrp="1"/>
          </p:cNvSpPr>
          <p:nvPr>
            <p:ph idx="1"/>
          </p:nvPr>
        </p:nvSpPr>
        <p:spPr>
          <a:xfrm>
            <a:off x="2569547" y="865239"/>
            <a:ext cx="8915400" cy="3777622"/>
          </a:xfrm>
        </p:spPr>
        <p:txBody>
          <a:bodyPr>
            <a:normAutofit/>
          </a:bodyPr>
          <a:lstStyle/>
          <a:p>
            <a:pPr marL="0" indent="0">
              <a:buNone/>
            </a:pPr>
            <a:r>
              <a:rPr lang="en-US" dirty="0"/>
              <a:t>There are two types of inference engine: </a:t>
            </a:r>
          </a:p>
          <a:p>
            <a:r>
              <a:rPr lang="en-US" b="1" dirty="0"/>
              <a:t>Deterministic Inference engine: </a:t>
            </a:r>
            <a:r>
              <a:rPr lang="en-US" dirty="0"/>
              <a:t>The conclusions drawn from this type of inference engine are assumed to be true. It is based on </a:t>
            </a:r>
            <a:r>
              <a:rPr lang="en-US" b="1" dirty="0"/>
              <a:t>facts </a:t>
            </a:r>
            <a:r>
              <a:rPr lang="en-US" dirty="0"/>
              <a:t>and </a:t>
            </a:r>
            <a:r>
              <a:rPr lang="en-US" b="1" dirty="0"/>
              <a:t>rules</a:t>
            </a:r>
            <a:r>
              <a:rPr lang="en-US" dirty="0"/>
              <a:t>. </a:t>
            </a:r>
          </a:p>
          <a:p>
            <a:r>
              <a:rPr lang="en-US" b="1" dirty="0"/>
              <a:t>Probabilistic Inference engine: </a:t>
            </a:r>
            <a:r>
              <a:rPr lang="en-US" dirty="0"/>
              <a:t>This type of inference engine contains uncertainty in conclusions, and based on the probability. </a:t>
            </a:r>
          </a:p>
          <a:p>
            <a:pPr marL="0" indent="0">
              <a:buNone/>
            </a:pPr>
            <a:r>
              <a:rPr lang="en-US" dirty="0"/>
              <a:t>Inference engine uses the below modes to derive the solutions: </a:t>
            </a:r>
          </a:p>
          <a:p>
            <a:r>
              <a:rPr lang="en-US" b="1" dirty="0"/>
              <a:t>Forward Chaining: </a:t>
            </a:r>
            <a:r>
              <a:rPr lang="en-US" dirty="0"/>
              <a:t>This is a </a:t>
            </a:r>
            <a:r>
              <a:rPr lang="en-US" b="1" dirty="0"/>
              <a:t>data-driven</a:t>
            </a:r>
            <a:r>
              <a:rPr lang="en-US" dirty="0"/>
              <a:t> reasoning approach where the system starts with the available facts and applies rules to infer new facts or conclusions. It's typically used to predict outcomes or determine what will happen next.</a:t>
            </a:r>
          </a:p>
          <a:p>
            <a:endParaRPr lang="en-IN" dirty="0"/>
          </a:p>
          <a:p>
            <a:endParaRPr lang="en-IN" dirty="0"/>
          </a:p>
        </p:txBody>
      </p:sp>
      <p:pic>
        <p:nvPicPr>
          <p:cNvPr id="1026" name="Picture 2" descr="Lightbox">
            <a:extLst>
              <a:ext uri="{FF2B5EF4-FFF2-40B4-BE49-F238E27FC236}">
                <a16:creationId xmlns:a16="http://schemas.microsoft.com/office/drawing/2014/main" id="{0427D98D-7E89-D4C3-6B5C-3C179C617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440" y="4397478"/>
            <a:ext cx="6587613" cy="2062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856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93F2BA-B7E5-8AC9-6A93-0051AECCA140}"/>
              </a:ext>
            </a:extLst>
          </p:cNvPr>
          <p:cNvSpPr>
            <a:spLocks noGrp="1"/>
          </p:cNvSpPr>
          <p:nvPr>
            <p:ph idx="1"/>
          </p:nvPr>
        </p:nvSpPr>
        <p:spPr>
          <a:xfrm>
            <a:off x="2520387" y="245806"/>
            <a:ext cx="8915400" cy="6469626"/>
          </a:xfrm>
        </p:spPr>
        <p:txBody>
          <a:bodyPr>
            <a:normAutofit fontScale="85000" lnSpcReduction="20000"/>
          </a:bodyPr>
          <a:lstStyle/>
          <a:p>
            <a:pPr marL="0" indent="0">
              <a:buNone/>
            </a:pPr>
            <a:r>
              <a:rPr lang="en-IN" b="1" dirty="0"/>
              <a:t>Backward Chaining: </a:t>
            </a:r>
            <a:r>
              <a:rPr lang="en-US" dirty="0"/>
              <a:t>This is a </a:t>
            </a:r>
            <a:r>
              <a:rPr lang="en-US" b="1" dirty="0"/>
              <a:t>goal-driven</a:t>
            </a:r>
            <a:r>
              <a:rPr lang="en-US" dirty="0"/>
              <a:t> reasoning approach where the system starts with a hypothesis or a goal (something to prove) and works backward to determine which facts or conditions would support that conclusion. It's often used to diagnose issues by determining the cause of an observed effect. The examples provided include diagnosing medical conditions like stomach pain, blood cancer, or dengue.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a:t>User interface: </a:t>
            </a:r>
            <a:r>
              <a:rPr lang="en-US" dirty="0"/>
              <a:t>With the help of a user interface, the expert system interacts with the user, takes queries as an input in a readable format, and passes it to the inference engine. After getting the response from the inference engine, it displays the output to the user. </a:t>
            </a:r>
          </a:p>
          <a:p>
            <a:pPr marL="0" indent="0">
              <a:buNone/>
            </a:pPr>
            <a:r>
              <a:rPr lang="en-US" dirty="0"/>
              <a:t>In other words, </a:t>
            </a:r>
            <a:r>
              <a:rPr lang="en-US" b="1" dirty="0"/>
              <a:t>it is an interface that helps a non-expert user to communicate with the expert system to find a solution</a:t>
            </a:r>
            <a:r>
              <a:rPr lang="en-US" dirty="0"/>
              <a:t>. </a:t>
            </a:r>
          </a:p>
          <a:p>
            <a:r>
              <a:rPr lang="en-US" dirty="0"/>
              <a:t>Building expert systems by using shells has significant advantages. </a:t>
            </a:r>
          </a:p>
          <a:p>
            <a:r>
              <a:rPr lang="en-US" dirty="0"/>
              <a:t>It is always advisable to use shell to develop expert system as it avoids building the system from scratch. </a:t>
            </a:r>
          </a:p>
          <a:p>
            <a:r>
              <a:rPr lang="en-US" dirty="0"/>
              <a:t>To build an expert system using system shell, one needs to enter all necessary knowledge about a task domain into the shell. </a:t>
            </a:r>
          </a:p>
          <a:p>
            <a:endParaRPr lang="en-IN" dirty="0"/>
          </a:p>
        </p:txBody>
      </p:sp>
      <p:pic>
        <p:nvPicPr>
          <p:cNvPr id="2056" name="Picture 8" descr="Lightbox">
            <a:extLst>
              <a:ext uri="{FF2B5EF4-FFF2-40B4-BE49-F238E27FC236}">
                <a16:creationId xmlns:a16="http://schemas.microsoft.com/office/drawing/2014/main" id="{5B9964CB-44DC-FC0F-D44D-AF3B19630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024" y="1250232"/>
            <a:ext cx="5382240" cy="2045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476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F0F73-5BA1-4CE2-4D28-EBFA98065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02236-B7CC-3362-FE32-3449949A72BE}"/>
              </a:ext>
            </a:extLst>
          </p:cNvPr>
          <p:cNvSpPr>
            <a:spLocks noGrp="1"/>
          </p:cNvSpPr>
          <p:nvPr>
            <p:ph type="title"/>
          </p:nvPr>
        </p:nvSpPr>
        <p:spPr/>
        <p:txBody>
          <a:bodyPr/>
          <a:lstStyle/>
          <a:p>
            <a:pPr algn="ctr"/>
            <a:r>
              <a:rPr lang="en-IN" b="1" dirty="0"/>
              <a:t>EXPLANATION Subsystem</a:t>
            </a:r>
            <a:endParaRPr lang="en-IN" dirty="0"/>
          </a:p>
        </p:txBody>
      </p:sp>
      <p:sp>
        <p:nvSpPr>
          <p:cNvPr id="3" name="Content Placeholder 2">
            <a:extLst>
              <a:ext uri="{FF2B5EF4-FFF2-40B4-BE49-F238E27FC236}">
                <a16:creationId xmlns:a16="http://schemas.microsoft.com/office/drawing/2014/main" id="{AA8632D1-A11A-7103-3521-86C49321D2F0}"/>
              </a:ext>
            </a:extLst>
          </p:cNvPr>
          <p:cNvSpPr>
            <a:spLocks noGrp="1"/>
          </p:cNvSpPr>
          <p:nvPr>
            <p:ph idx="1"/>
          </p:nvPr>
        </p:nvSpPr>
        <p:spPr>
          <a:xfrm>
            <a:off x="2589212" y="1750142"/>
            <a:ext cx="8915400" cy="4709652"/>
          </a:xfrm>
        </p:spPr>
        <p:txBody>
          <a:bodyPr>
            <a:normAutofit fontScale="85000" lnSpcReduction="10000"/>
          </a:bodyPr>
          <a:lstStyle/>
          <a:p>
            <a:pPr marL="0" indent="0">
              <a:buNone/>
            </a:pPr>
            <a:r>
              <a:rPr lang="en-US" dirty="0"/>
              <a:t>In order for an expert system to be an effective tool, people must be able to interact with it easily. To facilitate this interaction, the expert system must have the following two capabilities in addition to the ability to perform its underlying task: </a:t>
            </a:r>
          </a:p>
          <a:p>
            <a:pPr marL="0" indent="0">
              <a:buNone/>
            </a:pPr>
            <a:r>
              <a:rPr lang="en-US" b="1" dirty="0"/>
              <a:t>Explain its reasoning: </a:t>
            </a:r>
            <a:r>
              <a:rPr lang="en-US" dirty="0"/>
              <a:t>In many of the domains in which expert systems operate, people will not accept results unless they have been convinced of the accuracy of the reasoning process that produced those results. </a:t>
            </a:r>
          </a:p>
          <a:p>
            <a:pPr marL="0" indent="0">
              <a:buNone/>
            </a:pPr>
            <a:r>
              <a:rPr lang="en-US" dirty="0"/>
              <a:t>This is particularly true, for example, in medicine, where a doctor must accept ultimate responsibility for a diagnosis, even if that diagnosis was arrived at with considerable help from a program. </a:t>
            </a:r>
          </a:p>
          <a:p>
            <a:pPr marL="0" indent="0">
              <a:buNone/>
            </a:pPr>
            <a:r>
              <a:rPr lang="en-US" dirty="0"/>
              <a:t>Thus it is important that the reasoning process used in such programs proceed in understandable steps and that enough meta-knowledge (knowledge about the reasoning process) be available so the explanations of those steps can be generated. </a:t>
            </a:r>
          </a:p>
          <a:p>
            <a:pPr marL="0" indent="0">
              <a:buNone/>
            </a:pPr>
            <a:r>
              <a:rPr lang="en-US" b="1" dirty="0"/>
              <a:t>Acquire new knowledge and modifications of old knowledge: </a:t>
            </a:r>
            <a:r>
              <a:rPr lang="en-US" dirty="0"/>
              <a:t>Since expert systems derive their power from the richness of the knowledge bases they exploit, it is extremely important that those knowledge bases be as complete and as accurate as possible. </a:t>
            </a:r>
          </a:p>
          <a:p>
            <a:pPr marL="0" indent="0">
              <a:buNone/>
            </a:pPr>
            <a:r>
              <a:rPr lang="en-US" dirty="0"/>
              <a:t>But often there exists no standard codification of that knowledge; rather it exists only inside the heads of human experts. One way to get this knowledge into a program is through interaction with the human expert. Another way is to have the program learn expert behavior from raw data. </a:t>
            </a:r>
            <a:endParaRPr lang="en-IN" dirty="0"/>
          </a:p>
        </p:txBody>
      </p:sp>
    </p:spTree>
    <p:extLst>
      <p:ext uri="{BB962C8B-B14F-4D97-AF65-F5344CB8AC3E}">
        <p14:creationId xmlns:p14="http://schemas.microsoft.com/office/powerpoint/2010/main" val="1396620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125FA-2D76-CE85-4BC5-4FC20BBCA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9040C-0160-1823-6738-038024904755}"/>
              </a:ext>
            </a:extLst>
          </p:cNvPr>
          <p:cNvSpPr>
            <a:spLocks noGrp="1"/>
          </p:cNvSpPr>
          <p:nvPr>
            <p:ph type="title"/>
          </p:nvPr>
        </p:nvSpPr>
        <p:spPr/>
        <p:txBody>
          <a:bodyPr/>
          <a:lstStyle/>
          <a:p>
            <a:pPr algn="ctr"/>
            <a:r>
              <a:rPr lang="en-IN" b="1" dirty="0"/>
              <a:t>KNOWLEDGE ACQUISITION </a:t>
            </a:r>
            <a:endParaRPr lang="en-IN" dirty="0"/>
          </a:p>
        </p:txBody>
      </p:sp>
      <p:sp>
        <p:nvSpPr>
          <p:cNvPr id="3" name="Content Placeholder 2">
            <a:extLst>
              <a:ext uri="{FF2B5EF4-FFF2-40B4-BE49-F238E27FC236}">
                <a16:creationId xmlns:a16="http://schemas.microsoft.com/office/drawing/2014/main" id="{C0DF0086-F36D-7434-EB9B-03D4AA654FF4}"/>
              </a:ext>
            </a:extLst>
          </p:cNvPr>
          <p:cNvSpPr>
            <a:spLocks noGrp="1"/>
          </p:cNvSpPr>
          <p:nvPr>
            <p:ph idx="1"/>
          </p:nvPr>
        </p:nvSpPr>
        <p:spPr>
          <a:xfrm>
            <a:off x="2589212" y="2045110"/>
            <a:ext cx="8915400" cy="4188780"/>
          </a:xfrm>
        </p:spPr>
        <p:txBody>
          <a:bodyPr>
            <a:normAutofit fontScale="92500" lnSpcReduction="20000"/>
          </a:bodyPr>
          <a:lstStyle/>
          <a:p>
            <a:r>
              <a:rPr lang="en-US" dirty="0"/>
              <a:t>Knowledge acquisition is the process of extracting, structuring and organizing knowledge from one source, usually human experts, so it can be used in software such as an ES. This is often the major obstacle in building an ES. </a:t>
            </a:r>
          </a:p>
          <a:p>
            <a:r>
              <a:rPr lang="en-US" dirty="0"/>
              <a:t>There are three main topic areas central to knowledge acquisition that requires consideration in all ES projects. First, the domain must be evaluated to determine if the type of knowledge in the domain is suitable for an ES. </a:t>
            </a:r>
          </a:p>
          <a:p>
            <a:r>
              <a:rPr lang="en-US" dirty="0"/>
              <a:t>Second, the source of expertise must be identified and evaluated to ensure that the specific level of knowledge required by the project is provided. </a:t>
            </a:r>
          </a:p>
          <a:p>
            <a:r>
              <a:rPr lang="en-US" dirty="0"/>
              <a:t>Third, if the major source of expertise is a person, the specific knowledge acquisition techniques and participants need to be identified. </a:t>
            </a:r>
          </a:p>
          <a:p>
            <a:r>
              <a:rPr lang="en-US" dirty="0"/>
              <a:t>Knowledge acquisition is the gathering or collecting knowledge from various sources. It is the process of adding new knowledge to a knowledge base and refining or improving knowledge that was previously acquired. </a:t>
            </a:r>
          </a:p>
          <a:p>
            <a:r>
              <a:rPr lang="en-US" dirty="0"/>
              <a:t>Acquisition is the process of expanding the capabilities of a system or improving its performance at some specified task. So it is the goal oriented creation and refinement of knowledge. </a:t>
            </a:r>
          </a:p>
          <a:p>
            <a:pPr marL="0" indent="0">
              <a:buNone/>
            </a:pPr>
            <a:endParaRPr lang="en-IN" dirty="0"/>
          </a:p>
        </p:txBody>
      </p:sp>
    </p:spTree>
    <p:extLst>
      <p:ext uri="{BB962C8B-B14F-4D97-AF65-F5344CB8AC3E}">
        <p14:creationId xmlns:p14="http://schemas.microsoft.com/office/powerpoint/2010/main" val="108260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ACA08-4C94-2918-8126-ECE70D9ED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CF0F6-854B-A30A-46B7-9551BDACE7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DE97CE-594C-D000-A0A8-58224F2BE004}"/>
              </a:ext>
            </a:extLst>
          </p:cNvPr>
          <p:cNvSpPr>
            <a:spLocks noGrp="1"/>
          </p:cNvSpPr>
          <p:nvPr>
            <p:ph idx="1"/>
          </p:nvPr>
        </p:nvSpPr>
        <p:spPr/>
        <p:txBody>
          <a:bodyPr>
            <a:normAutofit fontScale="92500" lnSpcReduction="20000"/>
          </a:bodyPr>
          <a:lstStyle/>
          <a:p>
            <a:r>
              <a:rPr lang="en-US" dirty="0"/>
              <a:t>Acquired knowledge may consist of facts, rules, concepts, procedures, heuristics, formulas, relationships, statistics or any other useful information. </a:t>
            </a:r>
          </a:p>
          <a:p>
            <a:r>
              <a:rPr lang="en-US" dirty="0"/>
              <a:t>Source of these knowledges may be experts in the domain of interest, text books, technical papers, database reports, journals and the environments. The knowledge acquisition is a continuous process and is spread over entire lifetime. </a:t>
            </a:r>
          </a:p>
          <a:p>
            <a:r>
              <a:rPr lang="en-US" dirty="0"/>
              <a:t>Example of knowledge acquisition is machine learning. It may be process of autonomous knowledge creation or refinements through the use of computer programs. </a:t>
            </a:r>
          </a:p>
          <a:p>
            <a:r>
              <a:rPr lang="en-US" dirty="0"/>
              <a:t>The newly acquired knowledge should be integrated with existing knowledge in some meaningful way. The knowledge should be accurate, non-redundant, consistent and fairly complete. </a:t>
            </a:r>
          </a:p>
          <a:p>
            <a:r>
              <a:rPr lang="en-US" dirty="0"/>
              <a:t>Knowledge acquisition supports the activities like entering the knowledge and maintaining knowledge base. The knowledge acquisition process also sets dynamic data structures for existing knowledge to refine the knowledge. </a:t>
            </a:r>
          </a:p>
          <a:p>
            <a:endParaRPr lang="en-US" dirty="0"/>
          </a:p>
          <a:p>
            <a:endParaRPr lang="en-IN" dirty="0"/>
          </a:p>
        </p:txBody>
      </p:sp>
    </p:spTree>
    <p:extLst>
      <p:ext uri="{BB962C8B-B14F-4D97-AF65-F5344CB8AC3E}">
        <p14:creationId xmlns:p14="http://schemas.microsoft.com/office/powerpoint/2010/main" val="1268511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871BA-E4AC-AE40-20B0-53498B82A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50CE5-EC2C-B953-ED4E-CAEDA35EE924}"/>
              </a:ext>
            </a:extLst>
          </p:cNvPr>
          <p:cNvSpPr>
            <a:spLocks noGrp="1"/>
          </p:cNvSpPr>
          <p:nvPr>
            <p:ph type="title"/>
          </p:nvPr>
        </p:nvSpPr>
        <p:spPr/>
        <p:txBody>
          <a:bodyPr/>
          <a:lstStyle/>
          <a:p>
            <a:pPr algn="ctr"/>
            <a:r>
              <a:rPr lang="en-IN" b="1" dirty="0"/>
              <a:t>KNOWLEDGE ACQUISITION TECHNIQUES </a:t>
            </a:r>
            <a:endParaRPr lang="en-IN" dirty="0"/>
          </a:p>
        </p:txBody>
      </p:sp>
      <p:sp>
        <p:nvSpPr>
          <p:cNvPr id="3" name="Content Placeholder 2">
            <a:extLst>
              <a:ext uri="{FF2B5EF4-FFF2-40B4-BE49-F238E27FC236}">
                <a16:creationId xmlns:a16="http://schemas.microsoft.com/office/drawing/2014/main" id="{4EB07685-78E9-E2EA-88A3-33CBEE2F1790}"/>
              </a:ext>
            </a:extLst>
          </p:cNvPr>
          <p:cNvSpPr>
            <a:spLocks noGrp="1"/>
          </p:cNvSpPr>
          <p:nvPr>
            <p:ph idx="1"/>
          </p:nvPr>
        </p:nvSpPr>
        <p:spPr/>
        <p:txBody>
          <a:bodyPr>
            <a:normAutofit fontScale="85000" lnSpcReduction="20000"/>
          </a:bodyPr>
          <a:lstStyle/>
          <a:p>
            <a:pPr marL="0" indent="0">
              <a:buNone/>
            </a:pPr>
            <a:r>
              <a:rPr lang="en-US" dirty="0"/>
              <a:t>Many techniques have been developed to deduce knowledge from an expert. They are termed as knowledge acquisition techniques. They are: </a:t>
            </a:r>
          </a:p>
          <a:p>
            <a:pPr>
              <a:buAutoNum type="alphaLcParenR"/>
            </a:pPr>
            <a:r>
              <a:rPr lang="fr-FR" dirty="0"/>
              <a:t>Diagram </a:t>
            </a:r>
            <a:r>
              <a:rPr lang="fr-FR" dirty="0" err="1"/>
              <a:t>Based</a:t>
            </a:r>
            <a:r>
              <a:rPr lang="fr-FR" dirty="0"/>
              <a:t> Techniques</a:t>
            </a:r>
          </a:p>
          <a:p>
            <a:pPr>
              <a:buAutoNum type="alphaLcParenR"/>
            </a:pPr>
            <a:r>
              <a:rPr lang="fr-FR" dirty="0"/>
              <a:t>Matrix </a:t>
            </a:r>
            <a:r>
              <a:rPr lang="fr-FR" dirty="0" err="1"/>
              <a:t>Based</a:t>
            </a:r>
            <a:r>
              <a:rPr lang="fr-FR" dirty="0"/>
              <a:t> Techniques</a:t>
            </a:r>
          </a:p>
          <a:p>
            <a:pPr>
              <a:buAutoNum type="alphaLcParenR"/>
            </a:pPr>
            <a:r>
              <a:rPr lang="fr-FR" dirty="0" err="1"/>
              <a:t>Hierarchy-Generation</a:t>
            </a:r>
            <a:r>
              <a:rPr lang="fr-FR" dirty="0"/>
              <a:t> Techniques </a:t>
            </a:r>
          </a:p>
          <a:p>
            <a:pPr marL="0" indent="0">
              <a:buNone/>
            </a:pPr>
            <a:r>
              <a:rPr lang="fr-FR" dirty="0"/>
              <a:t>d) Protocol </a:t>
            </a:r>
            <a:r>
              <a:rPr lang="fr-FR" dirty="0" err="1"/>
              <a:t>Analysis</a:t>
            </a:r>
            <a:r>
              <a:rPr lang="fr-FR" dirty="0"/>
              <a:t> Techniques </a:t>
            </a:r>
          </a:p>
          <a:p>
            <a:pPr marL="0" indent="0">
              <a:buNone/>
            </a:pPr>
            <a:r>
              <a:rPr lang="fr-FR" dirty="0"/>
              <a:t>e) Protocol </a:t>
            </a:r>
            <a:r>
              <a:rPr lang="fr-FR" dirty="0" err="1"/>
              <a:t>Generation</a:t>
            </a:r>
            <a:r>
              <a:rPr lang="fr-FR" dirty="0"/>
              <a:t> Techniques </a:t>
            </a:r>
          </a:p>
          <a:p>
            <a:pPr marL="0" indent="0">
              <a:buNone/>
            </a:pPr>
            <a:r>
              <a:rPr lang="en-US" dirty="0"/>
              <a:t>In </a:t>
            </a:r>
            <a:r>
              <a:rPr lang="en-US" b="1" dirty="0"/>
              <a:t>diagram based techniques </a:t>
            </a:r>
            <a:r>
              <a:rPr lang="en-US" dirty="0"/>
              <a:t>the generation and use of concept maps, event diagrams and process maps. This technique captures the features like “why, </a:t>
            </a:r>
            <a:r>
              <a:rPr lang="en-US" dirty="0" err="1"/>
              <a:t>whe</a:t>
            </a:r>
            <a:r>
              <a:rPr lang="en-US" dirty="0"/>
              <a:t> n, who, how and where”. </a:t>
            </a:r>
          </a:p>
          <a:p>
            <a:pPr marL="0" indent="0">
              <a:buNone/>
            </a:pPr>
            <a:r>
              <a:rPr lang="en-US" dirty="0"/>
              <a:t>The </a:t>
            </a:r>
            <a:r>
              <a:rPr lang="en-US" b="1" dirty="0"/>
              <a:t>matrix based techniques </a:t>
            </a:r>
            <a:r>
              <a:rPr lang="en-US" dirty="0"/>
              <a:t>involve the construction of grids indicating such things as problems encountered against possible solutions. Hierarchical techniques are used to build hierarchical structures like trees. Protocol analysis technique is used to identify the type of knowledge like goals, decisions, relationships etc. The protocol generation techniques include various types of interviews like structured, semi-structured and unstructured. </a:t>
            </a:r>
            <a:endParaRPr lang="en-IN" dirty="0"/>
          </a:p>
        </p:txBody>
      </p:sp>
    </p:spTree>
    <p:extLst>
      <p:ext uri="{BB962C8B-B14F-4D97-AF65-F5344CB8AC3E}">
        <p14:creationId xmlns:p14="http://schemas.microsoft.com/office/powerpoint/2010/main" val="1414756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22B6C-237B-2C06-17F5-90C337BA888C}"/>
              </a:ext>
            </a:extLst>
          </p:cNvPr>
          <p:cNvSpPr>
            <a:spLocks noGrp="1"/>
          </p:cNvSpPr>
          <p:nvPr>
            <p:ph type="title"/>
          </p:nvPr>
        </p:nvSpPr>
        <p:spPr/>
        <p:txBody>
          <a:bodyPr>
            <a:normAutofit fontScale="90000"/>
          </a:bodyPr>
          <a:lstStyle/>
          <a:p>
            <a:r>
              <a:rPr lang="en-US" b="1" dirty="0"/>
              <a:t>HOW THESE COMPONENTS WORK TOGETHER?</a:t>
            </a:r>
            <a:br>
              <a:rPr lang="en-US" b="1" dirty="0"/>
            </a:br>
            <a:endParaRPr lang="en-IN" dirty="0"/>
          </a:p>
        </p:txBody>
      </p:sp>
      <p:sp>
        <p:nvSpPr>
          <p:cNvPr id="3" name="Content Placeholder 2">
            <a:extLst>
              <a:ext uri="{FF2B5EF4-FFF2-40B4-BE49-F238E27FC236}">
                <a16:creationId xmlns:a16="http://schemas.microsoft.com/office/drawing/2014/main" id="{11043D46-0395-68EE-024F-30912C03BAAB}"/>
              </a:ext>
            </a:extLst>
          </p:cNvPr>
          <p:cNvSpPr>
            <a:spLocks noGrp="1"/>
          </p:cNvSpPr>
          <p:nvPr>
            <p:ph idx="1"/>
          </p:nvPr>
        </p:nvSpPr>
        <p:spPr/>
        <p:txBody>
          <a:bodyPr>
            <a:normAutofit/>
          </a:bodyPr>
          <a:lstStyle/>
          <a:p>
            <a:pPr marL="0" indent="0" fontAlgn="base">
              <a:buNone/>
            </a:pPr>
            <a:r>
              <a:rPr lang="en-US" dirty="0"/>
              <a:t>Imagine a medical expert system designed to diagnose diseases:</a:t>
            </a:r>
          </a:p>
          <a:p>
            <a:pPr fontAlgn="base"/>
            <a:r>
              <a:rPr lang="en-US" b="1" dirty="0"/>
              <a:t>Input</a:t>
            </a:r>
            <a:r>
              <a:rPr lang="en-US" dirty="0"/>
              <a:t>: A patient reports symptoms like fever, cough, and fatigue through the user interface.</a:t>
            </a:r>
          </a:p>
          <a:p>
            <a:pPr fontAlgn="base"/>
            <a:r>
              <a:rPr lang="en-US" b="1" dirty="0"/>
              <a:t>Processing</a:t>
            </a:r>
            <a:r>
              <a:rPr lang="en-US" dirty="0"/>
              <a:t>: The inference engine analyzes the symptoms using rules from the knowledge base.</a:t>
            </a:r>
          </a:p>
          <a:p>
            <a:pPr fontAlgn="base"/>
            <a:r>
              <a:rPr lang="en-US" b="1" dirty="0"/>
              <a:t>Output</a:t>
            </a:r>
            <a:r>
              <a:rPr lang="en-US" dirty="0"/>
              <a:t>: The system suggests a possible diagnosis, such as pneumonia.</a:t>
            </a:r>
          </a:p>
          <a:p>
            <a:pPr fontAlgn="base"/>
            <a:r>
              <a:rPr lang="en-US" b="1" dirty="0"/>
              <a:t>Explanation</a:t>
            </a:r>
            <a:r>
              <a:rPr lang="en-US" dirty="0"/>
              <a:t>: The explanation module provides a detailed explanation, such as </a:t>
            </a:r>
            <a:r>
              <a:rPr lang="en-US" i="1" dirty="0"/>
              <a:t>"The diagnosis is based on the presence of fever, cough, and abnormal chest X-ray results."</a:t>
            </a:r>
            <a:endParaRPr lang="en-US" dirty="0"/>
          </a:p>
          <a:p>
            <a:pPr fontAlgn="base"/>
            <a:r>
              <a:rPr lang="en-US" b="1" dirty="0"/>
              <a:t>Update</a:t>
            </a:r>
            <a:r>
              <a:rPr lang="en-US" dirty="0"/>
              <a:t>: The knowledge acquisition module adds new data, such as recent research on pneumonia treatments, to keep the system up-to-date.</a:t>
            </a:r>
          </a:p>
          <a:p>
            <a:endParaRPr lang="en-IN" dirty="0"/>
          </a:p>
        </p:txBody>
      </p:sp>
    </p:spTree>
    <p:extLst>
      <p:ext uri="{BB962C8B-B14F-4D97-AF65-F5344CB8AC3E}">
        <p14:creationId xmlns:p14="http://schemas.microsoft.com/office/powerpoint/2010/main" val="2686017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DED95-394A-4FFE-FE9D-BD1EC9DAE20E}"/>
              </a:ext>
            </a:extLst>
          </p:cNvPr>
          <p:cNvSpPr>
            <a:spLocks noGrp="1"/>
          </p:cNvSpPr>
          <p:nvPr>
            <p:ph type="title"/>
          </p:nvPr>
        </p:nvSpPr>
        <p:spPr/>
        <p:txBody>
          <a:bodyPr/>
          <a:lstStyle/>
          <a:p>
            <a:r>
              <a:rPr lang="en-US" sz="3200" b="1" dirty="0"/>
              <a:t>TYPES OF EXPERT SYSTEMS IN AI</a:t>
            </a:r>
            <a:br>
              <a:rPr lang="en-US" b="1" dirty="0"/>
            </a:br>
            <a:endParaRPr lang="en-IN" dirty="0"/>
          </a:p>
        </p:txBody>
      </p:sp>
      <p:sp>
        <p:nvSpPr>
          <p:cNvPr id="3" name="Content Placeholder 2">
            <a:extLst>
              <a:ext uri="{FF2B5EF4-FFF2-40B4-BE49-F238E27FC236}">
                <a16:creationId xmlns:a16="http://schemas.microsoft.com/office/drawing/2014/main" id="{3097495E-EEAD-1256-4CC1-DC14E1549A33}"/>
              </a:ext>
            </a:extLst>
          </p:cNvPr>
          <p:cNvSpPr>
            <a:spLocks noGrp="1"/>
          </p:cNvSpPr>
          <p:nvPr>
            <p:ph idx="1"/>
          </p:nvPr>
        </p:nvSpPr>
        <p:spPr>
          <a:xfrm>
            <a:off x="2589212" y="2133599"/>
            <a:ext cx="8915400" cy="4218039"/>
          </a:xfrm>
        </p:spPr>
        <p:txBody>
          <a:bodyPr>
            <a:normAutofit lnSpcReduction="10000"/>
          </a:bodyPr>
          <a:lstStyle/>
          <a:p>
            <a:pPr marL="0" indent="0" fontAlgn="base">
              <a:buNone/>
            </a:pPr>
            <a:r>
              <a:rPr lang="en-US" dirty="0">
                <a:solidFill>
                  <a:schemeClr val="tx1"/>
                </a:solidFill>
              </a:rPr>
              <a:t>Depending on their structure and application, expert systems can be categorized into different types.</a:t>
            </a:r>
          </a:p>
          <a:p>
            <a:pPr marL="0" indent="0" fontAlgn="base">
              <a:buNone/>
            </a:pPr>
            <a:r>
              <a:rPr lang="en-US" b="1" dirty="0">
                <a:solidFill>
                  <a:schemeClr val="tx1"/>
                </a:solidFill>
              </a:rPr>
              <a:t>1. Rule-Based Expert Systems</a:t>
            </a:r>
          </a:p>
          <a:p>
            <a:pPr fontAlgn="base"/>
            <a:r>
              <a:rPr lang="en-US" dirty="0">
                <a:solidFill>
                  <a:schemeClr val="tx1"/>
                </a:solidFill>
              </a:rPr>
              <a:t>One of the most common types is </a:t>
            </a:r>
            <a:r>
              <a:rPr lang="en-US" b="1" dirty="0">
                <a:solidFill>
                  <a:schemeClr val="tx1"/>
                </a:solidFill>
              </a:rPr>
              <a:t>Rule-Based Expert Systems</a:t>
            </a:r>
            <a:r>
              <a:rPr lang="en-US" dirty="0">
                <a:solidFill>
                  <a:schemeClr val="tx1"/>
                </a:solidFill>
              </a:rPr>
              <a:t>, which rely on </a:t>
            </a:r>
            <a:r>
              <a:rPr lang="en-US" b="1" dirty="0">
                <a:solidFill>
                  <a:schemeClr val="tx1"/>
                </a:solidFill>
              </a:rPr>
              <a:t>if-then rules</a:t>
            </a:r>
            <a:r>
              <a:rPr lang="en-US" dirty="0">
                <a:solidFill>
                  <a:schemeClr val="tx1"/>
                </a:solidFill>
              </a:rPr>
              <a:t> to process information and make decisions. These rules are typically crafted by domain experts and serve as the system’s reasoning mechanism. A well-known example is </a:t>
            </a:r>
            <a:r>
              <a:rPr lang="en-US" b="1" dirty="0">
                <a:solidFill>
                  <a:schemeClr val="tx1"/>
                </a:solidFill>
              </a:rPr>
              <a:t>MYCIN</a:t>
            </a:r>
            <a:r>
              <a:rPr lang="en-US" dirty="0">
                <a:solidFill>
                  <a:schemeClr val="tx1"/>
                </a:solidFill>
              </a:rPr>
              <a:t>, an early medical diagnosis system that identified bacterial infections.</a:t>
            </a:r>
          </a:p>
          <a:p>
            <a:pPr marL="0" indent="0" fontAlgn="base">
              <a:buNone/>
            </a:pPr>
            <a:r>
              <a:rPr lang="en-US" b="1" dirty="0">
                <a:solidFill>
                  <a:schemeClr val="tx1"/>
                </a:solidFill>
              </a:rPr>
              <a:t>2. Frame-Based Expert Systems</a:t>
            </a:r>
          </a:p>
          <a:p>
            <a:pPr fontAlgn="base"/>
            <a:r>
              <a:rPr lang="en-US" dirty="0">
                <a:solidFill>
                  <a:schemeClr val="tx1"/>
                </a:solidFill>
              </a:rPr>
              <a:t>Another category is </a:t>
            </a:r>
            <a:r>
              <a:rPr lang="en-US" b="1" dirty="0">
                <a:solidFill>
                  <a:schemeClr val="tx1"/>
                </a:solidFill>
              </a:rPr>
              <a:t>Frame-Based Expert Systems</a:t>
            </a:r>
            <a:r>
              <a:rPr lang="en-US" dirty="0">
                <a:solidFill>
                  <a:schemeClr val="tx1"/>
                </a:solidFill>
              </a:rPr>
              <a:t>, which </a:t>
            </a:r>
            <a:r>
              <a:rPr lang="en-US" dirty="0" err="1">
                <a:solidFill>
                  <a:schemeClr val="tx1"/>
                </a:solidFill>
              </a:rPr>
              <a:t>organise</a:t>
            </a:r>
            <a:r>
              <a:rPr lang="en-US" dirty="0">
                <a:solidFill>
                  <a:schemeClr val="tx1"/>
                </a:solidFill>
              </a:rPr>
              <a:t> knowledge using </a:t>
            </a:r>
            <a:r>
              <a:rPr lang="en-US" b="1" dirty="0">
                <a:solidFill>
                  <a:schemeClr val="tx1"/>
                </a:solidFill>
              </a:rPr>
              <a:t>frames</a:t>
            </a:r>
            <a:r>
              <a:rPr lang="en-US" dirty="0">
                <a:solidFill>
                  <a:schemeClr val="tx1"/>
                </a:solidFill>
              </a:rPr>
              <a:t>, similar to objects in programming. These frames store attributes and values related to specific concepts, making them useful in </a:t>
            </a:r>
            <a:r>
              <a:rPr lang="en-US" dirty="0">
                <a:solidFill>
                  <a:schemeClr val="tx1"/>
                </a:solidFill>
                <a:hlinkClick r:id="rId2">
                  <a:extLst>
                    <a:ext uri="{A12FA001-AC4F-418D-AE19-62706E023703}">
                      <ahyp:hlinkClr xmlns:ahyp="http://schemas.microsoft.com/office/drawing/2018/hyperlinkcolor" val="tx"/>
                    </a:ext>
                  </a:extLst>
                </a:hlinkClick>
              </a:rPr>
              <a:t>natural language processing</a:t>
            </a:r>
            <a:r>
              <a:rPr lang="en-US" dirty="0">
                <a:solidFill>
                  <a:schemeClr val="tx1"/>
                </a:solidFill>
              </a:rPr>
              <a:t> and other knowledge representation tasks.</a:t>
            </a:r>
          </a:p>
          <a:p>
            <a:endParaRPr lang="en-IN" dirty="0"/>
          </a:p>
        </p:txBody>
      </p:sp>
    </p:spTree>
    <p:extLst>
      <p:ext uri="{BB962C8B-B14F-4D97-AF65-F5344CB8AC3E}">
        <p14:creationId xmlns:p14="http://schemas.microsoft.com/office/powerpoint/2010/main" val="1910845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681857-2533-3916-016C-58E44E5CBE2B}"/>
              </a:ext>
            </a:extLst>
          </p:cNvPr>
          <p:cNvSpPr>
            <a:spLocks noGrp="1"/>
          </p:cNvSpPr>
          <p:nvPr>
            <p:ph idx="1"/>
          </p:nvPr>
        </p:nvSpPr>
        <p:spPr>
          <a:xfrm>
            <a:off x="2589212" y="776748"/>
            <a:ext cx="8915400" cy="5134474"/>
          </a:xfrm>
        </p:spPr>
        <p:txBody>
          <a:bodyPr>
            <a:normAutofit fontScale="92500"/>
          </a:bodyPr>
          <a:lstStyle/>
          <a:p>
            <a:pPr marL="0" indent="0" fontAlgn="base">
              <a:buNone/>
            </a:pPr>
            <a:r>
              <a:rPr lang="en-US" b="1" dirty="0"/>
              <a:t>3.</a:t>
            </a:r>
            <a:r>
              <a:rPr lang="en-US" b="1" dirty="0">
                <a:solidFill>
                  <a:schemeClr val="tx1"/>
                </a:solidFill>
              </a:rPr>
              <a:t> Fuzzy Logic Systems</a:t>
            </a:r>
          </a:p>
          <a:p>
            <a:pPr fontAlgn="base"/>
            <a:r>
              <a:rPr lang="en-US" dirty="0">
                <a:solidFill>
                  <a:schemeClr val="tx1"/>
                </a:solidFill>
              </a:rPr>
              <a:t>For situations involving </a:t>
            </a:r>
            <a:r>
              <a:rPr lang="en-US" b="1" dirty="0">
                <a:solidFill>
                  <a:schemeClr val="tx1"/>
                </a:solidFill>
              </a:rPr>
              <a:t>uncertainty and imprecision</a:t>
            </a:r>
            <a:r>
              <a:rPr lang="en-US" dirty="0">
                <a:solidFill>
                  <a:schemeClr val="tx1"/>
                </a:solidFill>
              </a:rPr>
              <a:t>, </a:t>
            </a:r>
            <a:r>
              <a:rPr lang="en-US" dirty="0">
                <a:solidFill>
                  <a:schemeClr val="tx1"/>
                </a:solidFill>
                <a:hlinkClick r:id="rId2">
                  <a:extLst>
                    <a:ext uri="{A12FA001-AC4F-418D-AE19-62706E023703}">
                      <ahyp:hlinkClr xmlns:ahyp="http://schemas.microsoft.com/office/drawing/2018/hyperlinkcolor" val="tx"/>
                    </a:ext>
                  </a:extLst>
                </a:hlinkClick>
              </a:rPr>
              <a:t>fuzzy logic</a:t>
            </a:r>
            <a:r>
              <a:rPr lang="en-US" b="1" dirty="0">
                <a:solidFill>
                  <a:schemeClr val="tx1"/>
                </a:solidFill>
              </a:rPr>
              <a:t> Systems</a:t>
            </a:r>
            <a:r>
              <a:rPr lang="en-US" dirty="0">
                <a:solidFill>
                  <a:schemeClr val="tx1"/>
                </a:solidFill>
              </a:rPr>
              <a:t> come into play. These systems don’t operate on strict true/false values but instead allow for degrees of truth. </a:t>
            </a:r>
            <a:r>
              <a:rPr lang="en-US" b="1" dirty="0">
                <a:solidFill>
                  <a:schemeClr val="tx1"/>
                </a:solidFill>
              </a:rPr>
              <a:t>Fuzzy control systems</a:t>
            </a:r>
            <a:r>
              <a:rPr lang="en-US" dirty="0">
                <a:solidFill>
                  <a:schemeClr val="tx1"/>
                </a:solidFill>
              </a:rPr>
              <a:t>, commonly used in household appliances like </a:t>
            </a:r>
            <a:r>
              <a:rPr lang="en-US" b="1" dirty="0">
                <a:solidFill>
                  <a:schemeClr val="tx1"/>
                </a:solidFill>
              </a:rPr>
              <a:t>washing machines and air conditioners</a:t>
            </a:r>
            <a:r>
              <a:rPr lang="en-US" dirty="0">
                <a:solidFill>
                  <a:schemeClr val="tx1"/>
                </a:solidFill>
              </a:rPr>
              <a:t>, leverage this approach to optimize performance based on variable input conditions.</a:t>
            </a:r>
          </a:p>
          <a:p>
            <a:pPr marL="0" indent="0" fontAlgn="base">
              <a:buNone/>
            </a:pPr>
            <a:r>
              <a:rPr lang="en-US" b="1" dirty="0">
                <a:solidFill>
                  <a:schemeClr val="tx1"/>
                </a:solidFill>
              </a:rPr>
              <a:t>4. Neural Network-Based Expert Systems</a:t>
            </a:r>
          </a:p>
          <a:p>
            <a:pPr fontAlgn="base"/>
            <a:r>
              <a:rPr lang="en-US" b="1" dirty="0">
                <a:solidFill>
                  <a:schemeClr val="tx1"/>
                </a:solidFill>
              </a:rPr>
              <a:t>I</a:t>
            </a:r>
            <a:r>
              <a:rPr lang="en-US" dirty="0">
                <a:solidFill>
                  <a:schemeClr val="tx1"/>
                </a:solidFill>
              </a:rPr>
              <a:t>ntegrate </a:t>
            </a:r>
            <a:r>
              <a:rPr lang="en-US" dirty="0">
                <a:solidFill>
                  <a:schemeClr val="tx1"/>
                </a:solidFill>
                <a:hlinkClick r:id="rId3">
                  <a:extLst>
                    <a:ext uri="{A12FA001-AC4F-418D-AE19-62706E023703}">
                      <ahyp:hlinkClr xmlns:ahyp="http://schemas.microsoft.com/office/drawing/2018/hyperlinkcolor" val="tx"/>
                    </a:ext>
                  </a:extLst>
                </a:hlinkClick>
              </a:rPr>
              <a:t>artificial neural networks</a:t>
            </a:r>
            <a:r>
              <a:rPr lang="en-US" dirty="0">
                <a:solidFill>
                  <a:schemeClr val="tx1"/>
                </a:solidFill>
              </a:rPr>
              <a:t> to </a:t>
            </a:r>
            <a:r>
              <a:rPr lang="en-US" b="1" dirty="0">
                <a:solidFill>
                  <a:schemeClr val="tx1"/>
                </a:solidFill>
              </a:rPr>
              <a:t>learn patterns from data</a:t>
            </a:r>
            <a:r>
              <a:rPr lang="en-US" dirty="0">
                <a:solidFill>
                  <a:schemeClr val="tx1"/>
                </a:solidFill>
              </a:rPr>
              <a:t> and improve decision-making. These systems are widely used in applications like </a:t>
            </a:r>
            <a:r>
              <a:rPr lang="en-US" b="1" dirty="0">
                <a:solidFill>
                  <a:schemeClr val="tx1"/>
                </a:solidFill>
              </a:rPr>
              <a:t>image recognition and speech processing</a:t>
            </a:r>
            <a:r>
              <a:rPr lang="en-US" dirty="0">
                <a:solidFill>
                  <a:schemeClr val="tx1"/>
                </a:solidFill>
              </a:rPr>
              <a:t>, where traditional rule-based approaches might struggle.</a:t>
            </a:r>
          </a:p>
          <a:p>
            <a:pPr marL="0" indent="0" fontAlgn="base">
              <a:buNone/>
            </a:pPr>
            <a:r>
              <a:rPr lang="en-US" b="1" dirty="0">
                <a:solidFill>
                  <a:schemeClr val="tx1"/>
                </a:solidFill>
              </a:rPr>
              <a:t>5. Neuro-Fuzzy Expert Systems</a:t>
            </a:r>
          </a:p>
          <a:p>
            <a:pPr fontAlgn="base"/>
            <a:r>
              <a:rPr lang="en-US" dirty="0">
                <a:solidFill>
                  <a:schemeClr val="tx1"/>
                </a:solidFill>
              </a:rPr>
              <a:t>A more advanced hybrid approach is </a:t>
            </a:r>
            <a:r>
              <a:rPr lang="en-US" b="1" dirty="0">
                <a:solidFill>
                  <a:schemeClr val="tx1"/>
                </a:solidFill>
              </a:rPr>
              <a:t>Neuro-Fuzzy Expert Systems</a:t>
            </a:r>
            <a:r>
              <a:rPr lang="en-US" dirty="0">
                <a:solidFill>
                  <a:schemeClr val="tx1"/>
                </a:solidFill>
              </a:rPr>
              <a:t>, which merge the learning capabilities of </a:t>
            </a:r>
            <a:r>
              <a:rPr lang="en-US" dirty="0">
                <a:solidFill>
                  <a:schemeClr val="tx1"/>
                </a:solidFill>
                <a:hlinkClick r:id="rId4">
                  <a:extLst>
                    <a:ext uri="{A12FA001-AC4F-418D-AE19-62706E023703}">
                      <ahyp:hlinkClr xmlns:ahyp="http://schemas.microsoft.com/office/drawing/2018/hyperlinkcolor" val="tx"/>
                    </a:ext>
                  </a:extLst>
                </a:hlinkClick>
              </a:rPr>
              <a:t>neural networks</a:t>
            </a:r>
            <a:r>
              <a:rPr lang="en-US" dirty="0">
                <a:solidFill>
                  <a:schemeClr val="tx1"/>
                </a:solidFill>
              </a:rPr>
              <a:t> with the uncertainty-handling strengths of </a:t>
            </a:r>
            <a:r>
              <a:rPr lang="en-US" b="1" dirty="0">
                <a:solidFill>
                  <a:schemeClr val="tx1"/>
                </a:solidFill>
              </a:rPr>
              <a:t>fuzzy logic</a:t>
            </a:r>
            <a:r>
              <a:rPr lang="en-US" dirty="0">
                <a:solidFill>
                  <a:schemeClr val="tx1"/>
                </a:solidFill>
              </a:rPr>
              <a:t>. These systems are particularly useful in </a:t>
            </a:r>
            <a:r>
              <a:rPr lang="en-US" b="1" dirty="0">
                <a:solidFill>
                  <a:schemeClr val="tx1"/>
                </a:solidFill>
              </a:rPr>
              <a:t>financial forecasting</a:t>
            </a:r>
            <a:r>
              <a:rPr lang="en-US" dirty="0">
                <a:solidFill>
                  <a:schemeClr val="tx1"/>
                </a:solidFill>
              </a:rPr>
              <a:t> and </a:t>
            </a:r>
            <a:r>
              <a:rPr lang="en-US" b="1" dirty="0">
                <a:solidFill>
                  <a:schemeClr val="tx1"/>
                </a:solidFill>
              </a:rPr>
              <a:t>automated control systems</a:t>
            </a:r>
            <a:r>
              <a:rPr lang="en-US" dirty="0">
                <a:solidFill>
                  <a:schemeClr val="tx1"/>
                </a:solidFill>
              </a:rPr>
              <a:t>, where both structured learning and flexible reasoning are necessary.</a:t>
            </a:r>
          </a:p>
          <a:p>
            <a:endParaRPr lang="en-IN" dirty="0"/>
          </a:p>
        </p:txBody>
      </p:sp>
    </p:spTree>
    <p:extLst>
      <p:ext uri="{BB962C8B-B14F-4D97-AF65-F5344CB8AC3E}">
        <p14:creationId xmlns:p14="http://schemas.microsoft.com/office/powerpoint/2010/main" val="365650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5612B-CED4-0715-0595-267B5E0DCAF6}"/>
            </a:ext>
          </a:extLst>
        </p:cNvPr>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7602C-2F1F-31D2-6A32-8B1C29EF7EE0}"/>
              </a:ext>
            </a:extLst>
          </p:cNvPr>
          <p:cNvSpPr>
            <a:spLocks noGrp="1"/>
          </p:cNvSpPr>
          <p:nvPr>
            <p:ph idx="1"/>
          </p:nvPr>
        </p:nvSpPr>
        <p:spPr>
          <a:xfrm>
            <a:off x="2079762" y="2767280"/>
            <a:ext cx="8915400" cy="1323439"/>
          </a:xfrm>
          <a:prstGeom prst="rect">
            <a:avLst/>
          </a:prstGeom>
          <a:noFill/>
        </p:spPr>
        <p:txBody>
          <a:bodyPr wrap="square" lIns="91440" tIns="45720" rIns="91440" bIns="45720">
            <a:spAutoFit/>
          </a:bodyPr>
          <a:lstStyle/>
          <a:p>
            <a:pPr marL="0" indent="0" algn="ctr">
              <a:buNone/>
            </a:pPr>
            <a:r>
              <a:rPr lang="en-US" sz="8000" b="1" dirty="0">
                <a:ln w="22225">
                  <a:solidFill>
                    <a:schemeClr val="accent2"/>
                  </a:solidFill>
                  <a:prstDash val="solid"/>
                </a:ln>
                <a:solidFill>
                  <a:schemeClr val="accent2">
                    <a:lumMod val="40000"/>
                    <a:lumOff val="60000"/>
                  </a:schemeClr>
                </a:solidFill>
              </a:rPr>
              <a:t>THANK YOU</a:t>
            </a:r>
          </a:p>
        </p:txBody>
      </p:sp>
    </p:spTree>
    <p:extLst>
      <p:ext uri="{BB962C8B-B14F-4D97-AF65-F5344CB8AC3E}">
        <p14:creationId xmlns:p14="http://schemas.microsoft.com/office/powerpoint/2010/main" val="282032461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1563</TotalTime>
  <Words>2781</Words>
  <Application>Microsoft Office PowerPoint</Application>
  <PresentationFormat>Widescreen</PresentationFormat>
  <Paragraphs>143</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Century Gothic</vt:lpstr>
      <vt:lpstr>Times</vt:lpstr>
      <vt:lpstr>Wingdings 3</vt:lpstr>
      <vt:lpstr>Wisp</vt:lpstr>
      <vt:lpstr>  Artificial Intelligence    Dr. Bidush Kumar Sahoo G.I.E.T. University, Gunupur, Odisha </vt:lpstr>
      <vt:lpstr>  EXPERT SYSTEMS </vt:lpstr>
      <vt:lpstr>  EXAMPLES OF EXPERT SYSTEMS </vt:lpstr>
      <vt:lpstr>  CHARACTERISTICS OF EXPERT SYSTEM </vt:lpstr>
      <vt:lpstr>  BENEFITS OF EXPERT SYSTEMS </vt:lpstr>
      <vt:lpstr>  LIMITATIONS OF THE EXPERT SYSTEM </vt:lpstr>
      <vt:lpstr>  APPLICATIONS OF EXPERT SYSTEMS </vt:lpstr>
      <vt:lpstr>  REPRESENTING AND USING DOMAIN KNOWLEDGE </vt:lpstr>
      <vt:lpstr>DEVELOPMENT OF EXPERT SYSTEM </vt:lpstr>
      <vt:lpstr>EXPERT SYSTEM SHELLS</vt:lpstr>
      <vt:lpstr>PowerPoint Presentation</vt:lpstr>
      <vt:lpstr>COMPONENTS OF KNOWLEDGE BASE </vt:lpstr>
      <vt:lpstr>PowerPoint Presentation</vt:lpstr>
      <vt:lpstr>PowerPoint Presentation</vt:lpstr>
      <vt:lpstr>EXPLANATION Subsystem</vt:lpstr>
      <vt:lpstr>KNOWLEDGE ACQUISITION </vt:lpstr>
      <vt:lpstr>PowerPoint Presentation</vt:lpstr>
      <vt:lpstr>KNOWLEDGE ACQUISITION TECHNIQUES </vt:lpstr>
      <vt:lpstr>HOW THESE COMPONENTS WORK TOGETHER? </vt:lpstr>
      <vt:lpstr>TYPES OF EXPERT SYSTEMS IN AI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Bidush Kumar Sahoo</dc:creator>
  <cp:lastModifiedBy>Bidush Kumar Sahoo</cp:lastModifiedBy>
  <cp:revision>8</cp:revision>
  <dcterms:created xsi:type="dcterms:W3CDTF">2025-10-14T03:10:35Z</dcterms:created>
  <dcterms:modified xsi:type="dcterms:W3CDTF">2025-10-22T04:22:32Z</dcterms:modified>
</cp:coreProperties>
</file>