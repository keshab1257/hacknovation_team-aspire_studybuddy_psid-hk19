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390" r:id="rId2"/>
    <p:sldId id="348" r:id="rId3"/>
    <p:sldId id="331" r:id="rId4"/>
    <p:sldId id="332" r:id="rId5"/>
    <p:sldId id="334" r:id="rId6"/>
    <p:sldId id="335" r:id="rId7"/>
    <p:sldId id="336" r:id="rId8"/>
    <p:sldId id="338" r:id="rId9"/>
    <p:sldId id="339" r:id="rId10"/>
    <p:sldId id="340" r:id="rId11"/>
    <p:sldId id="342" r:id="rId12"/>
    <p:sldId id="343" r:id="rId13"/>
    <p:sldId id="346" r:id="rId14"/>
    <p:sldId id="344" r:id="rId15"/>
    <p:sldId id="345" r:id="rId16"/>
    <p:sldId id="347" r:id="rId17"/>
    <p:sldId id="349" r:id="rId18"/>
    <p:sldId id="351" r:id="rId19"/>
    <p:sldId id="354" r:id="rId20"/>
    <p:sldId id="353" r:id="rId21"/>
    <p:sldId id="352" r:id="rId22"/>
    <p:sldId id="355" r:id="rId23"/>
    <p:sldId id="356" r:id="rId24"/>
    <p:sldId id="357" r:id="rId25"/>
    <p:sldId id="358" r:id="rId26"/>
    <p:sldId id="350" r:id="rId27"/>
    <p:sldId id="371" r:id="rId28"/>
    <p:sldId id="363" r:id="rId29"/>
    <p:sldId id="359" r:id="rId30"/>
    <p:sldId id="360" r:id="rId31"/>
    <p:sldId id="361" r:id="rId32"/>
    <p:sldId id="362" r:id="rId33"/>
    <p:sldId id="367" r:id="rId34"/>
    <p:sldId id="368" r:id="rId35"/>
    <p:sldId id="370" r:id="rId36"/>
    <p:sldId id="373" r:id="rId37"/>
    <p:sldId id="391" r:id="rId38"/>
    <p:sldId id="393" r:id="rId39"/>
    <p:sldId id="392" r:id="rId40"/>
    <p:sldId id="374" r:id="rId41"/>
    <p:sldId id="376" r:id="rId42"/>
    <p:sldId id="378" r:id="rId43"/>
    <p:sldId id="379" r:id="rId44"/>
    <p:sldId id="377" r:id="rId45"/>
    <p:sldId id="380" r:id="rId46"/>
    <p:sldId id="387" r:id="rId47"/>
    <p:sldId id="381" r:id="rId48"/>
    <p:sldId id="382" r:id="rId49"/>
    <p:sldId id="383" r:id="rId50"/>
    <p:sldId id="384" r:id="rId51"/>
    <p:sldId id="388" r:id="rId52"/>
    <p:sldId id="386" r:id="rId53"/>
    <p:sldId id="38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24" autoAdjust="0"/>
  </p:normalViewPr>
  <p:slideViewPr>
    <p:cSldViewPr>
      <p:cViewPr>
        <p:scale>
          <a:sx n="80" d="100"/>
          <a:sy n="80" d="100"/>
        </p:scale>
        <p:origin x="-216" y="66"/>
      </p:cViewPr>
      <p:guideLst>
        <p:guide orient="horz" pos="2160"/>
        <p:guide pos="2880"/>
      </p:guideLst>
    </p:cSldViewPr>
  </p:slideViewPr>
  <p:outlineViewPr>
    <p:cViewPr>
      <p:scale>
        <a:sx n="33" d="100"/>
        <a:sy n="33" d="100"/>
      </p:scale>
      <p:origin x="48" y="5322"/>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5746B60-C719-481D-92B6-A5F5A6D0AEBD}" type="datetimeFigureOut">
              <a:rPr lang="en-US" smtClean="0"/>
              <a:pPr/>
              <a:t>7/28/2023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A5A224-E083-4BB1-B5FE-7889D57F4B9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EA5A224-E083-4BB1-B5FE-7889D57F4B93}" type="slidenum">
              <a:rPr lang="en-US" smtClean="0"/>
              <a:pPr/>
              <a:t>2</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EA5A224-E083-4BB1-B5FE-7889D57F4B93}" type="slidenum">
              <a:rPr lang="en-US" smtClean="0"/>
              <a:pPr/>
              <a:t>40</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5C2CBB7-7636-4466-BEA8-5D6A400033E9}" type="datetime1">
              <a:rPr lang="en-US" smtClean="0"/>
              <a:pPr/>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B893FB2-D51E-4DF9-A6F0-D2AB7B07E5C0}" type="datetime1">
              <a:rPr lang="en-US" smtClean="0"/>
              <a:pPr/>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2848AF4-3EFF-4CF0-8437-92252D485E57}" type="datetime1">
              <a:rPr lang="en-US" smtClean="0"/>
              <a:pPr/>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3410B42-4ECB-4B84-8646-65D8F606CFE1}" type="datetime1">
              <a:rPr lang="en-US" smtClean="0"/>
              <a:pPr/>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28538CDE-7DD7-4D1E-AADA-8C45067B49DA}" type="datetime1">
              <a:rPr lang="en-US" smtClean="0"/>
              <a:pPr/>
              <a:t>7/28/2023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107AA58-A70C-4C3F-8451-DD24145E0848}" type="datetime1">
              <a:rPr lang="en-US" smtClean="0"/>
              <a:pPr/>
              <a:t>7/28/2023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D2A104-3F02-474F-A6AD-0A9B77DF2B7A}" type="datetime1">
              <a:rPr lang="en-US" smtClean="0"/>
              <a:pPr/>
              <a:t>7/28/2023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865623-2D62-4F65-9090-E869A59DF07E}" type="datetime1">
              <a:rPr lang="en-US" smtClean="0"/>
              <a:pPr/>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19286D4-9F58-4285-B48E-C2FF35A9A26C}" type="datetime1">
              <a:rPr lang="en-US" smtClean="0"/>
              <a:pPr/>
              <a:t>7/28/2023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590A02C-96E0-432B-B777-5801FBDC8587}" type="datetime1">
              <a:rPr lang="en-US" smtClean="0"/>
              <a:pPr/>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A7359F7-BE6F-40F1-9B49-CFB99B5E09A6}" type="datetime1">
              <a:rPr lang="en-US" smtClean="0"/>
              <a:pPr/>
              <a:t>7/28/2023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A4DEF83-8E89-4D94-8D5D-613AED6F19E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F5A71E2-2D60-41B1-B946-6BE95310F22F}" type="datetime1">
              <a:rPr lang="en-US" smtClean="0"/>
              <a:pPr/>
              <a:t>7/28/2023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4DEF83-8E89-4D94-8D5D-613AED6F19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5720" y="642918"/>
            <a:ext cx="8572560" cy="1420210"/>
          </a:xfrm>
        </p:spPr>
        <p:txBody>
          <a:bodyPr>
            <a:normAutofit fontScale="90000"/>
          </a:bodyPr>
          <a:lstStyle/>
          <a:p>
            <a:r>
              <a:rPr lang="en-US" sz="6000" b="1" dirty="0" smtClean="0">
                <a:solidFill>
                  <a:srgbClr val="FF0000"/>
                </a:solidFill>
                <a:latin typeface="Baskerville Old Face" pitchFamily="18" charset="0"/>
              </a:rPr>
              <a:t>DIGITAL ELECTRONICS</a:t>
            </a:r>
            <a:r>
              <a:rPr lang="en-US" sz="6600" b="1" dirty="0" smtClean="0">
                <a:solidFill>
                  <a:srgbClr val="00B050"/>
                </a:solidFill>
                <a:latin typeface="Baskerville Old Face" pitchFamily="18" charset="0"/>
              </a:rPr>
              <a:t/>
            </a:r>
            <a:br>
              <a:rPr lang="en-US" sz="6600" b="1" dirty="0" smtClean="0">
                <a:solidFill>
                  <a:srgbClr val="00B050"/>
                </a:solidFill>
                <a:latin typeface="Baskerville Old Face" pitchFamily="18" charset="0"/>
              </a:rPr>
            </a:br>
            <a:r>
              <a:rPr lang="en-US" sz="3600" b="1" dirty="0" smtClean="0">
                <a:solidFill>
                  <a:srgbClr val="00B050"/>
                </a:solidFill>
                <a:latin typeface="Baskerville Old Face" pitchFamily="18" charset="0"/>
              </a:rPr>
              <a:t>III Semester CSE, CSE (AIML) &amp; CSE (DS)</a:t>
            </a:r>
            <a:endParaRPr lang="en-US" dirty="0">
              <a:solidFill>
                <a:srgbClr val="00B050"/>
              </a:solidFill>
              <a:latin typeface="Baskerville Old Face" pitchFamily="18" charset="0"/>
            </a:endParaRPr>
          </a:p>
        </p:txBody>
      </p:sp>
      <p:sp>
        <p:nvSpPr>
          <p:cNvPr id="3" name="Subtitle 2"/>
          <p:cNvSpPr>
            <a:spLocks noGrp="1"/>
          </p:cNvSpPr>
          <p:nvPr>
            <p:ph type="subTitle" idx="1"/>
          </p:nvPr>
        </p:nvSpPr>
        <p:spPr>
          <a:xfrm>
            <a:off x="500034" y="4214818"/>
            <a:ext cx="8358246" cy="1857388"/>
          </a:xfrm>
        </p:spPr>
        <p:txBody>
          <a:bodyPr>
            <a:normAutofit/>
          </a:bodyPr>
          <a:lstStyle/>
          <a:p>
            <a:pPr>
              <a:lnSpc>
                <a:spcPct val="150000"/>
              </a:lnSpc>
            </a:pPr>
            <a:r>
              <a:rPr lang="en-US" sz="1800" b="1" dirty="0" smtClean="0">
                <a:solidFill>
                  <a:srgbClr val="002060"/>
                </a:solidFill>
                <a:latin typeface="Times New Roman" pitchFamily="18" charset="0"/>
                <a:cs typeface="Times New Roman" pitchFamily="18" charset="0"/>
              </a:rPr>
              <a:t>DEPARTMENT OF ELECTRONICS AND COMMUNICATION ENGINEERING</a:t>
            </a:r>
            <a:endParaRPr lang="en-US" sz="1800" dirty="0" smtClean="0">
              <a:solidFill>
                <a:srgbClr val="002060"/>
              </a:solidFill>
              <a:latin typeface="Times New Roman" pitchFamily="18" charset="0"/>
              <a:cs typeface="Times New Roman" pitchFamily="18" charset="0"/>
            </a:endParaRPr>
          </a:p>
          <a:p>
            <a:pPr>
              <a:lnSpc>
                <a:spcPct val="150000"/>
              </a:lnSpc>
            </a:pPr>
            <a:r>
              <a:rPr lang="en-US" sz="2400" b="1" dirty="0" smtClean="0">
                <a:solidFill>
                  <a:srgbClr val="7030A0"/>
                </a:solidFill>
                <a:latin typeface="Times New Roman" pitchFamily="18" charset="0"/>
                <a:cs typeface="Times New Roman" pitchFamily="18" charset="0"/>
              </a:rPr>
              <a:t>SCHOOL OF ENGINEERING &amp; TECHNOLOGY</a:t>
            </a:r>
          </a:p>
          <a:p>
            <a:pPr>
              <a:lnSpc>
                <a:spcPct val="150000"/>
              </a:lnSpc>
            </a:pPr>
            <a:r>
              <a:rPr lang="en-US" sz="2800" b="1" dirty="0" smtClean="0">
                <a:solidFill>
                  <a:srgbClr val="C00000"/>
                </a:solidFill>
                <a:latin typeface="Times New Roman" pitchFamily="18" charset="0"/>
                <a:cs typeface="Times New Roman" pitchFamily="18" charset="0"/>
              </a:rPr>
              <a:t>GIET UNIVERSITY, GUNUPUR, ODISHA</a:t>
            </a:r>
          </a:p>
        </p:txBody>
      </p:sp>
      <p:pic>
        <p:nvPicPr>
          <p:cNvPr id="4" name="Picture 2"/>
          <p:cNvPicPr>
            <a:picLocks noChangeAspect="1" noChangeArrowheads="1"/>
          </p:cNvPicPr>
          <p:nvPr/>
        </p:nvPicPr>
        <p:blipFill>
          <a:blip r:embed="rId2" cstate="print"/>
          <a:srcRect/>
          <a:stretch>
            <a:fillRect/>
          </a:stretch>
        </p:blipFill>
        <p:spPr bwMode="auto">
          <a:xfrm>
            <a:off x="3571868" y="2071678"/>
            <a:ext cx="1964545" cy="1571636"/>
          </a:xfrm>
          <a:prstGeom prst="rect">
            <a:avLst/>
          </a:prstGeom>
          <a:noFill/>
          <a:ln w="9525">
            <a:noFill/>
            <a:miter lim="800000"/>
            <a:headEnd/>
            <a:tailEnd/>
          </a:ln>
          <a:effectLst/>
        </p:spPr>
      </p:pic>
      <p:sp>
        <p:nvSpPr>
          <p:cNvPr id="7" name="Subtitle 2"/>
          <p:cNvSpPr txBox="1">
            <a:spLocks/>
          </p:cNvSpPr>
          <p:nvPr/>
        </p:nvSpPr>
        <p:spPr>
          <a:xfrm>
            <a:off x="428596" y="3643314"/>
            <a:ext cx="8358246" cy="642942"/>
          </a:xfrm>
          <a:prstGeom prst="rect">
            <a:avLst/>
          </a:prstGeom>
        </p:spPr>
        <p:txBody>
          <a:bodyPr vert="horz" lIns="91440" tIns="45720" rIns="91440" bIns="45720" numCol="1" rtlCol="0">
            <a:normAutofit/>
          </a:bodyPr>
          <a:lstStyle/>
          <a:p>
            <a:pPr lvl="0" algn="ctr">
              <a:lnSpc>
                <a:spcPct val="150000"/>
              </a:lnSpc>
              <a:spcBef>
                <a:spcPct val="20000"/>
              </a:spcBef>
            </a:pPr>
            <a:r>
              <a:rPr lang="en-US" sz="2400" b="1" dirty="0" smtClean="0">
                <a:latin typeface="Times New Roman" pitchFamily="18" charset="0"/>
                <a:cs typeface="Times New Roman" pitchFamily="18" charset="0"/>
              </a:rPr>
              <a:t>Dr. </a:t>
            </a:r>
            <a:r>
              <a:rPr lang="en-US" sz="2400" b="1" dirty="0" err="1" smtClean="0">
                <a:latin typeface="Times New Roman" pitchFamily="18" charset="0"/>
                <a:cs typeface="Times New Roman" pitchFamily="18" charset="0"/>
              </a:rPr>
              <a:t>Ajit</a:t>
            </a:r>
            <a:r>
              <a:rPr lang="en-US" sz="2400" b="1" dirty="0" smtClean="0">
                <a:latin typeface="Times New Roman" pitchFamily="18" charset="0"/>
                <a:cs typeface="Times New Roman" pitchFamily="18" charset="0"/>
              </a:rPr>
              <a:t> Kumar </a:t>
            </a:r>
            <a:r>
              <a:rPr lang="en-US" sz="2400" b="1" dirty="0" err="1" smtClean="0">
                <a:latin typeface="Times New Roman" pitchFamily="18" charset="0"/>
                <a:cs typeface="Times New Roman" pitchFamily="18" charset="0"/>
              </a:rPr>
              <a:t>Patro</a:t>
            </a:r>
            <a:endParaRPr lang="en-US" sz="2400" b="1" dirty="0" smtClean="0">
              <a:latin typeface="Times New Roman" pitchFamily="18" charset="0"/>
              <a:cs typeface="Times New Roman" pitchFamily="18" charset="0"/>
            </a:endParaRPr>
          </a:p>
        </p:txBody>
      </p:sp>
      <p:sp>
        <p:nvSpPr>
          <p:cNvPr id="6" name="Slide Number Placeholder 5"/>
          <p:cNvSpPr>
            <a:spLocks noGrp="1"/>
          </p:cNvSpPr>
          <p:nvPr>
            <p:ph type="sldNum" sz="quarter" idx="12"/>
          </p:nvPr>
        </p:nvSpPr>
        <p:spPr/>
        <p:txBody>
          <a:bodyPr/>
          <a:lstStyle/>
          <a:p>
            <a:fld id="{8A4DEF83-8E89-4D94-8D5D-613AED6F19E4}" type="slidenum">
              <a:rPr lang="en-US" smtClean="0"/>
              <a:pPr/>
              <a:t>1</a:t>
            </a:fld>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2285993"/>
            <a:ext cx="7772400" cy="1857387"/>
          </a:xfrm>
        </p:spPr>
        <p:txBody>
          <a:bodyPr>
            <a:normAutofit/>
          </a:bodyPr>
          <a:lstStyle/>
          <a:p>
            <a:r>
              <a:rPr lang="en-IN" sz="4800" b="1" dirty="0" smtClean="0">
                <a:solidFill>
                  <a:srgbClr val="00B050"/>
                </a:solidFill>
              </a:rPr>
              <a:t>Representation of Signed Binary Number</a:t>
            </a:r>
            <a:endParaRPr lang="en-US" sz="4800" b="1" dirty="0">
              <a:solidFill>
                <a:srgbClr val="00B050"/>
              </a:solidFill>
            </a:endParaRPr>
          </a:p>
        </p:txBody>
      </p:sp>
      <p:sp>
        <p:nvSpPr>
          <p:cNvPr id="3" name="Slide Number Placeholder 2"/>
          <p:cNvSpPr>
            <a:spLocks noGrp="1"/>
          </p:cNvSpPr>
          <p:nvPr>
            <p:ph type="sldNum" sz="quarter" idx="12"/>
          </p:nvPr>
        </p:nvSpPr>
        <p:spPr/>
        <p:txBody>
          <a:bodyPr/>
          <a:lstStyle/>
          <a:p>
            <a:fld id="{8A4DEF83-8E89-4D94-8D5D-613AED6F19E4}" type="slidenum">
              <a:rPr lang="en-US" smtClean="0"/>
              <a:pPr/>
              <a:t>2</a:t>
            </a:fld>
            <a:endParaRPr lang="en-US"/>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US" b="1" dirty="0" smtClean="0">
                <a:solidFill>
                  <a:srgbClr val="FF0000"/>
                </a:solidFill>
              </a:rPr>
              <a:t>1’s Complement</a:t>
            </a:r>
            <a:endParaRPr lang="en-US" b="1" dirty="0">
              <a:solidFill>
                <a:srgbClr val="FF0000"/>
              </a:solidFill>
            </a:endParaRPr>
          </a:p>
        </p:txBody>
      </p:sp>
      <p:sp>
        <p:nvSpPr>
          <p:cNvPr id="3" name="Content Placeholder 2"/>
          <p:cNvSpPr>
            <a:spLocks noGrp="1"/>
          </p:cNvSpPr>
          <p:nvPr>
            <p:ph idx="1"/>
          </p:nvPr>
        </p:nvSpPr>
        <p:spPr>
          <a:xfrm>
            <a:off x="457200" y="1142984"/>
            <a:ext cx="8229600" cy="4983179"/>
          </a:xfrm>
        </p:spPr>
        <p:txBody>
          <a:bodyPr/>
          <a:lstStyle/>
          <a:p>
            <a:pPr algn="just"/>
            <a:r>
              <a:rPr lang="en-US" dirty="0" smtClean="0"/>
              <a:t>The 1's complement of any binary number is performed by simply changing all 1's into 0's and 0's into 1's, i.e. each bit is replaced by its complement.</a:t>
            </a:r>
          </a:p>
          <a:p>
            <a:pPr>
              <a:buNone/>
            </a:pPr>
            <a:r>
              <a:rPr lang="en-US" dirty="0" smtClean="0"/>
              <a:t>		</a:t>
            </a:r>
            <a:r>
              <a:rPr lang="en-US" u="sng" dirty="0" smtClean="0"/>
              <a:t>Binary number</a:t>
            </a:r>
            <a:r>
              <a:rPr lang="en-US" dirty="0" smtClean="0"/>
              <a:t>	 	</a:t>
            </a:r>
            <a:r>
              <a:rPr lang="en-US" u="sng" dirty="0" smtClean="0"/>
              <a:t>1's complement </a:t>
            </a:r>
          </a:p>
          <a:p>
            <a:pPr>
              <a:buNone/>
            </a:pPr>
            <a:r>
              <a:rPr lang="en-US" dirty="0" smtClean="0"/>
              <a:t>		1011				0100</a:t>
            </a:r>
          </a:p>
          <a:p>
            <a:pPr>
              <a:buNone/>
            </a:pPr>
            <a:r>
              <a:rPr lang="en-US" dirty="0" smtClean="0"/>
              <a:t>		010101			101010</a:t>
            </a:r>
          </a:p>
          <a:p>
            <a:pPr>
              <a:buNone/>
            </a:pPr>
            <a:r>
              <a:rPr lang="en-US" dirty="0" smtClean="0"/>
              <a:t>		1100.01			0011.10</a:t>
            </a:r>
          </a:p>
          <a:p>
            <a:pPr>
              <a:buNone/>
            </a:pPr>
            <a:r>
              <a:rPr lang="en-US" dirty="0" smtClean="0"/>
              <a:t>		10010.110			01101.001</a:t>
            </a: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lstStyle/>
          <a:p>
            <a:r>
              <a:rPr lang="en-US" b="1" dirty="0" smtClean="0">
                <a:solidFill>
                  <a:srgbClr val="FF0000"/>
                </a:solidFill>
              </a:rPr>
              <a:t>2’s Complement</a:t>
            </a:r>
            <a:endParaRPr lang="en-US" dirty="0"/>
          </a:p>
        </p:txBody>
      </p:sp>
      <p:sp>
        <p:nvSpPr>
          <p:cNvPr id="3" name="Content Placeholder 2"/>
          <p:cNvSpPr>
            <a:spLocks noGrp="1"/>
          </p:cNvSpPr>
          <p:nvPr>
            <p:ph idx="1"/>
          </p:nvPr>
        </p:nvSpPr>
        <p:spPr>
          <a:xfrm>
            <a:off x="457200" y="1714488"/>
            <a:ext cx="8229600" cy="4411675"/>
          </a:xfrm>
        </p:spPr>
        <p:txBody>
          <a:bodyPr>
            <a:normAutofit/>
          </a:bodyPr>
          <a:lstStyle/>
          <a:p>
            <a:r>
              <a:rPr lang="en-US" dirty="0" smtClean="0"/>
              <a:t>The 2's complement of any binary number is determined by adding 1 to 1's complement of that number.</a:t>
            </a:r>
          </a:p>
          <a:p>
            <a:r>
              <a:rPr lang="en-US" dirty="0" smtClean="0"/>
              <a:t>2's complement of number = </a:t>
            </a:r>
          </a:p>
          <a:p>
            <a:pPr>
              <a:buNone/>
            </a:pPr>
            <a:r>
              <a:rPr lang="en-US" dirty="0" smtClean="0"/>
              <a:t>			1's complement of a number + 1</a:t>
            </a: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4</a:t>
            </a:fld>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500726"/>
          </a:xfrm>
        </p:spPr>
        <p:txBody>
          <a:bodyPr>
            <a:normAutofit/>
          </a:bodyPr>
          <a:lstStyle/>
          <a:p>
            <a:pPr>
              <a:buNone/>
            </a:pPr>
            <a:r>
              <a:rPr lang="en-US" b="1" dirty="0" smtClean="0">
                <a:solidFill>
                  <a:srgbClr val="FF0000"/>
                </a:solidFill>
              </a:rPr>
              <a:t>Example:</a:t>
            </a:r>
          </a:p>
          <a:p>
            <a:pPr>
              <a:buNone/>
            </a:pPr>
            <a:r>
              <a:rPr lang="en-US" b="1" dirty="0" smtClean="0"/>
              <a:t>	</a:t>
            </a:r>
            <a:r>
              <a:rPr lang="en-US" b="1" dirty="0" smtClean="0">
                <a:solidFill>
                  <a:srgbClr val="0070C0"/>
                </a:solidFill>
              </a:rPr>
              <a:t>Find the 2's complement of the (1010)</a:t>
            </a:r>
            <a:r>
              <a:rPr lang="en-US" b="1" baseline="-25000" dirty="0" smtClean="0">
                <a:solidFill>
                  <a:srgbClr val="0070C0"/>
                </a:solidFill>
              </a:rPr>
              <a:t>2</a:t>
            </a:r>
            <a:endParaRPr lang="en-US" b="1" dirty="0" smtClean="0">
              <a:solidFill>
                <a:srgbClr val="0070C0"/>
              </a:solidFill>
            </a:endParaRPr>
          </a:p>
          <a:p>
            <a:pPr>
              <a:buNone/>
            </a:pPr>
            <a:endParaRPr lang="en-US" i="1" u="sng" dirty="0" smtClean="0"/>
          </a:p>
          <a:p>
            <a:pPr>
              <a:buNone/>
            </a:pPr>
            <a:r>
              <a:rPr lang="en-US" i="1" u="sng" dirty="0" smtClean="0"/>
              <a:t>Solution</a:t>
            </a:r>
          </a:p>
          <a:p>
            <a:pPr>
              <a:buNone/>
            </a:pPr>
            <a:r>
              <a:rPr lang="en-US" dirty="0" smtClean="0"/>
              <a:t>	Given binary number 	= 	1010</a:t>
            </a:r>
          </a:p>
          <a:p>
            <a:pPr>
              <a:buNone/>
            </a:pPr>
            <a:r>
              <a:rPr lang="en-US" dirty="0" smtClean="0"/>
              <a:t>	1's complement of 1010 	= 	0101</a:t>
            </a:r>
          </a:p>
          <a:p>
            <a:pPr>
              <a:buNone/>
            </a:pPr>
            <a:r>
              <a:rPr lang="en-US" dirty="0" smtClean="0"/>
              <a:t>						       +       1	</a:t>
            </a:r>
          </a:p>
          <a:p>
            <a:pPr>
              <a:buNone/>
            </a:pPr>
            <a:r>
              <a:rPr lang="en-US" dirty="0" smtClean="0"/>
              <a:t>							0110</a:t>
            </a:r>
          </a:p>
          <a:p>
            <a:pPr>
              <a:buNone/>
            </a:pPr>
            <a:r>
              <a:rPr lang="en-US" dirty="0" smtClean="0"/>
              <a:t>	2's complement of 1010 = 0110</a:t>
            </a:r>
          </a:p>
          <a:p>
            <a:pPr>
              <a:buNone/>
            </a:pPr>
            <a:endParaRPr lang="en-US" dirty="0" smtClean="0"/>
          </a:p>
          <a:p>
            <a:endParaRPr lang="en-US" dirty="0"/>
          </a:p>
        </p:txBody>
      </p:sp>
      <p:cxnSp>
        <p:nvCxnSpPr>
          <p:cNvPr id="5" name="Straight Connector 4"/>
          <p:cNvCxnSpPr/>
          <p:nvPr/>
        </p:nvCxnSpPr>
        <p:spPr>
          <a:xfrm>
            <a:off x="5929322" y="4929198"/>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8A4DEF83-8E89-4D94-8D5D-613AED6F19E4}"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14356"/>
            <a:ext cx="8229600" cy="5411807"/>
          </a:xfrm>
        </p:spPr>
        <p:txBody>
          <a:bodyPr>
            <a:normAutofit/>
          </a:bodyPr>
          <a:lstStyle/>
          <a:p>
            <a:pPr>
              <a:buNone/>
            </a:pPr>
            <a:r>
              <a:rPr lang="en-US" b="1" dirty="0" smtClean="0">
                <a:solidFill>
                  <a:srgbClr val="FF0000"/>
                </a:solidFill>
              </a:rPr>
              <a:t>Example:</a:t>
            </a:r>
          </a:p>
          <a:p>
            <a:pPr>
              <a:buNone/>
            </a:pPr>
            <a:r>
              <a:rPr lang="en-US" b="1" dirty="0" smtClean="0"/>
              <a:t>	</a:t>
            </a:r>
            <a:r>
              <a:rPr lang="en-US" b="1" dirty="0" smtClean="0">
                <a:solidFill>
                  <a:srgbClr val="0070C0"/>
                </a:solidFill>
              </a:rPr>
              <a:t>Find the 2's complement of the (11.01)</a:t>
            </a:r>
            <a:r>
              <a:rPr lang="en-US" b="1" baseline="-25000" dirty="0" smtClean="0">
                <a:solidFill>
                  <a:srgbClr val="0070C0"/>
                </a:solidFill>
              </a:rPr>
              <a:t>2</a:t>
            </a:r>
          </a:p>
          <a:p>
            <a:pPr>
              <a:buNone/>
            </a:pPr>
            <a:endParaRPr lang="en-US" i="1" u="sng" dirty="0" smtClean="0"/>
          </a:p>
          <a:p>
            <a:pPr>
              <a:buNone/>
            </a:pPr>
            <a:r>
              <a:rPr lang="en-US" i="1" u="sng" dirty="0" smtClean="0"/>
              <a:t>Solution</a:t>
            </a:r>
          </a:p>
          <a:p>
            <a:pPr>
              <a:buNone/>
            </a:pPr>
            <a:r>
              <a:rPr lang="en-US" dirty="0" smtClean="0"/>
              <a:t>	Given binary number 	= 	11.01</a:t>
            </a:r>
          </a:p>
          <a:p>
            <a:pPr>
              <a:buNone/>
            </a:pPr>
            <a:r>
              <a:rPr lang="en-US" dirty="0" smtClean="0"/>
              <a:t>	1's complement of 11.01 	= 	00.10</a:t>
            </a:r>
          </a:p>
          <a:p>
            <a:pPr>
              <a:buNone/>
            </a:pPr>
            <a:r>
              <a:rPr lang="en-US" dirty="0" smtClean="0"/>
              <a:t>						       +        1	</a:t>
            </a:r>
          </a:p>
          <a:p>
            <a:pPr>
              <a:buNone/>
            </a:pPr>
            <a:r>
              <a:rPr lang="en-US" dirty="0" smtClean="0"/>
              <a:t>							00.11</a:t>
            </a:r>
          </a:p>
          <a:p>
            <a:pPr>
              <a:buNone/>
            </a:pPr>
            <a:r>
              <a:rPr lang="en-US" dirty="0" smtClean="0"/>
              <a:t>	2's complement of 11.01 	= 00.11</a:t>
            </a:r>
          </a:p>
          <a:p>
            <a:endParaRPr lang="en-US" dirty="0"/>
          </a:p>
        </p:txBody>
      </p:sp>
      <p:cxnSp>
        <p:nvCxnSpPr>
          <p:cNvPr id="5" name="Straight Connector 4"/>
          <p:cNvCxnSpPr/>
          <p:nvPr/>
        </p:nvCxnSpPr>
        <p:spPr>
          <a:xfrm>
            <a:off x="5929322" y="4786322"/>
            <a:ext cx="107157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 name="Slide Number Placeholder 3"/>
          <p:cNvSpPr>
            <a:spLocks noGrp="1"/>
          </p:cNvSpPr>
          <p:nvPr>
            <p:ph type="sldNum" sz="quarter" idx="12"/>
          </p:nvPr>
        </p:nvSpPr>
        <p:spPr/>
        <p:txBody>
          <a:bodyPr/>
          <a:lstStyle/>
          <a:p>
            <a:fld id="{8A4DEF83-8E89-4D94-8D5D-613AED6F19E4}" type="slidenum">
              <a:rPr lang="en-US" smtClean="0"/>
              <a:pPr/>
              <a:t>6</a:t>
            </a:fld>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0108"/>
            <a:ext cx="8229600" cy="5126055"/>
          </a:xfrm>
        </p:spPr>
        <p:txBody>
          <a:bodyPr/>
          <a:lstStyle/>
          <a:p>
            <a:pPr>
              <a:buNone/>
            </a:pPr>
            <a:r>
              <a:rPr lang="en-US" dirty="0" smtClean="0"/>
              <a:t>Binary number:	1010		1111		11.01</a:t>
            </a:r>
          </a:p>
          <a:p>
            <a:pPr>
              <a:buNone/>
            </a:pPr>
            <a:r>
              <a:rPr lang="en-US" dirty="0" smtClean="0"/>
              <a:t>2’s complement: 0110		0001		00.11</a:t>
            </a:r>
          </a:p>
          <a:p>
            <a:pPr>
              <a:buNone/>
            </a:pPr>
            <a:endParaRPr lang="en-US" dirty="0" smtClean="0"/>
          </a:p>
          <a:p>
            <a:pPr algn="just">
              <a:buNone/>
            </a:pPr>
            <a:r>
              <a:rPr lang="en-US" dirty="0" smtClean="0">
                <a:solidFill>
                  <a:srgbClr val="FF0000"/>
                </a:solidFill>
              </a:rPr>
              <a:t>Note: </a:t>
            </a:r>
            <a:r>
              <a:rPr lang="en-US" dirty="0" smtClean="0"/>
              <a:t>The 2’s complement of a number can be obtained by leaving all least significant 0’s and the first one (1) unchanged, and replacing all 1’s with 0’s and 0’s with 1’s in all higher significant bits.	</a:t>
            </a: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7</a:t>
            </a:fld>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4000" b="1" dirty="0" smtClean="0">
                <a:solidFill>
                  <a:srgbClr val="FF0000"/>
                </a:solidFill>
              </a:rPr>
              <a:t>REPRESENTATION OF SIGNED NUMBER</a:t>
            </a:r>
            <a:endParaRPr lang="en-US" dirty="0"/>
          </a:p>
        </p:txBody>
      </p:sp>
      <p:sp>
        <p:nvSpPr>
          <p:cNvPr id="3" name="Content Placeholder 2"/>
          <p:cNvSpPr>
            <a:spLocks noGrp="1"/>
          </p:cNvSpPr>
          <p:nvPr>
            <p:ph idx="1"/>
          </p:nvPr>
        </p:nvSpPr>
        <p:spPr/>
        <p:txBody>
          <a:bodyPr/>
          <a:lstStyle/>
          <a:p>
            <a:r>
              <a:rPr lang="en-US" dirty="0" smtClean="0"/>
              <a:t>There are two ways of representing signed numbers</a:t>
            </a:r>
          </a:p>
          <a:p>
            <a:pPr marL="800100">
              <a:buFont typeface="Wingdings" pitchFamily="2" charset="2"/>
              <a:buChar char="§"/>
            </a:pPr>
            <a:r>
              <a:rPr lang="en-US" dirty="0" smtClean="0"/>
              <a:t>Sign-magnitude form</a:t>
            </a:r>
          </a:p>
          <a:p>
            <a:pPr marL="800100">
              <a:buFont typeface="Wingdings" pitchFamily="2" charset="2"/>
              <a:buChar char="§"/>
            </a:pPr>
            <a:r>
              <a:rPr lang="en-US" dirty="0" smtClean="0"/>
              <a:t>Complement form</a:t>
            </a:r>
          </a:p>
          <a:p>
            <a:pPr>
              <a:buNone/>
            </a:pPr>
            <a:r>
              <a:rPr lang="en-US" dirty="0" smtClean="0"/>
              <a:t>	There are two complement forms: </a:t>
            </a:r>
          </a:p>
          <a:p>
            <a:pPr marL="796925" indent="-339725">
              <a:buFont typeface="Wingdings" pitchFamily="2" charset="2"/>
              <a:buChar char="§"/>
            </a:pPr>
            <a:r>
              <a:rPr lang="en-US" dirty="0" smtClean="0"/>
              <a:t>1's complement form</a:t>
            </a:r>
          </a:p>
          <a:p>
            <a:pPr marL="796925" indent="-339725">
              <a:buFont typeface="Wingdings" pitchFamily="2" charset="2"/>
              <a:buChar char="§"/>
            </a:pPr>
            <a:r>
              <a:rPr lang="en-US" dirty="0" smtClean="0"/>
              <a:t>2's complement form</a:t>
            </a:r>
          </a:p>
          <a:p>
            <a:endParaRPr lang="en-US" dirty="0" smtClean="0"/>
          </a:p>
          <a:p>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8</a:t>
            </a:fld>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fontScale="90000"/>
          </a:bodyPr>
          <a:lstStyle/>
          <a:p>
            <a:r>
              <a:rPr lang="en-US" b="1" u="sng" dirty="0" smtClean="0">
                <a:solidFill>
                  <a:srgbClr val="0070C0"/>
                </a:solidFill>
              </a:rPr>
              <a:t>Sign-magnitude Representation</a:t>
            </a:r>
            <a:endParaRPr lang="en-US" b="1" dirty="0"/>
          </a:p>
        </p:txBody>
      </p:sp>
      <p:sp>
        <p:nvSpPr>
          <p:cNvPr id="3" name="Content Placeholder 2"/>
          <p:cNvSpPr>
            <a:spLocks noGrp="1"/>
          </p:cNvSpPr>
          <p:nvPr>
            <p:ph idx="1"/>
          </p:nvPr>
        </p:nvSpPr>
        <p:spPr>
          <a:xfrm>
            <a:off x="457200" y="1000108"/>
            <a:ext cx="8229600" cy="5429288"/>
          </a:xfrm>
        </p:spPr>
        <p:txBody>
          <a:bodyPr>
            <a:normAutofit fontScale="92500" lnSpcReduction="10000"/>
          </a:bodyPr>
          <a:lstStyle/>
          <a:p>
            <a:pPr algn="just"/>
            <a:r>
              <a:rPr lang="en-US" dirty="0" smtClean="0"/>
              <a:t>The sign-magnitude format for 8-bit signed number</a:t>
            </a:r>
          </a:p>
          <a:p>
            <a:pPr algn="just"/>
            <a:endParaRPr lang="en-US" dirty="0" smtClean="0"/>
          </a:p>
          <a:p>
            <a:pPr algn="just"/>
            <a:endParaRPr lang="en-US" dirty="0" smtClean="0"/>
          </a:p>
          <a:p>
            <a:pPr algn="just"/>
            <a:endParaRPr lang="en-US" dirty="0" smtClean="0"/>
          </a:p>
          <a:p>
            <a:pPr algn="just"/>
            <a:r>
              <a:rPr lang="en-US" dirty="0" smtClean="0"/>
              <a:t>Here, the most significant bit (MSB) represents sign of the number.</a:t>
            </a:r>
          </a:p>
          <a:p>
            <a:pPr algn="just"/>
            <a:r>
              <a:rPr lang="en-US" dirty="0" smtClean="0"/>
              <a:t>If MSB is 1, number is negative and if MSB is 0, number is positive.</a:t>
            </a:r>
          </a:p>
          <a:p>
            <a:pPr algn="just"/>
            <a:r>
              <a:rPr lang="en-US" dirty="0" smtClean="0"/>
              <a:t>The remaining (seven) bits represent magnitude of the number.</a:t>
            </a:r>
          </a:p>
          <a:p>
            <a:endParaRPr lang="en-US" dirty="0"/>
          </a:p>
        </p:txBody>
      </p:sp>
      <p:pic>
        <p:nvPicPr>
          <p:cNvPr id="2051" name="Picture 3"/>
          <p:cNvPicPr>
            <a:picLocks noChangeAspect="1" noChangeArrowheads="1"/>
          </p:cNvPicPr>
          <p:nvPr/>
        </p:nvPicPr>
        <p:blipFill>
          <a:blip r:embed="rId2" cstate="print"/>
          <a:srcRect/>
          <a:stretch>
            <a:fillRect/>
          </a:stretch>
        </p:blipFill>
        <p:spPr bwMode="auto">
          <a:xfrm>
            <a:off x="519142" y="1971674"/>
            <a:ext cx="8267700" cy="1314450"/>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4DEF83-8E89-4D94-8D5D-613AED6F19E4}" type="slidenum">
              <a:rPr lang="en-US" smtClean="0"/>
              <a:pPr/>
              <a:t>9</a:t>
            </a:fld>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39850"/>
          </a:xfrm>
        </p:spPr>
        <p:txBody>
          <a:bodyPr>
            <a:noAutofit/>
          </a:bodyPr>
          <a:lstStyle/>
          <a:p>
            <a:pPr algn="l"/>
            <a:r>
              <a:rPr lang="en-US" sz="3200" b="1" dirty="0" smtClean="0">
                <a:solidFill>
                  <a:srgbClr val="FF0000"/>
                </a:solidFill>
              </a:rPr>
              <a:t>Example: </a:t>
            </a:r>
            <a:r>
              <a:rPr lang="en-US" sz="3200" b="1" dirty="0" smtClean="0">
                <a:solidFill>
                  <a:srgbClr val="0070C0"/>
                </a:solidFill>
              </a:rPr>
              <a:t>Represent the following signed number in sign-magnitude form.</a:t>
            </a:r>
            <a:r>
              <a:rPr lang="en-US" sz="3200" dirty="0" smtClean="0">
                <a:solidFill>
                  <a:srgbClr val="0070C0"/>
                </a:solidFill>
              </a:rPr>
              <a:t/>
            </a:r>
            <a:br>
              <a:rPr lang="en-US" sz="3200" dirty="0" smtClean="0">
                <a:solidFill>
                  <a:srgbClr val="0070C0"/>
                </a:solidFill>
              </a:rPr>
            </a:br>
            <a:r>
              <a:rPr lang="en-US" sz="3200" dirty="0" smtClean="0"/>
              <a:t>(a) 25	(b) – 25		(c) 68	(d) - 68</a:t>
            </a:r>
            <a:endParaRPr lang="en-US" sz="3200" dirty="0"/>
          </a:p>
        </p:txBody>
      </p:sp>
      <p:pic>
        <p:nvPicPr>
          <p:cNvPr id="1027" name="Picture 3"/>
          <p:cNvPicPr>
            <a:picLocks noGrp="1" noChangeAspect="1" noChangeArrowheads="1"/>
          </p:cNvPicPr>
          <p:nvPr>
            <p:ph idx="1"/>
          </p:nvPr>
        </p:nvPicPr>
        <p:blipFill>
          <a:blip r:embed="rId2" cstate="print"/>
          <a:srcRect/>
          <a:stretch>
            <a:fillRect/>
          </a:stretch>
        </p:blipFill>
        <p:spPr bwMode="auto">
          <a:xfrm>
            <a:off x="1341846" y="1928802"/>
            <a:ext cx="6444864" cy="4287112"/>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10</a:t>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785794"/>
            <a:ext cx="8229600" cy="5786478"/>
          </a:xfrm>
        </p:spPr>
        <p:txBody>
          <a:bodyPr>
            <a:noAutofit/>
          </a:bodyPr>
          <a:lstStyle/>
          <a:p>
            <a:pPr algn="just">
              <a:buNone/>
            </a:pPr>
            <a:r>
              <a:rPr lang="en-US" sz="2800" dirty="0" smtClean="0">
                <a:solidFill>
                  <a:srgbClr val="FF0000"/>
                </a:solidFill>
                <a:cs typeface="Times New Roman" pitchFamily="18" charset="0"/>
              </a:rPr>
              <a:t>	NOTE: </a:t>
            </a:r>
            <a:r>
              <a:rPr lang="en-US" sz="2800" dirty="0" smtClean="0">
                <a:cs typeface="Times New Roman" pitchFamily="18" charset="0"/>
              </a:rPr>
              <a:t>The actual range of numbers we can represent in sign-magnitude format for n-bit  would be</a:t>
            </a:r>
          </a:p>
          <a:p>
            <a:pPr algn="just">
              <a:buNone/>
            </a:pPr>
            <a:r>
              <a:rPr lang="en-US" sz="2800" dirty="0" smtClean="0">
                <a:cs typeface="Times New Roman" pitchFamily="18" charset="0"/>
              </a:rPr>
              <a:t>				- (2</a:t>
            </a:r>
            <a:r>
              <a:rPr lang="en-US" sz="2800" baseline="30000" dirty="0" smtClean="0">
                <a:cs typeface="Times New Roman" pitchFamily="18" charset="0"/>
              </a:rPr>
              <a:t>n-1</a:t>
            </a:r>
            <a:r>
              <a:rPr lang="en-US" sz="2800" dirty="0" smtClean="0">
                <a:cs typeface="Times New Roman" pitchFamily="18" charset="0"/>
              </a:rPr>
              <a:t> - 1)  to  + (2</a:t>
            </a:r>
            <a:r>
              <a:rPr lang="en-US" sz="2800" baseline="30000" dirty="0" smtClean="0">
                <a:cs typeface="Times New Roman" pitchFamily="18" charset="0"/>
              </a:rPr>
              <a:t>n-1</a:t>
            </a:r>
            <a:r>
              <a:rPr lang="en-US" sz="2800" dirty="0" smtClean="0">
                <a:cs typeface="Times New Roman" pitchFamily="18" charset="0"/>
              </a:rPr>
              <a:t> - 1)</a:t>
            </a:r>
          </a:p>
          <a:p>
            <a:pPr algn="just">
              <a:buNone/>
            </a:pPr>
            <a:r>
              <a:rPr lang="en-US" sz="2800" b="1" dirty="0" smtClean="0">
                <a:solidFill>
                  <a:srgbClr val="0070C0"/>
                </a:solidFill>
              </a:rPr>
              <a:t>	Example: </a:t>
            </a:r>
          </a:p>
          <a:p>
            <a:pPr algn="just">
              <a:buNone/>
            </a:pPr>
            <a:r>
              <a:rPr lang="en-US" sz="2800" dirty="0" smtClean="0">
                <a:cs typeface="Times New Roman" pitchFamily="18" charset="0"/>
              </a:rPr>
              <a:t>	If we have </a:t>
            </a:r>
            <a:r>
              <a:rPr lang="en-US" sz="2800" b="1" dirty="0" smtClean="0">
                <a:solidFill>
                  <a:srgbClr val="C00000"/>
                </a:solidFill>
                <a:cs typeface="Times New Roman" pitchFamily="18" charset="0"/>
              </a:rPr>
              <a:t>8 bits </a:t>
            </a:r>
            <a:r>
              <a:rPr lang="en-US" sz="2800" dirty="0" smtClean="0">
                <a:cs typeface="Times New Roman" pitchFamily="18" charset="0"/>
              </a:rPr>
              <a:t>to represent a signed binary number, (1-bit for the </a:t>
            </a:r>
            <a:r>
              <a:rPr lang="en-US" sz="2800" b="1" dirty="0" smtClean="0">
                <a:cs typeface="Times New Roman" pitchFamily="18" charset="0"/>
              </a:rPr>
              <a:t>sign bit</a:t>
            </a:r>
            <a:r>
              <a:rPr lang="en-US" sz="2800" dirty="0" smtClean="0">
                <a:cs typeface="Times New Roman" pitchFamily="18" charset="0"/>
              </a:rPr>
              <a:t> and 7-bits for the </a:t>
            </a:r>
            <a:r>
              <a:rPr lang="en-US" sz="2800" b="1" dirty="0" smtClean="0">
                <a:cs typeface="Times New Roman" pitchFamily="18" charset="0"/>
              </a:rPr>
              <a:t>magnitude bits</a:t>
            </a:r>
            <a:r>
              <a:rPr lang="en-US" sz="2800" dirty="0" smtClean="0">
                <a:cs typeface="Times New Roman" pitchFamily="18" charset="0"/>
              </a:rPr>
              <a:t>), then the actual range of numbers we can represent in sign-magnitude format would be:</a:t>
            </a:r>
          </a:p>
          <a:p>
            <a:pPr>
              <a:buNone/>
            </a:pPr>
            <a:r>
              <a:rPr lang="en-US" sz="2800" dirty="0" smtClean="0"/>
              <a:t>			- (2</a:t>
            </a:r>
            <a:r>
              <a:rPr lang="en-US" sz="2800" baseline="30000" dirty="0" smtClean="0"/>
              <a:t>8-1</a:t>
            </a:r>
            <a:r>
              <a:rPr lang="en-US" sz="2800" dirty="0" smtClean="0"/>
              <a:t> – 1)  to  + (2</a:t>
            </a:r>
            <a:r>
              <a:rPr lang="en-US" sz="2800" baseline="30000" dirty="0" smtClean="0"/>
              <a:t>8-1</a:t>
            </a:r>
            <a:r>
              <a:rPr lang="en-US" sz="2800" dirty="0" smtClean="0"/>
              <a:t> – 1)</a:t>
            </a:r>
          </a:p>
          <a:p>
            <a:pPr>
              <a:buNone/>
            </a:pPr>
            <a:r>
              <a:rPr lang="en-US" sz="2800" dirty="0" smtClean="0"/>
              <a:t>			  - (2</a:t>
            </a:r>
            <a:r>
              <a:rPr lang="en-US" sz="2800" baseline="30000" dirty="0" smtClean="0"/>
              <a:t>7</a:t>
            </a:r>
            <a:r>
              <a:rPr lang="en-US" sz="2800" dirty="0" smtClean="0"/>
              <a:t> - 1)   to   + (2</a:t>
            </a:r>
            <a:r>
              <a:rPr lang="en-US" sz="2800" baseline="30000" dirty="0" smtClean="0"/>
              <a:t>7</a:t>
            </a:r>
            <a:r>
              <a:rPr lang="en-US" sz="2800" dirty="0" smtClean="0"/>
              <a:t> – 1)</a:t>
            </a:r>
          </a:p>
          <a:p>
            <a:pPr>
              <a:buNone/>
            </a:pPr>
            <a:r>
              <a:rPr lang="en-US" sz="2800" dirty="0" smtClean="0"/>
              <a:t>			      - 127    to    + 127</a:t>
            </a:r>
          </a:p>
        </p:txBody>
      </p:sp>
      <p:sp>
        <p:nvSpPr>
          <p:cNvPr id="4" name="Slide Number Placeholder 3"/>
          <p:cNvSpPr>
            <a:spLocks noGrp="1"/>
          </p:cNvSpPr>
          <p:nvPr>
            <p:ph type="sldNum" sz="quarter" idx="12"/>
          </p:nvPr>
        </p:nvSpPr>
        <p:spPr/>
        <p:txBody>
          <a:bodyPr/>
          <a:lstStyle/>
          <a:p>
            <a:fld id="{8A4DEF83-8E89-4D94-8D5D-613AED6F19E4}" type="slidenum">
              <a:rPr lang="en-US" smtClean="0"/>
              <a:pPr/>
              <a:t>11</a:t>
            </a:fld>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0070C0"/>
                </a:solidFill>
              </a:rPr>
              <a:t>1's complement Representation</a:t>
            </a:r>
            <a:endParaRPr lang="en-US" b="1" dirty="0"/>
          </a:p>
        </p:txBody>
      </p:sp>
      <p:sp>
        <p:nvSpPr>
          <p:cNvPr id="3" name="Content Placeholder 2"/>
          <p:cNvSpPr>
            <a:spLocks noGrp="1"/>
          </p:cNvSpPr>
          <p:nvPr>
            <p:ph idx="1"/>
          </p:nvPr>
        </p:nvSpPr>
        <p:spPr/>
        <p:txBody>
          <a:bodyPr/>
          <a:lstStyle/>
          <a:p>
            <a:pPr algn="just"/>
            <a:r>
              <a:rPr lang="en-US" dirty="0" smtClean="0"/>
              <a:t>If the number is positive, the magnitude is represented in its true binary form and a sign bit 0 is placed in front of the MSB.</a:t>
            </a:r>
          </a:p>
          <a:p>
            <a:pPr algn="just"/>
            <a:endParaRPr lang="en-US" dirty="0" smtClean="0"/>
          </a:p>
          <a:p>
            <a:pPr algn="just"/>
            <a:r>
              <a:rPr lang="en-US" dirty="0" smtClean="0"/>
              <a:t>If the number is negative, the magnitude is represented in its 1’s complement form and a sign bit 1 is placed in front of the MSB.</a:t>
            </a: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12</a:t>
            </a:fld>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82726"/>
          </a:xfrm>
        </p:spPr>
        <p:txBody>
          <a:bodyPr>
            <a:noAutofit/>
          </a:bodyPr>
          <a:lstStyle/>
          <a:p>
            <a:pPr algn="l"/>
            <a:r>
              <a:rPr lang="en-US" sz="3200" b="1" dirty="0" smtClean="0">
                <a:solidFill>
                  <a:srgbClr val="FF0000"/>
                </a:solidFill>
              </a:rPr>
              <a:t>Example: </a:t>
            </a:r>
            <a:r>
              <a:rPr lang="en-US" sz="3200" b="1" dirty="0" smtClean="0">
                <a:solidFill>
                  <a:srgbClr val="0070C0"/>
                </a:solidFill>
              </a:rPr>
              <a:t>Represent the following signed number in 1’s complement form.</a:t>
            </a:r>
            <a:r>
              <a:rPr lang="en-US" sz="3200" dirty="0" smtClean="0">
                <a:solidFill>
                  <a:srgbClr val="0070C0"/>
                </a:solidFill>
              </a:rPr>
              <a:t/>
            </a:r>
            <a:br>
              <a:rPr lang="en-US" sz="3200" dirty="0" smtClean="0">
                <a:solidFill>
                  <a:srgbClr val="0070C0"/>
                </a:solidFill>
              </a:rPr>
            </a:br>
            <a:r>
              <a:rPr lang="en-US" sz="3200" dirty="0" smtClean="0"/>
              <a:t>(a) 25	(b) - 25		(c) 68	(d) - 68</a:t>
            </a:r>
            <a:endParaRPr lang="en-US" sz="3200" dirty="0"/>
          </a:p>
        </p:txBody>
      </p:sp>
      <p:pic>
        <p:nvPicPr>
          <p:cNvPr id="1026" name="Picture 2"/>
          <p:cNvPicPr>
            <a:picLocks noChangeAspect="1" noChangeArrowheads="1"/>
          </p:cNvPicPr>
          <p:nvPr/>
        </p:nvPicPr>
        <p:blipFill>
          <a:blip r:embed="rId2" cstate="print"/>
          <a:srcRect/>
          <a:stretch>
            <a:fillRect/>
          </a:stretch>
        </p:blipFill>
        <p:spPr bwMode="auto">
          <a:xfrm>
            <a:off x="1285852" y="2005013"/>
            <a:ext cx="6572296" cy="4347603"/>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13</a:t>
            </a:fld>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solidFill>
                  <a:srgbClr val="0070C0"/>
                </a:solidFill>
              </a:rPr>
              <a:t>2's complement Representation</a:t>
            </a:r>
            <a:endParaRPr lang="en-US" b="1" dirty="0"/>
          </a:p>
        </p:txBody>
      </p:sp>
      <p:sp>
        <p:nvSpPr>
          <p:cNvPr id="3" name="Content Placeholder 2"/>
          <p:cNvSpPr>
            <a:spLocks noGrp="1"/>
          </p:cNvSpPr>
          <p:nvPr>
            <p:ph idx="1"/>
          </p:nvPr>
        </p:nvSpPr>
        <p:spPr/>
        <p:txBody>
          <a:bodyPr/>
          <a:lstStyle/>
          <a:p>
            <a:pPr algn="just"/>
            <a:r>
              <a:rPr lang="en-US" dirty="0" smtClean="0"/>
              <a:t>If the number is positive, the magnitude is represented in its true binary form and a sign bit 0 is placed in front of the MSB.</a:t>
            </a:r>
          </a:p>
          <a:p>
            <a:pPr algn="just"/>
            <a:endParaRPr lang="en-US" dirty="0" smtClean="0"/>
          </a:p>
          <a:p>
            <a:pPr algn="just"/>
            <a:r>
              <a:rPr lang="en-US" dirty="0" smtClean="0"/>
              <a:t>If the number is negative, the magnitude is represented in its 2’s complement form and a sign bit 1 is placed in front of the MSB.</a:t>
            </a: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14</a:t>
            </a:fld>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457200" y="274638"/>
            <a:ext cx="8229600" cy="1511288"/>
          </a:xfrm>
        </p:spPr>
        <p:txBody>
          <a:bodyPr>
            <a:noAutofit/>
          </a:bodyPr>
          <a:lstStyle/>
          <a:p>
            <a:pPr algn="l"/>
            <a:r>
              <a:rPr lang="en-US" sz="3200" b="1" dirty="0" smtClean="0">
                <a:solidFill>
                  <a:srgbClr val="FF0000"/>
                </a:solidFill>
              </a:rPr>
              <a:t>Example: </a:t>
            </a:r>
            <a:r>
              <a:rPr lang="en-US" sz="3200" b="1" dirty="0" smtClean="0">
                <a:solidFill>
                  <a:srgbClr val="0070C0"/>
                </a:solidFill>
              </a:rPr>
              <a:t>Represent the following signed number in 2’s complement form.</a:t>
            </a:r>
            <a:r>
              <a:rPr lang="en-US" sz="3200" dirty="0" smtClean="0">
                <a:solidFill>
                  <a:srgbClr val="0070C0"/>
                </a:solidFill>
              </a:rPr>
              <a:t/>
            </a:r>
            <a:br>
              <a:rPr lang="en-US" sz="3200" dirty="0" smtClean="0">
                <a:solidFill>
                  <a:srgbClr val="0070C0"/>
                </a:solidFill>
              </a:rPr>
            </a:br>
            <a:r>
              <a:rPr lang="en-US" sz="3200" dirty="0" smtClean="0"/>
              <a:t>(a) 25	(b) - 25		(c) 68	(d) - 68</a:t>
            </a:r>
            <a:endParaRPr lang="en-US" sz="3200" dirty="0"/>
          </a:p>
        </p:txBody>
      </p:sp>
      <p:pic>
        <p:nvPicPr>
          <p:cNvPr id="2050" name="Picture 2"/>
          <p:cNvPicPr>
            <a:picLocks noChangeAspect="1" noChangeArrowheads="1"/>
          </p:cNvPicPr>
          <p:nvPr/>
        </p:nvPicPr>
        <p:blipFill>
          <a:blip r:embed="rId2" cstate="print"/>
          <a:srcRect/>
          <a:stretch>
            <a:fillRect/>
          </a:stretch>
        </p:blipFill>
        <p:spPr bwMode="auto">
          <a:xfrm>
            <a:off x="1357290" y="2000240"/>
            <a:ext cx="6500858" cy="4377536"/>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15</a:t>
            </a:fld>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57166"/>
            <a:ext cx="8229600" cy="5768997"/>
          </a:xfrm>
        </p:spPr>
        <p:txBody>
          <a:bodyPr/>
          <a:lstStyle/>
          <a:p>
            <a:pPr algn="just">
              <a:buNone/>
            </a:pPr>
            <a:r>
              <a:rPr lang="en-US" dirty="0" smtClean="0"/>
              <a:t>	</a:t>
            </a:r>
            <a:r>
              <a:rPr lang="en-US" sz="2800" dirty="0" smtClean="0">
                <a:solidFill>
                  <a:srgbClr val="FF0000"/>
                </a:solidFill>
              </a:rPr>
              <a:t>Example: </a:t>
            </a:r>
            <a:r>
              <a:rPr lang="en-US" sz="2800" dirty="0" smtClean="0"/>
              <a:t>Each of the following numbers is a signed binary number. Determine the decimal value in each case, if they are in (</a:t>
            </a:r>
            <a:r>
              <a:rPr lang="en-US" sz="2800" dirty="0" err="1" smtClean="0"/>
              <a:t>i</a:t>
            </a:r>
            <a:r>
              <a:rPr lang="en-US" sz="2800" dirty="0" smtClean="0"/>
              <a:t>) sign-magnitude form, (ii) 2's complement form, and (iii) 1's complement form.</a:t>
            </a:r>
          </a:p>
          <a:p>
            <a:pPr algn="just">
              <a:buNone/>
            </a:pPr>
            <a:r>
              <a:rPr lang="en-US" sz="2800" dirty="0" smtClean="0"/>
              <a:t>	(a) 01101	(b) 010111	(c) 10111	(d) 1101010</a:t>
            </a:r>
          </a:p>
          <a:p>
            <a:pPr algn="just">
              <a:buNone/>
            </a:pPr>
            <a:r>
              <a:rPr lang="en-US" sz="2800" dirty="0" smtClean="0"/>
              <a:t>	</a:t>
            </a:r>
            <a:r>
              <a:rPr lang="en-US" sz="2800" i="1" u="sng" dirty="0" smtClean="0">
                <a:solidFill>
                  <a:srgbClr val="0070C0"/>
                </a:solidFill>
              </a:rPr>
              <a:t>Solution:</a:t>
            </a:r>
          </a:p>
          <a:p>
            <a:pPr algn="just"/>
            <a:endParaRPr lang="en-US" sz="2800" dirty="0"/>
          </a:p>
        </p:txBody>
      </p:sp>
      <p:pic>
        <p:nvPicPr>
          <p:cNvPr id="5122" name="Picture 2"/>
          <p:cNvPicPr>
            <a:picLocks noChangeAspect="1" noChangeArrowheads="1"/>
          </p:cNvPicPr>
          <p:nvPr/>
        </p:nvPicPr>
        <p:blipFill>
          <a:blip r:embed="rId2" cstate="print"/>
          <a:srcRect/>
          <a:stretch>
            <a:fillRect/>
          </a:stretch>
        </p:blipFill>
        <p:spPr bwMode="auto">
          <a:xfrm>
            <a:off x="823922" y="3214686"/>
            <a:ext cx="7677168" cy="285752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16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5122"/>
                                        </p:tgtEl>
                                        <p:attrNameLst>
                                          <p:attrName>style.visibility</p:attrName>
                                        </p:attrNameLst>
                                      </p:cBhvr>
                                      <p:to>
                                        <p:strVal val="visible"/>
                                      </p:to>
                                    </p:set>
                                    <p:anim calcmode="lin" valueType="num">
                                      <p:cBhvr additive="base">
                                        <p:cTn id="21" dur="500" fill="hold"/>
                                        <p:tgtEl>
                                          <p:spTgt spid="5122"/>
                                        </p:tgtEl>
                                        <p:attrNameLst>
                                          <p:attrName>ppt_x</p:attrName>
                                        </p:attrNameLst>
                                      </p:cBhvr>
                                      <p:tavLst>
                                        <p:tav tm="0">
                                          <p:val>
                                            <p:strVal val="#ppt_x"/>
                                          </p:val>
                                        </p:tav>
                                        <p:tav tm="100000">
                                          <p:val>
                                            <p:strVal val="#ppt_x"/>
                                          </p:val>
                                        </p:tav>
                                      </p:tavLst>
                                    </p:anim>
                                    <p:anim calcmode="lin" valueType="num">
                                      <p:cBhvr additive="base">
                                        <p:cTn id="22"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571744"/>
            <a:ext cx="7772400" cy="1470025"/>
          </a:xfrm>
        </p:spPr>
        <p:txBody>
          <a:bodyPr>
            <a:normAutofit/>
          </a:bodyPr>
          <a:lstStyle/>
          <a:p>
            <a:r>
              <a:rPr lang="en-IN" sz="6000" b="1" dirty="0" smtClean="0">
                <a:solidFill>
                  <a:srgbClr val="00B050"/>
                </a:solidFill>
              </a:rPr>
              <a:t>Binary Arithmetic's</a:t>
            </a:r>
            <a:endParaRPr lang="en-US" sz="6000" dirty="0"/>
          </a:p>
        </p:txBody>
      </p:sp>
      <p:sp>
        <p:nvSpPr>
          <p:cNvPr id="3" name="Slide Number Placeholder 2"/>
          <p:cNvSpPr>
            <a:spLocks noGrp="1"/>
          </p:cNvSpPr>
          <p:nvPr>
            <p:ph type="sldNum" sz="quarter" idx="12"/>
          </p:nvPr>
        </p:nvSpPr>
        <p:spPr/>
        <p:txBody>
          <a:bodyPr/>
          <a:lstStyle/>
          <a:p>
            <a:fld id="{8A4DEF83-8E89-4D94-8D5D-613AED6F19E4}" type="slidenum">
              <a:rPr lang="en-US" smtClean="0"/>
              <a:pPr/>
              <a:t>17</a:t>
            </a:fld>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1. Binary Addition</a:t>
            </a:r>
            <a:endParaRPr lang="en-US" b="1" dirty="0">
              <a:solidFill>
                <a:srgbClr val="00B050"/>
              </a:solidFill>
            </a:endParaRPr>
          </a:p>
        </p:txBody>
      </p:sp>
      <p:sp>
        <p:nvSpPr>
          <p:cNvPr id="3" name="Content Placeholder 2"/>
          <p:cNvSpPr>
            <a:spLocks noGrp="1"/>
          </p:cNvSpPr>
          <p:nvPr>
            <p:ph idx="1"/>
          </p:nvPr>
        </p:nvSpPr>
        <p:spPr/>
        <p:txBody>
          <a:bodyPr>
            <a:normAutofit/>
          </a:bodyPr>
          <a:lstStyle/>
          <a:p>
            <a:pPr>
              <a:buNone/>
            </a:pPr>
            <a:r>
              <a:rPr lang="en-US" dirty="0" smtClean="0"/>
              <a:t>	The rules of binary addition are the following:</a:t>
            </a:r>
          </a:p>
          <a:p>
            <a:pPr lvl="1">
              <a:buNone/>
            </a:pPr>
            <a:r>
              <a:rPr lang="en-US" sz="3200" dirty="0" smtClean="0"/>
              <a:t>	</a:t>
            </a:r>
          </a:p>
          <a:p>
            <a:pPr lvl="1">
              <a:buNone/>
            </a:pPr>
            <a:r>
              <a:rPr lang="en-US" sz="3200" dirty="0" smtClean="0"/>
              <a:t>			0 + 0 = 0</a:t>
            </a:r>
          </a:p>
          <a:p>
            <a:pPr lvl="1">
              <a:buNone/>
            </a:pPr>
            <a:r>
              <a:rPr lang="en-US" sz="3200" dirty="0" smtClean="0"/>
              <a:t>			0 + 1 = 1</a:t>
            </a:r>
          </a:p>
          <a:p>
            <a:pPr lvl="1">
              <a:buNone/>
            </a:pPr>
            <a:r>
              <a:rPr lang="en-US" sz="3200" dirty="0" smtClean="0"/>
              <a:t>			1 + 0 = 1</a:t>
            </a:r>
          </a:p>
          <a:p>
            <a:pPr lvl="1">
              <a:buNone/>
            </a:pPr>
            <a:r>
              <a:rPr lang="en-US" sz="3200" dirty="0" smtClean="0"/>
              <a:t>			1 + 1 = 10, i.e. 0 with a carry of 1</a:t>
            </a:r>
          </a:p>
        </p:txBody>
      </p:sp>
      <p:sp>
        <p:nvSpPr>
          <p:cNvPr id="4" name="Slide Number Placeholder 3"/>
          <p:cNvSpPr>
            <a:spLocks noGrp="1"/>
          </p:cNvSpPr>
          <p:nvPr>
            <p:ph type="sldNum" sz="quarter" idx="12"/>
          </p:nvPr>
        </p:nvSpPr>
        <p:spPr/>
        <p:txBody>
          <a:bodyPr/>
          <a:lstStyle/>
          <a:p>
            <a:fld id="{8A4DEF83-8E89-4D94-8D5D-613AED6F19E4}" type="slidenum">
              <a:rPr lang="en-US" smtClean="0"/>
              <a:pPr/>
              <a:t>18</a:t>
            </a:fld>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smtClean="0">
                <a:solidFill>
                  <a:srgbClr val="C00000"/>
                </a:solidFill>
              </a:rPr>
              <a:t>Example: </a:t>
            </a:r>
            <a:r>
              <a:rPr lang="en-US" b="1" dirty="0" smtClean="0">
                <a:solidFill>
                  <a:srgbClr val="002060"/>
                </a:solidFill>
              </a:rPr>
              <a:t>Add the binary numbers 1101.101 and 111.011</a:t>
            </a:r>
            <a:endParaRPr lang="en-US" b="1" dirty="0">
              <a:solidFill>
                <a:srgbClr val="002060"/>
              </a:solidFill>
            </a:endParaRPr>
          </a:p>
        </p:txBody>
      </p:sp>
      <p:sp>
        <p:nvSpPr>
          <p:cNvPr id="3" name="Content Placeholder 2"/>
          <p:cNvSpPr>
            <a:spLocks noGrp="1"/>
          </p:cNvSpPr>
          <p:nvPr>
            <p:ph idx="1"/>
          </p:nvPr>
        </p:nvSpPr>
        <p:spPr/>
        <p:txBody>
          <a:bodyPr/>
          <a:lstStyle/>
          <a:p>
            <a:pPr>
              <a:buNone/>
            </a:pPr>
            <a:r>
              <a:rPr lang="en-US" b="1" u="sng" dirty="0" smtClean="0">
                <a:solidFill>
                  <a:srgbClr val="00B050"/>
                </a:solidFill>
              </a:rPr>
              <a:t>Solution </a:t>
            </a:r>
          </a:p>
          <a:p>
            <a:endParaRPr lang="en-US" dirty="0" smtClean="0"/>
          </a:p>
          <a:p>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1928794" y="2333627"/>
            <a:ext cx="5678731" cy="3381389"/>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4DEF83-8E89-4D94-8D5D-613AED6F19E4}" type="slidenum">
              <a:rPr lang="en-US" smtClean="0"/>
              <a:pPr/>
              <a:t>19</a:t>
            </a:fld>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2. Binary Subtraction</a:t>
            </a:r>
            <a:endParaRPr lang="en-US" b="1" dirty="0">
              <a:solidFill>
                <a:srgbClr val="00B050"/>
              </a:solidFill>
            </a:endParaRPr>
          </a:p>
        </p:txBody>
      </p:sp>
      <p:sp>
        <p:nvSpPr>
          <p:cNvPr id="3" name="Content Placeholder 2"/>
          <p:cNvSpPr>
            <a:spLocks noGrp="1"/>
          </p:cNvSpPr>
          <p:nvPr>
            <p:ph idx="1"/>
          </p:nvPr>
        </p:nvSpPr>
        <p:spPr/>
        <p:txBody>
          <a:bodyPr>
            <a:normAutofit/>
          </a:bodyPr>
          <a:lstStyle/>
          <a:p>
            <a:pPr>
              <a:buNone/>
            </a:pPr>
            <a:r>
              <a:rPr lang="en-US" dirty="0" smtClean="0"/>
              <a:t>	The rules of binary subtraction are the following:</a:t>
            </a:r>
          </a:p>
          <a:p>
            <a:pPr lvl="1">
              <a:buNone/>
            </a:pPr>
            <a:r>
              <a:rPr lang="en-US" sz="3200" dirty="0" smtClean="0"/>
              <a:t>			0 - 0 = 0</a:t>
            </a:r>
          </a:p>
          <a:p>
            <a:pPr lvl="1">
              <a:buNone/>
            </a:pPr>
            <a:r>
              <a:rPr lang="en-US" sz="3200" dirty="0" smtClean="0"/>
              <a:t>			0 - 1 = 1, with a borrow of 1</a:t>
            </a:r>
          </a:p>
          <a:p>
            <a:pPr lvl="1">
              <a:buNone/>
            </a:pPr>
            <a:r>
              <a:rPr lang="en-US" sz="3200" dirty="0" smtClean="0"/>
              <a:t>			1 - 0 = 1</a:t>
            </a:r>
          </a:p>
          <a:p>
            <a:pPr lvl="1">
              <a:buNone/>
            </a:pPr>
            <a:r>
              <a:rPr lang="en-US" sz="3200" dirty="0" smtClean="0"/>
              <a:t>			1 - 1 = 0</a:t>
            </a:r>
          </a:p>
        </p:txBody>
      </p:sp>
      <p:sp>
        <p:nvSpPr>
          <p:cNvPr id="4" name="Slide Number Placeholder 3"/>
          <p:cNvSpPr>
            <a:spLocks noGrp="1"/>
          </p:cNvSpPr>
          <p:nvPr>
            <p:ph type="sldNum" sz="quarter" idx="12"/>
          </p:nvPr>
        </p:nvSpPr>
        <p:spPr/>
        <p:txBody>
          <a:bodyPr/>
          <a:lstStyle/>
          <a:p>
            <a:fld id="{8A4DEF83-8E89-4D94-8D5D-613AED6F19E4}" type="slidenum">
              <a:rPr lang="en-US" smtClean="0"/>
              <a:pPr/>
              <a:t>20</a:t>
            </a:fld>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smtClean="0">
                <a:solidFill>
                  <a:srgbClr val="C00000"/>
                </a:solidFill>
              </a:rPr>
              <a:t>Example: </a:t>
            </a:r>
            <a:r>
              <a:rPr lang="en-US" b="1" dirty="0" smtClean="0">
                <a:solidFill>
                  <a:srgbClr val="002060"/>
                </a:solidFill>
              </a:rPr>
              <a:t>Subtract the binary number 101 from 1011</a:t>
            </a:r>
            <a:endParaRPr lang="en-US" b="1" dirty="0">
              <a:solidFill>
                <a:srgbClr val="002060"/>
              </a:solidFill>
            </a:endParaRPr>
          </a:p>
        </p:txBody>
      </p:sp>
      <p:sp>
        <p:nvSpPr>
          <p:cNvPr id="3" name="Content Placeholder 2"/>
          <p:cNvSpPr>
            <a:spLocks noGrp="1"/>
          </p:cNvSpPr>
          <p:nvPr>
            <p:ph idx="1"/>
          </p:nvPr>
        </p:nvSpPr>
        <p:spPr/>
        <p:txBody>
          <a:bodyPr/>
          <a:lstStyle/>
          <a:p>
            <a:pPr>
              <a:buNone/>
            </a:pPr>
            <a:r>
              <a:rPr lang="en-US" b="1" u="sng" dirty="0" smtClean="0">
                <a:solidFill>
                  <a:srgbClr val="00B050"/>
                </a:solidFill>
              </a:rPr>
              <a:t>Solution </a:t>
            </a:r>
          </a:p>
          <a:p>
            <a:endParaRPr lang="en-US" dirty="0" smtClean="0"/>
          </a:p>
          <a:p>
            <a:endParaRPr lang="en-US" dirty="0"/>
          </a:p>
        </p:txBody>
      </p:sp>
      <p:pic>
        <p:nvPicPr>
          <p:cNvPr id="1029" name="Picture 5" descr="F:\SUB.PNG"/>
          <p:cNvPicPr>
            <a:picLocks noChangeAspect="1" noChangeArrowheads="1"/>
          </p:cNvPicPr>
          <p:nvPr/>
        </p:nvPicPr>
        <p:blipFill>
          <a:blip r:embed="rId2" cstate="print"/>
          <a:srcRect/>
          <a:stretch>
            <a:fillRect/>
          </a:stretch>
        </p:blipFill>
        <p:spPr bwMode="auto">
          <a:xfrm>
            <a:off x="2071670" y="2571744"/>
            <a:ext cx="4214842" cy="2947096"/>
          </a:xfrm>
          <a:prstGeom prst="rect">
            <a:avLst/>
          </a:prstGeom>
          <a:noFill/>
        </p:spPr>
      </p:pic>
      <p:sp>
        <p:nvSpPr>
          <p:cNvPr id="5" name="Slide Number Placeholder 4"/>
          <p:cNvSpPr>
            <a:spLocks noGrp="1"/>
          </p:cNvSpPr>
          <p:nvPr>
            <p:ph type="sldNum" sz="quarter" idx="12"/>
          </p:nvPr>
        </p:nvSpPr>
        <p:spPr/>
        <p:txBody>
          <a:bodyPr/>
          <a:lstStyle/>
          <a:p>
            <a:fld id="{8A4DEF83-8E89-4D94-8D5D-613AED6F19E4}" type="slidenum">
              <a:rPr lang="en-US" smtClean="0"/>
              <a:pPr/>
              <a:t>21</a:t>
            </a:fld>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3. Binary Multiplication</a:t>
            </a:r>
            <a:endParaRPr lang="en-US" b="1" dirty="0">
              <a:solidFill>
                <a:srgbClr val="00B050"/>
              </a:solidFill>
            </a:endParaRPr>
          </a:p>
        </p:txBody>
      </p:sp>
      <p:sp>
        <p:nvSpPr>
          <p:cNvPr id="3" name="Content Placeholder 2"/>
          <p:cNvSpPr>
            <a:spLocks noGrp="1"/>
          </p:cNvSpPr>
          <p:nvPr>
            <p:ph idx="1"/>
          </p:nvPr>
        </p:nvSpPr>
        <p:spPr/>
        <p:txBody>
          <a:bodyPr>
            <a:normAutofit/>
          </a:bodyPr>
          <a:lstStyle/>
          <a:p>
            <a:pPr>
              <a:buNone/>
            </a:pPr>
            <a:r>
              <a:rPr lang="en-US" dirty="0" smtClean="0"/>
              <a:t>	The rules of binary multiplication are the following:</a:t>
            </a:r>
          </a:p>
          <a:p>
            <a:pPr lvl="1">
              <a:buNone/>
            </a:pPr>
            <a:r>
              <a:rPr lang="en-US" sz="3200" dirty="0" smtClean="0"/>
              <a:t>			0 × 0 = 0</a:t>
            </a:r>
          </a:p>
          <a:p>
            <a:pPr lvl="1">
              <a:buNone/>
            </a:pPr>
            <a:r>
              <a:rPr lang="en-US" sz="3200" dirty="0" smtClean="0"/>
              <a:t>			0 × 1 = 0</a:t>
            </a:r>
          </a:p>
          <a:p>
            <a:pPr lvl="1">
              <a:buNone/>
            </a:pPr>
            <a:r>
              <a:rPr lang="en-US" sz="3200" dirty="0" smtClean="0"/>
              <a:t>			1 × 0 = 0</a:t>
            </a:r>
          </a:p>
          <a:p>
            <a:pPr lvl="1">
              <a:buNone/>
            </a:pPr>
            <a:r>
              <a:rPr lang="en-US" sz="3200" dirty="0" smtClean="0"/>
              <a:t>			1 × 1 = 1</a:t>
            </a:r>
          </a:p>
        </p:txBody>
      </p:sp>
      <p:sp>
        <p:nvSpPr>
          <p:cNvPr id="4" name="Slide Number Placeholder 3"/>
          <p:cNvSpPr>
            <a:spLocks noGrp="1"/>
          </p:cNvSpPr>
          <p:nvPr>
            <p:ph type="sldNum" sz="quarter" idx="12"/>
          </p:nvPr>
        </p:nvSpPr>
        <p:spPr/>
        <p:txBody>
          <a:bodyPr/>
          <a:lstStyle/>
          <a:p>
            <a:fld id="{8A4DEF83-8E89-4D94-8D5D-613AED6F19E4}" type="slidenum">
              <a:rPr lang="en-US" smtClean="0"/>
              <a:pPr/>
              <a:t>22</a:t>
            </a:fld>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just"/>
            <a:r>
              <a:rPr lang="en-US" b="1" dirty="0" smtClean="0">
                <a:solidFill>
                  <a:srgbClr val="C00000"/>
                </a:solidFill>
              </a:rPr>
              <a:t>Example: </a:t>
            </a:r>
            <a:r>
              <a:rPr lang="en-US" b="1" dirty="0" smtClean="0">
                <a:solidFill>
                  <a:srgbClr val="002060"/>
                </a:solidFill>
              </a:rPr>
              <a:t>Multiply the binary number 1101 by 110</a:t>
            </a:r>
            <a:endParaRPr lang="en-US" b="1" dirty="0">
              <a:solidFill>
                <a:srgbClr val="002060"/>
              </a:solidFill>
            </a:endParaRPr>
          </a:p>
        </p:txBody>
      </p:sp>
      <p:sp>
        <p:nvSpPr>
          <p:cNvPr id="3" name="Content Placeholder 2"/>
          <p:cNvSpPr>
            <a:spLocks noGrp="1"/>
          </p:cNvSpPr>
          <p:nvPr>
            <p:ph idx="1"/>
          </p:nvPr>
        </p:nvSpPr>
        <p:spPr/>
        <p:txBody>
          <a:bodyPr/>
          <a:lstStyle/>
          <a:p>
            <a:pPr>
              <a:buNone/>
            </a:pPr>
            <a:r>
              <a:rPr lang="en-US" b="1" u="sng" dirty="0" smtClean="0">
                <a:solidFill>
                  <a:srgbClr val="00B050"/>
                </a:solidFill>
              </a:rPr>
              <a:t>Solution </a:t>
            </a:r>
          </a:p>
          <a:p>
            <a:endParaRPr lang="en-US" dirty="0" smtClean="0"/>
          </a:p>
          <a:p>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143240" y="2000240"/>
            <a:ext cx="3071834" cy="4062749"/>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4DEF83-8E89-4D94-8D5D-613AED6F19E4}" type="slidenum">
              <a:rPr lang="en-US" smtClean="0"/>
              <a:pPr/>
              <a:t>23</a:t>
            </a:fld>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4. Binary Division</a:t>
            </a:r>
            <a:endParaRPr lang="en-US" b="1" dirty="0">
              <a:solidFill>
                <a:srgbClr val="00B050"/>
              </a:solidFill>
            </a:endParaRPr>
          </a:p>
        </p:txBody>
      </p:sp>
      <p:sp>
        <p:nvSpPr>
          <p:cNvPr id="3" name="Content Placeholder 2"/>
          <p:cNvSpPr>
            <a:spLocks noGrp="1"/>
          </p:cNvSpPr>
          <p:nvPr>
            <p:ph idx="1"/>
          </p:nvPr>
        </p:nvSpPr>
        <p:spPr>
          <a:xfrm>
            <a:off x="457200" y="1285860"/>
            <a:ext cx="8229600" cy="4929222"/>
          </a:xfrm>
        </p:spPr>
        <p:txBody>
          <a:bodyPr>
            <a:normAutofit/>
          </a:bodyPr>
          <a:lstStyle/>
          <a:p>
            <a:pPr>
              <a:buNone/>
            </a:pPr>
            <a:r>
              <a:rPr lang="en-US" b="1" dirty="0" smtClean="0">
                <a:solidFill>
                  <a:srgbClr val="C00000"/>
                </a:solidFill>
              </a:rPr>
              <a:t>	Example: </a:t>
            </a:r>
            <a:r>
              <a:rPr lang="en-US" b="1" dirty="0" smtClean="0">
                <a:solidFill>
                  <a:srgbClr val="002060"/>
                </a:solidFill>
              </a:rPr>
              <a:t>Divide the binary number 11010 by 101</a:t>
            </a:r>
          </a:p>
          <a:p>
            <a:pPr>
              <a:buNone/>
            </a:pPr>
            <a:r>
              <a:rPr lang="en-US" b="1" dirty="0" smtClean="0">
                <a:solidFill>
                  <a:srgbClr val="00B050"/>
                </a:solidFill>
              </a:rPr>
              <a:t>	</a:t>
            </a:r>
            <a:r>
              <a:rPr lang="en-US" u="sng" dirty="0" smtClean="0">
                <a:solidFill>
                  <a:srgbClr val="00B050"/>
                </a:solidFill>
              </a:rPr>
              <a:t>Solution</a:t>
            </a:r>
            <a:endParaRPr lang="en-US" sz="3200" dirty="0" smtClean="0"/>
          </a:p>
        </p:txBody>
      </p:sp>
      <p:pic>
        <p:nvPicPr>
          <p:cNvPr id="3074" name="Picture 2" descr="F:\DIV.PNG"/>
          <p:cNvPicPr>
            <a:picLocks noChangeAspect="1" noChangeArrowheads="1"/>
          </p:cNvPicPr>
          <p:nvPr/>
        </p:nvPicPr>
        <p:blipFill>
          <a:blip r:embed="rId2" cstate="print"/>
          <a:srcRect/>
          <a:stretch>
            <a:fillRect/>
          </a:stretch>
        </p:blipFill>
        <p:spPr bwMode="auto">
          <a:xfrm>
            <a:off x="2428860" y="2428868"/>
            <a:ext cx="5840413" cy="3752850"/>
          </a:xfrm>
          <a:prstGeom prst="rect">
            <a:avLst/>
          </a:prstGeom>
          <a:noFill/>
        </p:spPr>
      </p:pic>
      <p:sp>
        <p:nvSpPr>
          <p:cNvPr id="5" name="Slide Number Placeholder 4"/>
          <p:cNvSpPr>
            <a:spLocks noGrp="1"/>
          </p:cNvSpPr>
          <p:nvPr>
            <p:ph type="sldNum" sz="quarter" idx="12"/>
          </p:nvPr>
        </p:nvSpPr>
        <p:spPr/>
        <p:txBody>
          <a:bodyPr/>
          <a:lstStyle/>
          <a:p>
            <a:fld id="{8A4DEF83-8E89-4D94-8D5D-613AED6F19E4}" type="slidenum">
              <a:rPr lang="en-US" smtClean="0"/>
              <a:pPr/>
              <a:t>24</a:t>
            </a:fld>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B050"/>
                </a:solidFill>
              </a:rPr>
              <a:t>Rules of Binary Arithmetic</a:t>
            </a:r>
            <a:endParaRPr lang="en-US" b="1" dirty="0">
              <a:solidFill>
                <a:srgbClr val="00B050"/>
              </a:solidFill>
            </a:endParaRPr>
          </a:p>
        </p:txBody>
      </p:sp>
      <p:pic>
        <p:nvPicPr>
          <p:cNvPr id="4098" name="Picture 2" descr="F:\SYMMARY.PNG"/>
          <p:cNvPicPr>
            <a:picLocks noGrp="1" noChangeAspect="1" noChangeArrowheads="1"/>
          </p:cNvPicPr>
          <p:nvPr>
            <p:ph idx="1"/>
          </p:nvPr>
        </p:nvPicPr>
        <p:blipFill>
          <a:blip r:embed="rId2" cstate="print"/>
          <a:srcRect/>
          <a:stretch>
            <a:fillRect/>
          </a:stretch>
        </p:blipFill>
        <p:spPr bwMode="auto">
          <a:xfrm>
            <a:off x="357158" y="1529192"/>
            <a:ext cx="8643998" cy="4828766"/>
          </a:xfrm>
          <a:prstGeom prst="rect">
            <a:avLst/>
          </a:prstGeom>
          <a:noFill/>
        </p:spPr>
      </p:pic>
      <p:sp>
        <p:nvSpPr>
          <p:cNvPr id="4" name="Slide Number Placeholder 3"/>
          <p:cNvSpPr>
            <a:spLocks noGrp="1"/>
          </p:cNvSpPr>
          <p:nvPr>
            <p:ph type="sldNum" sz="quarter" idx="12"/>
          </p:nvPr>
        </p:nvSpPr>
        <p:spPr/>
        <p:txBody>
          <a:bodyPr/>
          <a:lstStyle/>
          <a:p>
            <a:fld id="{8A4DEF83-8E89-4D94-8D5D-613AED6F19E4}" type="slidenum">
              <a:rPr lang="en-US" smtClean="0"/>
              <a:pPr/>
              <a:t>25</a:t>
            </a:fld>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28690" y="2285992"/>
            <a:ext cx="7772400" cy="1727203"/>
          </a:xfrm>
        </p:spPr>
        <p:txBody>
          <a:bodyPr>
            <a:noAutofit/>
          </a:bodyPr>
          <a:lstStyle/>
          <a:p>
            <a:r>
              <a:rPr lang="en-IN" sz="5400" b="1" dirty="0" smtClean="0">
                <a:solidFill>
                  <a:srgbClr val="00B050"/>
                </a:solidFill>
              </a:rPr>
              <a:t>Binary Arithmetic using 1’s and 2’s Complements</a:t>
            </a:r>
            <a:endParaRPr lang="en-US" sz="5400" dirty="0"/>
          </a:p>
        </p:txBody>
      </p:sp>
      <p:sp>
        <p:nvSpPr>
          <p:cNvPr id="3" name="Slide Number Placeholder 2"/>
          <p:cNvSpPr>
            <a:spLocks noGrp="1"/>
          </p:cNvSpPr>
          <p:nvPr>
            <p:ph type="sldNum" sz="quarter" idx="12"/>
          </p:nvPr>
        </p:nvSpPr>
        <p:spPr/>
        <p:txBody>
          <a:bodyPr/>
          <a:lstStyle/>
          <a:p>
            <a:fld id="{8A4DEF83-8E89-4D94-8D5D-613AED6F19E4}" type="slidenum">
              <a:rPr lang="en-US" smtClean="0"/>
              <a:pPr/>
              <a:t>26</a:t>
            </a:fld>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smtClean="0">
                <a:solidFill>
                  <a:srgbClr val="00B050"/>
                </a:solidFill>
              </a:rPr>
              <a:t>Logic for Binary Arithmetic</a:t>
            </a:r>
            <a:endParaRPr lang="en-US" dirty="0"/>
          </a:p>
        </p:txBody>
      </p:sp>
      <p:sp>
        <p:nvSpPr>
          <p:cNvPr id="3" name="Content Placeholder 2"/>
          <p:cNvSpPr>
            <a:spLocks noGrp="1"/>
          </p:cNvSpPr>
          <p:nvPr>
            <p:ph idx="1"/>
          </p:nvPr>
        </p:nvSpPr>
        <p:spPr/>
        <p:txBody>
          <a:bodyPr>
            <a:normAutofit fontScale="92500"/>
          </a:bodyPr>
          <a:lstStyle/>
          <a:p>
            <a:pPr algn="just">
              <a:buNone/>
            </a:pPr>
            <a:r>
              <a:rPr lang="en-US" dirty="0" smtClean="0"/>
              <a:t>	The binary arithmetic operation can be written as:</a:t>
            </a:r>
          </a:p>
          <a:p>
            <a:pPr algn="just">
              <a:buNone/>
            </a:pPr>
            <a:r>
              <a:rPr lang="en-US" dirty="0" smtClean="0"/>
              <a:t>		</a:t>
            </a:r>
            <a:r>
              <a:rPr lang="en-US" smtClean="0"/>
              <a:t>	  A </a:t>
            </a:r>
            <a:r>
              <a:rPr lang="en-US" dirty="0" smtClean="0"/>
              <a:t>+ B = A + B</a:t>
            </a:r>
          </a:p>
          <a:p>
            <a:pPr algn="just">
              <a:buNone/>
            </a:pPr>
            <a:r>
              <a:rPr lang="en-US" dirty="0" smtClean="0"/>
              <a:t>			  A – B = A + (-B)</a:t>
            </a:r>
          </a:p>
          <a:p>
            <a:pPr algn="just">
              <a:buNone/>
            </a:pPr>
            <a:r>
              <a:rPr lang="en-US" dirty="0" smtClean="0"/>
              <a:t>			- A + B = (-A) + B</a:t>
            </a:r>
          </a:p>
          <a:p>
            <a:pPr algn="just">
              <a:buNone/>
            </a:pPr>
            <a:r>
              <a:rPr lang="en-US" dirty="0" smtClean="0"/>
              <a:t>			- A – B = (-A) + (-B)</a:t>
            </a:r>
          </a:p>
          <a:p>
            <a:pPr algn="just">
              <a:buNone/>
            </a:pPr>
            <a:r>
              <a:rPr lang="en-US" dirty="0" smtClean="0"/>
              <a:t>	The negative binary number can be represented either 1’s or 2’s complement form.</a:t>
            </a:r>
          </a:p>
        </p:txBody>
      </p:sp>
      <p:sp>
        <p:nvSpPr>
          <p:cNvPr id="4" name="Slide Number Placeholder 3"/>
          <p:cNvSpPr>
            <a:spLocks noGrp="1"/>
          </p:cNvSpPr>
          <p:nvPr>
            <p:ph type="sldNum" sz="quarter" idx="12"/>
          </p:nvPr>
        </p:nvSpPr>
        <p:spPr/>
        <p:txBody>
          <a:bodyPr/>
          <a:lstStyle/>
          <a:p>
            <a:fld id="{8A4DEF83-8E89-4D94-8D5D-613AED6F19E4}" type="slidenum">
              <a:rPr lang="en-US" smtClean="0"/>
              <a:pPr/>
              <a:t>27</a:t>
            </a:fld>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685800" y="2643183"/>
            <a:ext cx="7772400" cy="1500197"/>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IN" sz="4400" b="1" i="0" u="none" strike="noStrike" kern="1200" cap="none" spc="0" normalizeH="0" baseline="0" noProof="0" dirty="0" smtClean="0">
                <a:ln>
                  <a:noFill/>
                </a:ln>
                <a:solidFill>
                  <a:srgbClr val="7030A0"/>
                </a:solidFill>
                <a:effectLst/>
                <a:uLnTx/>
                <a:uFillTx/>
                <a:latin typeface="+mj-lt"/>
                <a:ea typeface="+mj-ea"/>
                <a:cs typeface="+mj-cs"/>
              </a:rPr>
              <a:t>Binary Arithmetic using 1’s Complements</a:t>
            </a:r>
            <a:endParaRPr kumimoji="0" lang="en-US" sz="4400" b="0" i="0" u="none" strike="noStrike" kern="1200" cap="none" spc="0" normalizeH="0" baseline="0" noProof="0" dirty="0">
              <a:ln>
                <a:noFill/>
              </a:ln>
              <a:solidFill>
                <a:srgbClr val="7030A0"/>
              </a:solidFill>
              <a:effectLst/>
              <a:uLnTx/>
              <a:uFillTx/>
              <a:latin typeface="+mj-lt"/>
              <a:ea typeface="+mj-ea"/>
              <a:cs typeface="+mj-cs"/>
            </a:endParaRPr>
          </a:p>
        </p:txBody>
      </p:sp>
      <p:sp>
        <p:nvSpPr>
          <p:cNvPr id="3" name="Slide Number Placeholder 2"/>
          <p:cNvSpPr>
            <a:spLocks noGrp="1"/>
          </p:cNvSpPr>
          <p:nvPr>
            <p:ph type="sldNum" sz="quarter" idx="12"/>
          </p:nvPr>
        </p:nvSpPr>
        <p:spPr/>
        <p:txBody>
          <a:bodyPr/>
          <a:lstStyle/>
          <a:p>
            <a:fld id="{8A4DEF83-8E89-4D94-8D5D-613AED6F19E4}" type="slidenum">
              <a:rPr lang="en-US" smtClean="0"/>
              <a:pPr/>
              <a:t>28</a:t>
            </a:fld>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sz="half" idx="1"/>
          </p:nvPr>
        </p:nvPicPr>
        <p:blipFill>
          <a:blip r:embed="rId2" cstate="print"/>
          <a:srcRect/>
          <a:stretch>
            <a:fillRect/>
          </a:stretch>
        </p:blipFill>
        <p:spPr bwMode="auto">
          <a:xfrm>
            <a:off x="500034" y="1714488"/>
            <a:ext cx="8215370" cy="3500462"/>
          </a:xfrm>
          <a:prstGeom prst="rect">
            <a:avLst/>
          </a:prstGeom>
          <a:noFill/>
          <a:ln w="9525">
            <a:noFill/>
            <a:miter lim="800000"/>
            <a:headEnd/>
            <a:tailEnd/>
          </a:ln>
          <a:effectLst/>
        </p:spPr>
      </p:pic>
      <p:pic>
        <p:nvPicPr>
          <p:cNvPr id="1027" name="Picture 3"/>
          <p:cNvPicPr>
            <a:picLocks noGrp="1" noChangeAspect="1" noChangeArrowheads="1"/>
          </p:cNvPicPr>
          <p:nvPr>
            <p:ph sz="half" idx="2"/>
          </p:nvPr>
        </p:nvPicPr>
        <p:blipFill>
          <a:blip r:embed="rId3" cstate="print"/>
          <a:srcRect/>
          <a:stretch>
            <a:fillRect/>
          </a:stretch>
        </p:blipFill>
        <p:spPr bwMode="auto">
          <a:xfrm>
            <a:off x="571472" y="5357826"/>
            <a:ext cx="8215370" cy="893608"/>
          </a:xfrm>
          <a:prstGeom prst="rect">
            <a:avLst/>
          </a:prstGeom>
          <a:noFill/>
          <a:ln w="9525">
            <a:noFill/>
            <a:miter lim="800000"/>
            <a:headEnd/>
            <a:tailEnd/>
          </a:ln>
          <a:effectLst/>
        </p:spPr>
      </p:pic>
      <p:sp>
        <p:nvSpPr>
          <p:cNvPr id="5" name="Title 1"/>
          <p:cNvSpPr>
            <a:spLocks noGrp="1"/>
          </p:cNvSpPr>
          <p:nvPr>
            <p:ph type="title"/>
          </p:nvPr>
        </p:nvSpPr>
        <p:spPr>
          <a:xfrm>
            <a:off x="485804" y="285728"/>
            <a:ext cx="8229600" cy="1285884"/>
          </a:xfrm>
        </p:spPr>
        <p:txBody>
          <a:bodyPr>
            <a:noAutofit/>
          </a:bodyPr>
          <a:lstStyle/>
          <a:p>
            <a:pPr algn="just"/>
            <a:r>
              <a:rPr lang="en-US" sz="3600" b="1" dirty="0" smtClean="0">
                <a:solidFill>
                  <a:srgbClr val="0070C0"/>
                </a:solidFill>
              </a:rPr>
              <a:t>Example-1: </a:t>
            </a:r>
            <a:r>
              <a:rPr lang="en-US" sz="3600" b="1" dirty="0" smtClean="0">
                <a:solidFill>
                  <a:srgbClr val="C00000"/>
                </a:solidFill>
              </a:rPr>
              <a:t>Subtract 14 from 25 using 1’s complement method.</a:t>
            </a:r>
            <a:endParaRPr lang="en-US" sz="3600" dirty="0"/>
          </a:p>
        </p:txBody>
      </p:sp>
      <p:sp>
        <p:nvSpPr>
          <p:cNvPr id="6" name="Slide Number Placeholder 5"/>
          <p:cNvSpPr>
            <a:spLocks noGrp="1"/>
          </p:cNvSpPr>
          <p:nvPr>
            <p:ph type="sldNum" sz="quarter" idx="12"/>
          </p:nvPr>
        </p:nvSpPr>
        <p:spPr/>
        <p:txBody>
          <a:bodyPr/>
          <a:lstStyle/>
          <a:p>
            <a:fld id="{8A4DEF83-8E89-4D94-8D5D-613AED6F19E4}" type="slidenum">
              <a:rPr lang="en-US" smtClean="0"/>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26"/>
                                        </p:tgtEl>
                                        <p:attrNameLst>
                                          <p:attrName>style.visibility</p:attrName>
                                        </p:attrNameLst>
                                      </p:cBhvr>
                                      <p:to>
                                        <p:strVal val="visible"/>
                                      </p:to>
                                    </p:set>
                                    <p:anim calcmode="lin" valueType="num">
                                      <p:cBhvr additive="base">
                                        <p:cTn id="13" dur="500" fill="hold"/>
                                        <p:tgtEl>
                                          <p:spTgt spid="1026"/>
                                        </p:tgtEl>
                                        <p:attrNameLst>
                                          <p:attrName>ppt_x</p:attrName>
                                        </p:attrNameLst>
                                      </p:cBhvr>
                                      <p:tavLst>
                                        <p:tav tm="0">
                                          <p:val>
                                            <p:strVal val="#ppt_x"/>
                                          </p:val>
                                        </p:tav>
                                        <p:tav tm="100000">
                                          <p:val>
                                            <p:strVal val="#ppt_x"/>
                                          </p:val>
                                        </p:tav>
                                      </p:tavLst>
                                    </p:anim>
                                    <p:anim calcmode="lin" valueType="num">
                                      <p:cBhvr additive="base">
                                        <p:cTn id="14" dur="500" fill="hold"/>
                                        <p:tgtEl>
                                          <p:spTgt spid="102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27"/>
                                        </p:tgtEl>
                                        <p:attrNameLst>
                                          <p:attrName>style.visibility</p:attrName>
                                        </p:attrNameLst>
                                      </p:cBhvr>
                                      <p:to>
                                        <p:strVal val="visible"/>
                                      </p:to>
                                    </p:set>
                                    <p:anim calcmode="lin" valueType="num">
                                      <p:cBhvr additive="base">
                                        <p:cTn id="19" dur="500" fill="hold"/>
                                        <p:tgtEl>
                                          <p:spTgt spid="1027"/>
                                        </p:tgtEl>
                                        <p:attrNameLst>
                                          <p:attrName>ppt_x</p:attrName>
                                        </p:attrNameLst>
                                      </p:cBhvr>
                                      <p:tavLst>
                                        <p:tav tm="0">
                                          <p:val>
                                            <p:strVal val="#ppt_x"/>
                                          </p:val>
                                        </p:tav>
                                        <p:tav tm="100000">
                                          <p:val>
                                            <p:strVal val="#ppt_x"/>
                                          </p:val>
                                        </p:tav>
                                      </p:tavLst>
                                    </p:anim>
                                    <p:anim calcmode="lin" valueType="num">
                                      <p:cBhvr additive="base">
                                        <p:cTn id="20"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sz="half" idx="1"/>
          </p:nvPr>
        </p:nvPicPr>
        <p:blipFill>
          <a:blip r:embed="rId2" cstate="print"/>
          <a:srcRect/>
          <a:stretch>
            <a:fillRect/>
          </a:stretch>
        </p:blipFill>
        <p:spPr bwMode="auto">
          <a:xfrm>
            <a:off x="1037841" y="1714488"/>
            <a:ext cx="7034621" cy="3299424"/>
          </a:xfrm>
          <a:prstGeom prst="rect">
            <a:avLst/>
          </a:prstGeom>
          <a:noFill/>
          <a:ln w="9525">
            <a:noFill/>
            <a:miter lim="800000"/>
            <a:headEnd/>
            <a:tailEnd/>
          </a:ln>
          <a:effectLst/>
        </p:spPr>
      </p:pic>
      <p:pic>
        <p:nvPicPr>
          <p:cNvPr id="2051" name="Picture 3"/>
          <p:cNvPicPr>
            <a:picLocks noGrp="1" noChangeAspect="1" noChangeArrowheads="1"/>
          </p:cNvPicPr>
          <p:nvPr>
            <p:ph sz="half" idx="2"/>
          </p:nvPr>
        </p:nvPicPr>
        <p:blipFill>
          <a:blip r:embed="rId3" cstate="print"/>
          <a:srcRect/>
          <a:stretch>
            <a:fillRect/>
          </a:stretch>
        </p:blipFill>
        <p:spPr bwMode="auto">
          <a:xfrm>
            <a:off x="642910" y="5143512"/>
            <a:ext cx="8143932" cy="1214446"/>
          </a:xfrm>
          <a:prstGeom prst="rect">
            <a:avLst/>
          </a:prstGeom>
          <a:noFill/>
          <a:ln w="9525">
            <a:noFill/>
            <a:miter lim="800000"/>
            <a:headEnd/>
            <a:tailEnd/>
          </a:ln>
          <a:effectLst/>
        </p:spPr>
      </p:pic>
      <p:sp>
        <p:nvSpPr>
          <p:cNvPr id="4" name="Title 1"/>
          <p:cNvSpPr>
            <a:spLocks noGrp="1"/>
          </p:cNvSpPr>
          <p:nvPr>
            <p:ph type="title"/>
          </p:nvPr>
        </p:nvSpPr>
        <p:spPr>
          <a:xfrm>
            <a:off x="485804" y="285728"/>
            <a:ext cx="8229600" cy="1285884"/>
          </a:xfrm>
        </p:spPr>
        <p:txBody>
          <a:bodyPr>
            <a:noAutofit/>
          </a:bodyPr>
          <a:lstStyle/>
          <a:p>
            <a:pPr algn="just"/>
            <a:r>
              <a:rPr lang="en-US" sz="3600" b="1" dirty="0" smtClean="0">
                <a:solidFill>
                  <a:srgbClr val="0070C0"/>
                </a:solidFill>
              </a:rPr>
              <a:t>Example-2: </a:t>
            </a:r>
            <a:r>
              <a:rPr lang="en-US" sz="3600" b="1" dirty="0" smtClean="0">
                <a:solidFill>
                  <a:srgbClr val="C00000"/>
                </a:solidFill>
              </a:rPr>
              <a:t>Add -25 to 14 using 1’s complement method.</a:t>
            </a:r>
            <a:endParaRPr lang="en-US" sz="3600" dirty="0"/>
          </a:p>
        </p:txBody>
      </p:sp>
      <p:sp>
        <p:nvSpPr>
          <p:cNvPr id="5" name="Slide Number Placeholder 4"/>
          <p:cNvSpPr>
            <a:spLocks noGrp="1"/>
          </p:cNvSpPr>
          <p:nvPr>
            <p:ph type="sldNum" sz="quarter" idx="12"/>
          </p:nvPr>
        </p:nvSpPr>
        <p:spPr/>
        <p:txBody>
          <a:bodyPr/>
          <a:lstStyle/>
          <a:p>
            <a:fld id="{8A4DEF83-8E89-4D94-8D5D-613AED6F19E4}" type="slidenum">
              <a:rPr lang="en-US" smtClean="0"/>
              <a:pPr/>
              <a:t>30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0"/>
                                        </p:tgtEl>
                                        <p:attrNameLst>
                                          <p:attrName>style.visibility</p:attrName>
                                        </p:attrNameLst>
                                      </p:cBhvr>
                                      <p:to>
                                        <p:strVal val="visible"/>
                                      </p:to>
                                    </p:set>
                                    <p:anim calcmode="lin" valueType="num">
                                      <p:cBhvr additive="base">
                                        <p:cTn id="13" dur="500" fill="hold"/>
                                        <p:tgtEl>
                                          <p:spTgt spid="2050"/>
                                        </p:tgtEl>
                                        <p:attrNameLst>
                                          <p:attrName>ppt_x</p:attrName>
                                        </p:attrNameLst>
                                      </p:cBhvr>
                                      <p:tavLst>
                                        <p:tav tm="0">
                                          <p:val>
                                            <p:strVal val="#ppt_x"/>
                                          </p:val>
                                        </p:tav>
                                        <p:tav tm="100000">
                                          <p:val>
                                            <p:strVal val="#ppt_x"/>
                                          </p:val>
                                        </p:tav>
                                      </p:tavLst>
                                    </p:anim>
                                    <p:anim calcmode="lin" valueType="num">
                                      <p:cBhvr additive="base">
                                        <p:cTn id="14" dur="500" fill="hold"/>
                                        <p:tgtEl>
                                          <p:spTgt spid="205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2051"/>
                                        </p:tgtEl>
                                        <p:attrNameLst>
                                          <p:attrName>style.visibility</p:attrName>
                                        </p:attrNameLst>
                                      </p:cBhvr>
                                      <p:to>
                                        <p:strVal val="visible"/>
                                      </p:to>
                                    </p:set>
                                    <p:anim calcmode="lin" valueType="num">
                                      <p:cBhvr additive="base">
                                        <p:cTn id="19" dur="500" fill="hold"/>
                                        <p:tgtEl>
                                          <p:spTgt spid="2051"/>
                                        </p:tgtEl>
                                        <p:attrNameLst>
                                          <p:attrName>ppt_x</p:attrName>
                                        </p:attrNameLst>
                                      </p:cBhvr>
                                      <p:tavLst>
                                        <p:tav tm="0">
                                          <p:val>
                                            <p:strVal val="#ppt_x"/>
                                          </p:val>
                                        </p:tav>
                                        <p:tav tm="100000">
                                          <p:val>
                                            <p:strVal val="#ppt_x"/>
                                          </p:val>
                                        </p:tav>
                                      </p:tavLst>
                                    </p:anim>
                                    <p:anim calcmode="lin" valueType="num">
                                      <p:cBhvr additive="base">
                                        <p:cTn id="20"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sz="half" idx="1"/>
          </p:nvPr>
        </p:nvPicPr>
        <p:blipFill>
          <a:blip r:embed="rId2" cstate="print"/>
          <a:srcRect/>
          <a:stretch>
            <a:fillRect/>
          </a:stretch>
        </p:blipFill>
        <p:spPr bwMode="auto">
          <a:xfrm>
            <a:off x="500034" y="1643050"/>
            <a:ext cx="8286808" cy="3643338"/>
          </a:xfrm>
          <a:prstGeom prst="rect">
            <a:avLst/>
          </a:prstGeom>
          <a:noFill/>
          <a:ln w="9525">
            <a:noFill/>
            <a:miter lim="800000"/>
            <a:headEnd/>
            <a:tailEnd/>
          </a:ln>
          <a:effectLst/>
        </p:spPr>
      </p:pic>
      <p:pic>
        <p:nvPicPr>
          <p:cNvPr id="3075" name="Picture 3"/>
          <p:cNvPicPr>
            <a:picLocks noGrp="1" noChangeAspect="1" noChangeArrowheads="1"/>
          </p:cNvPicPr>
          <p:nvPr>
            <p:ph sz="half" idx="2"/>
          </p:nvPr>
        </p:nvPicPr>
        <p:blipFill>
          <a:blip r:embed="rId3" cstate="print"/>
          <a:srcRect/>
          <a:stretch>
            <a:fillRect/>
          </a:stretch>
        </p:blipFill>
        <p:spPr bwMode="auto">
          <a:xfrm>
            <a:off x="571472" y="5286388"/>
            <a:ext cx="8358246" cy="1071570"/>
          </a:xfrm>
          <a:prstGeom prst="rect">
            <a:avLst/>
          </a:prstGeom>
          <a:noFill/>
          <a:ln w="9525">
            <a:noFill/>
            <a:miter lim="800000"/>
            <a:headEnd/>
            <a:tailEnd/>
          </a:ln>
          <a:effectLst/>
        </p:spPr>
      </p:pic>
      <p:sp>
        <p:nvSpPr>
          <p:cNvPr id="4" name="Title 1"/>
          <p:cNvSpPr>
            <a:spLocks noGrp="1"/>
          </p:cNvSpPr>
          <p:nvPr>
            <p:ph type="title"/>
          </p:nvPr>
        </p:nvSpPr>
        <p:spPr>
          <a:xfrm>
            <a:off x="485804" y="285728"/>
            <a:ext cx="8229600" cy="1285884"/>
          </a:xfrm>
        </p:spPr>
        <p:txBody>
          <a:bodyPr>
            <a:noAutofit/>
          </a:bodyPr>
          <a:lstStyle/>
          <a:p>
            <a:pPr algn="just"/>
            <a:r>
              <a:rPr lang="en-US" sz="3600" b="1" dirty="0" smtClean="0">
                <a:solidFill>
                  <a:srgbClr val="0070C0"/>
                </a:solidFill>
              </a:rPr>
              <a:t>Example-3: </a:t>
            </a:r>
            <a:r>
              <a:rPr lang="en-US" sz="3600" b="1" dirty="0" smtClean="0">
                <a:solidFill>
                  <a:srgbClr val="C00000"/>
                </a:solidFill>
              </a:rPr>
              <a:t>Add -14 to -25 using 1’s complement method.</a:t>
            </a:r>
            <a:endParaRPr lang="en-US" sz="3600" dirty="0"/>
          </a:p>
        </p:txBody>
      </p:sp>
      <p:sp>
        <p:nvSpPr>
          <p:cNvPr id="5" name="Slide Number Placeholder 4"/>
          <p:cNvSpPr>
            <a:spLocks noGrp="1"/>
          </p:cNvSpPr>
          <p:nvPr>
            <p:ph type="sldNum" sz="quarter" idx="12"/>
          </p:nvPr>
        </p:nvSpPr>
        <p:spPr/>
        <p:txBody>
          <a:bodyPr/>
          <a:lstStyle/>
          <a:p>
            <a:fld id="{8A4DEF83-8E89-4D94-8D5D-613AED6F19E4}" type="slidenum">
              <a:rPr lang="en-US" smtClean="0"/>
              <a:pPr/>
              <a:t>31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074"/>
                                        </p:tgtEl>
                                        <p:attrNameLst>
                                          <p:attrName>style.visibility</p:attrName>
                                        </p:attrNameLst>
                                      </p:cBhvr>
                                      <p:to>
                                        <p:strVal val="visible"/>
                                      </p:to>
                                    </p:set>
                                    <p:anim calcmode="lin" valueType="num">
                                      <p:cBhvr additive="base">
                                        <p:cTn id="13" dur="500" fill="hold"/>
                                        <p:tgtEl>
                                          <p:spTgt spid="3074"/>
                                        </p:tgtEl>
                                        <p:attrNameLst>
                                          <p:attrName>ppt_x</p:attrName>
                                        </p:attrNameLst>
                                      </p:cBhvr>
                                      <p:tavLst>
                                        <p:tav tm="0">
                                          <p:val>
                                            <p:strVal val="#ppt_x"/>
                                          </p:val>
                                        </p:tav>
                                        <p:tav tm="100000">
                                          <p:val>
                                            <p:strVal val="#ppt_x"/>
                                          </p:val>
                                        </p:tav>
                                      </p:tavLst>
                                    </p:anim>
                                    <p:anim calcmode="lin" valueType="num">
                                      <p:cBhvr additive="base">
                                        <p:cTn id="14"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gtEl>
                                        <p:attrNameLst>
                                          <p:attrName>style.visibility</p:attrName>
                                        </p:attrNameLst>
                                      </p:cBhvr>
                                      <p:to>
                                        <p:strVal val="visible"/>
                                      </p:to>
                                    </p:set>
                                    <p:anim calcmode="lin" valueType="num">
                                      <p:cBhvr additive="base">
                                        <p:cTn id="19" dur="500" fill="hold"/>
                                        <p:tgtEl>
                                          <p:spTgt spid="3075"/>
                                        </p:tgtEl>
                                        <p:attrNameLst>
                                          <p:attrName>ppt_x</p:attrName>
                                        </p:attrNameLst>
                                      </p:cBhvr>
                                      <p:tavLst>
                                        <p:tav tm="0">
                                          <p:val>
                                            <p:strVal val="#ppt_x"/>
                                          </p:val>
                                        </p:tav>
                                        <p:tav tm="100000">
                                          <p:val>
                                            <p:strVal val="#ppt_x"/>
                                          </p:val>
                                        </p:tav>
                                      </p:tavLst>
                                    </p:anim>
                                    <p:anim calcmode="lin" valueType="num">
                                      <p:cBhvr additive="base">
                                        <p:cTn id="20" dur="500" fill="hold"/>
                                        <p:tgtEl>
                                          <p:spTgt spid="30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sz="half" idx="1"/>
          </p:nvPr>
        </p:nvPicPr>
        <p:blipFill>
          <a:blip r:embed="rId2" cstate="print"/>
          <a:srcRect/>
          <a:stretch>
            <a:fillRect/>
          </a:stretch>
        </p:blipFill>
        <p:spPr bwMode="auto">
          <a:xfrm>
            <a:off x="428596" y="1714488"/>
            <a:ext cx="8215370" cy="3143272"/>
          </a:xfrm>
          <a:prstGeom prst="rect">
            <a:avLst/>
          </a:prstGeom>
          <a:noFill/>
          <a:ln w="9525">
            <a:noFill/>
            <a:miter lim="800000"/>
            <a:headEnd/>
            <a:tailEnd/>
          </a:ln>
          <a:effectLst/>
        </p:spPr>
      </p:pic>
      <p:pic>
        <p:nvPicPr>
          <p:cNvPr id="4099" name="Picture 3"/>
          <p:cNvPicPr>
            <a:picLocks noGrp="1" noChangeAspect="1" noChangeArrowheads="1"/>
          </p:cNvPicPr>
          <p:nvPr>
            <p:ph sz="half" idx="2"/>
          </p:nvPr>
        </p:nvPicPr>
        <p:blipFill>
          <a:blip r:embed="rId3" cstate="print"/>
          <a:srcRect/>
          <a:stretch>
            <a:fillRect/>
          </a:stretch>
        </p:blipFill>
        <p:spPr bwMode="auto">
          <a:xfrm>
            <a:off x="571472" y="5000636"/>
            <a:ext cx="8001056" cy="1214446"/>
          </a:xfrm>
          <a:prstGeom prst="rect">
            <a:avLst/>
          </a:prstGeom>
          <a:noFill/>
          <a:ln w="9525">
            <a:noFill/>
            <a:miter lim="800000"/>
            <a:headEnd/>
            <a:tailEnd/>
          </a:ln>
          <a:effectLst/>
        </p:spPr>
      </p:pic>
      <p:sp>
        <p:nvSpPr>
          <p:cNvPr id="5" name="Title 1"/>
          <p:cNvSpPr>
            <a:spLocks noGrp="1"/>
          </p:cNvSpPr>
          <p:nvPr>
            <p:ph type="title"/>
          </p:nvPr>
        </p:nvSpPr>
        <p:spPr>
          <a:xfrm>
            <a:off x="485804" y="285728"/>
            <a:ext cx="8229600" cy="1285884"/>
          </a:xfrm>
        </p:spPr>
        <p:txBody>
          <a:bodyPr>
            <a:noAutofit/>
          </a:bodyPr>
          <a:lstStyle/>
          <a:p>
            <a:pPr algn="just"/>
            <a:r>
              <a:rPr lang="en-US" sz="3600" b="1" dirty="0" smtClean="0">
                <a:solidFill>
                  <a:srgbClr val="0070C0"/>
                </a:solidFill>
              </a:rPr>
              <a:t>Example-4: </a:t>
            </a:r>
            <a:r>
              <a:rPr lang="en-US" sz="3600" b="1" dirty="0" smtClean="0">
                <a:solidFill>
                  <a:srgbClr val="C00000"/>
                </a:solidFill>
              </a:rPr>
              <a:t>Add 14 to 25 using 1’s complement method.</a:t>
            </a:r>
            <a:endParaRPr lang="en-US" sz="3600" dirty="0"/>
          </a:p>
        </p:txBody>
      </p:sp>
      <p:sp>
        <p:nvSpPr>
          <p:cNvPr id="6" name="Slide Number Placeholder 5"/>
          <p:cNvSpPr>
            <a:spLocks noGrp="1"/>
          </p:cNvSpPr>
          <p:nvPr>
            <p:ph type="sldNum" sz="quarter" idx="12"/>
          </p:nvPr>
        </p:nvSpPr>
        <p:spPr/>
        <p:txBody>
          <a:bodyPr/>
          <a:lstStyle/>
          <a:p>
            <a:fld id="{8A4DEF83-8E89-4D94-8D5D-613AED6F19E4}" type="slidenum">
              <a:rPr lang="en-US" smtClean="0"/>
              <a:pPr/>
              <a:t>32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 calcmode="lin" valueType="num">
                                      <p:cBhvr additive="base">
                                        <p:cTn id="13" dur="500" fill="hold"/>
                                        <p:tgtEl>
                                          <p:spTgt spid="4098"/>
                                        </p:tgtEl>
                                        <p:attrNameLst>
                                          <p:attrName>ppt_x</p:attrName>
                                        </p:attrNameLst>
                                      </p:cBhvr>
                                      <p:tavLst>
                                        <p:tav tm="0">
                                          <p:val>
                                            <p:strVal val="#ppt_x"/>
                                          </p:val>
                                        </p:tav>
                                        <p:tav tm="100000">
                                          <p:val>
                                            <p:strVal val="#ppt_x"/>
                                          </p:val>
                                        </p:tav>
                                      </p:tavLst>
                                    </p:anim>
                                    <p:anim calcmode="lin" valueType="num">
                                      <p:cBhvr additive="base">
                                        <p:cTn id="14" dur="500" fill="hold"/>
                                        <p:tgtEl>
                                          <p:spTgt spid="409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099"/>
                                        </p:tgtEl>
                                        <p:attrNameLst>
                                          <p:attrName>style.visibility</p:attrName>
                                        </p:attrNameLst>
                                      </p:cBhvr>
                                      <p:to>
                                        <p:strVal val="visible"/>
                                      </p:to>
                                    </p:set>
                                    <p:anim calcmode="lin" valueType="num">
                                      <p:cBhvr additive="base">
                                        <p:cTn id="19" dur="500" fill="hold"/>
                                        <p:tgtEl>
                                          <p:spTgt spid="4099"/>
                                        </p:tgtEl>
                                        <p:attrNameLst>
                                          <p:attrName>ppt_x</p:attrName>
                                        </p:attrNameLst>
                                      </p:cBhvr>
                                      <p:tavLst>
                                        <p:tav tm="0">
                                          <p:val>
                                            <p:strVal val="#ppt_x"/>
                                          </p:val>
                                        </p:tav>
                                        <p:tav tm="100000">
                                          <p:val>
                                            <p:strVal val="#ppt_x"/>
                                          </p:val>
                                        </p:tav>
                                      </p:tavLst>
                                    </p:anim>
                                    <p:anim calcmode="lin" valueType="num">
                                      <p:cBhvr additive="base">
                                        <p:cTn id="20" dur="500" fill="hold"/>
                                        <p:tgtEl>
                                          <p:spTgt spid="40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489216"/>
            <a:ext cx="8229600" cy="1654164"/>
          </a:xfrm>
        </p:spPr>
        <p:txBody>
          <a:bodyPr>
            <a:normAutofit/>
          </a:bodyPr>
          <a:lstStyle/>
          <a:p>
            <a:pPr lvl="0"/>
            <a:r>
              <a:rPr lang="en-IN" b="1" dirty="0" smtClean="0">
                <a:solidFill>
                  <a:srgbClr val="7030A0"/>
                </a:solidFill>
              </a:rPr>
              <a:t>Binary Arithmetic using 2’s Complements</a:t>
            </a:r>
            <a:endParaRPr lang="en-US" dirty="0"/>
          </a:p>
        </p:txBody>
      </p:sp>
      <p:sp>
        <p:nvSpPr>
          <p:cNvPr id="3" name="Slide Number Placeholder 2"/>
          <p:cNvSpPr>
            <a:spLocks noGrp="1"/>
          </p:cNvSpPr>
          <p:nvPr>
            <p:ph type="sldNum" sz="quarter" idx="12"/>
          </p:nvPr>
        </p:nvSpPr>
        <p:spPr/>
        <p:txBody>
          <a:bodyPr/>
          <a:lstStyle/>
          <a:p>
            <a:fld id="{8A4DEF83-8E89-4D94-8D5D-613AED6F19E4}" type="slidenum">
              <a:rPr lang="en-US" smtClean="0"/>
              <a:pPr/>
              <a:t>33</a:t>
            </a:fld>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cstate="print"/>
          <a:srcRect/>
          <a:stretch>
            <a:fillRect/>
          </a:stretch>
        </p:blipFill>
        <p:spPr bwMode="auto">
          <a:xfrm>
            <a:off x="571472" y="1571612"/>
            <a:ext cx="8143932" cy="4857784"/>
          </a:xfrm>
          <a:prstGeom prst="rect">
            <a:avLst/>
          </a:prstGeom>
          <a:noFill/>
          <a:ln w="9525">
            <a:noFill/>
            <a:miter lim="800000"/>
            <a:headEnd/>
            <a:tailEnd/>
          </a:ln>
          <a:effectLst/>
        </p:spPr>
      </p:pic>
      <p:sp>
        <p:nvSpPr>
          <p:cNvPr id="4" name="Title 1"/>
          <p:cNvSpPr>
            <a:spLocks noGrp="1"/>
          </p:cNvSpPr>
          <p:nvPr>
            <p:ph type="title"/>
          </p:nvPr>
        </p:nvSpPr>
        <p:spPr>
          <a:xfrm>
            <a:off x="485804" y="285728"/>
            <a:ext cx="8229600" cy="1285884"/>
          </a:xfrm>
        </p:spPr>
        <p:txBody>
          <a:bodyPr>
            <a:noAutofit/>
          </a:bodyPr>
          <a:lstStyle/>
          <a:p>
            <a:pPr algn="just"/>
            <a:r>
              <a:rPr lang="en-US" sz="3600" b="1" dirty="0" smtClean="0">
                <a:solidFill>
                  <a:srgbClr val="0070C0"/>
                </a:solidFill>
              </a:rPr>
              <a:t>Example-1: </a:t>
            </a:r>
            <a:r>
              <a:rPr lang="en-US" sz="3600" b="1" dirty="0" smtClean="0">
                <a:solidFill>
                  <a:srgbClr val="C00000"/>
                </a:solidFill>
              </a:rPr>
              <a:t>Subtract 14 from 46 using 2’s complement method.</a:t>
            </a:r>
            <a:endParaRPr lang="en-US" sz="3600" dirty="0"/>
          </a:p>
        </p:txBody>
      </p:sp>
      <p:sp>
        <p:nvSpPr>
          <p:cNvPr id="5" name="Slide Number Placeholder 4"/>
          <p:cNvSpPr>
            <a:spLocks noGrp="1"/>
          </p:cNvSpPr>
          <p:nvPr>
            <p:ph type="sldNum" sz="quarter" idx="12"/>
          </p:nvPr>
        </p:nvSpPr>
        <p:spPr/>
        <p:txBody>
          <a:bodyPr/>
          <a:lstStyle/>
          <a:p>
            <a:fld id="{8A4DEF83-8E89-4D94-8D5D-613AED6F19E4}" type="slidenum">
              <a:rPr lang="en-US" smtClean="0"/>
              <a:pPr/>
              <a:t>34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2"/>
                                        </p:tgtEl>
                                        <p:attrNameLst>
                                          <p:attrName>style.visibility</p:attrName>
                                        </p:attrNameLst>
                                      </p:cBhvr>
                                      <p:to>
                                        <p:strVal val="visible"/>
                                      </p:to>
                                    </p:set>
                                    <p:anim calcmode="lin" valueType="num">
                                      <p:cBhvr additive="base">
                                        <p:cTn id="13" dur="500" fill="hold"/>
                                        <p:tgtEl>
                                          <p:spTgt spid="5122"/>
                                        </p:tgtEl>
                                        <p:attrNameLst>
                                          <p:attrName>ppt_x</p:attrName>
                                        </p:attrNameLst>
                                      </p:cBhvr>
                                      <p:tavLst>
                                        <p:tav tm="0">
                                          <p:val>
                                            <p:strVal val="#ppt_x"/>
                                          </p:val>
                                        </p:tav>
                                        <p:tav tm="100000">
                                          <p:val>
                                            <p:strVal val="#ppt_x"/>
                                          </p:val>
                                        </p:tav>
                                      </p:tavLst>
                                    </p:anim>
                                    <p:anim calcmode="lin" valueType="num">
                                      <p:cBhvr additive="base">
                                        <p:cTn id="14" dur="500" fill="hold"/>
                                        <p:tgtEl>
                                          <p:spTgt spid="51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571472" y="1571612"/>
            <a:ext cx="8001056" cy="4857784"/>
          </a:xfrm>
          <a:prstGeom prst="rect">
            <a:avLst/>
          </a:prstGeom>
          <a:noFill/>
          <a:ln w="9525">
            <a:noFill/>
            <a:miter lim="800000"/>
            <a:headEnd/>
            <a:tailEnd/>
          </a:ln>
          <a:effectLst/>
        </p:spPr>
      </p:pic>
      <p:sp>
        <p:nvSpPr>
          <p:cNvPr id="3" name="Title 1"/>
          <p:cNvSpPr>
            <a:spLocks noGrp="1"/>
          </p:cNvSpPr>
          <p:nvPr>
            <p:ph type="title"/>
          </p:nvPr>
        </p:nvSpPr>
        <p:spPr>
          <a:xfrm>
            <a:off x="485804" y="285728"/>
            <a:ext cx="8229600" cy="1214446"/>
          </a:xfrm>
        </p:spPr>
        <p:txBody>
          <a:bodyPr>
            <a:noAutofit/>
          </a:bodyPr>
          <a:lstStyle/>
          <a:p>
            <a:pPr algn="just"/>
            <a:r>
              <a:rPr lang="en-US" sz="3600" b="1" dirty="0" smtClean="0">
                <a:solidFill>
                  <a:srgbClr val="0070C0"/>
                </a:solidFill>
              </a:rPr>
              <a:t>Example-2: </a:t>
            </a:r>
            <a:r>
              <a:rPr lang="en-US" sz="3600" b="1" dirty="0" smtClean="0">
                <a:solidFill>
                  <a:srgbClr val="C00000"/>
                </a:solidFill>
              </a:rPr>
              <a:t>Add -75 to 26 using 2’s complement method.</a:t>
            </a:r>
            <a:endParaRPr lang="en-US" sz="3600"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35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146"/>
                                        </p:tgtEl>
                                        <p:attrNameLst>
                                          <p:attrName>style.visibility</p:attrName>
                                        </p:attrNameLst>
                                      </p:cBhvr>
                                      <p:to>
                                        <p:strVal val="visible"/>
                                      </p:to>
                                    </p:set>
                                    <p:anim calcmode="lin" valueType="num">
                                      <p:cBhvr additive="base">
                                        <p:cTn id="13" dur="500" fill="hold"/>
                                        <p:tgtEl>
                                          <p:spTgt spid="6146"/>
                                        </p:tgtEl>
                                        <p:attrNameLst>
                                          <p:attrName>ppt_x</p:attrName>
                                        </p:attrNameLst>
                                      </p:cBhvr>
                                      <p:tavLst>
                                        <p:tav tm="0">
                                          <p:val>
                                            <p:strVal val="#ppt_x"/>
                                          </p:val>
                                        </p:tav>
                                        <p:tav tm="100000">
                                          <p:val>
                                            <p:strVal val="#ppt_x"/>
                                          </p:val>
                                        </p:tav>
                                      </p:tavLst>
                                    </p:anim>
                                    <p:anim calcmode="lin" valueType="num">
                                      <p:cBhvr additive="base">
                                        <p:cTn id="14" dur="500" fill="hold"/>
                                        <p:tgtEl>
                                          <p:spTgt spid="61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cstate="print"/>
          <a:srcRect/>
          <a:stretch>
            <a:fillRect/>
          </a:stretch>
        </p:blipFill>
        <p:spPr bwMode="auto">
          <a:xfrm>
            <a:off x="500034" y="1500175"/>
            <a:ext cx="8143932" cy="5166622"/>
          </a:xfrm>
          <a:prstGeom prst="rect">
            <a:avLst/>
          </a:prstGeom>
          <a:noFill/>
          <a:ln w="9525">
            <a:noFill/>
            <a:miter lim="800000"/>
            <a:headEnd/>
            <a:tailEnd/>
          </a:ln>
          <a:effectLst/>
        </p:spPr>
      </p:pic>
      <p:sp>
        <p:nvSpPr>
          <p:cNvPr id="3" name="Title 1"/>
          <p:cNvSpPr>
            <a:spLocks noGrp="1"/>
          </p:cNvSpPr>
          <p:nvPr>
            <p:ph type="title"/>
          </p:nvPr>
        </p:nvSpPr>
        <p:spPr>
          <a:xfrm>
            <a:off x="485804" y="285728"/>
            <a:ext cx="8229600" cy="1214446"/>
          </a:xfrm>
        </p:spPr>
        <p:txBody>
          <a:bodyPr>
            <a:noAutofit/>
          </a:bodyPr>
          <a:lstStyle/>
          <a:p>
            <a:pPr algn="just"/>
            <a:r>
              <a:rPr lang="en-US" sz="3600" b="1" dirty="0" smtClean="0">
                <a:solidFill>
                  <a:srgbClr val="0070C0"/>
                </a:solidFill>
              </a:rPr>
              <a:t>Example-3: </a:t>
            </a:r>
            <a:r>
              <a:rPr lang="en-US" sz="3600" b="1" dirty="0" smtClean="0">
                <a:solidFill>
                  <a:srgbClr val="C00000"/>
                </a:solidFill>
              </a:rPr>
              <a:t>Add -14 to -25 using 2’s complement method.</a:t>
            </a:r>
            <a:endParaRPr lang="en-US" sz="3600"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36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2051"/>
                                        </p:tgtEl>
                                        <p:attrNameLst>
                                          <p:attrName>style.visibility</p:attrName>
                                        </p:attrNameLst>
                                      </p:cBhvr>
                                      <p:to>
                                        <p:strVal val="visible"/>
                                      </p:to>
                                    </p:set>
                                    <p:anim calcmode="lin" valueType="num">
                                      <p:cBhvr additive="base">
                                        <p:cTn id="13" dur="500" fill="hold"/>
                                        <p:tgtEl>
                                          <p:spTgt spid="2051"/>
                                        </p:tgtEl>
                                        <p:attrNameLst>
                                          <p:attrName>ppt_x</p:attrName>
                                        </p:attrNameLst>
                                      </p:cBhvr>
                                      <p:tavLst>
                                        <p:tav tm="0">
                                          <p:val>
                                            <p:strVal val="#ppt_x"/>
                                          </p:val>
                                        </p:tav>
                                        <p:tav tm="100000">
                                          <p:val>
                                            <p:strVal val="#ppt_x"/>
                                          </p:val>
                                        </p:tav>
                                      </p:tavLst>
                                    </p:anim>
                                    <p:anim calcmode="lin" valueType="num">
                                      <p:cBhvr additive="base">
                                        <p:cTn id="14" dur="500" fill="hold"/>
                                        <p:tgtEl>
                                          <p:spTgt spid="205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smtClean="0">
                <a:solidFill>
                  <a:srgbClr val="C00000"/>
                </a:solidFill>
              </a:rPr>
              <a:t>Problems:</a:t>
            </a:r>
            <a:endParaRPr lang="en-US" dirty="0">
              <a:solidFill>
                <a:srgbClr val="C00000"/>
              </a:solidFill>
            </a:endParaRPr>
          </a:p>
        </p:txBody>
      </p:sp>
      <p:sp>
        <p:nvSpPr>
          <p:cNvPr id="3" name="Content Placeholder 2"/>
          <p:cNvSpPr>
            <a:spLocks noGrp="1"/>
          </p:cNvSpPr>
          <p:nvPr>
            <p:ph idx="1"/>
          </p:nvPr>
        </p:nvSpPr>
        <p:spPr/>
        <p:txBody>
          <a:bodyPr/>
          <a:lstStyle/>
          <a:p>
            <a:pPr algn="just"/>
            <a:r>
              <a:rPr lang="en-IN" dirty="0" smtClean="0">
                <a:solidFill>
                  <a:srgbClr val="002060"/>
                </a:solidFill>
              </a:rPr>
              <a:t>Subtract 101011</a:t>
            </a:r>
            <a:r>
              <a:rPr lang="en-IN" baseline="-25000" dirty="0" smtClean="0">
                <a:solidFill>
                  <a:srgbClr val="002060"/>
                </a:solidFill>
              </a:rPr>
              <a:t>2</a:t>
            </a:r>
            <a:r>
              <a:rPr lang="en-IN" dirty="0" smtClean="0">
                <a:solidFill>
                  <a:srgbClr val="002060"/>
                </a:solidFill>
              </a:rPr>
              <a:t> from 111001</a:t>
            </a:r>
            <a:r>
              <a:rPr lang="en-IN" baseline="-25000" dirty="0" smtClean="0">
                <a:solidFill>
                  <a:srgbClr val="002060"/>
                </a:solidFill>
              </a:rPr>
              <a:t>2</a:t>
            </a:r>
            <a:r>
              <a:rPr lang="en-IN" dirty="0" smtClean="0">
                <a:solidFill>
                  <a:srgbClr val="002060"/>
                </a:solidFill>
              </a:rPr>
              <a:t> using 1’s complement and 2’s complement methods.</a:t>
            </a:r>
            <a:endParaRPr lang="en-US" dirty="0" smtClean="0">
              <a:solidFill>
                <a:srgbClr val="002060"/>
              </a:solidFill>
            </a:endParaRPr>
          </a:p>
          <a:p>
            <a:pPr algn="just"/>
            <a:r>
              <a:rPr lang="en-US" dirty="0" smtClean="0">
                <a:solidFill>
                  <a:srgbClr val="002060"/>
                </a:solidFill>
              </a:rPr>
              <a:t>Carry out the following additions:</a:t>
            </a:r>
          </a:p>
          <a:p>
            <a:pPr algn="just">
              <a:buNone/>
            </a:pPr>
            <a:r>
              <a:rPr lang="en-US" dirty="0" smtClean="0">
                <a:solidFill>
                  <a:srgbClr val="002060"/>
                </a:solidFill>
              </a:rPr>
              <a:t>	(</a:t>
            </a:r>
            <a:r>
              <a:rPr lang="en-US" dirty="0" err="1" smtClean="0">
                <a:solidFill>
                  <a:srgbClr val="002060"/>
                </a:solidFill>
              </a:rPr>
              <a:t>i</a:t>
            </a:r>
            <a:r>
              <a:rPr lang="en-US" dirty="0" smtClean="0">
                <a:solidFill>
                  <a:srgbClr val="002060"/>
                </a:solidFill>
              </a:rPr>
              <a:t>) (+13, -11) using 1‘s complement notation. </a:t>
            </a:r>
          </a:p>
          <a:p>
            <a:pPr algn="just">
              <a:buNone/>
            </a:pPr>
            <a:r>
              <a:rPr lang="en-US" dirty="0" smtClean="0">
                <a:solidFill>
                  <a:srgbClr val="002060"/>
                </a:solidFill>
              </a:rPr>
              <a:t>	(ii) (-15, +9) using 2‘s complement notation.</a:t>
            </a:r>
          </a:p>
          <a:p>
            <a:pPr>
              <a:buNone/>
            </a:pPr>
            <a:endParaRPr lang="en-US"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37</a:t>
            </a:fld>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dirty="0" smtClean="0">
                <a:solidFill>
                  <a:srgbClr val="0070C0"/>
                </a:solidFill>
              </a:rPr>
              <a:t>Solutions:</a:t>
            </a:r>
            <a:endParaRPr lang="en-US" dirty="0">
              <a:solidFill>
                <a:srgbClr val="0070C0"/>
              </a:solidFill>
            </a:endParaRPr>
          </a:p>
        </p:txBody>
      </p:sp>
      <p:sp>
        <p:nvSpPr>
          <p:cNvPr id="3" name="Content Placeholder 2"/>
          <p:cNvSpPr>
            <a:spLocks noGrp="1"/>
          </p:cNvSpPr>
          <p:nvPr>
            <p:ph idx="1"/>
          </p:nvPr>
        </p:nvSpPr>
        <p:spPr/>
        <p:txBody>
          <a:bodyPr numCol="2">
            <a:normAutofit fontScale="92500" lnSpcReduction="20000"/>
          </a:bodyPr>
          <a:lstStyle/>
          <a:p>
            <a:pPr>
              <a:buNone/>
            </a:pPr>
            <a:r>
              <a:rPr lang="en-IN" dirty="0" smtClean="0"/>
              <a:t>(</a:t>
            </a:r>
            <a:r>
              <a:rPr lang="en-IN" dirty="0" err="1" smtClean="0"/>
              <a:t>i</a:t>
            </a:r>
            <a:r>
              <a:rPr lang="en-IN" dirty="0" smtClean="0"/>
              <a:t>)	111001 = 00111001</a:t>
            </a:r>
            <a:endParaRPr lang="en-US" dirty="0" smtClean="0"/>
          </a:p>
          <a:p>
            <a:pPr>
              <a:buNone/>
            </a:pPr>
            <a:r>
              <a:rPr lang="en-IN" dirty="0" smtClean="0"/>
              <a:t>	101011 = 00101011</a:t>
            </a:r>
            <a:endParaRPr lang="en-US" dirty="0" smtClean="0"/>
          </a:p>
          <a:p>
            <a:pPr>
              <a:buNone/>
            </a:pPr>
            <a:r>
              <a:rPr lang="en-IN" dirty="0" smtClean="0"/>
              <a:t>	1’s complement of 00101011 = 11010100</a:t>
            </a:r>
            <a:endParaRPr lang="en-US" dirty="0" smtClean="0"/>
          </a:p>
          <a:p>
            <a:pPr>
              <a:buNone/>
            </a:pPr>
            <a:r>
              <a:rPr lang="en-IN" dirty="0" smtClean="0"/>
              <a:t>		00111001</a:t>
            </a:r>
            <a:endParaRPr lang="en-US" dirty="0" smtClean="0"/>
          </a:p>
          <a:p>
            <a:pPr>
              <a:buNone/>
            </a:pPr>
            <a:r>
              <a:rPr lang="en-IN" dirty="0" smtClean="0"/>
              <a:t>		11010100</a:t>
            </a:r>
            <a:endParaRPr lang="en-US" dirty="0" smtClean="0"/>
          </a:p>
          <a:p>
            <a:pPr>
              <a:buNone/>
            </a:pPr>
            <a:r>
              <a:rPr lang="en-IN" dirty="0" smtClean="0"/>
              <a:t>	     </a:t>
            </a:r>
            <a:r>
              <a:rPr lang="en-IN" dirty="0" smtClean="0">
                <a:solidFill>
                  <a:srgbClr val="C00000"/>
                </a:solidFill>
              </a:rPr>
              <a:t>1</a:t>
            </a:r>
            <a:r>
              <a:rPr lang="en-IN" dirty="0" smtClean="0"/>
              <a:t>00001101</a:t>
            </a:r>
            <a:endParaRPr lang="en-US" dirty="0" smtClean="0"/>
          </a:p>
          <a:p>
            <a:pPr>
              <a:buNone/>
            </a:pPr>
            <a:r>
              <a:rPr lang="en-IN" dirty="0" smtClean="0"/>
              <a:t>			     1 </a:t>
            </a:r>
            <a:r>
              <a:rPr lang="en-IN" sz="1500" dirty="0" smtClean="0"/>
              <a:t>(End around carry)</a:t>
            </a:r>
            <a:endParaRPr lang="en-US" dirty="0" smtClean="0"/>
          </a:p>
          <a:p>
            <a:pPr>
              <a:buNone/>
            </a:pPr>
            <a:r>
              <a:rPr lang="en-IN" dirty="0" smtClean="0"/>
              <a:t>		00001110</a:t>
            </a:r>
          </a:p>
          <a:p>
            <a:pPr>
              <a:buNone/>
            </a:pPr>
            <a:endParaRPr lang="en-IN" dirty="0" smtClean="0"/>
          </a:p>
          <a:p>
            <a:pPr>
              <a:buNone/>
            </a:pPr>
            <a:r>
              <a:rPr lang="en-IN" dirty="0" smtClean="0"/>
              <a:t>(ii)111001 = 00111001</a:t>
            </a:r>
            <a:endParaRPr lang="en-US" dirty="0" smtClean="0"/>
          </a:p>
          <a:p>
            <a:pPr>
              <a:buNone/>
            </a:pPr>
            <a:r>
              <a:rPr lang="en-IN" dirty="0" smtClean="0"/>
              <a:t>	101011 = 00101011</a:t>
            </a:r>
            <a:endParaRPr lang="en-US" dirty="0" smtClean="0"/>
          </a:p>
          <a:p>
            <a:pPr>
              <a:buNone/>
            </a:pPr>
            <a:r>
              <a:rPr lang="en-IN" dirty="0" smtClean="0"/>
              <a:t>	2’s complement of 00101011 = 11010101</a:t>
            </a:r>
            <a:endParaRPr lang="en-US" dirty="0" smtClean="0"/>
          </a:p>
          <a:p>
            <a:pPr>
              <a:buNone/>
            </a:pPr>
            <a:r>
              <a:rPr lang="en-IN" dirty="0" smtClean="0"/>
              <a:t>		00111001</a:t>
            </a:r>
            <a:endParaRPr lang="en-US" dirty="0" smtClean="0"/>
          </a:p>
          <a:p>
            <a:pPr>
              <a:buNone/>
            </a:pPr>
            <a:r>
              <a:rPr lang="en-US" dirty="0" smtClean="0"/>
              <a:t>		</a:t>
            </a:r>
            <a:r>
              <a:rPr lang="en-IN" dirty="0" smtClean="0"/>
              <a:t>11010101</a:t>
            </a:r>
            <a:endParaRPr lang="en-US" dirty="0" smtClean="0"/>
          </a:p>
          <a:p>
            <a:pPr>
              <a:buNone/>
            </a:pPr>
            <a:r>
              <a:rPr lang="en-IN" dirty="0" smtClean="0"/>
              <a:t>	     </a:t>
            </a:r>
            <a:r>
              <a:rPr lang="en-IN" dirty="0" smtClean="0">
                <a:solidFill>
                  <a:srgbClr val="C00000"/>
                </a:solidFill>
              </a:rPr>
              <a:t>1</a:t>
            </a:r>
            <a:r>
              <a:rPr lang="en-IN" dirty="0" smtClean="0"/>
              <a:t>00001110</a:t>
            </a:r>
            <a:endParaRPr lang="en-US" dirty="0" smtClean="0"/>
          </a:p>
          <a:p>
            <a:pPr>
              <a:buNone/>
            </a:pPr>
            <a:r>
              <a:rPr lang="en-IN" sz="2200" dirty="0" smtClean="0"/>
              <a:t>				</a:t>
            </a:r>
            <a:r>
              <a:rPr lang="en-IN" sz="1300" dirty="0" smtClean="0"/>
              <a:t>(Discard the carry)</a:t>
            </a:r>
            <a:endParaRPr lang="en-US" sz="1300" dirty="0" smtClean="0"/>
          </a:p>
          <a:p>
            <a:pPr>
              <a:buNone/>
            </a:pPr>
            <a:r>
              <a:rPr lang="en-IN" dirty="0" smtClean="0"/>
              <a:t>		00001110</a:t>
            </a:r>
            <a:endParaRPr lang="en-US" dirty="0" smtClean="0"/>
          </a:p>
        </p:txBody>
      </p:sp>
      <p:cxnSp>
        <p:nvCxnSpPr>
          <p:cNvPr id="5" name="Straight Connector 4"/>
          <p:cNvCxnSpPr/>
          <p:nvPr/>
        </p:nvCxnSpPr>
        <p:spPr>
          <a:xfrm>
            <a:off x="1071538" y="4214818"/>
            <a:ext cx="2143140" cy="1588"/>
          </a:xfrm>
          <a:prstGeom prst="line">
            <a:avLst/>
          </a:prstGeom>
        </p:spPr>
        <p:style>
          <a:lnRef idx="1">
            <a:schemeClr val="dk1"/>
          </a:lnRef>
          <a:fillRef idx="0">
            <a:schemeClr val="dk1"/>
          </a:fillRef>
          <a:effectRef idx="0">
            <a:schemeClr val="dk1"/>
          </a:effectRef>
          <a:fontRef idx="minor">
            <a:schemeClr val="tx1"/>
          </a:fontRef>
        </p:style>
      </p:cxnSp>
      <p:cxnSp>
        <p:nvCxnSpPr>
          <p:cNvPr id="6" name="Straight Connector 5"/>
          <p:cNvCxnSpPr/>
          <p:nvPr/>
        </p:nvCxnSpPr>
        <p:spPr>
          <a:xfrm>
            <a:off x="1071538" y="5143512"/>
            <a:ext cx="2143140" cy="1588"/>
          </a:xfrm>
          <a:prstGeom prst="line">
            <a:avLst/>
          </a:prstGeom>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5143504" y="4214818"/>
            <a:ext cx="2143140" cy="1588"/>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p:cNvCxnSpPr/>
          <p:nvPr/>
        </p:nvCxnSpPr>
        <p:spPr>
          <a:xfrm>
            <a:off x="5143504" y="5000636"/>
            <a:ext cx="2143140" cy="1588"/>
          </a:xfrm>
          <a:prstGeom prst="line">
            <a:avLst/>
          </a:prstGeom>
        </p:spPr>
        <p:style>
          <a:lnRef idx="1">
            <a:schemeClr val="dk1"/>
          </a:lnRef>
          <a:fillRef idx="0">
            <a:schemeClr val="dk1"/>
          </a:fillRef>
          <a:effectRef idx="0">
            <a:schemeClr val="dk1"/>
          </a:effectRef>
          <a:fontRef idx="minor">
            <a:schemeClr val="tx1"/>
          </a:fontRef>
        </p:style>
      </p:cxnSp>
      <p:sp>
        <p:nvSpPr>
          <p:cNvPr id="9" name="Slide Number Placeholder 8"/>
          <p:cNvSpPr>
            <a:spLocks noGrp="1"/>
          </p:cNvSpPr>
          <p:nvPr>
            <p:ph type="sldNum" sz="quarter" idx="12"/>
          </p:nvPr>
        </p:nvSpPr>
        <p:spPr/>
        <p:txBody>
          <a:bodyPr/>
          <a:lstStyle/>
          <a:p>
            <a:fld id="{8A4DEF83-8E89-4D94-8D5D-613AED6F19E4}" type="slidenum">
              <a:rPr lang="en-US" smtClean="0"/>
              <a:pPr/>
              <a:t>38</a:t>
            </a:fld>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numCol="2">
            <a:noAutofit/>
          </a:bodyPr>
          <a:lstStyle/>
          <a:p>
            <a:pPr algn="just">
              <a:buNone/>
            </a:pPr>
            <a:r>
              <a:rPr lang="en-IN" sz="2200" dirty="0" smtClean="0"/>
              <a:t>(</a:t>
            </a:r>
            <a:r>
              <a:rPr lang="en-IN" sz="2200" dirty="0" err="1" smtClean="0"/>
              <a:t>i</a:t>
            </a:r>
            <a:r>
              <a:rPr lang="en-IN" sz="2200" dirty="0" smtClean="0"/>
              <a:t>)	+13 = 0000 1101</a:t>
            </a:r>
            <a:endParaRPr lang="en-US" sz="2200" dirty="0" smtClean="0"/>
          </a:p>
          <a:p>
            <a:pPr algn="just">
              <a:buNone/>
            </a:pPr>
            <a:r>
              <a:rPr lang="en-IN" sz="2200" dirty="0" smtClean="0"/>
              <a:t>	+11 = 0000 1011</a:t>
            </a:r>
            <a:endParaRPr lang="en-US" sz="2200" dirty="0" smtClean="0"/>
          </a:p>
          <a:p>
            <a:pPr algn="just">
              <a:buNone/>
            </a:pPr>
            <a:r>
              <a:rPr lang="en-IN" sz="2200" dirty="0" smtClean="0"/>
              <a:t>	-11 = 1111 0100 </a:t>
            </a:r>
            <a:r>
              <a:rPr lang="en-IN" sz="1400" dirty="0" smtClean="0"/>
              <a:t>(1’s complement form)</a:t>
            </a:r>
            <a:endParaRPr lang="en-US" sz="2200" dirty="0" smtClean="0"/>
          </a:p>
          <a:p>
            <a:pPr algn="just">
              <a:buNone/>
            </a:pPr>
            <a:r>
              <a:rPr lang="en-IN" sz="2200" dirty="0" smtClean="0"/>
              <a:t>		0000 1101</a:t>
            </a:r>
            <a:endParaRPr lang="en-US" sz="2200" dirty="0" smtClean="0"/>
          </a:p>
          <a:p>
            <a:pPr algn="just">
              <a:buNone/>
            </a:pPr>
            <a:r>
              <a:rPr lang="en-IN" sz="2200" dirty="0" smtClean="0"/>
              <a:t>		1111 0100</a:t>
            </a:r>
            <a:endParaRPr lang="en-US" sz="2200" dirty="0" smtClean="0"/>
          </a:p>
          <a:p>
            <a:pPr algn="just">
              <a:buNone/>
            </a:pPr>
            <a:r>
              <a:rPr lang="en-US" sz="2200" dirty="0" smtClean="0"/>
              <a:t>	       </a:t>
            </a:r>
            <a:r>
              <a:rPr lang="en-IN" sz="2200" dirty="0" smtClean="0">
                <a:solidFill>
                  <a:srgbClr val="C00000"/>
                </a:solidFill>
              </a:rPr>
              <a:t>1</a:t>
            </a:r>
            <a:r>
              <a:rPr lang="en-IN" sz="2200" dirty="0" smtClean="0"/>
              <a:t>0000 0001</a:t>
            </a:r>
            <a:endParaRPr lang="en-US" sz="2200" dirty="0" smtClean="0"/>
          </a:p>
          <a:p>
            <a:pPr algn="just">
              <a:buNone/>
            </a:pPr>
            <a:r>
              <a:rPr lang="en-IN" sz="2200" dirty="0" smtClean="0"/>
              <a:t>			   1 </a:t>
            </a:r>
            <a:r>
              <a:rPr lang="en-IN" sz="1800" dirty="0" smtClean="0"/>
              <a:t>(End around carry)</a:t>
            </a:r>
            <a:endParaRPr lang="en-US" sz="2200" dirty="0" smtClean="0"/>
          </a:p>
          <a:p>
            <a:pPr algn="just">
              <a:buNone/>
            </a:pPr>
            <a:r>
              <a:rPr lang="en-IN" sz="2200" dirty="0" smtClean="0"/>
              <a:t>		0000 0010</a:t>
            </a:r>
            <a:endParaRPr lang="en-US" sz="2200" dirty="0" smtClean="0"/>
          </a:p>
          <a:p>
            <a:pPr algn="just">
              <a:buNone/>
            </a:pPr>
            <a:r>
              <a:rPr lang="en-IN" sz="2200" dirty="0" smtClean="0"/>
              <a:t>	The MSB is a 0. So, the result is positive and is in pure binary. Therefore, the result is 0000 0010 = +2</a:t>
            </a:r>
          </a:p>
          <a:p>
            <a:pPr algn="just">
              <a:buNone/>
            </a:pPr>
            <a:r>
              <a:rPr lang="en-IN" sz="2200" dirty="0" smtClean="0"/>
              <a:t>(ii)	+15 = 0000 1111</a:t>
            </a:r>
            <a:endParaRPr lang="en-US" sz="2200" dirty="0" smtClean="0"/>
          </a:p>
          <a:p>
            <a:pPr algn="just">
              <a:buNone/>
            </a:pPr>
            <a:r>
              <a:rPr lang="en-IN" sz="2200" dirty="0" smtClean="0"/>
              <a:t>	 -15 = 1111 0001 </a:t>
            </a:r>
            <a:r>
              <a:rPr lang="en-IN" sz="1400" dirty="0" smtClean="0"/>
              <a:t>(2’s complement form)</a:t>
            </a:r>
            <a:endParaRPr lang="en-US" sz="2200" dirty="0" smtClean="0"/>
          </a:p>
          <a:p>
            <a:pPr algn="just">
              <a:buNone/>
            </a:pPr>
            <a:r>
              <a:rPr lang="en-IN" sz="2200" dirty="0" smtClean="0"/>
              <a:t>	 +9 = 0000 1001</a:t>
            </a:r>
            <a:endParaRPr lang="en-US" sz="2200" dirty="0" smtClean="0"/>
          </a:p>
          <a:p>
            <a:pPr algn="just">
              <a:buNone/>
            </a:pPr>
            <a:r>
              <a:rPr lang="en-IN" sz="2200" dirty="0" smtClean="0"/>
              <a:t>		1111 0001</a:t>
            </a:r>
            <a:endParaRPr lang="en-US" sz="2200" dirty="0" smtClean="0"/>
          </a:p>
          <a:p>
            <a:pPr algn="just">
              <a:buNone/>
            </a:pPr>
            <a:r>
              <a:rPr lang="en-US" sz="2200" dirty="0" smtClean="0"/>
              <a:t>		</a:t>
            </a:r>
            <a:r>
              <a:rPr lang="en-IN" sz="2200" dirty="0" smtClean="0"/>
              <a:t>0000 1001</a:t>
            </a:r>
            <a:endParaRPr lang="en-US" sz="2200" dirty="0" smtClean="0"/>
          </a:p>
          <a:p>
            <a:pPr algn="just">
              <a:buNone/>
            </a:pPr>
            <a:r>
              <a:rPr lang="en-IN" sz="2200" dirty="0" smtClean="0"/>
              <a:t>		1111 1010</a:t>
            </a:r>
            <a:endParaRPr lang="en-US" sz="2200" dirty="0" smtClean="0"/>
          </a:p>
          <a:p>
            <a:pPr algn="just">
              <a:buNone/>
            </a:pPr>
            <a:r>
              <a:rPr lang="en-IN" sz="2200" dirty="0" smtClean="0"/>
              <a:t>	There is no carry, the MSB is a 1. So, the result is negative and is in 2’s complement form. The magnitude is 2’s complement of 1111 1010, i.e. 0000 0110 = 6. Therefore, the result is -6.</a:t>
            </a:r>
            <a:endParaRPr lang="en-US" sz="2200" dirty="0"/>
          </a:p>
        </p:txBody>
      </p:sp>
      <p:cxnSp>
        <p:nvCxnSpPr>
          <p:cNvPr id="8" name="Straight Connector 7"/>
          <p:cNvCxnSpPr/>
          <p:nvPr/>
        </p:nvCxnSpPr>
        <p:spPr>
          <a:xfrm>
            <a:off x="1214414" y="3643314"/>
            <a:ext cx="1571636" cy="1588"/>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a:off x="1214414" y="4429132"/>
            <a:ext cx="1571636" cy="1588"/>
          </a:xfrm>
          <a:prstGeom prst="line">
            <a:avLst/>
          </a:prstGeom>
        </p:spPr>
        <p:style>
          <a:lnRef idx="1">
            <a:schemeClr val="dk1"/>
          </a:lnRef>
          <a:fillRef idx="0">
            <a:schemeClr val="dk1"/>
          </a:fillRef>
          <a:effectRef idx="0">
            <a:schemeClr val="dk1"/>
          </a:effectRef>
          <a:fontRef idx="minor">
            <a:schemeClr val="tx1"/>
          </a:fontRef>
        </p:style>
      </p:cxnSp>
      <p:cxnSp>
        <p:nvCxnSpPr>
          <p:cNvPr id="10" name="Straight Connector 9"/>
          <p:cNvCxnSpPr/>
          <p:nvPr/>
        </p:nvCxnSpPr>
        <p:spPr>
          <a:xfrm>
            <a:off x="5286380" y="3643314"/>
            <a:ext cx="1571636" cy="1588"/>
          </a:xfrm>
          <a:prstGeom prst="line">
            <a:avLst/>
          </a:prstGeom>
        </p:spPr>
        <p:style>
          <a:lnRef idx="1">
            <a:schemeClr val="dk1"/>
          </a:lnRef>
          <a:fillRef idx="0">
            <a:schemeClr val="dk1"/>
          </a:fillRef>
          <a:effectRef idx="0">
            <a:schemeClr val="dk1"/>
          </a:effectRef>
          <a:fontRef idx="minor">
            <a:schemeClr val="tx1"/>
          </a:fontRef>
        </p:style>
      </p:cxnSp>
      <p:sp>
        <p:nvSpPr>
          <p:cNvPr id="6" name="Slide Number Placeholder 5"/>
          <p:cNvSpPr>
            <a:spLocks noGrp="1"/>
          </p:cNvSpPr>
          <p:nvPr>
            <p:ph type="sldNum" sz="quarter" idx="12"/>
          </p:nvPr>
        </p:nvSpPr>
        <p:spPr/>
        <p:txBody>
          <a:bodyPr/>
          <a:lstStyle/>
          <a:p>
            <a:fld id="{8A4DEF83-8E89-4D94-8D5D-613AED6F19E4}" type="slidenum">
              <a:rPr lang="en-US" smtClean="0"/>
              <a:pPr/>
              <a:t>39</a:t>
            </a:fld>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42910" y="2285993"/>
            <a:ext cx="7772400" cy="1857387"/>
          </a:xfrm>
        </p:spPr>
        <p:txBody>
          <a:bodyPr>
            <a:noAutofit/>
          </a:bodyPr>
          <a:lstStyle/>
          <a:p>
            <a:r>
              <a:rPr lang="en-IN" sz="6000" b="1" dirty="0" smtClean="0">
                <a:solidFill>
                  <a:srgbClr val="00B050"/>
                </a:solidFill>
              </a:rPr>
              <a:t>Floating-Point Number Representation</a:t>
            </a:r>
            <a:endParaRPr lang="en-US" sz="6000" b="1" dirty="0">
              <a:solidFill>
                <a:srgbClr val="00B050"/>
              </a:solidFill>
            </a:endParaRPr>
          </a:p>
        </p:txBody>
      </p:sp>
      <p:sp>
        <p:nvSpPr>
          <p:cNvPr id="3" name="Slide Number Placeholder 2"/>
          <p:cNvSpPr>
            <a:spLocks noGrp="1"/>
          </p:cNvSpPr>
          <p:nvPr>
            <p:ph type="sldNum" sz="quarter" idx="12"/>
          </p:nvPr>
        </p:nvSpPr>
        <p:spPr/>
        <p:txBody>
          <a:bodyPr/>
          <a:lstStyle/>
          <a:p>
            <a:fld id="{8A4DEF83-8E89-4D94-8D5D-613AED6F19E4}" type="slidenum">
              <a:rPr lang="en-US" smtClean="0"/>
              <a:pPr/>
              <a:t>40</a:t>
            </a:fld>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428737"/>
            <a:ext cx="8229600" cy="4857784"/>
          </a:xfrm>
        </p:spPr>
        <p:txBody>
          <a:bodyPr>
            <a:normAutofit/>
          </a:bodyPr>
          <a:lstStyle/>
          <a:p>
            <a:pPr algn="just"/>
            <a:r>
              <a:rPr lang="en-IN" dirty="0" smtClean="0">
                <a:cs typeface="Times New Roman" pitchFamily="18" charset="0"/>
              </a:rPr>
              <a:t>Floating-Point</a:t>
            </a:r>
            <a:r>
              <a:rPr lang="en-US" dirty="0" smtClean="0">
                <a:cs typeface="Times New Roman" pitchFamily="18" charset="0"/>
              </a:rPr>
              <a:t> is useful for representing a number in a </a:t>
            </a:r>
            <a:r>
              <a:rPr lang="en-US" dirty="0" smtClean="0">
                <a:solidFill>
                  <a:srgbClr val="FF0000"/>
                </a:solidFill>
                <a:cs typeface="Times New Roman" pitchFamily="18" charset="0"/>
              </a:rPr>
              <a:t>wide range</a:t>
            </a:r>
            <a:r>
              <a:rPr lang="en-US" dirty="0" smtClean="0">
                <a:cs typeface="Times New Roman" pitchFamily="18" charset="0"/>
              </a:rPr>
              <a:t>: </a:t>
            </a:r>
            <a:r>
              <a:rPr lang="en-US" dirty="0" smtClean="0">
                <a:solidFill>
                  <a:srgbClr val="0070C0"/>
                </a:solidFill>
                <a:cs typeface="Times New Roman" pitchFamily="18" charset="0"/>
              </a:rPr>
              <a:t>very small</a:t>
            </a:r>
            <a:r>
              <a:rPr lang="en-US" dirty="0" smtClean="0">
                <a:cs typeface="Times New Roman" pitchFamily="18" charset="0"/>
              </a:rPr>
              <a:t> to </a:t>
            </a:r>
            <a:r>
              <a:rPr lang="en-US" dirty="0" smtClean="0">
                <a:solidFill>
                  <a:srgbClr val="0070C0"/>
                </a:solidFill>
                <a:cs typeface="Times New Roman" pitchFamily="18" charset="0"/>
              </a:rPr>
              <a:t>very large</a:t>
            </a:r>
            <a:r>
              <a:rPr lang="en-US" dirty="0" smtClean="0">
                <a:cs typeface="Times New Roman" pitchFamily="18" charset="0"/>
              </a:rPr>
              <a:t>.</a:t>
            </a:r>
          </a:p>
          <a:p>
            <a:pPr algn="just"/>
            <a:r>
              <a:rPr lang="en-US" dirty="0" smtClean="0">
                <a:cs typeface="Times New Roman" pitchFamily="18" charset="0"/>
              </a:rPr>
              <a:t>It is widely used in the scientific world.</a:t>
            </a:r>
            <a:endParaRPr lang="en-US" dirty="0"/>
          </a:p>
        </p:txBody>
      </p:sp>
      <p:pic>
        <p:nvPicPr>
          <p:cNvPr id="1027" name="Picture 3"/>
          <p:cNvPicPr>
            <a:picLocks noChangeAspect="1" noChangeArrowheads="1"/>
          </p:cNvPicPr>
          <p:nvPr/>
        </p:nvPicPr>
        <p:blipFill>
          <a:blip r:embed="rId2" cstate="print"/>
          <a:srcRect/>
          <a:stretch>
            <a:fillRect/>
          </a:stretch>
        </p:blipFill>
        <p:spPr bwMode="auto">
          <a:xfrm>
            <a:off x="2500298" y="3643314"/>
            <a:ext cx="4286280" cy="271022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41</a:t>
            </a:fld>
            <a:endParaRPr 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000108"/>
            <a:ext cx="8229600" cy="4983179"/>
          </a:xfrm>
        </p:spPr>
        <p:txBody>
          <a:bodyPr>
            <a:normAutofit/>
          </a:bodyPr>
          <a:lstStyle/>
          <a:p>
            <a:pPr algn="just"/>
            <a:r>
              <a:rPr lang="en-US" dirty="0" smtClean="0"/>
              <a:t>There are many ways to write a number in scientific notation, but there is always a unique </a:t>
            </a:r>
            <a:r>
              <a:rPr lang="en-US" dirty="0" smtClean="0">
                <a:solidFill>
                  <a:srgbClr val="FF0000"/>
                </a:solidFill>
              </a:rPr>
              <a:t>normalized</a:t>
            </a:r>
            <a:r>
              <a:rPr lang="en-US" dirty="0" smtClean="0"/>
              <a:t> representation, with exactly one non-zero digit to the left of the point. </a:t>
            </a:r>
          </a:p>
          <a:p>
            <a:pPr algn="just">
              <a:buNone/>
            </a:pPr>
            <a:r>
              <a:rPr lang="en-US" dirty="0" smtClean="0">
                <a:solidFill>
                  <a:srgbClr val="0070C0"/>
                </a:solidFill>
              </a:rPr>
              <a:t>	Example:</a:t>
            </a:r>
          </a:p>
          <a:p>
            <a:pPr algn="just">
              <a:buNone/>
            </a:pPr>
            <a:r>
              <a:rPr lang="en-US" dirty="0" smtClean="0">
                <a:solidFill>
                  <a:srgbClr val="0070C0"/>
                </a:solidFill>
              </a:rPr>
              <a:t>	</a:t>
            </a:r>
            <a:r>
              <a:rPr lang="en-US" dirty="0" smtClean="0"/>
              <a:t>257 = 25.7 × 10</a:t>
            </a:r>
            <a:r>
              <a:rPr lang="en-US" baseline="30000" dirty="0" smtClean="0"/>
              <a:t>1</a:t>
            </a:r>
            <a:r>
              <a:rPr lang="en-US" dirty="0" smtClean="0"/>
              <a:t> = </a:t>
            </a:r>
            <a:r>
              <a:rPr lang="en-US" dirty="0" smtClean="0">
                <a:solidFill>
                  <a:srgbClr val="FF0000"/>
                </a:solidFill>
              </a:rPr>
              <a:t>2.57 × 10</a:t>
            </a:r>
            <a:r>
              <a:rPr lang="en-US" baseline="30000" dirty="0" smtClean="0">
                <a:solidFill>
                  <a:srgbClr val="FF0000"/>
                </a:solidFill>
              </a:rPr>
              <a:t>2</a:t>
            </a:r>
            <a:r>
              <a:rPr lang="en-US" dirty="0" smtClean="0"/>
              <a:t> = …</a:t>
            </a:r>
            <a:endParaRPr lang="en-US" dirty="0" smtClean="0">
              <a:solidFill>
                <a:srgbClr val="FF0000"/>
              </a:solidFill>
            </a:endParaRPr>
          </a:p>
          <a:p>
            <a:pPr algn="just">
              <a:buNone/>
            </a:pPr>
            <a:r>
              <a:rPr lang="en-US" dirty="0" smtClean="0"/>
              <a:t>	0.232 × 10</a:t>
            </a:r>
            <a:r>
              <a:rPr lang="en-US" baseline="30000" dirty="0" smtClean="0"/>
              <a:t>3</a:t>
            </a:r>
            <a:r>
              <a:rPr lang="en-US" dirty="0" smtClean="0"/>
              <a:t> = </a:t>
            </a:r>
            <a:r>
              <a:rPr lang="en-US" dirty="0" smtClean="0">
                <a:solidFill>
                  <a:srgbClr val="FF0000"/>
                </a:solidFill>
              </a:rPr>
              <a:t>2.32 × 10</a:t>
            </a:r>
            <a:r>
              <a:rPr lang="en-US" baseline="30000" dirty="0" smtClean="0">
                <a:solidFill>
                  <a:srgbClr val="FF0000"/>
                </a:solidFill>
              </a:rPr>
              <a:t>2</a:t>
            </a:r>
            <a:r>
              <a:rPr lang="en-US" dirty="0" smtClean="0"/>
              <a:t> = 23.2 × 10</a:t>
            </a:r>
            <a:r>
              <a:rPr lang="en-US" baseline="30000" dirty="0" smtClean="0"/>
              <a:t>1</a:t>
            </a:r>
            <a:r>
              <a:rPr lang="en-US" dirty="0" smtClean="0"/>
              <a:t> = …</a:t>
            </a:r>
          </a:p>
          <a:p>
            <a:pPr algn="just">
              <a:buNone/>
            </a:pPr>
            <a:r>
              <a:rPr lang="en-US" dirty="0" smtClean="0"/>
              <a:t>	01001 = </a:t>
            </a:r>
            <a:r>
              <a:rPr lang="en-US" dirty="0" smtClean="0">
                <a:solidFill>
                  <a:srgbClr val="FF0000"/>
                </a:solidFill>
              </a:rPr>
              <a:t>1.001 × 2</a:t>
            </a:r>
            <a:r>
              <a:rPr lang="en-US" baseline="30000" dirty="0" smtClean="0">
                <a:solidFill>
                  <a:srgbClr val="FF0000"/>
                </a:solidFill>
              </a:rPr>
              <a:t>3</a:t>
            </a:r>
            <a:r>
              <a:rPr lang="en-US" dirty="0" smtClean="0"/>
              <a:t> = ...</a:t>
            </a:r>
            <a:endParaRPr lang="en-US" baseline="30000" dirty="0"/>
          </a:p>
        </p:txBody>
      </p:sp>
      <p:sp>
        <p:nvSpPr>
          <p:cNvPr id="4" name="Slide Number Placeholder 3"/>
          <p:cNvSpPr>
            <a:spLocks noGrp="1"/>
          </p:cNvSpPr>
          <p:nvPr>
            <p:ph type="sldNum" sz="quarter" idx="12"/>
          </p:nvPr>
        </p:nvSpPr>
        <p:spPr/>
        <p:txBody>
          <a:bodyPr/>
          <a:lstStyle/>
          <a:p>
            <a:fld id="{8A4DEF83-8E89-4D94-8D5D-613AED6F19E4}" type="slidenum">
              <a:rPr lang="en-US" smtClean="0"/>
              <a:pPr/>
              <a:t>42</a:t>
            </a:fld>
            <a:endParaRPr 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solidFill>
                  <a:srgbClr val="C00000"/>
                </a:solidFill>
              </a:rPr>
              <a:t>What’s the normalized representation of 00101101.101 ?</a:t>
            </a:r>
          </a:p>
          <a:p>
            <a:pPr algn="just">
              <a:buNone/>
            </a:pPr>
            <a:r>
              <a:rPr lang="en-US" dirty="0" smtClean="0"/>
              <a:t>		</a:t>
            </a:r>
            <a:r>
              <a:rPr lang="en-US" dirty="0" smtClean="0">
                <a:solidFill>
                  <a:srgbClr val="C00000"/>
                </a:solidFill>
              </a:rPr>
              <a:t> </a:t>
            </a:r>
            <a:r>
              <a:rPr lang="en-US" dirty="0" smtClean="0"/>
              <a:t>00101101.101 = 1.01101101 × 2</a:t>
            </a:r>
            <a:r>
              <a:rPr lang="en-US" baseline="30000" dirty="0" smtClean="0"/>
              <a:t>5</a:t>
            </a:r>
          </a:p>
          <a:p>
            <a:pPr algn="just">
              <a:buNone/>
            </a:pPr>
            <a:endParaRPr lang="en-US" baseline="30000" dirty="0" smtClean="0"/>
          </a:p>
          <a:p>
            <a:pPr algn="just"/>
            <a:r>
              <a:rPr lang="en-US" dirty="0" smtClean="0">
                <a:solidFill>
                  <a:srgbClr val="C00000"/>
                </a:solidFill>
              </a:rPr>
              <a:t>What’s the normalized representation of 0.0001101001110 ?</a:t>
            </a:r>
          </a:p>
          <a:p>
            <a:pPr algn="just">
              <a:buNone/>
            </a:pPr>
            <a:r>
              <a:rPr lang="en-US" dirty="0" smtClean="0"/>
              <a:t>		0.0001101001110 = 1.101001110 × 2</a:t>
            </a:r>
            <a:r>
              <a:rPr lang="en-US" baseline="30000" dirty="0" smtClean="0"/>
              <a:t>-4</a:t>
            </a:r>
            <a:endParaRPr lang="en-US" baseline="30000" dirty="0" smtClean="0">
              <a:solidFill>
                <a:srgbClr val="C00000"/>
              </a:solidFill>
            </a:endParaRPr>
          </a:p>
        </p:txBody>
      </p:sp>
      <p:sp>
        <p:nvSpPr>
          <p:cNvPr id="4" name="Slide Number Placeholder 3"/>
          <p:cNvSpPr>
            <a:spLocks noGrp="1"/>
          </p:cNvSpPr>
          <p:nvPr>
            <p:ph type="sldNum" sz="quarter" idx="12"/>
          </p:nvPr>
        </p:nvSpPr>
        <p:spPr/>
        <p:txBody>
          <a:bodyPr/>
          <a:lstStyle/>
          <a:p>
            <a:fld id="{8A4DEF83-8E89-4D94-8D5D-613AED6F19E4}" type="slidenum">
              <a:rPr lang="en-US" smtClean="0"/>
              <a:pPr/>
              <a:t>43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down)">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wipe(down)">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wipe(down)">
                                      <p:cBhvr>
                                        <p:cTn id="2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57232"/>
            <a:ext cx="8229600" cy="5286412"/>
          </a:xfrm>
        </p:spPr>
        <p:txBody>
          <a:bodyPr/>
          <a:lstStyle/>
          <a:p>
            <a:pPr algn="just"/>
            <a:r>
              <a:rPr lang="en-US" dirty="0" smtClean="0"/>
              <a:t>We can represent floating-point numbers with three binary fields: </a:t>
            </a:r>
          </a:p>
          <a:p>
            <a:pPr lvl="1" algn="just"/>
            <a:r>
              <a:rPr lang="en-US" dirty="0" smtClean="0">
                <a:solidFill>
                  <a:srgbClr val="0070C0"/>
                </a:solidFill>
              </a:rPr>
              <a:t>a sign bit S, </a:t>
            </a:r>
          </a:p>
          <a:p>
            <a:pPr lvl="1" algn="just"/>
            <a:r>
              <a:rPr lang="en-US" dirty="0" smtClean="0">
                <a:solidFill>
                  <a:srgbClr val="0070C0"/>
                </a:solidFill>
              </a:rPr>
              <a:t>an exponent field E, </a:t>
            </a:r>
            <a:r>
              <a:rPr lang="en-US" dirty="0" smtClean="0"/>
              <a:t>and</a:t>
            </a:r>
            <a:r>
              <a:rPr lang="en-US" dirty="0" smtClean="0">
                <a:solidFill>
                  <a:srgbClr val="0070C0"/>
                </a:solidFill>
              </a:rPr>
              <a:t> </a:t>
            </a:r>
          </a:p>
          <a:p>
            <a:pPr lvl="1" algn="just"/>
            <a:r>
              <a:rPr lang="en-US" dirty="0" smtClean="0">
                <a:solidFill>
                  <a:srgbClr val="0070C0"/>
                </a:solidFill>
              </a:rPr>
              <a:t>A </a:t>
            </a:r>
            <a:r>
              <a:rPr lang="en-US" dirty="0" err="1" smtClean="0">
                <a:solidFill>
                  <a:srgbClr val="0070C0"/>
                </a:solidFill>
              </a:rPr>
              <a:t>significand</a:t>
            </a:r>
            <a:r>
              <a:rPr lang="en-US" dirty="0" smtClean="0">
                <a:solidFill>
                  <a:srgbClr val="0070C0"/>
                </a:solidFill>
              </a:rPr>
              <a:t> (mantissa) / fraction field F.</a:t>
            </a:r>
            <a:endParaRPr lang="en-US" dirty="0">
              <a:solidFill>
                <a:srgbClr val="0070C0"/>
              </a:solidFill>
            </a:endParaRPr>
          </a:p>
        </p:txBody>
      </p:sp>
      <p:pic>
        <p:nvPicPr>
          <p:cNvPr id="2052" name="Picture 4"/>
          <p:cNvPicPr>
            <a:picLocks noChangeAspect="1" noChangeArrowheads="1"/>
          </p:cNvPicPr>
          <p:nvPr/>
        </p:nvPicPr>
        <p:blipFill>
          <a:blip r:embed="rId2" cstate="print"/>
          <a:srcRect/>
          <a:stretch>
            <a:fillRect/>
          </a:stretch>
        </p:blipFill>
        <p:spPr bwMode="auto">
          <a:xfrm>
            <a:off x="501444" y="3643314"/>
            <a:ext cx="8142522" cy="2357454"/>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44</a:t>
            </a:fld>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331929"/>
            <a:ext cx="8229600" cy="4525963"/>
          </a:xfrm>
        </p:spPr>
        <p:txBody>
          <a:bodyPr>
            <a:normAutofit/>
          </a:bodyPr>
          <a:lstStyle/>
          <a:p>
            <a:pPr algn="just"/>
            <a:r>
              <a:rPr lang="en-US" dirty="0" smtClean="0"/>
              <a:t>The IEEE 754 standard defines several different precisions.</a:t>
            </a:r>
          </a:p>
          <a:p>
            <a:pPr algn="just"/>
            <a:endParaRPr lang="en-US" sz="2800" dirty="0" smtClean="0"/>
          </a:p>
          <a:p>
            <a:pPr lvl="1" algn="just">
              <a:buFont typeface="Wingdings" pitchFamily="2" charset="2"/>
              <a:buChar char="§"/>
            </a:pPr>
            <a:r>
              <a:rPr lang="en-US" dirty="0" smtClean="0">
                <a:solidFill>
                  <a:srgbClr val="FF0000"/>
                </a:solidFill>
              </a:rPr>
              <a:t>Single precision </a:t>
            </a:r>
            <a:r>
              <a:rPr lang="en-US" dirty="0" smtClean="0">
                <a:solidFill>
                  <a:schemeClr val="tx2">
                    <a:lumMod val="60000"/>
                    <a:lumOff val="40000"/>
                  </a:schemeClr>
                </a:solidFill>
              </a:rPr>
              <a:t>(32 bits) </a:t>
            </a:r>
            <a:r>
              <a:rPr lang="en-US" dirty="0" smtClean="0">
                <a:solidFill>
                  <a:schemeClr val="tx2">
                    <a:lumMod val="40000"/>
                    <a:lumOff val="60000"/>
                  </a:schemeClr>
                </a:solidFill>
              </a:rPr>
              <a:t>[1 + 8 + 23]</a:t>
            </a:r>
          </a:p>
          <a:p>
            <a:pPr lvl="1" algn="just">
              <a:buFont typeface="Wingdings" pitchFamily="2" charset="2"/>
              <a:buChar char="§"/>
            </a:pPr>
            <a:endParaRPr lang="en-US" dirty="0" smtClean="0">
              <a:solidFill>
                <a:srgbClr val="0070C0"/>
              </a:solidFill>
            </a:endParaRPr>
          </a:p>
          <a:p>
            <a:pPr lvl="1" algn="just">
              <a:buFont typeface="Wingdings" pitchFamily="2" charset="2"/>
              <a:buChar char="§"/>
            </a:pPr>
            <a:r>
              <a:rPr lang="en-US" dirty="0" smtClean="0">
                <a:solidFill>
                  <a:srgbClr val="FF0000"/>
                </a:solidFill>
              </a:rPr>
              <a:t>Double precision </a:t>
            </a:r>
            <a:r>
              <a:rPr lang="en-US" dirty="0" smtClean="0">
                <a:solidFill>
                  <a:schemeClr val="tx2">
                    <a:lumMod val="60000"/>
                    <a:lumOff val="40000"/>
                  </a:schemeClr>
                </a:solidFill>
              </a:rPr>
              <a:t>(64 bits) </a:t>
            </a:r>
            <a:r>
              <a:rPr lang="en-US" dirty="0" smtClean="0">
                <a:solidFill>
                  <a:schemeClr val="tx2">
                    <a:lumMod val="40000"/>
                    <a:lumOff val="60000"/>
                  </a:schemeClr>
                </a:solidFill>
              </a:rPr>
              <a:t>[1 + 11 + 52]</a:t>
            </a:r>
          </a:p>
          <a:p>
            <a:pPr lvl="1" algn="just">
              <a:buFont typeface="Wingdings" pitchFamily="2" charset="2"/>
              <a:buChar char="§"/>
            </a:pPr>
            <a:endParaRPr lang="en-US" dirty="0" smtClean="0">
              <a:solidFill>
                <a:srgbClr val="FF0000"/>
              </a:solidFill>
            </a:endParaRPr>
          </a:p>
          <a:p>
            <a:pPr lvl="1" algn="just">
              <a:buFont typeface="Wingdings" pitchFamily="2" charset="2"/>
              <a:buChar char="§"/>
            </a:pPr>
            <a:r>
              <a:rPr lang="en-US" dirty="0" smtClean="0">
                <a:solidFill>
                  <a:srgbClr val="FF0000"/>
                </a:solidFill>
              </a:rPr>
              <a:t>Extended precision </a:t>
            </a:r>
            <a:r>
              <a:rPr lang="en-US" dirty="0" smtClean="0">
                <a:solidFill>
                  <a:schemeClr val="tx2">
                    <a:lumMod val="60000"/>
                    <a:lumOff val="40000"/>
                  </a:schemeClr>
                </a:solidFill>
              </a:rPr>
              <a:t>(80 bits) </a:t>
            </a:r>
            <a:r>
              <a:rPr lang="en-US" dirty="0" smtClean="0">
                <a:solidFill>
                  <a:schemeClr val="tx2">
                    <a:lumMod val="40000"/>
                    <a:lumOff val="60000"/>
                  </a:schemeClr>
                </a:solidFill>
              </a:rPr>
              <a:t>[1 + 15 + 64]</a:t>
            </a:r>
          </a:p>
        </p:txBody>
      </p:sp>
      <p:sp>
        <p:nvSpPr>
          <p:cNvPr id="4" name="Slide Number Placeholder 3"/>
          <p:cNvSpPr>
            <a:spLocks noGrp="1"/>
          </p:cNvSpPr>
          <p:nvPr>
            <p:ph type="sldNum" sz="quarter" idx="12"/>
          </p:nvPr>
        </p:nvSpPr>
        <p:spPr/>
        <p:txBody>
          <a:bodyPr/>
          <a:lstStyle/>
          <a:p>
            <a:fld id="{8A4DEF83-8E89-4D94-8D5D-613AED6F19E4}" type="slidenum">
              <a:rPr lang="en-US" smtClean="0"/>
              <a:pPr/>
              <a:t>45</a:t>
            </a:fld>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42918"/>
            <a:ext cx="8229600" cy="5857916"/>
          </a:xfrm>
        </p:spPr>
        <p:txBody>
          <a:bodyPr>
            <a:normAutofit/>
          </a:bodyPr>
          <a:lstStyle/>
          <a:p>
            <a:pPr algn="just"/>
            <a:r>
              <a:rPr lang="en-US" dirty="0" smtClean="0">
                <a:solidFill>
                  <a:srgbClr val="FF0000"/>
                </a:solidFill>
              </a:rPr>
              <a:t>Single precision </a:t>
            </a:r>
            <a:r>
              <a:rPr lang="en-US" dirty="0" smtClean="0">
                <a:solidFill>
                  <a:srgbClr val="0070C0"/>
                </a:solidFill>
              </a:rPr>
              <a:t>numbers include a 1-bit sign, an 8-bit exponent and a 23-bit fraction, for a total of </a:t>
            </a:r>
            <a:r>
              <a:rPr lang="en-US" dirty="0" smtClean="0">
                <a:solidFill>
                  <a:srgbClr val="FF0000"/>
                </a:solidFill>
              </a:rPr>
              <a:t>32 bits</a:t>
            </a:r>
            <a:r>
              <a:rPr lang="en-US" dirty="0" smtClean="0">
                <a:solidFill>
                  <a:srgbClr val="0070C0"/>
                </a:solidFill>
              </a:rPr>
              <a:t>.</a:t>
            </a:r>
          </a:p>
          <a:p>
            <a:pPr algn="just"/>
            <a:endParaRPr lang="en-US" b="1" dirty="0" smtClean="0">
              <a:solidFill>
                <a:srgbClr val="0070C0"/>
              </a:solidFill>
            </a:endParaRPr>
          </a:p>
          <a:p>
            <a:pPr algn="just"/>
            <a:endParaRPr lang="en-US" b="1" dirty="0" smtClean="0">
              <a:solidFill>
                <a:srgbClr val="0070C0"/>
              </a:solidFill>
            </a:endParaRPr>
          </a:p>
          <a:p>
            <a:pPr algn="just"/>
            <a:r>
              <a:rPr lang="en-US" dirty="0" smtClean="0">
                <a:solidFill>
                  <a:srgbClr val="FF0000"/>
                </a:solidFill>
              </a:rPr>
              <a:t>Double precision</a:t>
            </a:r>
            <a:r>
              <a:rPr lang="en-US" dirty="0" smtClean="0">
                <a:solidFill>
                  <a:srgbClr val="0070C0"/>
                </a:solidFill>
              </a:rPr>
              <a:t> numbers have a 1-bit sign, an 11-bit exponent and a 52-bit fraction, for a total of </a:t>
            </a:r>
            <a:r>
              <a:rPr lang="en-US" dirty="0" smtClean="0">
                <a:solidFill>
                  <a:srgbClr val="FF0000"/>
                </a:solidFill>
              </a:rPr>
              <a:t>64 bits</a:t>
            </a:r>
            <a:r>
              <a:rPr lang="en-US" dirty="0" smtClean="0">
                <a:solidFill>
                  <a:srgbClr val="0070C0"/>
                </a:solidFill>
              </a:rPr>
              <a:t>.</a:t>
            </a:r>
            <a:endParaRPr lang="en-US" dirty="0">
              <a:solidFill>
                <a:srgbClr val="0070C0"/>
              </a:solidFill>
            </a:endParaRPr>
          </a:p>
        </p:txBody>
      </p:sp>
      <p:pic>
        <p:nvPicPr>
          <p:cNvPr id="1027" name="Picture 3"/>
          <p:cNvPicPr>
            <a:picLocks noChangeAspect="1" noChangeArrowheads="1"/>
          </p:cNvPicPr>
          <p:nvPr/>
        </p:nvPicPr>
        <p:blipFill>
          <a:blip r:embed="rId2" cstate="print"/>
          <a:srcRect/>
          <a:stretch>
            <a:fillRect/>
          </a:stretch>
        </p:blipFill>
        <p:spPr bwMode="auto">
          <a:xfrm>
            <a:off x="785786" y="5072074"/>
            <a:ext cx="7858180" cy="1214446"/>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cstate="print"/>
          <a:srcRect/>
          <a:stretch>
            <a:fillRect/>
          </a:stretch>
        </p:blipFill>
        <p:spPr bwMode="auto">
          <a:xfrm>
            <a:off x="2214546" y="2143116"/>
            <a:ext cx="4862531" cy="1234247"/>
          </a:xfrm>
          <a:prstGeom prst="rect">
            <a:avLst/>
          </a:prstGeom>
          <a:noFill/>
          <a:ln w="9525">
            <a:noFill/>
            <a:miter lim="800000"/>
            <a:headEnd/>
            <a:tailEnd/>
          </a:ln>
          <a:effectLst/>
        </p:spPr>
      </p:pic>
      <p:sp>
        <p:nvSpPr>
          <p:cNvPr id="5" name="Slide Number Placeholder 4"/>
          <p:cNvSpPr>
            <a:spLocks noGrp="1"/>
          </p:cNvSpPr>
          <p:nvPr>
            <p:ph type="sldNum" sz="quarter" idx="12"/>
          </p:nvPr>
        </p:nvSpPr>
        <p:spPr/>
        <p:txBody>
          <a:bodyPr/>
          <a:lstStyle/>
          <a:p>
            <a:fld id="{8A4DEF83-8E89-4D94-8D5D-613AED6F19E4}" type="slidenum">
              <a:rPr lang="en-US" smtClean="0"/>
              <a:pPr/>
              <a:t>46</a:t>
            </a:fld>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The </a:t>
            </a:r>
            <a:r>
              <a:rPr lang="en-US" dirty="0" smtClean="0">
                <a:solidFill>
                  <a:srgbClr val="FF0000"/>
                </a:solidFill>
              </a:rPr>
              <a:t>sign bit</a:t>
            </a:r>
            <a:r>
              <a:rPr lang="en-US" dirty="0" smtClean="0"/>
              <a:t> is </a:t>
            </a:r>
          </a:p>
          <a:p>
            <a:pPr algn="just">
              <a:buNone/>
            </a:pPr>
            <a:r>
              <a:rPr lang="en-US" dirty="0" smtClean="0"/>
              <a:t>	</a:t>
            </a:r>
            <a:r>
              <a:rPr lang="en-US" dirty="0" smtClean="0">
                <a:solidFill>
                  <a:srgbClr val="FF0000"/>
                </a:solidFill>
              </a:rPr>
              <a:t>0</a:t>
            </a:r>
            <a:r>
              <a:rPr lang="en-US" dirty="0" smtClean="0"/>
              <a:t> </a:t>
            </a:r>
            <a:r>
              <a:rPr lang="en-US" dirty="0" smtClean="0">
                <a:solidFill>
                  <a:srgbClr val="0070C0"/>
                </a:solidFill>
              </a:rPr>
              <a:t>for positive numbers </a:t>
            </a:r>
            <a:r>
              <a:rPr lang="en-US" dirty="0" smtClean="0"/>
              <a:t>and </a:t>
            </a:r>
          </a:p>
          <a:p>
            <a:pPr algn="just">
              <a:buNone/>
            </a:pPr>
            <a:r>
              <a:rPr lang="en-US" dirty="0" smtClean="0"/>
              <a:t>	</a:t>
            </a:r>
            <a:r>
              <a:rPr lang="en-US" dirty="0" smtClean="0">
                <a:solidFill>
                  <a:srgbClr val="FF0000"/>
                </a:solidFill>
              </a:rPr>
              <a:t>1</a:t>
            </a:r>
            <a:r>
              <a:rPr lang="en-US" dirty="0" smtClean="0"/>
              <a:t> </a:t>
            </a:r>
            <a:r>
              <a:rPr lang="en-US" dirty="0" smtClean="0">
                <a:solidFill>
                  <a:srgbClr val="0070C0"/>
                </a:solidFill>
              </a:rPr>
              <a:t>for negative numbers</a:t>
            </a:r>
            <a:r>
              <a:rPr lang="en-US" dirty="0" smtClean="0"/>
              <a:t>.</a:t>
            </a:r>
          </a:p>
          <a:p>
            <a:endParaRPr lang="en-US" b="1" dirty="0"/>
          </a:p>
        </p:txBody>
      </p:sp>
      <p:pic>
        <p:nvPicPr>
          <p:cNvPr id="4099" name="Picture 3"/>
          <p:cNvPicPr>
            <a:picLocks noChangeAspect="1" noChangeArrowheads="1"/>
          </p:cNvPicPr>
          <p:nvPr/>
        </p:nvPicPr>
        <p:blipFill>
          <a:blip r:embed="rId2" cstate="print"/>
          <a:srcRect/>
          <a:stretch>
            <a:fillRect/>
          </a:stretch>
        </p:blipFill>
        <p:spPr bwMode="auto">
          <a:xfrm>
            <a:off x="428596" y="785794"/>
            <a:ext cx="1638300" cy="66675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47</a:t>
            </a:fld>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r>
              <a:rPr lang="en-US" dirty="0" smtClean="0"/>
              <a:t>The </a:t>
            </a:r>
            <a:r>
              <a:rPr lang="en-US" dirty="0" smtClean="0">
                <a:solidFill>
                  <a:srgbClr val="C00000"/>
                </a:solidFill>
              </a:rPr>
              <a:t>E</a:t>
            </a:r>
            <a:r>
              <a:rPr lang="en-US" dirty="0" smtClean="0"/>
              <a:t> field represents the exponent as a biased number.</a:t>
            </a:r>
          </a:p>
          <a:p>
            <a:pPr algn="just"/>
            <a:r>
              <a:rPr lang="en-US" dirty="0" smtClean="0">
                <a:solidFill>
                  <a:srgbClr val="0070C0"/>
                </a:solidFill>
              </a:rPr>
              <a:t>It contains the actual exponent </a:t>
            </a:r>
            <a:r>
              <a:rPr lang="en-US" i="1" dirty="0" smtClean="0">
                <a:solidFill>
                  <a:srgbClr val="FF0000"/>
                </a:solidFill>
              </a:rPr>
              <a:t>plus</a:t>
            </a:r>
            <a:r>
              <a:rPr lang="en-US" dirty="0" smtClean="0">
                <a:solidFill>
                  <a:srgbClr val="FF0000"/>
                </a:solidFill>
              </a:rPr>
              <a:t> 127</a:t>
            </a:r>
            <a:r>
              <a:rPr lang="en-US" dirty="0" smtClean="0">
                <a:solidFill>
                  <a:srgbClr val="0070C0"/>
                </a:solidFill>
              </a:rPr>
              <a:t> for single precision, or the actual exponent </a:t>
            </a:r>
            <a:r>
              <a:rPr lang="en-US" i="1" dirty="0" smtClean="0">
                <a:solidFill>
                  <a:srgbClr val="FF0000"/>
                </a:solidFill>
              </a:rPr>
              <a:t>plus</a:t>
            </a:r>
            <a:r>
              <a:rPr lang="en-US" dirty="0" smtClean="0">
                <a:solidFill>
                  <a:srgbClr val="FF0000"/>
                </a:solidFill>
              </a:rPr>
              <a:t> 1023</a:t>
            </a:r>
            <a:r>
              <a:rPr lang="en-US" dirty="0" smtClean="0">
                <a:solidFill>
                  <a:srgbClr val="0070C0"/>
                </a:solidFill>
              </a:rPr>
              <a:t> in double precision.</a:t>
            </a:r>
          </a:p>
          <a:p>
            <a:pPr algn="just"/>
            <a:r>
              <a:rPr lang="en-US" dirty="0" smtClean="0">
                <a:solidFill>
                  <a:srgbClr val="0070C0"/>
                </a:solidFill>
              </a:rPr>
              <a:t>This converts all single-precision exponents from  -126 to +127 into unsigned numbers from 1 to 254, and all double-precision exponents from       -1022 to +1023 into unsigned numbers from 1 to 2046.</a:t>
            </a:r>
            <a:endParaRPr lang="en-US" dirty="0">
              <a:solidFill>
                <a:srgbClr val="0070C0"/>
              </a:solidFill>
            </a:endParaRPr>
          </a:p>
        </p:txBody>
      </p:sp>
      <p:pic>
        <p:nvPicPr>
          <p:cNvPr id="5124" name="Picture 4"/>
          <p:cNvPicPr>
            <a:picLocks noChangeAspect="1" noChangeArrowheads="1"/>
          </p:cNvPicPr>
          <p:nvPr/>
        </p:nvPicPr>
        <p:blipFill>
          <a:blip r:embed="rId2" cstate="print"/>
          <a:srcRect/>
          <a:stretch>
            <a:fillRect/>
          </a:stretch>
        </p:blipFill>
        <p:spPr bwMode="auto">
          <a:xfrm>
            <a:off x="2438403" y="733411"/>
            <a:ext cx="2562225" cy="695325"/>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48</a:t>
            </a:fld>
            <a:endParaRPr lang="en-US"/>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lgn="just"/>
            <a:r>
              <a:rPr lang="en-US" dirty="0" smtClean="0"/>
              <a:t>The field </a:t>
            </a:r>
            <a:r>
              <a:rPr lang="en-US" dirty="0" smtClean="0">
                <a:solidFill>
                  <a:srgbClr val="C00000"/>
                </a:solidFill>
              </a:rPr>
              <a:t>F</a:t>
            </a:r>
            <a:r>
              <a:rPr lang="en-US" dirty="0" smtClean="0"/>
              <a:t> contains a binary fraction.</a:t>
            </a:r>
          </a:p>
          <a:p>
            <a:pPr algn="just"/>
            <a:r>
              <a:rPr lang="en-US" dirty="0" smtClean="0"/>
              <a:t>The actual mantissa of the floating-point value is </a:t>
            </a:r>
            <a:r>
              <a:rPr lang="en-US" dirty="0" smtClean="0">
                <a:solidFill>
                  <a:srgbClr val="0070C0"/>
                </a:solidFill>
              </a:rPr>
              <a:t>(1 + F)</a:t>
            </a:r>
            <a:r>
              <a:rPr lang="en-US" dirty="0" smtClean="0">
                <a:solidFill>
                  <a:schemeClr val="tx2">
                    <a:lumMod val="75000"/>
                  </a:schemeClr>
                </a:solidFill>
              </a:rPr>
              <a:t>.</a:t>
            </a:r>
          </a:p>
          <a:p>
            <a:pPr lvl="1" algn="just"/>
            <a:r>
              <a:rPr lang="en-US" dirty="0" smtClean="0">
                <a:solidFill>
                  <a:schemeClr val="tx2">
                    <a:lumMod val="75000"/>
                  </a:schemeClr>
                </a:solidFill>
              </a:rPr>
              <a:t>In other words, there is an implicit 1 to the left of the binary point.</a:t>
            </a:r>
          </a:p>
          <a:p>
            <a:pPr lvl="1" algn="just"/>
            <a:r>
              <a:rPr lang="en-US" dirty="0" smtClean="0">
                <a:solidFill>
                  <a:schemeClr val="tx2">
                    <a:lumMod val="75000"/>
                  </a:schemeClr>
                </a:solidFill>
              </a:rPr>
              <a:t>For example, if F is 01101..., the mantissa would be 1.01101...</a:t>
            </a:r>
            <a:endParaRPr lang="en-US" dirty="0">
              <a:solidFill>
                <a:schemeClr val="tx2">
                  <a:lumMod val="75000"/>
                </a:schemeClr>
              </a:solidFill>
            </a:endParaRPr>
          </a:p>
        </p:txBody>
      </p:sp>
      <p:pic>
        <p:nvPicPr>
          <p:cNvPr id="2050" name="Picture 2"/>
          <p:cNvPicPr>
            <a:picLocks noChangeAspect="1" noChangeArrowheads="1"/>
          </p:cNvPicPr>
          <p:nvPr/>
        </p:nvPicPr>
        <p:blipFill>
          <a:blip r:embed="rId2" cstate="print"/>
          <a:srcRect/>
          <a:stretch>
            <a:fillRect/>
          </a:stretch>
        </p:blipFill>
        <p:spPr bwMode="auto">
          <a:xfrm>
            <a:off x="4143372" y="781036"/>
            <a:ext cx="4457700" cy="647700"/>
          </a:xfrm>
          <a:prstGeom prst="rect">
            <a:avLst/>
          </a:prstGeom>
          <a:noFill/>
          <a:ln w="9525">
            <a:noFill/>
            <a:miter lim="800000"/>
            <a:headEnd/>
            <a:tailEnd/>
          </a:ln>
          <a:effectLst/>
        </p:spPr>
      </p:pic>
      <p:sp>
        <p:nvSpPr>
          <p:cNvPr id="4" name="Slide Number Placeholder 3"/>
          <p:cNvSpPr>
            <a:spLocks noGrp="1"/>
          </p:cNvSpPr>
          <p:nvPr>
            <p:ph type="sldNum" sz="quarter" idx="12"/>
          </p:nvPr>
        </p:nvSpPr>
        <p:spPr/>
        <p:txBody>
          <a:bodyPr/>
          <a:lstStyle/>
          <a:p>
            <a:fld id="{8A4DEF83-8E89-4D94-8D5D-613AED6F19E4}" type="slidenum">
              <a:rPr lang="en-US" smtClean="0"/>
              <a:pPr/>
              <a:t>49</a:t>
            </a:fld>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l"/>
            <a:r>
              <a:rPr lang="en-US" sz="3600" b="1" dirty="0" smtClean="0">
                <a:solidFill>
                  <a:srgbClr val="C00000"/>
                </a:solidFill>
              </a:rPr>
              <a:t>Example:</a:t>
            </a:r>
            <a:r>
              <a:rPr lang="en-US" sz="3600" b="1" dirty="0" smtClean="0">
                <a:solidFill>
                  <a:schemeClr val="tx2">
                    <a:lumMod val="75000"/>
                  </a:schemeClr>
                </a:solidFill>
              </a:rPr>
              <a:t> What is the single-precision representation of </a:t>
            </a:r>
            <a:r>
              <a:rPr lang="en-US" sz="3600" b="1" dirty="0" smtClean="0">
                <a:solidFill>
                  <a:srgbClr val="FF0000"/>
                </a:solidFill>
              </a:rPr>
              <a:t>347.625</a:t>
            </a:r>
            <a:r>
              <a:rPr lang="en-US" sz="3600" b="1" dirty="0" smtClean="0">
                <a:solidFill>
                  <a:schemeClr val="tx2">
                    <a:lumMod val="75000"/>
                  </a:schemeClr>
                </a:solidFill>
              </a:rPr>
              <a:t>?</a:t>
            </a:r>
          </a:p>
        </p:txBody>
      </p:sp>
      <p:sp>
        <p:nvSpPr>
          <p:cNvPr id="3" name="Content Placeholder 2"/>
          <p:cNvSpPr>
            <a:spLocks noGrp="1"/>
          </p:cNvSpPr>
          <p:nvPr>
            <p:ph idx="1"/>
          </p:nvPr>
        </p:nvSpPr>
        <p:spPr>
          <a:xfrm>
            <a:off x="457200" y="1600200"/>
            <a:ext cx="8229600" cy="4829196"/>
          </a:xfrm>
        </p:spPr>
        <p:txBody>
          <a:bodyPr>
            <a:normAutofit fontScale="70000" lnSpcReduction="20000"/>
          </a:bodyPr>
          <a:lstStyle/>
          <a:p>
            <a:pPr algn="just"/>
            <a:r>
              <a:rPr lang="en-US" sz="3600" dirty="0" smtClean="0"/>
              <a:t>First convert the number to binary: </a:t>
            </a:r>
          </a:p>
          <a:p>
            <a:pPr algn="just">
              <a:buNone/>
            </a:pPr>
            <a:r>
              <a:rPr lang="en-US" sz="3600" dirty="0" smtClean="0"/>
              <a:t>		</a:t>
            </a:r>
            <a:r>
              <a:rPr lang="en-US" sz="3600" dirty="0" smtClean="0">
                <a:solidFill>
                  <a:srgbClr val="FF0000"/>
                </a:solidFill>
              </a:rPr>
              <a:t>347.625</a:t>
            </a:r>
            <a:r>
              <a:rPr lang="en-US" sz="3600" dirty="0" smtClean="0"/>
              <a:t> = 101011011.101</a:t>
            </a:r>
            <a:r>
              <a:rPr lang="en-US" sz="3600" baseline="-25000" dirty="0" smtClean="0"/>
              <a:t>2</a:t>
            </a:r>
          </a:p>
          <a:p>
            <a:pPr algn="just"/>
            <a:r>
              <a:rPr lang="en-US" sz="3600" dirty="0" smtClean="0"/>
              <a:t>Normalize the number by shifting the binary point until there is a single 1 to the left:</a:t>
            </a:r>
          </a:p>
          <a:p>
            <a:pPr algn="just">
              <a:buNone/>
            </a:pPr>
            <a:r>
              <a:rPr lang="en-US" sz="3600" dirty="0" smtClean="0"/>
              <a:t>		101011011.101 × 2</a:t>
            </a:r>
            <a:r>
              <a:rPr lang="en-US" sz="3600" baseline="30000" dirty="0" smtClean="0"/>
              <a:t>0</a:t>
            </a:r>
            <a:r>
              <a:rPr lang="en-US" sz="3600" dirty="0" smtClean="0"/>
              <a:t> = 1.</a:t>
            </a:r>
            <a:r>
              <a:rPr lang="en-US" sz="3600" dirty="0" smtClean="0">
                <a:solidFill>
                  <a:srgbClr val="7030A0"/>
                </a:solidFill>
              </a:rPr>
              <a:t>01011011101</a:t>
            </a:r>
            <a:r>
              <a:rPr lang="en-US" sz="3600" dirty="0" smtClean="0"/>
              <a:t> × 2</a:t>
            </a:r>
            <a:r>
              <a:rPr lang="en-US" sz="3600" baseline="30000" dirty="0" smtClean="0">
                <a:solidFill>
                  <a:srgbClr val="C00000"/>
                </a:solidFill>
              </a:rPr>
              <a:t>8</a:t>
            </a:r>
          </a:p>
          <a:p>
            <a:pPr algn="just"/>
            <a:r>
              <a:rPr lang="en-US" sz="3600" dirty="0" smtClean="0"/>
              <a:t>The bits to the right of the binary point comprise the fraction field F.</a:t>
            </a:r>
          </a:p>
          <a:p>
            <a:pPr algn="just"/>
            <a:r>
              <a:rPr lang="en-US" sz="3600" dirty="0" smtClean="0"/>
              <a:t>The number of times you shifted gives the exponent.</a:t>
            </a:r>
          </a:p>
          <a:p>
            <a:pPr algn="just"/>
            <a:r>
              <a:rPr lang="en-US" sz="3600" dirty="0" smtClean="0"/>
              <a:t>The field E should contain:</a:t>
            </a:r>
          </a:p>
          <a:p>
            <a:pPr algn="just">
              <a:buNone/>
            </a:pPr>
            <a:r>
              <a:rPr lang="en-US" sz="3600" dirty="0" smtClean="0"/>
              <a:t>		exponent + 127 = </a:t>
            </a:r>
            <a:r>
              <a:rPr lang="en-US" sz="3600" dirty="0" smtClean="0">
                <a:solidFill>
                  <a:srgbClr val="C00000"/>
                </a:solidFill>
              </a:rPr>
              <a:t>8</a:t>
            </a:r>
            <a:r>
              <a:rPr lang="en-US" sz="3600" dirty="0" smtClean="0"/>
              <a:t> + 127 = 135 = </a:t>
            </a:r>
            <a:r>
              <a:rPr lang="en-US" sz="3600" dirty="0" smtClean="0">
                <a:solidFill>
                  <a:srgbClr val="0070C0"/>
                </a:solidFill>
              </a:rPr>
              <a:t>10000111</a:t>
            </a:r>
            <a:r>
              <a:rPr lang="en-US" sz="3600" baseline="-25000" dirty="0" smtClean="0"/>
              <a:t>2</a:t>
            </a:r>
            <a:endParaRPr lang="en-US" baseline="-25000" dirty="0" smtClean="0"/>
          </a:p>
          <a:p>
            <a:pPr algn="just"/>
            <a:r>
              <a:rPr lang="en-US" sz="3600" dirty="0" smtClean="0"/>
              <a:t>Sign bit: </a:t>
            </a:r>
            <a:r>
              <a:rPr lang="en-US" sz="3600" dirty="0" smtClean="0">
                <a:solidFill>
                  <a:srgbClr val="00B050"/>
                </a:solidFill>
              </a:rPr>
              <a:t>0</a:t>
            </a:r>
            <a:r>
              <a:rPr lang="en-US" sz="3600" dirty="0" smtClean="0"/>
              <a:t> if positive, 1 if negative.</a:t>
            </a:r>
          </a:p>
          <a:p>
            <a:pPr algn="just">
              <a:buNone/>
            </a:pPr>
            <a:r>
              <a:rPr lang="en-US" sz="3600" dirty="0" smtClean="0">
                <a:solidFill>
                  <a:srgbClr val="00B050"/>
                </a:solidFill>
              </a:rPr>
              <a:t>	</a:t>
            </a:r>
            <a:r>
              <a:rPr lang="en-US" sz="4600" dirty="0" smtClean="0">
                <a:solidFill>
                  <a:srgbClr val="00B050"/>
                </a:solidFill>
              </a:rPr>
              <a:t>0</a:t>
            </a:r>
            <a:r>
              <a:rPr lang="en-US" sz="4600" dirty="0" smtClean="0"/>
              <a:t> </a:t>
            </a:r>
            <a:r>
              <a:rPr lang="en-US" sz="4600" dirty="0" smtClean="0">
                <a:solidFill>
                  <a:srgbClr val="0070C0"/>
                </a:solidFill>
              </a:rPr>
              <a:t>10000111 </a:t>
            </a:r>
            <a:r>
              <a:rPr lang="en-US" sz="4800" dirty="0" smtClean="0">
                <a:solidFill>
                  <a:srgbClr val="7030A0"/>
                </a:solidFill>
              </a:rPr>
              <a:t>01011011101</a:t>
            </a:r>
            <a:r>
              <a:rPr lang="en-US" sz="4600" dirty="0" smtClean="0"/>
              <a:t>000000000000</a:t>
            </a:r>
          </a:p>
        </p:txBody>
      </p:sp>
      <p:cxnSp>
        <p:nvCxnSpPr>
          <p:cNvPr id="9" name="Straight Connector 8"/>
          <p:cNvCxnSpPr/>
          <p:nvPr/>
        </p:nvCxnSpPr>
        <p:spPr>
          <a:xfrm rot="5400000">
            <a:off x="928265" y="5857495"/>
            <a:ext cx="42862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rot="5400000">
            <a:off x="2642777" y="5857495"/>
            <a:ext cx="428628" cy="794"/>
          </a:xfrm>
          <a:prstGeom prst="line">
            <a:avLst/>
          </a:prstGeom>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8A4DEF83-8E89-4D94-8D5D-613AED6F19E4}" type="slidenum">
              <a:rPr lang="en-US" smtClean="0"/>
              <a:pPr/>
              <a:t>50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20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20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643074"/>
          </a:xfrm>
        </p:spPr>
        <p:txBody>
          <a:bodyPr>
            <a:noAutofit/>
          </a:bodyPr>
          <a:lstStyle/>
          <a:p>
            <a:pPr algn="l"/>
            <a:r>
              <a:rPr lang="en-US" sz="3200" b="1" dirty="0" smtClean="0">
                <a:solidFill>
                  <a:srgbClr val="C00000"/>
                </a:solidFill>
              </a:rPr>
              <a:t>Example:</a:t>
            </a:r>
            <a:r>
              <a:rPr lang="en-US" sz="3200" b="1" dirty="0" smtClean="0">
                <a:solidFill>
                  <a:schemeClr val="tx2">
                    <a:lumMod val="75000"/>
                  </a:schemeClr>
                </a:solidFill>
              </a:rPr>
              <a:t> </a:t>
            </a:r>
            <a:r>
              <a:rPr lang="en-US" sz="3200" b="1" dirty="0" smtClean="0">
                <a:solidFill>
                  <a:schemeClr val="tx2">
                    <a:lumMod val="50000"/>
                  </a:schemeClr>
                </a:solidFill>
              </a:rPr>
              <a:t>Find out the floating point number from the following representation. </a:t>
            </a:r>
            <a:r>
              <a:rPr lang="en-US" sz="3600" b="1" dirty="0" smtClean="0">
                <a:solidFill>
                  <a:schemeClr val="tx2">
                    <a:lumMod val="50000"/>
                  </a:schemeClr>
                </a:solidFill>
              </a:rPr>
              <a:t/>
            </a:r>
            <a:br>
              <a:rPr lang="en-US" sz="3600" b="1" dirty="0" smtClean="0">
                <a:solidFill>
                  <a:schemeClr val="tx2">
                    <a:lumMod val="50000"/>
                  </a:schemeClr>
                </a:solidFill>
              </a:rPr>
            </a:br>
            <a:r>
              <a:rPr lang="en-US" sz="3600" b="1" dirty="0" smtClean="0">
                <a:solidFill>
                  <a:srgbClr val="FF0000"/>
                </a:solidFill>
              </a:rPr>
              <a:t>0  10000011  00111000000000000000000</a:t>
            </a:r>
          </a:p>
        </p:txBody>
      </p:sp>
      <p:sp>
        <p:nvSpPr>
          <p:cNvPr id="3" name="Content Placeholder 2"/>
          <p:cNvSpPr>
            <a:spLocks noGrp="1"/>
          </p:cNvSpPr>
          <p:nvPr>
            <p:ph idx="1"/>
          </p:nvPr>
        </p:nvSpPr>
        <p:spPr>
          <a:xfrm>
            <a:off x="457200" y="1928802"/>
            <a:ext cx="8229600" cy="4714908"/>
          </a:xfrm>
        </p:spPr>
        <p:txBody>
          <a:bodyPr>
            <a:normAutofit fontScale="92500"/>
          </a:bodyPr>
          <a:lstStyle/>
          <a:p>
            <a:pPr>
              <a:buNone/>
            </a:pPr>
            <a:r>
              <a:rPr lang="en-US" b="1" dirty="0" smtClean="0">
                <a:solidFill>
                  <a:srgbClr val="00B050"/>
                </a:solidFill>
              </a:rPr>
              <a:t>	</a:t>
            </a:r>
            <a:r>
              <a:rPr lang="en-US" dirty="0" smtClean="0">
                <a:solidFill>
                  <a:srgbClr val="00B050"/>
                </a:solidFill>
              </a:rPr>
              <a:t>0</a:t>
            </a:r>
            <a:r>
              <a:rPr lang="en-US" dirty="0" smtClean="0"/>
              <a:t> </a:t>
            </a:r>
            <a:r>
              <a:rPr lang="en-US" dirty="0" smtClean="0">
                <a:solidFill>
                  <a:srgbClr val="0070C0"/>
                </a:solidFill>
              </a:rPr>
              <a:t>10000011</a:t>
            </a:r>
            <a:r>
              <a:rPr lang="en-US" dirty="0" smtClean="0"/>
              <a:t> </a:t>
            </a:r>
            <a:r>
              <a:rPr lang="en-US" dirty="0" smtClean="0">
                <a:solidFill>
                  <a:srgbClr val="7030A0"/>
                </a:solidFill>
              </a:rPr>
              <a:t>00111000000000000000000</a:t>
            </a:r>
          </a:p>
          <a:p>
            <a:pPr>
              <a:buNone/>
            </a:pPr>
            <a:r>
              <a:rPr lang="en-US" dirty="0" smtClean="0"/>
              <a:t>	E = </a:t>
            </a:r>
            <a:r>
              <a:rPr lang="en-US" dirty="0" smtClean="0">
                <a:solidFill>
                  <a:srgbClr val="0070C0"/>
                </a:solidFill>
              </a:rPr>
              <a:t>10000011</a:t>
            </a:r>
            <a:r>
              <a:rPr lang="en-US" baseline="-25000" dirty="0" smtClean="0"/>
              <a:t>2</a:t>
            </a:r>
            <a:r>
              <a:rPr lang="en-US" dirty="0" smtClean="0"/>
              <a:t> = </a:t>
            </a:r>
            <a:r>
              <a:rPr lang="en-US" dirty="0" smtClean="0">
                <a:solidFill>
                  <a:srgbClr val="0070C0"/>
                </a:solidFill>
              </a:rPr>
              <a:t>131</a:t>
            </a:r>
          </a:p>
          <a:p>
            <a:pPr>
              <a:buNone/>
            </a:pPr>
            <a:r>
              <a:rPr lang="en-US" dirty="0" smtClean="0"/>
              <a:t>	</a:t>
            </a:r>
            <a:r>
              <a:rPr lang="en-US" dirty="0" smtClean="0">
                <a:solidFill>
                  <a:srgbClr val="FF0000"/>
                </a:solidFill>
              </a:rPr>
              <a:t>N = (-1)</a:t>
            </a:r>
            <a:r>
              <a:rPr lang="en-US" baseline="30000" dirty="0" smtClean="0">
                <a:solidFill>
                  <a:srgbClr val="FF0000"/>
                </a:solidFill>
              </a:rPr>
              <a:t>S</a:t>
            </a:r>
            <a:r>
              <a:rPr lang="en-US" dirty="0" smtClean="0">
                <a:solidFill>
                  <a:srgbClr val="FF0000"/>
                </a:solidFill>
              </a:rPr>
              <a:t> × (1 + F) × 2</a:t>
            </a:r>
            <a:r>
              <a:rPr lang="en-US" baseline="30000" dirty="0" smtClean="0">
                <a:solidFill>
                  <a:srgbClr val="FF0000"/>
                </a:solidFill>
              </a:rPr>
              <a:t>E-bias</a:t>
            </a:r>
          </a:p>
          <a:p>
            <a:pPr>
              <a:buNone/>
            </a:pPr>
            <a:r>
              <a:rPr lang="en-US" dirty="0" smtClean="0"/>
              <a:t>	= (-1)</a:t>
            </a:r>
            <a:r>
              <a:rPr lang="en-US" baseline="30000" dirty="0" smtClean="0">
                <a:solidFill>
                  <a:srgbClr val="00B050"/>
                </a:solidFill>
              </a:rPr>
              <a:t>0</a:t>
            </a:r>
            <a:r>
              <a:rPr lang="en-US" baseline="30000" dirty="0" smtClean="0"/>
              <a:t> </a:t>
            </a:r>
            <a:r>
              <a:rPr lang="en-US" dirty="0" smtClean="0"/>
              <a:t>× (1.</a:t>
            </a:r>
            <a:r>
              <a:rPr lang="en-US" dirty="0" smtClean="0">
                <a:solidFill>
                  <a:srgbClr val="7030A0"/>
                </a:solidFill>
              </a:rPr>
              <a:t>00111000000000000000000</a:t>
            </a:r>
            <a:r>
              <a:rPr lang="en-US" dirty="0" smtClean="0"/>
              <a:t>) × 2</a:t>
            </a:r>
            <a:r>
              <a:rPr lang="en-US" baseline="30000" dirty="0" smtClean="0">
                <a:solidFill>
                  <a:srgbClr val="0070C0"/>
                </a:solidFill>
              </a:rPr>
              <a:t>131</a:t>
            </a:r>
            <a:r>
              <a:rPr lang="en-US" baseline="30000" dirty="0" smtClean="0"/>
              <a:t>-127</a:t>
            </a:r>
          </a:p>
          <a:p>
            <a:pPr>
              <a:buNone/>
            </a:pPr>
            <a:r>
              <a:rPr lang="en-US" dirty="0" smtClean="0"/>
              <a:t>	= 1 × (1.00111000000000000000000) × 2</a:t>
            </a:r>
            <a:r>
              <a:rPr lang="en-US" baseline="30000" dirty="0" smtClean="0"/>
              <a:t>4</a:t>
            </a:r>
          </a:p>
          <a:p>
            <a:pPr>
              <a:buNone/>
            </a:pPr>
            <a:r>
              <a:rPr lang="en-US" dirty="0" smtClean="0"/>
              <a:t>	= 1.00111000000000000000000 × 2</a:t>
            </a:r>
            <a:r>
              <a:rPr lang="en-US" baseline="30000" dirty="0" smtClean="0"/>
              <a:t>4</a:t>
            </a:r>
          </a:p>
          <a:p>
            <a:pPr>
              <a:buNone/>
            </a:pPr>
            <a:r>
              <a:rPr lang="en-US" dirty="0" smtClean="0"/>
              <a:t>	= 10011.10</a:t>
            </a:r>
            <a:endParaRPr lang="en-US" baseline="30000" dirty="0" smtClean="0"/>
          </a:p>
          <a:p>
            <a:pPr>
              <a:buNone/>
            </a:pPr>
            <a:r>
              <a:rPr lang="en-US" dirty="0" smtClean="0"/>
              <a:t>	= 19.5</a:t>
            </a:r>
            <a:endParaRPr lang="en-US" baseline="30000" dirty="0" smtClean="0"/>
          </a:p>
        </p:txBody>
      </p:sp>
      <p:cxnSp>
        <p:nvCxnSpPr>
          <p:cNvPr id="4" name="Straight Connector 3"/>
          <p:cNvCxnSpPr/>
          <p:nvPr/>
        </p:nvCxnSpPr>
        <p:spPr>
          <a:xfrm rot="5400000">
            <a:off x="928265" y="2214157"/>
            <a:ext cx="42862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2500695" y="2214157"/>
            <a:ext cx="42862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p:cNvCxnSpPr/>
          <p:nvPr/>
        </p:nvCxnSpPr>
        <p:spPr>
          <a:xfrm rot="5400000">
            <a:off x="642513" y="1499777"/>
            <a:ext cx="42862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rot="5400000">
            <a:off x="2714215" y="1499777"/>
            <a:ext cx="428628" cy="794"/>
          </a:xfrm>
          <a:prstGeom prst="line">
            <a:avLst/>
          </a:prstGeom>
        </p:spPr>
        <p:style>
          <a:lnRef idx="1">
            <a:schemeClr val="accent1"/>
          </a:lnRef>
          <a:fillRef idx="0">
            <a:schemeClr val="accent1"/>
          </a:fillRef>
          <a:effectRef idx="0">
            <a:schemeClr val="accent1"/>
          </a:effectRef>
          <a:fontRef idx="minor">
            <a:schemeClr val="tx1"/>
          </a:fontRef>
        </p:style>
      </p:cxnSp>
      <p:sp>
        <p:nvSpPr>
          <p:cNvPr id="8" name="Slide Number Placeholder 7"/>
          <p:cNvSpPr>
            <a:spLocks noGrp="1"/>
          </p:cNvSpPr>
          <p:nvPr>
            <p:ph type="sldNum" sz="quarter" idx="12"/>
          </p:nvPr>
        </p:nvSpPr>
        <p:spPr/>
        <p:txBody>
          <a:bodyPr/>
          <a:lstStyle/>
          <a:p>
            <a:fld id="{8A4DEF83-8E89-4D94-8D5D-613AED6F19E4}" type="slidenum">
              <a:rPr lang="en-US" smtClean="0"/>
              <a:pPr/>
              <a:t>51</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algn="just"/>
            <a:r>
              <a:rPr lang="en-US" sz="3600" b="1" dirty="0" smtClean="0">
                <a:solidFill>
                  <a:srgbClr val="C00000"/>
                </a:solidFill>
              </a:rPr>
              <a:t>Example:</a:t>
            </a:r>
            <a:r>
              <a:rPr lang="en-US" sz="3600" b="1" dirty="0" smtClean="0">
                <a:solidFill>
                  <a:schemeClr val="tx2">
                    <a:lumMod val="75000"/>
                  </a:schemeClr>
                </a:solidFill>
              </a:rPr>
              <a:t> </a:t>
            </a:r>
            <a:r>
              <a:rPr lang="en-US" sz="3600" b="1" dirty="0" smtClean="0">
                <a:solidFill>
                  <a:schemeClr val="tx2">
                    <a:lumMod val="50000"/>
                  </a:schemeClr>
                </a:solidFill>
              </a:rPr>
              <a:t>Express </a:t>
            </a:r>
            <a:r>
              <a:rPr lang="en-US" sz="3600" b="1" dirty="0" smtClean="0">
                <a:solidFill>
                  <a:srgbClr val="FF0000"/>
                </a:solidFill>
              </a:rPr>
              <a:t>-3.75 </a:t>
            </a:r>
            <a:r>
              <a:rPr lang="en-US" sz="3600" b="1" dirty="0" smtClean="0">
                <a:solidFill>
                  <a:schemeClr val="tx2">
                    <a:lumMod val="50000"/>
                  </a:schemeClr>
                </a:solidFill>
              </a:rPr>
              <a:t>as a floating point number using IEEE single precision.</a:t>
            </a:r>
            <a:endParaRPr lang="en-US" sz="3600" b="1" dirty="0">
              <a:solidFill>
                <a:schemeClr val="tx2">
                  <a:lumMod val="50000"/>
                </a:schemeClr>
              </a:solidFill>
            </a:endParaRPr>
          </a:p>
        </p:txBody>
      </p:sp>
      <p:sp>
        <p:nvSpPr>
          <p:cNvPr id="3" name="Content Placeholder 2"/>
          <p:cNvSpPr>
            <a:spLocks noGrp="1"/>
          </p:cNvSpPr>
          <p:nvPr>
            <p:ph idx="1"/>
          </p:nvPr>
        </p:nvSpPr>
        <p:spPr/>
        <p:txBody>
          <a:bodyPr>
            <a:normAutofit/>
          </a:bodyPr>
          <a:lstStyle/>
          <a:p>
            <a:r>
              <a:rPr lang="en-US" dirty="0" smtClean="0"/>
              <a:t>First, let's normalize according to IEEE rules:</a:t>
            </a:r>
          </a:p>
          <a:p>
            <a:pPr>
              <a:buNone/>
            </a:pPr>
            <a:r>
              <a:rPr lang="en-US" dirty="0" smtClean="0"/>
              <a:t>		- 3.75 = - 11.11</a:t>
            </a:r>
            <a:r>
              <a:rPr lang="en-US" baseline="-25000" dirty="0" smtClean="0"/>
              <a:t>2</a:t>
            </a:r>
            <a:r>
              <a:rPr lang="en-US" dirty="0" smtClean="0"/>
              <a:t> = - 1.</a:t>
            </a:r>
            <a:r>
              <a:rPr lang="en-US" dirty="0" smtClean="0">
                <a:solidFill>
                  <a:srgbClr val="7030A0"/>
                </a:solidFill>
              </a:rPr>
              <a:t>111</a:t>
            </a:r>
            <a:r>
              <a:rPr lang="en-US" dirty="0" smtClean="0"/>
              <a:t> × 2</a:t>
            </a:r>
            <a:r>
              <a:rPr lang="en-US" baseline="30000" dirty="0" smtClean="0">
                <a:solidFill>
                  <a:srgbClr val="C00000"/>
                </a:solidFill>
              </a:rPr>
              <a:t>1</a:t>
            </a:r>
            <a:r>
              <a:rPr lang="en-US" dirty="0" smtClean="0"/>
              <a:t> </a:t>
            </a:r>
          </a:p>
          <a:p>
            <a:r>
              <a:rPr lang="en-US" dirty="0" smtClean="0"/>
              <a:t>Since it is a negative number , so S = </a:t>
            </a:r>
            <a:r>
              <a:rPr lang="en-US" dirty="0" smtClean="0">
                <a:solidFill>
                  <a:srgbClr val="00B050"/>
                </a:solidFill>
              </a:rPr>
              <a:t>1</a:t>
            </a:r>
            <a:r>
              <a:rPr lang="en-US" dirty="0" smtClean="0"/>
              <a:t>.</a:t>
            </a:r>
          </a:p>
          <a:p>
            <a:r>
              <a:rPr lang="en-US" dirty="0" smtClean="0"/>
              <a:t>The bias is 127, so we add 127 + </a:t>
            </a:r>
            <a:r>
              <a:rPr lang="en-US" dirty="0" smtClean="0">
                <a:solidFill>
                  <a:srgbClr val="C00000"/>
                </a:solidFill>
              </a:rPr>
              <a:t>1</a:t>
            </a:r>
            <a:r>
              <a:rPr lang="en-US" dirty="0" smtClean="0"/>
              <a:t> = 128 (this is our exponent)</a:t>
            </a:r>
          </a:p>
          <a:p>
            <a:pPr>
              <a:buNone/>
            </a:pPr>
            <a:r>
              <a:rPr lang="en-US" dirty="0" smtClean="0"/>
              <a:t>	E = 128 = </a:t>
            </a:r>
            <a:r>
              <a:rPr lang="en-US" dirty="0" smtClean="0">
                <a:solidFill>
                  <a:srgbClr val="0070C0"/>
                </a:solidFill>
              </a:rPr>
              <a:t>10000000</a:t>
            </a:r>
            <a:r>
              <a:rPr lang="en-US" baseline="-25000" dirty="0" smtClean="0"/>
              <a:t>2</a:t>
            </a:r>
          </a:p>
          <a:p>
            <a:pPr>
              <a:buNone/>
            </a:pPr>
            <a:r>
              <a:rPr lang="en-US" dirty="0" smtClean="0"/>
              <a:t>	</a:t>
            </a:r>
            <a:r>
              <a:rPr lang="en-US" sz="3600" dirty="0" smtClean="0">
                <a:solidFill>
                  <a:srgbClr val="00B050"/>
                </a:solidFill>
              </a:rPr>
              <a:t>1</a:t>
            </a:r>
            <a:r>
              <a:rPr lang="en-US" sz="3600" dirty="0" smtClean="0"/>
              <a:t> </a:t>
            </a:r>
            <a:r>
              <a:rPr lang="en-US" sz="3600" dirty="0" smtClean="0">
                <a:solidFill>
                  <a:srgbClr val="0070C0"/>
                </a:solidFill>
              </a:rPr>
              <a:t>10000000 </a:t>
            </a:r>
            <a:r>
              <a:rPr lang="en-US" sz="3600" dirty="0" smtClean="0">
                <a:solidFill>
                  <a:srgbClr val="7030A0"/>
                </a:solidFill>
              </a:rPr>
              <a:t>111</a:t>
            </a:r>
            <a:r>
              <a:rPr lang="en-US" sz="3600" dirty="0" smtClean="0"/>
              <a:t>00000000000000000000</a:t>
            </a:r>
          </a:p>
        </p:txBody>
      </p:sp>
      <p:cxnSp>
        <p:nvCxnSpPr>
          <p:cNvPr id="4" name="Straight Connector 3"/>
          <p:cNvCxnSpPr/>
          <p:nvPr/>
        </p:nvCxnSpPr>
        <p:spPr>
          <a:xfrm rot="5400000">
            <a:off x="928265" y="5357429"/>
            <a:ext cx="428628"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Straight Connector 4"/>
          <p:cNvCxnSpPr/>
          <p:nvPr/>
        </p:nvCxnSpPr>
        <p:spPr>
          <a:xfrm rot="5400000">
            <a:off x="2928529" y="5357429"/>
            <a:ext cx="428628" cy="794"/>
          </a:xfrm>
          <a:prstGeom prst="line">
            <a:avLst/>
          </a:prstGeom>
        </p:spPr>
        <p:style>
          <a:lnRef idx="1">
            <a:schemeClr val="accent1"/>
          </a:lnRef>
          <a:fillRef idx="0">
            <a:schemeClr val="accent1"/>
          </a:fillRef>
          <a:effectRef idx="0">
            <a:schemeClr val="accent1"/>
          </a:effectRef>
          <a:fontRef idx="minor">
            <a:schemeClr val="tx1"/>
          </a:fontRef>
        </p:style>
      </p:cxnSp>
      <p:sp>
        <p:nvSpPr>
          <p:cNvPr id="6" name="Slide Number Placeholder 5"/>
          <p:cNvSpPr>
            <a:spLocks noGrp="1"/>
          </p:cNvSpPr>
          <p:nvPr>
            <p:ph type="sldNum" sz="quarter" idx="12"/>
          </p:nvPr>
        </p:nvSpPr>
        <p:spPr/>
        <p:txBody>
          <a:bodyPr/>
          <a:lstStyle/>
          <a:p>
            <a:fld id="{8A4DEF83-8E89-4D94-8D5D-613AED6F19E4}" type="slidenum">
              <a:rPr lang="en-US" smtClean="0"/>
              <a:pPr/>
              <a:t>52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1643074"/>
          </a:xfrm>
        </p:spPr>
        <p:txBody>
          <a:bodyPr>
            <a:noAutofit/>
          </a:bodyPr>
          <a:lstStyle/>
          <a:p>
            <a:pPr algn="l"/>
            <a:r>
              <a:rPr lang="en-US" sz="3200" b="1" dirty="0" smtClean="0">
                <a:solidFill>
                  <a:srgbClr val="C00000"/>
                </a:solidFill>
              </a:rPr>
              <a:t>Example:</a:t>
            </a:r>
            <a:r>
              <a:rPr lang="en-US" sz="3200" b="1" dirty="0" smtClean="0">
                <a:solidFill>
                  <a:schemeClr val="tx2">
                    <a:lumMod val="75000"/>
                  </a:schemeClr>
                </a:solidFill>
              </a:rPr>
              <a:t> </a:t>
            </a:r>
            <a:r>
              <a:rPr lang="en-US" sz="3200" b="1" dirty="0" smtClean="0">
                <a:solidFill>
                  <a:schemeClr val="tx2">
                    <a:lumMod val="50000"/>
                  </a:schemeClr>
                </a:solidFill>
              </a:rPr>
              <a:t>Find out the floating point number from the following representation. </a:t>
            </a:r>
            <a:r>
              <a:rPr lang="en-US" sz="3600" b="1" dirty="0" smtClean="0">
                <a:solidFill>
                  <a:schemeClr val="tx2">
                    <a:lumMod val="50000"/>
                  </a:schemeClr>
                </a:solidFill>
              </a:rPr>
              <a:t/>
            </a:r>
            <a:br>
              <a:rPr lang="en-US" sz="3600" b="1" dirty="0" smtClean="0">
                <a:solidFill>
                  <a:schemeClr val="tx2">
                    <a:lumMod val="50000"/>
                  </a:schemeClr>
                </a:solidFill>
              </a:rPr>
            </a:br>
            <a:r>
              <a:rPr lang="en-US" sz="3200" b="1" dirty="0" smtClean="0">
                <a:solidFill>
                  <a:srgbClr val="FF0000"/>
                </a:solidFill>
              </a:rPr>
              <a:t>1 1000 0001 011 0000 0000 0000 0000 0000</a:t>
            </a:r>
          </a:p>
        </p:txBody>
      </p:sp>
      <p:sp>
        <p:nvSpPr>
          <p:cNvPr id="3" name="Content Placeholder 2"/>
          <p:cNvSpPr>
            <a:spLocks noGrp="1"/>
          </p:cNvSpPr>
          <p:nvPr>
            <p:ph idx="1"/>
          </p:nvPr>
        </p:nvSpPr>
        <p:spPr>
          <a:xfrm>
            <a:off x="457200" y="1928802"/>
            <a:ext cx="8229600" cy="4525963"/>
          </a:xfrm>
        </p:spPr>
        <p:txBody>
          <a:bodyPr>
            <a:normAutofit fontScale="92500"/>
          </a:bodyPr>
          <a:lstStyle/>
          <a:p>
            <a:pPr>
              <a:buNone/>
            </a:pPr>
            <a:r>
              <a:rPr lang="en-US" b="1" dirty="0" smtClean="0"/>
              <a:t>	</a:t>
            </a:r>
            <a:r>
              <a:rPr lang="en-US" dirty="0" smtClean="0">
                <a:solidFill>
                  <a:srgbClr val="00B050"/>
                </a:solidFill>
              </a:rPr>
              <a:t>1</a:t>
            </a:r>
            <a:r>
              <a:rPr lang="en-US" dirty="0" smtClean="0"/>
              <a:t> </a:t>
            </a:r>
            <a:r>
              <a:rPr lang="en-US" dirty="0" smtClean="0">
                <a:solidFill>
                  <a:srgbClr val="0070C0"/>
                </a:solidFill>
              </a:rPr>
              <a:t>1000 0001</a:t>
            </a:r>
            <a:r>
              <a:rPr lang="en-US" dirty="0" smtClean="0"/>
              <a:t> </a:t>
            </a:r>
            <a:r>
              <a:rPr lang="en-US" dirty="0" smtClean="0">
                <a:solidFill>
                  <a:srgbClr val="7030A0"/>
                </a:solidFill>
              </a:rPr>
              <a:t>011 0000 0000 0000 0000 0000</a:t>
            </a:r>
          </a:p>
          <a:p>
            <a:pPr>
              <a:buNone/>
            </a:pPr>
            <a:r>
              <a:rPr lang="en-US" dirty="0" smtClean="0"/>
              <a:t>	E = </a:t>
            </a:r>
            <a:r>
              <a:rPr lang="en-US" dirty="0" smtClean="0">
                <a:solidFill>
                  <a:srgbClr val="0070C0"/>
                </a:solidFill>
              </a:rPr>
              <a:t>10000001</a:t>
            </a:r>
            <a:r>
              <a:rPr lang="en-US" baseline="-25000" dirty="0" smtClean="0"/>
              <a:t>2</a:t>
            </a:r>
            <a:r>
              <a:rPr lang="en-US" dirty="0" smtClean="0"/>
              <a:t> = </a:t>
            </a:r>
            <a:r>
              <a:rPr lang="en-US" dirty="0" smtClean="0">
                <a:solidFill>
                  <a:srgbClr val="0070C0"/>
                </a:solidFill>
              </a:rPr>
              <a:t>129</a:t>
            </a:r>
          </a:p>
          <a:p>
            <a:pPr>
              <a:buNone/>
            </a:pPr>
            <a:r>
              <a:rPr lang="en-US" dirty="0" smtClean="0"/>
              <a:t>	</a:t>
            </a:r>
            <a:r>
              <a:rPr lang="en-US" dirty="0" smtClean="0">
                <a:solidFill>
                  <a:srgbClr val="FF0000"/>
                </a:solidFill>
              </a:rPr>
              <a:t>N = (-1)</a:t>
            </a:r>
            <a:r>
              <a:rPr lang="en-US" baseline="30000" dirty="0" smtClean="0">
                <a:solidFill>
                  <a:srgbClr val="FF0000"/>
                </a:solidFill>
              </a:rPr>
              <a:t>S</a:t>
            </a:r>
            <a:r>
              <a:rPr lang="en-US" dirty="0" smtClean="0">
                <a:solidFill>
                  <a:srgbClr val="FF0000"/>
                </a:solidFill>
              </a:rPr>
              <a:t> × (1 + F) × 2</a:t>
            </a:r>
            <a:r>
              <a:rPr lang="en-US" baseline="30000" dirty="0" smtClean="0">
                <a:solidFill>
                  <a:srgbClr val="FF0000"/>
                </a:solidFill>
              </a:rPr>
              <a:t>E-bias</a:t>
            </a:r>
          </a:p>
          <a:p>
            <a:pPr>
              <a:buNone/>
            </a:pPr>
            <a:r>
              <a:rPr lang="en-US" dirty="0" smtClean="0"/>
              <a:t>	= (-1)</a:t>
            </a:r>
            <a:r>
              <a:rPr lang="en-US" baseline="30000" dirty="0" smtClean="0">
                <a:solidFill>
                  <a:srgbClr val="00B050"/>
                </a:solidFill>
              </a:rPr>
              <a:t>1</a:t>
            </a:r>
            <a:r>
              <a:rPr lang="en-US" baseline="30000" dirty="0" smtClean="0"/>
              <a:t> </a:t>
            </a:r>
            <a:r>
              <a:rPr lang="en-US" dirty="0" smtClean="0"/>
              <a:t>× (1.</a:t>
            </a:r>
            <a:r>
              <a:rPr lang="en-US" dirty="0" smtClean="0">
                <a:solidFill>
                  <a:srgbClr val="7030A0"/>
                </a:solidFill>
              </a:rPr>
              <a:t>01100000000000000000000</a:t>
            </a:r>
            <a:r>
              <a:rPr lang="en-US" dirty="0" smtClean="0"/>
              <a:t>) × 2</a:t>
            </a:r>
            <a:r>
              <a:rPr lang="en-US" baseline="30000" dirty="0" smtClean="0">
                <a:solidFill>
                  <a:srgbClr val="0070C0"/>
                </a:solidFill>
              </a:rPr>
              <a:t>129</a:t>
            </a:r>
            <a:r>
              <a:rPr lang="en-US" baseline="30000" dirty="0" smtClean="0"/>
              <a:t>-127</a:t>
            </a:r>
          </a:p>
          <a:p>
            <a:pPr>
              <a:buNone/>
            </a:pPr>
            <a:r>
              <a:rPr lang="en-US" dirty="0" smtClean="0"/>
              <a:t>	= - 1 × (1.01100000000000000000000) × 2</a:t>
            </a:r>
            <a:r>
              <a:rPr lang="en-US" baseline="30000" dirty="0" smtClean="0"/>
              <a:t>2</a:t>
            </a:r>
          </a:p>
          <a:p>
            <a:pPr>
              <a:buNone/>
            </a:pPr>
            <a:r>
              <a:rPr lang="en-US" dirty="0" smtClean="0"/>
              <a:t>	= - 1.01100000000000000000000 × 2</a:t>
            </a:r>
            <a:r>
              <a:rPr lang="en-US" baseline="30000" dirty="0" smtClean="0"/>
              <a:t>2</a:t>
            </a:r>
          </a:p>
          <a:p>
            <a:pPr>
              <a:buNone/>
            </a:pPr>
            <a:r>
              <a:rPr lang="en-US" dirty="0" smtClean="0"/>
              <a:t>	= - 101.10</a:t>
            </a:r>
            <a:endParaRPr lang="en-US" baseline="30000" dirty="0" smtClean="0"/>
          </a:p>
          <a:p>
            <a:pPr>
              <a:buNone/>
            </a:pPr>
            <a:r>
              <a:rPr lang="en-US" dirty="0" smtClean="0"/>
              <a:t>	= - 5.5</a:t>
            </a:r>
            <a:endParaRPr lang="en-US" baseline="30000" dirty="0" smtClean="0"/>
          </a:p>
          <a:p>
            <a:endParaRPr lang="en-US" dirty="0" smtClean="0"/>
          </a:p>
        </p:txBody>
      </p:sp>
      <p:sp>
        <p:nvSpPr>
          <p:cNvPr id="4" name="Slide Number Placeholder 3"/>
          <p:cNvSpPr>
            <a:spLocks noGrp="1"/>
          </p:cNvSpPr>
          <p:nvPr>
            <p:ph type="sldNum" sz="quarter" idx="12"/>
          </p:nvPr>
        </p:nvSpPr>
        <p:spPr/>
        <p:txBody>
          <a:bodyPr/>
          <a:lstStyle/>
          <a:p>
            <a:fld id="{8A4DEF83-8E89-4D94-8D5D-613AED6F19E4}" type="slidenum">
              <a:rPr lang="en-US" smtClean="0"/>
              <a:pPr/>
              <a:t>53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20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20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1501</TotalTime>
  <Words>944</Words>
  <Application>Microsoft Office PowerPoint</Application>
  <PresentationFormat>On-screen Show (4:3)</PresentationFormat>
  <Paragraphs>290</Paragraphs>
  <Slides>53</Slides>
  <Notes>2</Notes>
  <HiddenSlides>0</HiddenSlides>
  <MMClips>0</MMClips>
  <ScaleCrop>false</ScaleCrop>
  <HeadingPairs>
    <vt:vector size="4" baseType="variant">
      <vt:variant>
        <vt:lpstr>Theme</vt:lpstr>
      </vt:variant>
      <vt:variant>
        <vt:i4>1</vt:i4>
      </vt:variant>
      <vt:variant>
        <vt:lpstr>Slide Titles</vt:lpstr>
      </vt:variant>
      <vt:variant>
        <vt:i4>53</vt:i4>
      </vt:variant>
    </vt:vector>
  </HeadingPairs>
  <TitlesOfParts>
    <vt:vector size="54" baseType="lpstr">
      <vt:lpstr>Office Theme</vt:lpstr>
      <vt:lpstr>DIGITAL ELECTRONICS III Semester CSE, CSE (AIML) &amp; CSE (DS)</vt:lpstr>
      <vt:lpstr>Representation of Signed Binary Number</vt:lpstr>
      <vt:lpstr>1’s Complement</vt:lpstr>
      <vt:lpstr>2’s Complement</vt:lpstr>
      <vt:lpstr>Slide 5</vt:lpstr>
      <vt:lpstr>Slide 6</vt:lpstr>
      <vt:lpstr>Slide 7</vt:lpstr>
      <vt:lpstr>REPRESENTATION OF SIGNED NUMBER</vt:lpstr>
      <vt:lpstr>Sign-magnitude Representation</vt:lpstr>
      <vt:lpstr>Example: Represent the following signed number in sign-magnitude form. (a) 25 (b) – 25  (c) 68 (d) - 68</vt:lpstr>
      <vt:lpstr>Slide 11</vt:lpstr>
      <vt:lpstr>1's complement Representation</vt:lpstr>
      <vt:lpstr>Example: Represent the following signed number in 1’s complement form. (a) 25 (b) - 25  (c) 68 (d) - 68</vt:lpstr>
      <vt:lpstr>2's complement Representation</vt:lpstr>
      <vt:lpstr>Example: Represent the following signed number in 2’s complement form. (a) 25 (b) - 25  (c) 68 (d) - 68</vt:lpstr>
      <vt:lpstr>Slide 16</vt:lpstr>
      <vt:lpstr>Binary Arithmetic's</vt:lpstr>
      <vt:lpstr>1. Binary Addition</vt:lpstr>
      <vt:lpstr>Example: Add the binary numbers 1101.101 and 111.011</vt:lpstr>
      <vt:lpstr>2. Binary Subtraction</vt:lpstr>
      <vt:lpstr>Example: Subtract the binary number 101 from 1011</vt:lpstr>
      <vt:lpstr>3. Binary Multiplication</vt:lpstr>
      <vt:lpstr>Example: Multiply the binary number 1101 by 110</vt:lpstr>
      <vt:lpstr>4. Binary Division</vt:lpstr>
      <vt:lpstr>Rules of Binary Arithmetic</vt:lpstr>
      <vt:lpstr>Binary Arithmetic using 1’s and 2’s Complements</vt:lpstr>
      <vt:lpstr>Logic for Binary Arithmetic</vt:lpstr>
      <vt:lpstr>Slide 28</vt:lpstr>
      <vt:lpstr>Example-1: Subtract 14 from 25 using 1’s complement method.</vt:lpstr>
      <vt:lpstr>Example-2: Add -25 to 14 using 1’s complement method.</vt:lpstr>
      <vt:lpstr>Example-3: Add -14 to -25 using 1’s complement method.</vt:lpstr>
      <vt:lpstr>Example-4: Add 14 to 25 using 1’s complement method.</vt:lpstr>
      <vt:lpstr>Binary Arithmetic using 2’s Complements</vt:lpstr>
      <vt:lpstr>Example-1: Subtract 14 from 46 using 2’s complement method.</vt:lpstr>
      <vt:lpstr>Example-2: Add -75 to 26 using 2’s complement method.</vt:lpstr>
      <vt:lpstr>Example-3: Add -14 to -25 using 2’s complement method.</vt:lpstr>
      <vt:lpstr>Problems:</vt:lpstr>
      <vt:lpstr>Solutions:</vt:lpstr>
      <vt:lpstr>Slide 39</vt:lpstr>
      <vt:lpstr>Floating-Point Number Representation</vt:lpstr>
      <vt:lpstr>Slide 41</vt:lpstr>
      <vt:lpstr>Slide 42</vt:lpstr>
      <vt:lpstr>Slide 43</vt:lpstr>
      <vt:lpstr>Slide 44</vt:lpstr>
      <vt:lpstr>Slide 45</vt:lpstr>
      <vt:lpstr>Slide 46</vt:lpstr>
      <vt:lpstr>Slide 47</vt:lpstr>
      <vt:lpstr>Slide 48</vt:lpstr>
      <vt:lpstr>Slide 49</vt:lpstr>
      <vt:lpstr>Example: What is the single-precision representation of 347.625?</vt:lpstr>
      <vt:lpstr>Example: Find out the floating point number from the following representation.  0  10000011  00111000000000000000000</vt:lpstr>
      <vt:lpstr>Example: Express -3.75 as a floating point number using IEEE single precision.</vt:lpstr>
      <vt:lpstr>Example: Find out the floating point number from the following representation.  1 1000 0001 011 0000 0000 0000 0000 0000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AMI PARIDA</dc:creator>
  <cp:lastModifiedBy>tcstcs</cp:lastModifiedBy>
  <cp:revision>194</cp:revision>
  <dcterms:created xsi:type="dcterms:W3CDTF">2020-08-13T13:47:54Z</dcterms:created>
  <dcterms:modified xsi:type="dcterms:W3CDTF">2023-07-28T16:03:32Z</dcterms:modified>
</cp:coreProperties>
</file>