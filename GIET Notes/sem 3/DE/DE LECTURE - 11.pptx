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76" r:id="rId10"/>
    <p:sldId id="264" r:id="rId11"/>
    <p:sldId id="277" r:id="rId12"/>
    <p:sldId id="278" r:id="rId13"/>
    <p:sldId id="280" r:id="rId14"/>
    <p:sldId id="279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92" r:id="rId23"/>
    <p:sldId id="293" r:id="rId24"/>
    <p:sldId id="295" r:id="rId25"/>
    <p:sldId id="296" r:id="rId26"/>
    <p:sldId id="288" r:id="rId27"/>
    <p:sldId id="291" r:id="rId28"/>
    <p:sldId id="294" r:id="rId29"/>
    <p:sldId id="297" r:id="rId30"/>
    <p:sldId id="300" r:id="rId31"/>
    <p:sldId id="298" r:id="rId32"/>
    <p:sldId id="299" r:id="rId33"/>
    <p:sldId id="290" r:id="rId34"/>
    <p:sldId id="289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>
        <p:scale>
          <a:sx n="70" d="100"/>
          <a:sy n="70" d="100"/>
        </p:scale>
        <p:origin x="-51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6" y="101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49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3060D7-8048-4D8D-BFB5-CDB6BD4C616A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F4ACA-039C-4EFF-9520-1F127F6CFB0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8295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F4ACA-039C-4EFF-9520-1F127F6CFB01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66348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F4ACA-039C-4EFF-9520-1F127F6CFB01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66348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0159-E3AB-4EDA-B3DB-2237D6B09CC8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4BB5-C121-4991-9C27-08E70D9035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56422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0159-E3AB-4EDA-B3DB-2237D6B09CC8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4BB5-C121-4991-9C27-08E70D9035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65331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0159-E3AB-4EDA-B3DB-2237D6B09CC8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4BB5-C121-4991-9C27-08E70D9035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005712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0159-E3AB-4EDA-B3DB-2237D6B09CC8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4BB5-C121-4991-9C27-08E70D9035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88831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0159-E3AB-4EDA-B3DB-2237D6B09CC8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4BB5-C121-4991-9C27-08E70D9035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2745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0159-E3AB-4EDA-B3DB-2237D6B09CC8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4BB5-C121-4991-9C27-08E70D9035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14442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0159-E3AB-4EDA-B3DB-2237D6B09CC8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4BB5-C121-4991-9C27-08E70D9035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99011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0159-E3AB-4EDA-B3DB-2237D6B09CC8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4BB5-C121-4991-9C27-08E70D9035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106981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0159-E3AB-4EDA-B3DB-2237D6B09CC8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4BB5-C121-4991-9C27-08E70D9035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49069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0159-E3AB-4EDA-B3DB-2237D6B09CC8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4BB5-C121-4991-9C27-08E70D9035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86814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0159-E3AB-4EDA-B3DB-2237D6B09CC8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74BB5-C121-4991-9C27-08E70D9035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312910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0159-E3AB-4EDA-B3DB-2237D6B09CC8}" type="datetimeFigureOut">
              <a:rPr lang="en-IN" smtClean="0"/>
              <a:pPr/>
              <a:t>30-04-2022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374BB5-C121-4991-9C27-08E70D90356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46406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908720"/>
            <a:ext cx="7772400" cy="1470025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FF0000"/>
                </a:solidFill>
              </a:rPr>
              <a:t>COMBINATIONAL LOGIC</a:t>
            </a:r>
            <a:endParaRPr lang="en-IN" sz="6000" dirty="0">
              <a:solidFill>
                <a:srgbClr val="FF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64904"/>
            <a:ext cx="6400800" cy="3240360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00B050"/>
                </a:solidFill>
              </a:rPr>
              <a:t>Combinational </a:t>
            </a:r>
            <a:r>
              <a:rPr lang="en-US" sz="4400" b="1" dirty="0" smtClean="0">
                <a:solidFill>
                  <a:srgbClr val="00B050"/>
                </a:solidFill>
              </a:rPr>
              <a:t>Circuits;</a:t>
            </a:r>
          </a:p>
          <a:p>
            <a:r>
              <a:rPr lang="en-US" sz="4400" b="1" dirty="0" smtClean="0">
                <a:solidFill>
                  <a:srgbClr val="00B050"/>
                </a:solidFill>
              </a:rPr>
              <a:t>Analysis Procedure;</a:t>
            </a:r>
          </a:p>
          <a:p>
            <a:r>
              <a:rPr lang="en-US" sz="4400" b="1" dirty="0">
                <a:solidFill>
                  <a:srgbClr val="00B050"/>
                </a:solidFill>
              </a:rPr>
              <a:t>Design Procedure;</a:t>
            </a:r>
          </a:p>
          <a:p>
            <a:r>
              <a:rPr lang="en-US" sz="4400" b="1" dirty="0">
                <a:solidFill>
                  <a:srgbClr val="00B050"/>
                </a:solidFill>
              </a:rPr>
              <a:t>Adders; </a:t>
            </a:r>
            <a:r>
              <a:rPr lang="en-US" sz="4400" b="1" dirty="0" err="1" smtClean="0">
                <a:solidFill>
                  <a:srgbClr val="00B050"/>
                </a:solidFill>
              </a:rPr>
              <a:t>Subtractors</a:t>
            </a:r>
            <a:endParaRPr lang="en-IN" sz="4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5743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C00000"/>
                </a:solidFill>
              </a:rPr>
              <a:t>INTRODUCTION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Logic circuits for digital systems may be </a:t>
            </a:r>
            <a:r>
              <a:rPr lang="en-US" dirty="0">
                <a:solidFill>
                  <a:srgbClr val="C00000"/>
                </a:solidFill>
              </a:rPr>
              <a:t>combinational</a:t>
            </a:r>
            <a:r>
              <a:rPr lang="en-US" dirty="0"/>
              <a:t> or </a:t>
            </a:r>
            <a:r>
              <a:rPr lang="en-US" dirty="0" smtClean="0">
                <a:solidFill>
                  <a:srgbClr val="C00000"/>
                </a:solidFill>
              </a:rPr>
              <a:t>sequential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A combinational circuit </a:t>
            </a:r>
            <a:r>
              <a:rPr lang="en-US" dirty="0"/>
              <a:t>consists of logic gates whose outputs at any time are determined from only </a:t>
            </a:r>
            <a:r>
              <a:rPr lang="en-US" dirty="0" smtClean="0"/>
              <a:t>the present </a:t>
            </a:r>
            <a:r>
              <a:rPr lang="en-US" dirty="0"/>
              <a:t>combination of </a:t>
            </a:r>
            <a:r>
              <a:rPr lang="en-US" dirty="0" smtClean="0"/>
              <a:t>inputs.</a:t>
            </a:r>
          </a:p>
          <a:p>
            <a:pPr algn="just"/>
            <a:r>
              <a:rPr lang="en-US" dirty="0" smtClean="0"/>
              <a:t>A </a:t>
            </a:r>
            <a:r>
              <a:rPr lang="en-US" dirty="0"/>
              <a:t>combinational circuit performs an operation that </a:t>
            </a:r>
            <a:r>
              <a:rPr lang="en-US" dirty="0" smtClean="0"/>
              <a:t>can be </a:t>
            </a:r>
            <a:r>
              <a:rPr lang="en-US" dirty="0"/>
              <a:t>specified logically by a set of Boolean </a:t>
            </a:r>
            <a:r>
              <a:rPr lang="en-US" dirty="0" smtClean="0"/>
              <a:t>functions.</a:t>
            </a:r>
          </a:p>
        </p:txBody>
      </p:sp>
    </p:spTree>
    <p:extLst>
      <p:ext uri="{BB962C8B-B14F-4D97-AF65-F5344CB8AC3E}">
        <p14:creationId xmlns:p14="http://schemas.microsoft.com/office/powerpoint/2010/main" xmlns="" val="143378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00141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In contrast, sequential circuits employ storage elements in addition to logic gates.</a:t>
            </a:r>
          </a:p>
          <a:p>
            <a:pPr algn="just"/>
            <a:r>
              <a:rPr lang="en-US" dirty="0" smtClean="0"/>
              <a:t>Their outputs are a function of the inputs and the state of the storage elements.</a:t>
            </a:r>
          </a:p>
          <a:p>
            <a:pPr algn="just"/>
            <a:r>
              <a:rPr lang="en-US" dirty="0" smtClean="0"/>
              <a:t>Because the state of the storage elements is a function of previous inputs, the outputs of a sequential circuit depend not only on present values of inputs, but also on past inputs, and the circuit behavior must be specified by a time sequence of inputs and internal states.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xmlns="" val="4183761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COMBINATIONAL </a:t>
            </a:r>
            <a:r>
              <a:rPr lang="en-IN" dirty="0" smtClean="0">
                <a:solidFill>
                  <a:srgbClr val="C00000"/>
                </a:solidFill>
              </a:rPr>
              <a:t>CIRCUITS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 combinational circuit consists of an interconnection of logic </a:t>
            </a:r>
            <a:r>
              <a:rPr lang="en-US" dirty="0" smtClean="0"/>
              <a:t>gates.</a:t>
            </a:r>
          </a:p>
          <a:p>
            <a:pPr algn="just"/>
            <a:r>
              <a:rPr lang="en-US" dirty="0" smtClean="0"/>
              <a:t>Combinational logic </a:t>
            </a:r>
            <a:r>
              <a:rPr lang="en-US" dirty="0"/>
              <a:t>gates react to the values of the signals at their inputs and produce the value of </a:t>
            </a:r>
            <a:r>
              <a:rPr lang="en-US" dirty="0" smtClean="0"/>
              <a:t>the output </a:t>
            </a:r>
            <a:r>
              <a:rPr lang="en-US" dirty="0"/>
              <a:t>signal, transforming binary information from the given input data to a </a:t>
            </a:r>
            <a:r>
              <a:rPr lang="en-US" dirty="0" smtClean="0"/>
              <a:t>required output data.</a:t>
            </a:r>
          </a:p>
          <a:p>
            <a:pPr algn="just"/>
            <a:r>
              <a:rPr lang="en-US" dirty="0" smtClean="0"/>
              <a:t>A block diagram of a combinational circuit is shown in Fig.</a:t>
            </a:r>
          </a:p>
        </p:txBody>
      </p:sp>
    </p:spTree>
    <p:extLst>
      <p:ext uri="{BB962C8B-B14F-4D97-AF65-F5344CB8AC3E}">
        <p14:creationId xmlns:p14="http://schemas.microsoft.com/office/powerpoint/2010/main" xmlns="" val="398393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71997"/>
            <a:ext cx="8229600" cy="4497363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i="1" dirty="0" smtClean="0"/>
              <a:t>n </a:t>
            </a:r>
            <a:r>
              <a:rPr lang="en-US" dirty="0" smtClean="0"/>
              <a:t>input binary variables come from an external source; the </a:t>
            </a:r>
            <a:r>
              <a:rPr lang="en-US" i="1" dirty="0" smtClean="0"/>
              <a:t>m </a:t>
            </a:r>
            <a:r>
              <a:rPr lang="en-US" dirty="0" smtClean="0"/>
              <a:t>output variables are produced by the internal combinational logic circuit and go to an external destination.</a:t>
            </a:r>
          </a:p>
          <a:p>
            <a:pPr algn="just"/>
            <a:r>
              <a:rPr lang="en-US" dirty="0"/>
              <a:t>Each input and output variable exists physically as an analog signal whose values are interpreted to be a binary signal that represents logic 1 and logic 0</a:t>
            </a:r>
            <a:r>
              <a:rPr lang="en-US" dirty="0" smtClean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2064"/>
            <a:ext cx="7029542" cy="206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61789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5472608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For </a:t>
            </a:r>
            <a:r>
              <a:rPr lang="en-US" i="1" dirty="0"/>
              <a:t>n </a:t>
            </a:r>
            <a:r>
              <a:rPr lang="en-US" dirty="0"/>
              <a:t>input variables, there are 2</a:t>
            </a:r>
            <a:r>
              <a:rPr lang="en-US" i="1" baseline="30000" dirty="0"/>
              <a:t>n</a:t>
            </a:r>
            <a:r>
              <a:rPr lang="en-US" i="1" dirty="0"/>
              <a:t> </a:t>
            </a:r>
            <a:r>
              <a:rPr lang="en-US" dirty="0"/>
              <a:t>possible combinations of the binary </a:t>
            </a:r>
            <a:r>
              <a:rPr lang="en-US" dirty="0" smtClean="0"/>
              <a:t>inputs.</a:t>
            </a:r>
          </a:p>
          <a:p>
            <a:pPr algn="just"/>
            <a:r>
              <a:rPr lang="en-US" dirty="0" smtClean="0"/>
              <a:t>For each possible </a:t>
            </a:r>
            <a:r>
              <a:rPr lang="en-US" dirty="0"/>
              <a:t>input combination, there is one possible value for each output </a:t>
            </a:r>
            <a:r>
              <a:rPr lang="en-US" dirty="0" smtClean="0"/>
              <a:t>variable.</a:t>
            </a:r>
          </a:p>
          <a:p>
            <a:pPr algn="just"/>
            <a:r>
              <a:rPr lang="en-US" dirty="0" smtClean="0"/>
              <a:t>Thus</a:t>
            </a:r>
            <a:r>
              <a:rPr lang="en-US" dirty="0"/>
              <a:t>, </a:t>
            </a:r>
            <a:r>
              <a:rPr lang="en-US" dirty="0" smtClean="0"/>
              <a:t>a combinational </a:t>
            </a:r>
            <a:r>
              <a:rPr lang="en-US" dirty="0"/>
              <a:t>circuit can be specified with a truth table that lists the output values </a:t>
            </a:r>
            <a:r>
              <a:rPr lang="en-US" dirty="0" smtClean="0"/>
              <a:t>for each </a:t>
            </a:r>
            <a:r>
              <a:rPr lang="en-US" dirty="0"/>
              <a:t>combination of input </a:t>
            </a:r>
            <a:r>
              <a:rPr lang="en-US" dirty="0" smtClean="0"/>
              <a:t>variables.</a:t>
            </a:r>
          </a:p>
          <a:p>
            <a:pPr algn="just"/>
            <a:r>
              <a:rPr lang="en-US" dirty="0" smtClean="0"/>
              <a:t>A </a:t>
            </a:r>
            <a:r>
              <a:rPr lang="en-US" dirty="0"/>
              <a:t>combinational circuit also can be described </a:t>
            </a:r>
            <a:r>
              <a:rPr lang="en-US" dirty="0" smtClean="0"/>
              <a:t>by </a:t>
            </a:r>
            <a:r>
              <a:rPr lang="en-US" i="1" dirty="0" smtClean="0"/>
              <a:t>m </a:t>
            </a:r>
            <a:r>
              <a:rPr lang="en-US" dirty="0"/>
              <a:t>Boolean functions, one for each output variable. Each output function is </a:t>
            </a:r>
            <a:r>
              <a:rPr lang="en-US" dirty="0" smtClean="0"/>
              <a:t>expressed in </a:t>
            </a:r>
            <a:r>
              <a:rPr lang="en-US" dirty="0"/>
              <a:t>terms of the </a:t>
            </a:r>
            <a:r>
              <a:rPr lang="en-US" i="1" dirty="0"/>
              <a:t>n </a:t>
            </a:r>
            <a:r>
              <a:rPr lang="en-US" dirty="0"/>
              <a:t>input </a:t>
            </a:r>
            <a:r>
              <a:rPr lang="en-US" dirty="0" smtClean="0"/>
              <a:t>variables.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661823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ANALYSIS </a:t>
            </a:r>
            <a:r>
              <a:rPr lang="en-IN" dirty="0" smtClean="0">
                <a:solidFill>
                  <a:srgbClr val="C00000"/>
                </a:solidFill>
              </a:rPr>
              <a:t>PROCEDURE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analysis of a combinational circuit requires that we determine the function that </a:t>
            </a:r>
            <a:r>
              <a:rPr lang="en-US" dirty="0" smtClean="0"/>
              <a:t>the circuit implements.</a:t>
            </a:r>
          </a:p>
          <a:p>
            <a:pPr algn="just"/>
            <a:r>
              <a:rPr lang="en-US" dirty="0" smtClean="0"/>
              <a:t>This </a:t>
            </a:r>
            <a:r>
              <a:rPr lang="en-US" dirty="0"/>
              <a:t>task starts with a given logic diagram and culminates with a </a:t>
            </a:r>
            <a:r>
              <a:rPr lang="en-US" dirty="0" smtClean="0"/>
              <a:t>set of </a:t>
            </a:r>
            <a:r>
              <a:rPr lang="en-US" dirty="0"/>
              <a:t>Boolean functions, a truth table, </a:t>
            </a:r>
            <a:r>
              <a:rPr lang="en-US" dirty="0" smtClean="0"/>
              <a:t>or </a:t>
            </a:r>
            <a:r>
              <a:rPr lang="en-US" dirty="0"/>
              <a:t>possibly, an explanation of the circuit operation.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04535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DESIGN </a:t>
            </a:r>
            <a:r>
              <a:rPr lang="en-IN" dirty="0" smtClean="0">
                <a:solidFill>
                  <a:srgbClr val="C00000"/>
                </a:solidFill>
              </a:rPr>
              <a:t>PROCEDURE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>
            <a:noAutofit/>
          </a:bodyPr>
          <a:lstStyle/>
          <a:p>
            <a:pPr algn="just"/>
            <a:r>
              <a:rPr lang="en-US" sz="2800" dirty="0" smtClean="0"/>
              <a:t>The </a:t>
            </a:r>
            <a:r>
              <a:rPr lang="en-US" sz="2800" dirty="0"/>
              <a:t>procedure involves the following </a:t>
            </a:r>
            <a:r>
              <a:rPr lang="en-US" sz="2800" dirty="0" smtClean="0"/>
              <a:t>steps: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/>
              <a:t>From </a:t>
            </a:r>
            <a:r>
              <a:rPr lang="en-US" sz="2800" dirty="0"/>
              <a:t>the specifications of the circuit, determine the required number of </a:t>
            </a:r>
            <a:r>
              <a:rPr lang="en-US" sz="2800" dirty="0" smtClean="0"/>
              <a:t>inputs and </a:t>
            </a:r>
            <a:r>
              <a:rPr lang="en-US" sz="2800" dirty="0"/>
              <a:t>outputs and assign a symbol to </a:t>
            </a:r>
            <a:r>
              <a:rPr lang="en-US" sz="2800" dirty="0" smtClean="0"/>
              <a:t>each.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/>
              <a:t>Derive </a:t>
            </a:r>
            <a:r>
              <a:rPr lang="en-US" sz="2800" dirty="0"/>
              <a:t>the truth table that defines the required relationship between inputs </a:t>
            </a:r>
            <a:r>
              <a:rPr lang="en-US" sz="2800" dirty="0" smtClean="0"/>
              <a:t>and </a:t>
            </a:r>
            <a:r>
              <a:rPr lang="en-IN" sz="2800" dirty="0" smtClean="0"/>
              <a:t>outputs.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/>
              <a:t>Obtain </a:t>
            </a:r>
            <a:r>
              <a:rPr lang="en-US" sz="2800" dirty="0"/>
              <a:t>the simplified Boolean functions for each output as a function of the </a:t>
            </a:r>
            <a:r>
              <a:rPr lang="en-US" sz="2800" dirty="0" smtClean="0"/>
              <a:t>input </a:t>
            </a:r>
            <a:r>
              <a:rPr lang="en-IN" sz="2800" dirty="0" smtClean="0"/>
              <a:t>variables.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/>
              <a:t>Draw </a:t>
            </a:r>
            <a:r>
              <a:rPr lang="en-US" sz="2800" dirty="0"/>
              <a:t>the logic diagram and verify the correctness of the design (manually or </a:t>
            </a:r>
            <a:r>
              <a:rPr lang="en-US" sz="2800" dirty="0" smtClean="0"/>
              <a:t>by </a:t>
            </a:r>
            <a:r>
              <a:rPr lang="en-IN" sz="2800" dirty="0" smtClean="0"/>
              <a:t>simulation).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286977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C00000"/>
                </a:solidFill>
              </a:rPr>
              <a:t>ADDERS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The most basic arithmetic operation is the addition of two </a:t>
            </a:r>
            <a:r>
              <a:rPr lang="en-US" smtClean="0"/>
              <a:t>binary </a:t>
            </a:r>
            <a:r>
              <a:rPr lang="en-US" smtClean="0"/>
              <a:t>bits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T</a:t>
            </a:r>
            <a:r>
              <a:rPr lang="en-US" dirty="0" smtClean="0"/>
              <a:t>his simple addition consists of 4 possible operations, namely,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67744" y="3861248"/>
            <a:ext cx="4849272" cy="216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02618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smtClean="0">
                <a:solidFill>
                  <a:srgbClr val="002060"/>
                </a:solidFill>
              </a:rPr>
              <a:t>Half </a:t>
            </a:r>
            <a:r>
              <a:rPr lang="en-IN" dirty="0">
                <a:solidFill>
                  <a:srgbClr val="002060"/>
                </a:solidFill>
              </a:rPr>
              <a:t>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A combinational circuit that performs the addition of two bits </a:t>
            </a:r>
            <a:r>
              <a:rPr lang="en-US" dirty="0" smtClean="0"/>
              <a:t>is </a:t>
            </a:r>
            <a:r>
              <a:rPr lang="en-IN" dirty="0" smtClean="0"/>
              <a:t>called </a:t>
            </a:r>
            <a:r>
              <a:rPr lang="en-IN" dirty="0"/>
              <a:t>a </a:t>
            </a:r>
            <a:r>
              <a:rPr lang="en-IN" i="1" dirty="0">
                <a:solidFill>
                  <a:srgbClr val="C00000"/>
                </a:solidFill>
              </a:rPr>
              <a:t>half </a:t>
            </a:r>
            <a:r>
              <a:rPr lang="en-IN" i="1" dirty="0" smtClean="0">
                <a:solidFill>
                  <a:srgbClr val="C00000"/>
                </a:solidFill>
              </a:rPr>
              <a:t>adder</a:t>
            </a:r>
            <a:r>
              <a:rPr lang="en-IN" dirty="0" smtClean="0"/>
              <a:t>.</a:t>
            </a:r>
          </a:p>
          <a:p>
            <a:pPr algn="just"/>
            <a:r>
              <a:rPr lang="en-US" dirty="0" smtClean="0"/>
              <a:t>A half adder is a combinational circuit with two binary inputs (augend and addend bits) and two binary outputs (sum and carry bits).</a:t>
            </a:r>
          </a:p>
          <a:p>
            <a:pPr algn="just"/>
            <a:r>
              <a:rPr lang="en-US" dirty="0" smtClean="0"/>
              <a:t>It adds the two inputs (</a:t>
            </a:r>
            <a:r>
              <a:rPr lang="en-US" dirty="0" smtClean="0">
                <a:solidFill>
                  <a:srgbClr val="002060"/>
                </a:solidFill>
              </a:rPr>
              <a:t>A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002060"/>
                </a:solidFill>
              </a:rPr>
              <a:t>B</a:t>
            </a:r>
            <a:r>
              <a:rPr lang="en-US" dirty="0" smtClean="0"/>
              <a:t>) and produces two outputs, sum (</a:t>
            </a:r>
            <a:r>
              <a:rPr lang="en-US" dirty="0" smtClean="0">
                <a:solidFill>
                  <a:srgbClr val="002060"/>
                </a:solidFill>
              </a:rPr>
              <a:t>S</a:t>
            </a:r>
            <a:r>
              <a:rPr lang="en-US" dirty="0" smtClean="0"/>
              <a:t>) and carry (</a:t>
            </a:r>
            <a:r>
              <a:rPr lang="en-US" dirty="0" smtClean="0">
                <a:solidFill>
                  <a:srgbClr val="002060"/>
                </a:solidFill>
              </a:rPr>
              <a:t>C</a:t>
            </a:r>
            <a:r>
              <a:rPr lang="en-US" dirty="0" smtClean="0"/>
              <a:t>).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xmlns="" val="94309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789040"/>
                <a:ext cx="8229600" cy="2337123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800" dirty="0" smtClean="0"/>
                  <a:t>The simplified Boolean functions for the two outputs can be obtained directly from the truth table. The simplified sum-of-products expressions are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S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A</m:t>
                          </m:r>
                        </m:e>
                      </m:ba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B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A</m:t>
                      </m:r>
                      <m:bar>
                        <m:barPr>
                          <m:pos m:val="top"/>
                          <m:ctrlPr>
                            <a:rPr lang="en-US" sz="28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B</m:t>
                          </m:r>
                        </m:e>
                      </m:ba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A</m:t>
                      </m:r>
                      <m:r>
                        <a:rPr lang="en-US" sz="280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⊕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B</m:t>
                      </m:r>
                    </m:oMath>
                  </m:oMathPara>
                </a14:m>
                <a:endParaRPr lang="en-US" sz="2800" b="0" i="0" dirty="0" smtClean="0">
                  <a:solidFill>
                    <a:srgbClr val="002060"/>
                  </a:solidFill>
                  <a:latin typeface="Cambria Math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C</m:t>
                      </m:r>
                      <m:r>
                        <a:rPr lang="en-US" sz="28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AB</m:t>
                      </m:r>
                    </m:oMath>
                  </m:oMathPara>
                </a14:m>
                <a:endParaRPr lang="en-IN" sz="28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789040"/>
                <a:ext cx="8229600" cy="2337123"/>
              </a:xfrm>
              <a:blipFill rotWithShape="1">
                <a:blip r:embed="rId2" cstate="print"/>
                <a:stretch>
                  <a:fillRect l="-1259" t="-2350" r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5796136" y="1052736"/>
            <a:ext cx="1872208" cy="25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00808"/>
            <a:ext cx="3184471" cy="181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926620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23796" y="1556792"/>
            <a:ext cx="7048604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172757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dirty="0">
                <a:solidFill>
                  <a:srgbClr val="C00000"/>
                </a:solidFill>
              </a:rPr>
              <a:t>Implementation </a:t>
            </a:r>
            <a:r>
              <a:rPr lang="en-US" sz="3600" dirty="0" smtClean="0">
                <a:solidFill>
                  <a:srgbClr val="C00000"/>
                </a:solidFill>
              </a:rPr>
              <a:t>of half adder by using only NAND gates.</a:t>
            </a:r>
            <a:endParaRPr lang="en-IN" sz="3600" dirty="0">
              <a:solidFill>
                <a:srgbClr val="C0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708920"/>
            <a:ext cx="5832298" cy="3384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1489719"/>
            <a:ext cx="3456384" cy="1882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60499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dirty="0">
                <a:solidFill>
                  <a:srgbClr val="C00000"/>
                </a:solidFill>
              </a:rPr>
              <a:t>Implementation </a:t>
            </a:r>
            <a:r>
              <a:rPr lang="en-US" sz="3600" dirty="0" smtClean="0">
                <a:solidFill>
                  <a:srgbClr val="C00000"/>
                </a:solidFill>
              </a:rPr>
              <a:t>of half adder by using only NOR gates.</a:t>
            </a:r>
            <a:endParaRPr lang="en-IN" sz="3600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5"/>
            <a:ext cx="4320479" cy="22054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19109" y="3540944"/>
            <a:ext cx="6429355" cy="298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26469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Full Adder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i="1" dirty="0">
                <a:solidFill>
                  <a:srgbClr val="C00000"/>
                </a:solidFill>
              </a:rPr>
              <a:t>full adder</a:t>
            </a:r>
            <a:r>
              <a:rPr lang="en-US" dirty="0"/>
              <a:t> is a combinational circuit that forms the arithmetic sum of three bits </a:t>
            </a:r>
            <a:r>
              <a:rPr lang="en-IN" dirty="0"/>
              <a:t>(two significant bits and a previous carry)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It consists of three inputs and two outputs.</a:t>
            </a:r>
          </a:p>
          <a:p>
            <a:pPr algn="just"/>
            <a:r>
              <a:rPr lang="en-IN" dirty="0"/>
              <a:t>The full adder adds the bits </a:t>
            </a:r>
            <a:r>
              <a:rPr lang="en-IN" dirty="0">
                <a:solidFill>
                  <a:srgbClr val="002060"/>
                </a:solidFill>
              </a:rPr>
              <a:t>A</a:t>
            </a:r>
            <a:r>
              <a:rPr lang="en-IN" dirty="0"/>
              <a:t> and </a:t>
            </a:r>
            <a:r>
              <a:rPr lang="en-IN" dirty="0">
                <a:solidFill>
                  <a:srgbClr val="002060"/>
                </a:solidFill>
              </a:rPr>
              <a:t>B</a:t>
            </a:r>
            <a:r>
              <a:rPr lang="en-IN" dirty="0"/>
              <a:t> and the carry from the previous column called the carry-in </a:t>
            </a:r>
            <a:r>
              <a:rPr lang="en-IN" dirty="0" err="1">
                <a:solidFill>
                  <a:srgbClr val="002060"/>
                </a:solidFill>
              </a:rPr>
              <a:t>C</a:t>
            </a:r>
            <a:r>
              <a:rPr lang="en-IN" baseline="-25000" dirty="0" err="1">
                <a:solidFill>
                  <a:srgbClr val="002060"/>
                </a:solidFill>
              </a:rPr>
              <a:t>in</a:t>
            </a:r>
            <a:r>
              <a:rPr lang="en-IN" dirty="0"/>
              <a:t> and outputs the sum bit </a:t>
            </a:r>
            <a:r>
              <a:rPr lang="en-IN" dirty="0">
                <a:solidFill>
                  <a:srgbClr val="002060"/>
                </a:solidFill>
              </a:rPr>
              <a:t>S</a:t>
            </a:r>
            <a:r>
              <a:rPr lang="en-IN" dirty="0"/>
              <a:t> and the carry bit called the carry-out </a:t>
            </a:r>
            <a:r>
              <a:rPr lang="en-IN" dirty="0" err="1">
                <a:solidFill>
                  <a:srgbClr val="002060"/>
                </a:solidFill>
              </a:rPr>
              <a:t>C</a:t>
            </a:r>
            <a:r>
              <a:rPr lang="en-IN" baseline="-25000" dirty="0" err="1">
                <a:solidFill>
                  <a:srgbClr val="002060"/>
                </a:solidFill>
              </a:rPr>
              <a:t>out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45024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827584" y="692696"/>
            <a:ext cx="3257339" cy="176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71600" y="2564904"/>
            <a:ext cx="2736304" cy="38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Rectangle 1"/>
              <p:cNvSpPr/>
              <p:nvPr/>
            </p:nvSpPr>
            <p:spPr>
              <a:xfrm>
                <a:off x="5220072" y="1023119"/>
                <a:ext cx="252028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S</m:t>
                      </m:r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=∑(1, 2, 4, 7)</m:t>
                      </m:r>
                    </m:oMath>
                  </m:oMathPara>
                </a14:m>
                <a:endParaRPr lang="en-US" sz="2000" dirty="0" smtClean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1023119"/>
                <a:ext cx="2520280" cy="400110"/>
              </a:xfrm>
              <a:prstGeom prst="rect">
                <a:avLst/>
              </a:prstGeom>
              <a:blipFill rotWithShape="1">
                <a:blip r:embed="rId5" cstate="print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4910964" y="1445376"/>
            <a:ext cx="2973404" cy="176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Rectangle 5"/>
              <p:cNvSpPr/>
              <p:nvPr/>
            </p:nvSpPr>
            <p:spPr>
              <a:xfrm>
                <a:off x="5351902" y="3789040"/>
                <a:ext cx="260447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0" dirty="0" smtClean="0">
                          <a:solidFill>
                            <a:srgbClr val="002060"/>
                          </a:solidFill>
                          <a:latin typeface="Cambria Math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2000" i="0" baseline="-25000" dirty="0" err="1" smtClean="0">
                          <a:solidFill>
                            <a:srgbClr val="002060"/>
                          </a:solidFill>
                          <a:latin typeface="Cambria Math"/>
                        </a:rPr>
                        <m:t>ou</m:t>
                      </m:r>
                      <m:r>
                        <m:rPr>
                          <m:sty m:val="p"/>
                        </m:rPr>
                        <a:rPr lang="en-US" sz="2000" i="0" baseline="-25000" dirty="0" smtClean="0">
                          <a:solidFill>
                            <a:srgbClr val="002060"/>
                          </a:solidFill>
                          <a:latin typeface="Cambria Math"/>
                        </a:rPr>
                        <m:t>t</m:t>
                      </m:r>
                      <m:r>
                        <a:rPr lang="en-US" sz="2000" b="0" i="0" dirty="0" smtClean="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000" i="0" dirty="0" smtClean="0">
                          <a:solidFill>
                            <a:srgbClr val="002060"/>
                          </a:solidFill>
                          <a:latin typeface="Cambria Math"/>
                        </a:rPr>
                        <m:t>∑(3, 5, 6, 7)</m:t>
                      </m:r>
                    </m:oMath>
                  </m:oMathPara>
                </a14:m>
                <a:endParaRPr lang="en-US" sz="20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902" y="3789040"/>
                <a:ext cx="2604474" cy="400110"/>
              </a:xfrm>
              <a:prstGeom prst="rect">
                <a:avLst/>
              </a:prstGeom>
              <a:blipFill rotWithShape="1">
                <a:blip r:embed="rId7" cstate="print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5148064" y="4221088"/>
            <a:ext cx="3036926" cy="178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4260121" y="476672"/>
            <a:ext cx="45603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IN" sz="2800" dirty="0">
                <a:solidFill>
                  <a:srgbClr val="002060"/>
                </a:solidFill>
              </a:rPr>
              <a:t>The simplified expressions are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813730" y="3284984"/>
            <a:ext cx="3502686" cy="416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00977" y="6050750"/>
            <a:ext cx="2399415" cy="4025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246379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6634" y="1056880"/>
            <a:ext cx="8141830" cy="489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04315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dirty="0">
                <a:solidFill>
                  <a:srgbClr val="C00000"/>
                </a:solidFill>
              </a:rPr>
              <a:t>Implementation of full adder with two half adders and an OR </a:t>
            </a:r>
            <a:r>
              <a:rPr lang="en-US" sz="3600" dirty="0" smtClean="0">
                <a:solidFill>
                  <a:srgbClr val="C00000"/>
                </a:solidFill>
              </a:rPr>
              <a:t>gate.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/>
              <a:t>From the truth table of full adder, the outputs sum and carry are described by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and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1732872" y="2716280"/>
            <a:ext cx="5215392" cy="143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653135"/>
            <a:ext cx="6264696" cy="936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11386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7830" y="3356992"/>
            <a:ext cx="8472642" cy="31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71600" y="401352"/>
            <a:ext cx="6956735" cy="25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61728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dirty="0">
                <a:solidFill>
                  <a:srgbClr val="C00000"/>
                </a:solidFill>
              </a:rPr>
              <a:t>Implementation of </a:t>
            </a:r>
            <a:r>
              <a:rPr lang="en-US" sz="3600" dirty="0" smtClean="0">
                <a:solidFill>
                  <a:srgbClr val="C00000"/>
                </a:solidFill>
              </a:rPr>
              <a:t>full </a:t>
            </a:r>
            <a:r>
              <a:rPr lang="en-US" sz="3600" dirty="0">
                <a:solidFill>
                  <a:srgbClr val="C00000"/>
                </a:solidFill>
              </a:rPr>
              <a:t>adder by using only NAND </a:t>
            </a:r>
            <a:r>
              <a:rPr lang="en-US" sz="3600" dirty="0" smtClean="0">
                <a:solidFill>
                  <a:srgbClr val="C00000"/>
                </a:solidFill>
              </a:rPr>
              <a:t>gates.</a:t>
            </a:r>
            <a:endParaRPr lang="en-IN" sz="3600" dirty="0">
              <a:solidFill>
                <a:srgbClr val="C00000"/>
              </a:solidFill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683568" y="3360944"/>
            <a:ext cx="7976022" cy="316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84784"/>
            <a:ext cx="6719091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46272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dirty="0">
                <a:solidFill>
                  <a:srgbClr val="C00000"/>
                </a:solidFill>
              </a:rPr>
              <a:t>Implementation of full adder by using only </a:t>
            </a:r>
            <a:r>
              <a:rPr lang="en-US" sz="3600" dirty="0" smtClean="0">
                <a:solidFill>
                  <a:srgbClr val="C00000"/>
                </a:solidFill>
              </a:rPr>
              <a:t>NOR gates.</a:t>
            </a:r>
            <a:endParaRPr lang="en-IN" sz="3600" dirty="0">
              <a:solidFill>
                <a:srgbClr val="C00000"/>
              </a:solidFill>
            </a:endParaRP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720" y="3382536"/>
            <a:ext cx="8286752" cy="307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04451" y="1412776"/>
            <a:ext cx="8344013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61920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C00000"/>
                </a:solidFill>
              </a:rPr>
              <a:t>S</a:t>
            </a:r>
            <a:r>
              <a:rPr lang="en-US" dirty="0" err="1" smtClean="0">
                <a:solidFill>
                  <a:srgbClr val="C00000"/>
                </a:solidFill>
              </a:rPr>
              <a:t>ubtractors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3000" dirty="0"/>
              <a:t>In subtraction, each subtrahend bit of the number is subtracted from its corresponding significant minuend bit to form a difference </a:t>
            </a:r>
            <a:r>
              <a:rPr lang="en-IN" sz="3000" dirty="0" smtClean="0"/>
              <a:t>bit.</a:t>
            </a:r>
          </a:p>
          <a:p>
            <a:pPr algn="just"/>
            <a:r>
              <a:rPr lang="en-IN" sz="3000" dirty="0" smtClean="0"/>
              <a:t>If </a:t>
            </a:r>
            <a:r>
              <a:rPr lang="en-IN" sz="3000" dirty="0"/>
              <a:t>the minuend bit is smaller than the subtrahend bit, a 1 is borrowed from the next significant position.</a:t>
            </a:r>
          </a:p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411760" y="4390552"/>
            <a:ext cx="4823838" cy="220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97988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Half </a:t>
            </a:r>
            <a:r>
              <a:rPr lang="en-US" dirty="0" err="1" smtClean="0">
                <a:solidFill>
                  <a:srgbClr val="002060"/>
                </a:solidFill>
              </a:rPr>
              <a:t>Subtractor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IN" dirty="0"/>
              <a:t>A </a:t>
            </a:r>
            <a:r>
              <a:rPr lang="en-IN" i="1" dirty="0">
                <a:solidFill>
                  <a:srgbClr val="C00000"/>
                </a:solidFill>
              </a:rPr>
              <a:t>half </a:t>
            </a:r>
            <a:r>
              <a:rPr lang="en-IN" i="1" dirty="0" err="1">
                <a:solidFill>
                  <a:srgbClr val="C00000"/>
                </a:solidFill>
              </a:rPr>
              <a:t>subtractor</a:t>
            </a:r>
            <a:r>
              <a:rPr lang="en-IN" dirty="0"/>
              <a:t> is a combinational circuit that subtracts one bit from the other and produces the difference. It also has an output to specify if a 1 has been borrowed.</a:t>
            </a:r>
          </a:p>
          <a:p>
            <a:pPr algn="just"/>
            <a:r>
              <a:rPr lang="en-IN" dirty="0"/>
              <a:t>It is used to subtract the LSB of the subtrahend from the LSB of the minuend when one binary number is subtracted from the other.</a:t>
            </a:r>
          </a:p>
          <a:p>
            <a:pPr algn="just"/>
            <a:r>
              <a:rPr lang="en-IN" dirty="0"/>
              <a:t>A half </a:t>
            </a:r>
            <a:r>
              <a:rPr lang="en-IN" dirty="0" err="1"/>
              <a:t>subtractor</a:t>
            </a:r>
            <a:r>
              <a:rPr lang="en-IN" dirty="0"/>
              <a:t> is a combinational circuit with two inputs </a:t>
            </a:r>
            <a:r>
              <a:rPr lang="en-IN" dirty="0">
                <a:solidFill>
                  <a:srgbClr val="002060"/>
                </a:solidFill>
              </a:rPr>
              <a:t>A</a:t>
            </a:r>
            <a:r>
              <a:rPr lang="en-IN" dirty="0"/>
              <a:t> and </a:t>
            </a:r>
            <a:r>
              <a:rPr lang="en-IN" dirty="0">
                <a:solidFill>
                  <a:srgbClr val="002060"/>
                </a:solidFill>
              </a:rPr>
              <a:t>B</a:t>
            </a:r>
            <a:r>
              <a:rPr lang="en-IN" dirty="0"/>
              <a:t> and two outputs </a:t>
            </a:r>
            <a:r>
              <a:rPr lang="en-IN" dirty="0">
                <a:solidFill>
                  <a:srgbClr val="002060"/>
                </a:solidFill>
              </a:rPr>
              <a:t>d</a:t>
            </a:r>
            <a:r>
              <a:rPr lang="en-IN" dirty="0"/>
              <a:t> and </a:t>
            </a:r>
            <a:r>
              <a:rPr lang="en-IN" dirty="0">
                <a:solidFill>
                  <a:srgbClr val="002060"/>
                </a:solidFill>
              </a:rPr>
              <a:t>b</a:t>
            </a:r>
            <a:r>
              <a:rPr lang="en-IN" dirty="0"/>
              <a:t>, </a:t>
            </a:r>
            <a:r>
              <a:rPr lang="en-IN" dirty="0" smtClean="0"/>
              <a:t>d </a:t>
            </a:r>
            <a:r>
              <a:rPr lang="en-IN" dirty="0"/>
              <a:t>indicates the difference and b is the output signal generated that informs the next stage that a 1 has been borrowed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94734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717032"/>
                <a:ext cx="8229600" cy="2409131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US" sz="2800" dirty="0" smtClean="0"/>
                  <a:t>The simplified Boolean functions for the two outputs can be obtained directly from the truth table. The simplified sum-of-products expressions are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A</m:t>
                          </m:r>
                        </m:e>
                      </m:ba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/>
                        </a:rPr>
                        <m:t>B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/>
                        </a:rPr>
                        <m:t>A</m:t>
                      </m:r>
                      <m:bar>
                        <m:barPr>
                          <m:pos m:val="top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B</m:t>
                          </m:r>
                        </m:e>
                      </m:bar>
                      <m:r>
                        <a:rPr lang="en-US" sz="280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/>
                        </a:rPr>
                        <m:t>A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/>
                        </a:rPr>
                        <m:t>⊕</m:t>
                      </m: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/>
                        </a:rPr>
                        <m:t>B</m:t>
                      </m:r>
                    </m:oMath>
                  </m:oMathPara>
                </a14:m>
                <a:endParaRPr lang="en-US" sz="2800" dirty="0" smtClean="0">
                  <a:solidFill>
                    <a:srgbClr val="002060"/>
                  </a:solidFill>
                  <a:latin typeface="Cambria Math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b</m:t>
                      </m:r>
                      <m:r>
                        <a:rPr lang="en-US" sz="2800">
                          <a:solidFill>
                            <a:srgbClr val="002060"/>
                          </a:solidFill>
                          <a:latin typeface="Cambria Math"/>
                        </a:rPr>
                        <m:t>=</m:t>
                      </m:r>
                      <m:bar>
                        <m:barPr>
                          <m:pos m:val="top"/>
                          <m:ctrlPr>
                            <a:rPr lang="en-US" sz="2800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A</m:t>
                          </m:r>
                        </m:e>
                      </m:bar>
                      <m:r>
                        <m:rPr>
                          <m:sty m:val="p"/>
                        </m:rPr>
                        <a:rPr lang="en-US" sz="2800">
                          <a:solidFill>
                            <a:srgbClr val="002060"/>
                          </a:solidFill>
                          <a:latin typeface="Cambria Math"/>
                        </a:rPr>
                        <m:t>B</m:t>
                      </m:r>
                    </m:oMath>
                  </m:oMathPara>
                </a14:m>
                <a:endParaRPr lang="en-US" sz="2800" dirty="0">
                  <a:solidFill>
                    <a:srgbClr val="002060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717032"/>
                <a:ext cx="8229600" cy="2409131"/>
              </a:xfrm>
              <a:blipFill rotWithShape="1">
                <a:blip r:embed="rId2" cstate="print"/>
                <a:stretch>
                  <a:fillRect l="-1259" t="-2278" r="-14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83208" y="1920608"/>
            <a:ext cx="3160800" cy="158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52120" y="980728"/>
            <a:ext cx="2304256" cy="253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55021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8551" y="2086320"/>
            <a:ext cx="7783889" cy="29268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99722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dirty="0">
                <a:solidFill>
                  <a:srgbClr val="C00000"/>
                </a:solidFill>
              </a:rPr>
              <a:t>Implementation of </a:t>
            </a:r>
            <a:r>
              <a:rPr lang="en-US" sz="3600" dirty="0" smtClean="0">
                <a:solidFill>
                  <a:srgbClr val="C00000"/>
                </a:solidFill>
              </a:rPr>
              <a:t>half </a:t>
            </a:r>
            <a:r>
              <a:rPr lang="en-US" sz="3600" dirty="0" err="1" smtClean="0">
                <a:solidFill>
                  <a:srgbClr val="C00000"/>
                </a:solidFill>
              </a:rPr>
              <a:t>subtractor</a:t>
            </a:r>
            <a:r>
              <a:rPr lang="en-US" sz="3600" dirty="0" smtClean="0">
                <a:solidFill>
                  <a:srgbClr val="C00000"/>
                </a:solidFill>
              </a:rPr>
              <a:t> </a:t>
            </a:r>
            <a:r>
              <a:rPr lang="en-US" sz="3600" dirty="0">
                <a:solidFill>
                  <a:srgbClr val="C00000"/>
                </a:solidFill>
              </a:rPr>
              <a:t>by using only NAND </a:t>
            </a:r>
            <a:r>
              <a:rPr lang="en-US" sz="3600" dirty="0" smtClean="0">
                <a:solidFill>
                  <a:srgbClr val="C00000"/>
                </a:solidFill>
              </a:rPr>
              <a:t>gates.</a:t>
            </a:r>
            <a:endParaRPr lang="en-IN" sz="3600" dirty="0">
              <a:solidFill>
                <a:srgbClr val="C0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584" y="2708920"/>
            <a:ext cx="7336445" cy="354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539553" y="1412774"/>
            <a:ext cx="6584021" cy="12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564535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dirty="0">
                <a:solidFill>
                  <a:srgbClr val="C00000"/>
                </a:solidFill>
              </a:rPr>
              <a:t>Implementation of </a:t>
            </a:r>
            <a:r>
              <a:rPr lang="en-US" sz="3600" dirty="0" smtClean="0">
                <a:solidFill>
                  <a:srgbClr val="C00000"/>
                </a:solidFill>
              </a:rPr>
              <a:t>half </a:t>
            </a:r>
            <a:r>
              <a:rPr lang="en-US" sz="3600" dirty="0" err="1" smtClean="0">
                <a:solidFill>
                  <a:srgbClr val="C00000"/>
                </a:solidFill>
              </a:rPr>
              <a:t>subtractor</a:t>
            </a:r>
            <a:r>
              <a:rPr lang="en-US" sz="3600" dirty="0" smtClean="0">
                <a:solidFill>
                  <a:srgbClr val="C00000"/>
                </a:solidFill>
              </a:rPr>
              <a:t> </a:t>
            </a:r>
            <a:r>
              <a:rPr lang="en-US" sz="3600" dirty="0">
                <a:solidFill>
                  <a:srgbClr val="C00000"/>
                </a:solidFill>
              </a:rPr>
              <a:t>by using only </a:t>
            </a:r>
            <a:r>
              <a:rPr lang="en-US" sz="3600" dirty="0" smtClean="0">
                <a:solidFill>
                  <a:srgbClr val="C00000"/>
                </a:solidFill>
              </a:rPr>
              <a:t>NOR gates.</a:t>
            </a:r>
            <a:endParaRPr lang="en-IN" sz="3600" dirty="0">
              <a:solidFill>
                <a:srgbClr val="C00000"/>
              </a:solidFill>
            </a:endParaRPr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140967"/>
            <a:ext cx="6729993" cy="318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56791"/>
            <a:ext cx="7401176" cy="135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05200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2060"/>
                </a:solidFill>
              </a:rPr>
              <a:t>Full </a:t>
            </a:r>
            <a:r>
              <a:rPr lang="en-US" dirty="0" err="1" smtClean="0">
                <a:solidFill>
                  <a:srgbClr val="002060"/>
                </a:solidFill>
              </a:rPr>
              <a:t>Subtractor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Autofit/>
          </a:bodyPr>
          <a:lstStyle/>
          <a:p>
            <a:pPr algn="just"/>
            <a:r>
              <a:rPr lang="en-IN" sz="2800" dirty="0" smtClean="0"/>
              <a:t>The </a:t>
            </a:r>
            <a:r>
              <a:rPr lang="en-IN" sz="2800" i="1" dirty="0" smtClean="0">
                <a:solidFill>
                  <a:srgbClr val="C00000"/>
                </a:solidFill>
              </a:rPr>
              <a:t>full </a:t>
            </a:r>
            <a:r>
              <a:rPr lang="en-IN" sz="2800" i="1" dirty="0" err="1">
                <a:solidFill>
                  <a:srgbClr val="C00000"/>
                </a:solidFill>
              </a:rPr>
              <a:t>subtractor</a:t>
            </a:r>
            <a:r>
              <a:rPr lang="en-IN" sz="2800" dirty="0"/>
              <a:t> is a combinational circuit which is used to perform subtraction of three input </a:t>
            </a:r>
            <a:r>
              <a:rPr lang="en-IN" sz="2800" dirty="0" smtClean="0"/>
              <a:t>bits.</a:t>
            </a:r>
          </a:p>
          <a:p>
            <a:pPr algn="just"/>
            <a:r>
              <a:rPr lang="en-IN" sz="2800" dirty="0" smtClean="0"/>
              <a:t>It subtracts </a:t>
            </a:r>
            <a:r>
              <a:rPr lang="en-IN" sz="2800" dirty="0"/>
              <a:t>one </a:t>
            </a:r>
            <a:r>
              <a:rPr lang="en-IN" sz="2800" dirty="0" smtClean="0"/>
              <a:t>bit </a:t>
            </a:r>
            <a:r>
              <a:rPr lang="en-IN" sz="2800" dirty="0"/>
              <a:t>from another </a:t>
            </a:r>
            <a:r>
              <a:rPr lang="en-IN" sz="2800" dirty="0" smtClean="0"/>
              <a:t>bit, </a:t>
            </a:r>
            <a:r>
              <a:rPr lang="en-IN" sz="2800" dirty="0"/>
              <a:t>when already there is a </a:t>
            </a:r>
            <a:r>
              <a:rPr lang="en-IN" sz="2800" dirty="0" smtClean="0"/>
              <a:t>borrow </a:t>
            </a:r>
            <a:r>
              <a:rPr lang="en-IN" sz="2800" dirty="0"/>
              <a:t>from this column for the subtraction in the preceding column, and outputs the difference </a:t>
            </a:r>
            <a:r>
              <a:rPr lang="en-IN" sz="2800" dirty="0" smtClean="0"/>
              <a:t>bit </a:t>
            </a:r>
            <a:r>
              <a:rPr lang="en-IN" sz="2800" dirty="0"/>
              <a:t>and the borrow </a:t>
            </a:r>
            <a:r>
              <a:rPr lang="en-IN" sz="2800" dirty="0" smtClean="0"/>
              <a:t>bit </a:t>
            </a:r>
            <a:r>
              <a:rPr lang="en-IN" sz="2800" dirty="0"/>
              <a:t>required from the next </a:t>
            </a:r>
            <a:r>
              <a:rPr lang="en-IN" sz="2800" dirty="0" smtClean="0"/>
              <a:t>column.</a:t>
            </a:r>
          </a:p>
          <a:p>
            <a:pPr algn="just"/>
            <a:r>
              <a:rPr lang="en-IN" sz="2800" dirty="0" smtClean="0"/>
              <a:t>So </a:t>
            </a:r>
            <a:r>
              <a:rPr lang="en-IN" sz="2800" dirty="0"/>
              <a:t>a full </a:t>
            </a:r>
            <a:r>
              <a:rPr lang="en-IN" sz="2800" dirty="0" err="1"/>
              <a:t>subtractor</a:t>
            </a:r>
            <a:r>
              <a:rPr lang="en-IN" sz="2800" dirty="0"/>
              <a:t> is a combinational circuit with three inputs (</a:t>
            </a:r>
            <a:r>
              <a:rPr lang="en-IN" sz="2800" dirty="0">
                <a:solidFill>
                  <a:srgbClr val="002060"/>
                </a:solidFill>
              </a:rPr>
              <a:t>A</a:t>
            </a:r>
            <a:r>
              <a:rPr lang="en-IN" sz="2800" dirty="0"/>
              <a:t>, </a:t>
            </a:r>
            <a:r>
              <a:rPr lang="en-IN" sz="2800" dirty="0">
                <a:solidFill>
                  <a:srgbClr val="002060"/>
                </a:solidFill>
              </a:rPr>
              <a:t>B</a:t>
            </a:r>
            <a:r>
              <a:rPr lang="en-IN" sz="2800" dirty="0"/>
              <a:t>, </a:t>
            </a:r>
            <a:r>
              <a:rPr lang="en-IN" sz="2800" dirty="0">
                <a:solidFill>
                  <a:srgbClr val="002060"/>
                </a:solidFill>
              </a:rPr>
              <a:t>b</a:t>
            </a:r>
            <a:r>
              <a:rPr lang="en-IN" sz="2800" baseline="-25000" dirty="0">
                <a:solidFill>
                  <a:srgbClr val="002060"/>
                </a:solidFill>
              </a:rPr>
              <a:t>i</a:t>
            </a:r>
            <a:r>
              <a:rPr lang="en-IN" sz="2800" dirty="0"/>
              <a:t>) and two outputs </a:t>
            </a:r>
            <a:r>
              <a:rPr lang="en-IN" sz="2800" dirty="0">
                <a:solidFill>
                  <a:srgbClr val="002060"/>
                </a:solidFill>
              </a:rPr>
              <a:t>d</a:t>
            </a:r>
            <a:r>
              <a:rPr lang="en-IN" sz="2800" dirty="0"/>
              <a:t> and </a:t>
            </a:r>
            <a:r>
              <a:rPr lang="en-IN" sz="2800" dirty="0">
                <a:solidFill>
                  <a:srgbClr val="002060"/>
                </a:solidFill>
              </a:rPr>
              <a:t>b</a:t>
            </a:r>
            <a:r>
              <a:rPr lang="en-IN" sz="2800" dirty="0"/>
              <a:t>. The two outputs present the difference and output borrow</a:t>
            </a:r>
            <a:r>
              <a:rPr lang="en-IN" sz="2800" dirty="0" smtClean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319301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Rectangle 1"/>
              <p:cNvSpPr/>
              <p:nvPr/>
            </p:nvSpPr>
            <p:spPr>
              <a:xfrm>
                <a:off x="5220072" y="1023119"/>
                <a:ext cx="252028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002060"/>
                          </a:solidFill>
                          <a:latin typeface="Cambria Math"/>
                        </a:rPr>
                        <m:t>d</m:t>
                      </m:r>
                      <m:r>
                        <a:rPr lang="en-US" sz="2000" b="0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=∑(1, 2, 4, 7)</m:t>
                      </m:r>
                    </m:oMath>
                  </m:oMathPara>
                </a14:m>
                <a:endParaRPr lang="en-US" sz="2000" dirty="0" smtClean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0072" y="1023119"/>
                <a:ext cx="2520280" cy="40011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Rectangle 5"/>
              <p:cNvSpPr/>
              <p:nvPr/>
            </p:nvSpPr>
            <p:spPr>
              <a:xfrm>
                <a:off x="5351902" y="3789040"/>
                <a:ext cx="260447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0" dirty="0" smtClean="0">
                          <a:solidFill>
                            <a:srgbClr val="002060"/>
                          </a:solidFill>
                          <a:latin typeface="Cambria Math"/>
                        </a:rPr>
                        <m:t>b</m:t>
                      </m:r>
                      <m:r>
                        <a:rPr lang="en-US" sz="2000" b="0" i="0" dirty="0" smtClean="0">
                          <a:solidFill>
                            <a:srgbClr val="002060"/>
                          </a:solidFill>
                          <a:latin typeface="Cambria Math"/>
                        </a:rPr>
                        <m:t>=∑(1, 2, 3, 7)</m:t>
                      </m:r>
                    </m:oMath>
                  </m:oMathPara>
                </a14:m>
                <a:endParaRPr lang="en-US" sz="20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902" y="3789040"/>
                <a:ext cx="2604474" cy="400110"/>
              </a:xfrm>
              <a:prstGeom prst="rect">
                <a:avLst/>
              </a:prstGeom>
              <a:blipFill rotWithShape="1">
                <a:blip r:embed="rId4" cstate="print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4260121" y="476672"/>
            <a:ext cx="45603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IN" sz="2800" dirty="0">
                <a:solidFill>
                  <a:srgbClr val="002060"/>
                </a:solidFill>
              </a:rPr>
              <a:t>The simplified expressions are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41026" y="898088"/>
            <a:ext cx="3182902" cy="152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942387" y="2554536"/>
            <a:ext cx="2621501" cy="389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034384" y="1452560"/>
            <a:ext cx="2994000" cy="179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221088"/>
            <a:ext cx="3059494" cy="179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59076" y="3258116"/>
            <a:ext cx="3501356" cy="458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24128" y="6072269"/>
            <a:ext cx="2355990" cy="45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421841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27584" y="1031672"/>
            <a:ext cx="7508962" cy="484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76925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dirty="0">
                <a:solidFill>
                  <a:srgbClr val="C00000"/>
                </a:solidFill>
              </a:rPr>
              <a:t>Implementation of full </a:t>
            </a:r>
            <a:r>
              <a:rPr lang="en-US" sz="3600" dirty="0" err="1">
                <a:solidFill>
                  <a:srgbClr val="C00000"/>
                </a:solidFill>
              </a:rPr>
              <a:t>subtractor</a:t>
            </a:r>
            <a:r>
              <a:rPr lang="en-US" sz="3600" dirty="0">
                <a:solidFill>
                  <a:srgbClr val="C00000"/>
                </a:solidFill>
              </a:rPr>
              <a:t> with two half </a:t>
            </a:r>
            <a:r>
              <a:rPr lang="en-US" sz="3600" dirty="0" err="1" smtClean="0">
                <a:solidFill>
                  <a:srgbClr val="C00000"/>
                </a:solidFill>
              </a:rPr>
              <a:t>subtractors</a:t>
            </a:r>
            <a:r>
              <a:rPr lang="en-US" sz="3600" dirty="0" smtClean="0">
                <a:solidFill>
                  <a:srgbClr val="C00000"/>
                </a:solidFill>
              </a:rPr>
              <a:t> </a:t>
            </a:r>
            <a:r>
              <a:rPr lang="en-US" sz="3600" dirty="0">
                <a:solidFill>
                  <a:srgbClr val="C00000"/>
                </a:solidFill>
              </a:rPr>
              <a:t>and an OR </a:t>
            </a:r>
            <a:r>
              <a:rPr lang="en-US" sz="3600" dirty="0" smtClean="0">
                <a:solidFill>
                  <a:srgbClr val="C00000"/>
                </a:solidFill>
              </a:rPr>
              <a:t>gate.</a:t>
            </a:r>
            <a:endParaRPr lang="en-IN" sz="3600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dirty="0" smtClean="0"/>
              <a:t>From the truth table of full adder, the outputs difference and borrow are described by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and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39408" y="2636912"/>
            <a:ext cx="5004800" cy="140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509120"/>
            <a:ext cx="3856320" cy="148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40291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65431" y="404664"/>
            <a:ext cx="8111025" cy="254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1569" y="3094528"/>
            <a:ext cx="8538903" cy="328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86869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dirty="0">
                <a:solidFill>
                  <a:srgbClr val="C00000"/>
                </a:solidFill>
              </a:rPr>
              <a:t>Implementation of </a:t>
            </a:r>
            <a:r>
              <a:rPr lang="en-US" sz="3600" dirty="0" smtClean="0">
                <a:solidFill>
                  <a:srgbClr val="C00000"/>
                </a:solidFill>
              </a:rPr>
              <a:t>full </a:t>
            </a:r>
            <a:r>
              <a:rPr lang="en-US" sz="3600" dirty="0" err="1" smtClean="0">
                <a:solidFill>
                  <a:srgbClr val="C00000"/>
                </a:solidFill>
              </a:rPr>
              <a:t>subtractor</a:t>
            </a:r>
            <a:r>
              <a:rPr lang="en-US" sz="3600" dirty="0" smtClean="0">
                <a:solidFill>
                  <a:srgbClr val="C00000"/>
                </a:solidFill>
              </a:rPr>
              <a:t> </a:t>
            </a:r>
            <a:r>
              <a:rPr lang="en-US" sz="3600" dirty="0">
                <a:solidFill>
                  <a:srgbClr val="C00000"/>
                </a:solidFill>
              </a:rPr>
              <a:t>by using only NAND </a:t>
            </a:r>
            <a:r>
              <a:rPr lang="en-US" sz="3600" dirty="0" smtClean="0">
                <a:solidFill>
                  <a:srgbClr val="C00000"/>
                </a:solidFill>
              </a:rPr>
              <a:t>gates.</a:t>
            </a:r>
            <a:endParaRPr lang="en-IN" sz="3600" dirty="0">
              <a:solidFill>
                <a:srgbClr val="C000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579143" y="1502992"/>
            <a:ext cx="6231933" cy="18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1289" y="3476120"/>
            <a:ext cx="8561191" cy="283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03157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dirty="0">
                <a:solidFill>
                  <a:srgbClr val="C00000"/>
                </a:solidFill>
              </a:rPr>
              <a:t>Implementation of </a:t>
            </a:r>
            <a:r>
              <a:rPr lang="en-US" sz="3600" dirty="0" smtClean="0">
                <a:solidFill>
                  <a:srgbClr val="C00000"/>
                </a:solidFill>
              </a:rPr>
              <a:t>full </a:t>
            </a:r>
            <a:r>
              <a:rPr lang="en-US" sz="3600" dirty="0" err="1" smtClean="0">
                <a:solidFill>
                  <a:srgbClr val="C00000"/>
                </a:solidFill>
              </a:rPr>
              <a:t>subtractor</a:t>
            </a:r>
            <a:r>
              <a:rPr lang="en-US" sz="3600" dirty="0" smtClean="0">
                <a:solidFill>
                  <a:srgbClr val="C00000"/>
                </a:solidFill>
              </a:rPr>
              <a:t> </a:t>
            </a:r>
            <a:r>
              <a:rPr lang="en-US" sz="3600" dirty="0">
                <a:solidFill>
                  <a:srgbClr val="C00000"/>
                </a:solidFill>
              </a:rPr>
              <a:t>by using only </a:t>
            </a:r>
            <a:r>
              <a:rPr lang="en-US" sz="3600" dirty="0" smtClean="0">
                <a:solidFill>
                  <a:srgbClr val="C00000"/>
                </a:solidFill>
              </a:rPr>
              <a:t>NOR gates.</a:t>
            </a:r>
            <a:endParaRPr lang="en-IN" sz="3600" dirty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1560" y="3645024"/>
            <a:ext cx="8064896" cy="29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7544" y="1412776"/>
            <a:ext cx="7776864" cy="21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370437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1646</TotalTime>
  <Words>952</Words>
  <Application>Microsoft Office PowerPoint</Application>
  <PresentationFormat>On-screen Show (4:3)</PresentationFormat>
  <Paragraphs>83</Paragraphs>
  <Slides>34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COMBINATIONAL LOGIC</vt:lpstr>
      <vt:lpstr>INTRODUCTION</vt:lpstr>
      <vt:lpstr>Slide 3</vt:lpstr>
      <vt:lpstr>COMBINATIONAL CIRCUITS</vt:lpstr>
      <vt:lpstr>Slide 5</vt:lpstr>
      <vt:lpstr>Slide 6</vt:lpstr>
      <vt:lpstr>ANALYSIS PROCEDURE</vt:lpstr>
      <vt:lpstr>DESIGN PROCEDURE</vt:lpstr>
      <vt:lpstr>ADDERS</vt:lpstr>
      <vt:lpstr>Half Adder</vt:lpstr>
      <vt:lpstr>Slide 11</vt:lpstr>
      <vt:lpstr>Slide 12</vt:lpstr>
      <vt:lpstr>Implementation of half adder by using only NAND gates.</vt:lpstr>
      <vt:lpstr>Implementation of half adder by using only NOR gates.</vt:lpstr>
      <vt:lpstr>Full Adder</vt:lpstr>
      <vt:lpstr>Slide 16</vt:lpstr>
      <vt:lpstr>Slide 17</vt:lpstr>
      <vt:lpstr>Implementation of full adder with two half adders and an OR gate.</vt:lpstr>
      <vt:lpstr>Slide 19</vt:lpstr>
      <vt:lpstr>Implementation of full adder by using only NAND gates.</vt:lpstr>
      <vt:lpstr>Implementation of full adder by using only NOR gates.</vt:lpstr>
      <vt:lpstr>Subtractors</vt:lpstr>
      <vt:lpstr>Half Subtractor</vt:lpstr>
      <vt:lpstr>Slide 24</vt:lpstr>
      <vt:lpstr>Slide 25</vt:lpstr>
      <vt:lpstr>Implementation of half subtractor by using only NAND gates.</vt:lpstr>
      <vt:lpstr>Implementation of half subtractor by using only NOR gates.</vt:lpstr>
      <vt:lpstr>Full Subtractor</vt:lpstr>
      <vt:lpstr>Slide 29</vt:lpstr>
      <vt:lpstr>Slide 30</vt:lpstr>
      <vt:lpstr>Implementation of full subtractor with two half subtractors and an OR gate.</vt:lpstr>
      <vt:lpstr>Slide 32</vt:lpstr>
      <vt:lpstr>Implementation of full subtractor by using only NAND gates.</vt:lpstr>
      <vt:lpstr>Implementation of full subtractor by using only NOR gates.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COMBINATIONAL LOGIC</dc:title>
  <dc:creator>AJIT PATRO</dc:creator>
  <cp:lastModifiedBy>tcstcs</cp:lastModifiedBy>
  <cp:revision>131</cp:revision>
  <dcterms:created xsi:type="dcterms:W3CDTF">2020-10-07T14:19:50Z</dcterms:created>
  <dcterms:modified xsi:type="dcterms:W3CDTF">2022-04-30T04:56:37Z</dcterms:modified>
</cp:coreProperties>
</file>