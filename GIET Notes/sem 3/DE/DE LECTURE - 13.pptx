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324" r:id="rId2"/>
    <p:sldId id="256" r:id="rId3"/>
    <p:sldId id="342" r:id="rId4"/>
    <p:sldId id="343" r:id="rId5"/>
    <p:sldId id="277" r:id="rId6"/>
    <p:sldId id="278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294" r:id="rId19"/>
    <p:sldId id="305" r:id="rId20"/>
    <p:sldId id="302" r:id="rId21"/>
    <p:sldId id="325" r:id="rId22"/>
    <p:sldId id="327" r:id="rId23"/>
    <p:sldId id="328" r:id="rId24"/>
    <p:sldId id="326" r:id="rId25"/>
    <p:sldId id="295" r:id="rId26"/>
    <p:sldId id="329" r:id="rId27"/>
    <p:sldId id="331" r:id="rId28"/>
    <p:sldId id="332" r:id="rId29"/>
    <p:sldId id="333" r:id="rId30"/>
    <p:sldId id="334" r:id="rId31"/>
    <p:sldId id="335" r:id="rId32"/>
    <p:sldId id="312" r:id="rId33"/>
    <p:sldId id="313" r:id="rId34"/>
    <p:sldId id="309" r:id="rId35"/>
    <p:sldId id="336" r:id="rId36"/>
    <p:sldId id="308" r:id="rId37"/>
    <p:sldId id="338" r:id="rId38"/>
    <p:sldId id="339" r:id="rId39"/>
    <p:sldId id="317" r:id="rId40"/>
    <p:sldId id="337" r:id="rId41"/>
    <p:sldId id="318" r:id="rId42"/>
    <p:sldId id="359" r:id="rId43"/>
    <p:sldId id="341" r:id="rId44"/>
    <p:sldId id="340" r:id="rId45"/>
    <p:sldId id="360" r:id="rId46"/>
    <p:sldId id="269" r:id="rId47"/>
    <p:sldId id="355" r:id="rId48"/>
    <p:sldId id="316" r:id="rId49"/>
    <p:sldId id="356" r:id="rId50"/>
    <p:sldId id="357" r:id="rId51"/>
    <p:sldId id="358" r:id="rId52"/>
    <p:sldId id="270" r:id="rId53"/>
    <p:sldId id="361" r:id="rId54"/>
    <p:sldId id="362" r:id="rId55"/>
    <p:sldId id="363" r:id="rId56"/>
    <p:sldId id="364" r:id="rId57"/>
    <p:sldId id="271" r:id="rId58"/>
    <p:sldId id="273" r:id="rId59"/>
    <p:sldId id="365" r:id="rId60"/>
    <p:sldId id="287" r:id="rId61"/>
    <p:sldId id="292" r:id="rId62"/>
    <p:sldId id="272" r:id="rId63"/>
    <p:sldId id="288" r:id="rId64"/>
    <p:sldId id="285" r:id="rId65"/>
    <p:sldId id="290" r:id="rId66"/>
    <p:sldId id="291" r:id="rId67"/>
    <p:sldId id="257" r:id="rId68"/>
    <p:sldId id="258" r:id="rId69"/>
    <p:sldId id="276" r:id="rId70"/>
    <p:sldId id="281" r:id="rId71"/>
    <p:sldId id="265" r:id="rId72"/>
    <p:sldId id="266" r:id="rId73"/>
    <p:sldId id="267" r:id="rId74"/>
    <p:sldId id="268" r:id="rId75"/>
    <p:sldId id="284" r:id="rId76"/>
    <p:sldId id="282" r:id="rId77"/>
    <p:sldId id="264" r:id="rId78"/>
    <p:sldId id="262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8E01A-9014-477D-A77F-BA06E6867A00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94F09-E349-40BA-A61D-D6B95794F3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58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This slide shows a typical application of a multiplexer (in this case a 4-to-1 MUX). Have the students share other common applications of MUXs.</a:t>
            </a:r>
          </a:p>
          <a:p>
            <a:endParaRPr lang="en-US"/>
          </a:p>
          <a:p>
            <a:r>
              <a:rPr lang="en-US"/>
              <a:t>http://images.tigerdirect.ca/skuimages/large/Logitech-X-540-L23-7250-mai.jpg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Multiplexers &amp; Demultiplexers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Digital Electronics</a:t>
            </a:r>
            <a:r>
              <a:rPr lang="en-US">
                <a:sym typeface="Symbol"/>
              </a:rPr>
              <a:t></a:t>
            </a:r>
            <a:r>
              <a:rPr lang="en-US"/>
              <a:t> </a:t>
            </a:r>
          </a:p>
          <a:p>
            <a:pPr>
              <a:defRPr/>
            </a:pPr>
            <a:r>
              <a:rPr lang="en-US"/>
              <a:t>Lesson 2.4 – Specific Combo Circuits &amp; Misc Topics</a:t>
            </a:r>
          </a:p>
        </p:txBody>
      </p:sp>
      <p:sp>
        <p:nvSpPr>
          <p:cNvPr id="36870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Project Lead The Way, Inc.</a:t>
            </a:r>
            <a:endParaRPr lang="en-US" baseline="30000"/>
          </a:p>
          <a:p>
            <a:pPr eaLnBrk="1" hangingPunct="1"/>
            <a:r>
              <a:rPr lang="en-US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8BD835-2FDE-439A-AF5F-59706AC9DF7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17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This slide shows a typical application of a demultiplexer (in this case a 1-to-4 DEMUX). Ask students to share other common applications of DEMUXs.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Multiplexers &amp; Demultiplexers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Digital Electronics</a:t>
            </a:r>
            <a:r>
              <a:rPr lang="en-US">
                <a:sym typeface="Symbol"/>
              </a:rPr>
              <a:t></a:t>
            </a:r>
            <a:r>
              <a:rPr lang="en-US"/>
              <a:t> </a:t>
            </a:r>
          </a:p>
          <a:p>
            <a:pPr>
              <a:defRPr/>
            </a:pPr>
            <a:r>
              <a:rPr lang="en-US"/>
              <a:t>Lesson 2.4 – Specific Combo Circuits &amp; Misc Topics</a:t>
            </a:r>
          </a:p>
        </p:txBody>
      </p:sp>
      <p:sp>
        <p:nvSpPr>
          <p:cNvPr id="41990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Project Lead The Way, Inc.</a:t>
            </a:r>
            <a:endParaRPr lang="en-US" baseline="30000"/>
          </a:p>
          <a:p>
            <a:pPr eaLnBrk="1" hangingPunct="1"/>
            <a:r>
              <a:rPr lang="en-US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01F298-9D0D-4762-BFD4-3A051395365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90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51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0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40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81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88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5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281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60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7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3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7044C-9814-4040-89B2-DF12FE973994}" type="datetimeFigureOut">
              <a:rPr lang="en-IN" smtClean="0"/>
              <a:pPr/>
              <a:t>19-09-2025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69D1F-80E9-4891-8AD8-A54679F1C31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3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9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br>
              <a:rPr lang="en-US" sz="6600" b="1" dirty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b="1" dirty="0">
                <a:solidFill>
                  <a:srgbClr val="00B050"/>
                </a:solidFill>
                <a:latin typeface="Baskerville Old Face" pitchFamily="18" charset="0"/>
              </a:rPr>
              <a:t>IV Semester ECE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69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952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Dr. Ranjita Rout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4704"/>
            <a:ext cx="10363200" cy="4536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50"/>
                </a:solidFill>
              </a:rPr>
              <a:t>Code Converters,</a:t>
            </a:r>
            <a:br>
              <a:rPr lang="en-US" sz="4800" b="1" dirty="0">
                <a:solidFill>
                  <a:srgbClr val="00B050"/>
                </a:solidFill>
              </a:rPr>
            </a:br>
            <a:r>
              <a:rPr lang="en-US" sz="4800" b="1" dirty="0">
                <a:solidFill>
                  <a:srgbClr val="00B050"/>
                </a:solidFill>
              </a:rPr>
              <a:t>Multiplexers; De-multiplexers;</a:t>
            </a:r>
            <a:br>
              <a:rPr lang="en-US" sz="4800" b="1" dirty="0">
                <a:solidFill>
                  <a:srgbClr val="00B050"/>
                </a:solidFill>
              </a:rPr>
            </a:br>
            <a:r>
              <a:rPr lang="en-IN" sz="4800" b="1" i="1" dirty="0">
                <a:solidFill>
                  <a:srgbClr val="00B050"/>
                </a:solidFill>
              </a:rPr>
              <a:t>Binary Multiplier,</a:t>
            </a:r>
            <a:br>
              <a:rPr lang="en-IN" sz="4800" b="1" i="1" dirty="0">
                <a:solidFill>
                  <a:srgbClr val="00B050"/>
                </a:solidFill>
              </a:rPr>
            </a:br>
            <a:r>
              <a:rPr lang="en-US" sz="4800" b="1" dirty="0">
                <a:solidFill>
                  <a:srgbClr val="00B050"/>
                </a:solidFill>
              </a:rPr>
              <a:t> Decoders; Encoders; </a:t>
            </a:r>
            <a:endParaRPr lang="en-IN" sz="4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92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9006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Code Converters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468" y="944724"/>
            <a:ext cx="11463064" cy="496855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3600" dirty="0"/>
              <a:t>A </a:t>
            </a:r>
            <a:r>
              <a:rPr lang="en-IN" sz="3600" dirty="0">
                <a:solidFill>
                  <a:srgbClr val="C00000"/>
                </a:solidFill>
              </a:rPr>
              <a:t>code converter</a:t>
            </a:r>
            <a:r>
              <a:rPr lang="en-IN" sz="3600" dirty="0"/>
              <a:t> is a logic circuit that converts the inputs from one code and to another code as its outputs.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Ex: Binary to Gray code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      Gray to </a:t>
            </a:r>
            <a:r>
              <a:rPr lang="en-US" sz="3600" dirty="0" err="1"/>
              <a:t>Bianry</a:t>
            </a:r>
            <a:r>
              <a:rPr lang="en-US" sz="3600" dirty="0"/>
              <a:t> code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375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</a:rPr>
              <a:t>Design of a 4-bit Binary-to-</a:t>
            </a:r>
            <a:r>
              <a:rPr lang="en-IN" b="1" dirty="0" err="1">
                <a:solidFill>
                  <a:srgbClr val="C00000"/>
                </a:solidFill>
              </a:rPr>
              <a:t>Gray</a:t>
            </a:r>
            <a:r>
              <a:rPr lang="en-IN" b="1" dirty="0">
                <a:solidFill>
                  <a:srgbClr val="C00000"/>
                </a:solidFill>
              </a:rPr>
              <a:t> Code Converter.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The input to the 4-bit binary-to-</a:t>
            </a:r>
            <a:r>
              <a:rPr lang="en-IN" dirty="0" err="1"/>
              <a:t>Gray</a:t>
            </a:r>
            <a:r>
              <a:rPr lang="en-IN" dirty="0"/>
              <a:t> code converter circuit is a 4-bit binary and the output is a 4-bit </a:t>
            </a:r>
            <a:r>
              <a:rPr lang="en-IN" dirty="0" err="1"/>
              <a:t>Gray</a:t>
            </a:r>
            <a:r>
              <a:rPr lang="en-IN" dirty="0"/>
              <a:t> code. There are 16 possible combinations of 4-bit binary input and all of them are valid. Hence no don’t cares.</a:t>
            </a:r>
          </a:p>
          <a:p>
            <a:pPr algn="just"/>
            <a:r>
              <a:rPr lang="en-IN" dirty="0"/>
              <a:t>The 4-bit binary code and the corresponding output </a:t>
            </a:r>
            <a:r>
              <a:rPr lang="en-IN" dirty="0" err="1"/>
              <a:t>Gray</a:t>
            </a:r>
            <a:r>
              <a:rPr lang="en-IN" dirty="0"/>
              <a:t> code are shown in the conversion table.</a:t>
            </a:r>
          </a:p>
        </p:txBody>
      </p:sp>
    </p:spTree>
    <p:extLst>
      <p:ext uri="{BB962C8B-B14F-4D97-AF65-F5344CB8AC3E}">
        <p14:creationId xmlns:p14="http://schemas.microsoft.com/office/powerpoint/2010/main" val="320624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416" y="414692"/>
            <a:ext cx="8496944" cy="6254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262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04664"/>
            <a:ext cx="10972800" cy="4525963"/>
          </a:xfrm>
        </p:spPr>
        <p:txBody>
          <a:bodyPr/>
          <a:lstStyle/>
          <a:p>
            <a:pPr algn="just"/>
            <a:r>
              <a:rPr lang="en-IN" dirty="0"/>
              <a:t>From the conversion table, we observe that expressions for the outputs G</a:t>
            </a:r>
            <a:r>
              <a:rPr lang="en-IN" baseline="-25000" dirty="0"/>
              <a:t>4</a:t>
            </a:r>
            <a:r>
              <a:rPr lang="en-IN" dirty="0"/>
              <a:t>, G</a:t>
            </a:r>
            <a:r>
              <a:rPr lang="en-IN" baseline="-25000" dirty="0"/>
              <a:t>3</a:t>
            </a:r>
            <a:r>
              <a:rPr lang="en-IN" dirty="0"/>
              <a:t>, G</a:t>
            </a:r>
            <a:r>
              <a:rPr lang="en-IN" baseline="-25000" dirty="0"/>
              <a:t>2</a:t>
            </a:r>
            <a:r>
              <a:rPr lang="en-IN" dirty="0"/>
              <a:t>, and G</a:t>
            </a:r>
            <a:r>
              <a:rPr lang="en-IN" baseline="-25000" dirty="0"/>
              <a:t>1</a:t>
            </a:r>
            <a:r>
              <a:rPr lang="en-IN" dirty="0"/>
              <a:t> are as follows: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79576" y="2132856"/>
            <a:ext cx="849694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5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368" y="332657"/>
            <a:ext cx="5387627" cy="4896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4926" y="205806"/>
            <a:ext cx="5539705" cy="4591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134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DDF608A9-4048-4369-A0C9-8FFDC4AF9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332656"/>
            <a:ext cx="518457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179DFF90-967E-41F3-B9C7-30BE160A5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692696"/>
            <a:ext cx="561662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04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585" y="260648"/>
            <a:ext cx="10972800" cy="4525963"/>
          </a:xfrm>
        </p:spPr>
        <p:txBody>
          <a:bodyPr/>
          <a:lstStyle/>
          <a:p>
            <a:pPr algn="just"/>
            <a:r>
              <a:rPr lang="en-IN" dirty="0"/>
              <a:t>The minimal expressions for the outputs obtained from the K-map are: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579262"/>
            <a:ext cx="4896544" cy="3721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1579263"/>
            <a:ext cx="5688631" cy="4580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61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>
            <a:normAutofit fontScale="90000"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</a:rPr>
              <a:t>Design of a 4-bit </a:t>
            </a:r>
            <a:r>
              <a:rPr lang="en-IN" b="1" dirty="0" err="1">
                <a:solidFill>
                  <a:srgbClr val="C00000"/>
                </a:solidFill>
              </a:rPr>
              <a:t>Gray</a:t>
            </a:r>
            <a:r>
              <a:rPr lang="en-IN" b="1" dirty="0">
                <a:solidFill>
                  <a:srgbClr val="C00000"/>
                </a:solidFill>
              </a:rPr>
              <a:t>-to-Binary Code Converter.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477" y="993578"/>
            <a:ext cx="10972800" cy="4525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The input to the 4-bit </a:t>
            </a:r>
            <a:r>
              <a:rPr lang="en-IN" dirty="0" err="1"/>
              <a:t>Gray</a:t>
            </a:r>
            <a:r>
              <a:rPr lang="en-IN" dirty="0"/>
              <a:t>-to-binary code converter circuit is a 4-bit </a:t>
            </a:r>
            <a:r>
              <a:rPr lang="en-IN" dirty="0" err="1"/>
              <a:t>Gray</a:t>
            </a:r>
            <a:r>
              <a:rPr lang="en-IN" dirty="0"/>
              <a:t> and the output is a 4-bit binary code. There are 16 possible combinations of 4-bit </a:t>
            </a:r>
            <a:r>
              <a:rPr lang="en-IN" dirty="0" err="1"/>
              <a:t>Gray</a:t>
            </a:r>
            <a:r>
              <a:rPr lang="en-IN" dirty="0"/>
              <a:t> input and all of them are valid. Hence no don’t cares.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4-bit </a:t>
            </a:r>
            <a:r>
              <a:rPr lang="en-IN" dirty="0" err="1"/>
              <a:t>Gray</a:t>
            </a:r>
            <a:r>
              <a:rPr lang="en-IN" dirty="0"/>
              <a:t> code and the corresponding output binary code are shown in the conversion table.</a:t>
            </a:r>
          </a:p>
        </p:txBody>
      </p:sp>
    </p:spTree>
    <p:extLst>
      <p:ext uri="{BB962C8B-B14F-4D97-AF65-F5344CB8AC3E}">
        <p14:creationId xmlns:p14="http://schemas.microsoft.com/office/powerpoint/2010/main" val="141402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421010"/>
            <a:ext cx="9289032" cy="614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56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212" y="260648"/>
            <a:ext cx="10972800" cy="4525963"/>
          </a:xfrm>
        </p:spPr>
        <p:txBody>
          <a:bodyPr/>
          <a:lstStyle/>
          <a:p>
            <a:pPr algn="just"/>
            <a:r>
              <a:rPr lang="en-IN" dirty="0"/>
              <a:t>From the conversion table, we observe that expressions for the outputs B</a:t>
            </a:r>
            <a:r>
              <a:rPr lang="en-IN" baseline="-25000" dirty="0"/>
              <a:t>4</a:t>
            </a:r>
            <a:r>
              <a:rPr lang="en-IN" dirty="0"/>
              <a:t>, B</a:t>
            </a:r>
            <a:r>
              <a:rPr lang="en-IN" baseline="-25000" dirty="0"/>
              <a:t>3</a:t>
            </a:r>
            <a:r>
              <a:rPr lang="en-IN" dirty="0"/>
              <a:t>, B</a:t>
            </a:r>
            <a:r>
              <a:rPr lang="en-IN" baseline="-25000" dirty="0"/>
              <a:t>2</a:t>
            </a:r>
            <a:r>
              <a:rPr lang="en-IN" dirty="0"/>
              <a:t>, and B</a:t>
            </a:r>
            <a:r>
              <a:rPr lang="en-IN" baseline="-25000" dirty="0"/>
              <a:t>1</a:t>
            </a:r>
            <a:r>
              <a:rPr lang="en-IN" dirty="0"/>
              <a:t> are as follows: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2168860"/>
            <a:ext cx="9433048" cy="3996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395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20016"/>
            <a:ext cx="5407894" cy="592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260648"/>
            <a:ext cx="540060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2C896E-406C-4193-8E27-210B9A936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20" y="5368173"/>
            <a:ext cx="424874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3DF4EBFD-7995-4AF8-97D9-47BA3E34A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35446"/>
            <a:ext cx="345638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A0B86E-9617-4B00-AD36-4ED2CAD1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3931940"/>
            <a:ext cx="10657184" cy="27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9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D5DD2BC8-D1AC-4744-AB69-DD21A3562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60648"/>
            <a:ext cx="5976664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50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820C6A-6027-4863-92B7-9A43CCE6A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620688"/>
            <a:ext cx="993710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695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1124744"/>
            <a:ext cx="511256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1" y="692696"/>
            <a:ext cx="2592287" cy="309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350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5719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Multiplexers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908720"/>
            <a:ext cx="10972800" cy="5674642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A multiplexer, also referred to as MUX.</a:t>
            </a:r>
          </a:p>
          <a:p>
            <a:pPr algn="just"/>
            <a:r>
              <a:rPr lang="en-US" sz="3600" dirty="0"/>
              <a:t>It is a combination logic circuit that is designed to accept multiple input signals and converts into a single output. </a:t>
            </a:r>
          </a:p>
          <a:p>
            <a:pPr algn="just"/>
            <a:r>
              <a:rPr lang="en-US" sz="3600" dirty="0"/>
              <a:t>The selection of a particular input line is controlled by a set of selection lines.</a:t>
            </a:r>
          </a:p>
          <a:p>
            <a:pPr algn="just"/>
            <a:r>
              <a:rPr lang="en-US" sz="3600" dirty="0"/>
              <a:t>Normally, there are </a:t>
            </a:r>
            <a:r>
              <a:rPr lang="en-US" sz="3600" dirty="0">
                <a:solidFill>
                  <a:srgbClr val="002060"/>
                </a:solidFill>
              </a:rPr>
              <a:t>2</a:t>
            </a:r>
            <a:r>
              <a:rPr lang="en-US" sz="3600" i="1" baseline="30000" dirty="0">
                <a:solidFill>
                  <a:srgbClr val="002060"/>
                </a:solidFill>
              </a:rPr>
              <a:t>n</a:t>
            </a:r>
            <a:r>
              <a:rPr lang="en-US" sz="3600" i="1" dirty="0"/>
              <a:t> </a:t>
            </a:r>
            <a:r>
              <a:rPr lang="en-US" sz="3600" dirty="0"/>
              <a:t>input lines and </a:t>
            </a:r>
            <a:r>
              <a:rPr lang="en-US" sz="3600" i="1" dirty="0">
                <a:solidFill>
                  <a:srgbClr val="002060"/>
                </a:solidFill>
              </a:rPr>
              <a:t>n</a:t>
            </a:r>
            <a:r>
              <a:rPr lang="en-US" sz="3600" i="1" dirty="0"/>
              <a:t> </a:t>
            </a:r>
            <a:r>
              <a:rPr lang="en-US" sz="3600" dirty="0"/>
              <a:t>selection lines whose bit combinations determine which input is selected.</a:t>
            </a:r>
          </a:p>
          <a:p>
            <a:pPr algn="just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78110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20688"/>
            <a:ext cx="10972800" cy="6237311"/>
          </a:xfrm>
        </p:spPr>
        <p:txBody>
          <a:bodyPr/>
          <a:lstStyle/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078221-D6EE-4765-A1C5-97A3E2A1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620688"/>
            <a:ext cx="1029714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4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Typical Application of a MUX</a:t>
            </a:r>
          </a:p>
        </p:txBody>
      </p:sp>
      <p:grpSp>
        <p:nvGrpSpPr>
          <p:cNvPr id="18436" name="Group 331"/>
          <p:cNvGrpSpPr>
            <a:grpSpLocks/>
          </p:cNvGrpSpPr>
          <p:nvPr/>
        </p:nvGrpSpPr>
        <p:grpSpPr bwMode="auto">
          <a:xfrm>
            <a:off x="2382838" y="2052638"/>
            <a:ext cx="1828800" cy="762000"/>
            <a:chOff x="381000" y="1524000"/>
            <a:chExt cx="1828800" cy="762000"/>
          </a:xfrm>
        </p:grpSpPr>
        <p:pic>
          <p:nvPicPr>
            <p:cNvPr id="18517" name="Picture 161" descr="C:\Users\ghzite.MAIN\AppData\Local\Microsoft\Windows\Temporary Internet Files\Content.IE5\314ZGPDV\MCj04338320000[1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524000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18" name="TextBox 324"/>
            <p:cNvSpPr txBox="1">
              <a:spLocks noChangeArrowheads="1"/>
            </p:cNvSpPr>
            <p:nvPr/>
          </p:nvSpPr>
          <p:spPr bwMode="auto">
            <a:xfrm>
              <a:off x="381000" y="1674168"/>
              <a:ext cx="12586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MP3 Player</a:t>
              </a:r>
            </a:p>
            <a:p>
              <a:pPr algn="ctr" eaLnBrk="1" hangingPunct="1"/>
              <a:r>
                <a:rPr lang="en-US" sz="1200"/>
                <a:t>Docking Station</a:t>
              </a:r>
            </a:p>
          </p:txBody>
        </p:sp>
      </p:grpSp>
      <p:grpSp>
        <p:nvGrpSpPr>
          <p:cNvPr id="18437" name="Group 330"/>
          <p:cNvGrpSpPr>
            <a:grpSpLocks/>
          </p:cNvGrpSpPr>
          <p:nvPr/>
        </p:nvGrpSpPr>
        <p:grpSpPr bwMode="auto">
          <a:xfrm>
            <a:off x="2387601" y="3227388"/>
            <a:ext cx="1819275" cy="914400"/>
            <a:chOff x="381000" y="2438400"/>
            <a:chExt cx="1818370" cy="914400"/>
          </a:xfrm>
        </p:grpSpPr>
        <p:pic>
          <p:nvPicPr>
            <p:cNvPr id="18515" name="Picture 166" descr="C:\Users\ghzite.MAIN\AppData\Local\Microsoft\Windows\Temporary Internet Files\Content.IE5\6GJ2YC6W\MCj02857580000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2438400"/>
              <a:ext cx="98017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16" name="TextBox 325"/>
            <p:cNvSpPr txBox="1">
              <a:spLocks noChangeArrowheads="1"/>
            </p:cNvSpPr>
            <p:nvPr/>
          </p:nvSpPr>
          <p:spPr bwMode="auto">
            <a:xfrm>
              <a:off x="381000" y="2664768"/>
              <a:ext cx="10021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Laptop </a:t>
              </a:r>
            </a:p>
            <a:p>
              <a:pPr algn="ctr" eaLnBrk="1" hangingPunct="1"/>
              <a:r>
                <a:rPr lang="en-US" sz="1200"/>
                <a:t>Sound Card</a:t>
              </a:r>
            </a:p>
          </p:txBody>
        </p:sp>
      </p:grpSp>
      <p:grpSp>
        <p:nvGrpSpPr>
          <p:cNvPr id="18438" name="Group 329"/>
          <p:cNvGrpSpPr>
            <a:grpSpLocks/>
          </p:cNvGrpSpPr>
          <p:nvPr/>
        </p:nvGrpSpPr>
        <p:grpSpPr bwMode="auto">
          <a:xfrm>
            <a:off x="2420938" y="4554538"/>
            <a:ext cx="1752600" cy="895350"/>
            <a:chOff x="533400" y="3657600"/>
            <a:chExt cx="1752600" cy="895963"/>
          </a:xfrm>
        </p:grpSpPr>
        <p:pic>
          <p:nvPicPr>
            <p:cNvPr id="18513" name="Picture 167" descr="C:\Users\ghzite.MAIN\AppData\Local\Microsoft\Windows\Temporary Internet Files\Content.IE5\314ZGPDV\MCj03968940000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657600"/>
              <a:ext cx="1066800" cy="89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14" name="TextBox 326"/>
            <p:cNvSpPr txBox="1">
              <a:spLocks noChangeArrowheads="1"/>
            </p:cNvSpPr>
            <p:nvPr/>
          </p:nvSpPr>
          <p:spPr bwMode="auto">
            <a:xfrm>
              <a:off x="533400" y="3874749"/>
              <a:ext cx="729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Digital</a:t>
              </a:r>
            </a:p>
            <a:p>
              <a:pPr algn="ctr" eaLnBrk="1" hangingPunct="1"/>
              <a:r>
                <a:rPr lang="en-US" sz="1200"/>
                <a:t>Satellite</a:t>
              </a:r>
            </a:p>
          </p:txBody>
        </p:sp>
      </p:grpSp>
      <p:grpSp>
        <p:nvGrpSpPr>
          <p:cNvPr id="18439" name="Group 358"/>
          <p:cNvGrpSpPr>
            <a:grpSpLocks/>
          </p:cNvGrpSpPr>
          <p:nvPr/>
        </p:nvGrpSpPr>
        <p:grpSpPr bwMode="auto">
          <a:xfrm>
            <a:off x="2128838" y="5862638"/>
            <a:ext cx="2336800" cy="461962"/>
            <a:chOff x="228600" y="5405735"/>
            <a:chExt cx="2336800" cy="461665"/>
          </a:xfrm>
        </p:grpSpPr>
        <p:grpSp>
          <p:nvGrpSpPr>
            <p:cNvPr id="18484" name="Group 7"/>
            <p:cNvGrpSpPr>
              <a:grpSpLocks noChangeAspect="1"/>
            </p:cNvGrpSpPr>
            <p:nvPr/>
          </p:nvGrpSpPr>
          <p:grpSpPr bwMode="auto">
            <a:xfrm>
              <a:off x="990600" y="5481935"/>
              <a:ext cx="1574800" cy="327025"/>
              <a:chOff x="384" y="1815"/>
              <a:chExt cx="992" cy="206"/>
            </a:xfrm>
          </p:grpSpPr>
          <p:sp>
            <p:nvSpPr>
              <p:cNvPr id="18486" name="Freeform 11"/>
              <p:cNvSpPr>
                <a:spLocks/>
              </p:cNvSpPr>
              <p:nvPr/>
            </p:nvSpPr>
            <p:spPr bwMode="auto">
              <a:xfrm>
                <a:off x="387" y="1820"/>
                <a:ext cx="989" cy="201"/>
              </a:xfrm>
              <a:custGeom>
                <a:avLst/>
                <a:gdLst>
                  <a:gd name="T0" fmla="*/ 1 w 1978"/>
                  <a:gd name="T1" fmla="*/ 0 h 402"/>
                  <a:gd name="T2" fmla="*/ 1 w 1978"/>
                  <a:gd name="T3" fmla="*/ 0 h 402"/>
                  <a:gd name="T4" fmla="*/ 1 w 1978"/>
                  <a:gd name="T5" fmla="*/ 1 h 402"/>
                  <a:gd name="T6" fmla="*/ 1 w 1978"/>
                  <a:gd name="T7" fmla="*/ 1 h 402"/>
                  <a:gd name="T8" fmla="*/ 1 w 1978"/>
                  <a:gd name="T9" fmla="*/ 1 h 402"/>
                  <a:gd name="T10" fmla="*/ 0 w 1978"/>
                  <a:gd name="T11" fmla="*/ 1 h 402"/>
                  <a:gd name="T12" fmla="*/ 1 w 1978"/>
                  <a:gd name="T13" fmla="*/ 0 h 4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78"/>
                  <a:gd name="T22" fmla="*/ 0 h 402"/>
                  <a:gd name="T23" fmla="*/ 1978 w 1978"/>
                  <a:gd name="T24" fmla="*/ 402 h 4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78" h="402">
                    <a:moveTo>
                      <a:pt x="210" y="0"/>
                    </a:moveTo>
                    <a:lnTo>
                      <a:pt x="1768" y="0"/>
                    </a:lnTo>
                    <a:lnTo>
                      <a:pt x="1978" y="146"/>
                    </a:lnTo>
                    <a:lnTo>
                      <a:pt x="1978" y="402"/>
                    </a:lnTo>
                    <a:lnTo>
                      <a:pt x="1" y="402"/>
                    </a:lnTo>
                    <a:lnTo>
                      <a:pt x="0" y="15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0000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7" name="Freeform 12"/>
              <p:cNvSpPr>
                <a:spLocks/>
              </p:cNvSpPr>
              <p:nvPr/>
            </p:nvSpPr>
            <p:spPr bwMode="auto">
              <a:xfrm>
                <a:off x="384" y="1815"/>
                <a:ext cx="992" cy="80"/>
              </a:xfrm>
              <a:custGeom>
                <a:avLst/>
                <a:gdLst>
                  <a:gd name="T0" fmla="*/ 0 w 1985"/>
                  <a:gd name="T1" fmla="*/ 1 h 159"/>
                  <a:gd name="T2" fmla="*/ 0 w 1985"/>
                  <a:gd name="T3" fmla="*/ 1 h 159"/>
                  <a:gd name="T4" fmla="*/ 0 w 1985"/>
                  <a:gd name="T5" fmla="*/ 0 h 159"/>
                  <a:gd name="T6" fmla="*/ 0 w 1985"/>
                  <a:gd name="T7" fmla="*/ 1 h 159"/>
                  <a:gd name="T8" fmla="*/ 0 w 1985"/>
                  <a:gd name="T9" fmla="*/ 1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5"/>
                  <a:gd name="T16" fmla="*/ 0 h 159"/>
                  <a:gd name="T17" fmla="*/ 1985 w 1985"/>
                  <a:gd name="T18" fmla="*/ 159 h 1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5" h="159">
                    <a:moveTo>
                      <a:pt x="0" y="159"/>
                    </a:moveTo>
                    <a:lnTo>
                      <a:pt x="189" y="4"/>
                    </a:lnTo>
                    <a:lnTo>
                      <a:pt x="1766" y="0"/>
                    </a:lnTo>
                    <a:lnTo>
                      <a:pt x="1985" y="155"/>
                    </a:lnTo>
                    <a:lnTo>
                      <a:pt x="0" y="159"/>
                    </a:lnTo>
                    <a:close/>
                  </a:path>
                </a:pathLst>
              </a:custGeom>
              <a:solidFill>
                <a:srgbClr val="4C4C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8" name="Freeform 13"/>
              <p:cNvSpPr>
                <a:spLocks/>
              </p:cNvSpPr>
              <p:nvPr/>
            </p:nvSpPr>
            <p:spPr bwMode="auto">
              <a:xfrm>
                <a:off x="430" y="1815"/>
                <a:ext cx="946" cy="79"/>
              </a:xfrm>
              <a:custGeom>
                <a:avLst/>
                <a:gdLst>
                  <a:gd name="T0" fmla="*/ 0 w 1893"/>
                  <a:gd name="T1" fmla="*/ 1 h 156"/>
                  <a:gd name="T2" fmla="*/ 0 w 1893"/>
                  <a:gd name="T3" fmla="*/ 1 h 156"/>
                  <a:gd name="T4" fmla="*/ 0 w 1893"/>
                  <a:gd name="T5" fmla="*/ 1 h 156"/>
                  <a:gd name="T6" fmla="*/ 0 w 1893"/>
                  <a:gd name="T7" fmla="*/ 1 h 156"/>
                  <a:gd name="T8" fmla="*/ 0 w 1893"/>
                  <a:gd name="T9" fmla="*/ 1 h 156"/>
                  <a:gd name="T10" fmla="*/ 0 w 1893"/>
                  <a:gd name="T11" fmla="*/ 1 h 156"/>
                  <a:gd name="T12" fmla="*/ 0 w 1893"/>
                  <a:gd name="T13" fmla="*/ 1 h 156"/>
                  <a:gd name="T14" fmla="*/ 0 w 1893"/>
                  <a:gd name="T15" fmla="*/ 1 h 156"/>
                  <a:gd name="T16" fmla="*/ 0 w 1893"/>
                  <a:gd name="T17" fmla="*/ 1 h 156"/>
                  <a:gd name="T18" fmla="*/ 0 w 1893"/>
                  <a:gd name="T19" fmla="*/ 1 h 156"/>
                  <a:gd name="T20" fmla="*/ 0 w 1893"/>
                  <a:gd name="T21" fmla="*/ 1 h 156"/>
                  <a:gd name="T22" fmla="*/ 0 w 1893"/>
                  <a:gd name="T23" fmla="*/ 1 h 156"/>
                  <a:gd name="T24" fmla="*/ 0 w 1893"/>
                  <a:gd name="T25" fmla="*/ 1 h 156"/>
                  <a:gd name="T26" fmla="*/ 0 w 1893"/>
                  <a:gd name="T27" fmla="*/ 1 h 156"/>
                  <a:gd name="T28" fmla="*/ 0 w 1893"/>
                  <a:gd name="T29" fmla="*/ 1 h 156"/>
                  <a:gd name="T30" fmla="*/ 0 w 1893"/>
                  <a:gd name="T31" fmla="*/ 1 h 156"/>
                  <a:gd name="T32" fmla="*/ 0 w 1893"/>
                  <a:gd name="T33" fmla="*/ 1 h 156"/>
                  <a:gd name="T34" fmla="*/ 0 w 1893"/>
                  <a:gd name="T35" fmla="*/ 1 h 156"/>
                  <a:gd name="T36" fmla="*/ 0 w 1893"/>
                  <a:gd name="T37" fmla="*/ 1 h 156"/>
                  <a:gd name="T38" fmla="*/ 0 w 1893"/>
                  <a:gd name="T39" fmla="*/ 0 h 156"/>
                  <a:gd name="T40" fmla="*/ 0 w 1893"/>
                  <a:gd name="T41" fmla="*/ 1 h 156"/>
                  <a:gd name="T42" fmla="*/ 0 w 1893"/>
                  <a:gd name="T43" fmla="*/ 1 h 156"/>
                  <a:gd name="T44" fmla="*/ 0 w 1893"/>
                  <a:gd name="T45" fmla="*/ 1 h 156"/>
                  <a:gd name="T46" fmla="*/ 0 w 1893"/>
                  <a:gd name="T47" fmla="*/ 1 h 156"/>
                  <a:gd name="T48" fmla="*/ 0 w 1893"/>
                  <a:gd name="T49" fmla="*/ 1 h 156"/>
                  <a:gd name="T50" fmla="*/ 0 w 1893"/>
                  <a:gd name="T51" fmla="*/ 1 h 156"/>
                  <a:gd name="T52" fmla="*/ 0 w 1893"/>
                  <a:gd name="T53" fmla="*/ 1 h 156"/>
                  <a:gd name="T54" fmla="*/ 0 w 1893"/>
                  <a:gd name="T55" fmla="*/ 1 h 156"/>
                  <a:gd name="T56" fmla="*/ 0 w 1893"/>
                  <a:gd name="T57" fmla="*/ 1 h 156"/>
                  <a:gd name="T58" fmla="*/ 0 w 1893"/>
                  <a:gd name="T59" fmla="*/ 1 h 156"/>
                  <a:gd name="T60" fmla="*/ 0 w 1893"/>
                  <a:gd name="T61" fmla="*/ 1 h 156"/>
                  <a:gd name="T62" fmla="*/ 0 w 1893"/>
                  <a:gd name="T63" fmla="*/ 1 h 156"/>
                  <a:gd name="T64" fmla="*/ 0 w 1893"/>
                  <a:gd name="T65" fmla="*/ 1 h 156"/>
                  <a:gd name="T66" fmla="*/ 0 w 1893"/>
                  <a:gd name="T67" fmla="*/ 1 h 156"/>
                  <a:gd name="T68" fmla="*/ 0 w 1893"/>
                  <a:gd name="T69" fmla="*/ 1 h 156"/>
                  <a:gd name="T70" fmla="*/ 0 w 1893"/>
                  <a:gd name="T71" fmla="*/ 1 h 156"/>
                  <a:gd name="T72" fmla="*/ 0 w 1893"/>
                  <a:gd name="T73" fmla="*/ 1 h 156"/>
                  <a:gd name="T74" fmla="*/ 0 w 1893"/>
                  <a:gd name="T75" fmla="*/ 1 h 156"/>
                  <a:gd name="T76" fmla="*/ 0 w 1893"/>
                  <a:gd name="T77" fmla="*/ 1 h 156"/>
                  <a:gd name="T78" fmla="*/ 0 w 1893"/>
                  <a:gd name="T79" fmla="*/ 1 h 156"/>
                  <a:gd name="T80" fmla="*/ 0 w 1893"/>
                  <a:gd name="T81" fmla="*/ 1 h 156"/>
                  <a:gd name="T82" fmla="*/ 0 w 1893"/>
                  <a:gd name="T83" fmla="*/ 1 h 156"/>
                  <a:gd name="T84" fmla="*/ 0 w 1893"/>
                  <a:gd name="T85" fmla="*/ 1 h 156"/>
                  <a:gd name="T86" fmla="*/ 0 w 1893"/>
                  <a:gd name="T87" fmla="*/ 1 h 15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893"/>
                  <a:gd name="T133" fmla="*/ 0 h 156"/>
                  <a:gd name="T134" fmla="*/ 1893 w 1893"/>
                  <a:gd name="T135" fmla="*/ 156 h 15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893" h="156">
                    <a:moveTo>
                      <a:pt x="0" y="156"/>
                    </a:moveTo>
                    <a:lnTo>
                      <a:pt x="21" y="137"/>
                    </a:lnTo>
                    <a:lnTo>
                      <a:pt x="43" y="118"/>
                    </a:lnTo>
                    <a:lnTo>
                      <a:pt x="64" y="99"/>
                    </a:lnTo>
                    <a:lnTo>
                      <a:pt x="85" y="80"/>
                    </a:lnTo>
                    <a:lnTo>
                      <a:pt x="107" y="61"/>
                    </a:lnTo>
                    <a:lnTo>
                      <a:pt x="128" y="42"/>
                    </a:lnTo>
                    <a:lnTo>
                      <a:pt x="150" y="23"/>
                    </a:lnTo>
                    <a:lnTo>
                      <a:pt x="171" y="4"/>
                    </a:lnTo>
                    <a:lnTo>
                      <a:pt x="218" y="4"/>
                    </a:lnTo>
                    <a:lnTo>
                      <a:pt x="265" y="4"/>
                    </a:lnTo>
                    <a:lnTo>
                      <a:pt x="312" y="4"/>
                    </a:lnTo>
                    <a:lnTo>
                      <a:pt x="360" y="4"/>
                    </a:lnTo>
                    <a:lnTo>
                      <a:pt x="406" y="4"/>
                    </a:lnTo>
                    <a:lnTo>
                      <a:pt x="453" y="3"/>
                    </a:lnTo>
                    <a:lnTo>
                      <a:pt x="500" y="3"/>
                    </a:lnTo>
                    <a:lnTo>
                      <a:pt x="547" y="3"/>
                    </a:lnTo>
                    <a:lnTo>
                      <a:pt x="595" y="3"/>
                    </a:lnTo>
                    <a:lnTo>
                      <a:pt x="642" y="3"/>
                    </a:lnTo>
                    <a:lnTo>
                      <a:pt x="689" y="3"/>
                    </a:lnTo>
                    <a:lnTo>
                      <a:pt x="736" y="3"/>
                    </a:lnTo>
                    <a:lnTo>
                      <a:pt x="782" y="3"/>
                    </a:lnTo>
                    <a:lnTo>
                      <a:pt x="830" y="3"/>
                    </a:lnTo>
                    <a:lnTo>
                      <a:pt x="877" y="2"/>
                    </a:lnTo>
                    <a:lnTo>
                      <a:pt x="924" y="2"/>
                    </a:lnTo>
                    <a:lnTo>
                      <a:pt x="971" y="2"/>
                    </a:lnTo>
                    <a:lnTo>
                      <a:pt x="1018" y="2"/>
                    </a:lnTo>
                    <a:lnTo>
                      <a:pt x="1064" y="2"/>
                    </a:lnTo>
                    <a:lnTo>
                      <a:pt x="1112" y="2"/>
                    </a:lnTo>
                    <a:lnTo>
                      <a:pt x="1159" y="2"/>
                    </a:lnTo>
                    <a:lnTo>
                      <a:pt x="1206" y="2"/>
                    </a:lnTo>
                    <a:lnTo>
                      <a:pt x="1252" y="1"/>
                    </a:lnTo>
                    <a:lnTo>
                      <a:pt x="1299" y="1"/>
                    </a:lnTo>
                    <a:lnTo>
                      <a:pt x="1347" y="1"/>
                    </a:lnTo>
                    <a:lnTo>
                      <a:pt x="1394" y="1"/>
                    </a:lnTo>
                    <a:lnTo>
                      <a:pt x="1440" y="1"/>
                    </a:lnTo>
                    <a:lnTo>
                      <a:pt x="1487" y="1"/>
                    </a:lnTo>
                    <a:lnTo>
                      <a:pt x="1533" y="1"/>
                    </a:lnTo>
                    <a:lnTo>
                      <a:pt x="1581" y="0"/>
                    </a:lnTo>
                    <a:lnTo>
                      <a:pt x="1627" y="0"/>
                    </a:lnTo>
                    <a:lnTo>
                      <a:pt x="1674" y="0"/>
                    </a:lnTo>
                    <a:lnTo>
                      <a:pt x="1688" y="9"/>
                    </a:lnTo>
                    <a:lnTo>
                      <a:pt x="1701" y="19"/>
                    </a:lnTo>
                    <a:lnTo>
                      <a:pt x="1714" y="28"/>
                    </a:lnTo>
                    <a:lnTo>
                      <a:pt x="1728" y="39"/>
                    </a:lnTo>
                    <a:lnTo>
                      <a:pt x="1742" y="48"/>
                    </a:lnTo>
                    <a:lnTo>
                      <a:pt x="1756" y="58"/>
                    </a:lnTo>
                    <a:lnTo>
                      <a:pt x="1769" y="68"/>
                    </a:lnTo>
                    <a:lnTo>
                      <a:pt x="1783" y="77"/>
                    </a:lnTo>
                    <a:lnTo>
                      <a:pt x="1796" y="87"/>
                    </a:lnTo>
                    <a:lnTo>
                      <a:pt x="1810" y="96"/>
                    </a:lnTo>
                    <a:lnTo>
                      <a:pt x="1824" y="107"/>
                    </a:lnTo>
                    <a:lnTo>
                      <a:pt x="1837" y="116"/>
                    </a:lnTo>
                    <a:lnTo>
                      <a:pt x="1851" y="126"/>
                    </a:lnTo>
                    <a:lnTo>
                      <a:pt x="1865" y="136"/>
                    </a:lnTo>
                    <a:lnTo>
                      <a:pt x="1879" y="146"/>
                    </a:lnTo>
                    <a:lnTo>
                      <a:pt x="1893" y="155"/>
                    </a:lnTo>
                    <a:lnTo>
                      <a:pt x="1834" y="155"/>
                    </a:lnTo>
                    <a:lnTo>
                      <a:pt x="1774" y="155"/>
                    </a:lnTo>
                    <a:lnTo>
                      <a:pt x="1715" y="155"/>
                    </a:lnTo>
                    <a:lnTo>
                      <a:pt x="1657" y="155"/>
                    </a:lnTo>
                    <a:lnTo>
                      <a:pt x="1598" y="155"/>
                    </a:lnTo>
                    <a:lnTo>
                      <a:pt x="1538" y="155"/>
                    </a:lnTo>
                    <a:lnTo>
                      <a:pt x="1479" y="155"/>
                    </a:lnTo>
                    <a:lnTo>
                      <a:pt x="1420" y="155"/>
                    </a:lnTo>
                    <a:lnTo>
                      <a:pt x="1361" y="155"/>
                    </a:lnTo>
                    <a:lnTo>
                      <a:pt x="1302" y="155"/>
                    </a:lnTo>
                    <a:lnTo>
                      <a:pt x="1243" y="155"/>
                    </a:lnTo>
                    <a:lnTo>
                      <a:pt x="1183" y="155"/>
                    </a:lnTo>
                    <a:lnTo>
                      <a:pt x="1124" y="155"/>
                    </a:lnTo>
                    <a:lnTo>
                      <a:pt x="1066" y="155"/>
                    </a:lnTo>
                    <a:lnTo>
                      <a:pt x="1006" y="155"/>
                    </a:lnTo>
                    <a:lnTo>
                      <a:pt x="947" y="155"/>
                    </a:lnTo>
                    <a:lnTo>
                      <a:pt x="888" y="155"/>
                    </a:lnTo>
                    <a:lnTo>
                      <a:pt x="828" y="155"/>
                    </a:lnTo>
                    <a:lnTo>
                      <a:pt x="770" y="155"/>
                    </a:lnTo>
                    <a:lnTo>
                      <a:pt x="710" y="155"/>
                    </a:lnTo>
                    <a:lnTo>
                      <a:pt x="651" y="155"/>
                    </a:lnTo>
                    <a:lnTo>
                      <a:pt x="592" y="155"/>
                    </a:lnTo>
                    <a:lnTo>
                      <a:pt x="532" y="155"/>
                    </a:lnTo>
                    <a:lnTo>
                      <a:pt x="474" y="155"/>
                    </a:lnTo>
                    <a:lnTo>
                      <a:pt x="415" y="155"/>
                    </a:lnTo>
                    <a:lnTo>
                      <a:pt x="355" y="156"/>
                    </a:lnTo>
                    <a:lnTo>
                      <a:pt x="296" y="156"/>
                    </a:lnTo>
                    <a:lnTo>
                      <a:pt x="236" y="156"/>
                    </a:lnTo>
                    <a:lnTo>
                      <a:pt x="178" y="156"/>
                    </a:lnTo>
                    <a:lnTo>
                      <a:pt x="119" y="156"/>
                    </a:lnTo>
                    <a:lnTo>
                      <a:pt x="59" y="156"/>
                    </a:lnTo>
                    <a:lnTo>
                      <a:pt x="0" y="156"/>
                    </a:lnTo>
                    <a:close/>
                  </a:path>
                </a:pathLst>
              </a:custGeom>
              <a:solidFill>
                <a:srgbClr val="494F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9" name="Freeform 14"/>
              <p:cNvSpPr>
                <a:spLocks/>
              </p:cNvSpPr>
              <p:nvPr/>
            </p:nvSpPr>
            <p:spPr bwMode="auto">
              <a:xfrm>
                <a:off x="476" y="1815"/>
                <a:ext cx="900" cy="78"/>
              </a:xfrm>
              <a:custGeom>
                <a:avLst/>
                <a:gdLst>
                  <a:gd name="T0" fmla="*/ 0 w 1801"/>
                  <a:gd name="T1" fmla="*/ 1 h 155"/>
                  <a:gd name="T2" fmla="*/ 0 w 1801"/>
                  <a:gd name="T3" fmla="*/ 1 h 155"/>
                  <a:gd name="T4" fmla="*/ 0 w 1801"/>
                  <a:gd name="T5" fmla="*/ 1 h 155"/>
                  <a:gd name="T6" fmla="*/ 0 w 1801"/>
                  <a:gd name="T7" fmla="*/ 1 h 155"/>
                  <a:gd name="T8" fmla="*/ 0 w 1801"/>
                  <a:gd name="T9" fmla="*/ 1 h 155"/>
                  <a:gd name="T10" fmla="*/ 0 w 1801"/>
                  <a:gd name="T11" fmla="*/ 1 h 155"/>
                  <a:gd name="T12" fmla="*/ 0 w 1801"/>
                  <a:gd name="T13" fmla="*/ 1 h 155"/>
                  <a:gd name="T14" fmla="*/ 0 w 1801"/>
                  <a:gd name="T15" fmla="*/ 1 h 155"/>
                  <a:gd name="T16" fmla="*/ 0 w 1801"/>
                  <a:gd name="T17" fmla="*/ 1 h 155"/>
                  <a:gd name="T18" fmla="*/ 0 w 1801"/>
                  <a:gd name="T19" fmla="*/ 1 h 155"/>
                  <a:gd name="T20" fmla="*/ 0 w 1801"/>
                  <a:gd name="T21" fmla="*/ 1 h 155"/>
                  <a:gd name="T22" fmla="*/ 0 w 1801"/>
                  <a:gd name="T23" fmla="*/ 1 h 155"/>
                  <a:gd name="T24" fmla="*/ 0 w 1801"/>
                  <a:gd name="T25" fmla="*/ 1 h 155"/>
                  <a:gd name="T26" fmla="*/ 0 w 1801"/>
                  <a:gd name="T27" fmla="*/ 1 h 155"/>
                  <a:gd name="T28" fmla="*/ 0 w 1801"/>
                  <a:gd name="T29" fmla="*/ 1 h 155"/>
                  <a:gd name="T30" fmla="*/ 0 w 1801"/>
                  <a:gd name="T31" fmla="*/ 1 h 155"/>
                  <a:gd name="T32" fmla="*/ 0 w 1801"/>
                  <a:gd name="T33" fmla="*/ 1 h 155"/>
                  <a:gd name="T34" fmla="*/ 0 w 1801"/>
                  <a:gd name="T35" fmla="*/ 1 h 155"/>
                  <a:gd name="T36" fmla="*/ 0 w 1801"/>
                  <a:gd name="T37" fmla="*/ 1 h 155"/>
                  <a:gd name="T38" fmla="*/ 0 w 1801"/>
                  <a:gd name="T39" fmla="*/ 0 h 155"/>
                  <a:gd name="T40" fmla="*/ 0 w 1801"/>
                  <a:gd name="T41" fmla="*/ 1 h 155"/>
                  <a:gd name="T42" fmla="*/ 0 w 1801"/>
                  <a:gd name="T43" fmla="*/ 1 h 155"/>
                  <a:gd name="T44" fmla="*/ 0 w 1801"/>
                  <a:gd name="T45" fmla="*/ 1 h 155"/>
                  <a:gd name="T46" fmla="*/ 0 w 1801"/>
                  <a:gd name="T47" fmla="*/ 1 h 155"/>
                  <a:gd name="T48" fmla="*/ 0 w 1801"/>
                  <a:gd name="T49" fmla="*/ 1 h 155"/>
                  <a:gd name="T50" fmla="*/ 0 w 1801"/>
                  <a:gd name="T51" fmla="*/ 1 h 155"/>
                  <a:gd name="T52" fmla="*/ 0 w 1801"/>
                  <a:gd name="T53" fmla="*/ 1 h 155"/>
                  <a:gd name="T54" fmla="*/ 0 w 1801"/>
                  <a:gd name="T55" fmla="*/ 1 h 155"/>
                  <a:gd name="T56" fmla="*/ 0 w 1801"/>
                  <a:gd name="T57" fmla="*/ 1 h 155"/>
                  <a:gd name="T58" fmla="*/ 0 w 1801"/>
                  <a:gd name="T59" fmla="*/ 1 h 155"/>
                  <a:gd name="T60" fmla="*/ 0 w 1801"/>
                  <a:gd name="T61" fmla="*/ 1 h 155"/>
                  <a:gd name="T62" fmla="*/ 0 w 1801"/>
                  <a:gd name="T63" fmla="*/ 1 h 155"/>
                  <a:gd name="T64" fmla="*/ 0 w 1801"/>
                  <a:gd name="T65" fmla="*/ 1 h 155"/>
                  <a:gd name="T66" fmla="*/ 0 w 1801"/>
                  <a:gd name="T67" fmla="*/ 1 h 155"/>
                  <a:gd name="T68" fmla="*/ 0 w 1801"/>
                  <a:gd name="T69" fmla="*/ 1 h 155"/>
                  <a:gd name="T70" fmla="*/ 0 w 1801"/>
                  <a:gd name="T71" fmla="*/ 1 h 155"/>
                  <a:gd name="T72" fmla="*/ 0 w 1801"/>
                  <a:gd name="T73" fmla="*/ 1 h 155"/>
                  <a:gd name="T74" fmla="*/ 0 w 1801"/>
                  <a:gd name="T75" fmla="*/ 1 h 155"/>
                  <a:gd name="T76" fmla="*/ 0 w 1801"/>
                  <a:gd name="T77" fmla="*/ 1 h 155"/>
                  <a:gd name="T78" fmla="*/ 0 w 1801"/>
                  <a:gd name="T79" fmla="*/ 1 h 155"/>
                  <a:gd name="T80" fmla="*/ 0 w 1801"/>
                  <a:gd name="T81" fmla="*/ 1 h 155"/>
                  <a:gd name="T82" fmla="*/ 0 w 1801"/>
                  <a:gd name="T83" fmla="*/ 1 h 155"/>
                  <a:gd name="T84" fmla="*/ 0 w 1801"/>
                  <a:gd name="T85" fmla="*/ 1 h 155"/>
                  <a:gd name="T86" fmla="*/ 0 w 1801"/>
                  <a:gd name="T87" fmla="*/ 1 h 15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801"/>
                  <a:gd name="T133" fmla="*/ 0 h 155"/>
                  <a:gd name="T134" fmla="*/ 1801 w 1801"/>
                  <a:gd name="T135" fmla="*/ 155 h 15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801" h="155">
                    <a:moveTo>
                      <a:pt x="0" y="153"/>
                    </a:moveTo>
                    <a:lnTo>
                      <a:pt x="20" y="134"/>
                    </a:lnTo>
                    <a:lnTo>
                      <a:pt x="38" y="116"/>
                    </a:lnTo>
                    <a:lnTo>
                      <a:pt x="58" y="98"/>
                    </a:lnTo>
                    <a:lnTo>
                      <a:pt x="76" y="79"/>
                    </a:lnTo>
                    <a:lnTo>
                      <a:pt x="96" y="61"/>
                    </a:lnTo>
                    <a:lnTo>
                      <a:pt x="114" y="42"/>
                    </a:lnTo>
                    <a:lnTo>
                      <a:pt x="134" y="24"/>
                    </a:lnTo>
                    <a:lnTo>
                      <a:pt x="154" y="5"/>
                    </a:lnTo>
                    <a:lnTo>
                      <a:pt x="198" y="5"/>
                    </a:lnTo>
                    <a:lnTo>
                      <a:pt x="243" y="5"/>
                    </a:lnTo>
                    <a:lnTo>
                      <a:pt x="287" y="5"/>
                    </a:lnTo>
                    <a:lnTo>
                      <a:pt x="332" y="5"/>
                    </a:lnTo>
                    <a:lnTo>
                      <a:pt x="377" y="4"/>
                    </a:lnTo>
                    <a:lnTo>
                      <a:pt x="422" y="4"/>
                    </a:lnTo>
                    <a:lnTo>
                      <a:pt x="467" y="4"/>
                    </a:lnTo>
                    <a:lnTo>
                      <a:pt x="511" y="4"/>
                    </a:lnTo>
                    <a:lnTo>
                      <a:pt x="556" y="4"/>
                    </a:lnTo>
                    <a:lnTo>
                      <a:pt x="600" y="4"/>
                    </a:lnTo>
                    <a:lnTo>
                      <a:pt x="645" y="4"/>
                    </a:lnTo>
                    <a:lnTo>
                      <a:pt x="690" y="4"/>
                    </a:lnTo>
                    <a:lnTo>
                      <a:pt x="734" y="3"/>
                    </a:lnTo>
                    <a:lnTo>
                      <a:pt x="779" y="3"/>
                    </a:lnTo>
                    <a:lnTo>
                      <a:pt x="824" y="3"/>
                    </a:lnTo>
                    <a:lnTo>
                      <a:pt x="869" y="3"/>
                    </a:lnTo>
                    <a:lnTo>
                      <a:pt x="914" y="3"/>
                    </a:lnTo>
                    <a:lnTo>
                      <a:pt x="958" y="3"/>
                    </a:lnTo>
                    <a:lnTo>
                      <a:pt x="1002" y="2"/>
                    </a:lnTo>
                    <a:lnTo>
                      <a:pt x="1047" y="2"/>
                    </a:lnTo>
                    <a:lnTo>
                      <a:pt x="1091" y="2"/>
                    </a:lnTo>
                    <a:lnTo>
                      <a:pt x="1136" y="2"/>
                    </a:lnTo>
                    <a:lnTo>
                      <a:pt x="1181" y="2"/>
                    </a:lnTo>
                    <a:lnTo>
                      <a:pt x="1226" y="1"/>
                    </a:lnTo>
                    <a:lnTo>
                      <a:pt x="1270" y="1"/>
                    </a:lnTo>
                    <a:lnTo>
                      <a:pt x="1315" y="1"/>
                    </a:lnTo>
                    <a:lnTo>
                      <a:pt x="1360" y="1"/>
                    </a:lnTo>
                    <a:lnTo>
                      <a:pt x="1403" y="1"/>
                    </a:lnTo>
                    <a:lnTo>
                      <a:pt x="1448" y="1"/>
                    </a:lnTo>
                    <a:lnTo>
                      <a:pt x="1493" y="0"/>
                    </a:lnTo>
                    <a:lnTo>
                      <a:pt x="1537" y="0"/>
                    </a:lnTo>
                    <a:lnTo>
                      <a:pt x="1582" y="0"/>
                    </a:lnTo>
                    <a:lnTo>
                      <a:pt x="1596" y="9"/>
                    </a:lnTo>
                    <a:lnTo>
                      <a:pt x="1609" y="19"/>
                    </a:lnTo>
                    <a:lnTo>
                      <a:pt x="1622" y="28"/>
                    </a:lnTo>
                    <a:lnTo>
                      <a:pt x="1636" y="39"/>
                    </a:lnTo>
                    <a:lnTo>
                      <a:pt x="1650" y="48"/>
                    </a:lnTo>
                    <a:lnTo>
                      <a:pt x="1664" y="58"/>
                    </a:lnTo>
                    <a:lnTo>
                      <a:pt x="1677" y="68"/>
                    </a:lnTo>
                    <a:lnTo>
                      <a:pt x="1691" y="77"/>
                    </a:lnTo>
                    <a:lnTo>
                      <a:pt x="1704" y="87"/>
                    </a:lnTo>
                    <a:lnTo>
                      <a:pt x="1718" y="96"/>
                    </a:lnTo>
                    <a:lnTo>
                      <a:pt x="1732" y="107"/>
                    </a:lnTo>
                    <a:lnTo>
                      <a:pt x="1745" y="116"/>
                    </a:lnTo>
                    <a:lnTo>
                      <a:pt x="1759" y="126"/>
                    </a:lnTo>
                    <a:lnTo>
                      <a:pt x="1773" y="136"/>
                    </a:lnTo>
                    <a:lnTo>
                      <a:pt x="1787" y="146"/>
                    </a:lnTo>
                    <a:lnTo>
                      <a:pt x="1801" y="155"/>
                    </a:lnTo>
                    <a:lnTo>
                      <a:pt x="1744" y="155"/>
                    </a:lnTo>
                    <a:lnTo>
                      <a:pt x="1688" y="155"/>
                    </a:lnTo>
                    <a:lnTo>
                      <a:pt x="1633" y="155"/>
                    </a:lnTo>
                    <a:lnTo>
                      <a:pt x="1576" y="155"/>
                    </a:lnTo>
                    <a:lnTo>
                      <a:pt x="1520" y="155"/>
                    </a:lnTo>
                    <a:lnTo>
                      <a:pt x="1463" y="155"/>
                    </a:lnTo>
                    <a:lnTo>
                      <a:pt x="1407" y="154"/>
                    </a:lnTo>
                    <a:lnTo>
                      <a:pt x="1351" y="154"/>
                    </a:lnTo>
                    <a:lnTo>
                      <a:pt x="1295" y="154"/>
                    </a:lnTo>
                    <a:lnTo>
                      <a:pt x="1239" y="154"/>
                    </a:lnTo>
                    <a:lnTo>
                      <a:pt x="1182" y="154"/>
                    </a:lnTo>
                    <a:lnTo>
                      <a:pt x="1126" y="154"/>
                    </a:lnTo>
                    <a:lnTo>
                      <a:pt x="1069" y="154"/>
                    </a:lnTo>
                    <a:lnTo>
                      <a:pt x="1014" y="154"/>
                    </a:lnTo>
                    <a:lnTo>
                      <a:pt x="958" y="154"/>
                    </a:lnTo>
                    <a:lnTo>
                      <a:pt x="901" y="154"/>
                    </a:lnTo>
                    <a:lnTo>
                      <a:pt x="845" y="154"/>
                    </a:lnTo>
                    <a:lnTo>
                      <a:pt x="788" y="154"/>
                    </a:lnTo>
                    <a:lnTo>
                      <a:pt x="732" y="154"/>
                    </a:lnTo>
                    <a:lnTo>
                      <a:pt x="675" y="154"/>
                    </a:lnTo>
                    <a:lnTo>
                      <a:pt x="620" y="154"/>
                    </a:lnTo>
                    <a:lnTo>
                      <a:pt x="564" y="154"/>
                    </a:lnTo>
                    <a:lnTo>
                      <a:pt x="507" y="154"/>
                    </a:lnTo>
                    <a:lnTo>
                      <a:pt x="451" y="154"/>
                    </a:lnTo>
                    <a:lnTo>
                      <a:pt x="394" y="154"/>
                    </a:lnTo>
                    <a:lnTo>
                      <a:pt x="338" y="153"/>
                    </a:lnTo>
                    <a:lnTo>
                      <a:pt x="281" y="153"/>
                    </a:lnTo>
                    <a:lnTo>
                      <a:pt x="225" y="153"/>
                    </a:lnTo>
                    <a:lnTo>
                      <a:pt x="170" y="153"/>
                    </a:lnTo>
                    <a:lnTo>
                      <a:pt x="113" y="153"/>
                    </a:lnTo>
                    <a:lnTo>
                      <a:pt x="57" y="153"/>
                    </a:lnTo>
                    <a:lnTo>
                      <a:pt x="0" y="153"/>
                    </a:lnTo>
                    <a:close/>
                  </a:path>
                </a:pathLst>
              </a:custGeom>
              <a:solidFill>
                <a:srgbClr val="494F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0" name="Freeform 15"/>
              <p:cNvSpPr>
                <a:spLocks/>
              </p:cNvSpPr>
              <p:nvPr/>
            </p:nvSpPr>
            <p:spPr bwMode="auto">
              <a:xfrm>
                <a:off x="522" y="1815"/>
                <a:ext cx="854" cy="78"/>
              </a:xfrm>
              <a:custGeom>
                <a:avLst/>
                <a:gdLst>
                  <a:gd name="T0" fmla="*/ 0 w 1710"/>
                  <a:gd name="T1" fmla="*/ 1 h 155"/>
                  <a:gd name="T2" fmla="*/ 0 w 1710"/>
                  <a:gd name="T3" fmla="*/ 1 h 155"/>
                  <a:gd name="T4" fmla="*/ 0 w 1710"/>
                  <a:gd name="T5" fmla="*/ 1 h 155"/>
                  <a:gd name="T6" fmla="*/ 0 w 1710"/>
                  <a:gd name="T7" fmla="*/ 1 h 155"/>
                  <a:gd name="T8" fmla="*/ 0 w 1710"/>
                  <a:gd name="T9" fmla="*/ 1 h 155"/>
                  <a:gd name="T10" fmla="*/ 0 w 1710"/>
                  <a:gd name="T11" fmla="*/ 1 h 155"/>
                  <a:gd name="T12" fmla="*/ 0 w 1710"/>
                  <a:gd name="T13" fmla="*/ 1 h 155"/>
                  <a:gd name="T14" fmla="*/ 0 w 1710"/>
                  <a:gd name="T15" fmla="*/ 1 h 155"/>
                  <a:gd name="T16" fmla="*/ 0 w 1710"/>
                  <a:gd name="T17" fmla="*/ 1 h 155"/>
                  <a:gd name="T18" fmla="*/ 0 w 1710"/>
                  <a:gd name="T19" fmla="*/ 1 h 155"/>
                  <a:gd name="T20" fmla="*/ 0 w 1710"/>
                  <a:gd name="T21" fmla="*/ 1 h 155"/>
                  <a:gd name="T22" fmla="*/ 0 w 1710"/>
                  <a:gd name="T23" fmla="*/ 1 h 155"/>
                  <a:gd name="T24" fmla="*/ 0 w 1710"/>
                  <a:gd name="T25" fmla="*/ 1 h 155"/>
                  <a:gd name="T26" fmla="*/ 0 w 1710"/>
                  <a:gd name="T27" fmla="*/ 1 h 155"/>
                  <a:gd name="T28" fmla="*/ 0 w 1710"/>
                  <a:gd name="T29" fmla="*/ 1 h 155"/>
                  <a:gd name="T30" fmla="*/ 0 w 1710"/>
                  <a:gd name="T31" fmla="*/ 1 h 155"/>
                  <a:gd name="T32" fmla="*/ 0 w 1710"/>
                  <a:gd name="T33" fmla="*/ 1 h 155"/>
                  <a:gd name="T34" fmla="*/ 0 w 1710"/>
                  <a:gd name="T35" fmla="*/ 1 h 155"/>
                  <a:gd name="T36" fmla="*/ 0 w 1710"/>
                  <a:gd name="T37" fmla="*/ 1 h 155"/>
                  <a:gd name="T38" fmla="*/ 0 w 1710"/>
                  <a:gd name="T39" fmla="*/ 0 h 155"/>
                  <a:gd name="T40" fmla="*/ 0 w 1710"/>
                  <a:gd name="T41" fmla="*/ 1 h 155"/>
                  <a:gd name="T42" fmla="*/ 0 w 1710"/>
                  <a:gd name="T43" fmla="*/ 1 h 155"/>
                  <a:gd name="T44" fmla="*/ 0 w 1710"/>
                  <a:gd name="T45" fmla="*/ 1 h 155"/>
                  <a:gd name="T46" fmla="*/ 0 w 1710"/>
                  <a:gd name="T47" fmla="*/ 1 h 155"/>
                  <a:gd name="T48" fmla="*/ 0 w 1710"/>
                  <a:gd name="T49" fmla="*/ 1 h 155"/>
                  <a:gd name="T50" fmla="*/ 0 w 1710"/>
                  <a:gd name="T51" fmla="*/ 1 h 155"/>
                  <a:gd name="T52" fmla="*/ 0 w 1710"/>
                  <a:gd name="T53" fmla="*/ 1 h 155"/>
                  <a:gd name="T54" fmla="*/ 0 w 1710"/>
                  <a:gd name="T55" fmla="*/ 1 h 155"/>
                  <a:gd name="T56" fmla="*/ 0 w 1710"/>
                  <a:gd name="T57" fmla="*/ 1 h 155"/>
                  <a:gd name="T58" fmla="*/ 0 w 1710"/>
                  <a:gd name="T59" fmla="*/ 1 h 155"/>
                  <a:gd name="T60" fmla="*/ 0 w 1710"/>
                  <a:gd name="T61" fmla="*/ 1 h 155"/>
                  <a:gd name="T62" fmla="*/ 0 w 1710"/>
                  <a:gd name="T63" fmla="*/ 1 h 155"/>
                  <a:gd name="T64" fmla="*/ 0 w 1710"/>
                  <a:gd name="T65" fmla="*/ 1 h 155"/>
                  <a:gd name="T66" fmla="*/ 0 w 1710"/>
                  <a:gd name="T67" fmla="*/ 1 h 155"/>
                  <a:gd name="T68" fmla="*/ 0 w 1710"/>
                  <a:gd name="T69" fmla="*/ 1 h 155"/>
                  <a:gd name="T70" fmla="*/ 0 w 1710"/>
                  <a:gd name="T71" fmla="*/ 1 h 155"/>
                  <a:gd name="T72" fmla="*/ 0 w 1710"/>
                  <a:gd name="T73" fmla="*/ 1 h 155"/>
                  <a:gd name="T74" fmla="*/ 0 w 1710"/>
                  <a:gd name="T75" fmla="*/ 1 h 155"/>
                  <a:gd name="T76" fmla="*/ 0 w 1710"/>
                  <a:gd name="T77" fmla="*/ 1 h 155"/>
                  <a:gd name="T78" fmla="*/ 0 w 1710"/>
                  <a:gd name="T79" fmla="*/ 1 h 155"/>
                  <a:gd name="T80" fmla="*/ 0 w 1710"/>
                  <a:gd name="T81" fmla="*/ 1 h 155"/>
                  <a:gd name="T82" fmla="*/ 0 w 1710"/>
                  <a:gd name="T83" fmla="*/ 1 h 155"/>
                  <a:gd name="T84" fmla="*/ 0 w 1710"/>
                  <a:gd name="T85" fmla="*/ 1 h 155"/>
                  <a:gd name="T86" fmla="*/ 0 w 1710"/>
                  <a:gd name="T87" fmla="*/ 1 h 15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10"/>
                  <a:gd name="T133" fmla="*/ 0 h 155"/>
                  <a:gd name="T134" fmla="*/ 1710 w 1710"/>
                  <a:gd name="T135" fmla="*/ 155 h 15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10" h="155">
                    <a:moveTo>
                      <a:pt x="0" y="149"/>
                    </a:moveTo>
                    <a:lnTo>
                      <a:pt x="18" y="132"/>
                    </a:lnTo>
                    <a:lnTo>
                      <a:pt x="34" y="114"/>
                    </a:lnTo>
                    <a:lnTo>
                      <a:pt x="51" y="96"/>
                    </a:lnTo>
                    <a:lnTo>
                      <a:pt x="68" y="78"/>
                    </a:lnTo>
                    <a:lnTo>
                      <a:pt x="84" y="60"/>
                    </a:lnTo>
                    <a:lnTo>
                      <a:pt x="102" y="42"/>
                    </a:lnTo>
                    <a:lnTo>
                      <a:pt x="119" y="24"/>
                    </a:lnTo>
                    <a:lnTo>
                      <a:pt x="136" y="7"/>
                    </a:lnTo>
                    <a:lnTo>
                      <a:pt x="179" y="7"/>
                    </a:lnTo>
                    <a:lnTo>
                      <a:pt x="221" y="7"/>
                    </a:lnTo>
                    <a:lnTo>
                      <a:pt x="263" y="5"/>
                    </a:lnTo>
                    <a:lnTo>
                      <a:pt x="306" y="5"/>
                    </a:lnTo>
                    <a:lnTo>
                      <a:pt x="348" y="5"/>
                    </a:lnTo>
                    <a:lnTo>
                      <a:pt x="391" y="5"/>
                    </a:lnTo>
                    <a:lnTo>
                      <a:pt x="432" y="5"/>
                    </a:lnTo>
                    <a:lnTo>
                      <a:pt x="475" y="4"/>
                    </a:lnTo>
                    <a:lnTo>
                      <a:pt x="517" y="4"/>
                    </a:lnTo>
                    <a:lnTo>
                      <a:pt x="560" y="4"/>
                    </a:lnTo>
                    <a:lnTo>
                      <a:pt x="603" y="4"/>
                    </a:lnTo>
                    <a:lnTo>
                      <a:pt x="645" y="4"/>
                    </a:lnTo>
                    <a:lnTo>
                      <a:pt x="687" y="4"/>
                    </a:lnTo>
                    <a:lnTo>
                      <a:pt x="729" y="3"/>
                    </a:lnTo>
                    <a:lnTo>
                      <a:pt x="772" y="3"/>
                    </a:lnTo>
                    <a:lnTo>
                      <a:pt x="815" y="3"/>
                    </a:lnTo>
                    <a:lnTo>
                      <a:pt x="857" y="3"/>
                    </a:lnTo>
                    <a:lnTo>
                      <a:pt x="899" y="3"/>
                    </a:lnTo>
                    <a:lnTo>
                      <a:pt x="941" y="2"/>
                    </a:lnTo>
                    <a:lnTo>
                      <a:pt x="984" y="2"/>
                    </a:lnTo>
                    <a:lnTo>
                      <a:pt x="1027" y="2"/>
                    </a:lnTo>
                    <a:lnTo>
                      <a:pt x="1068" y="2"/>
                    </a:lnTo>
                    <a:lnTo>
                      <a:pt x="1111" y="2"/>
                    </a:lnTo>
                    <a:lnTo>
                      <a:pt x="1153" y="1"/>
                    </a:lnTo>
                    <a:lnTo>
                      <a:pt x="1196" y="1"/>
                    </a:lnTo>
                    <a:lnTo>
                      <a:pt x="1237" y="1"/>
                    </a:lnTo>
                    <a:lnTo>
                      <a:pt x="1280" y="1"/>
                    </a:lnTo>
                    <a:lnTo>
                      <a:pt x="1323" y="1"/>
                    </a:lnTo>
                    <a:lnTo>
                      <a:pt x="1364" y="1"/>
                    </a:lnTo>
                    <a:lnTo>
                      <a:pt x="1407" y="0"/>
                    </a:lnTo>
                    <a:lnTo>
                      <a:pt x="1448" y="0"/>
                    </a:lnTo>
                    <a:lnTo>
                      <a:pt x="1491" y="0"/>
                    </a:lnTo>
                    <a:lnTo>
                      <a:pt x="1505" y="9"/>
                    </a:lnTo>
                    <a:lnTo>
                      <a:pt x="1518" y="19"/>
                    </a:lnTo>
                    <a:lnTo>
                      <a:pt x="1531" y="28"/>
                    </a:lnTo>
                    <a:lnTo>
                      <a:pt x="1545" y="39"/>
                    </a:lnTo>
                    <a:lnTo>
                      <a:pt x="1559" y="48"/>
                    </a:lnTo>
                    <a:lnTo>
                      <a:pt x="1573" y="58"/>
                    </a:lnTo>
                    <a:lnTo>
                      <a:pt x="1586" y="68"/>
                    </a:lnTo>
                    <a:lnTo>
                      <a:pt x="1600" y="77"/>
                    </a:lnTo>
                    <a:lnTo>
                      <a:pt x="1613" y="87"/>
                    </a:lnTo>
                    <a:lnTo>
                      <a:pt x="1627" y="96"/>
                    </a:lnTo>
                    <a:lnTo>
                      <a:pt x="1641" y="107"/>
                    </a:lnTo>
                    <a:lnTo>
                      <a:pt x="1654" y="116"/>
                    </a:lnTo>
                    <a:lnTo>
                      <a:pt x="1668" y="126"/>
                    </a:lnTo>
                    <a:lnTo>
                      <a:pt x="1682" y="136"/>
                    </a:lnTo>
                    <a:lnTo>
                      <a:pt x="1696" y="146"/>
                    </a:lnTo>
                    <a:lnTo>
                      <a:pt x="1710" y="155"/>
                    </a:lnTo>
                    <a:lnTo>
                      <a:pt x="1657" y="155"/>
                    </a:lnTo>
                    <a:lnTo>
                      <a:pt x="1603" y="155"/>
                    </a:lnTo>
                    <a:lnTo>
                      <a:pt x="1550" y="154"/>
                    </a:lnTo>
                    <a:lnTo>
                      <a:pt x="1497" y="154"/>
                    </a:lnTo>
                    <a:lnTo>
                      <a:pt x="1442" y="154"/>
                    </a:lnTo>
                    <a:lnTo>
                      <a:pt x="1389" y="154"/>
                    </a:lnTo>
                    <a:lnTo>
                      <a:pt x="1336" y="154"/>
                    </a:lnTo>
                    <a:lnTo>
                      <a:pt x="1282" y="154"/>
                    </a:lnTo>
                    <a:lnTo>
                      <a:pt x="1229" y="154"/>
                    </a:lnTo>
                    <a:lnTo>
                      <a:pt x="1176" y="153"/>
                    </a:lnTo>
                    <a:lnTo>
                      <a:pt x="1122" y="153"/>
                    </a:lnTo>
                    <a:lnTo>
                      <a:pt x="1069" y="153"/>
                    </a:lnTo>
                    <a:lnTo>
                      <a:pt x="1016" y="153"/>
                    </a:lnTo>
                    <a:lnTo>
                      <a:pt x="962" y="153"/>
                    </a:lnTo>
                    <a:lnTo>
                      <a:pt x="909" y="153"/>
                    </a:lnTo>
                    <a:lnTo>
                      <a:pt x="855" y="152"/>
                    </a:lnTo>
                    <a:lnTo>
                      <a:pt x="802" y="152"/>
                    </a:lnTo>
                    <a:lnTo>
                      <a:pt x="749" y="152"/>
                    </a:lnTo>
                    <a:lnTo>
                      <a:pt x="695" y="152"/>
                    </a:lnTo>
                    <a:lnTo>
                      <a:pt x="642" y="152"/>
                    </a:lnTo>
                    <a:lnTo>
                      <a:pt x="588" y="152"/>
                    </a:lnTo>
                    <a:lnTo>
                      <a:pt x="535" y="152"/>
                    </a:lnTo>
                    <a:lnTo>
                      <a:pt x="482" y="151"/>
                    </a:lnTo>
                    <a:lnTo>
                      <a:pt x="428" y="151"/>
                    </a:lnTo>
                    <a:lnTo>
                      <a:pt x="375" y="151"/>
                    </a:lnTo>
                    <a:lnTo>
                      <a:pt x="321" y="151"/>
                    </a:lnTo>
                    <a:lnTo>
                      <a:pt x="268" y="151"/>
                    </a:lnTo>
                    <a:lnTo>
                      <a:pt x="215" y="151"/>
                    </a:lnTo>
                    <a:lnTo>
                      <a:pt x="160" y="151"/>
                    </a:lnTo>
                    <a:lnTo>
                      <a:pt x="107" y="149"/>
                    </a:lnTo>
                    <a:lnTo>
                      <a:pt x="53" y="149"/>
                    </a:ln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4751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1" name="Freeform 60"/>
              <p:cNvSpPr>
                <a:spLocks/>
              </p:cNvSpPr>
              <p:nvPr/>
            </p:nvSpPr>
            <p:spPr bwMode="auto">
              <a:xfrm>
                <a:off x="1061" y="1923"/>
                <a:ext cx="23" cy="25"/>
              </a:xfrm>
              <a:custGeom>
                <a:avLst/>
                <a:gdLst>
                  <a:gd name="T0" fmla="*/ 0 w 48"/>
                  <a:gd name="T1" fmla="*/ 0 h 50"/>
                  <a:gd name="T2" fmla="*/ 0 w 48"/>
                  <a:gd name="T3" fmla="*/ 1 h 50"/>
                  <a:gd name="T4" fmla="*/ 0 w 48"/>
                  <a:gd name="T5" fmla="*/ 1 h 50"/>
                  <a:gd name="T6" fmla="*/ 0 w 48"/>
                  <a:gd name="T7" fmla="*/ 1 h 50"/>
                  <a:gd name="T8" fmla="*/ 0 w 48"/>
                  <a:gd name="T9" fmla="*/ 1 h 50"/>
                  <a:gd name="T10" fmla="*/ 0 w 48"/>
                  <a:gd name="T11" fmla="*/ 1 h 50"/>
                  <a:gd name="T12" fmla="*/ 0 w 48"/>
                  <a:gd name="T13" fmla="*/ 1 h 50"/>
                  <a:gd name="T14" fmla="*/ 0 w 48"/>
                  <a:gd name="T15" fmla="*/ 1 h 50"/>
                  <a:gd name="T16" fmla="*/ 0 w 48"/>
                  <a:gd name="T17" fmla="*/ 1 h 50"/>
                  <a:gd name="T18" fmla="*/ 0 w 48"/>
                  <a:gd name="T19" fmla="*/ 1 h 50"/>
                  <a:gd name="T20" fmla="*/ 0 w 48"/>
                  <a:gd name="T21" fmla="*/ 1 h 50"/>
                  <a:gd name="T22" fmla="*/ 0 w 48"/>
                  <a:gd name="T23" fmla="*/ 1 h 50"/>
                  <a:gd name="T24" fmla="*/ 0 w 48"/>
                  <a:gd name="T25" fmla="*/ 1 h 50"/>
                  <a:gd name="T26" fmla="*/ 0 w 48"/>
                  <a:gd name="T27" fmla="*/ 1 h 50"/>
                  <a:gd name="T28" fmla="*/ 0 w 48"/>
                  <a:gd name="T29" fmla="*/ 1 h 50"/>
                  <a:gd name="T30" fmla="*/ 0 w 48"/>
                  <a:gd name="T31" fmla="*/ 1 h 50"/>
                  <a:gd name="T32" fmla="*/ 0 w 48"/>
                  <a:gd name="T33" fmla="*/ 0 h 5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8"/>
                  <a:gd name="T52" fmla="*/ 0 h 50"/>
                  <a:gd name="T53" fmla="*/ 48 w 48"/>
                  <a:gd name="T54" fmla="*/ 50 h 5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8" h="50">
                    <a:moveTo>
                      <a:pt x="25" y="0"/>
                    </a:moveTo>
                    <a:lnTo>
                      <a:pt x="34" y="2"/>
                    </a:lnTo>
                    <a:lnTo>
                      <a:pt x="41" y="7"/>
                    </a:lnTo>
                    <a:lnTo>
                      <a:pt x="45" y="15"/>
                    </a:lnTo>
                    <a:lnTo>
                      <a:pt x="48" y="25"/>
                    </a:lnTo>
                    <a:lnTo>
                      <a:pt x="45" y="35"/>
                    </a:lnTo>
                    <a:lnTo>
                      <a:pt x="41" y="43"/>
                    </a:lnTo>
                    <a:lnTo>
                      <a:pt x="34" y="47"/>
                    </a:lnTo>
                    <a:lnTo>
                      <a:pt x="25" y="50"/>
                    </a:lnTo>
                    <a:lnTo>
                      <a:pt x="15" y="47"/>
                    </a:lnTo>
                    <a:lnTo>
                      <a:pt x="7" y="43"/>
                    </a:lnTo>
                    <a:lnTo>
                      <a:pt x="3" y="35"/>
                    </a:lnTo>
                    <a:lnTo>
                      <a:pt x="0" y="25"/>
                    </a:lnTo>
                    <a:lnTo>
                      <a:pt x="3" y="15"/>
                    </a:lnTo>
                    <a:lnTo>
                      <a:pt x="7" y="7"/>
                    </a:lnTo>
                    <a:lnTo>
                      <a:pt x="15" y="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2" name="Freeform 67"/>
              <p:cNvSpPr>
                <a:spLocks/>
              </p:cNvSpPr>
              <p:nvPr/>
            </p:nvSpPr>
            <p:spPr bwMode="auto">
              <a:xfrm>
                <a:off x="1125" y="1927"/>
                <a:ext cx="24" cy="24"/>
              </a:xfrm>
              <a:custGeom>
                <a:avLst/>
                <a:gdLst>
                  <a:gd name="T0" fmla="*/ 0 w 49"/>
                  <a:gd name="T1" fmla="*/ 0 h 50"/>
                  <a:gd name="T2" fmla="*/ 0 w 49"/>
                  <a:gd name="T3" fmla="*/ 0 h 50"/>
                  <a:gd name="T4" fmla="*/ 0 w 49"/>
                  <a:gd name="T5" fmla="*/ 0 h 50"/>
                  <a:gd name="T6" fmla="*/ 0 w 49"/>
                  <a:gd name="T7" fmla="*/ 0 h 50"/>
                  <a:gd name="T8" fmla="*/ 0 w 49"/>
                  <a:gd name="T9" fmla="*/ 0 h 50"/>
                  <a:gd name="T10" fmla="*/ 0 w 49"/>
                  <a:gd name="T11" fmla="*/ 0 h 50"/>
                  <a:gd name="T12" fmla="*/ 0 w 49"/>
                  <a:gd name="T13" fmla="*/ 0 h 50"/>
                  <a:gd name="T14" fmla="*/ 0 w 49"/>
                  <a:gd name="T15" fmla="*/ 0 h 50"/>
                  <a:gd name="T16" fmla="*/ 0 w 49"/>
                  <a:gd name="T17" fmla="*/ 0 h 50"/>
                  <a:gd name="T18" fmla="*/ 0 w 49"/>
                  <a:gd name="T19" fmla="*/ 0 h 50"/>
                  <a:gd name="T20" fmla="*/ 0 w 49"/>
                  <a:gd name="T21" fmla="*/ 0 h 50"/>
                  <a:gd name="T22" fmla="*/ 0 w 49"/>
                  <a:gd name="T23" fmla="*/ 0 h 50"/>
                  <a:gd name="T24" fmla="*/ 0 w 49"/>
                  <a:gd name="T25" fmla="*/ 0 h 50"/>
                  <a:gd name="T26" fmla="*/ 0 w 49"/>
                  <a:gd name="T27" fmla="*/ 0 h 50"/>
                  <a:gd name="T28" fmla="*/ 0 w 49"/>
                  <a:gd name="T29" fmla="*/ 0 h 50"/>
                  <a:gd name="T30" fmla="*/ 0 w 49"/>
                  <a:gd name="T31" fmla="*/ 0 h 50"/>
                  <a:gd name="T32" fmla="*/ 0 w 49"/>
                  <a:gd name="T33" fmla="*/ 0 h 5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9"/>
                  <a:gd name="T52" fmla="*/ 0 h 50"/>
                  <a:gd name="T53" fmla="*/ 49 w 49"/>
                  <a:gd name="T54" fmla="*/ 50 h 5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9" h="50">
                    <a:moveTo>
                      <a:pt x="26" y="0"/>
                    </a:moveTo>
                    <a:lnTo>
                      <a:pt x="34" y="2"/>
                    </a:lnTo>
                    <a:lnTo>
                      <a:pt x="42" y="7"/>
                    </a:lnTo>
                    <a:lnTo>
                      <a:pt x="46" y="15"/>
                    </a:lnTo>
                    <a:lnTo>
                      <a:pt x="49" y="24"/>
                    </a:lnTo>
                    <a:lnTo>
                      <a:pt x="46" y="33"/>
                    </a:lnTo>
                    <a:lnTo>
                      <a:pt x="42" y="42"/>
                    </a:lnTo>
                    <a:lnTo>
                      <a:pt x="34" y="47"/>
                    </a:lnTo>
                    <a:lnTo>
                      <a:pt x="26" y="50"/>
                    </a:lnTo>
                    <a:lnTo>
                      <a:pt x="16" y="47"/>
                    </a:lnTo>
                    <a:lnTo>
                      <a:pt x="8" y="42"/>
                    </a:lnTo>
                    <a:lnTo>
                      <a:pt x="3" y="33"/>
                    </a:lnTo>
                    <a:lnTo>
                      <a:pt x="0" y="24"/>
                    </a:lnTo>
                    <a:lnTo>
                      <a:pt x="3" y="15"/>
                    </a:lnTo>
                    <a:lnTo>
                      <a:pt x="8" y="7"/>
                    </a:lnTo>
                    <a:lnTo>
                      <a:pt x="16" y="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3" name="Freeform 72"/>
              <p:cNvSpPr>
                <a:spLocks/>
              </p:cNvSpPr>
              <p:nvPr/>
            </p:nvSpPr>
            <p:spPr bwMode="auto">
              <a:xfrm>
                <a:off x="1220" y="1923"/>
                <a:ext cx="35" cy="37"/>
              </a:xfrm>
              <a:custGeom>
                <a:avLst/>
                <a:gdLst>
                  <a:gd name="T0" fmla="*/ 0 w 71"/>
                  <a:gd name="T1" fmla="*/ 0 h 74"/>
                  <a:gd name="T2" fmla="*/ 0 w 71"/>
                  <a:gd name="T3" fmla="*/ 1 h 74"/>
                  <a:gd name="T4" fmla="*/ 0 w 71"/>
                  <a:gd name="T5" fmla="*/ 1 h 74"/>
                  <a:gd name="T6" fmla="*/ 0 w 71"/>
                  <a:gd name="T7" fmla="*/ 1 h 74"/>
                  <a:gd name="T8" fmla="*/ 0 w 71"/>
                  <a:gd name="T9" fmla="*/ 1 h 74"/>
                  <a:gd name="T10" fmla="*/ 0 w 71"/>
                  <a:gd name="T11" fmla="*/ 1 h 74"/>
                  <a:gd name="T12" fmla="*/ 0 w 71"/>
                  <a:gd name="T13" fmla="*/ 1 h 74"/>
                  <a:gd name="T14" fmla="*/ 0 w 71"/>
                  <a:gd name="T15" fmla="*/ 1 h 74"/>
                  <a:gd name="T16" fmla="*/ 0 w 71"/>
                  <a:gd name="T17" fmla="*/ 1 h 74"/>
                  <a:gd name="T18" fmla="*/ 0 w 71"/>
                  <a:gd name="T19" fmla="*/ 1 h 74"/>
                  <a:gd name="T20" fmla="*/ 0 w 71"/>
                  <a:gd name="T21" fmla="*/ 1 h 74"/>
                  <a:gd name="T22" fmla="*/ 0 w 71"/>
                  <a:gd name="T23" fmla="*/ 1 h 74"/>
                  <a:gd name="T24" fmla="*/ 0 w 71"/>
                  <a:gd name="T25" fmla="*/ 1 h 74"/>
                  <a:gd name="T26" fmla="*/ 0 w 71"/>
                  <a:gd name="T27" fmla="*/ 1 h 74"/>
                  <a:gd name="T28" fmla="*/ 0 w 71"/>
                  <a:gd name="T29" fmla="*/ 1 h 74"/>
                  <a:gd name="T30" fmla="*/ 0 w 71"/>
                  <a:gd name="T31" fmla="*/ 1 h 74"/>
                  <a:gd name="T32" fmla="*/ 0 w 71"/>
                  <a:gd name="T33" fmla="*/ 1 h 74"/>
                  <a:gd name="T34" fmla="*/ 0 w 71"/>
                  <a:gd name="T35" fmla="*/ 1 h 74"/>
                  <a:gd name="T36" fmla="*/ 0 w 71"/>
                  <a:gd name="T37" fmla="*/ 1 h 74"/>
                  <a:gd name="T38" fmla="*/ 0 w 71"/>
                  <a:gd name="T39" fmla="*/ 1 h 74"/>
                  <a:gd name="T40" fmla="*/ 0 w 71"/>
                  <a:gd name="T41" fmla="*/ 1 h 74"/>
                  <a:gd name="T42" fmla="*/ 0 w 71"/>
                  <a:gd name="T43" fmla="*/ 1 h 74"/>
                  <a:gd name="T44" fmla="*/ 0 w 71"/>
                  <a:gd name="T45" fmla="*/ 1 h 74"/>
                  <a:gd name="T46" fmla="*/ 0 w 71"/>
                  <a:gd name="T47" fmla="*/ 1 h 74"/>
                  <a:gd name="T48" fmla="*/ 0 w 71"/>
                  <a:gd name="T49" fmla="*/ 1 h 74"/>
                  <a:gd name="T50" fmla="*/ 0 w 71"/>
                  <a:gd name="T51" fmla="*/ 1 h 74"/>
                  <a:gd name="T52" fmla="*/ 0 w 71"/>
                  <a:gd name="T53" fmla="*/ 1 h 74"/>
                  <a:gd name="T54" fmla="*/ 0 w 71"/>
                  <a:gd name="T55" fmla="*/ 1 h 74"/>
                  <a:gd name="T56" fmla="*/ 0 w 71"/>
                  <a:gd name="T57" fmla="*/ 1 h 74"/>
                  <a:gd name="T58" fmla="*/ 0 w 71"/>
                  <a:gd name="T59" fmla="*/ 1 h 74"/>
                  <a:gd name="T60" fmla="*/ 0 w 71"/>
                  <a:gd name="T61" fmla="*/ 1 h 74"/>
                  <a:gd name="T62" fmla="*/ 0 w 71"/>
                  <a:gd name="T63" fmla="*/ 1 h 74"/>
                  <a:gd name="T64" fmla="*/ 0 w 71"/>
                  <a:gd name="T65" fmla="*/ 0 h 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1"/>
                  <a:gd name="T100" fmla="*/ 0 h 74"/>
                  <a:gd name="T101" fmla="*/ 71 w 71"/>
                  <a:gd name="T102" fmla="*/ 74 h 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1" h="74">
                    <a:moveTo>
                      <a:pt x="36" y="0"/>
                    </a:moveTo>
                    <a:lnTo>
                      <a:pt x="43" y="1"/>
                    </a:lnTo>
                    <a:lnTo>
                      <a:pt x="49" y="2"/>
                    </a:lnTo>
                    <a:lnTo>
                      <a:pt x="56" y="6"/>
                    </a:lnTo>
                    <a:lnTo>
                      <a:pt x="60" y="10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1" y="37"/>
                    </a:lnTo>
                    <a:lnTo>
                      <a:pt x="69" y="44"/>
                    </a:lnTo>
                    <a:lnTo>
                      <a:pt x="68" y="51"/>
                    </a:lnTo>
                    <a:lnTo>
                      <a:pt x="65" y="58"/>
                    </a:lnTo>
                    <a:lnTo>
                      <a:pt x="60" y="62"/>
                    </a:lnTo>
                    <a:lnTo>
                      <a:pt x="56" y="67"/>
                    </a:lnTo>
                    <a:lnTo>
                      <a:pt x="49" y="70"/>
                    </a:lnTo>
                    <a:lnTo>
                      <a:pt x="43" y="73"/>
                    </a:lnTo>
                    <a:lnTo>
                      <a:pt x="36" y="74"/>
                    </a:lnTo>
                    <a:lnTo>
                      <a:pt x="29" y="73"/>
                    </a:lnTo>
                    <a:lnTo>
                      <a:pt x="22" y="70"/>
                    </a:lnTo>
                    <a:lnTo>
                      <a:pt x="17" y="67"/>
                    </a:lnTo>
                    <a:lnTo>
                      <a:pt x="11" y="62"/>
                    </a:lnTo>
                    <a:lnTo>
                      <a:pt x="6" y="58"/>
                    </a:lnTo>
                    <a:lnTo>
                      <a:pt x="3" y="51"/>
                    </a:lnTo>
                    <a:lnTo>
                      <a:pt x="2" y="44"/>
                    </a:lnTo>
                    <a:lnTo>
                      <a:pt x="0" y="37"/>
                    </a:lnTo>
                    <a:lnTo>
                      <a:pt x="2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0"/>
                    </a:lnTo>
                    <a:lnTo>
                      <a:pt x="17" y="6"/>
                    </a:lnTo>
                    <a:lnTo>
                      <a:pt x="22" y="2"/>
                    </a:lnTo>
                    <a:lnTo>
                      <a:pt x="29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4" name="Freeform 73"/>
              <p:cNvSpPr>
                <a:spLocks/>
              </p:cNvSpPr>
              <p:nvPr/>
            </p:nvSpPr>
            <p:spPr bwMode="auto">
              <a:xfrm>
                <a:off x="1295" y="1924"/>
                <a:ext cx="35" cy="37"/>
              </a:xfrm>
              <a:custGeom>
                <a:avLst/>
                <a:gdLst>
                  <a:gd name="T0" fmla="*/ 1 w 69"/>
                  <a:gd name="T1" fmla="*/ 0 h 74"/>
                  <a:gd name="T2" fmla="*/ 1 w 69"/>
                  <a:gd name="T3" fmla="*/ 1 h 74"/>
                  <a:gd name="T4" fmla="*/ 1 w 69"/>
                  <a:gd name="T5" fmla="*/ 1 h 74"/>
                  <a:gd name="T6" fmla="*/ 1 w 69"/>
                  <a:gd name="T7" fmla="*/ 1 h 74"/>
                  <a:gd name="T8" fmla="*/ 1 w 69"/>
                  <a:gd name="T9" fmla="*/ 1 h 74"/>
                  <a:gd name="T10" fmla="*/ 1 w 69"/>
                  <a:gd name="T11" fmla="*/ 1 h 74"/>
                  <a:gd name="T12" fmla="*/ 1 w 69"/>
                  <a:gd name="T13" fmla="*/ 1 h 74"/>
                  <a:gd name="T14" fmla="*/ 1 w 69"/>
                  <a:gd name="T15" fmla="*/ 1 h 74"/>
                  <a:gd name="T16" fmla="*/ 1 w 69"/>
                  <a:gd name="T17" fmla="*/ 1 h 74"/>
                  <a:gd name="T18" fmla="*/ 1 w 69"/>
                  <a:gd name="T19" fmla="*/ 1 h 74"/>
                  <a:gd name="T20" fmla="*/ 1 w 69"/>
                  <a:gd name="T21" fmla="*/ 1 h 74"/>
                  <a:gd name="T22" fmla="*/ 1 w 69"/>
                  <a:gd name="T23" fmla="*/ 1 h 74"/>
                  <a:gd name="T24" fmla="*/ 1 w 69"/>
                  <a:gd name="T25" fmla="*/ 1 h 74"/>
                  <a:gd name="T26" fmla="*/ 1 w 69"/>
                  <a:gd name="T27" fmla="*/ 1 h 74"/>
                  <a:gd name="T28" fmla="*/ 1 w 69"/>
                  <a:gd name="T29" fmla="*/ 1 h 74"/>
                  <a:gd name="T30" fmla="*/ 1 w 69"/>
                  <a:gd name="T31" fmla="*/ 1 h 74"/>
                  <a:gd name="T32" fmla="*/ 1 w 69"/>
                  <a:gd name="T33" fmla="*/ 1 h 74"/>
                  <a:gd name="T34" fmla="*/ 1 w 69"/>
                  <a:gd name="T35" fmla="*/ 1 h 74"/>
                  <a:gd name="T36" fmla="*/ 1 w 69"/>
                  <a:gd name="T37" fmla="*/ 1 h 74"/>
                  <a:gd name="T38" fmla="*/ 1 w 69"/>
                  <a:gd name="T39" fmla="*/ 1 h 74"/>
                  <a:gd name="T40" fmla="*/ 1 w 69"/>
                  <a:gd name="T41" fmla="*/ 1 h 74"/>
                  <a:gd name="T42" fmla="*/ 1 w 69"/>
                  <a:gd name="T43" fmla="*/ 1 h 74"/>
                  <a:gd name="T44" fmla="*/ 1 w 69"/>
                  <a:gd name="T45" fmla="*/ 1 h 74"/>
                  <a:gd name="T46" fmla="*/ 1 w 69"/>
                  <a:gd name="T47" fmla="*/ 1 h 74"/>
                  <a:gd name="T48" fmla="*/ 0 w 69"/>
                  <a:gd name="T49" fmla="*/ 1 h 74"/>
                  <a:gd name="T50" fmla="*/ 1 w 69"/>
                  <a:gd name="T51" fmla="*/ 1 h 74"/>
                  <a:gd name="T52" fmla="*/ 1 w 69"/>
                  <a:gd name="T53" fmla="*/ 1 h 74"/>
                  <a:gd name="T54" fmla="*/ 1 w 69"/>
                  <a:gd name="T55" fmla="*/ 1 h 74"/>
                  <a:gd name="T56" fmla="*/ 1 w 69"/>
                  <a:gd name="T57" fmla="*/ 1 h 74"/>
                  <a:gd name="T58" fmla="*/ 1 w 69"/>
                  <a:gd name="T59" fmla="*/ 1 h 74"/>
                  <a:gd name="T60" fmla="*/ 1 w 69"/>
                  <a:gd name="T61" fmla="*/ 1 h 74"/>
                  <a:gd name="T62" fmla="*/ 1 w 69"/>
                  <a:gd name="T63" fmla="*/ 1 h 74"/>
                  <a:gd name="T64" fmla="*/ 1 w 69"/>
                  <a:gd name="T65" fmla="*/ 0 h 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74"/>
                  <a:gd name="T101" fmla="*/ 69 w 69"/>
                  <a:gd name="T102" fmla="*/ 74 h 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74">
                    <a:moveTo>
                      <a:pt x="35" y="0"/>
                    </a:moveTo>
                    <a:lnTo>
                      <a:pt x="42" y="1"/>
                    </a:lnTo>
                    <a:lnTo>
                      <a:pt x="49" y="3"/>
                    </a:lnTo>
                    <a:lnTo>
                      <a:pt x="54" y="6"/>
                    </a:lnTo>
                    <a:lnTo>
                      <a:pt x="59" y="11"/>
                    </a:lnTo>
                    <a:lnTo>
                      <a:pt x="64" y="16"/>
                    </a:lnTo>
                    <a:lnTo>
                      <a:pt x="67" y="22"/>
                    </a:lnTo>
                    <a:lnTo>
                      <a:pt x="68" y="29"/>
                    </a:lnTo>
                    <a:lnTo>
                      <a:pt x="69" y="37"/>
                    </a:lnTo>
                    <a:lnTo>
                      <a:pt x="68" y="44"/>
                    </a:lnTo>
                    <a:lnTo>
                      <a:pt x="67" y="51"/>
                    </a:lnTo>
                    <a:lnTo>
                      <a:pt x="64" y="58"/>
                    </a:lnTo>
                    <a:lnTo>
                      <a:pt x="59" y="62"/>
                    </a:lnTo>
                    <a:lnTo>
                      <a:pt x="54" y="67"/>
                    </a:lnTo>
                    <a:lnTo>
                      <a:pt x="49" y="71"/>
                    </a:lnTo>
                    <a:lnTo>
                      <a:pt x="42" y="73"/>
                    </a:lnTo>
                    <a:lnTo>
                      <a:pt x="35" y="74"/>
                    </a:lnTo>
                    <a:lnTo>
                      <a:pt x="28" y="73"/>
                    </a:lnTo>
                    <a:lnTo>
                      <a:pt x="22" y="71"/>
                    </a:lnTo>
                    <a:lnTo>
                      <a:pt x="15" y="67"/>
                    </a:lnTo>
                    <a:lnTo>
                      <a:pt x="11" y="62"/>
                    </a:lnTo>
                    <a:lnTo>
                      <a:pt x="6" y="58"/>
                    </a:lnTo>
                    <a:lnTo>
                      <a:pt x="3" y="51"/>
                    </a:lnTo>
                    <a:lnTo>
                      <a:pt x="1" y="44"/>
                    </a:lnTo>
                    <a:lnTo>
                      <a:pt x="0" y="37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5" y="6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Freeform 85"/>
              <p:cNvSpPr>
                <a:spLocks/>
              </p:cNvSpPr>
              <p:nvPr/>
            </p:nvSpPr>
            <p:spPr bwMode="auto">
              <a:xfrm>
                <a:off x="1058" y="1923"/>
                <a:ext cx="23" cy="25"/>
              </a:xfrm>
              <a:custGeom>
                <a:avLst/>
                <a:gdLst>
                  <a:gd name="T0" fmla="*/ 0 w 47"/>
                  <a:gd name="T1" fmla="*/ 0 h 50"/>
                  <a:gd name="T2" fmla="*/ 0 w 47"/>
                  <a:gd name="T3" fmla="*/ 1 h 50"/>
                  <a:gd name="T4" fmla="*/ 0 w 47"/>
                  <a:gd name="T5" fmla="*/ 1 h 50"/>
                  <a:gd name="T6" fmla="*/ 0 w 47"/>
                  <a:gd name="T7" fmla="*/ 1 h 50"/>
                  <a:gd name="T8" fmla="*/ 0 w 47"/>
                  <a:gd name="T9" fmla="*/ 1 h 50"/>
                  <a:gd name="T10" fmla="*/ 0 w 47"/>
                  <a:gd name="T11" fmla="*/ 1 h 50"/>
                  <a:gd name="T12" fmla="*/ 0 w 47"/>
                  <a:gd name="T13" fmla="*/ 1 h 50"/>
                  <a:gd name="T14" fmla="*/ 0 w 47"/>
                  <a:gd name="T15" fmla="*/ 1 h 50"/>
                  <a:gd name="T16" fmla="*/ 0 w 47"/>
                  <a:gd name="T17" fmla="*/ 1 h 50"/>
                  <a:gd name="T18" fmla="*/ 0 w 47"/>
                  <a:gd name="T19" fmla="*/ 1 h 50"/>
                  <a:gd name="T20" fmla="*/ 0 w 47"/>
                  <a:gd name="T21" fmla="*/ 1 h 50"/>
                  <a:gd name="T22" fmla="*/ 0 w 47"/>
                  <a:gd name="T23" fmla="*/ 1 h 50"/>
                  <a:gd name="T24" fmla="*/ 0 w 47"/>
                  <a:gd name="T25" fmla="*/ 1 h 50"/>
                  <a:gd name="T26" fmla="*/ 0 w 47"/>
                  <a:gd name="T27" fmla="*/ 1 h 50"/>
                  <a:gd name="T28" fmla="*/ 0 w 47"/>
                  <a:gd name="T29" fmla="*/ 1 h 50"/>
                  <a:gd name="T30" fmla="*/ 0 w 47"/>
                  <a:gd name="T31" fmla="*/ 1 h 50"/>
                  <a:gd name="T32" fmla="*/ 0 w 47"/>
                  <a:gd name="T33" fmla="*/ 0 h 5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7"/>
                  <a:gd name="T52" fmla="*/ 0 h 50"/>
                  <a:gd name="T53" fmla="*/ 47 w 47"/>
                  <a:gd name="T54" fmla="*/ 50 h 5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7" h="50">
                    <a:moveTo>
                      <a:pt x="24" y="0"/>
                    </a:moveTo>
                    <a:lnTo>
                      <a:pt x="33" y="2"/>
                    </a:lnTo>
                    <a:lnTo>
                      <a:pt x="40" y="7"/>
                    </a:lnTo>
                    <a:lnTo>
                      <a:pt x="45" y="15"/>
                    </a:lnTo>
                    <a:lnTo>
                      <a:pt x="47" y="25"/>
                    </a:lnTo>
                    <a:lnTo>
                      <a:pt x="45" y="35"/>
                    </a:lnTo>
                    <a:lnTo>
                      <a:pt x="40" y="43"/>
                    </a:lnTo>
                    <a:lnTo>
                      <a:pt x="33" y="47"/>
                    </a:lnTo>
                    <a:lnTo>
                      <a:pt x="24" y="50"/>
                    </a:lnTo>
                    <a:lnTo>
                      <a:pt x="15" y="47"/>
                    </a:lnTo>
                    <a:lnTo>
                      <a:pt x="7" y="43"/>
                    </a:lnTo>
                    <a:lnTo>
                      <a:pt x="2" y="35"/>
                    </a:lnTo>
                    <a:lnTo>
                      <a:pt x="0" y="25"/>
                    </a:lnTo>
                    <a:lnTo>
                      <a:pt x="2" y="15"/>
                    </a:lnTo>
                    <a:lnTo>
                      <a:pt x="7" y="7"/>
                    </a:lnTo>
                    <a:lnTo>
                      <a:pt x="15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Freeform 92"/>
              <p:cNvSpPr>
                <a:spLocks/>
              </p:cNvSpPr>
              <p:nvPr/>
            </p:nvSpPr>
            <p:spPr bwMode="auto">
              <a:xfrm>
                <a:off x="1122" y="1927"/>
                <a:ext cx="23" cy="24"/>
              </a:xfrm>
              <a:custGeom>
                <a:avLst/>
                <a:gdLst>
                  <a:gd name="T0" fmla="*/ 0 w 47"/>
                  <a:gd name="T1" fmla="*/ 0 h 50"/>
                  <a:gd name="T2" fmla="*/ 0 w 47"/>
                  <a:gd name="T3" fmla="*/ 0 h 50"/>
                  <a:gd name="T4" fmla="*/ 0 w 47"/>
                  <a:gd name="T5" fmla="*/ 0 h 50"/>
                  <a:gd name="T6" fmla="*/ 0 w 47"/>
                  <a:gd name="T7" fmla="*/ 0 h 50"/>
                  <a:gd name="T8" fmla="*/ 0 w 47"/>
                  <a:gd name="T9" fmla="*/ 0 h 50"/>
                  <a:gd name="T10" fmla="*/ 0 w 47"/>
                  <a:gd name="T11" fmla="*/ 0 h 50"/>
                  <a:gd name="T12" fmla="*/ 0 w 47"/>
                  <a:gd name="T13" fmla="*/ 0 h 50"/>
                  <a:gd name="T14" fmla="*/ 0 w 47"/>
                  <a:gd name="T15" fmla="*/ 0 h 50"/>
                  <a:gd name="T16" fmla="*/ 0 w 47"/>
                  <a:gd name="T17" fmla="*/ 0 h 50"/>
                  <a:gd name="T18" fmla="*/ 0 w 47"/>
                  <a:gd name="T19" fmla="*/ 0 h 50"/>
                  <a:gd name="T20" fmla="*/ 0 w 47"/>
                  <a:gd name="T21" fmla="*/ 0 h 50"/>
                  <a:gd name="T22" fmla="*/ 0 w 47"/>
                  <a:gd name="T23" fmla="*/ 0 h 50"/>
                  <a:gd name="T24" fmla="*/ 0 w 47"/>
                  <a:gd name="T25" fmla="*/ 0 h 50"/>
                  <a:gd name="T26" fmla="*/ 0 w 47"/>
                  <a:gd name="T27" fmla="*/ 0 h 50"/>
                  <a:gd name="T28" fmla="*/ 0 w 47"/>
                  <a:gd name="T29" fmla="*/ 0 h 50"/>
                  <a:gd name="T30" fmla="*/ 0 w 47"/>
                  <a:gd name="T31" fmla="*/ 0 h 50"/>
                  <a:gd name="T32" fmla="*/ 0 w 47"/>
                  <a:gd name="T33" fmla="*/ 0 h 5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7"/>
                  <a:gd name="T52" fmla="*/ 0 h 50"/>
                  <a:gd name="T53" fmla="*/ 47 w 47"/>
                  <a:gd name="T54" fmla="*/ 50 h 5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7" h="50">
                    <a:moveTo>
                      <a:pt x="24" y="0"/>
                    </a:moveTo>
                    <a:lnTo>
                      <a:pt x="33" y="2"/>
                    </a:lnTo>
                    <a:lnTo>
                      <a:pt x="40" y="7"/>
                    </a:lnTo>
                    <a:lnTo>
                      <a:pt x="44" y="15"/>
                    </a:lnTo>
                    <a:lnTo>
                      <a:pt x="47" y="24"/>
                    </a:lnTo>
                    <a:lnTo>
                      <a:pt x="44" y="33"/>
                    </a:lnTo>
                    <a:lnTo>
                      <a:pt x="40" y="42"/>
                    </a:lnTo>
                    <a:lnTo>
                      <a:pt x="33" y="47"/>
                    </a:lnTo>
                    <a:lnTo>
                      <a:pt x="24" y="50"/>
                    </a:lnTo>
                    <a:lnTo>
                      <a:pt x="15" y="47"/>
                    </a:lnTo>
                    <a:lnTo>
                      <a:pt x="6" y="42"/>
                    </a:lnTo>
                    <a:lnTo>
                      <a:pt x="2" y="33"/>
                    </a:lnTo>
                    <a:lnTo>
                      <a:pt x="0" y="24"/>
                    </a:lnTo>
                    <a:lnTo>
                      <a:pt x="2" y="15"/>
                    </a:lnTo>
                    <a:lnTo>
                      <a:pt x="6" y="7"/>
                    </a:lnTo>
                    <a:lnTo>
                      <a:pt x="15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7" name="Freeform 97"/>
              <p:cNvSpPr>
                <a:spLocks/>
              </p:cNvSpPr>
              <p:nvPr/>
            </p:nvSpPr>
            <p:spPr bwMode="auto">
              <a:xfrm>
                <a:off x="1216" y="1923"/>
                <a:ext cx="34" cy="37"/>
              </a:xfrm>
              <a:custGeom>
                <a:avLst/>
                <a:gdLst>
                  <a:gd name="T0" fmla="*/ 0 w 69"/>
                  <a:gd name="T1" fmla="*/ 0 h 74"/>
                  <a:gd name="T2" fmla="*/ 0 w 69"/>
                  <a:gd name="T3" fmla="*/ 1 h 74"/>
                  <a:gd name="T4" fmla="*/ 0 w 69"/>
                  <a:gd name="T5" fmla="*/ 1 h 74"/>
                  <a:gd name="T6" fmla="*/ 0 w 69"/>
                  <a:gd name="T7" fmla="*/ 1 h 74"/>
                  <a:gd name="T8" fmla="*/ 0 w 69"/>
                  <a:gd name="T9" fmla="*/ 1 h 74"/>
                  <a:gd name="T10" fmla="*/ 0 w 69"/>
                  <a:gd name="T11" fmla="*/ 1 h 74"/>
                  <a:gd name="T12" fmla="*/ 0 w 69"/>
                  <a:gd name="T13" fmla="*/ 1 h 74"/>
                  <a:gd name="T14" fmla="*/ 0 w 69"/>
                  <a:gd name="T15" fmla="*/ 1 h 74"/>
                  <a:gd name="T16" fmla="*/ 0 w 69"/>
                  <a:gd name="T17" fmla="*/ 1 h 74"/>
                  <a:gd name="T18" fmla="*/ 0 w 69"/>
                  <a:gd name="T19" fmla="*/ 1 h 74"/>
                  <a:gd name="T20" fmla="*/ 0 w 69"/>
                  <a:gd name="T21" fmla="*/ 1 h 74"/>
                  <a:gd name="T22" fmla="*/ 0 w 69"/>
                  <a:gd name="T23" fmla="*/ 1 h 74"/>
                  <a:gd name="T24" fmla="*/ 0 w 69"/>
                  <a:gd name="T25" fmla="*/ 1 h 74"/>
                  <a:gd name="T26" fmla="*/ 0 w 69"/>
                  <a:gd name="T27" fmla="*/ 1 h 74"/>
                  <a:gd name="T28" fmla="*/ 0 w 69"/>
                  <a:gd name="T29" fmla="*/ 1 h 74"/>
                  <a:gd name="T30" fmla="*/ 0 w 69"/>
                  <a:gd name="T31" fmla="*/ 1 h 74"/>
                  <a:gd name="T32" fmla="*/ 0 w 69"/>
                  <a:gd name="T33" fmla="*/ 1 h 74"/>
                  <a:gd name="T34" fmla="*/ 0 w 69"/>
                  <a:gd name="T35" fmla="*/ 1 h 74"/>
                  <a:gd name="T36" fmla="*/ 0 w 69"/>
                  <a:gd name="T37" fmla="*/ 1 h 74"/>
                  <a:gd name="T38" fmla="*/ 0 w 69"/>
                  <a:gd name="T39" fmla="*/ 1 h 74"/>
                  <a:gd name="T40" fmla="*/ 0 w 69"/>
                  <a:gd name="T41" fmla="*/ 1 h 74"/>
                  <a:gd name="T42" fmla="*/ 0 w 69"/>
                  <a:gd name="T43" fmla="*/ 1 h 74"/>
                  <a:gd name="T44" fmla="*/ 0 w 69"/>
                  <a:gd name="T45" fmla="*/ 1 h 74"/>
                  <a:gd name="T46" fmla="*/ 0 w 69"/>
                  <a:gd name="T47" fmla="*/ 1 h 74"/>
                  <a:gd name="T48" fmla="*/ 0 w 69"/>
                  <a:gd name="T49" fmla="*/ 0 h 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9"/>
                  <a:gd name="T76" fmla="*/ 0 h 74"/>
                  <a:gd name="T77" fmla="*/ 69 w 69"/>
                  <a:gd name="T78" fmla="*/ 74 h 7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9" h="74">
                    <a:moveTo>
                      <a:pt x="36" y="0"/>
                    </a:moveTo>
                    <a:lnTo>
                      <a:pt x="49" y="2"/>
                    </a:lnTo>
                    <a:lnTo>
                      <a:pt x="59" y="10"/>
                    </a:lnTo>
                    <a:lnTo>
                      <a:pt x="67" y="22"/>
                    </a:lnTo>
                    <a:lnTo>
                      <a:pt x="69" y="37"/>
                    </a:lnTo>
                    <a:lnTo>
                      <a:pt x="67" y="51"/>
                    </a:lnTo>
                    <a:lnTo>
                      <a:pt x="59" y="62"/>
                    </a:lnTo>
                    <a:lnTo>
                      <a:pt x="49" y="70"/>
                    </a:lnTo>
                    <a:lnTo>
                      <a:pt x="36" y="74"/>
                    </a:lnTo>
                    <a:lnTo>
                      <a:pt x="29" y="73"/>
                    </a:lnTo>
                    <a:lnTo>
                      <a:pt x="22" y="70"/>
                    </a:lnTo>
                    <a:lnTo>
                      <a:pt x="15" y="67"/>
                    </a:lnTo>
                    <a:lnTo>
                      <a:pt x="11" y="62"/>
                    </a:lnTo>
                    <a:lnTo>
                      <a:pt x="6" y="58"/>
                    </a:lnTo>
                    <a:lnTo>
                      <a:pt x="3" y="51"/>
                    </a:lnTo>
                    <a:lnTo>
                      <a:pt x="1" y="44"/>
                    </a:lnTo>
                    <a:lnTo>
                      <a:pt x="0" y="37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0"/>
                    </a:lnTo>
                    <a:lnTo>
                      <a:pt x="15" y="6"/>
                    </a:lnTo>
                    <a:lnTo>
                      <a:pt x="22" y="2"/>
                    </a:lnTo>
                    <a:lnTo>
                      <a:pt x="29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8" name="Freeform 98"/>
              <p:cNvSpPr>
                <a:spLocks/>
              </p:cNvSpPr>
              <p:nvPr/>
            </p:nvSpPr>
            <p:spPr bwMode="auto">
              <a:xfrm>
                <a:off x="1291" y="1924"/>
                <a:ext cx="34" cy="37"/>
              </a:xfrm>
              <a:custGeom>
                <a:avLst/>
                <a:gdLst>
                  <a:gd name="T0" fmla="*/ 0 w 69"/>
                  <a:gd name="T1" fmla="*/ 0 h 74"/>
                  <a:gd name="T2" fmla="*/ 0 w 69"/>
                  <a:gd name="T3" fmla="*/ 1 h 74"/>
                  <a:gd name="T4" fmla="*/ 0 w 69"/>
                  <a:gd name="T5" fmla="*/ 1 h 74"/>
                  <a:gd name="T6" fmla="*/ 0 w 69"/>
                  <a:gd name="T7" fmla="*/ 1 h 74"/>
                  <a:gd name="T8" fmla="*/ 0 w 69"/>
                  <a:gd name="T9" fmla="*/ 1 h 74"/>
                  <a:gd name="T10" fmla="*/ 0 w 69"/>
                  <a:gd name="T11" fmla="*/ 1 h 74"/>
                  <a:gd name="T12" fmla="*/ 0 w 69"/>
                  <a:gd name="T13" fmla="*/ 1 h 74"/>
                  <a:gd name="T14" fmla="*/ 0 w 69"/>
                  <a:gd name="T15" fmla="*/ 1 h 74"/>
                  <a:gd name="T16" fmla="*/ 0 w 69"/>
                  <a:gd name="T17" fmla="*/ 1 h 74"/>
                  <a:gd name="T18" fmla="*/ 0 w 69"/>
                  <a:gd name="T19" fmla="*/ 1 h 74"/>
                  <a:gd name="T20" fmla="*/ 0 w 69"/>
                  <a:gd name="T21" fmla="*/ 1 h 74"/>
                  <a:gd name="T22" fmla="*/ 0 w 69"/>
                  <a:gd name="T23" fmla="*/ 1 h 74"/>
                  <a:gd name="T24" fmla="*/ 0 w 69"/>
                  <a:gd name="T25" fmla="*/ 1 h 74"/>
                  <a:gd name="T26" fmla="*/ 0 w 69"/>
                  <a:gd name="T27" fmla="*/ 1 h 74"/>
                  <a:gd name="T28" fmla="*/ 0 w 69"/>
                  <a:gd name="T29" fmla="*/ 1 h 74"/>
                  <a:gd name="T30" fmla="*/ 0 w 69"/>
                  <a:gd name="T31" fmla="*/ 1 h 74"/>
                  <a:gd name="T32" fmla="*/ 0 w 69"/>
                  <a:gd name="T33" fmla="*/ 1 h 74"/>
                  <a:gd name="T34" fmla="*/ 0 w 69"/>
                  <a:gd name="T35" fmla="*/ 1 h 74"/>
                  <a:gd name="T36" fmla="*/ 0 w 69"/>
                  <a:gd name="T37" fmla="*/ 1 h 74"/>
                  <a:gd name="T38" fmla="*/ 0 w 69"/>
                  <a:gd name="T39" fmla="*/ 1 h 74"/>
                  <a:gd name="T40" fmla="*/ 0 w 69"/>
                  <a:gd name="T41" fmla="*/ 1 h 74"/>
                  <a:gd name="T42" fmla="*/ 0 w 69"/>
                  <a:gd name="T43" fmla="*/ 1 h 74"/>
                  <a:gd name="T44" fmla="*/ 0 w 69"/>
                  <a:gd name="T45" fmla="*/ 1 h 74"/>
                  <a:gd name="T46" fmla="*/ 0 w 69"/>
                  <a:gd name="T47" fmla="*/ 1 h 74"/>
                  <a:gd name="T48" fmla="*/ 0 w 69"/>
                  <a:gd name="T49" fmla="*/ 1 h 74"/>
                  <a:gd name="T50" fmla="*/ 0 w 69"/>
                  <a:gd name="T51" fmla="*/ 1 h 74"/>
                  <a:gd name="T52" fmla="*/ 0 w 69"/>
                  <a:gd name="T53" fmla="*/ 1 h 74"/>
                  <a:gd name="T54" fmla="*/ 0 w 69"/>
                  <a:gd name="T55" fmla="*/ 1 h 74"/>
                  <a:gd name="T56" fmla="*/ 0 w 69"/>
                  <a:gd name="T57" fmla="*/ 1 h 74"/>
                  <a:gd name="T58" fmla="*/ 0 w 69"/>
                  <a:gd name="T59" fmla="*/ 1 h 74"/>
                  <a:gd name="T60" fmla="*/ 0 w 69"/>
                  <a:gd name="T61" fmla="*/ 1 h 74"/>
                  <a:gd name="T62" fmla="*/ 0 w 69"/>
                  <a:gd name="T63" fmla="*/ 1 h 74"/>
                  <a:gd name="T64" fmla="*/ 0 w 69"/>
                  <a:gd name="T65" fmla="*/ 0 h 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74"/>
                  <a:gd name="T101" fmla="*/ 69 w 69"/>
                  <a:gd name="T102" fmla="*/ 74 h 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74">
                    <a:moveTo>
                      <a:pt x="35" y="0"/>
                    </a:moveTo>
                    <a:lnTo>
                      <a:pt x="42" y="1"/>
                    </a:lnTo>
                    <a:lnTo>
                      <a:pt x="48" y="3"/>
                    </a:lnTo>
                    <a:lnTo>
                      <a:pt x="54" y="6"/>
                    </a:lnTo>
                    <a:lnTo>
                      <a:pt x="59" y="11"/>
                    </a:lnTo>
                    <a:lnTo>
                      <a:pt x="63" y="16"/>
                    </a:lnTo>
                    <a:lnTo>
                      <a:pt x="67" y="22"/>
                    </a:lnTo>
                    <a:lnTo>
                      <a:pt x="68" y="29"/>
                    </a:lnTo>
                    <a:lnTo>
                      <a:pt x="69" y="37"/>
                    </a:lnTo>
                    <a:lnTo>
                      <a:pt x="68" y="44"/>
                    </a:lnTo>
                    <a:lnTo>
                      <a:pt x="67" y="51"/>
                    </a:lnTo>
                    <a:lnTo>
                      <a:pt x="63" y="58"/>
                    </a:lnTo>
                    <a:lnTo>
                      <a:pt x="59" y="62"/>
                    </a:lnTo>
                    <a:lnTo>
                      <a:pt x="54" y="67"/>
                    </a:lnTo>
                    <a:lnTo>
                      <a:pt x="48" y="71"/>
                    </a:lnTo>
                    <a:lnTo>
                      <a:pt x="42" y="73"/>
                    </a:lnTo>
                    <a:lnTo>
                      <a:pt x="35" y="74"/>
                    </a:lnTo>
                    <a:lnTo>
                      <a:pt x="28" y="73"/>
                    </a:lnTo>
                    <a:lnTo>
                      <a:pt x="22" y="71"/>
                    </a:lnTo>
                    <a:lnTo>
                      <a:pt x="15" y="67"/>
                    </a:lnTo>
                    <a:lnTo>
                      <a:pt x="10" y="62"/>
                    </a:lnTo>
                    <a:lnTo>
                      <a:pt x="6" y="58"/>
                    </a:lnTo>
                    <a:lnTo>
                      <a:pt x="2" y="51"/>
                    </a:lnTo>
                    <a:lnTo>
                      <a:pt x="1" y="44"/>
                    </a:lnTo>
                    <a:lnTo>
                      <a:pt x="0" y="37"/>
                    </a:lnTo>
                    <a:lnTo>
                      <a:pt x="1" y="29"/>
                    </a:lnTo>
                    <a:lnTo>
                      <a:pt x="2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5" y="6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9" name="Freeform 103"/>
              <p:cNvSpPr>
                <a:spLocks/>
              </p:cNvSpPr>
              <p:nvPr/>
            </p:nvSpPr>
            <p:spPr bwMode="auto">
              <a:xfrm>
                <a:off x="1061" y="1926"/>
                <a:ext cx="18" cy="19"/>
              </a:xfrm>
              <a:custGeom>
                <a:avLst/>
                <a:gdLst>
                  <a:gd name="T0" fmla="*/ 0 w 37"/>
                  <a:gd name="T1" fmla="*/ 0 h 38"/>
                  <a:gd name="T2" fmla="*/ 0 w 37"/>
                  <a:gd name="T3" fmla="*/ 1 h 38"/>
                  <a:gd name="T4" fmla="*/ 0 w 37"/>
                  <a:gd name="T5" fmla="*/ 1 h 38"/>
                  <a:gd name="T6" fmla="*/ 0 w 37"/>
                  <a:gd name="T7" fmla="*/ 1 h 38"/>
                  <a:gd name="T8" fmla="*/ 0 w 37"/>
                  <a:gd name="T9" fmla="*/ 1 h 38"/>
                  <a:gd name="T10" fmla="*/ 0 w 37"/>
                  <a:gd name="T11" fmla="*/ 1 h 38"/>
                  <a:gd name="T12" fmla="*/ 0 w 37"/>
                  <a:gd name="T13" fmla="*/ 1 h 38"/>
                  <a:gd name="T14" fmla="*/ 0 w 37"/>
                  <a:gd name="T15" fmla="*/ 1 h 38"/>
                  <a:gd name="T16" fmla="*/ 0 w 37"/>
                  <a:gd name="T17" fmla="*/ 1 h 38"/>
                  <a:gd name="T18" fmla="*/ 0 w 37"/>
                  <a:gd name="T19" fmla="*/ 1 h 38"/>
                  <a:gd name="T20" fmla="*/ 0 w 37"/>
                  <a:gd name="T21" fmla="*/ 1 h 38"/>
                  <a:gd name="T22" fmla="*/ 0 w 37"/>
                  <a:gd name="T23" fmla="*/ 1 h 38"/>
                  <a:gd name="T24" fmla="*/ 0 w 37"/>
                  <a:gd name="T25" fmla="*/ 1 h 38"/>
                  <a:gd name="T26" fmla="*/ 0 w 37"/>
                  <a:gd name="T27" fmla="*/ 1 h 38"/>
                  <a:gd name="T28" fmla="*/ 0 w 37"/>
                  <a:gd name="T29" fmla="*/ 1 h 38"/>
                  <a:gd name="T30" fmla="*/ 0 w 37"/>
                  <a:gd name="T31" fmla="*/ 1 h 38"/>
                  <a:gd name="T32" fmla="*/ 0 w 37"/>
                  <a:gd name="T33" fmla="*/ 0 h 3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7"/>
                  <a:gd name="T52" fmla="*/ 0 h 38"/>
                  <a:gd name="T53" fmla="*/ 37 w 37"/>
                  <a:gd name="T54" fmla="*/ 38 h 3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7" h="38">
                    <a:moveTo>
                      <a:pt x="19" y="0"/>
                    </a:moveTo>
                    <a:lnTo>
                      <a:pt x="26" y="1"/>
                    </a:lnTo>
                    <a:lnTo>
                      <a:pt x="32" y="6"/>
                    </a:lnTo>
                    <a:lnTo>
                      <a:pt x="36" y="11"/>
                    </a:lnTo>
                    <a:lnTo>
                      <a:pt x="37" y="19"/>
                    </a:lnTo>
                    <a:lnTo>
                      <a:pt x="36" y="26"/>
                    </a:lnTo>
                    <a:lnTo>
                      <a:pt x="32" y="32"/>
                    </a:lnTo>
                    <a:lnTo>
                      <a:pt x="26" y="37"/>
                    </a:lnTo>
                    <a:lnTo>
                      <a:pt x="19" y="38"/>
                    </a:lnTo>
                    <a:lnTo>
                      <a:pt x="12" y="37"/>
                    </a:lnTo>
                    <a:lnTo>
                      <a:pt x="6" y="32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2" y="11"/>
                    </a:lnTo>
                    <a:lnTo>
                      <a:pt x="6" y="6"/>
                    </a:lnTo>
                    <a:lnTo>
                      <a:pt x="12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0" name="Freeform 110"/>
              <p:cNvSpPr>
                <a:spLocks/>
              </p:cNvSpPr>
              <p:nvPr/>
            </p:nvSpPr>
            <p:spPr bwMode="auto">
              <a:xfrm>
                <a:off x="1125" y="1929"/>
                <a:ext cx="18" cy="19"/>
              </a:xfrm>
              <a:custGeom>
                <a:avLst/>
                <a:gdLst>
                  <a:gd name="T0" fmla="*/ 0 w 37"/>
                  <a:gd name="T1" fmla="*/ 0 h 39"/>
                  <a:gd name="T2" fmla="*/ 0 w 37"/>
                  <a:gd name="T3" fmla="*/ 0 h 39"/>
                  <a:gd name="T4" fmla="*/ 0 w 37"/>
                  <a:gd name="T5" fmla="*/ 0 h 39"/>
                  <a:gd name="T6" fmla="*/ 0 w 37"/>
                  <a:gd name="T7" fmla="*/ 0 h 39"/>
                  <a:gd name="T8" fmla="*/ 0 w 37"/>
                  <a:gd name="T9" fmla="*/ 0 h 39"/>
                  <a:gd name="T10" fmla="*/ 0 w 37"/>
                  <a:gd name="T11" fmla="*/ 0 h 39"/>
                  <a:gd name="T12" fmla="*/ 0 w 37"/>
                  <a:gd name="T13" fmla="*/ 0 h 39"/>
                  <a:gd name="T14" fmla="*/ 0 w 37"/>
                  <a:gd name="T15" fmla="*/ 0 h 39"/>
                  <a:gd name="T16" fmla="*/ 0 w 37"/>
                  <a:gd name="T17" fmla="*/ 0 h 39"/>
                  <a:gd name="T18" fmla="*/ 0 w 37"/>
                  <a:gd name="T19" fmla="*/ 0 h 39"/>
                  <a:gd name="T20" fmla="*/ 0 w 37"/>
                  <a:gd name="T21" fmla="*/ 0 h 39"/>
                  <a:gd name="T22" fmla="*/ 0 w 37"/>
                  <a:gd name="T23" fmla="*/ 0 h 39"/>
                  <a:gd name="T24" fmla="*/ 0 w 37"/>
                  <a:gd name="T25" fmla="*/ 0 h 39"/>
                  <a:gd name="T26" fmla="*/ 0 w 37"/>
                  <a:gd name="T27" fmla="*/ 0 h 39"/>
                  <a:gd name="T28" fmla="*/ 0 w 37"/>
                  <a:gd name="T29" fmla="*/ 0 h 39"/>
                  <a:gd name="T30" fmla="*/ 0 w 37"/>
                  <a:gd name="T31" fmla="*/ 0 h 39"/>
                  <a:gd name="T32" fmla="*/ 0 w 37"/>
                  <a:gd name="T33" fmla="*/ 0 h 3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7"/>
                  <a:gd name="T52" fmla="*/ 0 h 39"/>
                  <a:gd name="T53" fmla="*/ 37 w 37"/>
                  <a:gd name="T54" fmla="*/ 39 h 3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7" h="39">
                    <a:moveTo>
                      <a:pt x="19" y="0"/>
                    </a:moveTo>
                    <a:lnTo>
                      <a:pt x="26" y="1"/>
                    </a:lnTo>
                    <a:lnTo>
                      <a:pt x="31" y="5"/>
                    </a:lnTo>
                    <a:lnTo>
                      <a:pt x="36" y="12"/>
                    </a:lnTo>
                    <a:lnTo>
                      <a:pt x="37" y="19"/>
                    </a:lnTo>
                    <a:lnTo>
                      <a:pt x="36" y="26"/>
                    </a:lnTo>
                    <a:lnTo>
                      <a:pt x="31" y="33"/>
                    </a:lnTo>
                    <a:lnTo>
                      <a:pt x="26" y="38"/>
                    </a:lnTo>
                    <a:lnTo>
                      <a:pt x="19" y="39"/>
                    </a:lnTo>
                    <a:lnTo>
                      <a:pt x="12" y="38"/>
                    </a:lnTo>
                    <a:lnTo>
                      <a:pt x="6" y="33"/>
                    </a:lnTo>
                    <a:lnTo>
                      <a:pt x="1" y="26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6" y="5"/>
                    </a:lnTo>
                    <a:lnTo>
                      <a:pt x="12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1" name="Freeform 115"/>
              <p:cNvSpPr>
                <a:spLocks/>
              </p:cNvSpPr>
              <p:nvPr/>
            </p:nvSpPr>
            <p:spPr bwMode="auto">
              <a:xfrm>
                <a:off x="1220" y="1927"/>
                <a:ext cx="27" cy="28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0"/>
                    </a:moveTo>
                    <a:lnTo>
                      <a:pt x="38" y="2"/>
                    </a:lnTo>
                    <a:lnTo>
                      <a:pt x="46" y="8"/>
                    </a:lnTo>
                    <a:lnTo>
                      <a:pt x="52" y="17"/>
                    </a:lnTo>
                    <a:lnTo>
                      <a:pt x="55" y="28"/>
                    </a:lnTo>
                    <a:lnTo>
                      <a:pt x="52" y="39"/>
                    </a:lnTo>
                    <a:lnTo>
                      <a:pt x="46" y="49"/>
                    </a:lnTo>
                    <a:lnTo>
                      <a:pt x="38" y="54"/>
                    </a:lnTo>
                    <a:lnTo>
                      <a:pt x="28" y="57"/>
                    </a:lnTo>
                    <a:lnTo>
                      <a:pt x="17" y="54"/>
                    </a:lnTo>
                    <a:lnTo>
                      <a:pt x="8" y="49"/>
                    </a:lnTo>
                    <a:lnTo>
                      <a:pt x="3" y="39"/>
                    </a:lnTo>
                    <a:lnTo>
                      <a:pt x="0" y="28"/>
                    </a:lnTo>
                    <a:lnTo>
                      <a:pt x="3" y="17"/>
                    </a:lnTo>
                    <a:lnTo>
                      <a:pt x="8" y="8"/>
                    </a:lnTo>
                    <a:lnTo>
                      <a:pt x="17" y="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2" name="Freeform 116"/>
              <p:cNvSpPr>
                <a:spLocks/>
              </p:cNvSpPr>
              <p:nvPr/>
            </p:nvSpPr>
            <p:spPr bwMode="auto">
              <a:xfrm>
                <a:off x="1295" y="1928"/>
                <a:ext cx="27" cy="28"/>
              </a:xfrm>
              <a:custGeom>
                <a:avLst/>
                <a:gdLst>
                  <a:gd name="T0" fmla="*/ 1 w 54"/>
                  <a:gd name="T1" fmla="*/ 0 h 57"/>
                  <a:gd name="T2" fmla="*/ 1 w 54"/>
                  <a:gd name="T3" fmla="*/ 0 h 57"/>
                  <a:gd name="T4" fmla="*/ 1 w 54"/>
                  <a:gd name="T5" fmla="*/ 0 h 57"/>
                  <a:gd name="T6" fmla="*/ 1 w 54"/>
                  <a:gd name="T7" fmla="*/ 0 h 57"/>
                  <a:gd name="T8" fmla="*/ 1 w 54"/>
                  <a:gd name="T9" fmla="*/ 0 h 57"/>
                  <a:gd name="T10" fmla="*/ 1 w 54"/>
                  <a:gd name="T11" fmla="*/ 0 h 57"/>
                  <a:gd name="T12" fmla="*/ 1 w 54"/>
                  <a:gd name="T13" fmla="*/ 0 h 57"/>
                  <a:gd name="T14" fmla="*/ 1 w 54"/>
                  <a:gd name="T15" fmla="*/ 0 h 57"/>
                  <a:gd name="T16" fmla="*/ 1 w 54"/>
                  <a:gd name="T17" fmla="*/ 0 h 57"/>
                  <a:gd name="T18" fmla="*/ 1 w 54"/>
                  <a:gd name="T19" fmla="*/ 0 h 57"/>
                  <a:gd name="T20" fmla="*/ 1 w 54"/>
                  <a:gd name="T21" fmla="*/ 0 h 57"/>
                  <a:gd name="T22" fmla="*/ 1 w 54"/>
                  <a:gd name="T23" fmla="*/ 0 h 57"/>
                  <a:gd name="T24" fmla="*/ 0 w 54"/>
                  <a:gd name="T25" fmla="*/ 0 h 57"/>
                  <a:gd name="T26" fmla="*/ 1 w 54"/>
                  <a:gd name="T27" fmla="*/ 0 h 57"/>
                  <a:gd name="T28" fmla="*/ 1 w 54"/>
                  <a:gd name="T29" fmla="*/ 0 h 57"/>
                  <a:gd name="T30" fmla="*/ 1 w 54"/>
                  <a:gd name="T31" fmla="*/ 0 h 57"/>
                  <a:gd name="T32" fmla="*/ 1 w 5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4"/>
                  <a:gd name="T52" fmla="*/ 0 h 57"/>
                  <a:gd name="T53" fmla="*/ 54 w 5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4" h="57">
                    <a:moveTo>
                      <a:pt x="28" y="0"/>
                    </a:moveTo>
                    <a:lnTo>
                      <a:pt x="38" y="3"/>
                    </a:lnTo>
                    <a:lnTo>
                      <a:pt x="46" y="8"/>
                    </a:lnTo>
                    <a:lnTo>
                      <a:pt x="52" y="18"/>
                    </a:lnTo>
                    <a:lnTo>
                      <a:pt x="54" y="29"/>
                    </a:lnTo>
                    <a:lnTo>
                      <a:pt x="52" y="40"/>
                    </a:lnTo>
                    <a:lnTo>
                      <a:pt x="46" y="49"/>
                    </a:lnTo>
                    <a:lnTo>
                      <a:pt x="38" y="54"/>
                    </a:lnTo>
                    <a:lnTo>
                      <a:pt x="28" y="57"/>
                    </a:lnTo>
                    <a:lnTo>
                      <a:pt x="17" y="54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9"/>
                    </a:lnTo>
                    <a:lnTo>
                      <a:pt x="2" y="18"/>
                    </a:lnTo>
                    <a:lnTo>
                      <a:pt x="8" y="8"/>
                    </a:lnTo>
                    <a:lnTo>
                      <a:pt x="17" y="3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3" name="Freeform 121"/>
              <p:cNvSpPr>
                <a:spLocks/>
              </p:cNvSpPr>
              <p:nvPr/>
            </p:nvSpPr>
            <p:spPr bwMode="auto">
              <a:xfrm>
                <a:off x="1066" y="1932"/>
                <a:ext cx="7" cy="7"/>
              </a:xfrm>
              <a:custGeom>
                <a:avLst/>
                <a:gdLst>
                  <a:gd name="T0" fmla="*/ 1 w 14"/>
                  <a:gd name="T1" fmla="*/ 0 h 14"/>
                  <a:gd name="T2" fmla="*/ 1 w 14"/>
                  <a:gd name="T3" fmla="*/ 1 h 14"/>
                  <a:gd name="T4" fmla="*/ 1 w 14"/>
                  <a:gd name="T5" fmla="*/ 1 h 14"/>
                  <a:gd name="T6" fmla="*/ 1 w 14"/>
                  <a:gd name="T7" fmla="*/ 1 h 14"/>
                  <a:gd name="T8" fmla="*/ 1 w 14"/>
                  <a:gd name="T9" fmla="*/ 1 h 14"/>
                  <a:gd name="T10" fmla="*/ 1 w 14"/>
                  <a:gd name="T11" fmla="*/ 1 h 14"/>
                  <a:gd name="T12" fmla="*/ 1 w 14"/>
                  <a:gd name="T13" fmla="*/ 1 h 14"/>
                  <a:gd name="T14" fmla="*/ 1 w 14"/>
                  <a:gd name="T15" fmla="*/ 1 h 14"/>
                  <a:gd name="T16" fmla="*/ 1 w 14"/>
                  <a:gd name="T17" fmla="*/ 1 h 14"/>
                  <a:gd name="T18" fmla="*/ 1 w 14"/>
                  <a:gd name="T19" fmla="*/ 1 h 14"/>
                  <a:gd name="T20" fmla="*/ 1 w 14"/>
                  <a:gd name="T21" fmla="*/ 1 h 14"/>
                  <a:gd name="T22" fmla="*/ 1 w 14"/>
                  <a:gd name="T23" fmla="*/ 1 h 14"/>
                  <a:gd name="T24" fmla="*/ 0 w 14"/>
                  <a:gd name="T25" fmla="*/ 1 h 14"/>
                  <a:gd name="T26" fmla="*/ 1 w 14"/>
                  <a:gd name="T27" fmla="*/ 1 h 14"/>
                  <a:gd name="T28" fmla="*/ 1 w 14"/>
                  <a:gd name="T29" fmla="*/ 1 h 14"/>
                  <a:gd name="T30" fmla="*/ 1 w 14"/>
                  <a:gd name="T31" fmla="*/ 1 h 14"/>
                  <a:gd name="T32" fmla="*/ 1 w 14"/>
                  <a:gd name="T33" fmla="*/ 0 h 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14"/>
                  <a:gd name="T53" fmla="*/ 14 w 14"/>
                  <a:gd name="T54" fmla="*/ 14 h 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14">
                    <a:moveTo>
                      <a:pt x="7" y="0"/>
                    </a:moveTo>
                    <a:lnTo>
                      <a:pt x="10" y="2"/>
                    </a:lnTo>
                    <a:lnTo>
                      <a:pt x="13" y="3"/>
                    </a:lnTo>
                    <a:lnTo>
                      <a:pt x="14" y="5"/>
                    </a:lnTo>
                    <a:lnTo>
                      <a:pt x="14" y="7"/>
                    </a:lnTo>
                    <a:lnTo>
                      <a:pt x="14" y="11"/>
                    </a:lnTo>
                    <a:lnTo>
                      <a:pt x="13" y="12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5" y="14"/>
                    </a:lnTo>
                    <a:lnTo>
                      <a:pt x="2" y="12"/>
                    </a:lnTo>
                    <a:lnTo>
                      <a:pt x="1" y="11"/>
                    </a:lnTo>
                    <a:lnTo>
                      <a:pt x="0" y="7"/>
                    </a:lnTo>
                    <a:lnTo>
                      <a:pt x="1" y="5"/>
                    </a:lnTo>
                    <a:lnTo>
                      <a:pt x="2" y="3"/>
                    </a:lnTo>
                    <a:lnTo>
                      <a:pt x="5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4" name="Freeform 128"/>
              <p:cNvSpPr>
                <a:spLocks/>
              </p:cNvSpPr>
              <p:nvPr/>
            </p:nvSpPr>
            <p:spPr bwMode="auto">
              <a:xfrm>
                <a:off x="1130" y="1935"/>
                <a:ext cx="7" cy="7"/>
              </a:xfrm>
              <a:custGeom>
                <a:avLst/>
                <a:gdLst>
                  <a:gd name="T0" fmla="*/ 1 w 14"/>
                  <a:gd name="T1" fmla="*/ 0 h 15"/>
                  <a:gd name="T2" fmla="*/ 1 w 14"/>
                  <a:gd name="T3" fmla="*/ 0 h 15"/>
                  <a:gd name="T4" fmla="*/ 1 w 14"/>
                  <a:gd name="T5" fmla="*/ 0 h 15"/>
                  <a:gd name="T6" fmla="*/ 1 w 14"/>
                  <a:gd name="T7" fmla="*/ 0 h 15"/>
                  <a:gd name="T8" fmla="*/ 1 w 14"/>
                  <a:gd name="T9" fmla="*/ 0 h 15"/>
                  <a:gd name="T10" fmla="*/ 1 w 14"/>
                  <a:gd name="T11" fmla="*/ 0 h 15"/>
                  <a:gd name="T12" fmla="*/ 1 w 14"/>
                  <a:gd name="T13" fmla="*/ 0 h 15"/>
                  <a:gd name="T14" fmla="*/ 1 w 14"/>
                  <a:gd name="T15" fmla="*/ 0 h 15"/>
                  <a:gd name="T16" fmla="*/ 1 w 14"/>
                  <a:gd name="T17" fmla="*/ 0 h 15"/>
                  <a:gd name="T18" fmla="*/ 1 w 14"/>
                  <a:gd name="T19" fmla="*/ 0 h 15"/>
                  <a:gd name="T20" fmla="*/ 1 w 14"/>
                  <a:gd name="T21" fmla="*/ 0 h 15"/>
                  <a:gd name="T22" fmla="*/ 1 w 14"/>
                  <a:gd name="T23" fmla="*/ 0 h 15"/>
                  <a:gd name="T24" fmla="*/ 0 w 14"/>
                  <a:gd name="T25" fmla="*/ 0 h 15"/>
                  <a:gd name="T26" fmla="*/ 1 w 14"/>
                  <a:gd name="T27" fmla="*/ 0 h 15"/>
                  <a:gd name="T28" fmla="*/ 1 w 14"/>
                  <a:gd name="T29" fmla="*/ 0 h 15"/>
                  <a:gd name="T30" fmla="*/ 1 w 14"/>
                  <a:gd name="T31" fmla="*/ 0 h 15"/>
                  <a:gd name="T32" fmla="*/ 1 w 14"/>
                  <a:gd name="T33" fmla="*/ 0 h 1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15"/>
                  <a:gd name="T53" fmla="*/ 14 w 14"/>
                  <a:gd name="T54" fmla="*/ 15 h 1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15">
                    <a:moveTo>
                      <a:pt x="7" y="0"/>
                    </a:moveTo>
                    <a:lnTo>
                      <a:pt x="10" y="1"/>
                    </a:lnTo>
                    <a:lnTo>
                      <a:pt x="13" y="2"/>
                    </a:lnTo>
                    <a:lnTo>
                      <a:pt x="14" y="5"/>
                    </a:lnTo>
                    <a:lnTo>
                      <a:pt x="14" y="7"/>
                    </a:lnTo>
                    <a:lnTo>
                      <a:pt x="14" y="11"/>
                    </a:lnTo>
                    <a:lnTo>
                      <a:pt x="13" y="13"/>
                    </a:lnTo>
                    <a:lnTo>
                      <a:pt x="10" y="14"/>
                    </a:lnTo>
                    <a:lnTo>
                      <a:pt x="7" y="15"/>
                    </a:lnTo>
                    <a:lnTo>
                      <a:pt x="4" y="14"/>
                    </a:lnTo>
                    <a:lnTo>
                      <a:pt x="2" y="13"/>
                    </a:lnTo>
                    <a:lnTo>
                      <a:pt x="1" y="11"/>
                    </a:lnTo>
                    <a:lnTo>
                      <a:pt x="0" y="7"/>
                    </a:lnTo>
                    <a:lnTo>
                      <a:pt x="1" y="5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5" name="Freeform 133"/>
              <p:cNvSpPr>
                <a:spLocks/>
              </p:cNvSpPr>
              <p:nvPr/>
            </p:nvSpPr>
            <p:spPr bwMode="auto">
              <a:xfrm>
                <a:off x="1228" y="1935"/>
                <a:ext cx="11" cy="11"/>
              </a:xfrm>
              <a:custGeom>
                <a:avLst/>
                <a:gdLst>
                  <a:gd name="T0" fmla="*/ 1 w 20"/>
                  <a:gd name="T1" fmla="*/ 0 h 22"/>
                  <a:gd name="T2" fmla="*/ 1 w 20"/>
                  <a:gd name="T3" fmla="*/ 1 h 22"/>
                  <a:gd name="T4" fmla="*/ 1 w 20"/>
                  <a:gd name="T5" fmla="*/ 1 h 22"/>
                  <a:gd name="T6" fmla="*/ 1 w 20"/>
                  <a:gd name="T7" fmla="*/ 1 h 22"/>
                  <a:gd name="T8" fmla="*/ 1 w 20"/>
                  <a:gd name="T9" fmla="*/ 1 h 22"/>
                  <a:gd name="T10" fmla="*/ 1 w 20"/>
                  <a:gd name="T11" fmla="*/ 1 h 22"/>
                  <a:gd name="T12" fmla="*/ 1 w 20"/>
                  <a:gd name="T13" fmla="*/ 1 h 22"/>
                  <a:gd name="T14" fmla="*/ 1 w 20"/>
                  <a:gd name="T15" fmla="*/ 1 h 22"/>
                  <a:gd name="T16" fmla="*/ 1 w 20"/>
                  <a:gd name="T17" fmla="*/ 1 h 22"/>
                  <a:gd name="T18" fmla="*/ 1 w 20"/>
                  <a:gd name="T19" fmla="*/ 1 h 22"/>
                  <a:gd name="T20" fmla="*/ 1 w 20"/>
                  <a:gd name="T21" fmla="*/ 1 h 22"/>
                  <a:gd name="T22" fmla="*/ 1 w 20"/>
                  <a:gd name="T23" fmla="*/ 1 h 22"/>
                  <a:gd name="T24" fmla="*/ 0 w 20"/>
                  <a:gd name="T25" fmla="*/ 1 h 22"/>
                  <a:gd name="T26" fmla="*/ 1 w 20"/>
                  <a:gd name="T27" fmla="*/ 1 h 22"/>
                  <a:gd name="T28" fmla="*/ 1 w 20"/>
                  <a:gd name="T29" fmla="*/ 1 h 22"/>
                  <a:gd name="T30" fmla="*/ 1 w 20"/>
                  <a:gd name="T31" fmla="*/ 1 h 22"/>
                  <a:gd name="T32" fmla="*/ 1 w 20"/>
                  <a:gd name="T33" fmla="*/ 0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0"/>
                  <a:gd name="T52" fmla="*/ 0 h 22"/>
                  <a:gd name="T53" fmla="*/ 20 w 20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0" h="22">
                    <a:moveTo>
                      <a:pt x="10" y="0"/>
                    </a:moveTo>
                    <a:lnTo>
                      <a:pt x="15" y="1"/>
                    </a:lnTo>
                    <a:lnTo>
                      <a:pt x="17" y="4"/>
                    </a:lnTo>
                    <a:lnTo>
                      <a:pt x="19" y="7"/>
                    </a:lnTo>
                    <a:lnTo>
                      <a:pt x="20" y="12"/>
                    </a:lnTo>
                    <a:lnTo>
                      <a:pt x="19" y="16"/>
                    </a:lnTo>
                    <a:lnTo>
                      <a:pt x="17" y="19"/>
                    </a:lnTo>
                    <a:lnTo>
                      <a:pt x="15" y="21"/>
                    </a:lnTo>
                    <a:lnTo>
                      <a:pt x="10" y="22"/>
                    </a:lnTo>
                    <a:lnTo>
                      <a:pt x="5" y="21"/>
                    </a:lnTo>
                    <a:lnTo>
                      <a:pt x="3" y="19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6" name="Freeform 134"/>
              <p:cNvSpPr>
                <a:spLocks/>
              </p:cNvSpPr>
              <p:nvPr/>
            </p:nvSpPr>
            <p:spPr bwMode="auto">
              <a:xfrm>
                <a:off x="1303" y="1936"/>
                <a:ext cx="11" cy="11"/>
              </a:xfrm>
              <a:custGeom>
                <a:avLst/>
                <a:gdLst>
                  <a:gd name="T0" fmla="*/ 1 w 21"/>
                  <a:gd name="T1" fmla="*/ 0 h 22"/>
                  <a:gd name="T2" fmla="*/ 1 w 21"/>
                  <a:gd name="T3" fmla="*/ 1 h 22"/>
                  <a:gd name="T4" fmla="*/ 1 w 21"/>
                  <a:gd name="T5" fmla="*/ 1 h 22"/>
                  <a:gd name="T6" fmla="*/ 1 w 21"/>
                  <a:gd name="T7" fmla="*/ 1 h 22"/>
                  <a:gd name="T8" fmla="*/ 1 w 21"/>
                  <a:gd name="T9" fmla="*/ 1 h 22"/>
                  <a:gd name="T10" fmla="*/ 1 w 21"/>
                  <a:gd name="T11" fmla="*/ 1 h 22"/>
                  <a:gd name="T12" fmla="*/ 1 w 21"/>
                  <a:gd name="T13" fmla="*/ 1 h 22"/>
                  <a:gd name="T14" fmla="*/ 1 w 21"/>
                  <a:gd name="T15" fmla="*/ 1 h 22"/>
                  <a:gd name="T16" fmla="*/ 1 w 21"/>
                  <a:gd name="T17" fmla="*/ 1 h 22"/>
                  <a:gd name="T18" fmla="*/ 1 w 21"/>
                  <a:gd name="T19" fmla="*/ 1 h 22"/>
                  <a:gd name="T20" fmla="*/ 1 w 21"/>
                  <a:gd name="T21" fmla="*/ 1 h 22"/>
                  <a:gd name="T22" fmla="*/ 1 w 21"/>
                  <a:gd name="T23" fmla="*/ 1 h 22"/>
                  <a:gd name="T24" fmla="*/ 0 w 21"/>
                  <a:gd name="T25" fmla="*/ 1 h 22"/>
                  <a:gd name="T26" fmla="*/ 1 w 21"/>
                  <a:gd name="T27" fmla="*/ 1 h 22"/>
                  <a:gd name="T28" fmla="*/ 1 w 21"/>
                  <a:gd name="T29" fmla="*/ 1 h 22"/>
                  <a:gd name="T30" fmla="*/ 1 w 21"/>
                  <a:gd name="T31" fmla="*/ 1 h 22"/>
                  <a:gd name="T32" fmla="*/ 1 w 21"/>
                  <a:gd name="T33" fmla="*/ 0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2"/>
                  <a:gd name="T53" fmla="*/ 21 w 21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2">
                    <a:moveTo>
                      <a:pt x="11" y="0"/>
                    </a:moveTo>
                    <a:lnTo>
                      <a:pt x="15" y="2"/>
                    </a:lnTo>
                    <a:lnTo>
                      <a:pt x="18" y="4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7"/>
                    </a:lnTo>
                    <a:lnTo>
                      <a:pt x="18" y="19"/>
                    </a:lnTo>
                    <a:lnTo>
                      <a:pt x="15" y="21"/>
                    </a:lnTo>
                    <a:lnTo>
                      <a:pt x="11" y="22"/>
                    </a:lnTo>
                    <a:lnTo>
                      <a:pt x="6" y="21"/>
                    </a:lnTo>
                    <a:lnTo>
                      <a:pt x="4" y="19"/>
                    </a:lnTo>
                    <a:lnTo>
                      <a:pt x="2" y="17"/>
                    </a:lnTo>
                    <a:lnTo>
                      <a:pt x="0" y="12"/>
                    </a:lnTo>
                    <a:lnTo>
                      <a:pt x="2" y="7"/>
                    </a:lnTo>
                    <a:lnTo>
                      <a:pt x="4" y="4"/>
                    </a:lnTo>
                    <a:lnTo>
                      <a:pt x="6" y="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66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7" name="Rectangle 148"/>
              <p:cNvSpPr>
                <a:spLocks noChangeArrowheads="1"/>
              </p:cNvSpPr>
              <p:nvPr/>
            </p:nvSpPr>
            <p:spPr bwMode="auto">
              <a:xfrm>
                <a:off x="417" y="1912"/>
                <a:ext cx="242" cy="15"/>
              </a:xfrm>
              <a:prstGeom prst="rect">
                <a:avLst/>
              </a:prstGeom>
              <a:solidFill>
                <a:srgbClr val="2B26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8" name="Rectangle 149"/>
              <p:cNvSpPr>
                <a:spLocks noChangeArrowheads="1"/>
              </p:cNvSpPr>
              <p:nvPr/>
            </p:nvSpPr>
            <p:spPr bwMode="auto">
              <a:xfrm>
                <a:off x="723" y="1936"/>
                <a:ext cx="280" cy="35"/>
              </a:xfrm>
              <a:prstGeom prst="rect">
                <a:avLst/>
              </a:prstGeom>
              <a:solidFill>
                <a:srgbClr val="143F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9" name="Rectangle 150"/>
              <p:cNvSpPr>
                <a:spLocks noChangeArrowheads="1"/>
              </p:cNvSpPr>
              <p:nvPr/>
            </p:nvSpPr>
            <p:spPr bwMode="auto">
              <a:xfrm>
                <a:off x="737" y="1941"/>
                <a:ext cx="9" cy="15"/>
              </a:xfrm>
              <a:prstGeom prst="rect">
                <a:avLst/>
              </a:prstGeom>
              <a:solidFill>
                <a:srgbClr val="518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0" name="Rectangle 151"/>
              <p:cNvSpPr>
                <a:spLocks noChangeArrowheads="1"/>
              </p:cNvSpPr>
              <p:nvPr/>
            </p:nvSpPr>
            <p:spPr bwMode="auto">
              <a:xfrm>
                <a:off x="757" y="1941"/>
                <a:ext cx="8" cy="15"/>
              </a:xfrm>
              <a:prstGeom prst="rect">
                <a:avLst/>
              </a:prstGeom>
              <a:solidFill>
                <a:srgbClr val="518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1" name="Rectangle 152"/>
              <p:cNvSpPr>
                <a:spLocks noChangeArrowheads="1"/>
              </p:cNvSpPr>
              <p:nvPr/>
            </p:nvSpPr>
            <p:spPr bwMode="auto">
              <a:xfrm>
                <a:off x="784" y="1941"/>
                <a:ext cx="9" cy="15"/>
              </a:xfrm>
              <a:prstGeom prst="rect">
                <a:avLst/>
              </a:prstGeom>
              <a:solidFill>
                <a:srgbClr val="518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2" name="Rectangle 153"/>
              <p:cNvSpPr>
                <a:spLocks noChangeArrowheads="1"/>
              </p:cNvSpPr>
              <p:nvPr/>
            </p:nvSpPr>
            <p:spPr bwMode="auto">
              <a:xfrm>
                <a:off x="874" y="1945"/>
                <a:ext cx="8" cy="15"/>
              </a:xfrm>
              <a:prstGeom prst="rect">
                <a:avLst/>
              </a:prstGeom>
              <a:solidFill>
                <a:srgbClr val="518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85" name="TextBox 327"/>
            <p:cNvSpPr txBox="1">
              <a:spLocks noChangeArrowheads="1"/>
            </p:cNvSpPr>
            <p:nvPr/>
          </p:nvSpPr>
          <p:spPr bwMode="auto">
            <a:xfrm>
              <a:off x="228600" y="5405735"/>
              <a:ext cx="8215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Digital</a:t>
              </a:r>
            </a:p>
            <a:p>
              <a:pPr algn="ctr" eaLnBrk="1" hangingPunct="1"/>
              <a:r>
                <a:rPr lang="en-US" sz="1200"/>
                <a:t>Cable TV</a:t>
              </a:r>
            </a:p>
          </p:txBody>
        </p:sp>
      </p:grpSp>
      <p:grpSp>
        <p:nvGrpSpPr>
          <p:cNvPr id="18440" name="Group 366"/>
          <p:cNvGrpSpPr>
            <a:grpSpLocks/>
          </p:cNvGrpSpPr>
          <p:nvPr/>
        </p:nvGrpSpPr>
        <p:grpSpPr bwMode="auto">
          <a:xfrm>
            <a:off x="7818439" y="2971801"/>
            <a:ext cx="1857375" cy="1647825"/>
            <a:chOff x="6096000" y="2971800"/>
            <a:chExt cx="1856598" cy="1648599"/>
          </a:xfrm>
        </p:grpSpPr>
        <p:pic>
          <p:nvPicPr>
            <p:cNvPr id="18482" name="Picture 16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299" y="2971800"/>
              <a:ext cx="15240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83" name="TextBox 332"/>
            <p:cNvSpPr txBox="1">
              <a:spLocks noChangeArrowheads="1"/>
            </p:cNvSpPr>
            <p:nvPr/>
          </p:nvSpPr>
          <p:spPr bwMode="auto">
            <a:xfrm>
              <a:off x="6096000" y="4343400"/>
              <a:ext cx="185659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Surround Sound System</a:t>
              </a:r>
            </a:p>
          </p:txBody>
        </p:sp>
      </p:grpSp>
      <p:cxnSp>
        <p:nvCxnSpPr>
          <p:cNvPr id="335" name="Straight Connector 334"/>
          <p:cNvCxnSpPr/>
          <p:nvPr/>
        </p:nvCxnSpPr>
        <p:spPr>
          <a:xfrm flipH="1">
            <a:off x="6751638" y="3884614"/>
            <a:ext cx="366712" cy="3175"/>
          </a:xfrm>
          <a:prstGeom prst="line">
            <a:avLst/>
          </a:prstGeom>
          <a:ln w="12700">
            <a:solidFill>
              <a:srgbClr val="FF000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/>
          <p:nvPr/>
        </p:nvCxnSpPr>
        <p:spPr>
          <a:xfrm rot="16200000">
            <a:off x="6433345" y="4541045"/>
            <a:ext cx="365125" cy="1587"/>
          </a:xfrm>
          <a:prstGeom prst="line">
            <a:avLst/>
          </a:prstGeom>
          <a:ln w="12700">
            <a:solidFill>
              <a:srgbClr val="FF000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/>
          <p:cNvCxnSpPr/>
          <p:nvPr/>
        </p:nvCxnSpPr>
        <p:spPr>
          <a:xfrm rot="16200000">
            <a:off x="6246814" y="4586289"/>
            <a:ext cx="274637" cy="1587"/>
          </a:xfrm>
          <a:prstGeom prst="line">
            <a:avLst/>
          </a:prstGeom>
          <a:ln w="12700">
            <a:solidFill>
              <a:srgbClr val="FF0000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Flowchart: Manual Operation 338"/>
          <p:cNvSpPr/>
          <p:nvPr/>
        </p:nvSpPr>
        <p:spPr>
          <a:xfrm rot="16200000">
            <a:off x="5799138" y="3619500"/>
            <a:ext cx="1371600" cy="533400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FF"/>
                </a:solidFill>
              </a:rPr>
              <a:t>MUX</a:t>
            </a:r>
          </a:p>
        </p:txBody>
      </p:sp>
      <p:grpSp>
        <p:nvGrpSpPr>
          <p:cNvPr id="18445" name="Group 346"/>
          <p:cNvGrpSpPr>
            <a:grpSpLocks/>
          </p:cNvGrpSpPr>
          <p:nvPr/>
        </p:nvGrpSpPr>
        <p:grpSpPr bwMode="auto">
          <a:xfrm>
            <a:off x="5837237" y="3308350"/>
            <a:ext cx="366712" cy="1031051"/>
            <a:chOff x="4115090" y="2806760"/>
            <a:chExt cx="366433" cy="1030228"/>
          </a:xfrm>
        </p:grpSpPr>
        <p:cxnSp>
          <p:nvCxnSpPr>
            <p:cNvPr id="343" name="Straight Connector 342"/>
            <p:cNvCxnSpPr/>
            <p:nvPr/>
          </p:nvCxnSpPr>
          <p:spPr>
            <a:xfrm>
              <a:off x="4115090" y="3503116"/>
              <a:ext cx="366433" cy="1586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/>
          </p:nvCxnSpPr>
          <p:spPr>
            <a:xfrm>
              <a:off x="4115090" y="3787052"/>
              <a:ext cx="366433" cy="1587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/>
          </p:nvCxnSpPr>
          <p:spPr>
            <a:xfrm>
              <a:off x="4115090" y="2971728"/>
              <a:ext cx="366433" cy="1587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/>
          </p:nvCxnSpPr>
          <p:spPr>
            <a:xfrm>
              <a:off x="4115090" y="3244560"/>
              <a:ext cx="366433" cy="1587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1" name="TextBox 339"/>
            <p:cNvSpPr txBox="1">
              <a:spLocks noChangeArrowheads="1"/>
            </p:cNvSpPr>
            <p:nvPr/>
          </p:nvSpPr>
          <p:spPr bwMode="auto">
            <a:xfrm>
              <a:off x="4163658" y="2806760"/>
              <a:ext cx="311067" cy="1030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ts val="1000"/>
                </a:spcAft>
              </a:pPr>
              <a:r>
                <a:rPr lang="en-US" sz="900" b="1" dirty="0"/>
                <a:t>D</a:t>
              </a:r>
              <a:r>
                <a:rPr lang="en-US" sz="900" b="1" baseline="-25000" dirty="0"/>
                <a:t>0</a:t>
              </a:r>
            </a:p>
            <a:p>
              <a:pPr eaLnBrk="1" hangingPunct="1">
                <a:spcAft>
                  <a:spcPts val="1000"/>
                </a:spcAft>
              </a:pPr>
              <a:r>
                <a:rPr lang="en-US" sz="900" b="1" dirty="0"/>
                <a:t>D</a:t>
              </a:r>
              <a:r>
                <a:rPr lang="en-US" sz="900" b="1" baseline="-25000" dirty="0"/>
                <a:t>1</a:t>
              </a:r>
            </a:p>
            <a:p>
              <a:pPr eaLnBrk="1" hangingPunct="1">
                <a:spcAft>
                  <a:spcPts val="1000"/>
                </a:spcAft>
              </a:pPr>
              <a:r>
                <a:rPr lang="en-US" sz="900" b="1" dirty="0"/>
                <a:t>D</a:t>
              </a:r>
              <a:r>
                <a:rPr lang="en-US" sz="900" b="1" baseline="-25000" dirty="0"/>
                <a:t>2</a:t>
              </a:r>
            </a:p>
            <a:p>
              <a:pPr eaLnBrk="1" hangingPunct="1">
                <a:spcAft>
                  <a:spcPts val="1000"/>
                </a:spcAft>
              </a:pPr>
              <a:r>
                <a:rPr lang="en-US" sz="900" b="1" dirty="0"/>
                <a:t>D</a:t>
              </a:r>
              <a:r>
                <a:rPr lang="en-US" sz="900" b="1" baseline="-25000" dirty="0"/>
                <a:t>3</a:t>
              </a:r>
            </a:p>
          </p:txBody>
        </p:sp>
      </p:grpSp>
      <p:sp>
        <p:nvSpPr>
          <p:cNvPr id="18446" name="TextBox 340"/>
          <p:cNvSpPr txBox="1">
            <a:spLocks noChangeArrowheads="1"/>
          </p:cNvSpPr>
          <p:nvPr/>
        </p:nvSpPr>
        <p:spPr bwMode="auto">
          <a:xfrm>
            <a:off x="6796089" y="3657600"/>
            <a:ext cx="261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900" b="1"/>
              <a:t>Y</a:t>
            </a:r>
          </a:p>
        </p:txBody>
      </p:sp>
      <p:sp>
        <p:nvSpPr>
          <p:cNvPr id="353" name="Freeform 352"/>
          <p:cNvSpPr/>
          <p:nvPr/>
        </p:nvSpPr>
        <p:spPr>
          <a:xfrm>
            <a:off x="3870326" y="2652713"/>
            <a:ext cx="1966913" cy="823912"/>
          </a:xfrm>
          <a:custGeom>
            <a:avLst/>
            <a:gdLst>
              <a:gd name="connsiteX0" fmla="*/ 1967023 w 1967023"/>
              <a:gd name="connsiteY0" fmla="*/ 824023 h 824023"/>
              <a:gd name="connsiteX1" fmla="*/ 1754372 w 1967023"/>
              <a:gd name="connsiteY1" fmla="*/ 802758 h 824023"/>
              <a:gd name="connsiteX2" fmla="*/ 1573618 w 1967023"/>
              <a:gd name="connsiteY2" fmla="*/ 717697 h 824023"/>
              <a:gd name="connsiteX3" fmla="*/ 1456660 w 1967023"/>
              <a:gd name="connsiteY3" fmla="*/ 568842 h 824023"/>
              <a:gd name="connsiteX4" fmla="*/ 1382232 w 1967023"/>
              <a:gd name="connsiteY4" fmla="*/ 388088 h 824023"/>
              <a:gd name="connsiteX5" fmla="*/ 1244009 w 1967023"/>
              <a:gd name="connsiteY5" fmla="*/ 207335 h 824023"/>
              <a:gd name="connsiteX6" fmla="*/ 1031358 w 1967023"/>
              <a:gd name="connsiteY6" fmla="*/ 101009 h 824023"/>
              <a:gd name="connsiteX7" fmla="*/ 680483 w 1967023"/>
              <a:gd name="connsiteY7" fmla="*/ 15949 h 824023"/>
              <a:gd name="connsiteX8" fmla="*/ 361507 w 1967023"/>
              <a:gd name="connsiteY8" fmla="*/ 5316 h 824023"/>
              <a:gd name="connsiteX9" fmla="*/ 0 w 1967023"/>
              <a:gd name="connsiteY9" fmla="*/ 15949 h 824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7023" h="824023">
                <a:moveTo>
                  <a:pt x="1967023" y="824023"/>
                </a:moveTo>
                <a:cubicBezTo>
                  <a:pt x="1893481" y="822251"/>
                  <a:pt x="1819940" y="820479"/>
                  <a:pt x="1754372" y="802758"/>
                </a:cubicBezTo>
                <a:cubicBezTo>
                  <a:pt x="1688805" y="785037"/>
                  <a:pt x="1623237" y="756683"/>
                  <a:pt x="1573618" y="717697"/>
                </a:cubicBezTo>
                <a:cubicBezTo>
                  <a:pt x="1523999" y="678711"/>
                  <a:pt x="1488558" y="623777"/>
                  <a:pt x="1456660" y="568842"/>
                </a:cubicBezTo>
                <a:cubicBezTo>
                  <a:pt x="1424762" y="513907"/>
                  <a:pt x="1417674" y="448339"/>
                  <a:pt x="1382232" y="388088"/>
                </a:cubicBezTo>
                <a:cubicBezTo>
                  <a:pt x="1346790" y="327837"/>
                  <a:pt x="1302488" y="255181"/>
                  <a:pt x="1244009" y="207335"/>
                </a:cubicBezTo>
                <a:cubicBezTo>
                  <a:pt x="1185530" y="159489"/>
                  <a:pt x="1125279" y="132907"/>
                  <a:pt x="1031358" y="101009"/>
                </a:cubicBezTo>
                <a:cubicBezTo>
                  <a:pt x="937437" y="69111"/>
                  <a:pt x="792125" y="31898"/>
                  <a:pt x="680483" y="15949"/>
                </a:cubicBezTo>
                <a:cubicBezTo>
                  <a:pt x="568841" y="0"/>
                  <a:pt x="474921" y="5316"/>
                  <a:pt x="361507" y="5316"/>
                </a:cubicBezTo>
                <a:cubicBezTo>
                  <a:pt x="248093" y="5316"/>
                  <a:pt x="124046" y="10632"/>
                  <a:pt x="0" y="15949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4" name="Freeform 353"/>
          <p:cNvSpPr/>
          <p:nvPr/>
        </p:nvSpPr>
        <p:spPr>
          <a:xfrm>
            <a:off x="3806826" y="3741738"/>
            <a:ext cx="2030413" cy="265112"/>
          </a:xfrm>
          <a:custGeom>
            <a:avLst/>
            <a:gdLst>
              <a:gd name="connsiteX0" fmla="*/ 2030818 w 2030818"/>
              <a:gd name="connsiteY0" fmla="*/ 5316 h 264042"/>
              <a:gd name="connsiteX1" fmla="*/ 1828800 w 2030818"/>
              <a:gd name="connsiteY1" fmla="*/ 5316 h 264042"/>
              <a:gd name="connsiteX2" fmla="*/ 1584251 w 2030818"/>
              <a:gd name="connsiteY2" fmla="*/ 37214 h 264042"/>
              <a:gd name="connsiteX3" fmla="*/ 1329070 w 2030818"/>
              <a:gd name="connsiteY3" fmla="*/ 143539 h 264042"/>
              <a:gd name="connsiteX4" fmla="*/ 1041991 w 2030818"/>
              <a:gd name="connsiteY4" fmla="*/ 239232 h 264042"/>
              <a:gd name="connsiteX5" fmla="*/ 669851 w 2030818"/>
              <a:gd name="connsiteY5" fmla="*/ 260497 h 264042"/>
              <a:gd name="connsiteX6" fmla="*/ 265814 w 2030818"/>
              <a:gd name="connsiteY6" fmla="*/ 249865 h 264042"/>
              <a:gd name="connsiteX7" fmla="*/ 0 w 2030818"/>
              <a:gd name="connsiteY7" fmla="*/ 175437 h 26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0818" h="264042">
                <a:moveTo>
                  <a:pt x="2030818" y="5316"/>
                </a:moveTo>
                <a:cubicBezTo>
                  <a:pt x="1967023" y="2658"/>
                  <a:pt x="1903228" y="0"/>
                  <a:pt x="1828800" y="5316"/>
                </a:cubicBezTo>
                <a:cubicBezTo>
                  <a:pt x="1754372" y="10632"/>
                  <a:pt x="1667539" y="14177"/>
                  <a:pt x="1584251" y="37214"/>
                </a:cubicBezTo>
                <a:cubicBezTo>
                  <a:pt x="1500963" y="60251"/>
                  <a:pt x="1419447" y="109869"/>
                  <a:pt x="1329070" y="143539"/>
                </a:cubicBezTo>
                <a:cubicBezTo>
                  <a:pt x="1238693" y="177209"/>
                  <a:pt x="1151861" y="219739"/>
                  <a:pt x="1041991" y="239232"/>
                </a:cubicBezTo>
                <a:cubicBezTo>
                  <a:pt x="932121" y="258725"/>
                  <a:pt x="799214" y="258725"/>
                  <a:pt x="669851" y="260497"/>
                </a:cubicBezTo>
                <a:cubicBezTo>
                  <a:pt x="540488" y="262269"/>
                  <a:pt x="377456" y="264042"/>
                  <a:pt x="265814" y="249865"/>
                </a:cubicBezTo>
                <a:cubicBezTo>
                  <a:pt x="154172" y="235688"/>
                  <a:pt x="77086" y="205562"/>
                  <a:pt x="0" y="175437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5" name="Freeform 354"/>
          <p:cNvSpPr/>
          <p:nvPr/>
        </p:nvSpPr>
        <p:spPr>
          <a:xfrm>
            <a:off x="3830639" y="3992563"/>
            <a:ext cx="2009775" cy="1416050"/>
          </a:xfrm>
          <a:custGeom>
            <a:avLst/>
            <a:gdLst>
              <a:gd name="connsiteX0" fmla="*/ 2009553 w 2009553"/>
              <a:gd name="connsiteY0" fmla="*/ 12405 h 1415903"/>
              <a:gd name="connsiteX1" fmla="*/ 1807535 w 2009553"/>
              <a:gd name="connsiteY1" fmla="*/ 12405 h 1415903"/>
              <a:gd name="connsiteX2" fmla="*/ 1520456 w 2009553"/>
              <a:gd name="connsiteY2" fmla="*/ 86833 h 1415903"/>
              <a:gd name="connsiteX3" fmla="*/ 1233377 w 2009553"/>
              <a:gd name="connsiteY3" fmla="*/ 363279 h 1415903"/>
              <a:gd name="connsiteX4" fmla="*/ 1116419 w 2009553"/>
              <a:gd name="connsiteY4" fmla="*/ 852377 h 1415903"/>
              <a:gd name="connsiteX5" fmla="*/ 946298 w 2009553"/>
              <a:gd name="connsiteY5" fmla="*/ 1150089 h 1415903"/>
              <a:gd name="connsiteX6" fmla="*/ 648586 w 2009553"/>
              <a:gd name="connsiteY6" fmla="*/ 1330842 h 1415903"/>
              <a:gd name="connsiteX7" fmla="*/ 255181 w 2009553"/>
              <a:gd name="connsiteY7" fmla="*/ 1405270 h 1415903"/>
              <a:gd name="connsiteX8" fmla="*/ 0 w 2009553"/>
              <a:gd name="connsiteY8" fmla="*/ 1394638 h 1415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09553" h="1415903">
                <a:moveTo>
                  <a:pt x="2009553" y="12405"/>
                </a:moveTo>
                <a:cubicBezTo>
                  <a:pt x="1949302" y="6202"/>
                  <a:pt x="1889051" y="0"/>
                  <a:pt x="1807535" y="12405"/>
                </a:cubicBezTo>
                <a:cubicBezTo>
                  <a:pt x="1726019" y="24810"/>
                  <a:pt x="1616149" y="28354"/>
                  <a:pt x="1520456" y="86833"/>
                </a:cubicBezTo>
                <a:cubicBezTo>
                  <a:pt x="1424763" y="145312"/>
                  <a:pt x="1300716" y="235688"/>
                  <a:pt x="1233377" y="363279"/>
                </a:cubicBezTo>
                <a:cubicBezTo>
                  <a:pt x="1166038" y="490870"/>
                  <a:pt x="1164266" y="721242"/>
                  <a:pt x="1116419" y="852377"/>
                </a:cubicBezTo>
                <a:cubicBezTo>
                  <a:pt x="1068573" y="983512"/>
                  <a:pt x="1024270" y="1070345"/>
                  <a:pt x="946298" y="1150089"/>
                </a:cubicBezTo>
                <a:cubicBezTo>
                  <a:pt x="868326" y="1229833"/>
                  <a:pt x="763772" y="1288312"/>
                  <a:pt x="648586" y="1330842"/>
                </a:cubicBezTo>
                <a:cubicBezTo>
                  <a:pt x="533400" y="1373372"/>
                  <a:pt x="363279" y="1394637"/>
                  <a:pt x="255181" y="1405270"/>
                </a:cubicBezTo>
                <a:cubicBezTo>
                  <a:pt x="147083" y="1415903"/>
                  <a:pt x="73541" y="1405270"/>
                  <a:pt x="0" y="1394638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6" name="Freeform 355"/>
          <p:cNvSpPr/>
          <p:nvPr/>
        </p:nvSpPr>
        <p:spPr>
          <a:xfrm>
            <a:off x="4103688" y="4284663"/>
            <a:ext cx="1733550" cy="1852612"/>
          </a:xfrm>
          <a:custGeom>
            <a:avLst/>
            <a:gdLst>
              <a:gd name="connsiteX0" fmla="*/ 1733107 w 1733107"/>
              <a:gd name="connsiteY0" fmla="*/ 0 h 1851837"/>
              <a:gd name="connsiteX1" fmla="*/ 1605516 w 1733107"/>
              <a:gd name="connsiteY1" fmla="*/ 31898 h 1851837"/>
              <a:gd name="connsiteX2" fmla="*/ 1446028 w 1733107"/>
              <a:gd name="connsiteY2" fmla="*/ 148856 h 1851837"/>
              <a:gd name="connsiteX3" fmla="*/ 1360967 w 1733107"/>
              <a:gd name="connsiteY3" fmla="*/ 435935 h 1851837"/>
              <a:gd name="connsiteX4" fmla="*/ 1297172 w 1733107"/>
              <a:gd name="connsiteY4" fmla="*/ 882503 h 1851837"/>
              <a:gd name="connsiteX5" fmla="*/ 1190847 w 1733107"/>
              <a:gd name="connsiteY5" fmla="*/ 1222745 h 1851837"/>
              <a:gd name="connsiteX6" fmla="*/ 988828 w 1733107"/>
              <a:gd name="connsiteY6" fmla="*/ 1531089 h 1851837"/>
              <a:gd name="connsiteX7" fmla="*/ 701749 w 1733107"/>
              <a:gd name="connsiteY7" fmla="*/ 1711842 h 1851837"/>
              <a:gd name="connsiteX8" fmla="*/ 265814 w 1733107"/>
              <a:gd name="connsiteY8" fmla="*/ 1828800 h 1851837"/>
              <a:gd name="connsiteX9" fmla="*/ 0 w 1733107"/>
              <a:gd name="connsiteY9" fmla="*/ 1850066 h 185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3107" h="1851837">
                <a:moveTo>
                  <a:pt x="1733107" y="0"/>
                </a:moveTo>
                <a:cubicBezTo>
                  <a:pt x="1693234" y="3544"/>
                  <a:pt x="1653362" y="7089"/>
                  <a:pt x="1605516" y="31898"/>
                </a:cubicBezTo>
                <a:cubicBezTo>
                  <a:pt x="1557670" y="56707"/>
                  <a:pt x="1486786" y="81517"/>
                  <a:pt x="1446028" y="148856"/>
                </a:cubicBezTo>
                <a:cubicBezTo>
                  <a:pt x="1405270" y="216196"/>
                  <a:pt x="1385776" y="313660"/>
                  <a:pt x="1360967" y="435935"/>
                </a:cubicBezTo>
                <a:cubicBezTo>
                  <a:pt x="1336158" y="558210"/>
                  <a:pt x="1325525" y="751368"/>
                  <a:pt x="1297172" y="882503"/>
                </a:cubicBezTo>
                <a:cubicBezTo>
                  <a:pt x="1268819" y="1013638"/>
                  <a:pt x="1242238" y="1114647"/>
                  <a:pt x="1190847" y="1222745"/>
                </a:cubicBezTo>
                <a:cubicBezTo>
                  <a:pt x="1139456" y="1330843"/>
                  <a:pt x="1070344" y="1449573"/>
                  <a:pt x="988828" y="1531089"/>
                </a:cubicBezTo>
                <a:cubicBezTo>
                  <a:pt x="907312" y="1612605"/>
                  <a:pt x="822251" y="1662224"/>
                  <a:pt x="701749" y="1711842"/>
                </a:cubicBezTo>
                <a:cubicBezTo>
                  <a:pt x="581247" y="1761460"/>
                  <a:pt x="382772" y="1805763"/>
                  <a:pt x="265814" y="1828800"/>
                </a:cubicBezTo>
                <a:cubicBezTo>
                  <a:pt x="148856" y="1851837"/>
                  <a:pt x="74428" y="1850951"/>
                  <a:pt x="0" y="1850066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7" name="Freeform 356"/>
          <p:cNvSpPr/>
          <p:nvPr/>
        </p:nvSpPr>
        <p:spPr>
          <a:xfrm>
            <a:off x="7118350" y="3870326"/>
            <a:ext cx="1455738" cy="385763"/>
          </a:xfrm>
          <a:custGeom>
            <a:avLst/>
            <a:gdLst>
              <a:gd name="connsiteX0" fmla="*/ 0 w 1201479"/>
              <a:gd name="connsiteY0" fmla="*/ 14177 h 386316"/>
              <a:gd name="connsiteX1" fmla="*/ 159488 w 1201479"/>
              <a:gd name="connsiteY1" fmla="*/ 14177 h 386316"/>
              <a:gd name="connsiteX2" fmla="*/ 318976 w 1201479"/>
              <a:gd name="connsiteY2" fmla="*/ 99237 h 386316"/>
              <a:gd name="connsiteX3" fmla="*/ 446567 w 1201479"/>
              <a:gd name="connsiteY3" fmla="*/ 237460 h 386316"/>
              <a:gd name="connsiteX4" fmla="*/ 680483 w 1201479"/>
              <a:gd name="connsiteY4" fmla="*/ 333153 h 386316"/>
              <a:gd name="connsiteX5" fmla="*/ 956930 w 1201479"/>
              <a:gd name="connsiteY5" fmla="*/ 333153 h 386316"/>
              <a:gd name="connsiteX6" fmla="*/ 1201479 w 1201479"/>
              <a:gd name="connsiteY6" fmla="*/ 386316 h 38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1479" h="386316">
                <a:moveTo>
                  <a:pt x="0" y="14177"/>
                </a:moveTo>
                <a:cubicBezTo>
                  <a:pt x="53162" y="7088"/>
                  <a:pt x="106325" y="0"/>
                  <a:pt x="159488" y="14177"/>
                </a:cubicBezTo>
                <a:cubicBezTo>
                  <a:pt x="212651" y="28354"/>
                  <a:pt x="271130" y="62023"/>
                  <a:pt x="318976" y="99237"/>
                </a:cubicBezTo>
                <a:cubicBezTo>
                  <a:pt x="366823" y="136451"/>
                  <a:pt x="386316" y="198474"/>
                  <a:pt x="446567" y="237460"/>
                </a:cubicBezTo>
                <a:cubicBezTo>
                  <a:pt x="506818" y="276446"/>
                  <a:pt x="595423" y="317204"/>
                  <a:pt x="680483" y="333153"/>
                </a:cubicBezTo>
                <a:cubicBezTo>
                  <a:pt x="765543" y="349102"/>
                  <a:pt x="870097" y="324292"/>
                  <a:pt x="956930" y="333153"/>
                </a:cubicBezTo>
                <a:cubicBezTo>
                  <a:pt x="1043763" y="342014"/>
                  <a:pt x="1201479" y="386316"/>
                  <a:pt x="1201479" y="386316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358" name="Table 357"/>
          <p:cNvGraphicFramePr>
            <a:graphicFrameLocks noGrp="1"/>
          </p:cNvGraphicFramePr>
          <p:nvPr>
            <p:extLst/>
          </p:nvPr>
        </p:nvGraphicFramePr>
        <p:xfrm>
          <a:off x="6168008" y="4800600"/>
          <a:ext cx="193516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0" marR="914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Selected Source</a:t>
                      </a:r>
                      <a:endParaRPr lang="en-US" sz="1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0" marR="914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MP3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0" marR="914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Laptop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0" marR="914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Satellite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0" marR="914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Cable TV</a:t>
                      </a:r>
                    </a:p>
                  </a:txBody>
                  <a:tcPr marL="91450" marR="914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468" name="Group 369"/>
          <p:cNvGrpSpPr>
            <a:grpSpLocks/>
          </p:cNvGrpSpPr>
          <p:nvPr/>
        </p:nvGrpSpPr>
        <p:grpSpPr bwMode="auto">
          <a:xfrm>
            <a:off x="2408239" y="1403350"/>
            <a:ext cx="2651125" cy="596900"/>
            <a:chOff x="884446" y="1403132"/>
            <a:chExt cx="2651125" cy="597119"/>
          </a:xfrm>
        </p:grpSpPr>
        <p:sp>
          <p:nvSpPr>
            <p:cNvPr id="18475" name="TextBox 10"/>
            <p:cNvSpPr txBox="1">
              <a:spLocks noChangeArrowheads="1"/>
            </p:cNvSpPr>
            <p:nvPr/>
          </p:nvSpPr>
          <p:spPr bwMode="auto">
            <a:xfrm>
              <a:off x="1158449" y="1403132"/>
              <a:ext cx="21031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Multiple Sources</a:t>
              </a:r>
            </a:p>
          </p:txBody>
        </p:sp>
        <p:sp>
          <p:nvSpPr>
            <p:cNvPr id="363" name="Left Brace 362"/>
            <p:cNvSpPr/>
            <p:nvPr/>
          </p:nvSpPr>
          <p:spPr bwMode="auto">
            <a:xfrm rot="16200000" flipH="1" flipV="1">
              <a:off x="2095667" y="560346"/>
              <a:ext cx="228684" cy="265112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469" name="Group 367"/>
          <p:cNvGrpSpPr>
            <a:grpSpLocks/>
          </p:cNvGrpSpPr>
          <p:nvPr/>
        </p:nvGrpSpPr>
        <p:grpSpPr bwMode="auto">
          <a:xfrm>
            <a:off x="7650164" y="1403350"/>
            <a:ext cx="2103437" cy="596900"/>
            <a:chOff x="6126480" y="1403132"/>
            <a:chExt cx="2103120" cy="597119"/>
          </a:xfrm>
        </p:grpSpPr>
        <p:sp>
          <p:nvSpPr>
            <p:cNvPr id="361" name="Left Brace 360"/>
            <p:cNvSpPr/>
            <p:nvPr/>
          </p:nvSpPr>
          <p:spPr bwMode="auto">
            <a:xfrm rot="16200000" flipH="1" flipV="1">
              <a:off x="7063699" y="880379"/>
              <a:ext cx="228684" cy="2011060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74" name="TextBox 10"/>
            <p:cNvSpPr txBox="1">
              <a:spLocks noChangeArrowheads="1"/>
            </p:cNvSpPr>
            <p:nvPr/>
          </p:nvSpPr>
          <p:spPr bwMode="auto">
            <a:xfrm>
              <a:off x="6126480" y="1403132"/>
              <a:ext cx="21031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Single Destination</a:t>
              </a:r>
            </a:p>
          </p:txBody>
        </p:sp>
      </p:grpSp>
      <p:grpSp>
        <p:nvGrpSpPr>
          <p:cNvPr id="18470" name="Group 368"/>
          <p:cNvGrpSpPr>
            <a:grpSpLocks/>
          </p:cNvGrpSpPr>
          <p:nvPr/>
        </p:nvGrpSpPr>
        <p:grpSpPr bwMode="auto">
          <a:xfrm>
            <a:off x="5753101" y="1403350"/>
            <a:ext cx="1281113" cy="596900"/>
            <a:chOff x="4229363" y="1403132"/>
            <a:chExt cx="1280160" cy="597118"/>
          </a:xfrm>
        </p:grpSpPr>
        <p:sp>
          <p:nvSpPr>
            <p:cNvPr id="364" name="Left Brace 363"/>
            <p:cNvSpPr/>
            <p:nvPr/>
          </p:nvSpPr>
          <p:spPr bwMode="auto">
            <a:xfrm rot="16200000" flipH="1" flipV="1">
              <a:off x="4755102" y="1245828"/>
              <a:ext cx="228683" cy="1280160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72" name="TextBox 10"/>
            <p:cNvSpPr txBox="1">
              <a:spLocks noChangeArrowheads="1"/>
            </p:cNvSpPr>
            <p:nvPr/>
          </p:nvSpPr>
          <p:spPr bwMode="auto">
            <a:xfrm>
              <a:off x="4229363" y="1403132"/>
              <a:ext cx="12801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Selector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0087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1D34-96AA-4DFF-AAF2-D5503AB2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664"/>
            <a:ext cx="11103024" cy="50405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Lato"/>
              </a:rPr>
              <a:t>Types of Multiplexers</a:t>
            </a:r>
            <a:br>
              <a:rPr lang="en-US" dirty="0">
                <a:solidFill>
                  <a:srgbClr val="000000"/>
                </a:solidFill>
                <a:latin typeface="Lato"/>
              </a:rPr>
            </a:b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0E413F-6268-43BE-899E-0436DB1FC006}"/>
              </a:ext>
            </a:extLst>
          </p:cNvPr>
          <p:cNvSpPr/>
          <p:nvPr/>
        </p:nvSpPr>
        <p:spPr>
          <a:xfrm>
            <a:off x="219225" y="903040"/>
            <a:ext cx="11637415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</a:rPr>
              <a:t>Based on input data lines and select lines, the multiplexer can be of several types.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b="1" dirty="0"/>
              <a:t>2×1 Multiplexer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b="1" dirty="0"/>
              <a:t>4×1 Multiplexer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b="1" dirty="0"/>
              <a:t>8×1 Multiplexer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600" b="1" dirty="0"/>
              <a:t>16×1 Multiplexer etc.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36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3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148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811099-04AD-4287-92E4-F5DBCD14D7AB}"/>
              </a:ext>
            </a:extLst>
          </p:cNvPr>
          <p:cNvSpPr/>
          <p:nvPr/>
        </p:nvSpPr>
        <p:spPr>
          <a:xfrm>
            <a:off x="191344" y="260648"/>
            <a:ext cx="12000656" cy="5084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u="sng" dirty="0"/>
              <a:t>2×1 Multiplexer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block diagram of a 2×1 multiplexer is shown in the below Figure 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2×1 multiplexer is basic two input multiplexer which has two data input lines designated as I</a:t>
            </a:r>
            <a:r>
              <a:rPr lang="en-US" sz="3600" baseline="-25000" dirty="0"/>
              <a:t>0</a:t>
            </a:r>
            <a:r>
              <a:rPr lang="en-US" sz="3600" dirty="0"/>
              <a:t> and I</a:t>
            </a:r>
            <a:r>
              <a:rPr lang="en-US" sz="3600" baseline="-25000" dirty="0"/>
              <a:t>1</a:t>
            </a:r>
            <a:r>
              <a:rPr lang="en-US" sz="3600" dirty="0"/>
              <a:t>, one data select line denoted by S and one output line denoted by Y. </a:t>
            </a:r>
          </a:p>
        </p:txBody>
      </p:sp>
    </p:spTree>
    <p:extLst>
      <p:ext uri="{BB962C8B-B14F-4D97-AF65-F5344CB8AC3E}">
        <p14:creationId xmlns:p14="http://schemas.microsoft.com/office/powerpoint/2010/main" val="217716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2 to 1 Multiplexers">
            <a:extLst>
              <a:ext uri="{FF2B5EF4-FFF2-40B4-BE49-F238E27FC236}">
                <a16:creationId xmlns:a16="http://schemas.microsoft.com/office/drawing/2014/main" id="{637C13D2-D1CF-4F1B-ABF2-CFAB93A01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404664"/>
            <a:ext cx="6004719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E614DB-B246-4C58-BE0F-761F4728639B}"/>
              </a:ext>
            </a:extLst>
          </p:cNvPr>
          <p:cNvSpPr/>
          <p:nvPr/>
        </p:nvSpPr>
        <p:spPr>
          <a:xfrm>
            <a:off x="4943872" y="404664"/>
            <a:ext cx="70567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</a:rPr>
              <a:t>In the 2×1 multiplexer, the logic level of the digital signal applied to the select line S determines which data input will pass through the output line. </a:t>
            </a:r>
          </a:p>
          <a:p>
            <a:pPr algn="just"/>
            <a:endParaRPr lang="en-US" sz="32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</a:rPr>
              <a:t>The operation of the 2×1 multiplexer can be understood from the following truth table.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16231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99C058-FA9C-4CA9-9FED-AC7FFCEC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332656"/>
            <a:ext cx="5832648" cy="288032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9FD45CA-D861-4786-9764-2FACB9AD7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52642" y="908720"/>
            <a:ext cx="3243957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BC049-FFBC-4F3C-8E37-E4D92AF6A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416" y="3429000"/>
            <a:ext cx="4968552" cy="3043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3CA393AD-0A14-431E-8D88-4CF47421B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029" y="4797152"/>
            <a:ext cx="5832648" cy="19470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expression of 2×1 multiplexer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= I</a:t>
            </a:r>
            <a:r>
              <a:rPr lang="en-US" sz="3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.S’ + I</a:t>
            </a:r>
            <a:r>
              <a:rPr lang="en-US" sz="3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.S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27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836712"/>
            <a:ext cx="11449272" cy="2232248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r>
              <a:rPr lang="en-US" sz="4900" b="1" dirty="0">
                <a:solidFill>
                  <a:srgbClr val="C00000"/>
                </a:solidFill>
              </a:rPr>
              <a:t>4×1 Multiplexer</a:t>
            </a:r>
            <a:br>
              <a:rPr lang="en-US" dirty="0"/>
            </a:br>
            <a:r>
              <a:rPr lang="en-US" dirty="0"/>
              <a:t>4×1 Multiplexer has four data inputs I</a:t>
            </a:r>
            <a:r>
              <a:rPr lang="en-US" baseline="-25000" dirty="0"/>
              <a:t>3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r>
              <a:rPr lang="en-US" dirty="0"/>
              <a:t>, I</a:t>
            </a:r>
            <a:r>
              <a:rPr lang="en-US" baseline="-25000" dirty="0"/>
              <a:t>1</a:t>
            </a:r>
            <a:r>
              <a:rPr lang="en-US" dirty="0"/>
              <a:t> &amp; I</a:t>
            </a:r>
            <a:r>
              <a:rPr lang="en-US" baseline="-25000" dirty="0"/>
              <a:t>0</a:t>
            </a:r>
            <a:r>
              <a:rPr lang="en-US" dirty="0"/>
              <a:t>, two selection lines s</a:t>
            </a:r>
            <a:r>
              <a:rPr lang="en-US" baseline="-25000" dirty="0"/>
              <a:t>1</a:t>
            </a:r>
            <a:r>
              <a:rPr lang="en-US" dirty="0"/>
              <a:t> &amp; s</a:t>
            </a:r>
            <a:r>
              <a:rPr lang="en-US" baseline="-25000" dirty="0"/>
              <a:t>0</a:t>
            </a:r>
            <a:r>
              <a:rPr lang="en-US" dirty="0"/>
              <a:t> and one output 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 </a:t>
            </a:r>
            <a:r>
              <a:rPr lang="en-US" b="1" dirty="0"/>
              <a:t>block diagram</a:t>
            </a:r>
            <a:r>
              <a:rPr lang="en-US" dirty="0"/>
              <a:t> of 4×1 Multiplexer is shown in the following figure.</a:t>
            </a:r>
            <a:br>
              <a:rPr lang="en-US" dirty="0"/>
            </a:br>
            <a:br>
              <a:rPr lang="en-US" dirty="0"/>
            </a:b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2050" name="Picture 2" descr="4 to 1 Multiplexer">
            <a:extLst>
              <a:ext uri="{FF2B5EF4-FFF2-40B4-BE49-F238E27FC236}">
                <a16:creationId xmlns:a16="http://schemas.microsoft.com/office/drawing/2014/main" id="{E8CC6961-392A-43F4-AB70-3EF5D3DF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0" y="3429000"/>
            <a:ext cx="8035652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D8C601E-16E9-4E2D-8639-7F7913B6E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077071"/>
            <a:ext cx="2880320" cy="2351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40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8D0E-514C-4993-830C-10072573B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88641"/>
            <a:ext cx="10972800" cy="1872208"/>
          </a:xfrm>
        </p:spPr>
        <p:txBody>
          <a:bodyPr/>
          <a:lstStyle/>
          <a:p>
            <a:pPr algn="just"/>
            <a:r>
              <a:rPr lang="en-US" dirty="0"/>
              <a:t>One of these 4 inputs will be connected to the output based on the combination of inputs present at these two selection lines. </a:t>
            </a:r>
            <a:r>
              <a:rPr lang="en-US" b="1" dirty="0"/>
              <a:t>Truth table</a:t>
            </a:r>
            <a:r>
              <a:rPr lang="en-US" dirty="0"/>
              <a:t> of 4×1 Multiplexer is shown below.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20FFE-7266-44C4-8F4C-919B1BC2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1916271"/>
            <a:ext cx="5184576" cy="2895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176418-4991-4199-85DD-46CA3291A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5517231"/>
            <a:ext cx="6768752" cy="11521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77C525-AB4C-4E2F-969A-9DB575F83EBD}"/>
              </a:ext>
            </a:extLst>
          </p:cNvPr>
          <p:cNvSpPr/>
          <p:nvPr/>
        </p:nvSpPr>
        <p:spPr>
          <a:xfrm>
            <a:off x="455712" y="5013176"/>
            <a:ext cx="10972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From Truth table, we can directly write the </a:t>
            </a:r>
            <a:r>
              <a:rPr lang="en-US" sz="2800" b="1" dirty="0"/>
              <a:t>Boolean function</a:t>
            </a:r>
            <a:r>
              <a:rPr lang="en-US" sz="2800" dirty="0"/>
              <a:t> for output, Y as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3996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4 to 1 Multiplexer Circuit Diagram">
            <a:extLst>
              <a:ext uri="{FF2B5EF4-FFF2-40B4-BE49-F238E27FC236}">
                <a16:creationId xmlns:a16="http://schemas.microsoft.com/office/drawing/2014/main" id="{E08D7BEC-F609-490E-B219-844AE65D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76673"/>
            <a:ext cx="8712968" cy="496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298535-F777-4E55-818B-C55CDD1781C3}"/>
              </a:ext>
            </a:extLst>
          </p:cNvPr>
          <p:cNvSpPr/>
          <p:nvPr/>
        </p:nvSpPr>
        <p:spPr>
          <a:xfrm>
            <a:off x="3071664" y="5517232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circuit diagram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 of 4×1 multiplexer 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2064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167E-39DE-4BA2-BB19-347246F2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02" y="242095"/>
            <a:ext cx="10972800" cy="699787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</a:rPr>
              <a:t>8×1 Multiplexer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5FAB52-B562-4BCE-9BEB-CDFFFD8B7F5D}"/>
              </a:ext>
            </a:extLst>
          </p:cNvPr>
          <p:cNvSpPr/>
          <p:nvPr/>
        </p:nvSpPr>
        <p:spPr>
          <a:xfrm>
            <a:off x="315219" y="750382"/>
            <a:ext cx="112332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8×1 Multiplexer has eight data inputs I</a:t>
            </a:r>
            <a:r>
              <a:rPr lang="en-US" sz="3200" baseline="-25000" dirty="0"/>
              <a:t>7</a:t>
            </a:r>
            <a:r>
              <a:rPr lang="en-US" sz="3200" dirty="0"/>
              <a:t> to I</a:t>
            </a:r>
            <a:r>
              <a:rPr lang="en-US" sz="3200" baseline="-25000" dirty="0"/>
              <a:t>0</a:t>
            </a:r>
            <a:r>
              <a:rPr lang="en-US" sz="3200" dirty="0"/>
              <a:t>, three selection lines s</a:t>
            </a:r>
            <a:r>
              <a:rPr lang="en-US" sz="3200" baseline="-25000" dirty="0"/>
              <a:t>2</a:t>
            </a:r>
            <a:r>
              <a:rPr lang="en-US" sz="3200" dirty="0"/>
              <a:t>, s</a:t>
            </a:r>
            <a:r>
              <a:rPr lang="en-US" sz="3200" baseline="-25000" dirty="0"/>
              <a:t>1</a:t>
            </a:r>
            <a:r>
              <a:rPr lang="en-US" sz="3200" dirty="0"/>
              <a:t> &amp; s0 and one output Y.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44179-810B-438D-B45B-BEA8FF36C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2262892"/>
            <a:ext cx="8230294" cy="44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43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5D3EB-264A-4A78-9C14-99F7B0A3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052736"/>
            <a:ext cx="8352928" cy="52854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476AD3-E173-4189-8ACF-A8E80212D38F}"/>
              </a:ext>
            </a:extLst>
          </p:cNvPr>
          <p:cNvSpPr/>
          <p:nvPr/>
        </p:nvSpPr>
        <p:spPr>
          <a:xfrm>
            <a:off x="263352" y="188640"/>
            <a:ext cx="86635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The </a:t>
            </a:r>
            <a:r>
              <a:rPr lang="en-US" sz="3200" b="1" dirty="0"/>
              <a:t>Truth table</a:t>
            </a:r>
            <a:r>
              <a:rPr lang="en-US" sz="3200" dirty="0"/>
              <a:t> of 8×1 Multiplexer is shown below.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23541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9DB0FB-5DC2-41E5-8178-2368473987D6}"/>
              </a:ext>
            </a:extLst>
          </p:cNvPr>
          <p:cNvSpPr/>
          <p:nvPr/>
        </p:nvSpPr>
        <p:spPr>
          <a:xfrm>
            <a:off x="335360" y="179679"/>
            <a:ext cx="10786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3200" b="1" dirty="0">
                <a:solidFill>
                  <a:srgbClr val="C00000"/>
                </a:solidFill>
                <a:latin typeface="Nunito"/>
              </a:rPr>
              <a:t>Implementation of Higher Order MUX using Lower Order MUX</a:t>
            </a:r>
            <a:endParaRPr lang="en-US" sz="3200" b="1" i="0" dirty="0">
              <a:solidFill>
                <a:srgbClr val="C00000"/>
              </a:solidFill>
              <a:effectLst/>
              <a:latin typeface="Nuni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82338-8D15-4D37-A77C-3C67E50A4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2513674"/>
            <a:ext cx="9706807" cy="40740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8CEED09-790D-4FEB-BA37-142C50A9AEB5}"/>
              </a:ext>
            </a:extLst>
          </p:cNvPr>
          <p:cNvSpPr/>
          <p:nvPr/>
        </p:nvSpPr>
        <p:spPr>
          <a:xfrm>
            <a:off x="767408" y="1168553"/>
            <a:ext cx="1116124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3600" b="1" dirty="0">
                <a:solidFill>
                  <a:srgbClr val="273239"/>
                </a:solidFill>
                <a:latin typeface="Nunito"/>
              </a:rPr>
              <a:t>4 : 1 MUX using 2 : 1 MUX : </a:t>
            </a:r>
            <a:r>
              <a:rPr lang="en-US" sz="3200" dirty="0"/>
              <a:t>Three 2: 1 MUX are required to implement 4 : 1 MUX.</a:t>
            </a:r>
            <a:endParaRPr lang="en-US" sz="36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872766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8C2AC7-05B3-4284-ADF9-E5F433CEF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1412775"/>
            <a:ext cx="9649072" cy="54686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7A4AED-3481-4502-B2F0-8F1C2E9DB4ED}"/>
              </a:ext>
            </a:extLst>
          </p:cNvPr>
          <p:cNvSpPr/>
          <p:nvPr/>
        </p:nvSpPr>
        <p:spPr>
          <a:xfrm>
            <a:off x="479376" y="509627"/>
            <a:ext cx="9678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IMPLEMENTING 8:1 MUX using LOW ORDER MUX</a:t>
            </a:r>
            <a:endParaRPr lang="en-IN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563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3600" dirty="0">
                <a:solidFill>
                  <a:srgbClr val="C00000"/>
                </a:solidFill>
              </a:rPr>
              <a:t>Example: </a:t>
            </a:r>
            <a:r>
              <a:rPr lang="en-US" sz="3600" dirty="0">
                <a:solidFill>
                  <a:srgbClr val="002060"/>
                </a:solidFill>
              </a:rPr>
              <a:t>Construct a 16 × 1 multiplexer with two 8 × 1 and one 2 × 1 multiplexers.</a:t>
            </a:r>
            <a:endParaRPr lang="en-IN" sz="360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844824"/>
            <a:ext cx="9001000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85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3600" dirty="0">
                <a:solidFill>
                  <a:srgbClr val="C00000"/>
                </a:solidFill>
              </a:rPr>
              <a:t>Example: </a:t>
            </a:r>
            <a:r>
              <a:rPr lang="en-US" sz="3600" dirty="0">
                <a:solidFill>
                  <a:srgbClr val="002060"/>
                </a:solidFill>
              </a:rPr>
              <a:t>Construct a 16 × 1 multiplexer with five 4 × 1 multiplexers.</a:t>
            </a:r>
            <a:endParaRPr lang="en-IN" sz="36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3752" y="1445444"/>
            <a:ext cx="6984776" cy="5151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78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</a:rPr>
              <a:t>De-multiplexers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66018"/>
            <a:ext cx="11665296" cy="54173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DEMUX or De-Multiplexer is a combinational circuit that performs the reverse operation as compared to Multiplexer.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DEMUX has 1 input and </a:t>
            </a:r>
            <a:r>
              <a:rPr lang="en-US" dirty="0">
                <a:solidFill>
                  <a:srgbClr val="002060"/>
                </a:solidFill>
              </a:rPr>
              <a:t>2</a:t>
            </a:r>
            <a:r>
              <a:rPr lang="en-US" i="1" baseline="30000" dirty="0">
                <a:solidFill>
                  <a:srgbClr val="002060"/>
                </a:solidFill>
              </a:rPr>
              <a:t>n</a:t>
            </a:r>
            <a:r>
              <a:rPr lang="en-US" dirty="0"/>
              <a:t> output lines. Here n signifies the selection line for a DEMUX.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As per the selection line value, the DEMUX input lines will be connected to the output.</a:t>
            </a:r>
          </a:p>
        </p:txBody>
      </p:sp>
    </p:spTree>
    <p:extLst>
      <p:ext uri="{BB962C8B-B14F-4D97-AF65-F5344CB8AC3E}">
        <p14:creationId xmlns:p14="http://schemas.microsoft.com/office/powerpoint/2010/main" val="199610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ightbox">
            <a:extLst>
              <a:ext uri="{FF2B5EF4-FFF2-40B4-BE49-F238E27FC236}">
                <a16:creationId xmlns:a16="http://schemas.microsoft.com/office/drawing/2014/main" id="{86871241-DB5C-43F4-9948-51149274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872716"/>
            <a:ext cx="9217024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509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4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Typical Application of a DEMUX</a:t>
            </a:r>
          </a:p>
        </p:txBody>
      </p:sp>
      <p:grpSp>
        <p:nvGrpSpPr>
          <p:cNvPr id="23556" name="Group 94"/>
          <p:cNvGrpSpPr>
            <a:grpSpLocks/>
          </p:cNvGrpSpPr>
          <p:nvPr/>
        </p:nvGrpSpPr>
        <p:grpSpPr bwMode="auto">
          <a:xfrm>
            <a:off x="2149476" y="1403350"/>
            <a:ext cx="2378075" cy="596900"/>
            <a:chOff x="625476" y="1403350"/>
            <a:chExt cx="2377440" cy="596899"/>
          </a:xfrm>
        </p:grpSpPr>
        <p:sp>
          <p:nvSpPr>
            <p:cNvPr id="23610" name="TextBox 10"/>
            <p:cNvSpPr txBox="1">
              <a:spLocks noChangeArrowheads="1"/>
            </p:cNvSpPr>
            <p:nvPr/>
          </p:nvSpPr>
          <p:spPr bwMode="auto">
            <a:xfrm>
              <a:off x="769822" y="1403350"/>
              <a:ext cx="2103120" cy="36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Single Source</a:t>
              </a:r>
            </a:p>
          </p:txBody>
        </p:sp>
        <p:sp>
          <p:nvSpPr>
            <p:cNvPr id="363" name="Left Brace 362"/>
            <p:cNvSpPr/>
            <p:nvPr/>
          </p:nvSpPr>
          <p:spPr bwMode="auto">
            <a:xfrm rot="16200000" flipH="1" flipV="1">
              <a:off x="1699897" y="697229"/>
              <a:ext cx="228600" cy="2377440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grpSp>
        <p:nvGrpSpPr>
          <p:cNvPr id="23557" name="Group 95"/>
          <p:cNvGrpSpPr>
            <a:grpSpLocks/>
          </p:cNvGrpSpPr>
          <p:nvPr/>
        </p:nvGrpSpPr>
        <p:grpSpPr bwMode="auto">
          <a:xfrm>
            <a:off x="6981825" y="1403350"/>
            <a:ext cx="2560638" cy="596900"/>
            <a:chOff x="5458424" y="1403350"/>
            <a:chExt cx="2560320" cy="596900"/>
          </a:xfrm>
        </p:grpSpPr>
        <p:sp>
          <p:nvSpPr>
            <p:cNvPr id="361" name="Left Brace 360"/>
            <p:cNvSpPr/>
            <p:nvPr/>
          </p:nvSpPr>
          <p:spPr bwMode="auto">
            <a:xfrm rot="16200000" flipH="1" flipV="1">
              <a:off x="6624284" y="605790"/>
              <a:ext cx="228600" cy="2560320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609" name="TextBox 10"/>
            <p:cNvSpPr txBox="1">
              <a:spLocks noChangeArrowheads="1"/>
            </p:cNvSpPr>
            <p:nvPr/>
          </p:nvSpPr>
          <p:spPr bwMode="auto">
            <a:xfrm>
              <a:off x="5528480" y="1403350"/>
              <a:ext cx="2438400" cy="36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Multiple Destinations</a:t>
              </a:r>
            </a:p>
          </p:txBody>
        </p:sp>
      </p:grpSp>
      <p:grpSp>
        <p:nvGrpSpPr>
          <p:cNvPr id="23558" name="Group 96"/>
          <p:cNvGrpSpPr>
            <a:grpSpLocks/>
          </p:cNvGrpSpPr>
          <p:nvPr/>
        </p:nvGrpSpPr>
        <p:grpSpPr bwMode="auto">
          <a:xfrm>
            <a:off x="5097463" y="1403350"/>
            <a:ext cx="1287462" cy="596900"/>
            <a:chOff x="3573462" y="1403350"/>
            <a:chExt cx="1287937" cy="596900"/>
          </a:xfrm>
        </p:grpSpPr>
        <p:sp>
          <p:nvSpPr>
            <p:cNvPr id="364" name="Left Brace 363"/>
            <p:cNvSpPr/>
            <p:nvPr/>
          </p:nvSpPr>
          <p:spPr bwMode="auto">
            <a:xfrm rot="16200000" flipH="1" flipV="1">
              <a:off x="4099954" y="1245158"/>
              <a:ext cx="228600" cy="128158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607" name="TextBox 10"/>
            <p:cNvSpPr txBox="1">
              <a:spLocks noChangeArrowheads="1"/>
            </p:cNvSpPr>
            <p:nvPr/>
          </p:nvSpPr>
          <p:spPr bwMode="auto">
            <a:xfrm>
              <a:off x="3580286" y="1403350"/>
              <a:ext cx="1281113" cy="36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Selector</a:t>
              </a:r>
            </a:p>
          </p:txBody>
        </p:sp>
      </p:grpSp>
      <p:grpSp>
        <p:nvGrpSpPr>
          <p:cNvPr id="23559" name="Group 86"/>
          <p:cNvGrpSpPr>
            <a:grpSpLocks/>
          </p:cNvGrpSpPr>
          <p:nvPr/>
        </p:nvGrpSpPr>
        <p:grpSpPr bwMode="auto">
          <a:xfrm>
            <a:off x="5053014" y="3195638"/>
            <a:ext cx="1265237" cy="1524000"/>
            <a:chOff x="6627098" y="4724400"/>
            <a:chExt cx="1264920" cy="1524000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6627098" y="5408612"/>
              <a:ext cx="365034" cy="3175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5400000" flipH="1">
              <a:off x="6962724" y="6065044"/>
              <a:ext cx="365125" cy="1587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 flipH="1">
              <a:off x="7236511" y="6110287"/>
              <a:ext cx="274638" cy="1587"/>
            </a:xfrm>
            <a:prstGeom prst="line">
              <a:avLst/>
            </a:prstGeom>
            <a:ln w="12700">
              <a:solidFill>
                <a:srgbClr val="FF0000"/>
              </a:solidFill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597" name="Group 85"/>
            <p:cNvGrpSpPr>
              <a:grpSpLocks/>
            </p:cNvGrpSpPr>
            <p:nvPr/>
          </p:nvGrpSpPr>
          <p:grpSpPr bwMode="auto">
            <a:xfrm>
              <a:off x="7517922" y="4895297"/>
              <a:ext cx="374096" cy="1031051"/>
              <a:chOff x="7517922" y="4784782"/>
              <a:chExt cx="374096" cy="1031051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 flipH="1">
                <a:off x="7525398" y="5493360"/>
                <a:ext cx="366620" cy="1587"/>
              </a:xfrm>
              <a:prstGeom prst="line">
                <a:avLst/>
              </a:prstGeom>
              <a:ln w="12700">
                <a:solidFill>
                  <a:srgbClr val="FF0000"/>
                </a:soli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flipH="1">
                <a:off x="7525398" y="5756885"/>
                <a:ext cx="366620" cy="1587"/>
              </a:xfrm>
              <a:prstGeom prst="line">
                <a:avLst/>
              </a:prstGeom>
              <a:ln w="12700">
                <a:solidFill>
                  <a:srgbClr val="FF0000"/>
                </a:soli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flipH="1">
                <a:off x="7525398" y="4961547"/>
                <a:ext cx="36662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flipH="1">
                <a:off x="7525398" y="5233010"/>
                <a:ext cx="366620" cy="1587"/>
              </a:xfrm>
              <a:prstGeom prst="line">
                <a:avLst/>
              </a:prstGeom>
              <a:ln w="12700">
                <a:solidFill>
                  <a:srgbClr val="FF0000"/>
                </a:soli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05" name="TextBox 76"/>
              <p:cNvSpPr txBox="1">
                <a:spLocks noChangeArrowheads="1"/>
              </p:cNvSpPr>
              <p:nvPr/>
            </p:nvSpPr>
            <p:spPr bwMode="auto">
              <a:xfrm flipH="1">
                <a:off x="7517922" y="4784782"/>
                <a:ext cx="311226" cy="1031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Aft>
                    <a:spcPts val="1000"/>
                  </a:spcAft>
                </a:pPr>
                <a:r>
                  <a:rPr lang="en-US" sz="900" b="1" dirty="0"/>
                  <a:t>D</a:t>
                </a:r>
                <a:r>
                  <a:rPr lang="en-US" sz="900" b="1" baseline="-25000" dirty="0"/>
                  <a:t>0</a:t>
                </a:r>
              </a:p>
              <a:p>
                <a:pPr eaLnBrk="1" hangingPunct="1">
                  <a:spcAft>
                    <a:spcPts val="1000"/>
                  </a:spcAft>
                </a:pPr>
                <a:r>
                  <a:rPr lang="en-US" sz="900" b="1" dirty="0"/>
                  <a:t>D</a:t>
                </a:r>
                <a:r>
                  <a:rPr lang="en-US" sz="900" b="1" baseline="-25000" dirty="0"/>
                  <a:t>1</a:t>
                </a:r>
              </a:p>
              <a:p>
                <a:pPr eaLnBrk="1" hangingPunct="1">
                  <a:spcAft>
                    <a:spcPts val="1000"/>
                  </a:spcAft>
                </a:pPr>
                <a:r>
                  <a:rPr lang="en-US" sz="900" b="1" dirty="0"/>
                  <a:t>D</a:t>
                </a:r>
                <a:r>
                  <a:rPr lang="en-US" sz="900" b="1" baseline="-25000" dirty="0"/>
                  <a:t>2</a:t>
                </a:r>
              </a:p>
              <a:p>
                <a:pPr eaLnBrk="1" hangingPunct="1">
                  <a:spcAft>
                    <a:spcPts val="1000"/>
                  </a:spcAft>
                </a:pPr>
                <a:r>
                  <a:rPr lang="en-US" sz="900" b="1" dirty="0"/>
                  <a:t>D</a:t>
                </a:r>
                <a:r>
                  <a:rPr lang="en-US" sz="900" b="1" baseline="-25000" dirty="0"/>
                  <a:t>3</a:t>
                </a:r>
              </a:p>
            </p:txBody>
          </p:sp>
        </p:grpSp>
        <p:sp>
          <p:nvSpPr>
            <p:cNvPr id="23598" name="TextBox 77"/>
            <p:cNvSpPr txBox="1">
              <a:spLocks noChangeArrowheads="1"/>
            </p:cNvSpPr>
            <p:nvPr/>
          </p:nvSpPr>
          <p:spPr bwMode="auto">
            <a:xfrm flipH="1">
              <a:off x="6705600" y="5181600"/>
              <a:ext cx="26161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ts val="1000"/>
                </a:spcAft>
              </a:pPr>
              <a:r>
                <a:rPr lang="en-US" sz="900" b="1"/>
                <a:t>X</a:t>
              </a:r>
            </a:p>
          </p:txBody>
        </p:sp>
        <p:sp>
          <p:nvSpPr>
            <p:cNvPr id="80" name="Freeform 79"/>
            <p:cNvSpPr/>
            <p:nvPr/>
          </p:nvSpPr>
          <p:spPr>
            <a:xfrm>
              <a:off x="7003241" y="4724400"/>
              <a:ext cx="523744" cy="1365250"/>
            </a:xfrm>
            <a:custGeom>
              <a:avLst/>
              <a:gdLst>
                <a:gd name="connsiteX0" fmla="*/ 11876 w 522515"/>
                <a:gd name="connsiteY0" fmla="*/ 1080654 h 1365662"/>
                <a:gd name="connsiteX1" fmla="*/ 0 w 522515"/>
                <a:gd name="connsiteY1" fmla="*/ 273132 h 1365662"/>
                <a:gd name="connsiteX2" fmla="*/ 522515 w 522515"/>
                <a:gd name="connsiteY2" fmla="*/ 0 h 1365662"/>
                <a:gd name="connsiteX3" fmla="*/ 522515 w 522515"/>
                <a:gd name="connsiteY3" fmla="*/ 1365662 h 1365662"/>
                <a:gd name="connsiteX4" fmla="*/ 11876 w 522515"/>
                <a:gd name="connsiteY4" fmla="*/ 1080654 h 136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365662">
                  <a:moveTo>
                    <a:pt x="11876" y="1080654"/>
                  </a:moveTo>
                  <a:lnTo>
                    <a:pt x="0" y="273132"/>
                  </a:lnTo>
                  <a:lnTo>
                    <a:pt x="522515" y="0"/>
                  </a:lnTo>
                  <a:lnTo>
                    <a:pt x="522515" y="1365662"/>
                  </a:lnTo>
                  <a:lnTo>
                    <a:pt x="11876" y="1080654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600" name="TextBox 80"/>
            <p:cNvSpPr txBox="1">
              <a:spLocks noChangeArrowheads="1"/>
            </p:cNvSpPr>
            <p:nvPr/>
          </p:nvSpPr>
          <p:spPr bwMode="auto">
            <a:xfrm rot="-5400000">
              <a:off x="6755496" y="5238817"/>
              <a:ext cx="1018227" cy="369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rgbClr val="0000FF"/>
                  </a:solidFill>
                </a:rPr>
                <a:t>DEMUX</a:t>
              </a:r>
            </a:p>
          </p:txBody>
        </p:sp>
      </p:grpSp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5268268" y="4800600"/>
          <a:ext cx="2483917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29" marR="914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Selected Destination</a:t>
                      </a:r>
                      <a:endParaRPr lang="en-US" sz="1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29" marR="914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B/W Laser Printer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9" marR="914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Fax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Machine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29" marR="914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dk1"/>
                          </a:solidFill>
                        </a:rPr>
                        <a:t>Color</a:t>
                      </a:r>
                      <a:r>
                        <a:rPr lang="en-US" sz="1200" b="0" baseline="0" dirty="0">
                          <a:solidFill>
                            <a:schemeClr val="dk1"/>
                          </a:solidFill>
                        </a:rPr>
                        <a:t> Inkjet Printer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9" marR="914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Pen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Plotter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9" marR="9142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576" name="Group 86"/>
          <p:cNvGrpSpPr>
            <a:grpSpLocks/>
          </p:cNvGrpSpPr>
          <p:nvPr/>
        </p:nvGrpSpPr>
        <p:grpSpPr bwMode="auto">
          <a:xfrm>
            <a:off x="7940676" y="2057401"/>
            <a:ext cx="1731963" cy="612775"/>
            <a:chOff x="6643421" y="2057403"/>
            <a:chExt cx="1732785" cy="613272"/>
          </a:xfrm>
        </p:grpSpPr>
        <p:sp>
          <p:nvSpPr>
            <p:cNvPr id="23592" name="TextBox 324"/>
            <p:cNvSpPr txBox="1">
              <a:spLocks noChangeArrowheads="1"/>
            </p:cNvSpPr>
            <p:nvPr/>
          </p:nvSpPr>
          <p:spPr bwMode="auto">
            <a:xfrm>
              <a:off x="7473395" y="2133207"/>
              <a:ext cx="9028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B/W Laser</a:t>
              </a:r>
            </a:p>
            <a:p>
              <a:pPr algn="ctr" eaLnBrk="1" hangingPunct="1"/>
              <a:r>
                <a:rPr lang="en-US" sz="1200"/>
                <a:t>Printer</a:t>
              </a:r>
            </a:p>
          </p:txBody>
        </p:sp>
        <p:pic>
          <p:nvPicPr>
            <p:cNvPr id="23593" name="Picture 5" descr="C:\Users\ghzite.MAIN\AppData\Local\Microsoft\Windows\Temporary Internet Files\Content.IE5\6GJ2YC6W\MPj04021840000[1]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421" y="2057403"/>
              <a:ext cx="802386" cy="61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7" name="Group 80"/>
          <p:cNvGrpSpPr>
            <a:grpSpLocks/>
          </p:cNvGrpSpPr>
          <p:nvPr/>
        </p:nvGrpSpPr>
        <p:grpSpPr bwMode="auto">
          <a:xfrm>
            <a:off x="7885114" y="3697288"/>
            <a:ext cx="1868487" cy="874712"/>
            <a:chOff x="6553200" y="3657599"/>
            <a:chExt cx="1868692" cy="874624"/>
          </a:xfrm>
        </p:grpSpPr>
        <p:sp>
          <p:nvSpPr>
            <p:cNvPr id="23590" name="TextBox 326"/>
            <p:cNvSpPr txBox="1">
              <a:spLocks noChangeArrowheads="1"/>
            </p:cNvSpPr>
            <p:nvPr/>
          </p:nvSpPr>
          <p:spPr bwMode="auto">
            <a:xfrm>
              <a:off x="7427709" y="3787878"/>
              <a:ext cx="9941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Color Inkjet</a:t>
              </a:r>
            </a:p>
            <a:p>
              <a:pPr algn="ctr" eaLnBrk="1" hangingPunct="1"/>
              <a:r>
                <a:rPr lang="en-US" sz="1200"/>
                <a:t>Printer</a:t>
              </a:r>
            </a:p>
          </p:txBody>
        </p:sp>
        <p:pic>
          <p:nvPicPr>
            <p:cNvPr id="23591" name="Picture 6" descr="C:\Users\ghzite.MAIN\AppData\Local\Microsoft\Windows\Temporary Internet Files\Content.IE5\AMO16GJE\MCj03968760000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3657599"/>
              <a:ext cx="906628" cy="874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8" name="Group 88"/>
          <p:cNvGrpSpPr>
            <a:grpSpLocks/>
          </p:cNvGrpSpPr>
          <p:nvPr/>
        </p:nvGrpSpPr>
        <p:grpSpPr bwMode="auto">
          <a:xfrm>
            <a:off x="7643813" y="4897438"/>
            <a:ext cx="1924050" cy="1231900"/>
            <a:chOff x="6324600" y="4876800"/>
            <a:chExt cx="1924098" cy="1231900"/>
          </a:xfrm>
        </p:grpSpPr>
        <p:sp>
          <p:nvSpPr>
            <p:cNvPr id="23588" name="TextBox 327"/>
            <p:cNvSpPr txBox="1">
              <a:spLocks noChangeArrowheads="1"/>
            </p:cNvSpPr>
            <p:nvPr/>
          </p:nvSpPr>
          <p:spPr bwMode="auto">
            <a:xfrm>
              <a:off x="7620000" y="5105400"/>
              <a:ext cx="6286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Pen</a:t>
              </a:r>
            </a:p>
            <a:p>
              <a:pPr algn="ctr" eaLnBrk="1" hangingPunct="1"/>
              <a:r>
                <a:rPr lang="en-US" sz="1200"/>
                <a:t>Plotter</a:t>
              </a:r>
            </a:p>
          </p:txBody>
        </p:sp>
        <p:pic>
          <p:nvPicPr>
            <p:cNvPr id="23589" name="Picture 7" descr="C:\Users\ghzite.MAIN\AppData\Local\Microsoft\Windows\Temporary Internet Files\Content.IE5\J34ZSQZE\MCj02809330000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876800"/>
              <a:ext cx="1328738" cy="123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79" name="Group 85"/>
          <p:cNvGrpSpPr>
            <a:grpSpLocks/>
          </p:cNvGrpSpPr>
          <p:nvPr/>
        </p:nvGrpSpPr>
        <p:grpSpPr bwMode="auto">
          <a:xfrm>
            <a:off x="7961314" y="2590800"/>
            <a:ext cx="1690687" cy="857250"/>
            <a:chOff x="6615989" y="2590800"/>
            <a:chExt cx="1690486" cy="857250"/>
          </a:xfrm>
        </p:grpSpPr>
        <p:sp>
          <p:nvSpPr>
            <p:cNvPr id="23586" name="TextBox 325"/>
            <p:cNvSpPr txBox="1">
              <a:spLocks noChangeArrowheads="1"/>
            </p:cNvSpPr>
            <p:nvPr/>
          </p:nvSpPr>
          <p:spPr bwMode="auto">
            <a:xfrm>
              <a:off x="7543126" y="2814934"/>
              <a:ext cx="7633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200"/>
                <a:t>Fax</a:t>
              </a:r>
            </a:p>
            <a:p>
              <a:pPr algn="ctr" eaLnBrk="1" hangingPunct="1"/>
              <a:r>
                <a:rPr lang="en-US" sz="1200"/>
                <a:t>Machine</a:t>
              </a:r>
            </a:p>
          </p:txBody>
        </p:sp>
        <p:pic>
          <p:nvPicPr>
            <p:cNvPr id="23587" name="Picture 94" descr="C:\Users\ghzite.MAIN\AppData\Local\Microsoft\Windows\Temporary Internet Files\Content.IE5\AMO16GJE\MCj04339060000[1]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989" y="2590800"/>
              <a:ext cx="857250" cy="85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3580" name="Picture 95" descr="C:\Program Files\Microsoft Office\MEDIA\CAGCAT10\j0285750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62200" y="3375026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Freeform 89"/>
          <p:cNvSpPr/>
          <p:nvPr/>
        </p:nvSpPr>
        <p:spPr>
          <a:xfrm>
            <a:off x="6321426" y="2444751"/>
            <a:ext cx="1819275" cy="1095375"/>
          </a:xfrm>
          <a:custGeom>
            <a:avLst/>
            <a:gdLst>
              <a:gd name="connsiteX0" fmla="*/ 0 w 1820174"/>
              <a:gd name="connsiteY0" fmla="*/ 1095555 h 1095555"/>
              <a:gd name="connsiteX1" fmla="*/ 138023 w 1820174"/>
              <a:gd name="connsiteY1" fmla="*/ 1078302 h 1095555"/>
              <a:gd name="connsiteX2" fmla="*/ 353683 w 1820174"/>
              <a:gd name="connsiteY2" fmla="*/ 1017917 h 1095555"/>
              <a:gd name="connsiteX3" fmla="*/ 586596 w 1820174"/>
              <a:gd name="connsiteY3" fmla="*/ 810883 h 1095555"/>
              <a:gd name="connsiteX4" fmla="*/ 733245 w 1820174"/>
              <a:gd name="connsiteY4" fmla="*/ 638355 h 1095555"/>
              <a:gd name="connsiteX5" fmla="*/ 1000664 w 1820174"/>
              <a:gd name="connsiteY5" fmla="*/ 301924 h 1095555"/>
              <a:gd name="connsiteX6" fmla="*/ 1250830 w 1820174"/>
              <a:gd name="connsiteY6" fmla="*/ 155275 h 1095555"/>
              <a:gd name="connsiteX7" fmla="*/ 1544128 w 1820174"/>
              <a:gd name="connsiteY7" fmla="*/ 60385 h 1095555"/>
              <a:gd name="connsiteX8" fmla="*/ 1820174 w 1820174"/>
              <a:gd name="connsiteY8" fmla="*/ 0 h 109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174" h="1095555">
                <a:moveTo>
                  <a:pt x="0" y="1095555"/>
                </a:moveTo>
                <a:cubicBezTo>
                  <a:pt x="39538" y="1093398"/>
                  <a:pt x="79076" y="1091242"/>
                  <a:pt x="138023" y="1078302"/>
                </a:cubicBezTo>
                <a:cubicBezTo>
                  <a:pt x="196970" y="1065362"/>
                  <a:pt x="278921" y="1062487"/>
                  <a:pt x="353683" y="1017917"/>
                </a:cubicBezTo>
                <a:cubicBezTo>
                  <a:pt x="428445" y="973347"/>
                  <a:pt x="523336" y="874143"/>
                  <a:pt x="586596" y="810883"/>
                </a:cubicBezTo>
                <a:cubicBezTo>
                  <a:pt x="649856" y="747623"/>
                  <a:pt x="664234" y="723181"/>
                  <a:pt x="733245" y="638355"/>
                </a:cubicBezTo>
                <a:cubicBezTo>
                  <a:pt x="802256" y="553529"/>
                  <a:pt x="914400" y="382437"/>
                  <a:pt x="1000664" y="301924"/>
                </a:cubicBezTo>
                <a:cubicBezTo>
                  <a:pt x="1086928" y="221411"/>
                  <a:pt x="1160253" y="195531"/>
                  <a:pt x="1250830" y="155275"/>
                </a:cubicBezTo>
                <a:cubicBezTo>
                  <a:pt x="1341407" y="115019"/>
                  <a:pt x="1449237" y="86264"/>
                  <a:pt x="1544128" y="60385"/>
                </a:cubicBezTo>
                <a:cubicBezTo>
                  <a:pt x="1639019" y="34506"/>
                  <a:pt x="1729596" y="17253"/>
                  <a:pt x="1820174" y="0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1" name="Freeform 90"/>
          <p:cNvSpPr/>
          <p:nvPr/>
        </p:nvSpPr>
        <p:spPr>
          <a:xfrm>
            <a:off x="6313488" y="3175001"/>
            <a:ext cx="1803400" cy="638175"/>
          </a:xfrm>
          <a:custGeom>
            <a:avLst/>
            <a:gdLst>
              <a:gd name="connsiteX0" fmla="*/ 0 w 1802921"/>
              <a:gd name="connsiteY0" fmla="*/ 638354 h 638354"/>
              <a:gd name="connsiteX1" fmla="*/ 250166 w 1802921"/>
              <a:gd name="connsiteY1" fmla="*/ 612475 h 638354"/>
              <a:gd name="connsiteX2" fmla="*/ 724619 w 1802921"/>
              <a:gd name="connsiteY2" fmla="*/ 517585 h 638354"/>
              <a:gd name="connsiteX3" fmla="*/ 1173193 w 1802921"/>
              <a:gd name="connsiteY3" fmla="*/ 319177 h 638354"/>
              <a:gd name="connsiteX4" fmla="*/ 1449238 w 1802921"/>
              <a:gd name="connsiteY4" fmla="*/ 146649 h 638354"/>
              <a:gd name="connsiteX5" fmla="*/ 1802921 w 1802921"/>
              <a:gd name="connsiteY5" fmla="*/ 0 h 63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2921" h="638354">
                <a:moveTo>
                  <a:pt x="0" y="638354"/>
                </a:moveTo>
                <a:cubicBezTo>
                  <a:pt x="64698" y="635478"/>
                  <a:pt x="129396" y="632603"/>
                  <a:pt x="250166" y="612475"/>
                </a:cubicBezTo>
                <a:cubicBezTo>
                  <a:pt x="370936" y="592347"/>
                  <a:pt x="570781" y="566468"/>
                  <a:pt x="724619" y="517585"/>
                </a:cubicBezTo>
                <a:cubicBezTo>
                  <a:pt x="878457" y="468702"/>
                  <a:pt x="1052423" y="381000"/>
                  <a:pt x="1173193" y="319177"/>
                </a:cubicBezTo>
                <a:cubicBezTo>
                  <a:pt x="1293963" y="257354"/>
                  <a:pt x="1344283" y="199845"/>
                  <a:pt x="1449238" y="146649"/>
                </a:cubicBezTo>
                <a:cubicBezTo>
                  <a:pt x="1554193" y="93453"/>
                  <a:pt x="1678557" y="46726"/>
                  <a:pt x="1802921" y="0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2" name="Freeform 91"/>
          <p:cNvSpPr/>
          <p:nvPr/>
        </p:nvSpPr>
        <p:spPr>
          <a:xfrm>
            <a:off x="6318250" y="3990975"/>
            <a:ext cx="1733550" cy="236538"/>
          </a:xfrm>
          <a:custGeom>
            <a:avLst/>
            <a:gdLst>
              <a:gd name="connsiteX0" fmla="*/ 0 w 1733909"/>
              <a:gd name="connsiteY0" fmla="*/ 80513 h 235788"/>
              <a:gd name="connsiteX1" fmla="*/ 500332 w 1733909"/>
              <a:gd name="connsiteY1" fmla="*/ 28754 h 235788"/>
              <a:gd name="connsiteX2" fmla="*/ 897147 w 1733909"/>
              <a:gd name="connsiteY2" fmla="*/ 20128 h 235788"/>
              <a:gd name="connsiteX3" fmla="*/ 1475116 w 1733909"/>
              <a:gd name="connsiteY3" fmla="*/ 149524 h 235788"/>
              <a:gd name="connsiteX4" fmla="*/ 1733909 w 1733909"/>
              <a:gd name="connsiteY4" fmla="*/ 235788 h 23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3909" h="235788">
                <a:moveTo>
                  <a:pt x="0" y="80513"/>
                </a:moveTo>
                <a:cubicBezTo>
                  <a:pt x="175404" y="59665"/>
                  <a:pt x="350808" y="38818"/>
                  <a:pt x="500332" y="28754"/>
                </a:cubicBezTo>
                <a:cubicBezTo>
                  <a:pt x="649856" y="18690"/>
                  <a:pt x="734683" y="0"/>
                  <a:pt x="897147" y="20128"/>
                </a:cubicBezTo>
                <a:cubicBezTo>
                  <a:pt x="1059611" y="40256"/>
                  <a:pt x="1335656" y="113581"/>
                  <a:pt x="1475116" y="149524"/>
                </a:cubicBezTo>
                <a:cubicBezTo>
                  <a:pt x="1614576" y="185467"/>
                  <a:pt x="1674242" y="210627"/>
                  <a:pt x="1733909" y="235788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3" name="Freeform 92"/>
          <p:cNvSpPr/>
          <p:nvPr/>
        </p:nvSpPr>
        <p:spPr>
          <a:xfrm>
            <a:off x="6319838" y="4327525"/>
            <a:ext cx="1484312" cy="679450"/>
          </a:xfrm>
          <a:custGeom>
            <a:avLst/>
            <a:gdLst>
              <a:gd name="connsiteX0" fmla="*/ 0 w 1483744"/>
              <a:gd name="connsiteY0" fmla="*/ 15816 h 680050"/>
              <a:gd name="connsiteX1" fmla="*/ 370936 w 1483744"/>
              <a:gd name="connsiteY1" fmla="*/ 7189 h 680050"/>
              <a:gd name="connsiteX2" fmla="*/ 767751 w 1483744"/>
              <a:gd name="connsiteY2" fmla="*/ 58948 h 680050"/>
              <a:gd name="connsiteX3" fmla="*/ 1155940 w 1483744"/>
              <a:gd name="connsiteY3" fmla="*/ 248729 h 680050"/>
              <a:gd name="connsiteX4" fmla="*/ 1371600 w 1483744"/>
              <a:gd name="connsiteY4" fmla="*/ 498895 h 680050"/>
              <a:gd name="connsiteX5" fmla="*/ 1483744 w 1483744"/>
              <a:gd name="connsiteY5" fmla="*/ 680050 h 68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3744" h="680050">
                <a:moveTo>
                  <a:pt x="0" y="15816"/>
                </a:moveTo>
                <a:cubicBezTo>
                  <a:pt x="121489" y="7908"/>
                  <a:pt x="242978" y="0"/>
                  <a:pt x="370936" y="7189"/>
                </a:cubicBezTo>
                <a:cubicBezTo>
                  <a:pt x="498894" y="14378"/>
                  <a:pt x="636917" y="18691"/>
                  <a:pt x="767751" y="58948"/>
                </a:cubicBezTo>
                <a:cubicBezTo>
                  <a:pt x="898585" y="99205"/>
                  <a:pt x="1055299" y="175405"/>
                  <a:pt x="1155940" y="248729"/>
                </a:cubicBezTo>
                <a:cubicBezTo>
                  <a:pt x="1256582" y="322054"/>
                  <a:pt x="1316966" y="427008"/>
                  <a:pt x="1371600" y="498895"/>
                </a:cubicBezTo>
                <a:cubicBezTo>
                  <a:pt x="1426234" y="570782"/>
                  <a:pt x="1454989" y="625416"/>
                  <a:pt x="1483744" y="680050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57" name="Freeform 356"/>
          <p:cNvSpPr/>
          <p:nvPr/>
        </p:nvSpPr>
        <p:spPr>
          <a:xfrm flipV="1">
            <a:off x="3962401" y="3881438"/>
            <a:ext cx="1090613" cy="385762"/>
          </a:xfrm>
          <a:custGeom>
            <a:avLst/>
            <a:gdLst>
              <a:gd name="connsiteX0" fmla="*/ 0 w 1201479"/>
              <a:gd name="connsiteY0" fmla="*/ 14177 h 386316"/>
              <a:gd name="connsiteX1" fmla="*/ 159488 w 1201479"/>
              <a:gd name="connsiteY1" fmla="*/ 14177 h 386316"/>
              <a:gd name="connsiteX2" fmla="*/ 318976 w 1201479"/>
              <a:gd name="connsiteY2" fmla="*/ 99237 h 386316"/>
              <a:gd name="connsiteX3" fmla="*/ 446567 w 1201479"/>
              <a:gd name="connsiteY3" fmla="*/ 237460 h 386316"/>
              <a:gd name="connsiteX4" fmla="*/ 680483 w 1201479"/>
              <a:gd name="connsiteY4" fmla="*/ 333153 h 386316"/>
              <a:gd name="connsiteX5" fmla="*/ 956930 w 1201479"/>
              <a:gd name="connsiteY5" fmla="*/ 333153 h 386316"/>
              <a:gd name="connsiteX6" fmla="*/ 1201479 w 1201479"/>
              <a:gd name="connsiteY6" fmla="*/ 386316 h 38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1479" h="386316">
                <a:moveTo>
                  <a:pt x="0" y="14177"/>
                </a:moveTo>
                <a:cubicBezTo>
                  <a:pt x="53162" y="7088"/>
                  <a:pt x="106325" y="0"/>
                  <a:pt x="159488" y="14177"/>
                </a:cubicBezTo>
                <a:cubicBezTo>
                  <a:pt x="212651" y="28354"/>
                  <a:pt x="271130" y="62023"/>
                  <a:pt x="318976" y="99237"/>
                </a:cubicBezTo>
                <a:cubicBezTo>
                  <a:pt x="366823" y="136451"/>
                  <a:pt x="386316" y="198474"/>
                  <a:pt x="446567" y="237460"/>
                </a:cubicBezTo>
                <a:cubicBezTo>
                  <a:pt x="506818" y="276446"/>
                  <a:pt x="595423" y="317204"/>
                  <a:pt x="680483" y="333153"/>
                </a:cubicBezTo>
                <a:cubicBezTo>
                  <a:pt x="765543" y="349102"/>
                  <a:pt x="870097" y="324292"/>
                  <a:pt x="956930" y="333153"/>
                </a:cubicBezTo>
                <a:cubicBezTo>
                  <a:pt x="1043763" y="342014"/>
                  <a:pt x="1201479" y="386316"/>
                  <a:pt x="1201479" y="386316"/>
                </a:cubicBezTo>
              </a:path>
            </a:pathLst>
          </a:custGeom>
          <a:ln w="12700">
            <a:solidFill>
              <a:srgbClr val="FF000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06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AB224B-75F4-4BD8-96BD-395DCF105CA3}"/>
              </a:ext>
            </a:extLst>
          </p:cNvPr>
          <p:cNvSpPr/>
          <p:nvPr/>
        </p:nvSpPr>
        <p:spPr>
          <a:xfrm>
            <a:off x="551384" y="332656"/>
            <a:ext cx="56108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>
                <a:latin typeface="Verdana" panose="020B0604030504040204" pitchFamily="34" charset="0"/>
              </a:rPr>
              <a:t>1×2 Demultiplexer</a:t>
            </a:r>
            <a:endParaRPr lang="en-IN" sz="4000" b="1" i="0" dirty="0">
              <a:effectLst/>
              <a:latin typeface="Verdana" panose="020B0604030504040204" pitchFamily="34" charset="0"/>
            </a:endParaRPr>
          </a:p>
        </p:txBody>
      </p:sp>
      <p:pic>
        <p:nvPicPr>
          <p:cNvPr id="10242" name="Picture 2" descr="1 to 2 Demultiplexer">
            <a:extLst>
              <a:ext uri="{FF2B5EF4-FFF2-40B4-BE49-F238E27FC236}">
                <a16:creationId xmlns:a16="http://schemas.microsoft.com/office/drawing/2014/main" id="{1F8918AD-36C3-402C-ACFE-D75017C48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852936"/>
            <a:ext cx="9001000" cy="33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11A6D3-8A33-4C90-A4C2-C47FA43ACA67}"/>
              </a:ext>
            </a:extLst>
          </p:cNvPr>
          <p:cNvSpPr/>
          <p:nvPr/>
        </p:nvSpPr>
        <p:spPr>
          <a:xfrm>
            <a:off x="551384" y="1248380"/>
            <a:ext cx="10916815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The 1×2 Demultiplexer consists of 1 input line (I), 1 select line (S), and 2 output lines (Y0 and Y1).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93429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B3617D-56FE-480F-AC91-83024BCBF522}"/>
              </a:ext>
            </a:extLst>
          </p:cNvPr>
          <p:cNvSpPr/>
          <p:nvPr/>
        </p:nvSpPr>
        <p:spPr>
          <a:xfrm>
            <a:off x="479376" y="404664"/>
            <a:ext cx="112332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The operation of the 1×2 Demultiplexer can be analyzed with the help of its function table given below.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6AD08-3E6C-46C4-AF59-D4B93017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852392"/>
            <a:ext cx="10801199" cy="48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04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60810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 </a:t>
            </a:r>
            <a:r>
              <a:rPr lang="en-IN" b="1" dirty="0">
                <a:solidFill>
                  <a:srgbClr val="C00000"/>
                </a:solidFill>
              </a:rPr>
              <a:t>1X4 </a:t>
            </a:r>
            <a:r>
              <a:rPr lang="en-IN" sz="4800" b="1" dirty="0">
                <a:solidFill>
                  <a:srgbClr val="C00000"/>
                </a:solidFill>
              </a:rPr>
              <a:t>De-multiplexer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3810"/>
            <a:ext cx="109728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 1x4 DEMUX has only one input which is denoted as I. There are two selection lines i.e. S1 and S0.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At last, the DEMUX has output lines including Y3, Y2, Y1 &amp;Y0. The input data goes to any one of the four outputs at a given time for a particular combination of select lines.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54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8AADD-9525-44A3-956B-A4432E92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412776"/>
            <a:ext cx="8333868" cy="50360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05DA7D-67AA-46C5-9D66-C59C7D6F232C}"/>
              </a:ext>
            </a:extLst>
          </p:cNvPr>
          <p:cNvSpPr/>
          <p:nvPr/>
        </p:nvSpPr>
        <p:spPr>
          <a:xfrm>
            <a:off x="335360" y="409154"/>
            <a:ext cx="111973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600" dirty="0"/>
              <a:t>Here is the 1x4 DEMUX with diagram as mentioned below. </a:t>
            </a:r>
          </a:p>
        </p:txBody>
      </p:sp>
    </p:spTree>
    <p:extLst>
      <p:ext uri="{BB962C8B-B14F-4D97-AF65-F5344CB8AC3E}">
        <p14:creationId xmlns:p14="http://schemas.microsoft.com/office/powerpoint/2010/main" val="681408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504" y="2588212"/>
            <a:ext cx="4100661" cy="3831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9E3E3E-F3D8-4518-9D6A-01DF45C8946D}"/>
              </a:ext>
            </a:extLst>
          </p:cNvPr>
          <p:cNvSpPr txBox="1"/>
          <p:nvPr/>
        </p:nvSpPr>
        <p:spPr>
          <a:xfrm>
            <a:off x="3872880" y="5661248"/>
            <a:ext cx="3438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Input line I or Din</a:t>
            </a:r>
            <a:endParaRPr lang="en-IN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D012-42EA-4840-85B7-0D97017A1311}"/>
              </a:ext>
            </a:extLst>
          </p:cNvPr>
          <p:cNvSpPr/>
          <p:nvPr/>
        </p:nvSpPr>
        <p:spPr>
          <a:xfrm>
            <a:off x="5087888" y="36696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</a:rPr>
              <a:t>From this truth table of 1×4 Demultiplexer, we can directly write the Boolean expression for each output as follow.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1C1AF-367B-4BC5-BBA2-DAF58807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5" y="306412"/>
            <a:ext cx="4896544" cy="5269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24C55-0C35-4E54-933E-54B9585BE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904" y="1539102"/>
            <a:ext cx="2448271" cy="18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EB6D0E-DC5F-4168-8352-14E979703143}"/>
              </a:ext>
            </a:extLst>
          </p:cNvPr>
          <p:cNvSpPr/>
          <p:nvPr/>
        </p:nvSpPr>
        <p:spPr>
          <a:xfrm flipH="1">
            <a:off x="767408" y="188640"/>
            <a:ext cx="49685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1X8 De-multiplexer</a:t>
            </a:r>
            <a:endParaRPr lang="en-IN" sz="4400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DE3CD6EF-BE97-456C-B801-7226AFF30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126" y="1652754"/>
            <a:ext cx="7630170" cy="429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005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FCEF05-B613-4133-A051-7530C5FF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476673"/>
            <a:ext cx="10441159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04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2B6F-C2AB-4F11-A012-ACDD5E73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88640"/>
            <a:ext cx="10972800" cy="778098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/>
            </a:br>
            <a:r>
              <a:rPr lang="en-IN" b="1" dirty="0"/>
              <a:t>Implementation of Higher-order Demultiplexer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0B62B-0121-4D71-9044-03201E35F100}"/>
              </a:ext>
            </a:extLst>
          </p:cNvPr>
          <p:cNvSpPr/>
          <p:nvPr/>
        </p:nvSpPr>
        <p:spPr>
          <a:xfrm>
            <a:off x="551384" y="1196752"/>
            <a:ext cx="4968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latin typeface="Verdana" panose="020B0604030504040204" pitchFamily="34" charset="0"/>
              </a:rPr>
              <a:t>1×8 Demultiplexer</a:t>
            </a:r>
            <a:endParaRPr lang="en-IN" sz="3600" b="0" i="0" dirty="0">
              <a:effectLst/>
              <a:latin typeface="Verdana" panose="020B0604030504040204" pitchFamily="34" charset="0"/>
            </a:endParaRPr>
          </a:p>
        </p:txBody>
      </p:sp>
      <p:pic>
        <p:nvPicPr>
          <p:cNvPr id="11266" name="Picture 2" descr="1 to 8 Demultiplexer">
            <a:extLst>
              <a:ext uri="{FF2B5EF4-FFF2-40B4-BE49-F238E27FC236}">
                <a16:creationId xmlns:a16="http://schemas.microsoft.com/office/drawing/2014/main" id="{296E721C-374A-409D-BBF4-04DEA5724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1556792"/>
            <a:ext cx="5976664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1882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2452C480-39E9-4790-BB89-58E3B3C6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2087364"/>
            <a:ext cx="9001000" cy="445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C0F71A-7AC7-46EA-9AE5-4C922697661D}"/>
              </a:ext>
            </a:extLst>
          </p:cNvPr>
          <p:cNvSpPr/>
          <p:nvPr/>
        </p:nvSpPr>
        <p:spPr>
          <a:xfrm flipH="1">
            <a:off x="767408" y="188640"/>
            <a:ext cx="49685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1X16 De-multiplexer</a:t>
            </a:r>
            <a:endParaRPr lang="en-IN" sz="4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9BF1A-D27F-46EB-84BD-41323DB62113}"/>
              </a:ext>
            </a:extLst>
          </p:cNvPr>
          <p:cNvSpPr/>
          <p:nvPr/>
        </p:nvSpPr>
        <p:spPr>
          <a:xfrm>
            <a:off x="1703512" y="1484784"/>
            <a:ext cx="4737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1X16 De-multiplexer using 1x2 and 1x8  DEMUX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406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57198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1" dirty="0">
                <a:solidFill>
                  <a:srgbClr val="C00000"/>
                </a:solidFill>
              </a:rPr>
              <a:t>Binary Multiplier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113312"/>
            <a:ext cx="10972800" cy="562805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Multiplication of binary numbers is performed in the same way as multiplication of decimal numbers.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multiplicand is multiplied by each bit of the multiplier, starting from the least significant bit.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Each such multiplication forms a partial product. Successive partial products are shifted one position to the left.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final product is obtained from the sum of the partial products.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45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260648"/>
            <a:ext cx="11377264" cy="478539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Consider the multiplication of two 2-bit numbers as shown in Fig.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48350FE-2777-4852-B1A7-B5FB4640D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052736"/>
            <a:ext cx="10801200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659EC-458B-407D-BEA4-E16951D5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260648"/>
            <a:ext cx="10972800" cy="633670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multiplicand bits are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, the multiplier bits are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, and the product is </a:t>
            </a:r>
            <a:r>
              <a:rPr lang="en-US" i="1" dirty="0"/>
              <a:t>C</a:t>
            </a:r>
            <a:r>
              <a:rPr lang="en-US" baseline="-25000" dirty="0"/>
              <a:t>3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i="1" dirty="0"/>
              <a:t>C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first partial product is formed by multiplying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by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multiplication of two bits such as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produces a 1 if both bits are 1; otherwise, it produces a 0. This is identical to an AND operation. Therefore, the partial product can be implemented with AND gates as shown in the diagram.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396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0"/>
            <a:ext cx="10972800" cy="6858000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The second partial product is formed by multiplying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by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and shifting one position to the left.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The two partial products are added with two half-adder (HA) circuits.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Usually, there are more bits in the partial products and it is necessary to use full adders to produce the sum of the partial products.</a:t>
            </a:r>
          </a:p>
        </p:txBody>
      </p:sp>
    </p:spTree>
    <p:extLst>
      <p:ext uri="{BB962C8B-B14F-4D97-AF65-F5344CB8AC3E}">
        <p14:creationId xmlns:p14="http://schemas.microsoft.com/office/powerpoint/2010/main" val="89868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78D26-6AC2-4D7D-BA56-39145EFEBE17}"/>
              </a:ext>
            </a:extLst>
          </p:cNvPr>
          <p:cNvSpPr/>
          <p:nvPr/>
        </p:nvSpPr>
        <p:spPr>
          <a:xfrm>
            <a:off x="191344" y="332656"/>
            <a:ext cx="11377264" cy="236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3200" dirty="0"/>
              <a:t>Note that the least significant bit of the product does not have to go through an adder, since it is formed by the output of the first AND gate.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40073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404665"/>
            <a:ext cx="11521280" cy="57215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combinational circuit binary multiplier with more bits can be constructed in a similar fashion.</a:t>
            </a:r>
          </a:p>
          <a:p>
            <a:pPr algn="just"/>
            <a:r>
              <a:rPr lang="en-US" dirty="0"/>
              <a:t>A bit of the multiplier is </a:t>
            </a:r>
            <a:r>
              <a:rPr lang="en-US" dirty="0" err="1"/>
              <a:t>ANDed</a:t>
            </a:r>
            <a:r>
              <a:rPr lang="en-US" dirty="0"/>
              <a:t> with each bit of the multiplicand in as many levels as there are bits in the multiplier.</a:t>
            </a:r>
          </a:p>
          <a:p>
            <a:pPr algn="just"/>
            <a:r>
              <a:rPr lang="en-US" dirty="0"/>
              <a:t>The binary output in each level of AND gates is added with the partial product of the previous level to form a new partial product.</a:t>
            </a:r>
          </a:p>
          <a:p>
            <a:pPr algn="just"/>
            <a:r>
              <a:rPr lang="en-US" dirty="0"/>
              <a:t>The last level produces the product.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For </a:t>
            </a:r>
            <a:r>
              <a:rPr lang="en-US" i="1" dirty="0">
                <a:solidFill>
                  <a:srgbClr val="002060"/>
                </a:solidFill>
              </a:rPr>
              <a:t>J </a:t>
            </a:r>
            <a:r>
              <a:rPr lang="en-US" dirty="0">
                <a:solidFill>
                  <a:srgbClr val="002060"/>
                </a:solidFill>
              </a:rPr>
              <a:t>multiplier bits and </a:t>
            </a:r>
            <a:r>
              <a:rPr lang="en-US" i="1" dirty="0">
                <a:solidFill>
                  <a:srgbClr val="002060"/>
                </a:solidFill>
              </a:rPr>
              <a:t>K </a:t>
            </a:r>
            <a:r>
              <a:rPr lang="en-US" dirty="0">
                <a:solidFill>
                  <a:srgbClr val="002060"/>
                </a:solidFill>
              </a:rPr>
              <a:t>multiplicand bits, we need (</a:t>
            </a:r>
            <a:r>
              <a:rPr lang="en-US" i="1" dirty="0">
                <a:solidFill>
                  <a:srgbClr val="002060"/>
                </a:solidFill>
              </a:rPr>
              <a:t>J </a:t>
            </a:r>
            <a:r>
              <a:rPr lang="en-US" dirty="0">
                <a:solidFill>
                  <a:srgbClr val="002060"/>
                </a:solidFill>
              </a:rPr>
              <a:t>× </a:t>
            </a:r>
            <a:r>
              <a:rPr lang="en-US" i="1" dirty="0">
                <a:solidFill>
                  <a:srgbClr val="002060"/>
                </a:solidFill>
              </a:rPr>
              <a:t>K</a:t>
            </a:r>
            <a:r>
              <a:rPr lang="en-US" dirty="0">
                <a:solidFill>
                  <a:srgbClr val="002060"/>
                </a:solidFill>
              </a:rPr>
              <a:t>) AND gates.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09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91807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</a:rPr>
              <a:t>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672" y="1059501"/>
            <a:ext cx="10972800" cy="4525963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An encoder is a </a:t>
            </a:r>
            <a:r>
              <a:rPr lang="en-US" sz="2800" dirty="0"/>
              <a:t>combinational</a:t>
            </a:r>
            <a:r>
              <a:rPr lang="en-US" sz="3000" dirty="0"/>
              <a:t> circuit which have maximum of “2^n" input lines and "n" output lines. </a:t>
            </a:r>
          </a:p>
          <a:p>
            <a:pPr algn="just"/>
            <a:r>
              <a:rPr lang="en-US" sz="3000" dirty="0"/>
              <a:t>An encoder has </a:t>
            </a:r>
            <a:r>
              <a:rPr lang="en-US" sz="3000" dirty="0">
                <a:solidFill>
                  <a:srgbClr val="002060"/>
                </a:solidFill>
              </a:rPr>
              <a:t>2</a:t>
            </a:r>
            <a:r>
              <a:rPr lang="en-US" sz="3000" i="1" baseline="30000" dirty="0">
                <a:solidFill>
                  <a:srgbClr val="002060"/>
                </a:solidFill>
              </a:rPr>
              <a:t>n</a:t>
            </a:r>
            <a:r>
              <a:rPr lang="en-US" sz="3000" i="1" dirty="0"/>
              <a:t>  </a:t>
            </a:r>
            <a:r>
              <a:rPr lang="en-US" sz="3000" dirty="0"/>
              <a:t>input lines and 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i="1" dirty="0"/>
              <a:t> </a:t>
            </a:r>
            <a:r>
              <a:rPr lang="en-US" sz="3000" dirty="0"/>
              <a:t>output lines.</a:t>
            </a:r>
          </a:p>
          <a:p>
            <a:pPr algn="just"/>
            <a:r>
              <a:rPr lang="en-US" sz="3000" dirty="0"/>
              <a:t>The output lines, as an aggregate, generate the binary code corresponding to the input value.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934832" y="3717032"/>
            <a:ext cx="5833577" cy="2736304"/>
            <a:chOff x="2339752" y="4293096"/>
            <a:chExt cx="5833577" cy="1728192"/>
          </a:xfrm>
        </p:grpSpPr>
        <p:sp>
          <p:nvSpPr>
            <p:cNvPr id="5" name="Rectangle 4"/>
            <p:cNvSpPr/>
            <p:nvPr/>
          </p:nvSpPr>
          <p:spPr>
            <a:xfrm>
              <a:off x="4499992" y="4293096"/>
              <a:ext cx="1728192" cy="172819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  <a:r>
                <a:rPr lang="en-US" i="1" baseline="30000" dirty="0">
                  <a:solidFill>
                    <a:schemeClr val="tx1"/>
                  </a:solidFill>
                </a:rPr>
                <a:t>n</a:t>
              </a:r>
              <a:r>
                <a:rPr lang="en-US" dirty="0">
                  <a:solidFill>
                    <a:schemeClr val="tx1"/>
                  </a:solidFill>
                </a:rPr>
                <a:t>-to-</a:t>
              </a:r>
              <a:r>
                <a:rPr lang="en-US" i="1" dirty="0">
                  <a:solidFill>
                    <a:schemeClr val="tx1"/>
                  </a:solidFill>
                </a:rPr>
                <a:t>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Encoder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563888" y="4653136"/>
              <a:ext cx="9361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563888" y="5013176"/>
              <a:ext cx="9361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3563888" y="5805264"/>
              <a:ext cx="9361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6228184" y="4653136"/>
              <a:ext cx="6480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228184" y="5013176"/>
              <a:ext cx="6480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228184" y="5805264"/>
              <a:ext cx="6480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Left Brace 11"/>
            <p:cNvSpPr/>
            <p:nvPr/>
          </p:nvSpPr>
          <p:spPr>
            <a:xfrm>
              <a:off x="3131840" y="4509120"/>
              <a:ext cx="576063" cy="144016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ight Brace 12"/>
            <p:cNvSpPr/>
            <p:nvPr/>
          </p:nvSpPr>
          <p:spPr>
            <a:xfrm>
              <a:off x="6660231" y="4509120"/>
              <a:ext cx="648073" cy="144016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39752" y="4809926"/>
              <a:ext cx="67999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r>
                <a:rPr lang="en-US" i="1" baseline="30000" dirty="0"/>
                <a:t>n</a:t>
              </a:r>
            </a:p>
            <a:p>
              <a:pPr algn="ctr"/>
              <a:r>
                <a:rPr lang="en-US" dirty="0"/>
                <a:t>input</a:t>
              </a:r>
            </a:p>
            <a:p>
              <a:pPr algn="ctr"/>
              <a:r>
                <a:rPr lang="en-US" dirty="0"/>
                <a:t>lines </a:t>
              </a:r>
              <a:endParaRPr lang="en-IN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47462" y="4797152"/>
              <a:ext cx="82586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n</a:t>
              </a:r>
            </a:p>
            <a:p>
              <a:pPr algn="ctr"/>
              <a:r>
                <a:rPr lang="en-US" dirty="0"/>
                <a:t>output</a:t>
              </a:r>
            </a:p>
            <a:p>
              <a:pPr algn="ctr"/>
              <a:r>
                <a:rPr lang="en-US" dirty="0"/>
                <a:t>lines </a:t>
              </a:r>
              <a:endParaRPr lang="en-IN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23928" y="5013176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17858" y="5013176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91091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B2ED-AEAC-4015-BA20-84A4D58B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Types of Encoders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9F12-6DEF-4DF4-9455-F9808E9AD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64420"/>
            <a:ext cx="10972800" cy="4525963"/>
          </a:xfrm>
        </p:spPr>
        <p:txBody>
          <a:bodyPr/>
          <a:lstStyle/>
          <a:p>
            <a:r>
              <a:rPr lang="en-IN" dirty="0"/>
              <a:t>4 to 2 Encoder</a:t>
            </a:r>
          </a:p>
          <a:p>
            <a:r>
              <a:rPr lang="en-IN" dirty="0"/>
              <a:t>8 to 3 Encoder (Octal Encoder)</a:t>
            </a:r>
          </a:p>
          <a:p>
            <a:r>
              <a:rPr lang="en-IN" dirty="0"/>
              <a:t>Decimal to BCD Encoder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490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1E017-8AB8-4ABC-8DD6-2B51C288F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04665"/>
            <a:ext cx="10972800" cy="3528392"/>
          </a:xfrm>
        </p:spPr>
        <p:txBody>
          <a:bodyPr>
            <a:normAutofit fontScale="77500" lnSpcReduction="20000"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4 to 2 Encoder</a:t>
            </a:r>
          </a:p>
          <a:p>
            <a:pPr>
              <a:lnSpc>
                <a:spcPct val="160000"/>
              </a:lnSpc>
            </a:pPr>
            <a:r>
              <a:rPr lang="en-US" dirty="0"/>
              <a:t>A 4 to 2 Encoder is a type of encoder which has 4 (2</a:t>
            </a:r>
            <a:r>
              <a:rPr lang="en-US" baseline="30000" dirty="0"/>
              <a:t>2</a:t>
            </a:r>
            <a:r>
              <a:rPr lang="en-US" dirty="0"/>
              <a:t>) input lines and 2 output lines. It produces an output code (i.e., convert input information into  2-bit format) depending on the combination of input lines.</a:t>
            </a:r>
          </a:p>
          <a:p>
            <a:pPr>
              <a:lnSpc>
                <a:spcPct val="160000"/>
              </a:lnSpc>
            </a:pPr>
            <a:r>
              <a:rPr lang="en-US" dirty="0"/>
              <a:t>The block diagram of a 4 to 2 Encoder is shown in the following figure.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9F9F7-1154-4CC2-BF88-0D903CD8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75" y="3429000"/>
            <a:ext cx="4648849" cy="302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310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78468-F4C2-444E-802C-EF6193121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476672"/>
            <a:ext cx="10225136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068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F65FA1-BB3F-4FE4-993E-3F5E30CA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60648"/>
            <a:ext cx="9937104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690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25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Octal-to-Binary Encoder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704" y="800113"/>
            <a:ext cx="10972800" cy="4525963"/>
          </a:xfrm>
        </p:spPr>
        <p:txBody>
          <a:bodyPr/>
          <a:lstStyle/>
          <a:p>
            <a:pPr algn="just"/>
            <a:r>
              <a:rPr lang="en-US" sz="2800" dirty="0"/>
              <a:t>It has eight inputs (one for each of the octal digits) and three outputs that generate the corresponding binary number. </a:t>
            </a:r>
            <a:r>
              <a:rPr lang="en-US" dirty="0"/>
              <a:t> it is also known as </a:t>
            </a:r>
            <a:r>
              <a:rPr lang="en-US" b="1" dirty="0"/>
              <a:t>8 to 3 Encoder</a:t>
            </a:r>
            <a:r>
              <a:rPr lang="en-US" dirty="0"/>
              <a:t>.</a:t>
            </a:r>
            <a:endParaRPr lang="en-US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CD88-1CE9-469B-9EEA-6799ABA7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2708920"/>
            <a:ext cx="964907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6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759A82-D9A3-4E4B-809F-378B2996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60648"/>
            <a:ext cx="10729192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64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4527DF-FF9A-40CB-A2A2-0A15858E29DE}"/>
              </a:ext>
            </a:extLst>
          </p:cNvPr>
          <p:cNvSpPr/>
          <p:nvPr/>
        </p:nvSpPr>
        <p:spPr>
          <a:xfrm>
            <a:off x="407368" y="179889"/>
            <a:ext cx="112332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From the truth table, output </a:t>
            </a:r>
            <a:r>
              <a:rPr lang="en-US" sz="3200" i="1" dirty="0"/>
              <a:t>Y0 </a:t>
            </a:r>
            <a:r>
              <a:rPr lang="en-US" sz="3200" dirty="0"/>
              <a:t>is equal to 1 when the input octal digit is 1, 3, 5, or 7. Output </a:t>
            </a:r>
            <a:r>
              <a:rPr lang="en-US" sz="3200" i="1" dirty="0"/>
              <a:t>Y1 </a:t>
            </a:r>
            <a:r>
              <a:rPr lang="en-US" sz="3200" dirty="0"/>
              <a:t>is 1 for octal digits 2, 3, 6, or 7, and output </a:t>
            </a:r>
            <a:r>
              <a:rPr lang="en-US" sz="3200" i="1" dirty="0"/>
              <a:t>Y2 </a:t>
            </a:r>
            <a:r>
              <a:rPr lang="en-US" sz="3200" dirty="0"/>
              <a:t>is 1 for digits 4, 5, 6, or 7.</a:t>
            </a:r>
          </a:p>
          <a:p>
            <a:pPr algn="just"/>
            <a:r>
              <a:rPr lang="en-US" sz="3200" dirty="0"/>
              <a:t>These conditions can be expressed by the following Boolean output functions: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65FB4-008F-4D4C-A371-2FC473C00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2862183"/>
            <a:ext cx="7920880" cy="31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4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3183D-AB9A-4E05-96CF-91A1327E398D}"/>
              </a:ext>
            </a:extLst>
          </p:cNvPr>
          <p:cNvSpPr/>
          <p:nvPr/>
        </p:nvSpPr>
        <p:spPr>
          <a:xfrm>
            <a:off x="665440" y="276780"/>
            <a:ext cx="81295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/>
              <a:t>The encoder can be implemented with three OR gates.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8EC17-C4E9-4854-BE7B-79D7BD85F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628800"/>
            <a:ext cx="10009112" cy="468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64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692697"/>
            <a:ext cx="10657184" cy="543346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</a:rPr>
              <a:t>There are two ambiguities associated with the design of a octal-to-binary encoder: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/>
              <a:t>Only one input can be active at any given time. If two inputs are active simultaneously, the output produces an undefined combination.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</a:rPr>
              <a:t>To resolve this ambiguity, encoder circuits must establish an input priority to ensure that only one input is encoded.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57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Priority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priority encoder</a:t>
            </a:r>
            <a:r>
              <a:rPr lang="en-US" dirty="0"/>
              <a:t> is an encoder circuit that includes the priority function.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operation of the priority encoder is such that if two or more inputs are equal to 1 at the same time, the input having the highest priority will take precedence.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83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Four-input Priority Encoder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966119"/>
            <a:ext cx="11593288" cy="577524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It has three outputs designated by A, B, and V. Where, A and B are the ordinary outputs and V is the output that acts as a valid bit indicator.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This third output V is set to 1 when one or more inputs are equal to 1.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In the case, when all the inputs to the encoder are equal to 0, there is no any valid input, and thus the output V is set to 0.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The other two outputs, i.e. A and B of the encoder are not determined when V is equal to 0.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Therefore, when, V is equal to 0, the outputs A and B are specified as "</a:t>
            </a:r>
            <a:r>
              <a:rPr lang="en-US" dirty="0" err="1"/>
              <a:t>dont</a:t>
            </a:r>
            <a:r>
              <a:rPr lang="en-US" dirty="0"/>
              <a:t> care conditions".</a:t>
            </a:r>
          </a:p>
        </p:txBody>
      </p:sp>
    </p:spTree>
    <p:extLst>
      <p:ext uri="{BB962C8B-B14F-4D97-AF65-F5344CB8AC3E}">
        <p14:creationId xmlns:p14="http://schemas.microsoft.com/office/powerpoint/2010/main" val="199066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9FC6D9-D963-4D0D-BFD1-F2AD8046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548680"/>
            <a:ext cx="10585175" cy="590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81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260648"/>
            <a:ext cx="10972800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From this truth table, it can be observed that the higher the subscript number of the input, the higher the priority of the input.</a:t>
            </a:r>
          </a:p>
          <a:p>
            <a:r>
              <a:rPr lang="en-US" dirty="0"/>
              <a:t> Thus, the input I</a:t>
            </a:r>
            <a:r>
              <a:rPr lang="en-US" baseline="-25000" dirty="0"/>
              <a:t>3</a:t>
            </a:r>
            <a:r>
              <a:rPr lang="en-US" dirty="0"/>
              <a:t> has the highest priority. Therefore, regardless of the values of other inputs, when the input I</a:t>
            </a:r>
            <a:r>
              <a:rPr lang="en-US" baseline="-25000" dirty="0"/>
              <a:t>3</a:t>
            </a:r>
            <a:r>
              <a:rPr lang="en-US" dirty="0"/>
              <a:t> is equal to 1, the output for AB is 11, i.e. 3. </a:t>
            </a:r>
          </a:p>
          <a:p>
            <a:r>
              <a:rPr lang="en-US" dirty="0"/>
              <a:t>The input I</a:t>
            </a:r>
            <a:r>
              <a:rPr lang="en-US" baseline="-25000" dirty="0"/>
              <a:t>2</a:t>
            </a:r>
            <a:r>
              <a:rPr lang="en-US" dirty="0"/>
              <a:t> has the next lower priority, and then I</a:t>
            </a:r>
            <a:r>
              <a:rPr lang="en-US" baseline="-25000" dirty="0"/>
              <a:t>1</a:t>
            </a:r>
            <a:r>
              <a:rPr lang="en-US" dirty="0"/>
              <a:t>, and finally I</a:t>
            </a:r>
            <a:r>
              <a:rPr lang="en-US" baseline="-25000" dirty="0"/>
              <a:t>0</a:t>
            </a:r>
            <a:r>
              <a:rPr lang="en-US" dirty="0"/>
              <a:t> has the lowest priority.</a:t>
            </a:r>
          </a:p>
          <a:p>
            <a:r>
              <a:rPr lang="en-US" dirty="0"/>
              <a:t>We can write the Boolean expression for outputs A, B, and V from the above table as follows,</a:t>
            </a:r>
          </a:p>
        </p:txBody>
      </p:sp>
    </p:spTree>
    <p:extLst>
      <p:ext uri="{BB962C8B-B14F-4D97-AF65-F5344CB8AC3E}">
        <p14:creationId xmlns:p14="http://schemas.microsoft.com/office/powerpoint/2010/main" val="3130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3429000"/>
            <a:ext cx="8064896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49FE11-8F4A-4728-AD28-64F102FC2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614484"/>
            <a:ext cx="5616624" cy="23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9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62087"/>
            <a:ext cx="10972800" cy="778098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Decoders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66018"/>
            <a:ext cx="109728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decoder</a:t>
            </a:r>
            <a:r>
              <a:rPr lang="en-US" i="1" dirty="0"/>
              <a:t> </a:t>
            </a:r>
            <a:r>
              <a:rPr lang="en-US" dirty="0"/>
              <a:t>is a combinational circuit that converts binary information from </a:t>
            </a:r>
            <a:r>
              <a:rPr lang="en-US" i="1" dirty="0"/>
              <a:t>n </a:t>
            </a:r>
            <a:r>
              <a:rPr lang="en-US" dirty="0"/>
              <a:t>input lines to a maximum of 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unique output lines.</a:t>
            </a:r>
          </a:p>
          <a:p>
            <a:pPr algn="just"/>
            <a:r>
              <a:rPr lang="en-US" dirty="0"/>
              <a:t>If the </a:t>
            </a:r>
            <a:r>
              <a:rPr lang="en-US" i="1" dirty="0"/>
              <a:t>n</a:t>
            </a:r>
            <a:r>
              <a:rPr lang="en-US" dirty="0"/>
              <a:t>-bit coded information has unused combinations, the decoder may have fewer than 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outputs.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802" y="4446240"/>
            <a:ext cx="4567639" cy="157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5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8641"/>
            <a:ext cx="10972800" cy="593752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decoders presented here are called </a:t>
            </a:r>
            <a:r>
              <a:rPr lang="en-US" i="1" dirty="0"/>
              <a:t>n</a:t>
            </a:r>
            <a:r>
              <a:rPr lang="en-US" dirty="0"/>
              <a:t>-to-</a:t>
            </a:r>
            <a:r>
              <a:rPr lang="en-US" i="1" dirty="0"/>
              <a:t>m</a:t>
            </a:r>
            <a:r>
              <a:rPr lang="en-US" dirty="0"/>
              <a:t>-line decoders, where </a:t>
            </a:r>
            <a:r>
              <a:rPr lang="en-US" i="1" dirty="0"/>
              <a:t>m </a:t>
            </a:r>
            <a:r>
              <a:rPr lang="en-US" dirty="0"/>
              <a:t>≤ 2</a:t>
            </a:r>
            <a:r>
              <a:rPr lang="en-US" i="1" baseline="30000" dirty="0"/>
              <a:t>n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Their purpose is to generate the 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(or fewer) </a:t>
            </a:r>
            <a:r>
              <a:rPr lang="en-US" dirty="0" err="1"/>
              <a:t>minterms</a:t>
            </a:r>
            <a:r>
              <a:rPr lang="en-US" dirty="0"/>
              <a:t> of </a:t>
            </a:r>
            <a:r>
              <a:rPr lang="en-US" i="1" dirty="0"/>
              <a:t>n </a:t>
            </a:r>
            <a:r>
              <a:rPr lang="en-US" dirty="0"/>
              <a:t>input variables.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Each combination of inputs will assert a unique output.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</a:rPr>
              <a:t>The name </a:t>
            </a:r>
            <a:r>
              <a:rPr lang="en-US" i="1" dirty="0">
                <a:solidFill>
                  <a:srgbClr val="002060"/>
                </a:solidFill>
              </a:rPr>
              <a:t>decoder</a:t>
            </a:r>
            <a:r>
              <a:rPr lang="en-US" dirty="0">
                <a:solidFill>
                  <a:srgbClr val="002060"/>
                </a:solidFill>
              </a:rPr>
              <a:t> is also used in conjunction with other code converters, such as a BCD-to-seven-segment decoder.</a:t>
            </a:r>
            <a:endParaRPr lang="en-IN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77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2-to-4-Line Decoder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2-to-4-line decoder circuit, the two inputs are decoded into four outputs, each representing one of the </a:t>
            </a:r>
            <a:r>
              <a:rPr lang="en-US" dirty="0" err="1"/>
              <a:t>minterms</a:t>
            </a:r>
            <a:r>
              <a:rPr lang="en-US" dirty="0"/>
              <a:t> of the two input variables.</a:t>
            </a:r>
          </a:p>
          <a:p>
            <a:pPr algn="just"/>
            <a:r>
              <a:rPr lang="en-US" dirty="0"/>
              <a:t>The two inputs are represented by </a:t>
            </a:r>
            <a:r>
              <a:rPr lang="en-US" i="1" dirty="0">
                <a:solidFill>
                  <a:srgbClr val="002060"/>
                </a:solidFill>
              </a:rPr>
              <a:t>A</a:t>
            </a:r>
            <a:r>
              <a:rPr lang="en-US" dirty="0"/>
              <a:t> and </a:t>
            </a:r>
            <a:r>
              <a:rPr lang="en-US" i="1" dirty="0">
                <a:solidFill>
                  <a:srgbClr val="002060"/>
                </a:solidFill>
              </a:rPr>
              <a:t>B</a:t>
            </a:r>
            <a:r>
              <a:rPr lang="en-US" dirty="0"/>
              <a:t> and outputs are represented by </a:t>
            </a:r>
            <a:r>
              <a:rPr lang="en-US" i="1" dirty="0">
                <a:solidFill>
                  <a:srgbClr val="002060"/>
                </a:solidFill>
              </a:rPr>
              <a:t>D</a:t>
            </a:r>
            <a:r>
              <a:rPr lang="en-US" baseline="-25000" dirty="0">
                <a:solidFill>
                  <a:srgbClr val="002060"/>
                </a:solidFill>
              </a:rPr>
              <a:t>0</a:t>
            </a:r>
            <a:r>
              <a:rPr lang="en-US" dirty="0"/>
              <a:t>, </a:t>
            </a:r>
            <a:r>
              <a:rPr lang="en-US" i="1" dirty="0">
                <a:solidFill>
                  <a:srgbClr val="002060"/>
                </a:solidFill>
              </a:rPr>
              <a:t>D</a:t>
            </a:r>
            <a:r>
              <a:rPr lang="en-US" baseline="-25000" dirty="0">
                <a:solidFill>
                  <a:srgbClr val="002060"/>
                </a:solidFill>
              </a:rPr>
              <a:t>1</a:t>
            </a:r>
            <a:r>
              <a:rPr lang="en-US" dirty="0"/>
              <a:t>, </a:t>
            </a:r>
            <a:r>
              <a:rPr lang="en-US" i="1" dirty="0">
                <a:solidFill>
                  <a:srgbClr val="002060"/>
                </a:solidFill>
              </a:rPr>
              <a:t>D</a:t>
            </a:r>
            <a:r>
              <a:rPr lang="en-US" baseline="-25000" dirty="0">
                <a:solidFill>
                  <a:srgbClr val="002060"/>
                </a:solidFill>
              </a:rPr>
              <a:t>2</a:t>
            </a:r>
            <a:r>
              <a:rPr lang="en-US" dirty="0"/>
              <a:t> and </a:t>
            </a:r>
            <a:r>
              <a:rPr lang="en-US" i="1" dirty="0">
                <a:solidFill>
                  <a:srgbClr val="002060"/>
                </a:solidFill>
              </a:rPr>
              <a:t>D</a:t>
            </a:r>
            <a:r>
              <a:rPr lang="en-US" baseline="-25000" dirty="0">
                <a:solidFill>
                  <a:srgbClr val="002060"/>
                </a:solidFill>
              </a:rPr>
              <a:t>3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91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2521200"/>
            <a:ext cx="5387776" cy="3861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8088" y="548681"/>
            <a:ext cx="3024336" cy="2248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665" y="620688"/>
            <a:ext cx="2910460" cy="170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935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3-to-8-Line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In 3-to-8-line decoder circuit, the three inputs are decoded into eight outputs, each representing one of the </a:t>
            </a:r>
            <a:r>
              <a:rPr lang="en-US" sz="2800" dirty="0" err="1"/>
              <a:t>minterms</a:t>
            </a:r>
            <a:r>
              <a:rPr lang="en-US" sz="2800" dirty="0"/>
              <a:t> of the three input variables.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</a:rPr>
              <a:t>A particular application of this decoder is binary-to-octal conversion. The input variables represent a binary number, and the outputs represent the eight digits of a number in the octal number system.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However, a 3-to-8-line decoder can be used for decoding any</a:t>
            </a:r>
            <a:r>
              <a:rPr lang="en-US" sz="2800" i="1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three-bit code to provide eight outputs, one for each element of the code.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08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3068960"/>
            <a:ext cx="8295322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239934"/>
            <a:ext cx="2592288" cy="2829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60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990" y="260648"/>
            <a:ext cx="5935339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270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Decoders with Enable Inputs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Generally, decoders have the “enable” input.</a:t>
            </a:r>
          </a:p>
          <a:p>
            <a:pPr algn="just"/>
            <a:r>
              <a:rPr lang="en-US" dirty="0"/>
              <a:t>The enable input performs no logical operation, but is only responsible for making the decoder </a:t>
            </a:r>
            <a:r>
              <a:rPr lang="en-US" dirty="0">
                <a:solidFill>
                  <a:srgbClr val="C00000"/>
                </a:solidFill>
              </a:rPr>
              <a:t>active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inactive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rgbClr val="7030A0"/>
                </a:solidFill>
              </a:rPr>
              <a:t>If the enable “</a:t>
            </a:r>
            <a:r>
              <a:rPr lang="en-US" i="1" dirty="0">
                <a:solidFill>
                  <a:srgbClr val="7030A0"/>
                </a:solidFill>
              </a:rPr>
              <a:t>E</a:t>
            </a:r>
            <a:r>
              <a:rPr lang="en-US" dirty="0">
                <a:solidFill>
                  <a:srgbClr val="7030A0"/>
                </a:solidFill>
              </a:rPr>
              <a:t>”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is zero</a:t>
            </a:r>
            <a:r>
              <a:rPr lang="en-US" dirty="0">
                <a:solidFill>
                  <a:srgbClr val="002060"/>
                </a:solidFill>
              </a:rPr>
              <a:t>, then all outputs are zero regardless of the input values.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is one</a:t>
            </a:r>
            <a:r>
              <a:rPr lang="en-US" dirty="0">
                <a:solidFill>
                  <a:srgbClr val="002060"/>
                </a:solidFill>
              </a:rPr>
              <a:t>, then the decoder performs its normal operation.</a:t>
            </a:r>
          </a:p>
        </p:txBody>
      </p:sp>
    </p:spTree>
    <p:extLst>
      <p:ext uri="{BB962C8B-B14F-4D97-AF65-F5344CB8AC3E}">
        <p14:creationId xmlns:p14="http://schemas.microsoft.com/office/powerpoint/2010/main" val="218647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Decoders with enable inputs can be connected together to form a larger decoder circuit.</a:t>
            </a:r>
          </a:p>
          <a:p>
            <a:pPr algn="just"/>
            <a:r>
              <a:rPr lang="en-US" dirty="0"/>
              <a:t>For example, consider the 2-to-4 line decoder with enable input.</a:t>
            </a:r>
          </a:p>
          <a:p>
            <a:pPr algn="just"/>
            <a:r>
              <a:rPr lang="en-US" dirty="0"/>
              <a:t>If enable </a:t>
            </a:r>
            <a:r>
              <a:rPr lang="en-US" i="1" dirty="0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 is zero</a:t>
            </a:r>
            <a:r>
              <a:rPr lang="en-US" dirty="0"/>
              <a:t>, then all outputs of the decoder will be zeros, regardless of the values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However, if </a:t>
            </a:r>
            <a:r>
              <a:rPr lang="en-US" i="1" dirty="0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 is one</a:t>
            </a:r>
            <a:r>
              <a:rPr lang="en-US" dirty="0"/>
              <a:t>, then the decoder will perform its normal operation, as shown in the </a:t>
            </a:r>
            <a:r>
              <a:rPr lang="en-IN" dirty="0"/>
              <a:t>truth table.</a:t>
            </a:r>
          </a:p>
        </p:txBody>
      </p:sp>
    </p:spTree>
    <p:extLst>
      <p:ext uri="{BB962C8B-B14F-4D97-AF65-F5344CB8AC3E}">
        <p14:creationId xmlns:p14="http://schemas.microsoft.com/office/powerpoint/2010/main" val="213979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218" y="332656"/>
            <a:ext cx="3145239" cy="21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719" y="2288340"/>
            <a:ext cx="4805498" cy="38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419091"/>
            <a:ext cx="2973086" cy="169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48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Combinational Logic 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rgbClr val="C00000"/>
                </a:solidFill>
              </a:rPr>
              <a:t>Example: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A combinational circuit is specified by the following three Boolean functions:</a:t>
            </a:r>
          </a:p>
          <a:p>
            <a:pPr marL="363538" indent="0" algn="just">
              <a:buNone/>
            </a:pPr>
            <a:r>
              <a:rPr lang="en-IN" i="1" dirty="0">
                <a:solidFill>
                  <a:srgbClr val="002060"/>
                </a:solidFill>
              </a:rPr>
              <a:t>F</a:t>
            </a:r>
            <a:r>
              <a:rPr lang="en-IN" baseline="-25000" dirty="0">
                <a:solidFill>
                  <a:srgbClr val="002060"/>
                </a:solidFill>
              </a:rPr>
              <a:t>1</a:t>
            </a:r>
            <a:r>
              <a:rPr lang="en-IN" dirty="0">
                <a:solidFill>
                  <a:srgbClr val="002060"/>
                </a:solidFill>
              </a:rPr>
              <a:t>(</a:t>
            </a:r>
            <a:r>
              <a:rPr lang="en-IN" i="1" dirty="0">
                <a:solidFill>
                  <a:srgbClr val="002060"/>
                </a:solidFill>
              </a:rPr>
              <a:t>A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B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C</a:t>
            </a:r>
            <a:r>
              <a:rPr lang="en-IN" dirty="0">
                <a:solidFill>
                  <a:srgbClr val="002060"/>
                </a:solidFill>
              </a:rPr>
              <a:t>) = ∑(1, 4, 6)</a:t>
            </a:r>
          </a:p>
          <a:p>
            <a:pPr marL="363538" indent="0" algn="just">
              <a:buNone/>
            </a:pPr>
            <a:r>
              <a:rPr lang="en-IN" i="1" dirty="0">
                <a:solidFill>
                  <a:srgbClr val="002060"/>
                </a:solidFill>
              </a:rPr>
              <a:t>F</a:t>
            </a:r>
            <a:r>
              <a:rPr lang="en-IN" baseline="-25000" dirty="0">
                <a:solidFill>
                  <a:srgbClr val="002060"/>
                </a:solidFill>
              </a:rPr>
              <a:t>2</a:t>
            </a:r>
            <a:r>
              <a:rPr lang="en-IN" dirty="0">
                <a:solidFill>
                  <a:srgbClr val="002060"/>
                </a:solidFill>
              </a:rPr>
              <a:t>(</a:t>
            </a:r>
            <a:r>
              <a:rPr lang="en-IN" i="1" dirty="0">
                <a:solidFill>
                  <a:srgbClr val="002060"/>
                </a:solidFill>
              </a:rPr>
              <a:t>A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B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C</a:t>
            </a:r>
            <a:r>
              <a:rPr lang="en-IN" dirty="0">
                <a:solidFill>
                  <a:srgbClr val="002060"/>
                </a:solidFill>
              </a:rPr>
              <a:t>) = ∑(3, 5)</a:t>
            </a:r>
          </a:p>
          <a:p>
            <a:pPr marL="363538" indent="0" algn="just">
              <a:buNone/>
            </a:pPr>
            <a:r>
              <a:rPr lang="en-IN" i="1" dirty="0">
                <a:solidFill>
                  <a:srgbClr val="002060"/>
                </a:solidFill>
              </a:rPr>
              <a:t>F</a:t>
            </a:r>
            <a:r>
              <a:rPr lang="en-IN" baseline="-25000" dirty="0">
                <a:solidFill>
                  <a:srgbClr val="002060"/>
                </a:solidFill>
              </a:rPr>
              <a:t>3</a:t>
            </a:r>
            <a:r>
              <a:rPr lang="en-IN" dirty="0">
                <a:solidFill>
                  <a:srgbClr val="002060"/>
                </a:solidFill>
              </a:rPr>
              <a:t>(</a:t>
            </a:r>
            <a:r>
              <a:rPr lang="en-IN" i="1" dirty="0">
                <a:solidFill>
                  <a:srgbClr val="002060"/>
                </a:solidFill>
              </a:rPr>
              <a:t>A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B</a:t>
            </a:r>
            <a:r>
              <a:rPr lang="en-IN" dirty="0">
                <a:solidFill>
                  <a:srgbClr val="002060"/>
                </a:solidFill>
              </a:rPr>
              <a:t>, </a:t>
            </a:r>
            <a:r>
              <a:rPr lang="en-IN" i="1" dirty="0">
                <a:solidFill>
                  <a:srgbClr val="002060"/>
                </a:solidFill>
              </a:rPr>
              <a:t>C</a:t>
            </a:r>
            <a:r>
              <a:rPr lang="en-IN" dirty="0">
                <a:solidFill>
                  <a:srgbClr val="002060"/>
                </a:solidFill>
              </a:rPr>
              <a:t>) = ∑(2, 4, 6, 7)</a:t>
            </a:r>
          </a:p>
          <a:p>
            <a:pPr marL="363538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Implement the circuit with a decoder.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51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1604088"/>
            <a:ext cx="6001428" cy="441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177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2596</Words>
  <Application>Microsoft Office PowerPoint</Application>
  <PresentationFormat>Widescreen</PresentationFormat>
  <Paragraphs>250</Paragraphs>
  <Slides>78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Arial</vt:lpstr>
      <vt:lpstr>Baskerville Old Face</vt:lpstr>
      <vt:lpstr>Calibri</vt:lpstr>
      <vt:lpstr>Lato</vt:lpstr>
      <vt:lpstr>Nunito</vt:lpstr>
      <vt:lpstr>Symbol</vt:lpstr>
      <vt:lpstr>Times New Roman</vt:lpstr>
      <vt:lpstr>Verdana</vt:lpstr>
      <vt:lpstr>Wingdings</vt:lpstr>
      <vt:lpstr>Office Theme</vt:lpstr>
      <vt:lpstr>DIGITAL ELECTRONICS IV Semester ECE</vt:lpstr>
      <vt:lpstr>Code Converters, Multiplexers; De-multiplexers; Binary Multiplier,  Decoders; Encoders; </vt:lpstr>
      <vt:lpstr>Code Converters</vt:lpstr>
      <vt:lpstr>Design of a 4-bit Binary-to-Gray Code Converter.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of a 4-bit Gray-to-Binary Code Converter.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Multiplexers</vt:lpstr>
      <vt:lpstr>PowerPoint Presentation</vt:lpstr>
      <vt:lpstr>Typical Application of a MUX</vt:lpstr>
      <vt:lpstr>Types of Multiplexers </vt:lpstr>
      <vt:lpstr>PowerPoint Presentation</vt:lpstr>
      <vt:lpstr>PowerPoint Presentation</vt:lpstr>
      <vt:lpstr>PowerPoint Presentation</vt:lpstr>
      <vt:lpstr>  4×1 Multiplexer 4×1 Multiplexer has four data inputs I3, I2, I1 &amp; I0, two selection lines s1 &amp; s0 and one output Y.   The block diagram of 4×1 Multiplexer is shown in the following figure.  </vt:lpstr>
      <vt:lpstr>PowerPoint Presentation</vt:lpstr>
      <vt:lpstr>PowerPoint Presentation</vt:lpstr>
      <vt:lpstr>8×1 Multiplexer </vt:lpstr>
      <vt:lpstr>PowerPoint Presentation</vt:lpstr>
      <vt:lpstr>PowerPoint Presentation</vt:lpstr>
      <vt:lpstr>PowerPoint Presentation</vt:lpstr>
      <vt:lpstr>Example: Construct a 16 × 1 multiplexer with two 8 × 1 and one 2 × 1 multiplexers.</vt:lpstr>
      <vt:lpstr>Example: Construct a 16 × 1 multiplexer with five 4 × 1 multiplexers.</vt:lpstr>
      <vt:lpstr>De-multiplexers</vt:lpstr>
      <vt:lpstr>PowerPoint Presentation</vt:lpstr>
      <vt:lpstr>Typical Application of a DEMUX</vt:lpstr>
      <vt:lpstr>PowerPoint Presentation</vt:lpstr>
      <vt:lpstr>PowerPoint Presentation</vt:lpstr>
      <vt:lpstr> 1X4 De-multiplexer</vt:lpstr>
      <vt:lpstr>PowerPoint Presentation</vt:lpstr>
      <vt:lpstr>PowerPoint Presentation</vt:lpstr>
      <vt:lpstr>PowerPoint Presentation</vt:lpstr>
      <vt:lpstr>PowerPoint Presentation</vt:lpstr>
      <vt:lpstr> Implementation of Higher-order Demultiplexer </vt:lpstr>
      <vt:lpstr>PowerPoint Presentation</vt:lpstr>
      <vt:lpstr>Binary Multiplier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Encoders</vt:lpstr>
      <vt:lpstr>Types of Encoders </vt:lpstr>
      <vt:lpstr>PowerPoint Presentation</vt:lpstr>
      <vt:lpstr>PowerPoint Presentation</vt:lpstr>
      <vt:lpstr>PowerPoint Presentation</vt:lpstr>
      <vt:lpstr>Octal-to-Binary Encoder</vt:lpstr>
      <vt:lpstr>PowerPoint Presentation</vt:lpstr>
      <vt:lpstr>PowerPoint Presentation</vt:lpstr>
      <vt:lpstr>PowerPoint Presentation</vt:lpstr>
      <vt:lpstr>PowerPoint Presentation</vt:lpstr>
      <vt:lpstr>Priority Encoder</vt:lpstr>
      <vt:lpstr>Four-input Priority Encoder</vt:lpstr>
      <vt:lpstr>PowerPoint Presentation</vt:lpstr>
      <vt:lpstr>PowerPoint Presentation</vt:lpstr>
      <vt:lpstr>PowerPoint Presentation</vt:lpstr>
      <vt:lpstr>Decoders</vt:lpstr>
      <vt:lpstr>PowerPoint Presentation</vt:lpstr>
      <vt:lpstr>2-to-4-Line Decoder</vt:lpstr>
      <vt:lpstr>PowerPoint Presentation</vt:lpstr>
      <vt:lpstr>3-to-8-Line Decoder</vt:lpstr>
      <vt:lpstr>PowerPoint Presentation</vt:lpstr>
      <vt:lpstr>PowerPoint Presentation</vt:lpstr>
      <vt:lpstr>Decoders with Enable Inputs</vt:lpstr>
      <vt:lpstr>PowerPoint Presentation</vt:lpstr>
      <vt:lpstr>PowerPoint Presentation</vt:lpstr>
      <vt:lpstr>Combinational Logic 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Decoders; Encoders; Multiplexers; De-multiplexers</dc:title>
  <dc:creator>AJIT PATRO</dc:creator>
  <cp:lastModifiedBy>ranjita rout</cp:lastModifiedBy>
  <cp:revision>204</cp:revision>
  <dcterms:created xsi:type="dcterms:W3CDTF">2020-10-20T16:44:38Z</dcterms:created>
  <dcterms:modified xsi:type="dcterms:W3CDTF">2025-09-19T10:43:06Z</dcterms:modified>
</cp:coreProperties>
</file>