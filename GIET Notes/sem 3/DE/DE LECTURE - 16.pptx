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2" r:id="rId2"/>
    <p:sldId id="256" r:id="rId3"/>
    <p:sldId id="257" r:id="rId4"/>
    <p:sldId id="271" r:id="rId5"/>
    <p:sldId id="263" r:id="rId6"/>
    <p:sldId id="259" r:id="rId7"/>
    <p:sldId id="268" r:id="rId8"/>
    <p:sldId id="272" r:id="rId9"/>
    <p:sldId id="273" r:id="rId10"/>
    <p:sldId id="275" r:id="rId11"/>
    <p:sldId id="261" r:id="rId12"/>
    <p:sldId id="262" r:id="rId13"/>
    <p:sldId id="264" r:id="rId14"/>
    <p:sldId id="266" r:id="rId15"/>
    <p:sldId id="267" r:id="rId16"/>
    <p:sldId id="269" r:id="rId17"/>
    <p:sldId id="270" r:id="rId18"/>
    <p:sldId id="280" r:id="rId19"/>
    <p:sldId id="283" r:id="rId20"/>
    <p:sldId id="281" r:id="rId21"/>
    <p:sldId id="284" r:id="rId22"/>
    <p:sldId id="285" r:id="rId23"/>
    <p:sldId id="286" r:id="rId24"/>
    <p:sldId id="288" r:id="rId25"/>
    <p:sldId id="289" r:id="rId26"/>
    <p:sldId id="293" r:id="rId27"/>
    <p:sldId id="291" r:id="rId28"/>
    <p:sldId id="294" r:id="rId29"/>
    <p:sldId id="295" r:id="rId30"/>
    <p:sldId id="296" r:id="rId31"/>
    <p:sldId id="297" r:id="rId32"/>
    <p:sldId id="298" r:id="rId33"/>
    <p:sldId id="29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83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F445803-72CA-41DB-92ED-16366451443B}" type="datetimeFigureOut">
              <a:rPr lang="en-IN" smtClean="0"/>
              <a:pPr/>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963C70-E7E6-4560-AF2C-7A35FED3759F}" type="slidenum">
              <a:rPr lang="en-IN" smtClean="0"/>
              <a:pPr/>
              <a:t>‹#›</a:t>
            </a:fld>
            <a:endParaRPr lang="en-IN"/>
          </a:p>
        </p:txBody>
      </p:sp>
    </p:spTree>
    <p:extLst>
      <p:ext uri="{BB962C8B-B14F-4D97-AF65-F5344CB8AC3E}">
        <p14:creationId xmlns:p14="http://schemas.microsoft.com/office/powerpoint/2010/main" val="1884280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F445803-72CA-41DB-92ED-16366451443B}" type="datetimeFigureOut">
              <a:rPr lang="en-IN" smtClean="0"/>
              <a:pPr/>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963C70-E7E6-4560-AF2C-7A35FED3759F}" type="slidenum">
              <a:rPr lang="en-IN" smtClean="0"/>
              <a:pPr/>
              <a:t>‹#›</a:t>
            </a:fld>
            <a:endParaRPr lang="en-IN"/>
          </a:p>
        </p:txBody>
      </p:sp>
    </p:spTree>
    <p:extLst>
      <p:ext uri="{BB962C8B-B14F-4D97-AF65-F5344CB8AC3E}">
        <p14:creationId xmlns:p14="http://schemas.microsoft.com/office/powerpoint/2010/main" val="1786996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445803-72CA-41DB-92ED-16366451443B}" type="datetimeFigureOut">
              <a:rPr lang="en-IN" smtClean="0"/>
              <a:pPr/>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963C70-E7E6-4560-AF2C-7A35FED3759F}" type="slidenum">
              <a:rPr lang="en-IN" smtClean="0"/>
              <a:pPr/>
              <a:t>‹#›</a:t>
            </a:fld>
            <a:endParaRPr lang="en-IN"/>
          </a:p>
        </p:txBody>
      </p:sp>
    </p:spTree>
    <p:extLst>
      <p:ext uri="{BB962C8B-B14F-4D97-AF65-F5344CB8AC3E}">
        <p14:creationId xmlns:p14="http://schemas.microsoft.com/office/powerpoint/2010/main" val="120761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F445803-72CA-41DB-92ED-16366451443B}" type="datetimeFigureOut">
              <a:rPr lang="en-IN" smtClean="0"/>
              <a:pPr/>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963C70-E7E6-4560-AF2C-7A35FED3759F}" type="slidenum">
              <a:rPr lang="en-IN" smtClean="0"/>
              <a:pPr/>
              <a:t>‹#›</a:t>
            </a:fld>
            <a:endParaRPr lang="en-IN"/>
          </a:p>
        </p:txBody>
      </p:sp>
    </p:spTree>
    <p:extLst>
      <p:ext uri="{BB962C8B-B14F-4D97-AF65-F5344CB8AC3E}">
        <p14:creationId xmlns:p14="http://schemas.microsoft.com/office/powerpoint/2010/main" val="1175434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F445803-72CA-41DB-92ED-16366451443B}" type="datetimeFigureOut">
              <a:rPr lang="en-IN" smtClean="0"/>
              <a:pPr/>
              <a:t>14-10-2025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2963C70-E7E6-4560-AF2C-7A35FED3759F}" type="slidenum">
              <a:rPr lang="en-IN" smtClean="0"/>
              <a:pPr/>
              <a:t>‹#›</a:t>
            </a:fld>
            <a:endParaRPr lang="en-IN"/>
          </a:p>
        </p:txBody>
      </p:sp>
    </p:spTree>
    <p:extLst>
      <p:ext uri="{BB962C8B-B14F-4D97-AF65-F5344CB8AC3E}">
        <p14:creationId xmlns:p14="http://schemas.microsoft.com/office/powerpoint/2010/main" val="2660691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F445803-72CA-41DB-92ED-16366451443B}" type="datetimeFigureOut">
              <a:rPr lang="en-IN" smtClean="0"/>
              <a:pPr/>
              <a:t>14-10-2025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2963C70-E7E6-4560-AF2C-7A35FED3759F}" type="slidenum">
              <a:rPr lang="en-IN" smtClean="0"/>
              <a:pPr/>
              <a:t>‹#›</a:t>
            </a:fld>
            <a:endParaRPr lang="en-IN"/>
          </a:p>
        </p:txBody>
      </p:sp>
    </p:spTree>
    <p:extLst>
      <p:ext uri="{BB962C8B-B14F-4D97-AF65-F5344CB8AC3E}">
        <p14:creationId xmlns:p14="http://schemas.microsoft.com/office/powerpoint/2010/main" val="3563799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445803-72CA-41DB-92ED-16366451443B}" type="datetimeFigureOut">
              <a:rPr lang="en-IN" smtClean="0"/>
              <a:pPr/>
              <a:t>14-10-2025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2963C70-E7E6-4560-AF2C-7A35FED3759F}" type="slidenum">
              <a:rPr lang="en-IN" smtClean="0"/>
              <a:pPr/>
              <a:t>‹#›</a:t>
            </a:fld>
            <a:endParaRPr lang="en-IN"/>
          </a:p>
        </p:txBody>
      </p:sp>
    </p:spTree>
    <p:extLst>
      <p:ext uri="{BB962C8B-B14F-4D97-AF65-F5344CB8AC3E}">
        <p14:creationId xmlns:p14="http://schemas.microsoft.com/office/powerpoint/2010/main" val="1108606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445803-72CA-41DB-92ED-16366451443B}" type="datetimeFigureOut">
              <a:rPr lang="en-IN" smtClean="0"/>
              <a:pPr/>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963C70-E7E6-4560-AF2C-7A35FED3759F}" type="slidenum">
              <a:rPr lang="en-IN" smtClean="0"/>
              <a:pPr/>
              <a:t>‹#›</a:t>
            </a:fld>
            <a:endParaRPr lang="en-IN"/>
          </a:p>
        </p:txBody>
      </p:sp>
    </p:spTree>
    <p:extLst>
      <p:ext uri="{BB962C8B-B14F-4D97-AF65-F5344CB8AC3E}">
        <p14:creationId xmlns:p14="http://schemas.microsoft.com/office/powerpoint/2010/main" val="296562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445803-72CA-41DB-92ED-16366451443B}" type="datetimeFigureOut">
              <a:rPr lang="en-IN" smtClean="0"/>
              <a:pPr/>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963C70-E7E6-4560-AF2C-7A35FED3759F}" type="slidenum">
              <a:rPr lang="en-IN" smtClean="0"/>
              <a:pPr/>
              <a:t>‹#›</a:t>
            </a:fld>
            <a:endParaRPr lang="en-IN"/>
          </a:p>
        </p:txBody>
      </p:sp>
    </p:spTree>
    <p:extLst>
      <p:ext uri="{BB962C8B-B14F-4D97-AF65-F5344CB8AC3E}">
        <p14:creationId xmlns:p14="http://schemas.microsoft.com/office/powerpoint/2010/main" val="1857728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F445803-72CA-41DB-92ED-16366451443B}" type="datetimeFigureOut">
              <a:rPr lang="en-IN" smtClean="0"/>
              <a:pPr/>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963C70-E7E6-4560-AF2C-7A35FED3759F}" type="slidenum">
              <a:rPr lang="en-IN" smtClean="0"/>
              <a:pPr/>
              <a:t>‹#›</a:t>
            </a:fld>
            <a:endParaRPr lang="en-IN"/>
          </a:p>
        </p:txBody>
      </p:sp>
    </p:spTree>
    <p:extLst>
      <p:ext uri="{BB962C8B-B14F-4D97-AF65-F5344CB8AC3E}">
        <p14:creationId xmlns:p14="http://schemas.microsoft.com/office/powerpoint/2010/main" val="2082950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F445803-72CA-41DB-92ED-16366451443B}" type="datetimeFigureOut">
              <a:rPr lang="en-IN" smtClean="0"/>
              <a:pPr/>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963C70-E7E6-4560-AF2C-7A35FED3759F}" type="slidenum">
              <a:rPr lang="en-IN" smtClean="0"/>
              <a:pPr/>
              <a:t>‹#›</a:t>
            </a:fld>
            <a:endParaRPr lang="en-IN"/>
          </a:p>
        </p:txBody>
      </p:sp>
    </p:spTree>
    <p:extLst>
      <p:ext uri="{BB962C8B-B14F-4D97-AF65-F5344CB8AC3E}">
        <p14:creationId xmlns:p14="http://schemas.microsoft.com/office/powerpoint/2010/main" val="3966849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445803-72CA-41DB-92ED-16366451443B}" type="datetimeFigureOut">
              <a:rPr lang="en-IN" smtClean="0"/>
              <a:pPr/>
              <a:t>14-10-2025</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963C70-E7E6-4560-AF2C-7A35FED3759F}" type="slidenum">
              <a:rPr lang="en-IN" smtClean="0"/>
              <a:pPr/>
              <a:t>‹#›</a:t>
            </a:fld>
            <a:endParaRPr lang="en-IN"/>
          </a:p>
        </p:txBody>
      </p:sp>
    </p:spTree>
    <p:extLst>
      <p:ext uri="{BB962C8B-B14F-4D97-AF65-F5344CB8AC3E}">
        <p14:creationId xmlns:p14="http://schemas.microsoft.com/office/powerpoint/2010/main" val="4234996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9720" y="642918"/>
            <a:ext cx="8572560" cy="1420210"/>
          </a:xfrm>
        </p:spPr>
        <p:txBody>
          <a:bodyPr>
            <a:normAutofit fontScale="90000"/>
          </a:bodyPr>
          <a:lstStyle/>
          <a:p>
            <a:r>
              <a:rPr lang="en-US" sz="6000" b="1" dirty="0">
                <a:solidFill>
                  <a:srgbClr val="FF0000"/>
                </a:solidFill>
                <a:latin typeface="Baskerville Old Face" pitchFamily="18" charset="0"/>
              </a:rPr>
              <a:t>DIGITAL ELECTRONICS</a:t>
            </a:r>
            <a:br>
              <a:rPr lang="en-US" sz="6600" b="1" dirty="0">
                <a:solidFill>
                  <a:srgbClr val="00B050"/>
                </a:solidFill>
                <a:latin typeface="Baskerville Old Face" pitchFamily="18" charset="0"/>
              </a:rPr>
            </a:br>
            <a:r>
              <a:rPr lang="en-US" b="1" dirty="0">
                <a:solidFill>
                  <a:srgbClr val="00B050"/>
                </a:solidFill>
                <a:latin typeface="Baskerville Old Face" pitchFamily="18" charset="0"/>
              </a:rPr>
              <a:t>IV Semester ECE</a:t>
            </a:r>
            <a:endParaRPr lang="en-US" dirty="0">
              <a:solidFill>
                <a:srgbClr val="00B050"/>
              </a:solidFill>
              <a:latin typeface="Baskerville Old Face" pitchFamily="18" charset="0"/>
            </a:endParaRPr>
          </a:p>
        </p:txBody>
      </p:sp>
      <p:sp>
        <p:nvSpPr>
          <p:cNvPr id="3" name="Subtitle 2"/>
          <p:cNvSpPr>
            <a:spLocks noGrp="1"/>
          </p:cNvSpPr>
          <p:nvPr>
            <p:ph type="subTitle" idx="1"/>
          </p:nvPr>
        </p:nvSpPr>
        <p:spPr>
          <a:xfrm>
            <a:off x="2024034" y="4214818"/>
            <a:ext cx="8358246" cy="1857388"/>
          </a:xfrm>
        </p:spPr>
        <p:txBody>
          <a:bodyPr>
            <a:normAutofit/>
          </a:bodyPr>
          <a:lstStyle/>
          <a:p>
            <a:pPr>
              <a:lnSpc>
                <a:spcPct val="150000"/>
              </a:lnSpc>
            </a:pPr>
            <a:r>
              <a:rPr lang="en-US" sz="1800" b="1" dirty="0">
                <a:solidFill>
                  <a:srgbClr val="002060"/>
                </a:solidFill>
                <a:latin typeface="Times New Roman" pitchFamily="18" charset="0"/>
                <a:cs typeface="Times New Roman" pitchFamily="18" charset="0"/>
              </a:rPr>
              <a:t>DEPARTMENT OF ELECTRONICS AND COMMUNICATION ENGINEERING</a:t>
            </a:r>
            <a:endParaRPr lang="en-US" sz="1800" dirty="0">
              <a:solidFill>
                <a:srgbClr val="002060"/>
              </a:solidFill>
              <a:latin typeface="Times New Roman" pitchFamily="18" charset="0"/>
              <a:cs typeface="Times New Roman" pitchFamily="18" charset="0"/>
            </a:endParaRPr>
          </a:p>
          <a:p>
            <a:pPr>
              <a:lnSpc>
                <a:spcPct val="150000"/>
              </a:lnSpc>
            </a:pPr>
            <a:r>
              <a:rPr lang="en-US" sz="2400" b="1" dirty="0">
                <a:solidFill>
                  <a:srgbClr val="7030A0"/>
                </a:solidFill>
                <a:latin typeface="Times New Roman" pitchFamily="18" charset="0"/>
                <a:cs typeface="Times New Roman" pitchFamily="18" charset="0"/>
              </a:rPr>
              <a:t>SCHOOL OF ENGINEERING &amp; TECHNOLOGY</a:t>
            </a:r>
          </a:p>
          <a:p>
            <a:pPr>
              <a:lnSpc>
                <a:spcPct val="150000"/>
              </a:lnSpc>
            </a:pPr>
            <a:r>
              <a:rPr lang="en-US" sz="2800" b="1" dirty="0">
                <a:solidFill>
                  <a:srgbClr val="C00000"/>
                </a:solidFill>
                <a:latin typeface="Times New Roman" pitchFamily="18" charset="0"/>
                <a:cs typeface="Times New Roman" pitchFamily="18" charset="0"/>
              </a:rPr>
              <a:t>GIET UNIVERSITY, GUNUPUR, ODISHA</a:t>
            </a:r>
          </a:p>
        </p:txBody>
      </p:sp>
      <p:pic>
        <p:nvPicPr>
          <p:cNvPr id="4" name="Picture 2"/>
          <p:cNvPicPr>
            <a:picLocks noChangeAspect="1" noChangeArrowheads="1"/>
          </p:cNvPicPr>
          <p:nvPr/>
        </p:nvPicPr>
        <p:blipFill>
          <a:blip r:embed="rId2" cstate="print"/>
          <a:srcRect/>
          <a:stretch>
            <a:fillRect/>
          </a:stretch>
        </p:blipFill>
        <p:spPr bwMode="auto">
          <a:xfrm>
            <a:off x="5095869" y="2071678"/>
            <a:ext cx="1964545" cy="1571636"/>
          </a:xfrm>
          <a:prstGeom prst="rect">
            <a:avLst/>
          </a:prstGeom>
          <a:noFill/>
          <a:ln w="9525">
            <a:noFill/>
            <a:miter lim="800000"/>
            <a:headEnd/>
            <a:tailEnd/>
          </a:ln>
          <a:effectLst/>
        </p:spPr>
      </p:pic>
      <p:sp>
        <p:nvSpPr>
          <p:cNvPr id="7" name="Subtitle 2"/>
          <p:cNvSpPr txBox="1">
            <a:spLocks/>
          </p:cNvSpPr>
          <p:nvPr/>
        </p:nvSpPr>
        <p:spPr>
          <a:xfrm>
            <a:off x="1952596" y="3643314"/>
            <a:ext cx="8358246" cy="642942"/>
          </a:xfrm>
          <a:prstGeom prst="rect">
            <a:avLst/>
          </a:prstGeom>
        </p:spPr>
        <p:txBody>
          <a:bodyPr vert="horz" lIns="91440" tIns="45720" rIns="91440" bIns="45720" numCol="1" rtlCol="0">
            <a:normAutofit/>
          </a:bodyPr>
          <a:lstStyle/>
          <a:p>
            <a:pPr lvl="0" algn="ctr">
              <a:lnSpc>
                <a:spcPct val="150000"/>
              </a:lnSpc>
              <a:spcBef>
                <a:spcPct val="20000"/>
              </a:spcBef>
            </a:pPr>
            <a:r>
              <a:rPr lang="en-US" sz="2400" b="1" dirty="0">
                <a:latin typeface="Times New Roman" pitchFamily="18" charset="0"/>
                <a:cs typeface="Times New Roman" pitchFamily="18" charset="0"/>
              </a:rPr>
              <a:t>Dr. Ranjita Rout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2130426"/>
            <a:ext cx="7772400" cy="2738735"/>
          </a:xfrm>
        </p:spPr>
        <p:txBody>
          <a:bodyPr>
            <a:normAutofit/>
          </a:bodyPr>
          <a:lstStyle/>
          <a:p>
            <a:r>
              <a:rPr lang="en-IN" sz="3600" b="1" dirty="0">
                <a:solidFill>
                  <a:srgbClr val="00B050"/>
                </a:solidFill>
              </a:rPr>
              <a:t>Analysis of Clocked Sequential Circuits; Mealy and Moore Models of Finite State Machines;</a:t>
            </a:r>
            <a:br>
              <a:rPr lang="en-IN" sz="3600" b="1" dirty="0">
                <a:solidFill>
                  <a:srgbClr val="00B050"/>
                </a:solidFill>
              </a:rPr>
            </a:br>
            <a:r>
              <a:rPr lang="en-IN" sz="3600" b="1" dirty="0">
                <a:solidFill>
                  <a:srgbClr val="00B050"/>
                </a:solidFill>
              </a:rPr>
              <a:t>Design Procedure</a:t>
            </a:r>
          </a:p>
        </p:txBody>
      </p:sp>
    </p:spTree>
    <p:extLst>
      <p:ext uri="{BB962C8B-B14F-4D97-AF65-F5344CB8AC3E}">
        <p14:creationId xmlns:p14="http://schemas.microsoft.com/office/powerpoint/2010/main" val="2035616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78098"/>
          </a:xfrm>
        </p:spPr>
        <p:txBody>
          <a:bodyPr>
            <a:normAutofit fontScale="90000"/>
          </a:bodyPr>
          <a:lstStyle/>
          <a:p>
            <a:r>
              <a:rPr lang="en-IN" dirty="0">
                <a:solidFill>
                  <a:srgbClr val="C00000"/>
                </a:solidFill>
              </a:rPr>
              <a:t>Analysis of Clocked Sequential Circuits</a:t>
            </a:r>
          </a:p>
        </p:txBody>
      </p:sp>
      <p:sp>
        <p:nvSpPr>
          <p:cNvPr id="3" name="Content Placeholder 2"/>
          <p:cNvSpPr>
            <a:spLocks noGrp="1"/>
          </p:cNvSpPr>
          <p:nvPr>
            <p:ph idx="1"/>
          </p:nvPr>
        </p:nvSpPr>
        <p:spPr>
          <a:xfrm>
            <a:off x="1981200" y="1052736"/>
            <a:ext cx="8229600" cy="5544616"/>
          </a:xfrm>
        </p:spPr>
        <p:txBody>
          <a:bodyPr>
            <a:noAutofit/>
          </a:bodyPr>
          <a:lstStyle/>
          <a:p>
            <a:pPr algn="just"/>
            <a:r>
              <a:rPr lang="en-US" sz="2800" dirty="0"/>
              <a:t>Analysis describes what a given circuit will do under certain operating conditions.</a:t>
            </a:r>
          </a:p>
          <a:p>
            <a:pPr algn="just"/>
            <a:r>
              <a:rPr lang="en-US" sz="2800" dirty="0"/>
              <a:t>The behavior of a clocked sequential circuit is determined from the inputs, the outputs, and the state of its flip-flops.</a:t>
            </a:r>
          </a:p>
          <a:p>
            <a:pPr algn="just"/>
            <a:r>
              <a:rPr lang="en-US" sz="2800" dirty="0"/>
              <a:t>The outputs and the next state are both a function of the inputs and the present state.</a:t>
            </a:r>
          </a:p>
          <a:p>
            <a:pPr algn="just"/>
            <a:r>
              <a:rPr lang="en-US" sz="2800" dirty="0"/>
              <a:t>The analysis of a sequential circuit consists of obtaining a table or a diagram for the time sequence of inputs, outputs, and internal states.</a:t>
            </a:r>
          </a:p>
          <a:p>
            <a:pPr algn="just"/>
            <a:r>
              <a:rPr lang="en-US" sz="2800" dirty="0"/>
              <a:t>It is also possible to write Boolean expressions that describe the behavior of the sequential circuit.</a:t>
            </a:r>
            <a:endParaRPr lang="en-IN" sz="2800" dirty="0"/>
          </a:p>
        </p:txBody>
      </p:sp>
    </p:spTree>
    <p:extLst>
      <p:ext uri="{BB962C8B-B14F-4D97-AF65-F5344CB8AC3E}">
        <p14:creationId xmlns:p14="http://schemas.microsoft.com/office/powerpoint/2010/main" val="76391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IN" sz="3000" dirty="0"/>
              <a:t>For analysis of clocked sequential circuits, t</a:t>
            </a:r>
            <a:r>
              <a:rPr lang="en-US" sz="3000" dirty="0"/>
              <a:t>he steps are described below:</a:t>
            </a:r>
          </a:p>
          <a:p>
            <a:pPr lvl="1" algn="just">
              <a:buFont typeface="Arial" pitchFamily="34" charset="0"/>
              <a:buChar char="•"/>
            </a:pPr>
            <a:r>
              <a:rPr lang="en-US" sz="3200" dirty="0">
                <a:solidFill>
                  <a:srgbClr val="002060"/>
                </a:solidFill>
              </a:rPr>
              <a:t>Circuit diagram</a:t>
            </a:r>
          </a:p>
          <a:p>
            <a:pPr lvl="1" algn="just">
              <a:buFont typeface="Arial" pitchFamily="34" charset="0"/>
              <a:buChar char="•"/>
            </a:pPr>
            <a:r>
              <a:rPr lang="en-US" sz="3200" dirty="0">
                <a:solidFill>
                  <a:srgbClr val="002060"/>
                </a:solidFill>
              </a:rPr>
              <a:t>State equations</a:t>
            </a:r>
          </a:p>
          <a:p>
            <a:pPr lvl="1" algn="just">
              <a:buFont typeface="Arial" pitchFamily="34" charset="0"/>
              <a:buChar char="•"/>
            </a:pPr>
            <a:r>
              <a:rPr lang="en-US" sz="3200" dirty="0">
                <a:solidFill>
                  <a:srgbClr val="002060"/>
                </a:solidFill>
              </a:rPr>
              <a:t>State table</a:t>
            </a:r>
          </a:p>
          <a:p>
            <a:pPr lvl="1" algn="just">
              <a:buFont typeface="Arial" pitchFamily="34" charset="0"/>
              <a:buChar char="•"/>
            </a:pPr>
            <a:r>
              <a:rPr lang="en-US" sz="3200" dirty="0">
                <a:solidFill>
                  <a:srgbClr val="002060"/>
                </a:solidFill>
              </a:rPr>
              <a:t>State diagram</a:t>
            </a:r>
          </a:p>
        </p:txBody>
      </p:sp>
    </p:spTree>
    <p:extLst>
      <p:ext uri="{BB962C8B-B14F-4D97-AF65-F5344CB8AC3E}">
        <p14:creationId xmlns:p14="http://schemas.microsoft.com/office/powerpoint/2010/main" val="17563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20689"/>
            <a:ext cx="8229600" cy="5505475"/>
          </a:xfrm>
        </p:spPr>
        <p:txBody>
          <a:bodyPr>
            <a:noAutofit/>
          </a:bodyPr>
          <a:lstStyle/>
          <a:p>
            <a:pPr algn="just"/>
            <a:r>
              <a:rPr lang="en-US" sz="3000" dirty="0"/>
              <a:t>The next-state values can also be obtained by evaluating the state equations from the characteristic equation. This is done by using the following procedure:</a:t>
            </a:r>
          </a:p>
          <a:p>
            <a:pPr marL="971550" lvl="1" indent="-514350" algn="just">
              <a:buFont typeface="+mj-lt"/>
              <a:buAutoNum type="arabicPeriod"/>
            </a:pPr>
            <a:r>
              <a:rPr lang="en-US" dirty="0">
                <a:solidFill>
                  <a:srgbClr val="002060"/>
                </a:solidFill>
              </a:rPr>
              <a:t>Determine the flip-flop input equations in terms of the present state and input </a:t>
            </a:r>
            <a:r>
              <a:rPr lang="en-IN" dirty="0">
                <a:solidFill>
                  <a:srgbClr val="002060"/>
                </a:solidFill>
              </a:rPr>
              <a:t>variables.</a:t>
            </a:r>
          </a:p>
          <a:p>
            <a:pPr marL="971550" lvl="1" indent="-514350" algn="just">
              <a:buFont typeface="+mj-lt"/>
              <a:buAutoNum type="arabicPeriod"/>
            </a:pPr>
            <a:r>
              <a:rPr lang="en-US" dirty="0">
                <a:solidFill>
                  <a:srgbClr val="002060"/>
                </a:solidFill>
              </a:rPr>
              <a:t>Substitute the input equations into the flip-flop characteristic equation to obtain </a:t>
            </a:r>
            <a:r>
              <a:rPr lang="en-IN" dirty="0">
                <a:solidFill>
                  <a:srgbClr val="002060"/>
                </a:solidFill>
              </a:rPr>
              <a:t>the state equations.</a:t>
            </a:r>
          </a:p>
          <a:p>
            <a:pPr marL="971550" lvl="1" indent="-514350" algn="just">
              <a:buFont typeface="+mj-lt"/>
              <a:buAutoNum type="arabicPeriod"/>
            </a:pPr>
            <a:r>
              <a:rPr lang="en-US" dirty="0">
                <a:solidFill>
                  <a:srgbClr val="002060"/>
                </a:solidFill>
              </a:rPr>
              <a:t>Use the corresponding state equations to determine the next-state values in the </a:t>
            </a:r>
            <a:r>
              <a:rPr lang="en-IN" dirty="0">
                <a:solidFill>
                  <a:srgbClr val="002060"/>
                </a:solidFill>
              </a:rPr>
              <a:t>state table.</a:t>
            </a:r>
          </a:p>
        </p:txBody>
      </p:sp>
    </p:spTree>
    <p:extLst>
      <p:ext uri="{BB962C8B-B14F-4D97-AF65-F5344CB8AC3E}">
        <p14:creationId xmlns:p14="http://schemas.microsoft.com/office/powerpoint/2010/main" val="171580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3200" dirty="0">
                <a:solidFill>
                  <a:srgbClr val="C00000"/>
                </a:solidFill>
              </a:rPr>
              <a:t>Example: </a:t>
            </a:r>
            <a:r>
              <a:rPr lang="en-US" sz="3200" dirty="0">
                <a:solidFill>
                  <a:srgbClr val="002060"/>
                </a:solidFill>
              </a:rPr>
              <a:t>Derive the state table and the state diagram of the sequential circuit shown in Fig.</a:t>
            </a:r>
            <a:endParaRPr lang="en-IN" sz="3200" dirty="0">
              <a:solidFill>
                <a:srgbClr val="002060"/>
              </a:solidFill>
            </a:endParaRPr>
          </a:p>
        </p:txBody>
      </p:sp>
      <p:sp>
        <p:nvSpPr>
          <p:cNvPr id="3" name="Content Placeholder 2"/>
          <p:cNvSpPr>
            <a:spLocks noGrp="1"/>
          </p:cNvSpPr>
          <p:nvPr>
            <p:ph idx="1"/>
          </p:nvPr>
        </p:nvSpPr>
        <p:spPr>
          <a:xfrm>
            <a:off x="1981200" y="1783358"/>
            <a:ext cx="8229600" cy="4525963"/>
          </a:xfrm>
        </p:spPr>
        <p:txBody>
          <a:bodyPr>
            <a:noAutofit/>
          </a:bodyPr>
          <a:lstStyle/>
          <a:p>
            <a:pPr algn="just"/>
            <a:endParaRPr lang="en-IN" sz="2800" dirty="0"/>
          </a:p>
          <a:p>
            <a:pPr algn="just"/>
            <a:endParaRPr lang="en-IN" sz="2800" dirty="0"/>
          </a:p>
          <a:p>
            <a:pPr algn="just"/>
            <a:endParaRPr lang="en-IN" sz="2800" dirty="0"/>
          </a:p>
          <a:p>
            <a:pPr algn="just"/>
            <a:r>
              <a:rPr lang="en-US" sz="2800" dirty="0"/>
              <a:t>It has one </a:t>
            </a:r>
            <a:r>
              <a:rPr lang="en-US" sz="2800" i="1" dirty="0"/>
              <a:t>D</a:t>
            </a:r>
            <a:r>
              <a:rPr lang="en-US" sz="2800" dirty="0"/>
              <a:t> flip-flop </a:t>
            </a:r>
            <a:r>
              <a:rPr lang="en-US" sz="2800" i="1" dirty="0">
                <a:solidFill>
                  <a:srgbClr val="002060"/>
                </a:solidFill>
              </a:rPr>
              <a:t>A</a:t>
            </a:r>
            <a:r>
              <a:rPr lang="en-US" sz="2800" dirty="0"/>
              <a:t>, and two input </a:t>
            </a:r>
            <a:r>
              <a:rPr lang="en-US" sz="2800" i="1" dirty="0">
                <a:solidFill>
                  <a:srgbClr val="002060"/>
                </a:solidFill>
              </a:rPr>
              <a:t>x</a:t>
            </a:r>
            <a:r>
              <a:rPr lang="en-US" sz="2800" dirty="0"/>
              <a:t> and </a:t>
            </a:r>
            <a:r>
              <a:rPr lang="en-US" sz="2800" i="1" dirty="0">
                <a:solidFill>
                  <a:srgbClr val="002060"/>
                </a:solidFill>
              </a:rPr>
              <a:t>y</a:t>
            </a:r>
            <a:r>
              <a:rPr lang="en-US" sz="2800" dirty="0"/>
              <a:t>.</a:t>
            </a:r>
          </a:p>
          <a:p>
            <a:pPr algn="just"/>
            <a:r>
              <a:rPr lang="en-IN" sz="2800" dirty="0"/>
              <a:t>The input equation </a:t>
            </a:r>
            <a:r>
              <a:rPr lang="en-IN" sz="2800" i="1" dirty="0"/>
              <a:t>D</a:t>
            </a:r>
            <a:r>
              <a:rPr lang="en-IN" sz="2800" i="1" baseline="-25000" dirty="0"/>
              <a:t>A</a:t>
            </a:r>
            <a:r>
              <a:rPr lang="en-IN" sz="2800" i="1" dirty="0"/>
              <a:t> </a:t>
            </a:r>
            <a:r>
              <a:rPr lang="en-IN" sz="2800" dirty="0"/>
              <a:t>= </a:t>
            </a:r>
            <a:r>
              <a:rPr lang="en-IN" sz="2800" i="1" dirty="0"/>
              <a:t>A</a:t>
            </a:r>
            <a:r>
              <a:rPr lang="en-IN" sz="2800" dirty="0"/>
              <a:t> Ꚛ </a:t>
            </a:r>
            <a:r>
              <a:rPr lang="en-IN" sz="2800" i="1" dirty="0"/>
              <a:t>x</a:t>
            </a:r>
            <a:r>
              <a:rPr lang="en-IN" sz="2800" dirty="0"/>
              <a:t> Ꚛ </a:t>
            </a:r>
            <a:r>
              <a:rPr lang="en-IN" sz="2800" i="1" dirty="0"/>
              <a:t>y</a:t>
            </a:r>
          </a:p>
          <a:p>
            <a:pPr algn="just"/>
            <a:r>
              <a:rPr lang="en-IN" sz="2800" dirty="0">
                <a:solidFill>
                  <a:srgbClr val="002060"/>
                </a:solidFill>
              </a:rPr>
              <a:t>The characteristic equation </a:t>
            </a:r>
            <a:r>
              <a:rPr lang="en-US" sz="2800" dirty="0">
                <a:solidFill>
                  <a:srgbClr val="002060"/>
                </a:solidFill>
              </a:rPr>
              <a:t>of a </a:t>
            </a:r>
            <a:r>
              <a:rPr lang="en-US" sz="2800" i="1" dirty="0">
                <a:solidFill>
                  <a:srgbClr val="002060"/>
                </a:solidFill>
              </a:rPr>
              <a:t>D </a:t>
            </a:r>
            <a:r>
              <a:rPr lang="en-US" sz="2800" dirty="0">
                <a:solidFill>
                  <a:srgbClr val="002060"/>
                </a:solidFill>
              </a:rPr>
              <a:t>flip-flop</a:t>
            </a:r>
          </a:p>
          <a:p>
            <a:pPr marL="0" indent="0" algn="just">
              <a:buNone/>
            </a:pPr>
            <a:r>
              <a:rPr lang="en-US" sz="2800" i="1" dirty="0">
                <a:solidFill>
                  <a:srgbClr val="002060"/>
                </a:solidFill>
              </a:rPr>
              <a:t>			Q</a:t>
            </a:r>
            <a:r>
              <a:rPr lang="en-US" sz="2800" dirty="0">
                <a:solidFill>
                  <a:srgbClr val="002060"/>
                </a:solidFill>
              </a:rPr>
              <a:t>(</a:t>
            </a:r>
            <a:r>
              <a:rPr lang="en-US" sz="2800" i="1" dirty="0">
                <a:solidFill>
                  <a:srgbClr val="002060"/>
                </a:solidFill>
              </a:rPr>
              <a:t>t </a:t>
            </a:r>
            <a:r>
              <a:rPr lang="en-US" sz="2800" dirty="0">
                <a:solidFill>
                  <a:srgbClr val="002060"/>
                </a:solidFill>
              </a:rPr>
              <a:t>+ 1) = </a:t>
            </a:r>
            <a:r>
              <a:rPr lang="en-US" sz="2800" i="1" dirty="0">
                <a:solidFill>
                  <a:srgbClr val="002060"/>
                </a:solidFill>
              </a:rPr>
              <a:t>D</a:t>
            </a:r>
            <a:endParaRPr lang="en-US" sz="2800" dirty="0">
              <a:solidFill>
                <a:srgbClr val="002060"/>
              </a:solidFill>
            </a:endParaRPr>
          </a:p>
          <a:p>
            <a:pPr algn="just"/>
            <a:r>
              <a:rPr lang="en-IN" sz="2800" dirty="0"/>
              <a:t>The next-state values are </a:t>
            </a:r>
            <a:r>
              <a:rPr lang="en-US" sz="2800" dirty="0"/>
              <a:t>obtained from the state equation		</a:t>
            </a:r>
            <a:r>
              <a:rPr lang="en-IN" sz="2800" i="1" dirty="0"/>
              <a:t>A</a:t>
            </a:r>
            <a:r>
              <a:rPr lang="en-IN" sz="2800" dirty="0"/>
              <a:t>(</a:t>
            </a:r>
            <a:r>
              <a:rPr lang="en-IN" sz="2800" i="1" dirty="0"/>
              <a:t>t </a:t>
            </a:r>
            <a:r>
              <a:rPr lang="en-IN" sz="2800" dirty="0"/>
              <a:t>+ 1) = </a:t>
            </a:r>
            <a:r>
              <a:rPr lang="en-IN" sz="2800" i="1" dirty="0"/>
              <a:t>D</a:t>
            </a:r>
            <a:r>
              <a:rPr lang="en-IN" sz="2800" i="1" baseline="-25000" dirty="0"/>
              <a:t>A</a:t>
            </a:r>
            <a:r>
              <a:rPr lang="en-IN" sz="2800" i="1" dirty="0"/>
              <a:t> </a:t>
            </a:r>
            <a:r>
              <a:rPr lang="en-IN" sz="2800" dirty="0"/>
              <a:t>= </a:t>
            </a:r>
            <a:r>
              <a:rPr lang="en-IN" sz="2800" i="1" dirty="0"/>
              <a:t>A </a:t>
            </a:r>
            <a:r>
              <a:rPr lang="en-IN" sz="2800" dirty="0"/>
              <a:t>Ꚛ </a:t>
            </a:r>
            <a:r>
              <a:rPr lang="en-IN" sz="2800" i="1" dirty="0"/>
              <a:t>x </a:t>
            </a:r>
            <a:r>
              <a:rPr lang="en-IN" sz="2800" dirty="0"/>
              <a:t>Ꚛ </a:t>
            </a:r>
            <a:r>
              <a:rPr lang="en-IN" sz="2800" i="1" dirty="0"/>
              <a:t>y</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688" y="1340768"/>
            <a:ext cx="5653394"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0118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barn(inVertical)">
                                      <p:cBhvr>
                                        <p:cTn id="12" dur="500"/>
                                        <p:tgtEl>
                                          <p:spTgt spid="102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0" y="2204864"/>
            <a:ext cx="2448272" cy="3438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38538" y="2708920"/>
            <a:ext cx="4761918" cy="2168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Rectangle 15"/>
          <p:cNvSpPr/>
          <p:nvPr/>
        </p:nvSpPr>
        <p:spPr>
          <a:xfrm>
            <a:off x="2927648" y="1484785"/>
            <a:ext cx="1564980" cy="461665"/>
          </a:xfrm>
          <a:prstGeom prst="rect">
            <a:avLst/>
          </a:prstGeom>
        </p:spPr>
        <p:txBody>
          <a:bodyPr wrap="none">
            <a:spAutoFit/>
          </a:bodyPr>
          <a:lstStyle/>
          <a:p>
            <a:r>
              <a:rPr lang="en-IN" sz="2400" b="1" dirty="0">
                <a:solidFill>
                  <a:srgbClr val="002060"/>
                </a:solidFill>
              </a:rPr>
              <a:t>State table</a:t>
            </a:r>
          </a:p>
        </p:txBody>
      </p:sp>
      <p:sp>
        <p:nvSpPr>
          <p:cNvPr id="17" name="Rectangle 16"/>
          <p:cNvSpPr/>
          <p:nvPr/>
        </p:nvSpPr>
        <p:spPr>
          <a:xfrm>
            <a:off x="6816080" y="1484785"/>
            <a:ext cx="1955600" cy="461665"/>
          </a:xfrm>
          <a:prstGeom prst="rect">
            <a:avLst/>
          </a:prstGeom>
        </p:spPr>
        <p:txBody>
          <a:bodyPr wrap="none">
            <a:spAutoFit/>
          </a:bodyPr>
          <a:lstStyle/>
          <a:p>
            <a:r>
              <a:rPr lang="en-IN" sz="2400" b="1" dirty="0">
                <a:solidFill>
                  <a:srgbClr val="002060"/>
                </a:solidFill>
              </a:rPr>
              <a:t>State diagram</a:t>
            </a:r>
          </a:p>
        </p:txBody>
      </p:sp>
    </p:spTree>
    <p:extLst>
      <p:ext uri="{BB962C8B-B14F-4D97-AF65-F5344CB8AC3E}">
        <p14:creationId xmlns:p14="http://schemas.microsoft.com/office/powerpoint/2010/main" val="3568359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 calcmode="lin" valueType="num">
                                      <p:cBhvr additive="base">
                                        <p:cTn id="18" dur="500" fill="hold"/>
                                        <p:tgtEl>
                                          <p:spTgt spid="17"/>
                                        </p:tgtEl>
                                        <p:attrNameLst>
                                          <p:attrName>ppt_x</p:attrName>
                                        </p:attrNameLst>
                                      </p:cBhvr>
                                      <p:tavLst>
                                        <p:tav tm="0">
                                          <p:val>
                                            <p:strVal val="#ppt_x"/>
                                          </p:val>
                                        </p:tav>
                                        <p:tav tm="100000">
                                          <p:val>
                                            <p:strVal val="#ppt_x"/>
                                          </p:val>
                                        </p:tav>
                                      </p:tavLst>
                                    </p:anim>
                                    <p:anim calcmode="lin" valueType="num">
                                      <p:cBhvr additive="base">
                                        <p:cTn id="1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arn(inVertical)">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sz="3600" dirty="0">
                <a:solidFill>
                  <a:srgbClr val="C00000"/>
                </a:solidFill>
              </a:rPr>
              <a:t>Example: </a:t>
            </a:r>
            <a:r>
              <a:rPr lang="en-US" sz="3600" dirty="0">
                <a:solidFill>
                  <a:srgbClr val="002060"/>
                </a:solidFill>
              </a:rPr>
              <a:t>Derive the state table and the state diagram of the sequential circuit shown in Fig</a:t>
            </a:r>
            <a:r>
              <a:rPr lang="en-US" dirty="0">
                <a:solidFill>
                  <a:srgbClr val="002060"/>
                </a:solidFill>
              </a:rPr>
              <a:t>.</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9662" y="1427943"/>
            <a:ext cx="5168627"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805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barn(inVertical)">
                                      <p:cBhvr>
                                        <p:cTn id="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36713"/>
            <a:ext cx="8229600" cy="5289451"/>
          </a:xfrm>
        </p:spPr>
        <p:txBody>
          <a:bodyPr>
            <a:normAutofit fontScale="92500" lnSpcReduction="20000"/>
          </a:bodyPr>
          <a:lstStyle/>
          <a:p>
            <a:pPr algn="just"/>
            <a:r>
              <a:rPr lang="en-US" dirty="0"/>
              <a:t>It consists of two </a:t>
            </a:r>
            <a:r>
              <a:rPr lang="en-US" i="1" dirty="0"/>
              <a:t>D </a:t>
            </a:r>
            <a:r>
              <a:rPr lang="en-US" dirty="0"/>
              <a:t>flip-flops </a:t>
            </a:r>
            <a:r>
              <a:rPr lang="en-US" i="1" dirty="0">
                <a:solidFill>
                  <a:srgbClr val="002060"/>
                </a:solidFill>
              </a:rPr>
              <a:t>A</a:t>
            </a:r>
            <a:r>
              <a:rPr lang="en-US" i="1" dirty="0"/>
              <a:t> </a:t>
            </a:r>
            <a:r>
              <a:rPr lang="en-US" dirty="0"/>
              <a:t>and </a:t>
            </a:r>
            <a:r>
              <a:rPr lang="en-US" i="1" dirty="0">
                <a:solidFill>
                  <a:srgbClr val="002060"/>
                </a:solidFill>
              </a:rPr>
              <a:t>B</a:t>
            </a:r>
            <a:r>
              <a:rPr lang="en-US" i="1" dirty="0"/>
              <a:t>, </a:t>
            </a:r>
            <a:r>
              <a:rPr lang="en-US" dirty="0"/>
              <a:t>an input </a:t>
            </a:r>
            <a:r>
              <a:rPr lang="en-US" i="1" dirty="0">
                <a:solidFill>
                  <a:srgbClr val="002060"/>
                </a:solidFill>
              </a:rPr>
              <a:t>x</a:t>
            </a:r>
            <a:r>
              <a:rPr lang="en-US" i="1" dirty="0"/>
              <a:t> </a:t>
            </a:r>
            <a:r>
              <a:rPr lang="en-US" dirty="0"/>
              <a:t>and an </a:t>
            </a:r>
            <a:r>
              <a:rPr lang="en-IN" dirty="0"/>
              <a:t>output </a:t>
            </a:r>
            <a:r>
              <a:rPr lang="en-IN" i="1" dirty="0">
                <a:solidFill>
                  <a:srgbClr val="002060"/>
                </a:solidFill>
              </a:rPr>
              <a:t>y</a:t>
            </a:r>
            <a:r>
              <a:rPr lang="en-IN" dirty="0"/>
              <a:t>.</a:t>
            </a:r>
          </a:p>
          <a:p>
            <a:pPr algn="just"/>
            <a:r>
              <a:rPr lang="en-US" dirty="0"/>
              <a:t>The circuit can be specified by the flip-flop input equations:</a:t>
            </a:r>
          </a:p>
          <a:p>
            <a:pPr marL="0" indent="0">
              <a:buNone/>
            </a:pPr>
            <a:r>
              <a:rPr lang="en-IN" i="1" dirty="0"/>
              <a:t>		D</a:t>
            </a:r>
            <a:r>
              <a:rPr lang="en-IN" i="1" baseline="-25000" dirty="0"/>
              <a:t>A</a:t>
            </a:r>
            <a:r>
              <a:rPr lang="en-IN" dirty="0"/>
              <a:t> = </a:t>
            </a:r>
            <a:r>
              <a:rPr lang="en-IN" i="1" dirty="0" err="1"/>
              <a:t>Ax</a:t>
            </a:r>
            <a:r>
              <a:rPr lang="en-IN" i="1" dirty="0"/>
              <a:t> </a:t>
            </a:r>
            <a:r>
              <a:rPr lang="en-IN" dirty="0"/>
              <a:t>+ </a:t>
            </a:r>
            <a:r>
              <a:rPr lang="en-IN" i="1" dirty="0" err="1"/>
              <a:t>Bx</a:t>
            </a:r>
            <a:r>
              <a:rPr lang="en-IN" i="1" dirty="0"/>
              <a:t>	D</a:t>
            </a:r>
            <a:r>
              <a:rPr lang="en-IN" i="1" baseline="-25000" dirty="0"/>
              <a:t>B</a:t>
            </a:r>
            <a:r>
              <a:rPr lang="en-IN" dirty="0"/>
              <a:t> = </a:t>
            </a:r>
            <a:r>
              <a:rPr lang="en-IN" i="1" dirty="0" err="1"/>
              <a:t>A’x</a:t>
            </a:r>
            <a:endParaRPr lang="en-US" dirty="0"/>
          </a:p>
          <a:p>
            <a:pPr algn="just"/>
            <a:r>
              <a:rPr lang="en-US" dirty="0"/>
              <a:t>The out equation:	</a:t>
            </a:r>
            <a:r>
              <a:rPr lang="en-IN" i="1" dirty="0"/>
              <a:t>y </a:t>
            </a:r>
            <a:r>
              <a:rPr lang="en-IN" dirty="0"/>
              <a:t>= (</a:t>
            </a:r>
            <a:r>
              <a:rPr lang="en-IN" i="1" dirty="0"/>
              <a:t>A </a:t>
            </a:r>
            <a:r>
              <a:rPr lang="en-IN" dirty="0"/>
              <a:t>+ </a:t>
            </a:r>
            <a:r>
              <a:rPr lang="en-IN" i="1" dirty="0"/>
              <a:t>B</a:t>
            </a:r>
            <a:r>
              <a:rPr lang="en-IN" dirty="0"/>
              <a:t>)</a:t>
            </a:r>
            <a:r>
              <a:rPr lang="en-IN" i="1" dirty="0"/>
              <a:t>x’</a:t>
            </a:r>
          </a:p>
          <a:p>
            <a:pPr algn="just"/>
            <a:r>
              <a:rPr lang="en-IN" dirty="0">
                <a:solidFill>
                  <a:srgbClr val="002060"/>
                </a:solidFill>
              </a:rPr>
              <a:t>The characteristic equation </a:t>
            </a:r>
            <a:r>
              <a:rPr lang="en-US" dirty="0">
                <a:solidFill>
                  <a:srgbClr val="002060"/>
                </a:solidFill>
              </a:rPr>
              <a:t>of a </a:t>
            </a:r>
            <a:r>
              <a:rPr lang="en-US" i="1" dirty="0">
                <a:solidFill>
                  <a:srgbClr val="002060"/>
                </a:solidFill>
              </a:rPr>
              <a:t>D </a:t>
            </a:r>
            <a:r>
              <a:rPr lang="en-US" dirty="0">
                <a:solidFill>
                  <a:srgbClr val="002060"/>
                </a:solidFill>
              </a:rPr>
              <a:t>flip-flop</a:t>
            </a:r>
          </a:p>
          <a:p>
            <a:pPr marL="0" indent="0" algn="just">
              <a:buNone/>
            </a:pPr>
            <a:r>
              <a:rPr lang="en-US" i="1" dirty="0">
                <a:solidFill>
                  <a:srgbClr val="002060"/>
                </a:solidFill>
              </a:rPr>
              <a:t>			Q</a:t>
            </a:r>
            <a:r>
              <a:rPr lang="en-US" dirty="0">
                <a:solidFill>
                  <a:srgbClr val="002060"/>
                </a:solidFill>
              </a:rPr>
              <a:t>(</a:t>
            </a:r>
            <a:r>
              <a:rPr lang="en-US" i="1" dirty="0">
                <a:solidFill>
                  <a:srgbClr val="002060"/>
                </a:solidFill>
              </a:rPr>
              <a:t>t </a:t>
            </a:r>
            <a:r>
              <a:rPr lang="en-US" dirty="0">
                <a:solidFill>
                  <a:srgbClr val="002060"/>
                </a:solidFill>
              </a:rPr>
              <a:t>+ 1) = </a:t>
            </a:r>
            <a:r>
              <a:rPr lang="en-US" i="1" dirty="0">
                <a:solidFill>
                  <a:srgbClr val="002060"/>
                </a:solidFill>
              </a:rPr>
              <a:t>D</a:t>
            </a:r>
          </a:p>
          <a:p>
            <a:pPr algn="just"/>
            <a:r>
              <a:rPr lang="en-IN" dirty="0"/>
              <a:t>The next-state values are </a:t>
            </a:r>
            <a:r>
              <a:rPr lang="en-US" dirty="0"/>
              <a:t>obtained from the state equation</a:t>
            </a:r>
          </a:p>
          <a:p>
            <a:pPr marL="0" indent="0">
              <a:buNone/>
            </a:pPr>
            <a:r>
              <a:rPr lang="en-IN" i="1" dirty="0"/>
              <a:t>		A</a:t>
            </a:r>
            <a:r>
              <a:rPr lang="en-IN" dirty="0"/>
              <a:t>(</a:t>
            </a:r>
            <a:r>
              <a:rPr lang="en-IN" i="1" dirty="0"/>
              <a:t>t </a:t>
            </a:r>
            <a:r>
              <a:rPr lang="en-IN" dirty="0"/>
              <a:t>+ 1) = </a:t>
            </a:r>
            <a:r>
              <a:rPr lang="en-IN" i="1" dirty="0"/>
              <a:t>D</a:t>
            </a:r>
            <a:r>
              <a:rPr lang="en-IN" i="1" baseline="-25000" dirty="0"/>
              <a:t>A</a:t>
            </a:r>
            <a:r>
              <a:rPr lang="en-IN" dirty="0"/>
              <a:t> = </a:t>
            </a:r>
            <a:r>
              <a:rPr lang="en-IN" i="1" dirty="0" err="1"/>
              <a:t>Ax</a:t>
            </a:r>
            <a:r>
              <a:rPr lang="en-IN" i="1" dirty="0"/>
              <a:t> </a:t>
            </a:r>
            <a:r>
              <a:rPr lang="en-IN" dirty="0"/>
              <a:t>+ </a:t>
            </a:r>
            <a:r>
              <a:rPr lang="en-IN" i="1" dirty="0" err="1"/>
              <a:t>Bx</a:t>
            </a:r>
            <a:endParaRPr lang="en-IN" i="1" dirty="0"/>
          </a:p>
          <a:p>
            <a:pPr marL="0" indent="0">
              <a:buNone/>
            </a:pPr>
            <a:r>
              <a:rPr lang="en-IN" i="1" dirty="0"/>
              <a:t>		B</a:t>
            </a:r>
            <a:r>
              <a:rPr lang="en-IN" dirty="0"/>
              <a:t>(</a:t>
            </a:r>
            <a:r>
              <a:rPr lang="en-IN" i="1" dirty="0"/>
              <a:t>t </a:t>
            </a:r>
            <a:r>
              <a:rPr lang="en-IN" dirty="0"/>
              <a:t>+ 1) = </a:t>
            </a:r>
            <a:r>
              <a:rPr lang="en-IN" i="1" dirty="0"/>
              <a:t>D</a:t>
            </a:r>
            <a:r>
              <a:rPr lang="en-IN" i="1" baseline="-25000" dirty="0"/>
              <a:t>B</a:t>
            </a:r>
            <a:r>
              <a:rPr lang="en-IN" dirty="0"/>
              <a:t> = </a:t>
            </a:r>
            <a:r>
              <a:rPr lang="en-IN" i="1" dirty="0" err="1"/>
              <a:t>A’x</a:t>
            </a:r>
            <a:endParaRPr lang="en-US" dirty="0">
              <a:solidFill>
                <a:srgbClr val="002060"/>
              </a:solidFill>
            </a:endParaRPr>
          </a:p>
          <a:p>
            <a:pPr algn="just"/>
            <a:endParaRPr lang="en-IN" dirty="0"/>
          </a:p>
        </p:txBody>
      </p:sp>
    </p:spTree>
    <p:extLst>
      <p:ext uri="{BB962C8B-B14F-4D97-AF65-F5344CB8AC3E}">
        <p14:creationId xmlns:p14="http://schemas.microsoft.com/office/powerpoint/2010/main" val="221695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3594916" y="1484785"/>
            <a:ext cx="1564980" cy="461665"/>
          </a:xfrm>
          <a:prstGeom prst="rect">
            <a:avLst/>
          </a:prstGeom>
        </p:spPr>
        <p:txBody>
          <a:bodyPr wrap="none">
            <a:spAutoFit/>
          </a:bodyPr>
          <a:lstStyle/>
          <a:p>
            <a:r>
              <a:rPr lang="en-IN" sz="2400" b="1" dirty="0">
                <a:solidFill>
                  <a:srgbClr val="002060"/>
                </a:solidFill>
              </a:rPr>
              <a:t>State table</a:t>
            </a:r>
          </a:p>
        </p:txBody>
      </p:sp>
      <p:sp>
        <p:nvSpPr>
          <p:cNvPr id="17" name="Rectangle 16"/>
          <p:cNvSpPr/>
          <p:nvPr/>
        </p:nvSpPr>
        <p:spPr>
          <a:xfrm>
            <a:off x="7668792" y="1484785"/>
            <a:ext cx="1955600" cy="461665"/>
          </a:xfrm>
          <a:prstGeom prst="rect">
            <a:avLst/>
          </a:prstGeom>
        </p:spPr>
        <p:txBody>
          <a:bodyPr wrap="none">
            <a:spAutoFit/>
          </a:bodyPr>
          <a:lstStyle/>
          <a:p>
            <a:r>
              <a:rPr lang="en-IN" sz="2400" b="1" dirty="0">
                <a:solidFill>
                  <a:srgbClr val="002060"/>
                </a:solidFill>
              </a:rPr>
              <a:t>State diagram</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560" y="1988840"/>
            <a:ext cx="4499062" cy="3739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1764" y="2204864"/>
            <a:ext cx="3442708" cy="3177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97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074"/>
                                        </p:tgtEl>
                                        <p:attrNameLst>
                                          <p:attrName>style.visibility</p:attrName>
                                        </p:attrNameLst>
                                      </p:cBhvr>
                                      <p:to>
                                        <p:strVal val="visible"/>
                                      </p:to>
                                    </p:set>
                                    <p:animEffect transition="in" filter="barn(inVertical)">
                                      <p:cBhvr>
                                        <p:cTn id="13" dur="500"/>
                                        <p:tgtEl>
                                          <p:spTgt spid="307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 calcmode="lin" valueType="num">
                                      <p:cBhvr additive="base">
                                        <p:cTn id="18" dur="500" fill="hold"/>
                                        <p:tgtEl>
                                          <p:spTgt spid="17"/>
                                        </p:tgtEl>
                                        <p:attrNameLst>
                                          <p:attrName>ppt_x</p:attrName>
                                        </p:attrNameLst>
                                      </p:cBhvr>
                                      <p:tavLst>
                                        <p:tav tm="0">
                                          <p:val>
                                            <p:strVal val="#ppt_x"/>
                                          </p:val>
                                        </p:tav>
                                        <p:tav tm="100000">
                                          <p:val>
                                            <p:strVal val="#ppt_x"/>
                                          </p:val>
                                        </p:tav>
                                      </p:tavLst>
                                    </p:anim>
                                    <p:anim calcmode="lin" valueType="num">
                                      <p:cBhvr additive="base">
                                        <p:cTn id="1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075"/>
                                        </p:tgtEl>
                                        <p:attrNameLst>
                                          <p:attrName>style.visibility</p:attrName>
                                        </p:attrNameLst>
                                      </p:cBhvr>
                                      <p:to>
                                        <p:strVal val="visible"/>
                                      </p:to>
                                    </p:set>
                                    <p:animEffect transition="in" filter="barn(inVertical)">
                                      <p:cBhvr>
                                        <p:cTn id="24"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3200" dirty="0">
                <a:solidFill>
                  <a:srgbClr val="C00000"/>
                </a:solidFill>
              </a:rPr>
              <a:t>Example: </a:t>
            </a:r>
            <a:r>
              <a:rPr lang="en-US" sz="3200" dirty="0">
                <a:solidFill>
                  <a:srgbClr val="002060"/>
                </a:solidFill>
              </a:rPr>
              <a:t>Derive the state table and the state diagram of the sequential circuit shown in Fig.</a:t>
            </a:r>
            <a:endParaRPr lang="en-IN" sz="32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3284" y="1628801"/>
            <a:ext cx="7111108" cy="4437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863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barn(inVertical)">
                                      <p:cBhvr>
                                        <p:cTn id="12"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sz="2800" dirty="0"/>
              <a:t>It has two </a:t>
            </a:r>
            <a:r>
              <a:rPr lang="en-US" sz="2800" i="1" dirty="0"/>
              <a:t>JK </a:t>
            </a:r>
            <a:r>
              <a:rPr lang="en-US" sz="2800" dirty="0"/>
              <a:t>flip-flops </a:t>
            </a:r>
            <a:r>
              <a:rPr lang="en-US" sz="2800" i="1" dirty="0">
                <a:solidFill>
                  <a:srgbClr val="002060"/>
                </a:solidFill>
              </a:rPr>
              <a:t>A</a:t>
            </a:r>
            <a:r>
              <a:rPr lang="en-US" sz="2800" i="1" dirty="0"/>
              <a:t> </a:t>
            </a:r>
            <a:r>
              <a:rPr lang="en-US" sz="2800" dirty="0"/>
              <a:t>and </a:t>
            </a:r>
            <a:r>
              <a:rPr lang="en-US" sz="2800" i="1" dirty="0">
                <a:solidFill>
                  <a:srgbClr val="002060"/>
                </a:solidFill>
              </a:rPr>
              <a:t>B</a:t>
            </a:r>
            <a:r>
              <a:rPr lang="en-US" sz="2800" i="1" dirty="0"/>
              <a:t> </a:t>
            </a:r>
            <a:r>
              <a:rPr lang="en-US" sz="2800" dirty="0"/>
              <a:t>and one input </a:t>
            </a:r>
            <a:r>
              <a:rPr lang="en-US" sz="2800" i="1" dirty="0">
                <a:solidFill>
                  <a:srgbClr val="002060"/>
                </a:solidFill>
              </a:rPr>
              <a:t>x</a:t>
            </a:r>
            <a:r>
              <a:rPr lang="en-US" sz="2800" i="1" dirty="0"/>
              <a:t>.</a:t>
            </a:r>
          </a:p>
          <a:p>
            <a:pPr algn="just"/>
            <a:r>
              <a:rPr lang="en-US" sz="2800" dirty="0"/>
              <a:t>The circuit can be specified by the flip-flop input equations</a:t>
            </a:r>
          </a:p>
          <a:p>
            <a:pPr marL="0" indent="0" algn="just">
              <a:buNone/>
            </a:pPr>
            <a:r>
              <a:rPr lang="en-IN" sz="2800" i="1" dirty="0"/>
              <a:t>		J</a:t>
            </a:r>
            <a:r>
              <a:rPr lang="en-IN" sz="2800" i="1" baseline="-25000" dirty="0"/>
              <a:t>A</a:t>
            </a:r>
            <a:r>
              <a:rPr lang="en-IN" sz="2800" i="1" dirty="0"/>
              <a:t> </a:t>
            </a:r>
            <a:r>
              <a:rPr lang="en-IN" sz="2800" dirty="0"/>
              <a:t>= </a:t>
            </a:r>
            <a:r>
              <a:rPr lang="en-IN" sz="2800" i="1" dirty="0"/>
              <a:t>B		K</a:t>
            </a:r>
            <a:r>
              <a:rPr lang="en-IN" sz="2800" i="1" baseline="-25000" dirty="0"/>
              <a:t>A</a:t>
            </a:r>
            <a:r>
              <a:rPr lang="en-IN" sz="2800" i="1" dirty="0"/>
              <a:t> </a:t>
            </a:r>
            <a:r>
              <a:rPr lang="en-IN" sz="2800" dirty="0"/>
              <a:t>= </a:t>
            </a:r>
            <a:r>
              <a:rPr lang="en-IN" sz="2800" i="1" dirty="0" err="1"/>
              <a:t>Bx</a:t>
            </a:r>
            <a:r>
              <a:rPr lang="en-IN" sz="2800" i="1" dirty="0"/>
              <a:t>’</a:t>
            </a:r>
            <a:endParaRPr lang="en-IN" sz="2800" dirty="0"/>
          </a:p>
          <a:p>
            <a:pPr marL="0" indent="0" algn="just">
              <a:buNone/>
            </a:pPr>
            <a:r>
              <a:rPr lang="en-IN" sz="2800" i="1" dirty="0"/>
              <a:t>		J</a:t>
            </a:r>
            <a:r>
              <a:rPr lang="en-IN" sz="2800" i="1" baseline="-25000" dirty="0"/>
              <a:t>B</a:t>
            </a:r>
            <a:r>
              <a:rPr lang="en-IN" sz="2800" i="1" dirty="0"/>
              <a:t> </a:t>
            </a:r>
            <a:r>
              <a:rPr lang="en-IN" sz="2800" dirty="0"/>
              <a:t>= </a:t>
            </a:r>
            <a:r>
              <a:rPr lang="en-IN" sz="2800" i="1" dirty="0"/>
              <a:t>x</a:t>
            </a:r>
            <a:r>
              <a:rPr lang="en-IN" sz="2800" dirty="0"/>
              <a:t>		</a:t>
            </a:r>
            <a:r>
              <a:rPr lang="en-IN" sz="2800" i="1" dirty="0"/>
              <a:t>K</a:t>
            </a:r>
            <a:r>
              <a:rPr lang="en-IN" sz="2800" i="1" baseline="-25000" dirty="0"/>
              <a:t>B</a:t>
            </a:r>
            <a:r>
              <a:rPr lang="en-IN" sz="2800" i="1" dirty="0"/>
              <a:t> </a:t>
            </a:r>
            <a:r>
              <a:rPr lang="en-IN" sz="2800" dirty="0"/>
              <a:t>= </a:t>
            </a:r>
            <a:r>
              <a:rPr lang="en-IN" sz="2800" i="1" dirty="0"/>
              <a:t>A</a:t>
            </a:r>
            <a:r>
              <a:rPr lang="en-IN" sz="2800" dirty="0"/>
              <a:t> Ꚛ </a:t>
            </a:r>
            <a:r>
              <a:rPr lang="en-IN" sz="2800" i="1" dirty="0"/>
              <a:t>x</a:t>
            </a:r>
          </a:p>
          <a:p>
            <a:pPr algn="just"/>
            <a:r>
              <a:rPr lang="en-IN" sz="2800" dirty="0">
                <a:solidFill>
                  <a:srgbClr val="002060"/>
                </a:solidFill>
              </a:rPr>
              <a:t>The characteristic equation </a:t>
            </a:r>
            <a:r>
              <a:rPr lang="en-US" sz="2800" dirty="0">
                <a:solidFill>
                  <a:srgbClr val="002060"/>
                </a:solidFill>
              </a:rPr>
              <a:t>of a </a:t>
            </a:r>
            <a:r>
              <a:rPr lang="en-US" sz="2800" i="1" dirty="0">
                <a:solidFill>
                  <a:srgbClr val="002060"/>
                </a:solidFill>
              </a:rPr>
              <a:t>JK </a:t>
            </a:r>
            <a:r>
              <a:rPr lang="en-US" sz="2800" dirty="0">
                <a:solidFill>
                  <a:srgbClr val="002060"/>
                </a:solidFill>
              </a:rPr>
              <a:t>flip-flop</a:t>
            </a:r>
          </a:p>
          <a:p>
            <a:pPr marL="0" indent="0" algn="just">
              <a:buNone/>
            </a:pPr>
            <a:r>
              <a:rPr lang="en-US" sz="2800" i="1" dirty="0">
                <a:solidFill>
                  <a:srgbClr val="002060"/>
                </a:solidFill>
              </a:rPr>
              <a:t>			Q</a:t>
            </a:r>
            <a:r>
              <a:rPr lang="en-US" sz="2800" dirty="0">
                <a:solidFill>
                  <a:srgbClr val="002060"/>
                </a:solidFill>
              </a:rPr>
              <a:t>(</a:t>
            </a:r>
            <a:r>
              <a:rPr lang="en-US" sz="2800" i="1" dirty="0">
                <a:solidFill>
                  <a:srgbClr val="002060"/>
                </a:solidFill>
              </a:rPr>
              <a:t>t </a:t>
            </a:r>
            <a:r>
              <a:rPr lang="en-US" sz="2800" dirty="0">
                <a:solidFill>
                  <a:srgbClr val="002060"/>
                </a:solidFill>
              </a:rPr>
              <a:t>+ 1) = </a:t>
            </a:r>
            <a:r>
              <a:rPr lang="en-IN" sz="2800" i="1" dirty="0">
                <a:solidFill>
                  <a:srgbClr val="002060"/>
                </a:solidFill>
              </a:rPr>
              <a:t>JQ’</a:t>
            </a:r>
            <a:r>
              <a:rPr lang="en-IN" sz="2800" dirty="0">
                <a:solidFill>
                  <a:srgbClr val="002060"/>
                </a:solidFill>
              </a:rPr>
              <a:t> + </a:t>
            </a:r>
            <a:r>
              <a:rPr lang="en-IN" sz="2800" i="1" dirty="0">
                <a:solidFill>
                  <a:srgbClr val="002060"/>
                </a:solidFill>
              </a:rPr>
              <a:t>K’Q</a:t>
            </a:r>
            <a:endParaRPr lang="en-US" sz="2800" dirty="0">
              <a:solidFill>
                <a:srgbClr val="002060"/>
              </a:solidFill>
            </a:endParaRPr>
          </a:p>
          <a:p>
            <a:pPr marL="0" indent="0">
              <a:buNone/>
            </a:pPr>
            <a:endParaRPr lang="en-IN" sz="2800" i="1" dirty="0"/>
          </a:p>
        </p:txBody>
      </p:sp>
    </p:spTree>
    <p:extLst>
      <p:ext uri="{BB962C8B-B14F-4D97-AF65-F5344CB8AC3E}">
        <p14:creationId xmlns:p14="http://schemas.microsoft.com/office/powerpoint/2010/main" val="32524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31230"/>
            <a:ext cx="8229600" cy="5750099"/>
          </a:xfrm>
        </p:spPr>
        <p:txBody>
          <a:bodyPr>
            <a:noAutofit/>
          </a:bodyPr>
          <a:lstStyle/>
          <a:p>
            <a:pPr algn="just"/>
            <a:r>
              <a:rPr lang="en-US" sz="2800" dirty="0"/>
              <a:t>The characteristic equations for the flip-flops are obtained by substituting </a:t>
            </a:r>
            <a:r>
              <a:rPr lang="en-US" sz="2800" i="1" dirty="0"/>
              <a:t>A </a:t>
            </a:r>
            <a:r>
              <a:rPr lang="en-US" sz="2800" dirty="0"/>
              <a:t>or </a:t>
            </a:r>
            <a:r>
              <a:rPr lang="en-US" sz="2800" i="1" dirty="0"/>
              <a:t>B </a:t>
            </a:r>
            <a:r>
              <a:rPr lang="en-US" sz="2800" dirty="0"/>
              <a:t>for the name of the flip-flop, instead of </a:t>
            </a:r>
            <a:r>
              <a:rPr lang="en-US" sz="2800" i="1" dirty="0"/>
              <a:t>Q</a:t>
            </a:r>
            <a:r>
              <a:rPr lang="en-US" sz="2800" dirty="0"/>
              <a:t>:</a:t>
            </a:r>
          </a:p>
          <a:p>
            <a:pPr marL="0" indent="0" algn="just">
              <a:buNone/>
            </a:pPr>
            <a:r>
              <a:rPr lang="en-IN" sz="2800" i="1" dirty="0"/>
              <a:t>		A</a:t>
            </a:r>
            <a:r>
              <a:rPr lang="en-IN" sz="2800" dirty="0"/>
              <a:t>(</a:t>
            </a:r>
            <a:r>
              <a:rPr lang="en-IN" sz="2800" i="1" dirty="0"/>
              <a:t>t </a:t>
            </a:r>
            <a:r>
              <a:rPr lang="en-IN" sz="2800" dirty="0"/>
              <a:t>+ 1) = </a:t>
            </a:r>
            <a:r>
              <a:rPr lang="en-IN" sz="2800" i="1" dirty="0"/>
              <a:t>J</a:t>
            </a:r>
            <a:r>
              <a:rPr lang="en-IN" sz="2800" i="1" baseline="-25000" dirty="0"/>
              <a:t>A</a:t>
            </a:r>
            <a:r>
              <a:rPr lang="en-IN" sz="2800" i="1" dirty="0"/>
              <a:t>A’</a:t>
            </a:r>
            <a:r>
              <a:rPr lang="en-IN" sz="2800" dirty="0"/>
              <a:t> + </a:t>
            </a:r>
            <a:r>
              <a:rPr lang="en-IN" sz="2800" i="1" dirty="0"/>
              <a:t>K</a:t>
            </a:r>
            <a:r>
              <a:rPr lang="en-IN" sz="2800" i="1" baseline="-25000" dirty="0"/>
              <a:t>A</a:t>
            </a:r>
            <a:r>
              <a:rPr lang="en-IN" sz="2800" i="1" dirty="0"/>
              <a:t>’A</a:t>
            </a:r>
          </a:p>
          <a:p>
            <a:pPr marL="0" indent="0" algn="just">
              <a:buNone/>
            </a:pPr>
            <a:r>
              <a:rPr lang="en-IN" sz="2800" i="1" dirty="0"/>
              <a:t>		B</a:t>
            </a:r>
            <a:r>
              <a:rPr lang="en-IN" sz="2800" dirty="0"/>
              <a:t>(</a:t>
            </a:r>
            <a:r>
              <a:rPr lang="en-IN" sz="2800" i="1" dirty="0"/>
              <a:t>t </a:t>
            </a:r>
            <a:r>
              <a:rPr lang="en-IN" sz="2800" dirty="0"/>
              <a:t>+ 1) = </a:t>
            </a:r>
            <a:r>
              <a:rPr lang="en-IN" sz="2800" i="1" dirty="0"/>
              <a:t>J</a:t>
            </a:r>
            <a:r>
              <a:rPr lang="en-IN" sz="2800" i="1" baseline="-25000" dirty="0"/>
              <a:t>B</a:t>
            </a:r>
            <a:r>
              <a:rPr lang="en-IN" sz="2800" i="1" dirty="0"/>
              <a:t>B’</a:t>
            </a:r>
            <a:r>
              <a:rPr lang="en-IN" sz="2800" dirty="0"/>
              <a:t> + </a:t>
            </a:r>
            <a:r>
              <a:rPr lang="en-IN" sz="2800" i="1" dirty="0"/>
              <a:t>K</a:t>
            </a:r>
            <a:r>
              <a:rPr lang="en-IN" sz="2800" i="1" baseline="-25000" dirty="0"/>
              <a:t>B</a:t>
            </a:r>
            <a:r>
              <a:rPr lang="en-IN" sz="2800" i="1" dirty="0"/>
              <a:t>’B</a:t>
            </a:r>
          </a:p>
          <a:p>
            <a:pPr algn="just"/>
            <a:r>
              <a:rPr lang="en-US" sz="2800" dirty="0"/>
              <a:t>Substituting the values of </a:t>
            </a:r>
            <a:r>
              <a:rPr lang="en-US" sz="2800" i="1" dirty="0"/>
              <a:t>J</a:t>
            </a:r>
            <a:r>
              <a:rPr lang="en-US" sz="2800" i="1" baseline="-25000" dirty="0"/>
              <a:t>A</a:t>
            </a:r>
            <a:r>
              <a:rPr lang="en-US" sz="2800" i="1" dirty="0"/>
              <a:t> </a:t>
            </a:r>
            <a:r>
              <a:rPr lang="en-US" sz="2800" dirty="0"/>
              <a:t>and </a:t>
            </a:r>
            <a:r>
              <a:rPr lang="en-US" sz="2800" i="1" dirty="0"/>
              <a:t>K</a:t>
            </a:r>
            <a:r>
              <a:rPr lang="en-US" sz="2800" i="1" baseline="-25000" dirty="0"/>
              <a:t>A </a:t>
            </a:r>
            <a:r>
              <a:rPr lang="en-US" sz="2800" dirty="0"/>
              <a:t>from the input equations, we obtain the state equation </a:t>
            </a:r>
            <a:r>
              <a:rPr lang="en-IN" sz="2800" dirty="0"/>
              <a:t>for </a:t>
            </a:r>
            <a:r>
              <a:rPr lang="en-IN" sz="2800" i="1" dirty="0"/>
              <a:t>A</a:t>
            </a:r>
            <a:r>
              <a:rPr lang="en-IN" sz="2800" dirty="0"/>
              <a:t>:</a:t>
            </a:r>
          </a:p>
          <a:p>
            <a:pPr marL="0" indent="0" algn="just">
              <a:buNone/>
            </a:pPr>
            <a:r>
              <a:rPr lang="en-US" sz="2800" i="1" dirty="0"/>
              <a:t>	A</a:t>
            </a:r>
            <a:r>
              <a:rPr lang="en-US" sz="2800" dirty="0"/>
              <a:t>(</a:t>
            </a:r>
            <a:r>
              <a:rPr lang="en-US" sz="2800" i="1" dirty="0"/>
              <a:t>t</a:t>
            </a:r>
            <a:r>
              <a:rPr lang="en-US" sz="2800" dirty="0"/>
              <a:t> + 1) = </a:t>
            </a:r>
            <a:r>
              <a:rPr lang="en-US" sz="2800" i="1" dirty="0"/>
              <a:t>BA’</a:t>
            </a:r>
            <a:r>
              <a:rPr lang="en-US" sz="2800" dirty="0"/>
              <a:t> + (</a:t>
            </a:r>
            <a:r>
              <a:rPr lang="en-US" sz="2800" i="1" dirty="0" err="1"/>
              <a:t>Bx</a:t>
            </a:r>
            <a:r>
              <a:rPr lang="en-US" sz="2800" i="1" dirty="0"/>
              <a:t>’</a:t>
            </a:r>
            <a:r>
              <a:rPr lang="en-US" sz="2800" dirty="0"/>
              <a:t>)</a:t>
            </a:r>
            <a:r>
              <a:rPr lang="en-US" sz="2800" i="1" dirty="0"/>
              <a:t>’A</a:t>
            </a:r>
            <a:r>
              <a:rPr lang="en-US" sz="2800" dirty="0"/>
              <a:t> = </a:t>
            </a:r>
            <a:r>
              <a:rPr lang="en-US" sz="2800" i="1" dirty="0"/>
              <a:t>A’B</a:t>
            </a:r>
            <a:r>
              <a:rPr lang="en-US" sz="2800" dirty="0"/>
              <a:t> + </a:t>
            </a:r>
            <a:r>
              <a:rPr lang="en-US" sz="2800" i="1" dirty="0"/>
              <a:t>AB’ </a:t>
            </a:r>
            <a:r>
              <a:rPr lang="en-US" sz="2800" dirty="0"/>
              <a:t>+ </a:t>
            </a:r>
            <a:r>
              <a:rPr lang="en-US" sz="2800" i="1" dirty="0"/>
              <a:t>Ax</a:t>
            </a:r>
          </a:p>
          <a:p>
            <a:pPr algn="just"/>
            <a:r>
              <a:rPr lang="en-US" sz="2800" dirty="0"/>
              <a:t>Similarly, the state equation for flip-flop </a:t>
            </a:r>
            <a:r>
              <a:rPr lang="en-US" sz="2800" i="1" dirty="0"/>
              <a:t>B </a:t>
            </a:r>
            <a:r>
              <a:rPr lang="en-US" sz="2800" dirty="0"/>
              <a:t>can be derived from the characteristic equation by substituting the values of </a:t>
            </a:r>
            <a:r>
              <a:rPr lang="en-US" sz="2800" i="1" dirty="0"/>
              <a:t>J</a:t>
            </a:r>
            <a:r>
              <a:rPr lang="en-US" sz="2800" i="1" baseline="-25000" dirty="0"/>
              <a:t>B</a:t>
            </a:r>
            <a:r>
              <a:rPr lang="en-US" sz="2800" i="1" dirty="0"/>
              <a:t> </a:t>
            </a:r>
            <a:r>
              <a:rPr lang="en-US" sz="2800" dirty="0"/>
              <a:t>and </a:t>
            </a:r>
            <a:r>
              <a:rPr lang="en-US" sz="2800" i="1" dirty="0"/>
              <a:t>K</a:t>
            </a:r>
            <a:r>
              <a:rPr lang="en-US" sz="2800" i="1" baseline="-25000" dirty="0"/>
              <a:t>B</a:t>
            </a:r>
            <a:r>
              <a:rPr lang="en-US" sz="2800" dirty="0"/>
              <a:t>:</a:t>
            </a:r>
          </a:p>
          <a:p>
            <a:pPr marL="0" indent="0" algn="just">
              <a:buNone/>
            </a:pPr>
            <a:r>
              <a:rPr lang="en-IN" sz="2800" i="1" dirty="0"/>
              <a:t>	B</a:t>
            </a:r>
            <a:r>
              <a:rPr lang="en-IN" sz="2800" dirty="0"/>
              <a:t>(</a:t>
            </a:r>
            <a:r>
              <a:rPr lang="en-IN" sz="2800" i="1" dirty="0"/>
              <a:t>t </a:t>
            </a:r>
            <a:r>
              <a:rPr lang="en-IN" sz="2800" dirty="0"/>
              <a:t>+ 1) = </a:t>
            </a:r>
            <a:r>
              <a:rPr lang="en-IN" sz="2800" i="1" dirty="0" err="1"/>
              <a:t>x’B</a:t>
            </a:r>
            <a:r>
              <a:rPr lang="en-IN" sz="2800" i="1" dirty="0"/>
              <a:t>’</a:t>
            </a:r>
            <a:r>
              <a:rPr lang="en-IN" sz="2800" dirty="0"/>
              <a:t> + (</a:t>
            </a:r>
            <a:r>
              <a:rPr lang="en-IN" sz="2800" i="1" dirty="0"/>
              <a:t>A </a:t>
            </a:r>
            <a:r>
              <a:rPr lang="en-IN" sz="2800" dirty="0"/>
              <a:t>Ꚛ </a:t>
            </a:r>
            <a:r>
              <a:rPr lang="en-IN" sz="2800" i="1" dirty="0"/>
              <a:t>x</a:t>
            </a:r>
            <a:r>
              <a:rPr lang="en-IN" sz="2800" dirty="0"/>
              <a:t>)</a:t>
            </a:r>
            <a:r>
              <a:rPr lang="en-IN" sz="2800" i="1" dirty="0"/>
              <a:t>’B </a:t>
            </a:r>
            <a:r>
              <a:rPr lang="en-IN" sz="2800" dirty="0"/>
              <a:t>= </a:t>
            </a:r>
            <a:r>
              <a:rPr lang="en-IN" sz="2800" i="1" dirty="0" err="1"/>
              <a:t>B’x</a:t>
            </a:r>
            <a:r>
              <a:rPr lang="en-IN" sz="2800" i="1" dirty="0"/>
              <a:t>’</a:t>
            </a:r>
            <a:r>
              <a:rPr lang="en-IN" sz="2800" dirty="0"/>
              <a:t> + </a:t>
            </a:r>
            <a:r>
              <a:rPr lang="en-IN" sz="2800" i="1" dirty="0" err="1"/>
              <a:t>ABx</a:t>
            </a:r>
            <a:r>
              <a:rPr lang="en-IN" sz="2800" i="1" dirty="0"/>
              <a:t> </a:t>
            </a:r>
            <a:r>
              <a:rPr lang="en-IN" sz="2800" dirty="0"/>
              <a:t>+ </a:t>
            </a:r>
            <a:r>
              <a:rPr lang="en-IN" sz="2800" i="1" dirty="0" err="1"/>
              <a:t>A’Bx</a:t>
            </a:r>
            <a:r>
              <a:rPr lang="en-IN" sz="2800" i="1" dirty="0"/>
              <a:t>’</a:t>
            </a:r>
          </a:p>
        </p:txBody>
      </p:sp>
    </p:spTree>
    <p:extLst>
      <p:ext uri="{BB962C8B-B14F-4D97-AF65-F5344CB8AC3E}">
        <p14:creationId xmlns:p14="http://schemas.microsoft.com/office/powerpoint/2010/main" val="253309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444874" y="1455168"/>
            <a:ext cx="1571007" cy="461665"/>
          </a:xfrm>
          <a:prstGeom prst="rect">
            <a:avLst/>
          </a:prstGeom>
        </p:spPr>
        <p:txBody>
          <a:bodyPr wrap="none">
            <a:spAutoFit/>
          </a:bodyPr>
          <a:lstStyle/>
          <a:p>
            <a:r>
              <a:rPr lang="en-IN" sz="2400" b="1" dirty="0">
                <a:solidFill>
                  <a:srgbClr val="002060"/>
                </a:solidFill>
              </a:rPr>
              <a:t>State table</a:t>
            </a:r>
            <a:endParaRPr lang="en-IN" sz="2400" dirty="0">
              <a:solidFill>
                <a:srgbClr val="002060"/>
              </a:solidFill>
            </a:endParaRPr>
          </a:p>
        </p:txBody>
      </p:sp>
      <p:sp>
        <p:nvSpPr>
          <p:cNvPr id="6" name="Rectangle 5"/>
          <p:cNvSpPr/>
          <p:nvPr/>
        </p:nvSpPr>
        <p:spPr>
          <a:xfrm>
            <a:off x="7308752" y="1455168"/>
            <a:ext cx="1955600" cy="461665"/>
          </a:xfrm>
          <a:prstGeom prst="rect">
            <a:avLst/>
          </a:prstGeom>
        </p:spPr>
        <p:txBody>
          <a:bodyPr wrap="none">
            <a:spAutoFit/>
          </a:bodyPr>
          <a:lstStyle/>
          <a:p>
            <a:r>
              <a:rPr lang="en-IN" sz="2400" b="1" dirty="0">
                <a:solidFill>
                  <a:srgbClr val="002060"/>
                </a:solidFill>
              </a:rPr>
              <a:t>State diagram</a:t>
            </a:r>
            <a:endParaRPr lang="en-IN" sz="2400" dirty="0">
              <a:solidFill>
                <a:srgbClr val="002060"/>
              </a:solidFill>
            </a:endParaRPr>
          </a:p>
        </p:txBody>
      </p:sp>
      <p:pic>
        <p:nvPicPr>
          <p:cNvPr id="12"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88089" y="2420889"/>
            <a:ext cx="3009621" cy="329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238" y="2049810"/>
            <a:ext cx="3958778" cy="3899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4237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barn(inVertical)">
                                      <p:cBhvr>
                                        <p:cTn id="13" dur="500"/>
                                        <p:tgtEl>
                                          <p:spTgt spid="102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 calcmode="lin" valueType="num">
                                      <p:cBhvr additive="base">
                                        <p:cTn id="1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3200" dirty="0">
                <a:solidFill>
                  <a:srgbClr val="C00000"/>
                </a:solidFill>
              </a:rPr>
              <a:t>Example: </a:t>
            </a:r>
            <a:r>
              <a:rPr lang="en-US" sz="3200" dirty="0">
                <a:solidFill>
                  <a:srgbClr val="002060"/>
                </a:solidFill>
              </a:rPr>
              <a:t>Derive the state table and the state diagram of the sequential circuit shown in Fig.</a:t>
            </a:r>
            <a:endParaRPr lang="en-IN" sz="32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5680" y="1628800"/>
            <a:ext cx="6106321" cy="4536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899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122"/>
                                        </p:tgtEl>
                                        <p:attrNameLst>
                                          <p:attrName>style.visibility</p:attrName>
                                        </p:attrNameLst>
                                      </p:cBhvr>
                                      <p:to>
                                        <p:strVal val="visible"/>
                                      </p:to>
                                    </p:set>
                                    <p:animEffect transition="in" filter="barn(inVertical)">
                                      <p:cBhvr>
                                        <p:cTn id="12"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48680"/>
            <a:ext cx="8229600" cy="5760640"/>
          </a:xfrm>
        </p:spPr>
        <p:txBody>
          <a:bodyPr>
            <a:noAutofit/>
          </a:bodyPr>
          <a:lstStyle/>
          <a:p>
            <a:pPr algn="just"/>
            <a:r>
              <a:rPr lang="en-US" sz="2800" dirty="0"/>
              <a:t>It has two </a:t>
            </a:r>
            <a:r>
              <a:rPr lang="en-US" sz="2800" i="1" dirty="0"/>
              <a:t>T</a:t>
            </a:r>
            <a:r>
              <a:rPr lang="en-US" sz="2800" dirty="0"/>
              <a:t> flip-flops </a:t>
            </a:r>
            <a:r>
              <a:rPr lang="en-US" sz="2800" i="1" dirty="0">
                <a:solidFill>
                  <a:srgbClr val="002060"/>
                </a:solidFill>
              </a:rPr>
              <a:t>A</a:t>
            </a:r>
            <a:r>
              <a:rPr lang="en-US" sz="2800" i="1" dirty="0"/>
              <a:t> </a:t>
            </a:r>
            <a:r>
              <a:rPr lang="en-US" sz="2800" dirty="0"/>
              <a:t>and </a:t>
            </a:r>
            <a:r>
              <a:rPr lang="en-US" sz="2800" i="1" dirty="0">
                <a:solidFill>
                  <a:srgbClr val="002060"/>
                </a:solidFill>
              </a:rPr>
              <a:t>B</a:t>
            </a:r>
            <a:r>
              <a:rPr lang="en-US" sz="2800" i="1" dirty="0"/>
              <a:t>, </a:t>
            </a:r>
            <a:r>
              <a:rPr lang="en-US" sz="2800" dirty="0"/>
              <a:t>one input </a:t>
            </a:r>
            <a:r>
              <a:rPr lang="en-US" sz="2800" i="1" dirty="0">
                <a:solidFill>
                  <a:srgbClr val="002060"/>
                </a:solidFill>
              </a:rPr>
              <a:t>x</a:t>
            </a:r>
            <a:r>
              <a:rPr lang="en-US" sz="2800" i="1" dirty="0"/>
              <a:t>, </a:t>
            </a:r>
            <a:r>
              <a:rPr lang="en-US" sz="2800" dirty="0"/>
              <a:t>and one output </a:t>
            </a:r>
            <a:r>
              <a:rPr lang="en-US" sz="2800" i="1" dirty="0">
                <a:solidFill>
                  <a:srgbClr val="002060"/>
                </a:solidFill>
              </a:rPr>
              <a:t>y</a:t>
            </a:r>
            <a:r>
              <a:rPr lang="en-US" sz="2800" i="1" dirty="0"/>
              <a:t> </a:t>
            </a:r>
            <a:r>
              <a:rPr lang="en-US" sz="2800" dirty="0"/>
              <a:t>and can be described algebraically by two input equations and </a:t>
            </a:r>
            <a:r>
              <a:rPr lang="en-IN" sz="2800" dirty="0"/>
              <a:t>an output equation:</a:t>
            </a:r>
          </a:p>
          <a:p>
            <a:pPr marL="0" indent="0" algn="just">
              <a:buNone/>
            </a:pPr>
            <a:r>
              <a:rPr lang="en-IN" sz="2800" i="1" dirty="0"/>
              <a:t>		T</a:t>
            </a:r>
            <a:r>
              <a:rPr lang="en-IN" sz="2800" i="1" baseline="-25000" dirty="0"/>
              <a:t>A</a:t>
            </a:r>
            <a:r>
              <a:rPr lang="en-IN" sz="2800" i="1" dirty="0"/>
              <a:t> </a:t>
            </a:r>
            <a:r>
              <a:rPr lang="en-IN" sz="2800" dirty="0"/>
              <a:t>= </a:t>
            </a:r>
            <a:r>
              <a:rPr lang="en-IN" sz="2800" i="1" dirty="0" err="1"/>
              <a:t>Bx</a:t>
            </a:r>
            <a:r>
              <a:rPr lang="en-IN" sz="2800" i="1" dirty="0"/>
              <a:t>	T</a:t>
            </a:r>
            <a:r>
              <a:rPr lang="en-IN" sz="2800" i="1" baseline="-25000" dirty="0"/>
              <a:t>B</a:t>
            </a:r>
            <a:r>
              <a:rPr lang="en-IN" sz="2800" i="1" dirty="0"/>
              <a:t> </a:t>
            </a:r>
            <a:r>
              <a:rPr lang="en-IN" sz="2800" dirty="0"/>
              <a:t>= </a:t>
            </a:r>
            <a:r>
              <a:rPr lang="en-IN" sz="2800" i="1" dirty="0"/>
              <a:t>x</a:t>
            </a:r>
          </a:p>
          <a:p>
            <a:pPr marL="0" indent="0" algn="just">
              <a:buNone/>
            </a:pPr>
            <a:r>
              <a:rPr lang="en-IN" sz="2800" i="1" dirty="0"/>
              <a:t>			y </a:t>
            </a:r>
            <a:r>
              <a:rPr lang="en-IN" sz="2800" dirty="0"/>
              <a:t>= </a:t>
            </a:r>
            <a:r>
              <a:rPr lang="en-IN" sz="2800" i="1" dirty="0"/>
              <a:t>AB</a:t>
            </a:r>
          </a:p>
          <a:p>
            <a:r>
              <a:rPr lang="en-IN" sz="2800" dirty="0">
                <a:solidFill>
                  <a:srgbClr val="002060"/>
                </a:solidFill>
              </a:rPr>
              <a:t>The characteristic equation of </a:t>
            </a:r>
            <a:r>
              <a:rPr lang="en-US" sz="2800" i="1" dirty="0">
                <a:solidFill>
                  <a:srgbClr val="002060"/>
                </a:solidFill>
              </a:rPr>
              <a:t>T</a:t>
            </a:r>
            <a:r>
              <a:rPr lang="en-US" sz="2800" dirty="0">
                <a:solidFill>
                  <a:srgbClr val="002060"/>
                </a:solidFill>
              </a:rPr>
              <a:t> flip-flop</a:t>
            </a:r>
            <a:endParaRPr lang="en-IN" sz="2800" dirty="0">
              <a:solidFill>
                <a:srgbClr val="002060"/>
              </a:solidFill>
            </a:endParaRPr>
          </a:p>
          <a:p>
            <a:pPr marL="0" indent="0">
              <a:buNone/>
            </a:pPr>
            <a:r>
              <a:rPr lang="fr-FR" sz="2800" i="1" dirty="0">
                <a:solidFill>
                  <a:srgbClr val="002060"/>
                </a:solidFill>
              </a:rPr>
              <a:t>		Q</a:t>
            </a:r>
            <a:r>
              <a:rPr lang="fr-FR" sz="2800" dirty="0">
                <a:solidFill>
                  <a:srgbClr val="002060"/>
                </a:solidFill>
              </a:rPr>
              <a:t>(</a:t>
            </a:r>
            <a:r>
              <a:rPr lang="fr-FR" sz="2800" i="1" dirty="0">
                <a:solidFill>
                  <a:srgbClr val="002060"/>
                </a:solidFill>
              </a:rPr>
              <a:t>t </a:t>
            </a:r>
            <a:r>
              <a:rPr lang="fr-FR" sz="2800" dirty="0">
                <a:solidFill>
                  <a:srgbClr val="002060"/>
                </a:solidFill>
              </a:rPr>
              <a:t>+ 1) = </a:t>
            </a:r>
            <a:r>
              <a:rPr lang="fr-FR" sz="2800" i="1" dirty="0">
                <a:solidFill>
                  <a:srgbClr val="002060"/>
                </a:solidFill>
              </a:rPr>
              <a:t>T </a:t>
            </a:r>
            <a:r>
              <a:rPr lang="fr-FR" sz="2800" dirty="0">
                <a:solidFill>
                  <a:srgbClr val="002060"/>
                </a:solidFill>
              </a:rPr>
              <a:t>Ꚛ </a:t>
            </a:r>
            <a:r>
              <a:rPr lang="fr-FR" sz="2800" i="1" dirty="0">
                <a:solidFill>
                  <a:srgbClr val="002060"/>
                </a:solidFill>
              </a:rPr>
              <a:t>Q </a:t>
            </a:r>
            <a:r>
              <a:rPr lang="fr-FR" sz="2800" dirty="0">
                <a:solidFill>
                  <a:srgbClr val="002060"/>
                </a:solidFill>
              </a:rPr>
              <a:t>= </a:t>
            </a:r>
            <a:r>
              <a:rPr lang="fr-FR" sz="2800" i="1" dirty="0">
                <a:solidFill>
                  <a:srgbClr val="002060"/>
                </a:solidFill>
              </a:rPr>
              <a:t>T’Q </a:t>
            </a:r>
            <a:r>
              <a:rPr lang="fr-FR" sz="2800" dirty="0">
                <a:solidFill>
                  <a:srgbClr val="002060"/>
                </a:solidFill>
              </a:rPr>
              <a:t>+ </a:t>
            </a:r>
            <a:r>
              <a:rPr lang="fr-FR" sz="2800" i="1" dirty="0">
                <a:solidFill>
                  <a:srgbClr val="002060"/>
                </a:solidFill>
              </a:rPr>
              <a:t>TQ’</a:t>
            </a:r>
            <a:endParaRPr lang="en-US" sz="2800" dirty="0">
              <a:solidFill>
                <a:srgbClr val="002060"/>
              </a:solidFill>
            </a:endParaRPr>
          </a:p>
          <a:p>
            <a:pPr algn="just"/>
            <a:r>
              <a:rPr lang="en-US" sz="2800" dirty="0"/>
              <a:t>The values for the next state can be derived from the state equations by substituting </a:t>
            </a:r>
            <a:r>
              <a:rPr lang="en-US" sz="2800" i="1" dirty="0"/>
              <a:t>T</a:t>
            </a:r>
            <a:r>
              <a:rPr lang="en-US" sz="2800" i="1" baseline="-25000" dirty="0"/>
              <a:t>A</a:t>
            </a:r>
            <a:r>
              <a:rPr lang="en-US" sz="2800" i="1" dirty="0"/>
              <a:t> </a:t>
            </a:r>
            <a:r>
              <a:rPr lang="en-US" sz="2800" dirty="0"/>
              <a:t>and </a:t>
            </a:r>
            <a:r>
              <a:rPr lang="en-US" sz="2800" i="1" dirty="0"/>
              <a:t>T</a:t>
            </a:r>
            <a:r>
              <a:rPr lang="en-US" sz="2800" i="1" baseline="-25000" dirty="0"/>
              <a:t>B</a:t>
            </a:r>
            <a:r>
              <a:rPr lang="en-US" sz="2800" i="1" dirty="0"/>
              <a:t> </a:t>
            </a:r>
            <a:r>
              <a:rPr lang="en-US" sz="2800" dirty="0"/>
              <a:t>in the characteristic equations, yielding</a:t>
            </a:r>
          </a:p>
          <a:p>
            <a:pPr marL="0" indent="0" algn="just">
              <a:buNone/>
            </a:pPr>
            <a:r>
              <a:rPr lang="pt-BR" sz="2800" i="1" dirty="0"/>
              <a:t>   A</a:t>
            </a:r>
            <a:r>
              <a:rPr lang="pt-BR" sz="2800" dirty="0"/>
              <a:t>(</a:t>
            </a:r>
            <a:r>
              <a:rPr lang="pt-BR" sz="2800" i="1" dirty="0"/>
              <a:t>t </a:t>
            </a:r>
            <a:r>
              <a:rPr lang="pt-BR" sz="2800" dirty="0"/>
              <a:t>+ 1) = </a:t>
            </a:r>
            <a:r>
              <a:rPr lang="fr-FR" sz="2800" i="1" dirty="0"/>
              <a:t>T</a:t>
            </a:r>
            <a:r>
              <a:rPr lang="fr-FR" sz="2800" i="1" baseline="-25000" dirty="0"/>
              <a:t>A</a:t>
            </a:r>
            <a:r>
              <a:rPr lang="fr-FR" sz="2800" i="1" dirty="0"/>
              <a:t>’A </a:t>
            </a:r>
            <a:r>
              <a:rPr lang="fr-FR" sz="2800" dirty="0"/>
              <a:t>+ </a:t>
            </a:r>
            <a:r>
              <a:rPr lang="fr-FR" sz="2800" i="1" dirty="0"/>
              <a:t>T</a:t>
            </a:r>
            <a:r>
              <a:rPr lang="fr-FR" sz="2800" i="1" baseline="-25000" dirty="0"/>
              <a:t>A</a:t>
            </a:r>
            <a:r>
              <a:rPr lang="fr-FR" sz="2800" i="1" dirty="0"/>
              <a:t>A’</a:t>
            </a:r>
            <a:r>
              <a:rPr lang="en-US" sz="2800" dirty="0"/>
              <a:t> = </a:t>
            </a:r>
            <a:r>
              <a:rPr lang="pt-BR" sz="2800" dirty="0"/>
              <a:t>(</a:t>
            </a:r>
            <a:r>
              <a:rPr lang="pt-BR" sz="2800" i="1" dirty="0"/>
              <a:t>Bx</a:t>
            </a:r>
            <a:r>
              <a:rPr lang="pt-BR" sz="2800" dirty="0"/>
              <a:t>)’</a:t>
            </a:r>
            <a:r>
              <a:rPr lang="pt-BR" sz="2800" i="1" dirty="0"/>
              <a:t>A </a:t>
            </a:r>
            <a:r>
              <a:rPr lang="pt-BR" sz="2800" dirty="0"/>
              <a:t>+ (</a:t>
            </a:r>
            <a:r>
              <a:rPr lang="pt-BR" sz="2800" i="1" dirty="0"/>
              <a:t>Bx</a:t>
            </a:r>
            <a:r>
              <a:rPr lang="pt-BR" sz="2800" dirty="0"/>
              <a:t>)</a:t>
            </a:r>
            <a:r>
              <a:rPr lang="pt-BR" sz="2800" i="1" dirty="0"/>
              <a:t>A’</a:t>
            </a:r>
            <a:r>
              <a:rPr lang="pt-BR" sz="2800" dirty="0"/>
              <a:t> = </a:t>
            </a:r>
            <a:r>
              <a:rPr lang="pt-BR" sz="2800" i="1" dirty="0"/>
              <a:t>AB’</a:t>
            </a:r>
            <a:r>
              <a:rPr lang="pt-BR" sz="2800" dirty="0"/>
              <a:t> + </a:t>
            </a:r>
            <a:r>
              <a:rPr lang="pt-BR" sz="2800" i="1" dirty="0"/>
              <a:t>Ax’</a:t>
            </a:r>
            <a:r>
              <a:rPr lang="pt-BR" sz="2800" dirty="0"/>
              <a:t> + </a:t>
            </a:r>
            <a:r>
              <a:rPr lang="pt-BR" sz="2800" i="1" dirty="0"/>
              <a:t>A’Bx</a:t>
            </a:r>
          </a:p>
          <a:p>
            <a:pPr marL="0" indent="0" algn="just">
              <a:buNone/>
            </a:pPr>
            <a:r>
              <a:rPr lang="en-IN" sz="2800" i="1" dirty="0"/>
              <a:t>	B</a:t>
            </a:r>
            <a:r>
              <a:rPr lang="en-IN" sz="2800" dirty="0"/>
              <a:t>(</a:t>
            </a:r>
            <a:r>
              <a:rPr lang="en-IN" sz="2800" i="1" dirty="0"/>
              <a:t>t </a:t>
            </a:r>
            <a:r>
              <a:rPr lang="en-IN" sz="2800" dirty="0"/>
              <a:t>+ 1) = </a:t>
            </a:r>
            <a:r>
              <a:rPr lang="fr-FR" sz="2800" i="1" dirty="0"/>
              <a:t>T</a:t>
            </a:r>
            <a:r>
              <a:rPr lang="fr-FR" sz="2800" i="1" baseline="-25000" dirty="0"/>
              <a:t>B</a:t>
            </a:r>
            <a:r>
              <a:rPr lang="fr-FR" sz="2800" i="1" dirty="0"/>
              <a:t>’B </a:t>
            </a:r>
            <a:r>
              <a:rPr lang="fr-FR" sz="2800" dirty="0"/>
              <a:t>+ </a:t>
            </a:r>
            <a:r>
              <a:rPr lang="fr-FR" sz="2800" i="1" dirty="0"/>
              <a:t>T</a:t>
            </a:r>
            <a:r>
              <a:rPr lang="fr-FR" sz="2800" i="1" baseline="-25000" dirty="0"/>
              <a:t>B</a:t>
            </a:r>
            <a:r>
              <a:rPr lang="fr-FR" sz="2800" i="1" dirty="0"/>
              <a:t>B’</a:t>
            </a:r>
            <a:r>
              <a:rPr lang="en-US" sz="2800" dirty="0"/>
              <a:t> </a:t>
            </a:r>
            <a:r>
              <a:rPr lang="en-IN" sz="2800" dirty="0"/>
              <a:t>= </a:t>
            </a:r>
            <a:r>
              <a:rPr lang="fr-FR" sz="2800" i="1" dirty="0" err="1"/>
              <a:t>x’B</a:t>
            </a:r>
            <a:r>
              <a:rPr lang="fr-FR" sz="2800" i="1" dirty="0"/>
              <a:t> </a:t>
            </a:r>
            <a:r>
              <a:rPr lang="fr-FR" sz="2800" dirty="0"/>
              <a:t>+ </a:t>
            </a:r>
            <a:r>
              <a:rPr lang="fr-FR" sz="2800" i="1" dirty="0" err="1"/>
              <a:t>xB</a:t>
            </a:r>
            <a:r>
              <a:rPr lang="fr-FR" sz="2800" i="1" dirty="0"/>
              <a:t>’</a:t>
            </a:r>
            <a:r>
              <a:rPr lang="en-US" sz="2800" dirty="0"/>
              <a:t> </a:t>
            </a:r>
            <a:r>
              <a:rPr lang="en-IN" sz="2800" dirty="0"/>
              <a:t>= </a:t>
            </a:r>
            <a:r>
              <a:rPr lang="en-IN" sz="2800" i="1" dirty="0"/>
              <a:t>x</a:t>
            </a:r>
            <a:r>
              <a:rPr lang="en-IN" sz="2800" dirty="0"/>
              <a:t> Ꚛ </a:t>
            </a:r>
            <a:r>
              <a:rPr lang="en-IN" sz="2800" i="1" dirty="0"/>
              <a:t>B</a:t>
            </a:r>
          </a:p>
          <a:p>
            <a:pPr marL="0" indent="0" algn="just">
              <a:buNone/>
            </a:pPr>
            <a:endParaRPr lang="en-IN" sz="2800" i="1" dirty="0"/>
          </a:p>
        </p:txBody>
      </p:sp>
    </p:spTree>
    <p:extLst>
      <p:ext uri="{BB962C8B-B14F-4D97-AF65-F5344CB8AC3E}">
        <p14:creationId xmlns:p14="http://schemas.microsoft.com/office/powerpoint/2010/main" val="3229944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528" y="2003871"/>
            <a:ext cx="5594526" cy="353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6160" y="2049418"/>
            <a:ext cx="2880320" cy="361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876922" y="1455168"/>
            <a:ext cx="1571007" cy="461665"/>
          </a:xfrm>
          <a:prstGeom prst="rect">
            <a:avLst/>
          </a:prstGeom>
        </p:spPr>
        <p:txBody>
          <a:bodyPr wrap="none">
            <a:spAutoFit/>
          </a:bodyPr>
          <a:lstStyle/>
          <a:p>
            <a:r>
              <a:rPr lang="en-IN" sz="2400" b="1" dirty="0">
                <a:solidFill>
                  <a:srgbClr val="002060"/>
                </a:solidFill>
              </a:rPr>
              <a:t>State table</a:t>
            </a:r>
            <a:endParaRPr lang="en-IN" sz="2400" dirty="0">
              <a:solidFill>
                <a:srgbClr val="002060"/>
              </a:solidFill>
            </a:endParaRPr>
          </a:p>
        </p:txBody>
      </p:sp>
      <p:sp>
        <p:nvSpPr>
          <p:cNvPr id="8" name="Rectangle 7"/>
          <p:cNvSpPr/>
          <p:nvPr/>
        </p:nvSpPr>
        <p:spPr>
          <a:xfrm>
            <a:off x="7956824" y="1484785"/>
            <a:ext cx="1955600" cy="461665"/>
          </a:xfrm>
          <a:prstGeom prst="rect">
            <a:avLst/>
          </a:prstGeom>
        </p:spPr>
        <p:txBody>
          <a:bodyPr wrap="none">
            <a:spAutoFit/>
          </a:bodyPr>
          <a:lstStyle/>
          <a:p>
            <a:r>
              <a:rPr lang="en-IN" sz="2400" b="1" dirty="0">
                <a:solidFill>
                  <a:srgbClr val="002060"/>
                </a:solidFill>
              </a:rPr>
              <a:t>State diagram</a:t>
            </a:r>
            <a:endParaRPr lang="en-IN" sz="2400" dirty="0">
              <a:solidFill>
                <a:srgbClr val="002060"/>
              </a:solidFill>
            </a:endParaRPr>
          </a:p>
        </p:txBody>
      </p:sp>
    </p:spTree>
    <p:extLst>
      <p:ext uri="{BB962C8B-B14F-4D97-AF65-F5344CB8AC3E}">
        <p14:creationId xmlns:p14="http://schemas.microsoft.com/office/powerpoint/2010/main" val="2125561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6146"/>
                                        </p:tgtEl>
                                        <p:attrNameLst>
                                          <p:attrName>style.visibility</p:attrName>
                                        </p:attrNameLst>
                                      </p:cBhvr>
                                      <p:to>
                                        <p:strVal val="visible"/>
                                      </p:to>
                                    </p:set>
                                    <p:animEffect transition="in" filter="barn(inVertical)">
                                      <p:cBhvr>
                                        <p:cTn id="13" dur="500"/>
                                        <p:tgtEl>
                                          <p:spTgt spid="614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6147"/>
                                        </p:tgtEl>
                                        <p:attrNameLst>
                                          <p:attrName>style.visibility</p:attrName>
                                        </p:attrNameLst>
                                      </p:cBhvr>
                                      <p:to>
                                        <p:strVal val="visible"/>
                                      </p:to>
                                    </p:set>
                                    <p:animEffect transition="in" filter="barn(inVertical)">
                                      <p:cBhvr>
                                        <p:cTn id="24" dur="500"/>
                                        <p:tgtEl>
                                          <p:spTgt spid="6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Mealy and Moore Models of Finite State Machines</a:t>
            </a:r>
            <a:endParaRPr lang="en-IN" dirty="0">
              <a:solidFill>
                <a:srgbClr val="C00000"/>
              </a:solidFill>
            </a:endParaRPr>
          </a:p>
        </p:txBody>
      </p:sp>
      <p:sp>
        <p:nvSpPr>
          <p:cNvPr id="3" name="Content Placeholder 2"/>
          <p:cNvSpPr>
            <a:spLocks noGrp="1"/>
          </p:cNvSpPr>
          <p:nvPr>
            <p:ph idx="1"/>
          </p:nvPr>
        </p:nvSpPr>
        <p:spPr/>
        <p:txBody>
          <a:bodyPr>
            <a:normAutofit fontScale="92500" lnSpcReduction="10000"/>
          </a:bodyPr>
          <a:lstStyle/>
          <a:p>
            <a:pPr algn="just"/>
            <a:r>
              <a:rPr lang="en-US" dirty="0"/>
              <a:t>The most general model of a sequential circuit has inputs, outputs, and internal states.</a:t>
            </a:r>
          </a:p>
          <a:p>
            <a:pPr algn="just"/>
            <a:r>
              <a:rPr lang="en-US" dirty="0"/>
              <a:t>It is customary to distinguish between two models of sequential circuits: the </a:t>
            </a:r>
            <a:r>
              <a:rPr lang="en-US" dirty="0">
                <a:solidFill>
                  <a:srgbClr val="C00000"/>
                </a:solidFill>
              </a:rPr>
              <a:t>Mealy model</a:t>
            </a:r>
            <a:r>
              <a:rPr lang="en-US" dirty="0"/>
              <a:t> and the </a:t>
            </a:r>
            <a:r>
              <a:rPr lang="en-US" dirty="0">
                <a:solidFill>
                  <a:srgbClr val="C00000"/>
                </a:solidFill>
              </a:rPr>
              <a:t>Moore model</a:t>
            </a:r>
            <a:r>
              <a:rPr lang="en-US" dirty="0"/>
              <a:t>.</a:t>
            </a:r>
          </a:p>
          <a:p>
            <a:pPr algn="just"/>
            <a:r>
              <a:rPr lang="en-US" dirty="0"/>
              <a:t>They differ only in the way the output is generated.</a:t>
            </a:r>
          </a:p>
          <a:p>
            <a:pPr algn="just"/>
            <a:r>
              <a:rPr lang="en-US" dirty="0"/>
              <a:t>In the </a:t>
            </a:r>
            <a:r>
              <a:rPr lang="en-US" dirty="0">
                <a:solidFill>
                  <a:srgbClr val="002060"/>
                </a:solidFill>
              </a:rPr>
              <a:t>Mealy model</a:t>
            </a:r>
            <a:r>
              <a:rPr lang="en-US" dirty="0"/>
              <a:t>, the output is a function of both the present state and the input.</a:t>
            </a:r>
          </a:p>
          <a:p>
            <a:pPr algn="just"/>
            <a:r>
              <a:rPr lang="en-US" dirty="0"/>
              <a:t>In the </a:t>
            </a:r>
            <a:r>
              <a:rPr lang="en-US" dirty="0">
                <a:solidFill>
                  <a:srgbClr val="002060"/>
                </a:solidFill>
              </a:rPr>
              <a:t>Moore model</a:t>
            </a:r>
            <a:r>
              <a:rPr lang="en-US" dirty="0"/>
              <a:t>, the output is a function of only the present state.</a:t>
            </a:r>
          </a:p>
        </p:txBody>
      </p:sp>
    </p:spTree>
    <p:extLst>
      <p:ext uri="{BB962C8B-B14F-4D97-AF65-F5344CB8AC3E}">
        <p14:creationId xmlns:p14="http://schemas.microsoft.com/office/powerpoint/2010/main" val="228188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43472" y="5939988"/>
            <a:ext cx="9793088" cy="584775"/>
          </a:xfrm>
          <a:prstGeom prst="rect">
            <a:avLst/>
          </a:prstGeom>
        </p:spPr>
        <p:txBody>
          <a:bodyPr wrap="square">
            <a:spAutoFit/>
          </a:bodyPr>
          <a:lstStyle/>
          <a:p>
            <a:r>
              <a:rPr lang="en-US" sz="3200" b="1" dirty="0"/>
              <a:t>Block diagrams of Mealy and Moore state machines</a:t>
            </a:r>
            <a:endParaRPr lang="en-IN" sz="3200" dirty="0"/>
          </a:p>
        </p:txBody>
      </p:sp>
      <p:pic>
        <p:nvPicPr>
          <p:cNvPr id="3" name="Picture 2" descr="Melay vs Moore machine difference">
            <a:extLst>
              <a:ext uri="{FF2B5EF4-FFF2-40B4-BE49-F238E27FC236}">
                <a16:creationId xmlns:a16="http://schemas.microsoft.com/office/drawing/2014/main" id="{721163A6-35EC-4366-B5F3-FB3680D13E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416" y="332656"/>
            <a:ext cx="10081120" cy="4916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338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764705"/>
            <a:ext cx="10972800" cy="5361460"/>
          </a:xfrm>
        </p:spPr>
        <p:txBody>
          <a:bodyPr/>
          <a:lstStyle/>
          <a:p>
            <a:pPr algn="just">
              <a:lnSpc>
                <a:spcPct val="150000"/>
              </a:lnSpc>
            </a:pPr>
            <a:r>
              <a:rPr lang="en-US" sz="3000" dirty="0"/>
              <a:t>A circuit may have both types of outputs.</a:t>
            </a:r>
          </a:p>
          <a:p>
            <a:pPr algn="just">
              <a:lnSpc>
                <a:spcPct val="150000"/>
              </a:lnSpc>
            </a:pPr>
            <a:r>
              <a:rPr lang="en-US" sz="3000" dirty="0"/>
              <a:t>The two models of a sequential circuit are commonly referred to as a finite state machine, abbreviated FSM.</a:t>
            </a:r>
          </a:p>
          <a:p>
            <a:pPr lvl="1" algn="just">
              <a:lnSpc>
                <a:spcPct val="150000"/>
              </a:lnSpc>
            </a:pPr>
            <a:r>
              <a:rPr lang="en-US" dirty="0"/>
              <a:t>The Mealy model of a sequential circuit is referred to as a Mealy FSM or Mealy machine.</a:t>
            </a:r>
          </a:p>
          <a:p>
            <a:pPr lvl="1" algn="just">
              <a:lnSpc>
                <a:spcPct val="150000"/>
              </a:lnSpc>
            </a:pPr>
            <a:r>
              <a:rPr lang="en-US" dirty="0"/>
              <a:t>The Moore model is referred to as a Moore FSM or Moore machine.</a:t>
            </a:r>
            <a:endParaRPr lang="en-IN" dirty="0"/>
          </a:p>
        </p:txBody>
      </p:sp>
    </p:spTree>
    <p:extLst>
      <p:ext uri="{BB962C8B-B14F-4D97-AF65-F5344CB8AC3E}">
        <p14:creationId xmlns:p14="http://schemas.microsoft.com/office/powerpoint/2010/main" val="1475422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376" y="188641"/>
            <a:ext cx="10972800" cy="2520280"/>
          </a:xfrm>
        </p:spPr>
        <p:txBody>
          <a:bodyPr>
            <a:normAutofit/>
          </a:bodyPr>
          <a:lstStyle/>
          <a:p>
            <a:pPr algn="just"/>
            <a:r>
              <a:rPr lang="en-IN" sz="3000" dirty="0"/>
              <a:t>In </a:t>
            </a:r>
            <a:r>
              <a:rPr lang="en-IN" sz="3000" dirty="0">
                <a:solidFill>
                  <a:srgbClr val="002060"/>
                </a:solidFill>
              </a:rPr>
              <a:t>Mealy model</a:t>
            </a:r>
            <a:r>
              <a:rPr lang="en-IN" sz="3000" dirty="0"/>
              <a:t> </a:t>
            </a:r>
            <a:r>
              <a:rPr lang="en-US" sz="3000" dirty="0"/>
              <a:t>state diagram, both the input and output values separated by a slash along the directed lines between the states.</a:t>
            </a:r>
          </a:p>
          <a:p>
            <a:pPr algn="just"/>
            <a:r>
              <a:rPr lang="en-IN" sz="3000" dirty="0"/>
              <a:t>In </a:t>
            </a:r>
            <a:r>
              <a:rPr lang="en-IN" sz="3000" dirty="0">
                <a:solidFill>
                  <a:srgbClr val="002060"/>
                </a:solidFill>
              </a:rPr>
              <a:t>Moore model </a:t>
            </a:r>
            <a:r>
              <a:rPr lang="en-US" sz="3000" dirty="0"/>
              <a:t>state diagram, the input value in the state diagram is labeled along the directed line, but the output value is indicated inside the circle together with the present state.</a:t>
            </a:r>
            <a:endParaRPr lang="en-IN" sz="3000" dirty="0"/>
          </a:p>
        </p:txBody>
      </p:sp>
      <p:pic>
        <p:nvPicPr>
          <p:cNvPr id="2052" name="Picture 4" descr="Mealy Machine and Moore Machine ...">
            <a:extLst>
              <a:ext uri="{FF2B5EF4-FFF2-40B4-BE49-F238E27FC236}">
                <a16:creationId xmlns:a16="http://schemas.microsoft.com/office/drawing/2014/main" id="{EDF05CC6-3524-4F11-806C-4A6572DD6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536" y="2708921"/>
            <a:ext cx="8424936" cy="3744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1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368" y="620688"/>
            <a:ext cx="10972800" cy="4525963"/>
          </a:xfrm>
        </p:spPr>
        <p:txBody>
          <a:bodyPr>
            <a:normAutofit/>
          </a:bodyPr>
          <a:lstStyle/>
          <a:p>
            <a:pPr algn="just"/>
            <a:r>
              <a:rPr lang="en-US" sz="3000" dirty="0"/>
              <a:t>In a </a:t>
            </a:r>
            <a:r>
              <a:rPr lang="en-US" sz="3000" dirty="0">
                <a:solidFill>
                  <a:srgbClr val="002060"/>
                </a:solidFill>
              </a:rPr>
              <a:t>Moore model</a:t>
            </a:r>
            <a:r>
              <a:rPr lang="en-US" sz="3000" dirty="0"/>
              <a:t>, the outputs of the sequential circuit are synchronized with the clock, because they depend only on flip-flop outputs that are synchronized with the clock.</a:t>
            </a:r>
          </a:p>
          <a:p>
            <a:pPr algn="just"/>
            <a:r>
              <a:rPr lang="en-US" sz="3000" dirty="0"/>
              <a:t>In a </a:t>
            </a:r>
            <a:r>
              <a:rPr lang="en-US" sz="3000" dirty="0">
                <a:solidFill>
                  <a:srgbClr val="002060"/>
                </a:solidFill>
              </a:rPr>
              <a:t>Mealy model</a:t>
            </a:r>
            <a:r>
              <a:rPr lang="en-US" sz="3000" dirty="0"/>
              <a:t>, the outputs may change if the inputs change during the clock cycle. Thus, the output of the Mealy machine is the value that is present immediately before the active edge of the clock.</a:t>
            </a:r>
            <a:endParaRPr lang="en-IN" sz="3000" dirty="0"/>
          </a:p>
        </p:txBody>
      </p:sp>
    </p:spTree>
    <p:extLst>
      <p:ext uri="{BB962C8B-B14F-4D97-AF65-F5344CB8AC3E}">
        <p14:creationId xmlns:p14="http://schemas.microsoft.com/office/powerpoint/2010/main" val="419358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rPr>
              <a:t>Design Procedure</a:t>
            </a:r>
          </a:p>
        </p:txBody>
      </p:sp>
      <p:sp>
        <p:nvSpPr>
          <p:cNvPr id="3" name="Content Placeholder 2"/>
          <p:cNvSpPr>
            <a:spLocks noGrp="1"/>
          </p:cNvSpPr>
          <p:nvPr>
            <p:ph idx="1"/>
          </p:nvPr>
        </p:nvSpPr>
        <p:spPr/>
        <p:txBody>
          <a:bodyPr>
            <a:normAutofit/>
          </a:bodyPr>
          <a:lstStyle/>
          <a:p>
            <a:pPr algn="just"/>
            <a:r>
              <a:rPr lang="en-US" dirty="0"/>
              <a:t>Design procedures or methodologies specify hardware that will implement a desired </a:t>
            </a:r>
            <a:r>
              <a:rPr lang="en-IN" dirty="0"/>
              <a:t>behaviour.</a:t>
            </a:r>
          </a:p>
          <a:p>
            <a:pPr algn="just"/>
            <a:r>
              <a:rPr lang="en-US" dirty="0"/>
              <a:t>The design of a clocked sequential circuit starts from a set of specifications and culminates in a logic diagram or a list of Boolean functions from which the logic diagram </a:t>
            </a:r>
            <a:r>
              <a:rPr lang="en-IN" dirty="0"/>
              <a:t>can be obtained.</a:t>
            </a:r>
          </a:p>
          <a:p>
            <a:pPr algn="just"/>
            <a:r>
              <a:rPr lang="en-US" dirty="0"/>
              <a:t>A synchronous sequential circuit is made up of flip-flops and combinational gates.</a:t>
            </a:r>
            <a:endParaRPr lang="en-IN" dirty="0"/>
          </a:p>
        </p:txBody>
      </p:sp>
    </p:spTree>
    <p:extLst>
      <p:ext uri="{BB962C8B-B14F-4D97-AF65-F5344CB8AC3E}">
        <p14:creationId xmlns:p14="http://schemas.microsoft.com/office/powerpoint/2010/main" val="2105700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48680"/>
            <a:ext cx="8229600" cy="5976664"/>
          </a:xfrm>
        </p:spPr>
        <p:txBody>
          <a:bodyPr>
            <a:noAutofit/>
          </a:bodyPr>
          <a:lstStyle/>
          <a:p>
            <a:pPr algn="just"/>
            <a:r>
              <a:rPr lang="en-US" sz="2800" dirty="0"/>
              <a:t>The procedure for designing synchronous sequential circuits can be summarized by a list of recommended steps:</a:t>
            </a:r>
          </a:p>
          <a:p>
            <a:pPr marL="900113" lvl="1" indent="-442913" algn="just">
              <a:buFont typeface="+mj-lt"/>
              <a:buAutoNum type="arabicPeriod"/>
            </a:pPr>
            <a:r>
              <a:rPr lang="en-US" sz="2600" dirty="0">
                <a:solidFill>
                  <a:srgbClr val="002060"/>
                </a:solidFill>
              </a:rPr>
              <a:t>From the word description and specifications of the desired operation, derive a state diagram for the circuit.</a:t>
            </a:r>
          </a:p>
          <a:p>
            <a:pPr marL="900113" lvl="1" indent="-442913" algn="just">
              <a:buFont typeface="+mj-lt"/>
              <a:buAutoNum type="arabicPeriod"/>
            </a:pPr>
            <a:r>
              <a:rPr lang="en-US" sz="2600" dirty="0">
                <a:solidFill>
                  <a:srgbClr val="002060"/>
                </a:solidFill>
              </a:rPr>
              <a:t>Reduce the number of states if necessary.</a:t>
            </a:r>
          </a:p>
          <a:p>
            <a:pPr marL="900113" lvl="1" indent="-442913" algn="just">
              <a:buFont typeface="+mj-lt"/>
              <a:buAutoNum type="arabicPeriod"/>
            </a:pPr>
            <a:r>
              <a:rPr lang="en-US" sz="2600" dirty="0">
                <a:solidFill>
                  <a:srgbClr val="002060"/>
                </a:solidFill>
              </a:rPr>
              <a:t>Assign binary values to the states.</a:t>
            </a:r>
          </a:p>
          <a:p>
            <a:pPr marL="900113" lvl="1" indent="-442913" algn="just">
              <a:buFont typeface="+mj-lt"/>
              <a:buAutoNum type="arabicPeriod"/>
            </a:pPr>
            <a:r>
              <a:rPr lang="en-US" sz="2600" dirty="0">
                <a:solidFill>
                  <a:srgbClr val="002060"/>
                </a:solidFill>
              </a:rPr>
              <a:t>Obtain the binary-coded state table.</a:t>
            </a:r>
          </a:p>
          <a:p>
            <a:pPr marL="900113" lvl="1" indent="-442913" algn="just">
              <a:buFont typeface="+mj-lt"/>
              <a:buAutoNum type="arabicPeriod"/>
            </a:pPr>
            <a:r>
              <a:rPr lang="en-US" sz="2600" dirty="0">
                <a:solidFill>
                  <a:srgbClr val="002060"/>
                </a:solidFill>
              </a:rPr>
              <a:t>Choose the type of flip-flops to be used.</a:t>
            </a:r>
          </a:p>
          <a:p>
            <a:pPr marL="900113" lvl="1" indent="-442913" algn="just">
              <a:buFont typeface="+mj-lt"/>
              <a:buAutoNum type="arabicPeriod"/>
            </a:pPr>
            <a:r>
              <a:rPr lang="en-US" sz="2600" dirty="0">
                <a:solidFill>
                  <a:srgbClr val="002060"/>
                </a:solidFill>
              </a:rPr>
              <a:t>Derive the simplified flip-flop input equations and output equations.</a:t>
            </a:r>
          </a:p>
          <a:p>
            <a:pPr marL="900113" lvl="1" indent="-442913" algn="just">
              <a:buFont typeface="+mj-lt"/>
              <a:buAutoNum type="arabicPeriod"/>
            </a:pPr>
            <a:r>
              <a:rPr lang="en-US" sz="2600" dirty="0">
                <a:solidFill>
                  <a:srgbClr val="002060"/>
                </a:solidFill>
              </a:rPr>
              <a:t>Draw the logic diagram.</a:t>
            </a:r>
            <a:endParaRPr lang="en-IN" sz="2600" dirty="0">
              <a:solidFill>
                <a:srgbClr val="002060"/>
              </a:solidFill>
            </a:endParaRPr>
          </a:p>
        </p:txBody>
      </p:sp>
    </p:spTree>
    <p:extLst>
      <p:ext uri="{BB962C8B-B14F-4D97-AF65-F5344CB8AC3E}">
        <p14:creationId xmlns:p14="http://schemas.microsoft.com/office/powerpoint/2010/main" val="320090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3200" dirty="0">
                <a:solidFill>
                  <a:srgbClr val="C00000"/>
                </a:solidFill>
              </a:rPr>
              <a:t>Example: </a:t>
            </a:r>
            <a:r>
              <a:rPr lang="en-US" sz="3200" dirty="0">
                <a:solidFill>
                  <a:srgbClr val="002060"/>
                </a:solidFill>
              </a:rPr>
              <a:t>Design the sequential circuit specified by the state diagram of Fig., using </a:t>
            </a:r>
            <a:r>
              <a:rPr lang="en-US" sz="3200" i="1" dirty="0">
                <a:solidFill>
                  <a:srgbClr val="002060"/>
                </a:solidFill>
              </a:rPr>
              <a:t>D </a:t>
            </a:r>
            <a:r>
              <a:rPr lang="en-US" sz="3200" dirty="0">
                <a:solidFill>
                  <a:srgbClr val="002060"/>
                </a:solidFill>
              </a:rPr>
              <a:t>flip-flops.</a:t>
            </a:r>
            <a:endParaRPr lang="en-IN" sz="3200" dirty="0">
              <a:solidFill>
                <a:srgbClr val="002060"/>
              </a:solidFill>
            </a:endParaRPr>
          </a:p>
        </p:txBody>
      </p:sp>
      <p:sp>
        <p:nvSpPr>
          <p:cNvPr id="3" name="Content Placeholder 2"/>
          <p:cNvSpPr>
            <a:spLocks noGrp="1"/>
          </p:cNvSpPr>
          <p:nvPr>
            <p:ph idx="1"/>
          </p:nvPr>
        </p:nvSpPr>
        <p:spPr>
          <a:xfrm>
            <a:off x="1981200" y="1999382"/>
            <a:ext cx="8229600" cy="4525963"/>
          </a:xfrm>
        </p:spPr>
        <p:txBody>
          <a:bodyPr>
            <a:normAutofit/>
          </a:bodyPr>
          <a:lstStyle/>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3832" y="1700808"/>
            <a:ext cx="3024336" cy="3500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2588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8194"/>
                                        </p:tgtEl>
                                        <p:attrNameLst>
                                          <p:attrName>style.visibility</p:attrName>
                                        </p:attrNameLst>
                                      </p:cBhvr>
                                      <p:to>
                                        <p:strVal val="visible"/>
                                      </p:to>
                                    </p:set>
                                    <p:animEffect transition="in" filter="barn(inVertical)">
                                      <p:cBhvr>
                                        <p:cTn id="13"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20689"/>
            <a:ext cx="8229600" cy="4525963"/>
          </a:xfrm>
        </p:spPr>
        <p:txBody>
          <a:bodyPr/>
          <a:lstStyle/>
          <a:p>
            <a:pPr algn="just"/>
            <a:r>
              <a:rPr lang="en-US" sz="3000" dirty="0"/>
              <a:t>We choose two </a:t>
            </a:r>
            <a:r>
              <a:rPr lang="en-US" sz="3000" i="1" dirty="0"/>
              <a:t>D </a:t>
            </a:r>
            <a:r>
              <a:rPr lang="en-US" sz="3000" dirty="0"/>
              <a:t>flip-flops to represent the four states, and we label their outputs </a:t>
            </a:r>
            <a:r>
              <a:rPr lang="en-US" sz="3000" i="1" dirty="0">
                <a:solidFill>
                  <a:srgbClr val="002060"/>
                </a:solidFill>
              </a:rPr>
              <a:t>A</a:t>
            </a:r>
            <a:r>
              <a:rPr lang="en-US" sz="3000" i="1" dirty="0"/>
              <a:t> </a:t>
            </a:r>
            <a:r>
              <a:rPr lang="en-US" sz="3000" dirty="0"/>
              <a:t>and </a:t>
            </a:r>
            <a:r>
              <a:rPr lang="en-US" sz="3000" i="1" dirty="0">
                <a:solidFill>
                  <a:srgbClr val="002060"/>
                </a:solidFill>
              </a:rPr>
              <a:t>B</a:t>
            </a:r>
            <a:r>
              <a:rPr lang="en-US" sz="3000" dirty="0"/>
              <a:t>. There is one input </a:t>
            </a:r>
            <a:r>
              <a:rPr lang="en-US" sz="3000" i="1" dirty="0">
                <a:solidFill>
                  <a:srgbClr val="002060"/>
                </a:solidFill>
              </a:rPr>
              <a:t>x</a:t>
            </a:r>
            <a:r>
              <a:rPr lang="en-US" sz="3000" i="1" dirty="0"/>
              <a:t> </a:t>
            </a:r>
            <a:r>
              <a:rPr lang="en-US" sz="3000" dirty="0"/>
              <a:t>and one output </a:t>
            </a:r>
            <a:r>
              <a:rPr lang="en-US" sz="3000" i="1" dirty="0">
                <a:solidFill>
                  <a:srgbClr val="002060"/>
                </a:solidFill>
              </a:rPr>
              <a:t>y</a:t>
            </a:r>
            <a:r>
              <a:rPr lang="en-US" sz="3000" dirty="0"/>
              <a:t>.</a:t>
            </a:r>
            <a:endParaRPr lang="en-IN" sz="3000" dirty="0"/>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632" y="2708921"/>
            <a:ext cx="6696744" cy="3650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303912" y="2175248"/>
            <a:ext cx="1589602" cy="461665"/>
          </a:xfrm>
          <a:prstGeom prst="rect">
            <a:avLst/>
          </a:prstGeom>
        </p:spPr>
        <p:txBody>
          <a:bodyPr wrap="none">
            <a:spAutoFit/>
          </a:bodyPr>
          <a:lstStyle/>
          <a:p>
            <a:r>
              <a:rPr lang="en-IN" sz="2400" b="1" dirty="0"/>
              <a:t>State Table</a:t>
            </a:r>
            <a:endParaRPr lang="en-IN" sz="2400" dirty="0"/>
          </a:p>
        </p:txBody>
      </p:sp>
    </p:spTree>
    <p:extLst>
      <p:ext uri="{BB962C8B-B14F-4D97-AF65-F5344CB8AC3E}">
        <p14:creationId xmlns:p14="http://schemas.microsoft.com/office/powerpoint/2010/main" val="3440087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124745"/>
            <a:ext cx="8229600" cy="5001419"/>
          </a:xfrm>
        </p:spPr>
        <p:txBody>
          <a:bodyPr>
            <a:normAutofit fontScale="92500" lnSpcReduction="10000"/>
          </a:bodyPr>
          <a:lstStyle/>
          <a:p>
            <a:pPr algn="just"/>
            <a:r>
              <a:rPr lang="en-IN" dirty="0"/>
              <a:t>The flip-flop input equations </a:t>
            </a:r>
            <a:r>
              <a:rPr lang="en-IN" i="1" dirty="0"/>
              <a:t>D</a:t>
            </a:r>
            <a:r>
              <a:rPr lang="en-IN" i="1" baseline="-25000" dirty="0"/>
              <a:t>A</a:t>
            </a:r>
            <a:r>
              <a:rPr lang="en-IN" dirty="0"/>
              <a:t> and </a:t>
            </a:r>
            <a:r>
              <a:rPr lang="en-IN" i="1" dirty="0"/>
              <a:t>D</a:t>
            </a:r>
            <a:r>
              <a:rPr lang="en-IN" i="1" baseline="-25000" dirty="0"/>
              <a:t>B</a:t>
            </a:r>
            <a:r>
              <a:rPr lang="en-IN" dirty="0"/>
              <a:t> </a:t>
            </a:r>
            <a:r>
              <a:rPr lang="en-US" dirty="0"/>
              <a:t>can be obtained from the columns </a:t>
            </a:r>
            <a:r>
              <a:rPr lang="en-IN" dirty="0"/>
              <a:t>flip-flop inputs</a:t>
            </a:r>
            <a:r>
              <a:rPr lang="en-US" i="1" dirty="0"/>
              <a:t> </a:t>
            </a:r>
            <a:r>
              <a:rPr lang="en-US" dirty="0"/>
              <a:t>in the state table and expressed in </a:t>
            </a:r>
            <a:r>
              <a:rPr lang="en-IN" dirty="0"/>
              <a:t>sum-of-</a:t>
            </a:r>
            <a:r>
              <a:rPr lang="en-IN" dirty="0" err="1"/>
              <a:t>minterms</a:t>
            </a:r>
            <a:r>
              <a:rPr lang="en-IN" dirty="0"/>
              <a:t> form as</a:t>
            </a:r>
          </a:p>
          <a:p>
            <a:pPr marL="0" indent="0" algn="just">
              <a:buNone/>
            </a:pPr>
            <a:r>
              <a:rPr lang="pt-BR" i="1" dirty="0"/>
              <a:t>		D</a:t>
            </a:r>
            <a:r>
              <a:rPr lang="pt-BR" i="1" baseline="-25000" dirty="0"/>
              <a:t>A</a:t>
            </a:r>
            <a:r>
              <a:rPr lang="pt-BR" dirty="0"/>
              <a:t>(</a:t>
            </a:r>
            <a:r>
              <a:rPr lang="pt-BR" i="1" dirty="0"/>
              <a:t>A</a:t>
            </a:r>
            <a:r>
              <a:rPr lang="pt-BR" dirty="0"/>
              <a:t>, </a:t>
            </a:r>
            <a:r>
              <a:rPr lang="pt-BR" i="1" dirty="0"/>
              <a:t>B</a:t>
            </a:r>
            <a:r>
              <a:rPr lang="pt-BR" dirty="0"/>
              <a:t>, </a:t>
            </a:r>
            <a:r>
              <a:rPr lang="pt-BR" i="1" dirty="0"/>
              <a:t>x</a:t>
            </a:r>
            <a:r>
              <a:rPr lang="pt-BR" dirty="0"/>
              <a:t>) = ∑(3, 5, 7)</a:t>
            </a:r>
          </a:p>
          <a:p>
            <a:pPr marL="0" indent="0" algn="just">
              <a:buNone/>
            </a:pPr>
            <a:r>
              <a:rPr lang="fr-FR" i="1" dirty="0"/>
              <a:t>		D</a:t>
            </a:r>
            <a:r>
              <a:rPr lang="fr-FR" i="1" baseline="-25000" dirty="0"/>
              <a:t>B</a:t>
            </a:r>
            <a:r>
              <a:rPr lang="fr-FR" dirty="0"/>
              <a:t>(</a:t>
            </a:r>
            <a:r>
              <a:rPr lang="fr-FR" i="1" dirty="0"/>
              <a:t>A</a:t>
            </a:r>
            <a:r>
              <a:rPr lang="fr-FR" dirty="0"/>
              <a:t>, </a:t>
            </a:r>
            <a:r>
              <a:rPr lang="fr-FR" i="1" dirty="0"/>
              <a:t>B</a:t>
            </a:r>
            <a:r>
              <a:rPr lang="fr-FR" dirty="0"/>
              <a:t>, </a:t>
            </a:r>
            <a:r>
              <a:rPr lang="fr-FR" i="1" dirty="0"/>
              <a:t>x</a:t>
            </a:r>
            <a:r>
              <a:rPr lang="fr-FR" dirty="0"/>
              <a:t>) = ∑(1, 5, 7)</a:t>
            </a:r>
          </a:p>
          <a:p>
            <a:pPr marL="0" indent="0" algn="just">
              <a:buNone/>
            </a:pPr>
            <a:r>
              <a:rPr lang="en-IN" i="1" dirty="0"/>
              <a:t>		  y</a:t>
            </a:r>
            <a:r>
              <a:rPr lang="en-IN" dirty="0"/>
              <a:t>(</a:t>
            </a:r>
            <a:r>
              <a:rPr lang="en-IN" i="1" dirty="0"/>
              <a:t>A</a:t>
            </a:r>
            <a:r>
              <a:rPr lang="en-IN" dirty="0"/>
              <a:t>, </a:t>
            </a:r>
            <a:r>
              <a:rPr lang="en-IN" i="1" dirty="0"/>
              <a:t>B</a:t>
            </a:r>
            <a:r>
              <a:rPr lang="en-IN" dirty="0"/>
              <a:t>, </a:t>
            </a:r>
            <a:r>
              <a:rPr lang="en-IN" i="1" dirty="0"/>
              <a:t>x</a:t>
            </a:r>
            <a:r>
              <a:rPr lang="en-IN" dirty="0"/>
              <a:t>) = ∑(6, 7)</a:t>
            </a:r>
          </a:p>
          <a:p>
            <a:pPr marL="354013" indent="0" algn="just">
              <a:buNone/>
            </a:pPr>
            <a:r>
              <a:rPr lang="en-US" dirty="0"/>
              <a:t>where </a:t>
            </a:r>
            <a:r>
              <a:rPr lang="en-US" i="1" dirty="0"/>
              <a:t>A </a:t>
            </a:r>
            <a:r>
              <a:rPr lang="en-US" dirty="0"/>
              <a:t>and </a:t>
            </a:r>
            <a:r>
              <a:rPr lang="en-US" i="1" dirty="0"/>
              <a:t>B </a:t>
            </a:r>
            <a:r>
              <a:rPr lang="en-US" dirty="0"/>
              <a:t>are the present-state values of flip-flops </a:t>
            </a:r>
            <a:r>
              <a:rPr lang="en-US" i="1" dirty="0"/>
              <a:t>A </a:t>
            </a:r>
            <a:r>
              <a:rPr lang="en-US" dirty="0"/>
              <a:t>and </a:t>
            </a:r>
            <a:r>
              <a:rPr lang="en-US" i="1" dirty="0"/>
              <a:t>B</a:t>
            </a:r>
            <a:r>
              <a:rPr lang="en-US" dirty="0"/>
              <a:t>, and </a:t>
            </a:r>
            <a:r>
              <a:rPr lang="en-US" i="1" dirty="0"/>
              <a:t>x </a:t>
            </a:r>
            <a:r>
              <a:rPr lang="en-US" dirty="0"/>
              <a:t>is the input. The </a:t>
            </a:r>
            <a:r>
              <a:rPr lang="en-US" dirty="0" err="1"/>
              <a:t>minterms</a:t>
            </a:r>
            <a:r>
              <a:rPr lang="en-US" dirty="0"/>
              <a:t> for output </a:t>
            </a:r>
            <a:r>
              <a:rPr lang="en-US" i="1" dirty="0"/>
              <a:t>y </a:t>
            </a:r>
            <a:r>
              <a:rPr lang="en-US" dirty="0"/>
              <a:t>are obtained from the output column in the state table.</a:t>
            </a:r>
            <a:endParaRPr lang="en-IN" dirty="0"/>
          </a:p>
          <a:p>
            <a:endParaRPr lang="en-IN" dirty="0"/>
          </a:p>
        </p:txBody>
      </p:sp>
    </p:spTree>
    <p:extLst>
      <p:ext uri="{BB962C8B-B14F-4D97-AF65-F5344CB8AC3E}">
        <p14:creationId xmlns:p14="http://schemas.microsoft.com/office/powerpoint/2010/main" val="2941394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005064"/>
            <a:ext cx="8229600" cy="2232248"/>
          </a:xfrm>
        </p:spPr>
        <p:txBody>
          <a:bodyPr>
            <a:normAutofit/>
          </a:bodyPr>
          <a:lstStyle/>
          <a:p>
            <a:pPr algn="just"/>
            <a:r>
              <a:rPr lang="en-US" sz="3000" dirty="0"/>
              <a:t>The </a:t>
            </a:r>
            <a:r>
              <a:rPr lang="en-IN" sz="3000" dirty="0"/>
              <a:t>simplified equations are</a:t>
            </a:r>
          </a:p>
          <a:p>
            <a:pPr marL="0" indent="0" algn="just">
              <a:buNone/>
            </a:pPr>
            <a:r>
              <a:rPr lang="en-IN" sz="3000" i="1" dirty="0"/>
              <a:t>		D</a:t>
            </a:r>
            <a:r>
              <a:rPr lang="en-IN" sz="3000" i="1" baseline="-25000" dirty="0"/>
              <a:t>A</a:t>
            </a:r>
            <a:r>
              <a:rPr lang="en-IN" sz="3000" i="1" dirty="0"/>
              <a:t> </a:t>
            </a:r>
            <a:r>
              <a:rPr lang="en-IN" sz="3000" dirty="0"/>
              <a:t>= </a:t>
            </a:r>
            <a:r>
              <a:rPr lang="en-IN" sz="3000" i="1" dirty="0" err="1"/>
              <a:t>Ax</a:t>
            </a:r>
            <a:r>
              <a:rPr lang="en-IN" sz="3000" i="1" dirty="0"/>
              <a:t> </a:t>
            </a:r>
            <a:r>
              <a:rPr lang="en-IN" sz="3000" dirty="0"/>
              <a:t>+ </a:t>
            </a:r>
            <a:r>
              <a:rPr lang="en-IN" sz="3000" i="1" dirty="0" err="1"/>
              <a:t>Bx</a:t>
            </a:r>
            <a:endParaRPr lang="en-IN" sz="3000" i="1" dirty="0"/>
          </a:p>
          <a:p>
            <a:pPr marL="0" indent="0" algn="just">
              <a:buNone/>
            </a:pPr>
            <a:r>
              <a:rPr lang="en-IN" sz="3000" i="1" dirty="0"/>
              <a:t>		D</a:t>
            </a:r>
            <a:r>
              <a:rPr lang="en-IN" sz="3000" i="1" baseline="-25000" dirty="0"/>
              <a:t>B</a:t>
            </a:r>
            <a:r>
              <a:rPr lang="en-IN" sz="3000" i="1" dirty="0"/>
              <a:t> </a:t>
            </a:r>
            <a:r>
              <a:rPr lang="en-IN" sz="3000" dirty="0"/>
              <a:t>= </a:t>
            </a:r>
            <a:r>
              <a:rPr lang="en-IN" sz="3000" i="1" dirty="0" err="1"/>
              <a:t>Ax</a:t>
            </a:r>
            <a:r>
              <a:rPr lang="en-IN" sz="3000" i="1" dirty="0"/>
              <a:t> </a:t>
            </a:r>
            <a:r>
              <a:rPr lang="en-IN" sz="3000" dirty="0"/>
              <a:t>+ </a:t>
            </a:r>
            <a:r>
              <a:rPr lang="en-IN" sz="3000" i="1" dirty="0" err="1"/>
              <a:t>B’x</a:t>
            </a:r>
            <a:endParaRPr lang="en-IN" sz="3000" i="1" dirty="0"/>
          </a:p>
          <a:p>
            <a:pPr marL="0" indent="0" algn="just">
              <a:buNone/>
            </a:pPr>
            <a:r>
              <a:rPr lang="en-IN" sz="3000" i="1" dirty="0"/>
              <a:t>		  y </a:t>
            </a:r>
            <a:r>
              <a:rPr lang="en-IN" sz="3000" dirty="0"/>
              <a:t>= </a:t>
            </a:r>
            <a:r>
              <a:rPr lang="en-IN" sz="3000" i="1" dirty="0"/>
              <a:t>AB</a:t>
            </a:r>
            <a:endParaRPr lang="en-IN" sz="3000"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4016" y="1405382"/>
            <a:ext cx="8672465" cy="2095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442110" y="836713"/>
            <a:ext cx="5390194" cy="461665"/>
          </a:xfrm>
          <a:prstGeom prst="rect">
            <a:avLst/>
          </a:prstGeom>
        </p:spPr>
        <p:txBody>
          <a:bodyPr wrap="square">
            <a:spAutoFit/>
          </a:bodyPr>
          <a:lstStyle/>
          <a:p>
            <a:r>
              <a:rPr lang="en-US" sz="2400" b="1" dirty="0"/>
              <a:t>Maps for </a:t>
            </a:r>
            <a:r>
              <a:rPr lang="en-US" sz="2400" b="1" i="1" dirty="0"/>
              <a:t>D </a:t>
            </a:r>
            <a:r>
              <a:rPr lang="en-US" sz="2400" b="1" dirty="0"/>
              <a:t>input and output </a:t>
            </a:r>
            <a:r>
              <a:rPr lang="en-US" sz="2400" b="1" i="1" dirty="0"/>
              <a:t>y</a:t>
            </a:r>
            <a:r>
              <a:rPr lang="en-US" sz="2400" b="1" dirty="0"/>
              <a:t> equations</a:t>
            </a:r>
            <a:endParaRPr lang="en-IN" sz="2400" b="1" dirty="0"/>
          </a:p>
        </p:txBody>
      </p:sp>
    </p:spTree>
    <p:extLst>
      <p:ext uri="{BB962C8B-B14F-4D97-AF65-F5344CB8AC3E}">
        <p14:creationId xmlns:p14="http://schemas.microsoft.com/office/powerpoint/2010/main" val="2490649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0242"/>
                                        </p:tgtEl>
                                        <p:attrNameLst>
                                          <p:attrName>style.visibility</p:attrName>
                                        </p:attrNameLst>
                                      </p:cBhvr>
                                      <p:to>
                                        <p:strVal val="visible"/>
                                      </p:to>
                                    </p:set>
                                    <p:animEffect transition="in" filter="barn(inVertical)">
                                      <p:cBhvr>
                                        <p:cTn id="13" dur="500"/>
                                        <p:tgtEl>
                                          <p:spTgt spid="1024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additive="base">
                                        <p:cTn id="1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0" end="0"/>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 calcmode="lin" valueType="num">
                                      <p:cBhvr additive="base">
                                        <p:cTn id="2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7608" y="404664"/>
            <a:ext cx="7128792" cy="5604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783632" y="6094458"/>
            <a:ext cx="6552728" cy="430887"/>
          </a:xfrm>
          <a:prstGeom prst="rect">
            <a:avLst/>
          </a:prstGeom>
        </p:spPr>
        <p:txBody>
          <a:bodyPr wrap="square">
            <a:spAutoFit/>
          </a:bodyPr>
          <a:lstStyle/>
          <a:p>
            <a:r>
              <a:rPr lang="en-US" sz="2200" b="1" dirty="0"/>
              <a:t>Logic diagram of the sequential circuit with </a:t>
            </a:r>
            <a:r>
              <a:rPr lang="en-US" sz="2200" b="1" i="1" dirty="0"/>
              <a:t>D </a:t>
            </a:r>
            <a:r>
              <a:rPr lang="en-US" sz="2200" b="1" dirty="0"/>
              <a:t>flip-flops</a:t>
            </a:r>
            <a:endParaRPr lang="en-IN" sz="2200" dirty="0"/>
          </a:p>
        </p:txBody>
      </p:sp>
    </p:spTree>
    <p:extLst>
      <p:ext uri="{BB962C8B-B14F-4D97-AF65-F5344CB8AC3E}">
        <p14:creationId xmlns:p14="http://schemas.microsoft.com/office/powerpoint/2010/main" val="332932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barn(inVertical)">
                                      <p:cBhvr>
                                        <p:cTn id="7" dur="500"/>
                                        <p:tgtEl>
                                          <p:spTgt spid="1126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sz="3600" dirty="0">
                <a:solidFill>
                  <a:srgbClr val="C00000"/>
                </a:solidFill>
              </a:rPr>
              <a:t>Example: </a:t>
            </a:r>
            <a:r>
              <a:rPr lang="en-US" sz="3600" dirty="0">
                <a:solidFill>
                  <a:srgbClr val="002060"/>
                </a:solidFill>
              </a:rPr>
              <a:t>Design the sequential circuit specified by the state diagram of Fig., using </a:t>
            </a:r>
            <a:r>
              <a:rPr lang="en-US" sz="3600" i="1" dirty="0">
                <a:solidFill>
                  <a:srgbClr val="002060"/>
                </a:solidFill>
              </a:rPr>
              <a:t>JK </a:t>
            </a:r>
            <a:r>
              <a:rPr lang="en-US" sz="3600" dirty="0">
                <a:solidFill>
                  <a:srgbClr val="002060"/>
                </a:solidFill>
              </a:rPr>
              <a:t>flip-flops</a:t>
            </a:r>
            <a:r>
              <a:rPr lang="en-US" dirty="0">
                <a:solidFill>
                  <a:srgbClr val="002060"/>
                </a:solidFill>
              </a:rPr>
              <a:t>.</a:t>
            </a:r>
            <a:endParaRPr lang="en-IN" dirty="0"/>
          </a:p>
        </p:txBody>
      </p:sp>
      <p:pic>
        <p:nvPicPr>
          <p:cNvPr id="1026" name="Picture 2"/>
          <p:cNvPicPr>
            <a:picLocks noChangeAspect="1" noChangeArrowheads="1"/>
          </p:cNvPicPr>
          <p:nvPr/>
        </p:nvPicPr>
        <p:blipFill>
          <a:blip r:embed="rId2"/>
          <a:srcRect/>
          <a:stretch>
            <a:fillRect/>
          </a:stretch>
        </p:blipFill>
        <p:spPr bwMode="auto">
          <a:xfrm>
            <a:off x="4667241" y="2143116"/>
            <a:ext cx="2763561" cy="3405600"/>
          </a:xfrm>
          <a:prstGeom prst="rect">
            <a:avLst/>
          </a:prstGeom>
          <a:noFill/>
          <a:ln w="9525">
            <a:noFill/>
            <a:miter lim="800000"/>
            <a:headEnd/>
            <a:tailEnd/>
          </a:ln>
          <a:effectLst/>
        </p:spPr>
      </p:pic>
    </p:spTree>
    <p:extLst>
      <p:ext uri="{BB962C8B-B14F-4D97-AF65-F5344CB8AC3E}">
        <p14:creationId xmlns:p14="http://schemas.microsoft.com/office/powerpoint/2010/main" val="283118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91744" y="908721"/>
            <a:ext cx="4513928" cy="461665"/>
          </a:xfrm>
          <a:prstGeom prst="rect">
            <a:avLst/>
          </a:prstGeom>
        </p:spPr>
        <p:txBody>
          <a:bodyPr wrap="none">
            <a:spAutoFit/>
          </a:bodyPr>
          <a:lstStyle/>
          <a:p>
            <a:r>
              <a:rPr lang="en-US" sz="2400" b="1" i="1" dirty="0"/>
              <a:t>State Table and JK Flip-Flop Inputs</a:t>
            </a:r>
            <a:endParaRPr lang="en-IN" sz="2400" dirty="0"/>
          </a:p>
        </p:txBody>
      </p:sp>
      <p:pic>
        <p:nvPicPr>
          <p:cNvPr id="13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592" y="1628800"/>
            <a:ext cx="7272808" cy="431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9887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3315"/>
                                        </p:tgtEl>
                                        <p:attrNameLst>
                                          <p:attrName>style.visibility</p:attrName>
                                        </p:attrNameLst>
                                      </p:cBhvr>
                                      <p:to>
                                        <p:strVal val="visible"/>
                                      </p:to>
                                    </p:set>
                                    <p:animEffect transition="in" filter="barn(inVertical)">
                                      <p:cBhvr>
                                        <p:cTn id="13" dur="5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624" y="1577562"/>
            <a:ext cx="6768752" cy="4659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935760" y="951112"/>
            <a:ext cx="4377096" cy="461665"/>
          </a:xfrm>
          <a:prstGeom prst="rect">
            <a:avLst/>
          </a:prstGeom>
        </p:spPr>
        <p:txBody>
          <a:bodyPr wrap="none">
            <a:spAutoFit/>
          </a:bodyPr>
          <a:lstStyle/>
          <a:p>
            <a:r>
              <a:rPr lang="en-US" sz="2400" b="1" dirty="0"/>
              <a:t>Maps for </a:t>
            </a:r>
            <a:r>
              <a:rPr lang="en-US" sz="2400" b="1" i="1" dirty="0"/>
              <a:t>J </a:t>
            </a:r>
            <a:r>
              <a:rPr lang="en-US" sz="2400" b="1" dirty="0"/>
              <a:t>and </a:t>
            </a:r>
            <a:r>
              <a:rPr lang="en-US" sz="2400" b="1" i="1" dirty="0"/>
              <a:t>K </a:t>
            </a:r>
            <a:r>
              <a:rPr lang="en-US" sz="2400" b="1" dirty="0"/>
              <a:t>input equations</a:t>
            </a:r>
            <a:endParaRPr lang="en-IN" sz="2400" dirty="0"/>
          </a:p>
        </p:txBody>
      </p:sp>
    </p:spTree>
    <p:extLst>
      <p:ext uri="{BB962C8B-B14F-4D97-AF65-F5344CB8AC3E}">
        <p14:creationId xmlns:p14="http://schemas.microsoft.com/office/powerpoint/2010/main" val="362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4338"/>
                                        </p:tgtEl>
                                        <p:attrNameLst>
                                          <p:attrName>style.visibility</p:attrName>
                                        </p:attrNameLst>
                                      </p:cBhvr>
                                      <p:to>
                                        <p:strVal val="visible"/>
                                      </p:to>
                                    </p:set>
                                    <p:animEffect transition="in" filter="barn(inVertical)">
                                      <p:cBhvr>
                                        <p:cTn id="13"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584" y="549990"/>
            <a:ext cx="7488832" cy="5327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783632" y="5950442"/>
            <a:ext cx="6624736" cy="430887"/>
          </a:xfrm>
          <a:prstGeom prst="rect">
            <a:avLst/>
          </a:prstGeom>
        </p:spPr>
        <p:txBody>
          <a:bodyPr wrap="square">
            <a:spAutoFit/>
          </a:bodyPr>
          <a:lstStyle/>
          <a:p>
            <a:r>
              <a:rPr lang="en-US" sz="2200" b="1" dirty="0"/>
              <a:t>Logic diagram of the sequential circuit with </a:t>
            </a:r>
            <a:r>
              <a:rPr lang="en-US" sz="2200" b="1" i="1" dirty="0"/>
              <a:t>JK </a:t>
            </a:r>
            <a:r>
              <a:rPr lang="en-US" sz="2200" b="1" dirty="0"/>
              <a:t>flip-flops</a:t>
            </a:r>
            <a:endParaRPr lang="en-IN" sz="2200" dirty="0"/>
          </a:p>
        </p:txBody>
      </p:sp>
    </p:spTree>
    <p:extLst>
      <p:ext uri="{BB962C8B-B14F-4D97-AF65-F5344CB8AC3E}">
        <p14:creationId xmlns:p14="http://schemas.microsoft.com/office/powerpoint/2010/main" val="96642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barn(inVertical)">
                                      <p:cBhvr>
                                        <p:cTn id="7" dur="500"/>
                                        <p:tgtEl>
                                          <p:spTgt spid="1536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745</TotalTime>
  <Words>1538</Words>
  <Application>Microsoft Office PowerPoint</Application>
  <PresentationFormat>Widescreen</PresentationFormat>
  <Paragraphs>121</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Baskerville Old Face</vt:lpstr>
      <vt:lpstr>Calibri</vt:lpstr>
      <vt:lpstr>Times New Roman</vt:lpstr>
      <vt:lpstr>Office Theme</vt:lpstr>
      <vt:lpstr>DIGITAL ELECTRONICS IV Semester ECE</vt:lpstr>
      <vt:lpstr>Analysis of Clocked Sequential Circuits; Mealy and Moore Models of Finite State Machines; Design Procedure</vt:lpstr>
      <vt:lpstr>Analysis of Clocked Sequential Circuits</vt:lpstr>
      <vt:lpstr>PowerPoint Presentation</vt:lpstr>
      <vt:lpstr>PowerPoint Presentation</vt:lpstr>
      <vt:lpstr>Example: Derive the state table and the state diagram of the sequential circuit shown in Fig.</vt:lpstr>
      <vt:lpstr>PowerPoint Presentation</vt:lpstr>
      <vt:lpstr>Example: Derive the state table and the state diagram of the sequential circuit shown in Fig.</vt:lpstr>
      <vt:lpstr>PowerPoint Presentation</vt:lpstr>
      <vt:lpstr>PowerPoint Presentation</vt:lpstr>
      <vt:lpstr>Example: Derive the state table and the state diagram of the sequential circuit shown in Fig.</vt:lpstr>
      <vt:lpstr>PowerPoint Presentation</vt:lpstr>
      <vt:lpstr>PowerPoint Presentation</vt:lpstr>
      <vt:lpstr>PowerPoint Presentation</vt:lpstr>
      <vt:lpstr>Example: Derive the state table and the state diagram of the sequential circuit shown in Fig.</vt:lpstr>
      <vt:lpstr>PowerPoint Presentation</vt:lpstr>
      <vt:lpstr>PowerPoint Presentation</vt:lpstr>
      <vt:lpstr>Mealy and Moore Models of Finite State Machines</vt:lpstr>
      <vt:lpstr>PowerPoint Presentation</vt:lpstr>
      <vt:lpstr>PowerPoint Presentation</vt:lpstr>
      <vt:lpstr>PowerPoint Presentation</vt:lpstr>
      <vt:lpstr>PowerPoint Presentation</vt:lpstr>
      <vt:lpstr>Design Procedure</vt:lpstr>
      <vt:lpstr>PowerPoint Presentation</vt:lpstr>
      <vt:lpstr>Example: Design the sequential circuit specified by the state diagram of Fig., using D flip-flops.</vt:lpstr>
      <vt:lpstr>PowerPoint Presentation</vt:lpstr>
      <vt:lpstr>PowerPoint Presentation</vt:lpstr>
      <vt:lpstr>PowerPoint Presentation</vt:lpstr>
      <vt:lpstr>PowerPoint Presentation</vt:lpstr>
      <vt:lpstr>Example: Design the sequential circuit specified by the state diagram of Fig., using JK flip-flops.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staff</dc:creator>
  <cp:lastModifiedBy>ranjita rout</cp:lastModifiedBy>
  <cp:revision>72</cp:revision>
  <dcterms:created xsi:type="dcterms:W3CDTF">2020-11-13T05:47:32Z</dcterms:created>
  <dcterms:modified xsi:type="dcterms:W3CDTF">2025-10-14T12:29:30Z</dcterms:modified>
</cp:coreProperties>
</file>