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256" r:id="rId3"/>
    <p:sldId id="257" r:id="rId4"/>
    <p:sldId id="258" r:id="rId5"/>
    <p:sldId id="260" r:id="rId6"/>
    <p:sldId id="265" r:id="rId7"/>
    <p:sldId id="261" r:id="rId8"/>
    <p:sldId id="262" r:id="rId9"/>
    <p:sldId id="264" r:id="rId10"/>
    <p:sldId id="287" r:id="rId11"/>
    <p:sldId id="288" r:id="rId12"/>
    <p:sldId id="269" r:id="rId13"/>
    <p:sldId id="267" r:id="rId14"/>
    <p:sldId id="270" r:id="rId15"/>
    <p:sldId id="271" r:id="rId16"/>
    <p:sldId id="272" r:id="rId17"/>
    <p:sldId id="273" r:id="rId18"/>
    <p:sldId id="284" r:id="rId19"/>
    <p:sldId id="285" r:id="rId20"/>
    <p:sldId id="276" r:id="rId21"/>
    <p:sldId id="289" r:id="rId22"/>
    <p:sldId id="290" r:id="rId23"/>
    <p:sldId id="275" r:id="rId24"/>
    <p:sldId id="277" r:id="rId25"/>
    <p:sldId id="278" r:id="rId26"/>
    <p:sldId id="279" r:id="rId27"/>
    <p:sldId id="280" r:id="rId28"/>
    <p:sldId id="281" r:id="rId29"/>
    <p:sldId id="282" r:id="rId30"/>
    <p:sldId id="286" r:id="rId31"/>
    <p:sldId id="291" r:id="rId32"/>
    <p:sldId id="293" r:id="rId33"/>
    <p:sldId id="295" r:id="rId34"/>
    <p:sldId id="297" r:id="rId35"/>
    <p:sldId id="298" r:id="rId36"/>
    <p:sldId id="299" r:id="rId37"/>
    <p:sldId id="300" r:id="rId38"/>
    <p:sldId id="292" r:id="rId39"/>
    <p:sldId id="296" r:id="rId40"/>
    <p:sldId id="312" r:id="rId41"/>
    <p:sldId id="314" r:id="rId42"/>
    <p:sldId id="315" r:id="rId43"/>
    <p:sldId id="316" r:id="rId44"/>
    <p:sldId id="301" r:id="rId45"/>
    <p:sldId id="302" r:id="rId46"/>
    <p:sldId id="313" r:id="rId47"/>
    <p:sldId id="307" r:id="rId48"/>
    <p:sldId id="318" r:id="rId49"/>
    <p:sldId id="305" r:id="rId50"/>
    <p:sldId id="306" r:id="rId51"/>
    <p:sldId id="319" r:id="rId52"/>
    <p:sldId id="320" r:id="rId53"/>
    <p:sldId id="308" r:id="rId54"/>
    <p:sldId id="309" r:id="rId55"/>
    <p:sldId id="322" r:id="rId56"/>
    <p:sldId id="321" r:id="rId57"/>
    <p:sldId id="325" r:id="rId58"/>
    <p:sldId id="317" r:id="rId59"/>
    <p:sldId id="324" r:id="rId60"/>
    <p:sldId id="323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660"/>
  </p:normalViewPr>
  <p:slideViewPr>
    <p:cSldViewPr>
      <p:cViewPr varScale="1">
        <p:scale>
          <a:sx n="67" d="100"/>
          <a:sy n="67" d="100"/>
        </p:scale>
        <p:origin x="70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81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5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4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8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75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65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25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36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08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5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5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2EA59-1D60-4A22-B906-39E75063EA90}" type="datetimeFigureOut">
              <a:rPr lang="en-IN" smtClean="0"/>
              <a:pPr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B0D8C-F76E-4402-9B9E-3893DB361ED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8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9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br>
              <a:rPr lang="en-US" sz="6600" b="1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b="1">
                <a:solidFill>
                  <a:srgbClr val="00B050"/>
                </a:solidFill>
                <a:latin typeface="Baskerville Old Face" pitchFamily="18" charset="0"/>
              </a:rPr>
              <a:t>III Semester CSE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69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952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Dr. Ranjita Rout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052737"/>
            <a:ext cx="7772400" cy="101054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Counters</a:t>
            </a:r>
            <a:endParaRPr lang="en-IN" sz="48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552" y="2276872"/>
            <a:ext cx="8064896" cy="367240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Asynchronous Counters;</a:t>
            </a:r>
          </a:p>
          <a:p>
            <a:r>
              <a:rPr lang="en-US" sz="4000" b="1" dirty="0">
                <a:solidFill>
                  <a:srgbClr val="00B050"/>
                </a:solidFill>
              </a:rPr>
              <a:t>Design of Asynchronous Counters;</a:t>
            </a:r>
          </a:p>
          <a:p>
            <a:r>
              <a:rPr lang="en-US" sz="4000" b="1" dirty="0">
                <a:solidFill>
                  <a:srgbClr val="00B050"/>
                </a:solidFill>
              </a:rPr>
              <a:t>Synchronous Counters;</a:t>
            </a:r>
          </a:p>
          <a:p>
            <a:r>
              <a:rPr lang="en-US" sz="4000" b="1" dirty="0">
                <a:solidFill>
                  <a:srgbClr val="00B050"/>
                </a:solidFill>
              </a:rPr>
              <a:t>Design of Synchronous Counters;</a:t>
            </a:r>
          </a:p>
          <a:p>
            <a:r>
              <a:rPr lang="en-US" sz="4000" b="1" dirty="0">
                <a:solidFill>
                  <a:srgbClr val="00B050"/>
                </a:solidFill>
              </a:rPr>
              <a:t>Ring Counter</a:t>
            </a:r>
            <a:endParaRPr lang="en-IN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08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Counters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009328"/>
            <a:ext cx="11305256" cy="557403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i="1" dirty="0"/>
              <a:t>counter </a:t>
            </a:r>
            <a:r>
              <a:rPr lang="en-US" sz="2800" dirty="0"/>
              <a:t>is essentially a register that goes through a predetermined sequence of binary states. The gates in the counter are connected in such a way as to produce the </a:t>
            </a:r>
            <a:r>
              <a:rPr lang="en-IN" sz="2800" dirty="0"/>
              <a:t>prescribed sequence of states.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register that goes through a prescribed sequence of states according to the application of input pulses is called a </a:t>
            </a:r>
            <a:r>
              <a:rPr lang="en-US" sz="2800" i="1" dirty="0">
                <a:solidFill>
                  <a:srgbClr val="C00000"/>
                </a:solidFill>
              </a:rPr>
              <a:t>counter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input pulses may be clock pulses, or they may originate from some external source and may occur at a fixed interval of time or at random.</a:t>
            </a:r>
          </a:p>
        </p:txBody>
      </p:sp>
    </p:spTree>
    <p:extLst>
      <p:ext uri="{BB962C8B-B14F-4D97-AF65-F5344CB8AC3E}">
        <p14:creationId xmlns:p14="http://schemas.microsoft.com/office/powerpoint/2010/main" val="102668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332656"/>
            <a:ext cx="11665296" cy="63367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 sequence of states may follow the binary number sequence or any other sequence of states.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counter that follows the binary number sequence is called a </a:t>
            </a:r>
            <a:r>
              <a:rPr lang="en-US" sz="2800" i="1" dirty="0">
                <a:solidFill>
                  <a:srgbClr val="C00000"/>
                </a:solidFill>
              </a:rPr>
              <a:t>binary counter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An </a:t>
            </a:r>
            <a:r>
              <a:rPr lang="en-US" sz="2800" b="1" i="1" dirty="0"/>
              <a:t>n</a:t>
            </a:r>
            <a:r>
              <a:rPr lang="en-US" sz="2800" b="1" dirty="0"/>
              <a:t>‐bit binary counter consists of </a:t>
            </a:r>
            <a:r>
              <a:rPr lang="en-US" sz="2800" b="1" i="1" dirty="0"/>
              <a:t>n </a:t>
            </a:r>
            <a:r>
              <a:rPr lang="en-US" sz="2800" b="1" dirty="0"/>
              <a:t>flip‐flops </a:t>
            </a:r>
            <a:r>
              <a:rPr lang="en-US" sz="2800" dirty="0"/>
              <a:t>and can count in binary from 0 through 2</a:t>
            </a:r>
            <a:r>
              <a:rPr lang="en-US" sz="2800" i="1" baseline="30000" dirty="0"/>
              <a:t>n</a:t>
            </a:r>
            <a:r>
              <a:rPr lang="en-US" sz="2800" i="1" dirty="0"/>
              <a:t> </a:t>
            </a:r>
            <a:r>
              <a:rPr lang="en-US" sz="2800" dirty="0"/>
              <a:t>- 1.</a:t>
            </a:r>
            <a:endParaRPr lang="en-IN" sz="2800" dirty="0"/>
          </a:p>
          <a:p>
            <a:pPr algn="just"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7662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260648"/>
            <a:ext cx="10972800" cy="62646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Counters are available in two categories: </a:t>
            </a:r>
            <a:r>
              <a:rPr lang="en-US" sz="2800" dirty="0">
                <a:solidFill>
                  <a:srgbClr val="C00000"/>
                </a:solidFill>
              </a:rPr>
              <a:t>ripple / asynchronous counters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C00000"/>
                </a:solidFill>
              </a:rPr>
              <a:t>synchronous counters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In a </a:t>
            </a:r>
            <a:r>
              <a:rPr lang="en-US" sz="2800" dirty="0">
                <a:solidFill>
                  <a:srgbClr val="002060"/>
                </a:solidFill>
              </a:rPr>
              <a:t>ripple counter</a:t>
            </a:r>
            <a:r>
              <a:rPr lang="en-US" sz="2800" dirty="0"/>
              <a:t>, a flip‐flop output transition serves as a source for triggering other flip‐flops.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In other words, the </a:t>
            </a:r>
            <a:r>
              <a:rPr lang="en-US" sz="2800" i="1" dirty="0"/>
              <a:t>Clock (C) </a:t>
            </a:r>
            <a:r>
              <a:rPr lang="en-US" sz="2800" dirty="0"/>
              <a:t>input of some or all flip‐flops are triggered, not by the common clock pulses, but rather by the transition that occurs in other flip‐flop outputs.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In a </a:t>
            </a:r>
            <a:r>
              <a:rPr lang="en-US" sz="2800" dirty="0">
                <a:solidFill>
                  <a:srgbClr val="002060"/>
                </a:solidFill>
              </a:rPr>
              <a:t>synchronous counter</a:t>
            </a:r>
            <a:r>
              <a:rPr lang="en-US" sz="2800" dirty="0"/>
              <a:t>, the </a:t>
            </a:r>
            <a:r>
              <a:rPr lang="en-US" sz="2800" i="1" dirty="0"/>
              <a:t>C </a:t>
            </a:r>
            <a:r>
              <a:rPr lang="en-US" sz="2800" dirty="0"/>
              <a:t>inputs of all flip‐flops receive the common clock.</a:t>
            </a:r>
          </a:p>
        </p:txBody>
      </p:sp>
    </p:spTree>
    <p:extLst>
      <p:ext uri="{BB962C8B-B14F-4D97-AF65-F5344CB8AC3E}">
        <p14:creationId xmlns:p14="http://schemas.microsoft.com/office/powerpoint/2010/main" val="83451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Comparison of Synchronous and Asynchronous Counters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535114"/>
            <a:ext cx="4040188" cy="45372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Synchronous Counter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4"/>
            <a:ext cx="5386917" cy="46831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synchronous counter, the common clock input is connected to all the flip-flops and thus they are clocked simultaneously.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Design and implementation becomes tedious and complex as the number of states increases.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9026" y="1535114"/>
            <a:ext cx="4041775" cy="45372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Asynchronous Counter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4"/>
            <a:ext cx="5591264" cy="44084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asynchronous counter, each flip-flop is triggered by the previous flip-flop and the counter has a commutative setting time. Hence, the flip-flops are not clocked simultaneously.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Design and implementation is very simple even for more number of states.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21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88640"/>
            <a:ext cx="11521280" cy="6669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 counter may be an </a:t>
            </a:r>
            <a:r>
              <a:rPr lang="en-US" sz="2800" i="1" dirty="0">
                <a:solidFill>
                  <a:srgbClr val="C00000"/>
                </a:solidFill>
              </a:rPr>
              <a:t>up-counter</a:t>
            </a:r>
            <a:r>
              <a:rPr lang="en-US" sz="2800" dirty="0"/>
              <a:t> or a </a:t>
            </a:r>
            <a:r>
              <a:rPr lang="en-US" sz="2800" i="1" dirty="0">
                <a:solidFill>
                  <a:srgbClr val="C00000"/>
                </a:solidFill>
              </a:rPr>
              <a:t>down-counter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An </a:t>
            </a:r>
            <a:r>
              <a:rPr lang="en-US" sz="2800" dirty="0">
                <a:solidFill>
                  <a:srgbClr val="002060"/>
                </a:solidFill>
              </a:rPr>
              <a:t>up-counter</a:t>
            </a:r>
            <a:r>
              <a:rPr lang="en-US" sz="2800" dirty="0"/>
              <a:t> is a counter which counts in the upward direction, i.e. 0, 1, 2, 3, …, </a:t>
            </a:r>
            <a:r>
              <a:rPr lang="en-US" sz="2800" i="1" dirty="0"/>
              <a:t>N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2060"/>
                </a:solidFill>
              </a:rPr>
              <a:t>down-counter</a:t>
            </a:r>
            <a:r>
              <a:rPr lang="en-US" sz="2800" dirty="0"/>
              <a:t> is a counter which counts in the downward direction, i.e. </a:t>
            </a:r>
            <a:r>
              <a:rPr lang="en-US" sz="2800" i="1" dirty="0"/>
              <a:t>N</a:t>
            </a:r>
            <a:r>
              <a:rPr lang="en-US" sz="2800" dirty="0"/>
              <a:t>, </a:t>
            </a:r>
            <a:r>
              <a:rPr lang="en-US" sz="2800" i="1" dirty="0"/>
              <a:t>N</a:t>
            </a:r>
            <a:r>
              <a:rPr lang="en-US" sz="2800" dirty="0"/>
              <a:t> - 1, </a:t>
            </a:r>
            <a:r>
              <a:rPr lang="en-US" sz="2800" i="1" dirty="0"/>
              <a:t>N</a:t>
            </a:r>
            <a:r>
              <a:rPr lang="en-US" sz="2800" dirty="0"/>
              <a:t> - 2, </a:t>
            </a:r>
            <a:r>
              <a:rPr lang="en-US" sz="2800" i="1" dirty="0"/>
              <a:t>N</a:t>
            </a:r>
            <a:r>
              <a:rPr lang="en-US" sz="2800" dirty="0"/>
              <a:t> - 3, …, 1, 0.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Each of the counts of the counter is called the </a:t>
            </a:r>
            <a:r>
              <a:rPr lang="en-US" sz="2800" b="1" i="1" dirty="0">
                <a:solidFill>
                  <a:srgbClr val="002060"/>
                </a:solidFill>
              </a:rPr>
              <a:t>state</a:t>
            </a:r>
            <a:r>
              <a:rPr lang="en-US" sz="2800" b="1" dirty="0"/>
              <a:t> </a:t>
            </a:r>
            <a:r>
              <a:rPr lang="en-US" sz="2800" dirty="0"/>
              <a:t>of the counter.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number of states through which the counter passes before returning to the starting state is called the </a:t>
            </a:r>
            <a:r>
              <a:rPr lang="en-US" sz="2800" b="1" i="1" dirty="0">
                <a:solidFill>
                  <a:srgbClr val="002060"/>
                </a:solidFill>
              </a:rPr>
              <a:t>modulus</a:t>
            </a:r>
            <a:r>
              <a:rPr lang="en-US" sz="2800" b="1" dirty="0"/>
              <a:t> </a:t>
            </a:r>
            <a:r>
              <a:rPr lang="en-US" sz="2800" dirty="0"/>
              <a:t>of the counter.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507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260648"/>
            <a:ext cx="11233248" cy="6480720"/>
          </a:xfrm>
        </p:spPr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sz="2800" dirty="0"/>
              <a:t>Since a 2-bit counter and has 2</a:t>
            </a:r>
            <a:r>
              <a:rPr lang="en-US" sz="2800" baseline="30000" dirty="0"/>
              <a:t>2</a:t>
            </a:r>
            <a:r>
              <a:rPr lang="en-US" sz="2800" dirty="0"/>
              <a:t> = 4 states, it is called a mod-4 counter.</a:t>
            </a:r>
            <a:r>
              <a:rPr lang="en-IN" sz="2800" dirty="0"/>
              <a:t> It divides the input clock signal frequency by 4, therefore, it is also called a divide-by-4 counter. It requires 2 FFs.</a:t>
            </a:r>
          </a:p>
          <a:p>
            <a:pPr algn="just">
              <a:lnSpc>
                <a:spcPct val="200000"/>
              </a:lnSpc>
            </a:pPr>
            <a:r>
              <a:rPr lang="en-US" sz="2800" dirty="0"/>
              <a:t>Similarly, a 3-bit counter uses 3 FFs and has 2</a:t>
            </a:r>
            <a:r>
              <a:rPr lang="en-US" sz="2800" baseline="30000" dirty="0"/>
              <a:t>3</a:t>
            </a:r>
            <a:r>
              <a:rPr lang="en-US" sz="2800" dirty="0"/>
              <a:t> = 8 states. It divides the input clock frequency by 8. </a:t>
            </a:r>
            <a:r>
              <a:rPr lang="en-IN" sz="2800" dirty="0"/>
              <a:t>It is also called a divide-by-8 counter. It requires 3 FFs.</a:t>
            </a:r>
          </a:p>
          <a:p>
            <a:pPr algn="just">
              <a:lnSpc>
                <a:spcPct val="200000"/>
              </a:lnSpc>
            </a:pPr>
            <a:r>
              <a:rPr lang="en-US" sz="2800" dirty="0"/>
              <a:t>In general, an n-bit counter will have </a:t>
            </a:r>
            <a:r>
              <a:rPr lang="en-US" sz="2800" i="1" dirty="0"/>
              <a:t>n</a:t>
            </a:r>
            <a:r>
              <a:rPr lang="en-US" sz="2800" dirty="0"/>
              <a:t> FFs and 2</a:t>
            </a:r>
            <a:r>
              <a:rPr lang="en-US" sz="2800" i="1" baseline="30000" dirty="0"/>
              <a:t>n</a:t>
            </a:r>
            <a:r>
              <a:rPr lang="en-US" sz="2800" dirty="0"/>
              <a:t> states, and divides the input frequency by 2</a:t>
            </a:r>
            <a:r>
              <a:rPr lang="en-US" sz="2800" i="1" baseline="30000" dirty="0"/>
              <a:t>n</a:t>
            </a:r>
            <a:r>
              <a:rPr lang="en-US" sz="2800" dirty="0"/>
              <a:t>. Hence, it is a </a:t>
            </a:r>
            <a:r>
              <a:rPr lang="en-US" sz="2800" dirty="0">
                <a:solidFill>
                  <a:srgbClr val="002060"/>
                </a:solidFill>
              </a:rPr>
              <a:t>divide-by-2</a:t>
            </a:r>
            <a:r>
              <a:rPr lang="en-US" sz="2800" i="1" baseline="30000" dirty="0">
                <a:solidFill>
                  <a:srgbClr val="002060"/>
                </a:solidFill>
              </a:rPr>
              <a:t>n</a:t>
            </a:r>
            <a:r>
              <a:rPr lang="en-US" sz="2800" dirty="0">
                <a:solidFill>
                  <a:srgbClr val="002060"/>
                </a:solidFill>
              </a:rPr>
              <a:t> counter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1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0648"/>
            <a:ext cx="10972800" cy="6192688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800" dirty="0"/>
              <a:t>A counter which goes through all the possible states before restarting is called the </a:t>
            </a:r>
            <a:r>
              <a:rPr lang="en-US" sz="2800" i="1" dirty="0">
                <a:solidFill>
                  <a:srgbClr val="002060"/>
                </a:solidFill>
              </a:rPr>
              <a:t>full modulus counter</a:t>
            </a:r>
            <a:r>
              <a:rPr lang="en-US" sz="2800" dirty="0"/>
              <a:t>.</a:t>
            </a:r>
          </a:p>
          <a:p>
            <a:pPr algn="just">
              <a:lnSpc>
                <a:spcPct val="200000"/>
              </a:lnSpc>
            </a:pPr>
            <a:r>
              <a:rPr lang="en-US" sz="2800" dirty="0"/>
              <a:t>A counter in which maximum number of states can be changed is called the </a:t>
            </a:r>
            <a:r>
              <a:rPr lang="en-US" sz="2800" i="1" dirty="0">
                <a:solidFill>
                  <a:srgbClr val="002060"/>
                </a:solidFill>
              </a:rPr>
              <a:t>variable modulus counter</a:t>
            </a:r>
            <a:r>
              <a:rPr lang="en-US" sz="2800" dirty="0"/>
              <a:t>.</a:t>
            </a:r>
          </a:p>
          <a:p>
            <a:pPr algn="just">
              <a:lnSpc>
                <a:spcPct val="200000"/>
              </a:lnSpc>
            </a:pPr>
            <a:r>
              <a:rPr lang="en-US" sz="2800" dirty="0"/>
              <a:t>The final state of the counter sequence is called the </a:t>
            </a:r>
            <a:r>
              <a:rPr lang="en-US" sz="2800" i="1" dirty="0">
                <a:solidFill>
                  <a:srgbClr val="002060"/>
                </a:solidFill>
              </a:rPr>
              <a:t>terminal count</a:t>
            </a:r>
            <a:r>
              <a:rPr lang="en-US" sz="2800" dirty="0"/>
              <a:t>.</a:t>
            </a:r>
            <a:endParaRPr lang="en-IN" sz="2800" dirty="0"/>
          </a:p>
          <a:p>
            <a:pPr algn="just">
              <a:lnSpc>
                <a:spcPct val="20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780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Asynchronous Counters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1247040" cy="532373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Asynchronous Counters are also called </a:t>
            </a:r>
            <a:r>
              <a:rPr lang="en-US" sz="2800" i="1" dirty="0">
                <a:solidFill>
                  <a:srgbClr val="002060"/>
                </a:solidFill>
              </a:rPr>
              <a:t>ripple counters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ripple counter is the simplest type of counter, the easiest to design and requires the least amount of hardware.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binary ripple counter consists of a series connection of complementing flip‐flops, with the output of each flip‐flop connected to the </a:t>
            </a:r>
            <a:r>
              <a:rPr lang="en-US" sz="2800" i="1" dirty="0"/>
              <a:t>C </a:t>
            </a:r>
            <a:r>
              <a:rPr lang="en-US" sz="2800" dirty="0"/>
              <a:t>input of the next higher order flip‐flop.</a:t>
            </a:r>
          </a:p>
        </p:txBody>
      </p:sp>
    </p:spTree>
    <p:extLst>
      <p:ext uri="{BB962C8B-B14F-4D97-AF65-F5344CB8AC3E}">
        <p14:creationId xmlns:p14="http://schemas.microsoft.com/office/powerpoint/2010/main" val="204579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260648"/>
            <a:ext cx="11737304" cy="64087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 flip‐flop holding the least significant bit receives the incoming count pulses or clock pulses.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complementing flip‐flop can be obtained from a </a:t>
            </a:r>
            <a:r>
              <a:rPr lang="en-US" sz="2800" i="1" dirty="0"/>
              <a:t>JK </a:t>
            </a:r>
            <a:r>
              <a:rPr lang="en-US" sz="2800" dirty="0"/>
              <a:t>flip‐flop with the </a:t>
            </a:r>
            <a:r>
              <a:rPr lang="en-US" sz="2800" i="1" dirty="0"/>
              <a:t>J </a:t>
            </a:r>
            <a:r>
              <a:rPr lang="en-US" sz="2800" dirty="0"/>
              <a:t>and </a:t>
            </a:r>
            <a:r>
              <a:rPr lang="en-US" sz="2800" i="1" dirty="0"/>
              <a:t>K </a:t>
            </a:r>
            <a:r>
              <a:rPr lang="en-US" sz="2800" dirty="0"/>
              <a:t>inputs tied together or from a </a:t>
            </a:r>
            <a:r>
              <a:rPr lang="en-US" sz="2800" i="1" dirty="0"/>
              <a:t>T </a:t>
            </a:r>
            <a:r>
              <a:rPr lang="en-US" sz="2800" dirty="0"/>
              <a:t>flip‐flop. </a:t>
            </a:r>
            <a:r>
              <a:rPr lang="en-IN" sz="2800" dirty="0"/>
              <a:t>The </a:t>
            </a:r>
            <a:r>
              <a:rPr lang="en-US" sz="2800" dirty="0"/>
              <a:t>inputs of  </a:t>
            </a:r>
            <a:r>
              <a:rPr lang="en-US" sz="2800" i="1" dirty="0"/>
              <a:t>JK</a:t>
            </a:r>
            <a:r>
              <a:rPr lang="en-US" sz="2800" dirty="0"/>
              <a:t> flip‐flop and </a:t>
            </a:r>
            <a:r>
              <a:rPr lang="en-US" sz="2800" i="1" dirty="0"/>
              <a:t>T</a:t>
            </a:r>
            <a:r>
              <a:rPr lang="en-US" sz="2800" dirty="0"/>
              <a:t> flip‐flop are connected to a permanent logic 1.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A third possibility is to use a </a:t>
            </a:r>
            <a:r>
              <a:rPr lang="en-US" sz="2800" i="1" dirty="0"/>
              <a:t>D </a:t>
            </a:r>
            <a:r>
              <a:rPr lang="en-US" sz="2800" dirty="0"/>
              <a:t>flip‐flop with the complement output connected to the </a:t>
            </a:r>
            <a:r>
              <a:rPr lang="en-US" sz="2800" i="1" dirty="0"/>
              <a:t>D </a:t>
            </a:r>
            <a:r>
              <a:rPr lang="en-US" sz="2800" dirty="0"/>
              <a:t>input. In this way, the </a:t>
            </a:r>
            <a:r>
              <a:rPr lang="en-US" sz="2800" i="1" dirty="0"/>
              <a:t>D </a:t>
            </a:r>
            <a:r>
              <a:rPr lang="en-US" sz="2800" dirty="0"/>
              <a:t>input is always the complement of the present state, and the next clock pulse will cause the flip‐flop to complement.</a:t>
            </a:r>
            <a:endParaRPr lang="en-IN" sz="2800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90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60336"/>
            <a:ext cx="11737304" cy="11430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2060"/>
                </a:solidFill>
              </a:rPr>
              <a:t>2-bit Ripple Up-counter using Negative Edge-triggered Flip-Flops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317078"/>
            <a:ext cx="109728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2-bit up-counter counts in the order 0, 1, 2, 3, 0, 1, …, i.e. 00, 01, 10, 11, 00, 01, …, etc.</a:t>
            </a:r>
          </a:p>
          <a:p>
            <a:pPr algn="just"/>
            <a:r>
              <a:rPr lang="en-US" sz="2800" dirty="0"/>
              <a:t>Figure shows a 2-bit ripple up-counter, using negative edge-triggered J-K FFs, and its timing diagram.</a:t>
            </a:r>
            <a:endParaRPr lang="en-IN" sz="28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" y="3284984"/>
            <a:ext cx="10972800" cy="279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16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1463064" cy="11430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2060"/>
                </a:solidFill>
              </a:rPr>
              <a:t>2-bit Ripple Down-counter using Negative Edge-triggered Flip-Flops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The 2-bit down-counter counts in the order 0, 3, 2, 1, 0, 3, …, i.e. 00, 11, 10, 01, 00, 11, …, etc.</a:t>
            </a:r>
          </a:p>
          <a:p>
            <a:pPr algn="just"/>
            <a:r>
              <a:rPr lang="en-US" sz="2800" dirty="0"/>
              <a:t>Figure shows a 2-bit ripple down-counter, using negative edge-triggered J-K FFs, and its timing diagram.</a:t>
            </a:r>
            <a:endParaRPr lang="en-IN" sz="2800" dirty="0"/>
          </a:p>
          <a:p>
            <a:pPr algn="just"/>
            <a:endParaRPr lang="en-IN" sz="30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442692"/>
            <a:ext cx="11463064" cy="314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805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1319048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2-bit Ripple Up-down Counter using Negative Edge-triggered Flip-Flops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An up-down counter is a counter which can count both in upward and down directions.</a:t>
                </a:r>
              </a:p>
              <a:p>
                <a:pPr algn="just"/>
                <a:r>
                  <a:rPr lang="en-US" sz="2800" dirty="0"/>
                  <a:t>An up/down counter is also a forward/backward counter or a bidirectional counter.</a:t>
                </a:r>
              </a:p>
              <a:p>
                <a:pPr algn="just"/>
                <a:r>
                  <a:rPr lang="en-US" sz="2800" dirty="0"/>
                  <a:t>So, a control signal or a mode signal M is required to chose the direction of count.</a:t>
                </a:r>
              </a:p>
              <a:p>
                <a:pPr algn="just"/>
                <a:r>
                  <a:rPr lang="en-US" sz="2800" dirty="0"/>
                  <a:t>When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 = 1</a:t>
                </a:r>
                <a:r>
                  <a:rPr lang="en-US" sz="2800" b="1" dirty="0"/>
                  <a:t> </a:t>
                </a:r>
                <a:r>
                  <a:rPr lang="en-US" sz="2800" dirty="0"/>
                  <a:t>for </a:t>
                </a:r>
                <a:r>
                  <a:rPr lang="en-US" sz="2800" b="1" dirty="0"/>
                  <a:t>up counting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transmitted to clock of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and when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 = 0</a:t>
                </a:r>
                <a:r>
                  <a:rPr lang="en-US" sz="2800" b="1" dirty="0"/>
                  <a:t> </a:t>
                </a:r>
                <a:r>
                  <a:rPr lang="en-US" sz="2800" dirty="0"/>
                  <a:t>for </a:t>
                </a:r>
                <a:r>
                  <a:rPr lang="en-US" sz="2800" b="1" dirty="0"/>
                  <a:t>down counting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transmitted to clock of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.</a:t>
                </a:r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348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1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559222"/>
                <a:ext cx="11233248" cy="45259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This is achieved by using two AND gates and one OR gate as shown in Figure.</a:t>
                </a:r>
              </a:p>
              <a:p>
                <a:pPr algn="just"/>
                <a:r>
                  <a:rPr lang="en-US" sz="2800" dirty="0"/>
                  <a:t>The external clock signal is applied to FF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sz="2800" dirty="0"/>
                  <a:t>	Clock signal to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>
                        <a:latin typeface="Cambria Math"/>
                      </a:rPr>
                      <m:t> . </m:t>
                    </m:r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Up</m:t>
                    </m:r>
                    <m:r>
                      <a:rPr lang="en-US" sz="2800">
                        <a:latin typeface="Cambria Math"/>
                      </a:rPr>
                      <m:t>)+(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>
                        <a:latin typeface="Cambria Math"/>
                      </a:rPr>
                      <m:t> . </m:t>
                    </m:r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Down</m:t>
                    </m:r>
                    <m:r>
                      <a:rPr lang="en-US" sz="2800">
                        <a:latin typeface="Cambria Math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 algn="just">
                  <a:buNone/>
                </a:pPr>
                <a:r>
                  <a:rPr lang="en-US" sz="2800" dirty="0"/>
                  <a:t>			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M</m:t>
                    </m:r>
                    <m:r>
                      <a:rPr lang="en-US" sz="280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M</m:t>
                        </m:r>
                      </m:e>
                    </m:bar>
                  </m:oMath>
                </a14:m>
                <a:endParaRPr lang="en-US" sz="2800" dirty="0"/>
              </a:p>
              <a:p>
                <a:pPr algn="just"/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559222"/>
                <a:ext cx="11233248" cy="4525963"/>
              </a:xfrm>
              <a:blipFill>
                <a:blip r:embed="rId2"/>
                <a:stretch>
                  <a:fillRect l="-977" t="-1348" r="-11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3814" y="3333328"/>
            <a:ext cx="82486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76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139105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2-bit Ripple Up-counter using Positive Edge-triggered Flip-Flops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 2-bit ripple up-counter, using positive edge-triggered J-K FFs, and its timing diagram are shown in Figure.</a:t>
            </a:r>
            <a:endParaRPr lang="en-IN" sz="2800" dirty="0"/>
          </a:p>
          <a:p>
            <a:pPr algn="just"/>
            <a:r>
              <a:rPr lang="en-US" sz="2800" dirty="0"/>
              <a:t>The counting sequence is 00, 01, 10, 11, 00, 01, …, etc.</a:t>
            </a:r>
            <a:endParaRPr lang="en-IN" sz="2800" dirty="0"/>
          </a:p>
          <a:p>
            <a:endParaRPr lang="en-IN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3068961"/>
            <a:ext cx="10972800" cy="3373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947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139105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2-bit Ripple Down-counter using Positive Edge-triggered Flip-Flops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 2-bit ripple down-counter, using positive edge-triggered J-K FFs, and its timing diagram are shown in Figure.</a:t>
            </a:r>
            <a:endParaRPr lang="en-IN" sz="2800" dirty="0"/>
          </a:p>
          <a:p>
            <a:pPr algn="just"/>
            <a:r>
              <a:rPr lang="en-US" sz="2800" dirty="0"/>
              <a:t>The counting sequence is 0,3,2,1,0,3,2,-----etc. i.e. 00, 11, 10, 01, 00,….etc. </a:t>
            </a:r>
            <a:endParaRPr lang="en-IN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429000"/>
            <a:ext cx="11161240" cy="288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7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2-bit Ripple Up-down Counter using Positive Edge-triggered Flip-Flops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/>
                  <a:t>Figure shows a 2-bit up-down counter using positive edge-triggered J-K FFs.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800" dirty="0"/>
                  <a:t>When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 = 1</a:t>
                </a:r>
                <a:r>
                  <a:rPr lang="en-US" sz="2800" dirty="0"/>
                  <a:t> for </a:t>
                </a:r>
                <a:r>
                  <a:rPr lang="en-US" sz="2800" b="1" dirty="0"/>
                  <a:t>up counting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transmitted to clock of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and when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 = 0</a:t>
                </a:r>
                <a:r>
                  <a:rPr lang="en-US" sz="2800" b="1" dirty="0"/>
                  <a:t> </a:t>
                </a:r>
                <a:r>
                  <a:rPr lang="en-US" sz="2800" dirty="0"/>
                  <a:t>for </a:t>
                </a:r>
                <a:r>
                  <a:rPr lang="en-US" sz="2800" b="1" dirty="0"/>
                  <a:t>down counting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transmitted to clock of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.</a:t>
                </a:r>
                <a:endParaRPr lang="en-IN" sz="2800" dirty="0"/>
              </a:p>
              <a:p>
                <a:pPr algn="just">
                  <a:lnSpc>
                    <a:spcPct val="150000"/>
                  </a:lnSpc>
                </a:pPr>
                <a:r>
                  <a:rPr lang="en-US" sz="2800" dirty="0"/>
                  <a:t>This is achieved by using two AND gates and one OR gate as shown in Figure.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6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9376" y="404664"/>
                <a:ext cx="10972800" cy="4525963"/>
              </a:xfrm>
            </p:spPr>
            <p:txBody>
              <a:bodyPr/>
              <a:lstStyle/>
              <a:p>
                <a:pPr algn="just"/>
                <a:r>
                  <a:rPr lang="en-US" sz="2800" dirty="0"/>
                  <a:t>Clock signal to FF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/>
                                  </a:rPr>
                                  <m:t>Q</m:t>
                                </m:r>
                              </m:e>
                            </m:bar>
                          </m:e>
                          <m:sub>
                            <m:r>
                              <a:rPr lang="en-US" sz="280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latin typeface="Cambria Math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Up</m:t>
                        </m:r>
                        <m:r>
                          <a:rPr lang="en-US" sz="2800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/>
                          </a:rPr>
                          <m:t> + </m:t>
                        </m:r>
                        <m:r>
                          <a:rPr lang="en-US" sz="2800"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 </m:t>
                    </m:r>
                    <m:r>
                      <a:rPr lang="en-US" sz="2800">
                        <a:latin typeface="Cambria Math"/>
                      </a:rPr>
                      <m:t>. </m:t>
                    </m:r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Down</m:t>
                    </m:r>
                    <m:r>
                      <a:rPr lang="en-US" sz="2800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				   </a:t>
                </a:r>
              </a:p>
              <a:p>
                <a:pPr marL="0" indent="0" algn="just">
                  <a:buNone/>
                </a:pPr>
                <a:r>
                  <a:rPr lang="en-US" sz="2800" dirty="0"/>
                  <a:t>                          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M</m:t>
                    </m:r>
                    <m:r>
                      <a:rPr lang="en-US" sz="280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800">
                            <a:latin typeface="Cambria Math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M</m:t>
                        </m:r>
                      </m:e>
                    </m:ba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404664"/>
                <a:ext cx="10972800" cy="4525963"/>
              </a:xfrm>
              <a:blipFill>
                <a:blip r:embed="rId2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7448" y="1988841"/>
            <a:ext cx="10972800" cy="387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530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3-bit Ripple Counter using D FFs</a:t>
            </a:r>
            <a:endParaRPr lang="en-IN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For ripple counters, the FFs used must be in toggle mode. The D FFs may be used in toggle mode by connecting 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Q</m:t>
                        </m:r>
                      </m:e>
                    </m:bar>
                  </m:oMath>
                </a14:m>
                <a:r>
                  <a:rPr lang="en-US" sz="2800" dirty="0"/>
                  <a:t>, of each FF to its D terminal.</a:t>
                </a:r>
              </a:p>
              <a:p>
                <a:pPr algn="just"/>
                <a:r>
                  <a:rPr lang="en-US" sz="2800" dirty="0"/>
                  <a:t>The 3-bit ripple counter using D FFs is shown in Figure.</a:t>
                </a:r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3863182"/>
            <a:ext cx="9865096" cy="27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88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4‐bit Binary Ripple Counters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/>
              <a:t>The </a:t>
            </a:r>
            <a:r>
              <a:rPr lang="en-US" sz="2800" dirty="0"/>
              <a:t>logic diagram of two 4‐bit binary ripple counters is shown in Figure.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counter is constructed with complementing flip‐flops of the </a:t>
            </a:r>
            <a:r>
              <a:rPr lang="en-US" sz="2800" i="1" dirty="0"/>
              <a:t>T </a:t>
            </a:r>
            <a:r>
              <a:rPr lang="en-US" sz="2800" dirty="0"/>
              <a:t>type in part (a) and </a:t>
            </a:r>
            <a:r>
              <a:rPr lang="en-US" sz="2800" i="1" dirty="0"/>
              <a:t>D </a:t>
            </a:r>
            <a:r>
              <a:rPr lang="en-US" sz="2800" dirty="0"/>
              <a:t>type in part (b).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output of each flip‐flop is connected to the </a:t>
            </a:r>
            <a:r>
              <a:rPr lang="en-US" sz="2800" i="1" dirty="0"/>
              <a:t>C </a:t>
            </a:r>
            <a:r>
              <a:rPr lang="en-US" sz="2800" dirty="0"/>
              <a:t>input of the next flip‐flop in sequence.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flip‐flop holding the least significant bit receives the incoming count pulses.</a:t>
            </a:r>
          </a:p>
        </p:txBody>
      </p:sp>
    </p:spTree>
    <p:extLst>
      <p:ext uri="{BB962C8B-B14F-4D97-AF65-F5344CB8AC3E}">
        <p14:creationId xmlns:p14="http://schemas.microsoft.com/office/powerpoint/2010/main" val="107293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332657"/>
            <a:ext cx="11161240" cy="64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65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Design of Asynchronous Counters</a:t>
            </a:r>
            <a:endParaRPr lang="en-IN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000" dirty="0">
                    <a:latin typeface="+mj-lt"/>
                  </a:rPr>
                  <a:t>To design an asynchronous counter, first write the counting sequence, then tabulate the values of reset signal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latin typeface="Cambria Math"/>
                      </a:rPr>
                      <m:t>R</m:t>
                    </m:r>
                  </m:oMath>
                </a14:m>
                <a:r>
                  <a:rPr lang="en-US" sz="3000" dirty="0">
                    <a:latin typeface="+mj-lt"/>
                  </a:rPr>
                  <a:t> for various states of the counter and obtain the minimal expression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latin typeface="Cambria Math"/>
                      </a:rPr>
                      <m:t>R</m:t>
                    </m:r>
                    <m:r>
                      <a:rPr lang="en-US" sz="3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30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</a:rPr>
                          <m:t>R</m:t>
                        </m:r>
                      </m:e>
                    </m:bar>
                  </m:oMath>
                </a14:m>
                <a:r>
                  <a:rPr lang="en-US" sz="3000" dirty="0">
                    <a:latin typeface="+mj-lt"/>
                  </a:rPr>
                  <a:t> using K-map or any method.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3000" dirty="0">
                    <a:latin typeface="+mj-lt"/>
                  </a:rPr>
                  <a:t>Provide a feedback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latin typeface="Cambria Math"/>
                      </a:rPr>
                      <m:t>R</m:t>
                    </m:r>
                    <m:r>
                      <a:rPr lang="en-US" sz="3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3000" dirty="0"/>
                  <a:t> or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</a:rPr>
                          <m:t>R</m:t>
                        </m:r>
                      </m:e>
                    </m:bar>
                    <m:r>
                      <a:rPr lang="en-US" sz="3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3000" dirty="0">
                    <a:latin typeface="+mj-lt"/>
                  </a:rPr>
                  <a:t>resets all the FFs after the desired count.</a:t>
                </a:r>
                <a:endParaRPr lang="en-IN" sz="3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r="-1278" b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43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</a:rPr>
              <a:t>Design of a Mod-6 Asynchronous Counter using T FFs.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000" dirty="0"/>
              <a:t>A mod-6 counter has six stable states 000, 001, 010, 011, 100, and 101.</a:t>
            </a:r>
          </a:p>
          <a:p>
            <a:pPr algn="just"/>
            <a:r>
              <a:rPr lang="en-US" sz="3000" dirty="0"/>
              <a:t>It is a ‘divide-by-6 counter’, in the sense that it divides the input clock frequency by 6.</a:t>
            </a:r>
          </a:p>
          <a:p>
            <a:pPr algn="just"/>
            <a:r>
              <a:rPr lang="en-US" sz="3000" dirty="0"/>
              <a:t>It requires three FFs, because the smallest value of </a:t>
            </a:r>
            <a:r>
              <a:rPr lang="en-US" sz="3000" i="1" dirty="0"/>
              <a:t>n</a:t>
            </a:r>
            <a:r>
              <a:rPr lang="en-US" sz="3000" dirty="0"/>
              <a:t> satisfying the condition </a:t>
            </a:r>
            <a:r>
              <a:rPr lang="en-US" sz="3000" i="1" dirty="0"/>
              <a:t>N</a:t>
            </a:r>
            <a:r>
              <a:rPr lang="en-US" sz="3000" dirty="0"/>
              <a:t> ≤ 2</a:t>
            </a:r>
            <a:r>
              <a:rPr lang="en-US" sz="3000" i="1" baseline="30000" dirty="0"/>
              <a:t>n</a:t>
            </a:r>
            <a:r>
              <a:rPr lang="en-US" sz="3000" dirty="0"/>
              <a:t> is </a:t>
            </a:r>
            <a:r>
              <a:rPr lang="en-US" sz="3000" i="1" dirty="0"/>
              <a:t>n</a:t>
            </a:r>
            <a:r>
              <a:rPr lang="en-US" sz="3000" dirty="0"/>
              <a:t> = 3; three FFs can have eight possible states out of which only six are utilized and the remaining two states 110 and 111, are invalid.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15170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515" y="404664"/>
            <a:ext cx="6264696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/>
              <a:t>For the design, write a truth table with the present state Q</a:t>
            </a:r>
            <a:r>
              <a:rPr lang="en-US" sz="3000" baseline="-25000" dirty="0"/>
              <a:t>3</a:t>
            </a:r>
            <a:r>
              <a:rPr lang="en-US" sz="3000" dirty="0"/>
              <a:t>, Q</a:t>
            </a:r>
            <a:r>
              <a:rPr lang="en-US" sz="3000" baseline="-25000" dirty="0"/>
              <a:t>2</a:t>
            </a:r>
            <a:r>
              <a:rPr lang="en-US" sz="3000" dirty="0"/>
              <a:t>, and Q</a:t>
            </a:r>
            <a:r>
              <a:rPr lang="en-US" sz="3000" baseline="-25000" dirty="0"/>
              <a:t>1</a:t>
            </a:r>
            <a:r>
              <a:rPr lang="en-US" sz="3000" dirty="0"/>
              <a:t> as the variables and reset R as the output and obtain an expression for R in terms of Q</a:t>
            </a:r>
            <a:r>
              <a:rPr lang="en-US" sz="3000" baseline="-25000" dirty="0"/>
              <a:t>3</a:t>
            </a:r>
            <a:r>
              <a:rPr lang="en-US" sz="3000" dirty="0"/>
              <a:t>, Q</a:t>
            </a:r>
            <a:r>
              <a:rPr lang="en-US" sz="3000" baseline="-25000" dirty="0"/>
              <a:t>2</a:t>
            </a:r>
            <a:r>
              <a:rPr lang="en-US" sz="3000" dirty="0"/>
              <a:t>, and Q</a:t>
            </a:r>
            <a:r>
              <a:rPr lang="en-US" sz="3000" baseline="-25000" dirty="0"/>
              <a:t>1</a:t>
            </a:r>
            <a:r>
              <a:rPr lang="en-US" sz="3000" dirty="0"/>
              <a:t>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433264"/>
            <a:ext cx="4032448" cy="508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16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5360" y="188641"/>
                <a:ext cx="11017224" cy="45259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000" dirty="0"/>
                  <a:t>The expression for R can also be determined as follows.</a:t>
                </a:r>
              </a:p>
              <a:p>
                <a:pPr marL="354013" indent="0" algn="just">
                  <a:buNone/>
                </a:pPr>
                <a:r>
                  <a:rPr lang="en-US" sz="3000" dirty="0"/>
                  <a:t>R = 0 for 000 to 101, R = 1 for 110, and R = X for 111</a:t>
                </a:r>
              </a:p>
              <a:p>
                <a:pPr marL="354013" indent="0" algn="just">
                  <a:buNone/>
                </a:pPr>
                <a:r>
                  <a:rPr lang="en-US" sz="3000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latin typeface="Cambria Math"/>
                        <a:ea typeface="Cambria Math" pitchFamily="18" charset="0"/>
                      </a:rPr>
                      <m:t>R</m:t>
                    </m:r>
                    <m:r>
                      <a:rPr lang="en-US" sz="3000">
                        <a:latin typeface="Cambria Math"/>
                        <a:ea typeface="Cambria Math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3000" i="1"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sz="3000">
                                <a:latin typeface="Cambria Math"/>
                                <a:ea typeface="Cambria Math" pitchFamily="18" charset="0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sub>
                    </m:sSub>
                    <m:r>
                      <a:rPr lang="en-US" sz="3000">
                        <a:latin typeface="Cambria Math"/>
                        <a:ea typeface="Cambria Math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sub>
                    </m:sSub>
                    <m:r>
                      <a:rPr lang="en-US" sz="3000">
                        <a:latin typeface="Cambria Math"/>
                        <a:ea typeface="Cambria Math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  <a:ea typeface="Cambria Math" pitchFamily="18" charset="0"/>
                          </a:rPr>
                          <m:t>Q</m:t>
                        </m:r>
                      </m:e>
                      <m:sub>
                        <m:r>
                          <a:rPr lang="en-US" sz="3000"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3000" dirty="0">
                  <a:latin typeface="+mj-lt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360" y="188641"/>
                <a:ext cx="11017224" cy="4525963"/>
              </a:xfrm>
              <a:blipFill>
                <a:blip r:embed="rId2"/>
                <a:stretch>
                  <a:fillRect l="-1107"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348880"/>
            <a:ext cx="10729192" cy="430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669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</a:rPr>
              <a:t>Design of a Mod-10 Asynchronous Counter using T FFs.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6915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/>
              <a:t>A mod-10 counter is a </a:t>
            </a:r>
            <a:r>
              <a:rPr lang="en-US" sz="3000" dirty="0">
                <a:solidFill>
                  <a:srgbClr val="002060"/>
                </a:solidFill>
              </a:rPr>
              <a:t>decade counter</a:t>
            </a:r>
            <a:r>
              <a:rPr lang="en-US" sz="3000" dirty="0"/>
              <a:t>. It is also called a </a:t>
            </a:r>
            <a:r>
              <a:rPr lang="en-US" sz="3000" dirty="0">
                <a:solidFill>
                  <a:srgbClr val="002060"/>
                </a:solidFill>
              </a:rPr>
              <a:t>BCD counter</a:t>
            </a:r>
            <a:r>
              <a:rPr lang="en-US" sz="3000" dirty="0"/>
              <a:t> or a </a:t>
            </a:r>
            <a:r>
              <a:rPr lang="en-US" sz="3000" dirty="0">
                <a:solidFill>
                  <a:srgbClr val="002060"/>
                </a:solidFill>
              </a:rPr>
              <a:t>divide-by-10 counter</a:t>
            </a:r>
            <a:r>
              <a:rPr lang="en-US" sz="3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000" dirty="0"/>
              <a:t>It requires four FFs (the smallest value of </a:t>
            </a:r>
            <a:r>
              <a:rPr lang="en-US" sz="3000" i="1" dirty="0"/>
              <a:t>n</a:t>
            </a:r>
            <a:r>
              <a:rPr lang="en-US" sz="3000" dirty="0"/>
              <a:t> satisfying the condition 10 ≤ 2</a:t>
            </a:r>
            <a:r>
              <a:rPr lang="en-US" sz="3000" i="1" baseline="30000" dirty="0"/>
              <a:t>n</a:t>
            </a:r>
            <a:r>
              <a:rPr lang="en-US" sz="3000" dirty="0"/>
              <a:t>, is </a:t>
            </a:r>
            <a:r>
              <a:rPr lang="en-US" sz="3000" i="1" dirty="0"/>
              <a:t>n</a:t>
            </a:r>
            <a:r>
              <a:rPr lang="en-US" sz="3000" dirty="0"/>
              <a:t> = 4). So, there are 16 possible states, out of which ten are valid and the remaining six are invalid.</a:t>
            </a:r>
          </a:p>
          <a:p>
            <a:pPr algn="just">
              <a:lnSpc>
                <a:spcPct val="150000"/>
              </a:lnSpc>
            </a:pPr>
            <a:r>
              <a:rPr lang="en-US" sz="3000" dirty="0"/>
              <a:t>The counter has ten stable states, 0000 through 1001, i.e. it counts from 0 to 9.</a:t>
            </a:r>
          </a:p>
        </p:txBody>
      </p:sp>
    </p:spTree>
    <p:extLst>
      <p:ext uri="{BB962C8B-B14F-4D97-AF65-F5344CB8AC3E}">
        <p14:creationId xmlns:p14="http://schemas.microsoft.com/office/powerpoint/2010/main" val="185052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254595"/>
            <a:ext cx="10972800" cy="4525963"/>
          </a:xfrm>
        </p:spPr>
        <p:txBody>
          <a:bodyPr>
            <a:normAutofit/>
          </a:bodyPr>
          <a:lstStyle/>
          <a:p>
            <a:r>
              <a:rPr lang="en-US" sz="3000" dirty="0"/>
              <a:t>The state 1010 is a temporary state for which the reset signal R = 1, R = 0 for 0000 to 1001, and R = X (don’t care) for 1011 to 1111.</a:t>
            </a:r>
            <a:endParaRPr lang="en-IN" sz="2400" dirty="0"/>
          </a:p>
          <a:p>
            <a:endParaRPr lang="en-IN" sz="3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853368"/>
            <a:ext cx="496855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526" y="2204864"/>
            <a:ext cx="4437634" cy="4104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343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188640"/>
            <a:ext cx="10441160" cy="5044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635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00000"/>
                </a:solidFill>
              </a:rPr>
              <a:t>Synchronous Counters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Synchronous counters are different from ripple counters in that clock pulses are applied to the inputs of all flip‐flops.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common clock triggers all flip‐flops simultaneously, rather than one at a time in succession as in a ripple counter.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1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Design of Synchronous Counters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000" dirty="0"/>
              <a:t>For a systematic design of synchronous counters, the following procedure is used.</a:t>
            </a:r>
          </a:p>
          <a:p>
            <a:pPr algn="just"/>
            <a:r>
              <a:rPr lang="en-US" sz="3000" i="1" dirty="0">
                <a:solidFill>
                  <a:srgbClr val="002060"/>
                </a:solidFill>
              </a:rPr>
              <a:t>Step </a:t>
            </a:r>
            <a:r>
              <a:rPr lang="en-US" sz="3000" dirty="0">
                <a:solidFill>
                  <a:srgbClr val="002060"/>
                </a:solidFill>
              </a:rPr>
              <a:t>1</a:t>
            </a:r>
            <a:r>
              <a:rPr lang="en-US" sz="3000" i="1" dirty="0">
                <a:solidFill>
                  <a:srgbClr val="002060"/>
                </a:solidFill>
              </a:rPr>
              <a:t>. Number of flip-flops:</a:t>
            </a:r>
            <a:r>
              <a:rPr lang="en-US" sz="3000" dirty="0">
                <a:solidFill>
                  <a:srgbClr val="002060"/>
                </a:solidFill>
              </a:rPr>
              <a:t> </a:t>
            </a:r>
            <a:r>
              <a:rPr lang="en-US" sz="3000" dirty="0"/>
              <a:t>Based on the description of the problem, determine the required number </a:t>
            </a:r>
            <a:r>
              <a:rPr lang="en-US" sz="3000" i="1" dirty="0"/>
              <a:t>n</a:t>
            </a:r>
            <a:r>
              <a:rPr lang="en-US" sz="3000" dirty="0"/>
              <a:t> of the FFs – the smallest value of </a:t>
            </a:r>
            <a:r>
              <a:rPr lang="en-US" sz="3000" i="1" dirty="0"/>
              <a:t>n</a:t>
            </a:r>
            <a:r>
              <a:rPr lang="en-US" sz="3000" dirty="0"/>
              <a:t> is such that the number of states </a:t>
            </a:r>
            <a:r>
              <a:rPr lang="en-US" sz="3000" i="1" dirty="0"/>
              <a:t>N</a:t>
            </a:r>
            <a:r>
              <a:rPr lang="en-US" sz="3000" dirty="0"/>
              <a:t> ≤ 2</a:t>
            </a:r>
            <a:r>
              <a:rPr lang="en-US" sz="3000" i="1" baseline="30000" dirty="0"/>
              <a:t>n</a:t>
            </a:r>
            <a:r>
              <a:rPr lang="en-US" sz="3000" dirty="0"/>
              <a:t> – and the desired counting sequence.</a:t>
            </a:r>
          </a:p>
          <a:p>
            <a:pPr algn="just"/>
            <a:r>
              <a:rPr lang="en-US" sz="3000" i="1" dirty="0">
                <a:solidFill>
                  <a:srgbClr val="002060"/>
                </a:solidFill>
              </a:rPr>
              <a:t>Step </a:t>
            </a:r>
            <a:r>
              <a:rPr lang="en-US" sz="3000" dirty="0">
                <a:solidFill>
                  <a:srgbClr val="002060"/>
                </a:solidFill>
              </a:rPr>
              <a:t>2.</a:t>
            </a:r>
            <a:r>
              <a:rPr lang="en-US" sz="3000" i="1" dirty="0">
                <a:solidFill>
                  <a:srgbClr val="002060"/>
                </a:solidFill>
              </a:rPr>
              <a:t> State diagram:</a:t>
            </a:r>
            <a:r>
              <a:rPr lang="en-US" sz="3000" dirty="0">
                <a:solidFill>
                  <a:srgbClr val="002060"/>
                </a:solidFill>
              </a:rPr>
              <a:t> </a:t>
            </a:r>
            <a:r>
              <a:rPr lang="en-US" sz="3000" dirty="0"/>
              <a:t>Draw the state diagram showing all the possible states.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82033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64" y="332656"/>
            <a:ext cx="11449272" cy="652534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3000" i="1" dirty="0">
                <a:solidFill>
                  <a:srgbClr val="002060"/>
                </a:solidFill>
              </a:rPr>
              <a:t>Step </a:t>
            </a:r>
            <a:r>
              <a:rPr lang="en-US" sz="3000" dirty="0">
                <a:solidFill>
                  <a:srgbClr val="002060"/>
                </a:solidFill>
              </a:rPr>
              <a:t>3.</a:t>
            </a:r>
            <a:r>
              <a:rPr lang="en-US" sz="3000" i="1" dirty="0">
                <a:solidFill>
                  <a:srgbClr val="002060"/>
                </a:solidFill>
              </a:rPr>
              <a:t> Choice of flip-flops and excitation table: </a:t>
            </a:r>
            <a:r>
              <a:rPr lang="en-US" sz="3000" dirty="0"/>
              <a:t>Select the type of flip-flops to be used and write the excitation table that lists the present state (PS), the next state (NS) and the required excitation.</a:t>
            </a:r>
          </a:p>
          <a:p>
            <a:pPr algn="just">
              <a:lnSpc>
                <a:spcPct val="150000"/>
              </a:lnSpc>
            </a:pPr>
            <a:r>
              <a:rPr lang="en-US" sz="3000" i="1" dirty="0">
                <a:solidFill>
                  <a:srgbClr val="002060"/>
                </a:solidFill>
              </a:rPr>
              <a:t>Step </a:t>
            </a:r>
            <a:r>
              <a:rPr lang="en-US" sz="3000" dirty="0">
                <a:solidFill>
                  <a:srgbClr val="002060"/>
                </a:solidFill>
              </a:rPr>
              <a:t>4.</a:t>
            </a:r>
            <a:r>
              <a:rPr lang="en-US" sz="3000" i="1" dirty="0">
                <a:solidFill>
                  <a:srgbClr val="002060"/>
                </a:solidFill>
              </a:rPr>
              <a:t> Minimal expressions for the excitations:</a:t>
            </a:r>
            <a:r>
              <a:rPr lang="en-US" sz="3000" dirty="0"/>
              <a:t> Obtain the minimal expressions for the excitations of the FFs using K-maps drawn for the excitations of the flip-flops in terms of present state and inputs.</a:t>
            </a:r>
          </a:p>
          <a:p>
            <a:pPr algn="just">
              <a:lnSpc>
                <a:spcPct val="150000"/>
              </a:lnSpc>
            </a:pPr>
            <a:r>
              <a:rPr lang="en-US" sz="3000" i="1" dirty="0">
                <a:solidFill>
                  <a:srgbClr val="002060"/>
                </a:solidFill>
              </a:rPr>
              <a:t>Step </a:t>
            </a:r>
            <a:r>
              <a:rPr lang="en-US" sz="3000" dirty="0">
                <a:solidFill>
                  <a:srgbClr val="002060"/>
                </a:solidFill>
              </a:rPr>
              <a:t>5.</a:t>
            </a:r>
            <a:r>
              <a:rPr lang="en-US" sz="3000" i="1" dirty="0">
                <a:solidFill>
                  <a:srgbClr val="002060"/>
                </a:solidFill>
              </a:rPr>
              <a:t> Logic diagram: </a:t>
            </a:r>
            <a:r>
              <a:rPr lang="en-US" sz="3000" dirty="0"/>
              <a:t>Draw a logic diagram based on the minimal expressions.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88009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469105"/>
            <a:ext cx="10945216" cy="591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66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Design of a Synchronous 3-bit Up Counter using J-K FFs.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417639"/>
            <a:ext cx="9239574" cy="4963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56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88641"/>
            <a:ext cx="936104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3933056"/>
            <a:ext cx="9577063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886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Design of a Synchronous 3-bit Down Counter using J-K FFs.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417639"/>
            <a:ext cx="10814992" cy="4963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24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260648"/>
            <a:ext cx="9073008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4005065"/>
            <a:ext cx="9649072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59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Design of a Synchronous 3-bit Up-down Counter using J-K FFs.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668338"/>
            <a:ext cx="10526960" cy="478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054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548680"/>
            <a:ext cx="9361040" cy="5598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883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260648"/>
            <a:ext cx="10873208" cy="482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195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Design of a Synchronous Mod-6 Counter using J-K FFs.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1700808"/>
            <a:ext cx="9865095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435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548680"/>
            <a:ext cx="10801200" cy="5112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71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620688"/>
            <a:ext cx="10801200" cy="4646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327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Design of a Synchronous BCD Counter using J-K FFs.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417638"/>
            <a:ext cx="9145015" cy="511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541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404664"/>
            <a:ext cx="10369151" cy="554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9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692696"/>
            <a:ext cx="9937104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65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Example: </a:t>
            </a:r>
            <a:r>
              <a:rPr lang="en-US" dirty="0">
                <a:solidFill>
                  <a:srgbClr val="002060"/>
                </a:solidFill>
              </a:rPr>
              <a:t>Design a type T counter that goes through states 0, 3, 5, 6, 0… 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1844824"/>
            <a:ext cx="10081120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48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3850244"/>
            <a:ext cx="8424936" cy="231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476673"/>
            <a:ext cx="10153128" cy="3301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997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Example: </a:t>
            </a:r>
            <a:r>
              <a:rPr lang="en-US" dirty="0">
                <a:solidFill>
                  <a:srgbClr val="002060"/>
                </a:solidFill>
              </a:rPr>
              <a:t>Design a J-K counter that goes through states 3, 4, 6, 7 and 3… .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2276872"/>
            <a:ext cx="1044116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42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260649"/>
            <a:ext cx="10009112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069804"/>
            <a:ext cx="9577064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25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Shift Register Counters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/>
              <a:t>Shift register counters are obtained from serial-in, serial-out shift registers by providing feedback from the output of the last FF to the input of the first FF.</a:t>
            </a:r>
          </a:p>
          <a:p>
            <a:pPr algn="just"/>
            <a:r>
              <a:rPr lang="en-US" sz="3000" dirty="0"/>
              <a:t>These devices are called counters because they exhibit a specified sequence of states.</a:t>
            </a:r>
          </a:p>
          <a:p>
            <a:pPr algn="just"/>
            <a:r>
              <a:rPr lang="en-US" sz="3000" dirty="0"/>
              <a:t>The most widely used shift register counter is the </a:t>
            </a:r>
            <a:r>
              <a:rPr lang="en-US" sz="3000" dirty="0">
                <a:solidFill>
                  <a:srgbClr val="002060"/>
                </a:solidFill>
              </a:rPr>
              <a:t>ring counter</a:t>
            </a:r>
            <a:r>
              <a:rPr lang="en-US" sz="3000" dirty="0"/>
              <a:t> as well as the </a:t>
            </a:r>
            <a:r>
              <a:rPr lang="en-US" sz="3000" dirty="0">
                <a:solidFill>
                  <a:srgbClr val="002060"/>
                </a:solidFill>
              </a:rPr>
              <a:t>switch-tail ring counter</a:t>
            </a:r>
            <a:r>
              <a:rPr lang="en-US" sz="3000" dirty="0"/>
              <a:t> or </a:t>
            </a:r>
            <a:r>
              <a:rPr lang="en-US" sz="3000" dirty="0">
                <a:solidFill>
                  <a:srgbClr val="002060"/>
                </a:solidFill>
              </a:rPr>
              <a:t>Johnson counter</a:t>
            </a:r>
            <a:r>
              <a:rPr lang="en-US" sz="3000" dirty="0"/>
              <a:t>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26935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Ring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416" y="1340768"/>
            <a:ext cx="10742984" cy="50405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ring counter</a:t>
            </a:r>
            <a:r>
              <a:rPr lang="en-US" i="1" dirty="0"/>
              <a:t> </a:t>
            </a:r>
            <a:r>
              <a:rPr lang="en-US" dirty="0"/>
              <a:t>is a circular shift register with only one flip‐flop being set at any particular time; all others are cleared.</a:t>
            </a:r>
          </a:p>
          <a:p>
            <a:pPr algn="just"/>
            <a:r>
              <a:rPr lang="en-US" dirty="0"/>
              <a:t>The single bit is shifted from one flip‐flop to the next to produce the sequence of timing </a:t>
            </a:r>
            <a:r>
              <a:rPr lang="en-IN" dirty="0"/>
              <a:t>signals.</a:t>
            </a:r>
          </a:p>
          <a:p>
            <a:pPr algn="just"/>
            <a:r>
              <a:rPr lang="en-US" dirty="0"/>
              <a:t>The FFs are arranged as in a normal shift register, i.e. the Q output of each stage is connected to the D input of the next stage, but the Q output of the last FF is connected back to the D input of the first FF.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47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764704"/>
            <a:ext cx="8136904" cy="226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636" y="3284985"/>
            <a:ext cx="8143820" cy="279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42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3501009"/>
            <a:ext cx="10441160" cy="2625155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The number of distinct states in the ring counter , i.e. the mod of the ring counter is equal to the number of FFs used in the counter.</a:t>
            </a:r>
          </a:p>
          <a:p>
            <a:pPr algn="just"/>
            <a:r>
              <a:rPr lang="en-US" sz="3000" dirty="0">
                <a:solidFill>
                  <a:srgbClr val="002060"/>
                </a:solidFill>
              </a:rPr>
              <a:t>An 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-bit ring counter can count only n bits, whereas an 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-bit ripple counter can count 2</a:t>
            </a:r>
            <a:r>
              <a:rPr lang="en-US" sz="3000" i="1" baseline="30000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 bits. </a:t>
            </a:r>
            <a:endParaRPr lang="en-IN" sz="3000" dirty="0">
              <a:solidFill>
                <a:srgbClr val="002060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404664"/>
            <a:ext cx="756084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85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1772816"/>
            <a:ext cx="6252468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01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Johnson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000" dirty="0"/>
              <a:t>A </a:t>
            </a:r>
            <a:r>
              <a:rPr lang="en-US" sz="3000" i="1" dirty="0"/>
              <a:t>k </a:t>
            </a:r>
            <a:r>
              <a:rPr lang="en-US" sz="3000" dirty="0"/>
              <a:t>‐bit ring counter circulates a single bit among the flip‐flops to provide </a:t>
            </a:r>
            <a:r>
              <a:rPr lang="en-US" sz="3000" i="1" dirty="0"/>
              <a:t>k </a:t>
            </a:r>
            <a:r>
              <a:rPr lang="en-US" sz="3000" dirty="0"/>
              <a:t>distinguishable states.</a:t>
            </a:r>
          </a:p>
          <a:p>
            <a:pPr algn="just"/>
            <a:r>
              <a:rPr lang="en-US" sz="3000" dirty="0"/>
              <a:t>The number of states can be doubled if the shift register is connected as a </a:t>
            </a:r>
            <a:r>
              <a:rPr lang="en-US" sz="3000" i="1" dirty="0"/>
              <a:t>switch‐tail </a:t>
            </a:r>
            <a:r>
              <a:rPr lang="en-US" sz="3000" dirty="0"/>
              <a:t>ring counter / Johnson counter. </a:t>
            </a:r>
          </a:p>
          <a:p>
            <a:pPr algn="just"/>
            <a:r>
              <a:rPr lang="en-US" sz="3000" dirty="0"/>
              <a:t>A </a:t>
            </a:r>
            <a:r>
              <a:rPr lang="en-US" sz="3000" dirty="0">
                <a:solidFill>
                  <a:srgbClr val="C00000"/>
                </a:solidFill>
              </a:rPr>
              <a:t>switch‐tail ring counter</a:t>
            </a:r>
            <a:r>
              <a:rPr lang="en-US" sz="3000" dirty="0"/>
              <a:t> is a circular shift register with the complemented output of the last flip‐flop connected to the input of the first flip‐flop.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5275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3000" dirty="0"/>
                  <a:t>This counter is obtained from a serial-in, serial-out shift register by providing feedback from the inverted output of the last FF to the D input of the first FF.</a:t>
                </a:r>
              </a:p>
              <a:p>
                <a:pPr algn="just"/>
                <a:r>
                  <a:rPr lang="en-US" sz="3000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>
                        <a:latin typeface="Cambria Math"/>
                      </a:rPr>
                      <m:t>Q</m:t>
                    </m:r>
                  </m:oMath>
                </a14:m>
                <a:r>
                  <a:rPr lang="en-US" sz="3000" dirty="0"/>
                  <a:t> output of each stage is connected to the D input of the next stage, but 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/>
                          </a:rPr>
                          <m:t>Q</m:t>
                        </m:r>
                      </m:e>
                    </m:bar>
                  </m:oMath>
                </a14:m>
                <a:r>
                  <a:rPr lang="en-US" sz="3000" dirty="0"/>
                  <a:t> output of the last stage is connected to the D input of first stage.</a:t>
                </a:r>
                <a:endParaRPr lang="en-I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617" r="-1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60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60648"/>
            <a:ext cx="8208912" cy="290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860" y="3339300"/>
            <a:ext cx="8230596" cy="3042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760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653137"/>
            <a:ext cx="8229600" cy="147302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000" dirty="0">
                <a:solidFill>
                  <a:srgbClr val="002060"/>
                </a:solidFill>
              </a:rPr>
              <a:t>An 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 FF Johnson counter can have 2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 unique states and can count up to 2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 pulses. So it is a mod-2</a:t>
            </a:r>
            <a:r>
              <a:rPr lang="en-US" sz="3000" i="1" dirty="0">
                <a:solidFill>
                  <a:srgbClr val="002060"/>
                </a:solidFill>
              </a:rPr>
              <a:t>n</a:t>
            </a:r>
            <a:r>
              <a:rPr lang="en-US" sz="3000" dirty="0">
                <a:solidFill>
                  <a:srgbClr val="002060"/>
                </a:solidFill>
              </a:rPr>
              <a:t> counter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404664"/>
            <a:ext cx="9073007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959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7" y="1628800"/>
            <a:ext cx="6939625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082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2514</Words>
  <Application>Microsoft Office PowerPoint</Application>
  <PresentationFormat>Widescreen</PresentationFormat>
  <Paragraphs>132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Baskerville Old Face</vt:lpstr>
      <vt:lpstr>Calibri</vt:lpstr>
      <vt:lpstr>Cambria Math</vt:lpstr>
      <vt:lpstr>Times New Roman</vt:lpstr>
      <vt:lpstr>Office Theme</vt:lpstr>
      <vt:lpstr>DIGITAL ELECTRONICS III Semester CSE</vt:lpstr>
      <vt:lpstr>Counters</vt:lpstr>
      <vt:lpstr>Counters</vt:lpstr>
      <vt:lpstr>PowerPoint Presentation</vt:lpstr>
      <vt:lpstr>PowerPoint Presentation</vt:lpstr>
      <vt:lpstr>Comparison of Synchronous and Asynchronous Counters</vt:lpstr>
      <vt:lpstr>PowerPoint Presentation</vt:lpstr>
      <vt:lpstr>PowerPoint Presentation</vt:lpstr>
      <vt:lpstr>PowerPoint Presentation</vt:lpstr>
      <vt:lpstr>Asynchronous Counters</vt:lpstr>
      <vt:lpstr>PowerPoint Presentation</vt:lpstr>
      <vt:lpstr>2-bit Ripple Up-counter using Negative Edge-triggered Flip-Flops</vt:lpstr>
      <vt:lpstr>2-bit Ripple Down-counter using Negative Edge-triggered Flip-Flops</vt:lpstr>
      <vt:lpstr>2-bit Ripple Up-down Counter using Negative Edge-triggered Flip-Flops</vt:lpstr>
      <vt:lpstr>PowerPoint Presentation</vt:lpstr>
      <vt:lpstr>2-bit Ripple Up-counter using Positive Edge-triggered Flip-Flops</vt:lpstr>
      <vt:lpstr>2-bit Ripple Down-counter using Positive Edge-triggered Flip-Flops</vt:lpstr>
      <vt:lpstr>2-bit Ripple Up-down Counter using Positive Edge-triggered Flip-Flops</vt:lpstr>
      <vt:lpstr>PowerPoint Presentation</vt:lpstr>
      <vt:lpstr>3-bit Ripple Counter using D FFs</vt:lpstr>
      <vt:lpstr>4‐bit Binary Ripple Counters</vt:lpstr>
      <vt:lpstr>PowerPoint Presentation</vt:lpstr>
      <vt:lpstr>Design of Asynchronous Counters</vt:lpstr>
      <vt:lpstr>Design of a Mod-6 Asynchronous Counter using T FFs.</vt:lpstr>
      <vt:lpstr>PowerPoint Presentation</vt:lpstr>
      <vt:lpstr>PowerPoint Presentation</vt:lpstr>
      <vt:lpstr>Design of a Mod-10 Asynchronous Counter using T FFs.</vt:lpstr>
      <vt:lpstr>PowerPoint Presentation</vt:lpstr>
      <vt:lpstr>PowerPoint Presentation</vt:lpstr>
      <vt:lpstr>Synchronous Counters</vt:lpstr>
      <vt:lpstr>Design of Synchronous Counters</vt:lpstr>
      <vt:lpstr>PowerPoint Presentation</vt:lpstr>
      <vt:lpstr>PowerPoint Presentation</vt:lpstr>
      <vt:lpstr>Design of a Synchronous 3-bit Up Counter using J-K FFs.</vt:lpstr>
      <vt:lpstr>PowerPoint Presentation</vt:lpstr>
      <vt:lpstr>Design of a Synchronous 3-bit Down Counter using J-K FFs.</vt:lpstr>
      <vt:lpstr>PowerPoint Presentation</vt:lpstr>
      <vt:lpstr>Design of a Synchronous 3-bit Up-down Counter using J-K FFs.</vt:lpstr>
      <vt:lpstr>PowerPoint Presentation</vt:lpstr>
      <vt:lpstr>PowerPoint Presentation</vt:lpstr>
      <vt:lpstr>Design of a Synchronous Mod-6 Counter using J-K FFs.</vt:lpstr>
      <vt:lpstr>PowerPoint Presentation</vt:lpstr>
      <vt:lpstr>PowerPoint Presentation</vt:lpstr>
      <vt:lpstr>Design of a Synchronous BCD Counter using J-K FFs.</vt:lpstr>
      <vt:lpstr>PowerPoint Presentation</vt:lpstr>
      <vt:lpstr>PowerPoint Presentation</vt:lpstr>
      <vt:lpstr>Example: Design a type T counter that goes through states 0, 3, 5, 6, 0… .</vt:lpstr>
      <vt:lpstr>PowerPoint Presentation</vt:lpstr>
      <vt:lpstr>Example: Design a J-K counter that goes through states 3, 4, 6, 7 and 3… .</vt:lpstr>
      <vt:lpstr>PowerPoint Presentation</vt:lpstr>
      <vt:lpstr>Shift Register Counters</vt:lpstr>
      <vt:lpstr>Ring Counter</vt:lpstr>
      <vt:lpstr>PowerPoint Presentation</vt:lpstr>
      <vt:lpstr>PowerPoint Presentation</vt:lpstr>
      <vt:lpstr>PowerPoint Presentation</vt:lpstr>
      <vt:lpstr>Johnson Counter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Counters</dc:title>
  <dc:creator>staff</dc:creator>
  <cp:lastModifiedBy>ranjita rout</cp:lastModifiedBy>
  <cp:revision>131</cp:revision>
  <dcterms:created xsi:type="dcterms:W3CDTF">2020-11-19T07:00:33Z</dcterms:created>
  <dcterms:modified xsi:type="dcterms:W3CDTF">2025-10-22T11:39:56Z</dcterms:modified>
</cp:coreProperties>
</file>