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2" r:id="rId7"/>
    <p:sldId id="261" r:id="rId8"/>
    <p:sldId id="291" r:id="rId9"/>
    <p:sldId id="292" r:id="rId10"/>
    <p:sldId id="298" r:id="rId11"/>
    <p:sldId id="293" r:id="rId12"/>
    <p:sldId id="295" r:id="rId13"/>
    <p:sldId id="263" r:id="rId14"/>
    <p:sldId id="300" r:id="rId15"/>
    <p:sldId id="299" r:id="rId16"/>
    <p:sldId id="301" r:id="rId17"/>
    <p:sldId id="264" r:id="rId18"/>
    <p:sldId id="265" r:id="rId19"/>
    <p:sldId id="266" r:id="rId20"/>
    <p:sldId id="267" r:id="rId21"/>
    <p:sldId id="268" r:id="rId22"/>
    <p:sldId id="269" r:id="rId23"/>
    <p:sldId id="270" r:id="rId24"/>
    <p:sldId id="271" r:id="rId25"/>
    <p:sldId id="272" r:id="rId26"/>
    <p:sldId id="274" r:id="rId27"/>
    <p:sldId id="273" r:id="rId28"/>
    <p:sldId id="275" r:id="rId29"/>
    <p:sldId id="276" r:id="rId30"/>
    <p:sldId id="289" r:id="rId31"/>
    <p:sldId id="290" r:id="rId32"/>
    <p:sldId id="309" r:id="rId33"/>
    <p:sldId id="310" r:id="rId34"/>
    <p:sldId id="308" r:id="rId35"/>
    <p:sldId id="312" r:id="rId36"/>
    <p:sldId id="313" r:id="rId37"/>
    <p:sldId id="277" r:id="rId38"/>
    <p:sldId id="302" r:id="rId39"/>
    <p:sldId id="303" r:id="rId40"/>
    <p:sldId id="305" r:id="rId41"/>
    <p:sldId id="306" r:id="rId42"/>
    <p:sldId id="307" r:id="rId43"/>
    <p:sldId id="278" r:id="rId44"/>
    <p:sldId id="279" r:id="rId45"/>
    <p:sldId id="280" r:id="rId46"/>
    <p:sldId id="281" r:id="rId47"/>
    <p:sldId id="282" r:id="rId48"/>
    <p:sldId id="283" r:id="rId49"/>
    <p:sldId id="285" r:id="rId50"/>
    <p:sldId id="284" r:id="rId51"/>
    <p:sldId id="286" r:id="rId52"/>
    <p:sldId id="287" r:id="rId53"/>
    <p:sldId id="28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5878D-66DC-441E-9195-5D498102AA07}" v="1" dt="2024-11-22T16:54:11.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94660"/>
  </p:normalViewPr>
  <p:slideViewPr>
    <p:cSldViewPr>
      <p:cViewPr>
        <p:scale>
          <a:sx n="200" d="100"/>
          <a:sy n="200" d="100"/>
        </p:scale>
        <p:origin x="-2515" y="-47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SHA PATRA" userId="0753ce7bc1ad7bf8" providerId="LiveId" clId="{3205878D-66DC-441E-9195-5D498102AA07}"/>
    <pc:docChg chg="modSld">
      <pc:chgData name="TANISHA PATRA" userId="0753ce7bc1ad7bf8" providerId="LiveId" clId="{3205878D-66DC-441E-9195-5D498102AA07}" dt="2024-11-22T16:54:11.821" v="0" actId="1076"/>
      <pc:docMkLst>
        <pc:docMk/>
      </pc:docMkLst>
      <pc:sldChg chg="modSp">
        <pc:chgData name="TANISHA PATRA" userId="0753ce7bc1ad7bf8" providerId="LiveId" clId="{3205878D-66DC-441E-9195-5D498102AA07}" dt="2024-11-22T16:54:11.821" v="0" actId="1076"/>
        <pc:sldMkLst>
          <pc:docMk/>
          <pc:sldMk cId="1173549472" sldId="307"/>
        </pc:sldMkLst>
        <pc:picChg chg="mod">
          <ac:chgData name="TANISHA PATRA" userId="0753ce7bc1ad7bf8" providerId="LiveId" clId="{3205878D-66DC-441E-9195-5D498102AA07}" dt="2024-11-22T16:54:11.821" v="0" actId="1076"/>
          <ac:picMkLst>
            <pc:docMk/>
            <pc:sldMk cId="1173549472" sldId="307"/>
            <ac:picMk id="1229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064E3B-9D30-4B72-ACEA-F0C740203BAA}" type="datetimeFigureOut">
              <a:rPr lang="en-IN" smtClean="0"/>
              <a:t>22-11-2024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DCFD77-3949-426D-A9E7-A47F4F177896}" type="slidenum">
              <a:rPr lang="en-IN" smtClean="0"/>
              <a:t>‹#›</a:t>
            </a:fld>
            <a:endParaRPr lang="en-IN"/>
          </a:p>
        </p:txBody>
      </p:sp>
    </p:spTree>
    <p:extLst>
      <p:ext uri="{BB962C8B-B14F-4D97-AF65-F5344CB8AC3E}">
        <p14:creationId xmlns:p14="http://schemas.microsoft.com/office/powerpoint/2010/main" val="86805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EDCFD77-3949-426D-A9E7-A47F4F177896}" type="slidenum">
              <a:rPr lang="en-IN" smtClean="0"/>
              <a:t>47</a:t>
            </a:fld>
            <a:endParaRPr lang="en-IN"/>
          </a:p>
        </p:txBody>
      </p:sp>
    </p:spTree>
    <p:extLst>
      <p:ext uri="{BB962C8B-B14F-4D97-AF65-F5344CB8AC3E}">
        <p14:creationId xmlns:p14="http://schemas.microsoft.com/office/powerpoint/2010/main" val="1499189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9E47168-AE58-4AA4-8B41-8D8848FD22F8}"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184755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E47168-AE58-4AA4-8B41-8D8848FD22F8}"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846142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E47168-AE58-4AA4-8B41-8D8848FD22F8}"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177841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9E47168-AE58-4AA4-8B41-8D8848FD22F8}"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324283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9E47168-AE58-4AA4-8B41-8D8848FD22F8}" type="datetimeFigureOut">
              <a:rPr lang="en-IN" smtClean="0"/>
              <a:t>22-11-2024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3559740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9E47168-AE58-4AA4-8B41-8D8848FD22F8}" type="datetimeFigureOut">
              <a:rPr lang="en-IN" smtClean="0"/>
              <a:t>22-11-2024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872674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E47168-AE58-4AA4-8B41-8D8848FD22F8}" type="datetimeFigureOut">
              <a:rPr lang="en-IN" smtClean="0"/>
              <a:t>22-11-2024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633667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E47168-AE58-4AA4-8B41-8D8848FD22F8}"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365536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E47168-AE58-4AA4-8B41-8D8848FD22F8}"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2682233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E47168-AE58-4AA4-8B41-8D8848FD22F8}"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361423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E47168-AE58-4AA4-8B41-8D8848FD22F8}"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CAA292-A7F1-496F-AAFD-33A6C3C8892E}" type="slidenum">
              <a:rPr lang="en-IN" smtClean="0"/>
              <a:t>‹#›</a:t>
            </a:fld>
            <a:endParaRPr lang="en-IN"/>
          </a:p>
        </p:txBody>
      </p:sp>
    </p:spTree>
    <p:extLst>
      <p:ext uri="{BB962C8B-B14F-4D97-AF65-F5344CB8AC3E}">
        <p14:creationId xmlns:p14="http://schemas.microsoft.com/office/powerpoint/2010/main" val="2297191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47168-AE58-4AA4-8B41-8D8848FD22F8}" type="datetimeFigureOut">
              <a:rPr lang="en-IN" smtClean="0"/>
              <a:t>22-11-2024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CAA292-A7F1-496F-AAFD-33A6C3C8892E}" type="slidenum">
              <a:rPr lang="en-IN" smtClean="0"/>
              <a:t>‹#›</a:t>
            </a:fld>
            <a:endParaRPr lang="en-IN"/>
          </a:p>
        </p:txBody>
      </p:sp>
    </p:spTree>
    <p:extLst>
      <p:ext uri="{BB962C8B-B14F-4D97-AF65-F5344CB8AC3E}">
        <p14:creationId xmlns:p14="http://schemas.microsoft.com/office/powerpoint/2010/main" val="113595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2130425"/>
            <a:ext cx="8206680" cy="2882751"/>
          </a:xfrm>
        </p:spPr>
        <p:txBody>
          <a:bodyPr>
            <a:normAutofit/>
          </a:bodyPr>
          <a:lstStyle/>
          <a:p>
            <a:r>
              <a:rPr lang="en-IN" b="1" dirty="0">
                <a:solidFill>
                  <a:srgbClr val="00B050"/>
                </a:solidFill>
              </a:rPr>
              <a:t>Read-Only Memory;</a:t>
            </a:r>
            <a:br>
              <a:rPr lang="en-IN" b="1" dirty="0">
                <a:solidFill>
                  <a:srgbClr val="00B050"/>
                </a:solidFill>
              </a:rPr>
            </a:br>
            <a:r>
              <a:rPr lang="en-IN" b="1" dirty="0">
                <a:solidFill>
                  <a:srgbClr val="00B050"/>
                </a:solidFill>
              </a:rPr>
              <a:t>Programmable Logic Array; Programmable Array Logic; Sequential Programmable Devices</a:t>
            </a:r>
          </a:p>
        </p:txBody>
      </p:sp>
    </p:spTree>
    <p:extLst>
      <p:ext uri="{BB962C8B-B14F-4D97-AF65-F5344CB8AC3E}">
        <p14:creationId xmlns:p14="http://schemas.microsoft.com/office/powerpoint/2010/main" val="417932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Read‐Only Memory</a:t>
            </a:r>
          </a:p>
        </p:txBody>
      </p:sp>
      <p:sp>
        <p:nvSpPr>
          <p:cNvPr id="3" name="Content Placeholder 2"/>
          <p:cNvSpPr>
            <a:spLocks noGrp="1"/>
          </p:cNvSpPr>
          <p:nvPr>
            <p:ph idx="1"/>
          </p:nvPr>
        </p:nvSpPr>
        <p:spPr/>
        <p:txBody>
          <a:bodyPr>
            <a:normAutofit/>
          </a:bodyPr>
          <a:lstStyle/>
          <a:p>
            <a:pPr algn="just"/>
            <a:r>
              <a:rPr lang="en-US" sz="3000" dirty="0"/>
              <a:t>A read‐only memory (ROM) is essentially a memory device in which permanent binary information is stored.</a:t>
            </a:r>
          </a:p>
          <a:p>
            <a:pPr algn="just"/>
            <a:r>
              <a:rPr lang="en-US" sz="3000" dirty="0"/>
              <a:t>The binary information must be specified by the designer and is then embedded in the unit to form the required interconnection pattern.</a:t>
            </a:r>
          </a:p>
          <a:p>
            <a:pPr algn="just"/>
            <a:r>
              <a:rPr lang="en-US" sz="3000" dirty="0"/>
              <a:t>Once the pattern is established, it stays within the unit even when power is turned off and on again.</a:t>
            </a:r>
            <a:endParaRPr lang="en-IN" sz="3000" dirty="0"/>
          </a:p>
        </p:txBody>
      </p:sp>
    </p:spTree>
    <p:extLst>
      <p:ext uri="{BB962C8B-B14F-4D97-AF65-F5344CB8AC3E}">
        <p14:creationId xmlns:p14="http://schemas.microsoft.com/office/powerpoint/2010/main" val="429386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4785395"/>
          </a:xfrm>
        </p:spPr>
        <p:txBody>
          <a:bodyPr>
            <a:normAutofit/>
          </a:bodyPr>
          <a:lstStyle/>
          <a:p>
            <a:pPr algn="just"/>
            <a:r>
              <a:rPr lang="en-US" sz="3000" dirty="0"/>
              <a:t>A block diagram of a ROM consisting of </a:t>
            </a:r>
            <a:r>
              <a:rPr lang="en-US" sz="3000" i="1" dirty="0"/>
              <a:t>k </a:t>
            </a:r>
            <a:r>
              <a:rPr lang="en-US" sz="3000" dirty="0"/>
              <a:t>inputs and </a:t>
            </a:r>
            <a:r>
              <a:rPr lang="en-US" sz="3000" i="1" dirty="0"/>
              <a:t>n </a:t>
            </a:r>
            <a:r>
              <a:rPr lang="en-US" sz="3000" dirty="0"/>
              <a:t>outputs is shown in Figure.</a:t>
            </a:r>
          </a:p>
          <a:p>
            <a:pPr algn="just"/>
            <a:endParaRPr lang="en-US" sz="3000" dirty="0"/>
          </a:p>
          <a:p>
            <a:pPr algn="just"/>
            <a:endParaRPr lang="en-US" sz="3000" dirty="0"/>
          </a:p>
          <a:p>
            <a:pPr algn="just"/>
            <a:endParaRPr lang="en-US" sz="3000" dirty="0"/>
          </a:p>
          <a:p>
            <a:pPr algn="just"/>
            <a:endParaRPr lang="en-US" sz="3000" dirty="0"/>
          </a:p>
          <a:p>
            <a:pPr algn="just"/>
            <a:r>
              <a:rPr lang="en-US" sz="3000" dirty="0"/>
              <a:t>The inputs provide the address for memory, and the outputs give the data bits of the stored word that is selected by the address.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8" y="2492896"/>
            <a:ext cx="618172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814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barn(inVertical)">
                                      <p:cBhvr>
                                        <p:cTn id="13" dur="500"/>
                                        <p:tgtEl>
                                          <p:spTgt spid="102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number of words in a ROM is determined from the fact that </a:t>
            </a:r>
            <a:r>
              <a:rPr lang="en-US" sz="3000" i="1" dirty="0"/>
              <a:t>k </a:t>
            </a:r>
            <a:r>
              <a:rPr lang="en-US" sz="3000" dirty="0"/>
              <a:t>address input lines are needed to specify 2</a:t>
            </a:r>
            <a:r>
              <a:rPr lang="en-US" sz="3000" i="1" baseline="30000" dirty="0"/>
              <a:t>k</a:t>
            </a:r>
            <a:r>
              <a:rPr lang="en-US" sz="3000" i="1" dirty="0"/>
              <a:t> </a:t>
            </a:r>
            <a:r>
              <a:rPr lang="en-US" sz="3000" dirty="0"/>
              <a:t>words.</a:t>
            </a:r>
          </a:p>
          <a:p>
            <a:pPr algn="just"/>
            <a:r>
              <a:rPr lang="en-US" sz="3000" dirty="0"/>
              <a:t>Note that ROM does not have data inputs, because it does not have a write operation.</a:t>
            </a:r>
            <a:endParaRPr lang="en-IN" sz="3000" dirty="0"/>
          </a:p>
          <a:p>
            <a:pPr algn="just"/>
            <a:r>
              <a:rPr lang="en-US" sz="3000" dirty="0"/>
              <a:t>Integrated circuit ROM chips have one or more enable inputs and sometimes come with three‐state outputs to facilitate the construction of large arrays of ROM.</a:t>
            </a:r>
            <a:endParaRPr lang="en-IN" sz="3000" dirty="0"/>
          </a:p>
          <a:p>
            <a:endParaRPr lang="en-IN" dirty="0"/>
          </a:p>
        </p:txBody>
      </p:sp>
    </p:spTree>
    <p:extLst>
      <p:ext uri="{BB962C8B-B14F-4D97-AF65-F5344CB8AC3E}">
        <p14:creationId xmlns:p14="http://schemas.microsoft.com/office/powerpoint/2010/main" val="236216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lnSpcReduction="10000"/>
          </a:bodyPr>
          <a:lstStyle/>
          <a:p>
            <a:pPr algn="just"/>
            <a:r>
              <a:rPr lang="en-US" sz="3000" dirty="0"/>
              <a:t>Consider, for example, a 32 × 8 ROM. The unit consists of 32 words of 8 bits each.</a:t>
            </a:r>
          </a:p>
          <a:p>
            <a:pPr algn="just"/>
            <a:r>
              <a:rPr lang="en-US" sz="3000" dirty="0"/>
              <a:t>There are five input lines that form the binary numbers from 0 through 31 for the address. </a:t>
            </a:r>
          </a:p>
          <a:p>
            <a:pPr algn="just"/>
            <a:r>
              <a:rPr lang="en-US" sz="3000" dirty="0"/>
              <a:t>Figure shows the internal logic construction of 32 × 8 ROM.</a:t>
            </a:r>
          </a:p>
          <a:p>
            <a:pPr algn="just"/>
            <a:r>
              <a:rPr lang="en-US" sz="3000" dirty="0"/>
              <a:t>The five inputs are decoded into 32 distinct outputs by means of a 5 × 32 decoder. Each output of the decoder represents a memory address.</a:t>
            </a:r>
          </a:p>
          <a:p>
            <a:pPr algn="just"/>
            <a:r>
              <a:rPr lang="en-US" sz="3000" dirty="0"/>
              <a:t>The 32 outputs of the decoder are connected to each of the eight OR gates.</a:t>
            </a:r>
          </a:p>
        </p:txBody>
      </p:sp>
    </p:spTree>
    <p:extLst>
      <p:ext uri="{BB962C8B-B14F-4D97-AF65-F5344CB8AC3E}">
        <p14:creationId xmlns:p14="http://schemas.microsoft.com/office/powerpoint/2010/main" val="27121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8" y="957263"/>
            <a:ext cx="7477125"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95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sz="3000" dirty="0"/>
              <a:t>Since each OR </a:t>
            </a:r>
            <a:r>
              <a:rPr lang="en-US" sz="3000" dirty="0"/>
              <a:t>gate has 32 input connections and there are 8 OR gates, the ROM contains 32 × 8 = 256 </a:t>
            </a:r>
            <a:r>
              <a:rPr lang="en-IN" sz="3000" dirty="0"/>
              <a:t>internal connections.</a:t>
            </a:r>
            <a:endParaRPr lang="en-US" sz="3000" dirty="0"/>
          </a:p>
          <a:p>
            <a:pPr algn="just"/>
            <a:r>
              <a:rPr lang="en-US" sz="3000" dirty="0"/>
              <a:t>In general, a 2</a:t>
            </a:r>
            <a:r>
              <a:rPr lang="en-US" sz="3000" i="1" baseline="30000" dirty="0"/>
              <a:t>k</a:t>
            </a:r>
            <a:r>
              <a:rPr lang="en-US" sz="3000" i="1" dirty="0"/>
              <a:t> </a:t>
            </a:r>
            <a:r>
              <a:rPr lang="en-US" sz="3000" dirty="0"/>
              <a:t>× </a:t>
            </a:r>
            <a:r>
              <a:rPr lang="en-US" sz="3000" i="1" dirty="0"/>
              <a:t>n </a:t>
            </a:r>
            <a:r>
              <a:rPr lang="en-US" sz="3000" dirty="0"/>
              <a:t>ROM will have an internal </a:t>
            </a:r>
            <a:r>
              <a:rPr lang="en-US" sz="3000" i="1" dirty="0"/>
              <a:t>k </a:t>
            </a:r>
            <a:r>
              <a:rPr lang="en-US" sz="3000" dirty="0"/>
              <a:t>× 2</a:t>
            </a:r>
            <a:r>
              <a:rPr lang="en-US" sz="3000" i="1" baseline="30000" dirty="0"/>
              <a:t>k</a:t>
            </a:r>
            <a:r>
              <a:rPr lang="en-US" sz="3000" i="1" dirty="0"/>
              <a:t> </a:t>
            </a:r>
            <a:r>
              <a:rPr lang="en-US" sz="3000" dirty="0"/>
              <a:t>decoder and </a:t>
            </a:r>
            <a:r>
              <a:rPr lang="en-US" sz="3000" i="1" dirty="0"/>
              <a:t>n </a:t>
            </a:r>
            <a:r>
              <a:rPr lang="en-US" sz="3000" dirty="0"/>
              <a:t>OR gates. Each OR gate has 2</a:t>
            </a:r>
            <a:r>
              <a:rPr lang="en-US" sz="3000" i="1" baseline="30000" dirty="0"/>
              <a:t>k</a:t>
            </a:r>
            <a:r>
              <a:rPr lang="en-US" sz="3000" i="1" dirty="0"/>
              <a:t> </a:t>
            </a:r>
            <a:r>
              <a:rPr lang="en-US" sz="3000" dirty="0"/>
              <a:t>inputs, which are connected to each of the outputs </a:t>
            </a:r>
            <a:r>
              <a:rPr lang="en-IN" sz="3000" dirty="0"/>
              <a:t>of the decoder.</a:t>
            </a:r>
          </a:p>
          <a:p>
            <a:endParaRPr lang="en-IN" dirty="0"/>
          </a:p>
        </p:txBody>
      </p:sp>
    </p:spTree>
    <p:extLst>
      <p:ext uri="{BB962C8B-B14F-4D97-AF65-F5344CB8AC3E}">
        <p14:creationId xmlns:p14="http://schemas.microsoft.com/office/powerpoint/2010/main" val="253993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Autofit/>
          </a:bodyPr>
          <a:lstStyle/>
          <a:p>
            <a:pPr algn="just"/>
            <a:r>
              <a:rPr lang="en-US" sz="3000" dirty="0"/>
              <a:t>The 256 intersections are programmable.</a:t>
            </a:r>
          </a:p>
          <a:p>
            <a:pPr algn="just"/>
            <a:r>
              <a:rPr lang="en-US" sz="3000" dirty="0"/>
              <a:t>A programmable connection between two lines is logically equivalent to a switch that can be altered to be either closed (meaning that the two lines are connected) or open (meaning that the two lines are disconnected).</a:t>
            </a:r>
          </a:p>
          <a:p>
            <a:pPr algn="just"/>
            <a:r>
              <a:rPr lang="en-US" sz="3000" dirty="0"/>
              <a:t>The programmable intersection between two lines is sometimes called a </a:t>
            </a:r>
            <a:r>
              <a:rPr lang="en-US" sz="3000" i="1" dirty="0" err="1"/>
              <a:t>crosspoint</a:t>
            </a:r>
            <a:r>
              <a:rPr lang="en-US" sz="3000" dirty="0"/>
              <a:t>.</a:t>
            </a:r>
          </a:p>
          <a:p>
            <a:pPr algn="just"/>
            <a:r>
              <a:rPr lang="en-US" sz="3000" dirty="0"/>
              <a:t>Various physical devices are used to implement </a:t>
            </a:r>
            <a:r>
              <a:rPr lang="en-US" sz="3000" dirty="0" err="1"/>
              <a:t>crosspoint</a:t>
            </a:r>
            <a:r>
              <a:rPr lang="en-US" sz="3000" dirty="0"/>
              <a:t> switches.</a:t>
            </a:r>
          </a:p>
        </p:txBody>
      </p:sp>
    </p:spTree>
    <p:extLst>
      <p:ext uri="{BB962C8B-B14F-4D97-AF65-F5344CB8AC3E}">
        <p14:creationId xmlns:p14="http://schemas.microsoft.com/office/powerpoint/2010/main" val="66171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4929411"/>
          </a:xfrm>
        </p:spPr>
        <p:txBody>
          <a:bodyPr>
            <a:normAutofit/>
          </a:bodyPr>
          <a:lstStyle/>
          <a:p>
            <a:pPr algn="just"/>
            <a:r>
              <a:rPr lang="en-US" sz="3000" dirty="0"/>
              <a:t>One of the simplest technologies employs a fuse that normally connects the two points, but is opened or “blown” by the application of a high‐voltage pulse into </a:t>
            </a:r>
            <a:r>
              <a:rPr lang="en-IN" sz="3000" dirty="0"/>
              <a:t>the fuse.</a:t>
            </a:r>
          </a:p>
          <a:p>
            <a:pPr algn="just"/>
            <a:r>
              <a:rPr lang="en-US" sz="3000" dirty="0"/>
              <a:t>The internal binary storage of a ROM is specified by a truth table that shows the word content in each address.</a:t>
            </a:r>
          </a:p>
          <a:p>
            <a:pPr algn="just"/>
            <a:r>
              <a:rPr lang="en-US" sz="3000" dirty="0"/>
              <a:t>For example, the content of a 32 × 8 ROM may be specified with a truth table similar to the one shown in Table.</a:t>
            </a:r>
            <a:endParaRPr lang="en-IN" sz="3000" dirty="0"/>
          </a:p>
          <a:p>
            <a:endParaRPr lang="en-IN" dirty="0"/>
          </a:p>
        </p:txBody>
      </p:sp>
    </p:spTree>
    <p:extLst>
      <p:ext uri="{BB962C8B-B14F-4D97-AF65-F5344CB8AC3E}">
        <p14:creationId xmlns:p14="http://schemas.microsoft.com/office/powerpoint/2010/main" val="221044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1695450"/>
            <a:ext cx="82581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684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145435"/>
          </a:xfrm>
        </p:spPr>
        <p:txBody>
          <a:bodyPr>
            <a:noAutofit/>
          </a:bodyPr>
          <a:lstStyle/>
          <a:p>
            <a:pPr algn="just"/>
            <a:r>
              <a:rPr lang="en-US" dirty="0"/>
              <a:t>The hardware procedure that programs the ROM blows fuse links in accordance with a given truth table.</a:t>
            </a:r>
          </a:p>
          <a:p>
            <a:pPr algn="just"/>
            <a:r>
              <a:rPr lang="en-US" dirty="0"/>
              <a:t>For example, programming the ROM according to the truth table given by Table results in the configuration shown in Figure.</a:t>
            </a:r>
          </a:p>
          <a:p>
            <a:pPr algn="just"/>
            <a:r>
              <a:rPr lang="en-US" dirty="0"/>
              <a:t>Every 0 listed in the truth table specifies the absence of a connection, and every 1 listed specifies a path that is obtained by a connection.</a:t>
            </a:r>
            <a:endParaRPr lang="en-IN" dirty="0"/>
          </a:p>
        </p:txBody>
      </p:sp>
    </p:spTree>
    <p:extLst>
      <p:ext uri="{BB962C8B-B14F-4D97-AF65-F5344CB8AC3E}">
        <p14:creationId xmlns:p14="http://schemas.microsoft.com/office/powerpoint/2010/main" val="263937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8" y="952500"/>
            <a:ext cx="7515225"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269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002060"/>
                </a:solidFill>
              </a:rPr>
              <a:t>Combinational Circuit Implementation</a:t>
            </a:r>
          </a:p>
        </p:txBody>
      </p:sp>
      <p:sp>
        <p:nvSpPr>
          <p:cNvPr id="3" name="Content Placeholder 2"/>
          <p:cNvSpPr>
            <a:spLocks noGrp="1"/>
          </p:cNvSpPr>
          <p:nvPr>
            <p:ph idx="1"/>
          </p:nvPr>
        </p:nvSpPr>
        <p:spPr/>
        <p:txBody>
          <a:bodyPr>
            <a:normAutofit/>
          </a:bodyPr>
          <a:lstStyle/>
          <a:p>
            <a:pPr algn="just"/>
            <a:r>
              <a:rPr lang="en-US" sz="3000" dirty="0"/>
              <a:t>The ROM is essentially a device that includes both the decoder and the OR gates within a single device to form a </a:t>
            </a:r>
            <a:r>
              <a:rPr lang="en-US" sz="3000" dirty="0" err="1"/>
              <a:t>minterm</a:t>
            </a:r>
            <a:r>
              <a:rPr lang="en-US" sz="3000" dirty="0"/>
              <a:t> generator.</a:t>
            </a:r>
          </a:p>
          <a:p>
            <a:pPr algn="just"/>
            <a:r>
              <a:rPr lang="en-US" sz="3000" dirty="0"/>
              <a:t>By choosing connections for those </a:t>
            </a:r>
            <a:r>
              <a:rPr lang="en-US" sz="3000" dirty="0" err="1"/>
              <a:t>minterms</a:t>
            </a:r>
            <a:r>
              <a:rPr lang="en-US" sz="3000" dirty="0"/>
              <a:t> which are included in the function, the ROM outputs can be programmed to represent the Boolean functions of the </a:t>
            </a:r>
            <a:r>
              <a:rPr lang="en-IN" sz="3000" dirty="0"/>
              <a:t>output variables in a combinational circuit.</a:t>
            </a:r>
          </a:p>
        </p:txBody>
      </p:sp>
    </p:spTree>
    <p:extLst>
      <p:ext uri="{BB962C8B-B14F-4D97-AF65-F5344CB8AC3E}">
        <p14:creationId xmlns:p14="http://schemas.microsoft.com/office/powerpoint/2010/main" val="290534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002060"/>
                </a:solidFill>
              </a:rPr>
              <a:t>Example</a:t>
            </a:r>
            <a:endParaRPr lang="en-IN" dirty="0"/>
          </a:p>
        </p:txBody>
      </p:sp>
      <p:sp>
        <p:nvSpPr>
          <p:cNvPr id="3" name="Content Placeholder 2"/>
          <p:cNvSpPr>
            <a:spLocks noGrp="1"/>
          </p:cNvSpPr>
          <p:nvPr>
            <p:ph idx="1"/>
          </p:nvPr>
        </p:nvSpPr>
        <p:spPr/>
        <p:txBody>
          <a:bodyPr/>
          <a:lstStyle/>
          <a:p>
            <a:pPr algn="just"/>
            <a:r>
              <a:rPr lang="en-US" sz="3000" dirty="0"/>
              <a:t>Design a combinational circuit using a ROM. The circuit accepts a three‐bit number and outputs a binary number equal to the square of the input number.</a:t>
            </a:r>
            <a:endParaRPr lang="en-IN" sz="3000" dirty="0"/>
          </a:p>
          <a:p>
            <a:endParaRPr lang="en-IN" dirty="0"/>
          </a:p>
        </p:txBody>
      </p:sp>
    </p:spTree>
    <p:extLst>
      <p:ext uri="{BB962C8B-B14F-4D97-AF65-F5344CB8AC3E}">
        <p14:creationId xmlns:p14="http://schemas.microsoft.com/office/powerpoint/2010/main" val="106601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538" y="3611835"/>
            <a:ext cx="6638925"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277366"/>
            <a:ext cx="7200900" cy="329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364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barn(inVertical)">
                                      <p:cBhvr>
                                        <p:cTn id="12"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Problems</a:t>
            </a:r>
            <a:endParaRPr lang="en-IN" dirty="0">
              <a:solidFill>
                <a:srgbClr val="C00000"/>
              </a:solidFill>
            </a:endParaRPr>
          </a:p>
        </p:txBody>
      </p:sp>
      <p:sp>
        <p:nvSpPr>
          <p:cNvPr id="3" name="Content Placeholder 2"/>
          <p:cNvSpPr>
            <a:spLocks noGrp="1"/>
          </p:cNvSpPr>
          <p:nvPr>
            <p:ph idx="1"/>
          </p:nvPr>
        </p:nvSpPr>
        <p:spPr/>
        <p:txBody>
          <a:bodyPr>
            <a:noAutofit/>
          </a:bodyPr>
          <a:lstStyle/>
          <a:p>
            <a:pPr algn="just"/>
            <a:r>
              <a:rPr lang="en-US" sz="3000" dirty="0"/>
              <a:t>Implement the following Boolean function using ROM.</a:t>
            </a:r>
          </a:p>
          <a:p>
            <a:pPr marL="0" indent="0" algn="just">
              <a:buNone/>
            </a:pPr>
            <a:r>
              <a:rPr lang="en-US" sz="3000" i="1" dirty="0"/>
              <a:t>	F</a:t>
            </a:r>
            <a:r>
              <a:rPr lang="en-US" sz="3000" baseline="-25000" dirty="0"/>
              <a:t>1</a:t>
            </a:r>
            <a:r>
              <a:rPr lang="en-US" sz="3000" dirty="0"/>
              <a:t>(</a:t>
            </a:r>
            <a:r>
              <a:rPr lang="en-US" sz="3000" i="1" dirty="0"/>
              <a:t>A</a:t>
            </a:r>
            <a:r>
              <a:rPr lang="en-US" sz="3000" dirty="0"/>
              <a:t>, </a:t>
            </a:r>
            <a:r>
              <a:rPr lang="en-US" sz="3000" i="1" dirty="0"/>
              <a:t>B</a:t>
            </a:r>
            <a:r>
              <a:rPr lang="en-US" sz="3000" dirty="0"/>
              <a:t>) = ∑(1, 3)</a:t>
            </a:r>
          </a:p>
          <a:p>
            <a:pPr marL="0" indent="0" algn="just">
              <a:buNone/>
            </a:pPr>
            <a:r>
              <a:rPr lang="en-US" sz="3000" i="1" dirty="0"/>
              <a:t>	F</a:t>
            </a:r>
            <a:r>
              <a:rPr lang="en-US" sz="3000" baseline="-25000" dirty="0"/>
              <a:t>2</a:t>
            </a:r>
            <a:r>
              <a:rPr lang="en-US" sz="3000" dirty="0"/>
              <a:t>(</a:t>
            </a:r>
            <a:r>
              <a:rPr lang="en-US" sz="3000" i="1" dirty="0"/>
              <a:t>A</a:t>
            </a:r>
            <a:r>
              <a:rPr lang="en-US" sz="3000" dirty="0"/>
              <a:t>, </a:t>
            </a:r>
            <a:r>
              <a:rPr lang="en-US" sz="3000" i="1" dirty="0"/>
              <a:t>B</a:t>
            </a:r>
            <a:r>
              <a:rPr lang="en-US" sz="3000" dirty="0"/>
              <a:t>) = ∑(0, 1, 2)</a:t>
            </a:r>
          </a:p>
          <a:p>
            <a:pPr marL="0" indent="0" algn="just">
              <a:buNone/>
            </a:pPr>
            <a:r>
              <a:rPr lang="en-US" sz="3000" i="1" dirty="0"/>
              <a:t>	F</a:t>
            </a:r>
            <a:r>
              <a:rPr lang="en-US" sz="3000" baseline="-25000" dirty="0"/>
              <a:t>3</a:t>
            </a:r>
            <a:r>
              <a:rPr lang="en-US" sz="3000" dirty="0"/>
              <a:t>(</a:t>
            </a:r>
            <a:r>
              <a:rPr lang="en-US" sz="3000" i="1" dirty="0"/>
              <a:t>A</a:t>
            </a:r>
            <a:r>
              <a:rPr lang="en-US" sz="3000" dirty="0"/>
              <a:t>, </a:t>
            </a:r>
            <a:r>
              <a:rPr lang="en-US" sz="3000" i="1" dirty="0"/>
              <a:t>B</a:t>
            </a:r>
            <a:r>
              <a:rPr lang="en-US" sz="3000" dirty="0"/>
              <a:t>) = ∑(0, 3)</a:t>
            </a:r>
          </a:p>
          <a:p>
            <a:pPr algn="just"/>
            <a:r>
              <a:rPr lang="en-US" sz="3000" dirty="0"/>
              <a:t>Design a full-adder using ROM.</a:t>
            </a:r>
          </a:p>
          <a:p>
            <a:pPr algn="just"/>
            <a:r>
              <a:rPr lang="en-US" sz="3000" dirty="0"/>
              <a:t>Design a combinational circuit that accepts 3-input and produces its 1’s complement as output.</a:t>
            </a:r>
          </a:p>
        </p:txBody>
      </p:sp>
    </p:spTree>
    <p:extLst>
      <p:ext uri="{BB962C8B-B14F-4D97-AF65-F5344CB8AC3E}">
        <p14:creationId xmlns:p14="http://schemas.microsoft.com/office/powerpoint/2010/main" val="89688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Types of ROMs</a:t>
            </a:r>
          </a:p>
        </p:txBody>
      </p:sp>
      <p:sp>
        <p:nvSpPr>
          <p:cNvPr id="3" name="Content Placeholder 2"/>
          <p:cNvSpPr>
            <a:spLocks noGrp="1"/>
          </p:cNvSpPr>
          <p:nvPr>
            <p:ph idx="1"/>
          </p:nvPr>
        </p:nvSpPr>
        <p:spPr/>
        <p:txBody>
          <a:bodyPr>
            <a:noAutofit/>
          </a:bodyPr>
          <a:lstStyle/>
          <a:p>
            <a:pPr algn="just"/>
            <a:r>
              <a:rPr lang="en-US" sz="3000" dirty="0"/>
              <a:t>The required paths in a ROM may be programmed in four different ways.</a:t>
            </a:r>
          </a:p>
          <a:p>
            <a:pPr algn="just"/>
            <a:r>
              <a:rPr lang="en-US" sz="3000" dirty="0"/>
              <a:t>The first is called </a:t>
            </a:r>
            <a:r>
              <a:rPr lang="en-US" sz="3000" i="1" dirty="0">
                <a:solidFill>
                  <a:srgbClr val="C00000"/>
                </a:solidFill>
              </a:rPr>
              <a:t>mask programming</a:t>
            </a:r>
            <a:r>
              <a:rPr lang="en-US" sz="3000" i="1" dirty="0"/>
              <a:t> </a:t>
            </a:r>
            <a:r>
              <a:rPr lang="en-US" sz="3000" dirty="0"/>
              <a:t>and is done by the semiconductor company during the last fabrication process of the unit.</a:t>
            </a:r>
          </a:p>
          <a:p>
            <a:pPr algn="just"/>
            <a:r>
              <a:rPr lang="en-US" sz="3000" dirty="0"/>
              <a:t>The procedure for fabricating a ROM requires that the customer fill out the truth table he or she wishes the ROM to satisfy.</a:t>
            </a:r>
          </a:p>
        </p:txBody>
      </p:sp>
    </p:spTree>
    <p:extLst>
      <p:ext uri="{BB962C8B-B14F-4D97-AF65-F5344CB8AC3E}">
        <p14:creationId xmlns:p14="http://schemas.microsoft.com/office/powerpoint/2010/main" val="425548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Autofit/>
          </a:bodyPr>
          <a:lstStyle/>
          <a:p>
            <a:pPr algn="just"/>
            <a:r>
              <a:rPr lang="en-US" sz="3000" dirty="0"/>
              <a:t>The truth table may be submitted in a special form provided by the manufacturer or in a specified format on a computer output medium.</a:t>
            </a:r>
          </a:p>
          <a:p>
            <a:pPr algn="just"/>
            <a:r>
              <a:rPr lang="en-US" sz="3000" dirty="0"/>
              <a:t>The manufacturer makes the corresponding mask for the paths to produce the 1’s and 0’s according to the customer’s truth table.</a:t>
            </a:r>
          </a:p>
          <a:p>
            <a:pPr algn="just"/>
            <a:r>
              <a:rPr lang="en-US" sz="3000" dirty="0"/>
              <a:t>This procedure is costly because the vendor charges the customer a special fee for custom masking the particular ROM.</a:t>
            </a:r>
          </a:p>
          <a:p>
            <a:pPr algn="just"/>
            <a:r>
              <a:rPr lang="en-US" sz="3000" dirty="0"/>
              <a:t>For this reason, mask programming is economical only if a large quantity of the same ROM configuration is to be </a:t>
            </a:r>
            <a:r>
              <a:rPr lang="en-IN" sz="3000" dirty="0"/>
              <a:t>ordered.</a:t>
            </a:r>
          </a:p>
        </p:txBody>
      </p:sp>
    </p:spTree>
    <p:extLst>
      <p:ext uri="{BB962C8B-B14F-4D97-AF65-F5344CB8AC3E}">
        <p14:creationId xmlns:p14="http://schemas.microsoft.com/office/powerpoint/2010/main" val="74897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rmAutofit lnSpcReduction="10000"/>
          </a:bodyPr>
          <a:lstStyle/>
          <a:p>
            <a:pPr algn="just"/>
            <a:r>
              <a:rPr lang="en-US" sz="3000" dirty="0"/>
              <a:t>For small quantities, it is more economical to use a second type of ROM called </a:t>
            </a:r>
            <a:r>
              <a:rPr lang="en-US" sz="3000" i="1" dirty="0">
                <a:solidFill>
                  <a:srgbClr val="C00000"/>
                </a:solidFill>
              </a:rPr>
              <a:t>programmable read‐only memory</a:t>
            </a:r>
            <a:r>
              <a:rPr lang="en-US" sz="3000" i="1" dirty="0"/>
              <a:t>, </a:t>
            </a:r>
            <a:r>
              <a:rPr lang="en-US" sz="3000" dirty="0"/>
              <a:t>or PROM.</a:t>
            </a:r>
          </a:p>
          <a:p>
            <a:pPr algn="just"/>
            <a:r>
              <a:rPr lang="en-US" sz="3000" dirty="0"/>
              <a:t>When ordered, PROM units contain all the fuses intact, giving all 1’s in the bits of the stored words.</a:t>
            </a:r>
          </a:p>
          <a:p>
            <a:pPr algn="just"/>
            <a:r>
              <a:rPr lang="en-US" sz="3000" dirty="0"/>
              <a:t>The fuses in the PROM are blown by the application of a high‐voltage pulse to the device through a special pin.</a:t>
            </a:r>
          </a:p>
          <a:p>
            <a:pPr algn="just"/>
            <a:r>
              <a:rPr lang="en-US" sz="3000" dirty="0"/>
              <a:t>A blown fuse defines a binary 0 state and an intact fuse gives a binary 1 state.</a:t>
            </a:r>
          </a:p>
        </p:txBody>
      </p:sp>
    </p:spTree>
    <p:extLst>
      <p:ext uri="{BB962C8B-B14F-4D97-AF65-F5344CB8AC3E}">
        <p14:creationId xmlns:p14="http://schemas.microsoft.com/office/powerpoint/2010/main" val="350754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8229600" cy="4857403"/>
          </a:xfrm>
        </p:spPr>
        <p:txBody>
          <a:bodyPr>
            <a:noAutofit/>
          </a:bodyPr>
          <a:lstStyle/>
          <a:p>
            <a:pPr algn="just"/>
            <a:r>
              <a:rPr lang="en-US" sz="3000" dirty="0"/>
              <a:t>This procedure allows the user to program the PROM in the laboratory to achieve the desired relationship between input addresses and stored words.</a:t>
            </a:r>
          </a:p>
          <a:p>
            <a:pPr algn="just"/>
            <a:r>
              <a:rPr lang="en-US" sz="3000" dirty="0"/>
              <a:t>Special instruments called PROM programmers are available commercially to facilitate the procedure.</a:t>
            </a:r>
          </a:p>
          <a:p>
            <a:pPr algn="just"/>
            <a:r>
              <a:rPr lang="en-US" sz="3000" dirty="0"/>
              <a:t>In any case, all procedures for programming ROMs are hardware procedures, even though the word </a:t>
            </a:r>
            <a:r>
              <a:rPr lang="en-IN" sz="3000" i="1" dirty="0"/>
              <a:t>programming </a:t>
            </a:r>
            <a:r>
              <a:rPr lang="en-IN" sz="3000" dirty="0"/>
              <a:t>is used.</a:t>
            </a:r>
          </a:p>
        </p:txBody>
      </p:sp>
    </p:spTree>
    <p:extLst>
      <p:ext uri="{BB962C8B-B14F-4D97-AF65-F5344CB8AC3E}">
        <p14:creationId xmlns:p14="http://schemas.microsoft.com/office/powerpoint/2010/main" val="152326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Autofit/>
          </a:bodyPr>
          <a:lstStyle/>
          <a:p>
            <a:pPr algn="just"/>
            <a:r>
              <a:rPr lang="en-US" sz="3000" dirty="0"/>
              <a:t>The hardware procedure for programming ROMs or PROMs is irreversible, and once programmed, the fixed pattern is permanent and cannot be altered.</a:t>
            </a:r>
          </a:p>
          <a:p>
            <a:pPr algn="just"/>
            <a:r>
              <a:rPr lang="en-US" sz="3000" dirty="0"/>
              <a:t>Once a bit pattern has been established, the unit must be discarded if the bit pattern is to be changed.</a:t>
            </a:r>
          </a:p>
          <a:p>
            <a:pPr algn="just"/>
            <a:r>
              <a:rPr lang="en-US" sz="3000" dirty="0"/>
              <a:t>A third type of ROM is the </a:t>
            </a:r>
            <a:r>
              <a:rPr lang="en-US" sz="3000" i="1" dirty="0">
                <a:solidFill>
                  <a:srgbClr val="C00000"/>
                </a:solidFill>
              </a:rPr>
              <a:t>erasable PROM</a:t>
            </a:r>
            <a:r>
              <a:rPr lang="en-US" sz="3000" i="1" dirty="0"/>
              <a:t>, </a:t>
            </a:r>
            <a:r>
              <a:rPr lang="en-US" sz="3000" dirty="0"/>
              <a:t>or EPROM, which can be restructured to the initial state even though it has bee programmed previously. </a:t>
            </a:r>
            <a:endParaRPr lang="en-IN" sz="3000" dirty="0"/>
          </a:p>
        </p:txBody>
      </p:sp>
    </p:spTree>
    <p:extLst>
      <p:ext uri="{BB962C8B-B14F-4D97-AF65-F5344CB8AC3E}">
        <p14:creationId xmlns:p14="http://schemas.microsoft.com/office/powerpoint/2010/main" val="63415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3000" dirty="0"/>
              <a:t>When the EPROM is placed under a special ultraviolet light for a given length of time, the shortwave radiation discharges the internal floating gates that serve as the programmed connections.</a:t>
            </a:r>
          </a:p>
          <a:p>
            <a:pPr algn="just"/>
            <a:r>
              <a:rPr lang="en-US" sz="3000" dirty="0"/>
              <a:t>After erasure, the EPROM returns to its initial state and can be reprogrammed to a new set </a:t>
            </a:r>
            <a:r>
              <a:rPr lang="en-IN" sz="3000" dirty="0"/>
              <a:t>of values.</a:t>
            </a:r>
          </a:p>
          <a:p>
            <a:endParaRPr lang="en-IN" dirty="0"/>
          </a:p>
        </p:txBody>
      </p:sp>
    </p:spTree>
    <p:extLst>
      <p:ext uri="{BB962C8B-B14F-4D97-AF65-F5344CB8AC3E}">
        <p14:creationId xmlns:p14="http://schemas.microsoft.com/office/powerpoint/2010/main" val="260157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fourth type of ROM is the </a:t>
            </a:r>
            <a:r>
              <a:rPr lang="en-US" sz="3000" i="1" dirty="0">
                <a:solidFill>
                  <a:srgbClr val="C00000"/>
                </a:solidFill>
              </a:rPr>
              <a:t>electrically erasable PROM</a:t>
            </a:r>
            <a:r>
              <a:rPr lang="en-US" sz="3000" dirty="0"/>
              <a:t> (EEPROM or E</a:t>
            </a:r>
            <a:r>
              <a:rPr lang="en-US" sz="3000" baseline="30000" dirty="0"/>
              <a:t>2</a:t>
            </a:r>
            <a:r>
              <a:rPr lang="en-US" sz="3000" dirty="0"/>
              <a:t>PROM ).</a:t>
            </a:r>
          </a:p>
          <a:p>
            <a:pPr algn="just"/>
            <a:r>
              <a:rPr lang="en-US" sz="3000" dirty="0"/>
              <a:t>This device is like the EPROM, except that the previously programmed connections can be erased with an electrical signal instead of ultraviolet light.</a:t>
            </a:r>
          </a:p>
          <a:p>
            <a:pPr algn="just"/>
            <a:r>
              <a:rPr lang="en-US" sz="3000" dirty="0"/>
              <a:t>The advantage is that the device can be erased without removing it from its socket.</a:t>
            </a:r>
            <a:endParaRPr lang="en-IN" sz="3000" dirty="0"/>
          </a:p>
        </p:txBody>
      </p:sp>
    </p:spTree>
    <p:extLst>
      <p:ext uri="{BB962C8B-B14F-4D97-AF65-F5344CB8AC3E}">
        <p14:creationId xmlns:p14="http://schemas.microsoft.com/office/powerpoint/2010/main" val="355170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p:spPr>
        <p:txBody>
          <a:bodyPr>
            <a:noAutofit/>
          </a:bodyPr>
          <a:lstStyle/>
          <a:p>
            <a:pPr algn="just"/>
            <a:r>
              <a:rPr lang="en-US" sz="3000" dirty="0"/>
              <a:t>Flash memory devices are similar to EEPROMs, but have additional built‐in circuitry to selectively program and erase the device in‐circuit, without the need for a special programmer.</a:t>
            </a:r>
          </a:p>
          <a:p>
            <a:pPr algn="just"/>
            <a:r>
              <a:rPr lang="en-US" sz="3000" dirty="0"/>
              <a:t>They have widespread application in modern technology in cell phones, </a:t>
            </a:r>
            <a:r>
              <a:rPr lang="en-IN" sz="3000" dirty="0"/>
              <a:t>digital cameras, set‐top boxes, digital TV, telecommunications, non-volatile data storage, and microcontrollers.</a:t>
            </a:r>
          </a:p>
          <a:p>
            <a:pPr algn="just"/>
            <a:r>
              <a:rPr lang="en-US" sz="2800" dirty="0"/>
              <a:t>Their low consumption of power makes them an attractive storage medium for laptop and notebook computers.</a:t>
            </a:r>
            <a:endParaRPr lang="en-IN" sz="3000" dirty="0"/>
          </a:p>
        </p:txBody>
      </p:sp>
    </p:spTree>
    <p:extLst>
      <p:ext uri="{BB962C8B-B14F-4D97-AF65-F5344CB8AC3E}">
        <p14:creationId xmlns:p14="http://schemas.microsoft.com/office/powerpoint/2010/main" val="163907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Combinational PLDs</a:t>
            </a:r>
          </a:p>
        </p:txBody>
      </p:sp>
      <p:sp>
        <p:nvSpPr>
          <p:cNvPr id="3" name="Content Placeholder 2"/>
          <p:cNvSpPr>
            <a:spLocks noGrp="1"/>
          </p:cNvSpPr>
          <p:nvPr>
            <p:ph idx="1"/>
          </p:nvPr>
        </p:nvSpPr>
        <p:spPr/>
        <p:txBody>
          <a:bodyPr>
            <a:noAutofit/>
          </a:bodyPr>
          <a:lstStyle/>
          <a:p>
            <a:pPr algn="just"/>
            <a:r>
              <a:rPr lang="en-US" sz="3000" dirty="0"/>
              <a:t>The PROM is a combinational programmable logic device (PLD) - an integrated circuit with programmable gates divided into an AND array and an OR array to provide an AND-OR sum‐of‐product implementation. </a:t>
            </a:r>
          </a:p>
          <a:p>
            <a:pPr algn="just"/>
            <a:r>
              <a:rPr lang="en-US" sz="3000" dirty="0"/>
              <a:t>There are three major types of combinational PLDs, differing in the placement of the programmable connections in the AND-OR array.</a:t>
            </a:r>
          </a:p>
          <a:p>
            <a:pPr algn="just"/>
            <a:r>
              <a:rPr lang="en-US" sz="3000" dirty="0"/>
              <a:t>Figure shows the configuration of the three PLDs.</a:t>
            </a:r>
          </a:p>
        </p:txBody>
      </p:sp>
    </p:spTree>
    <p:extLst>
      <p:ext uri="{BB962C8B-B14F-4D97-AF65-F5344CB8AC3E}">
        <p14:creationId xmlns:p14="http://schemas.microsoft.com/office/powerpoint/2010/main" val="358181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50" y="804863"/>
            <a:ext cx="79629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11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a:t>
            </a:r>
            <a:r>
              <a:rPr lang="en-US" sz="3000" dirty="0">
                <a:solidFill>
                  <a:srgbClr val="C00000"/>
                </a:solidFill>
              </a:rPr>
              <a:t>PROM</a:t>
            </a:r>
            <a:r>
              <a:rPr lang="en-US" sz="3000" dirty="0"/>
              <a:t> has a fixed AND array constructed as a decoder and a programmable OR array. The programmable OR gates implement the Boolean functions in sum‐of‐</a:t>
            </a:r>
            <a:r>
              <a:rPr lang="en-US" sz="3000" dirty="0" err="1"/>
              <a:t>minterms</a:t>
            </a:r>
            <a:r>
              <a:rPr lang="en-US" sz="3000" dirty="0"/>
              <a:t> form.</a:t>
            </a:r>
          </a:p>
          <a:p>
            <a:pPr algn="just"/>
            <a:r>
              <a:rPr lang="en-US" sz="3000" dirty="0"/>
              <a:t>The </a:t>
            </a:r>
            <a:r>
              <a:rPr lang="en-US" sz="3000" dirty="0">
                <a:solidFill>
                  <a:srgbClr val="C00000"/>
                </a:solidFill>
              </a:rPr>
              <a:t>PAL</a:t>
            </a:r>
            <a:r>
              <a:rPr lang="en-US" sz="3000" dirty="0"/>
              <a:t> has a programmable AND array and a fixed OR array. The AND gates are programmed to provide the product terms for the Boolean functions, which are logically summed in each OR gate.</a:t>
            </a:r>
          </a:p>
        </p:txBody>
      </p:sp>
    </p:spTree>
    <p:extLst>
      <p:ext uri="{BB962C8B-B14F-4D97-AF65-F5344CB8AC3E}">
        <p14:creationId xmlns:p14="http://schemas.microsoft.com/office/powerpoint/2010/main" val="213849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3000" dirty="0"/>
              <a:t>The most flexible PLD is the </a:t>
            </a:r>
            <a:r>
              <a:rPr lang="en-US" sz="3000" dirty="0">
                <a:solidFill>
                  <a:srgbClr val="C00000"/>
                </a:solidFill>
              </a:rPr>
              <a:t>PLA</a:t>
            </a:r>
            <a:r>
              <a:rPr lang="en-US" sz="3000" dirty="0"/>
              <a:t>, in which both the AND </a:t>
            </a:r>
            <a:r>
              <a:rPr lang="en-US" sz="3000" dirty="0" err="1"/>
              <a:t>and</a:t>
            </a:r>
            <a:r>
              <a:rPr lang="en-US" sz="3000" dirty="0"/>
              <a:t> OR arrays can be programmed. The product terms in the AND array may be shared by any OR gate to provide the required sum‐of‐products implementation.</a:t>
            </a:r>
          </a:p>
          <a:p>
            <a:pPr algn="just"/>
            <a:r>
              <a:rPr lang="en-US" sz="3000" dirty="0"/>
              <a:t>The names PAL and PLA emerged from different vendors during the development of PLDs.</a:t>
            </a:r>
            <a:endParaRPr lang="en-IN" sz="3000" dirty="0"/>
          </a:p>
        </p:txBody>
      </p:sp>
    </p:spTree>
    <p:extLst>
      <p:ext uri="{BB962C8B-B14F-4D97-AF65-F5344CB8AC3E}">
        <p14:creationId xmlns:p14="http://schemas.microsoft.com/office/powerpoint/2010/main" val="5736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Programmable Logic Array</a:t>
            </a:r>
          </a:p>
        </p:txBody>
      </p:sp>
      <p:sp>
        <p:nvSpPr>
          <p:cNvPr id="3" name="Content Placeholder 2"/>
          <p:cNvSpPr>
            <a:spLocks noGrp="1"/>
          </p:cNvSpPr>
          <p:nvPr>
            <p:ph idx="1"/>
          </p:nvPr>
        </p:nvSpPr>
        <p:spPr/>
        <p:txBody>
          <a:bodyPr>
            <a:noAutofit/>
          </a:bodyPr>
          <a:lstStyle/>
          <a:p>
            <a:pPr algn="just"/>
            <a:r>
              <a:rPr lang="en-US" sz="3000" dirty="0"/>
              <a:t>The PLA is similar in concept to the PROM, except that the PLA does not provide full decoding of the variables and does not generate all the </a:t>
            </a:r>
            <a:r>
              <a:rPr lang="en-US" sz="3000" dirty="0" err="1"/>
              <a:t>minterms</a:t>
            </a:r>
            <a:r>
              <a:rPr lang="en-US" sz="3000" dirty="0"/>
              <a:t>.</a:t>
            </a:r>
          </a:p>
          <a:p>
            <a:pPr algn="just"/>
            <a:r>
              <a:rPr lang="en-US" sz="3000" dirty="0"/>
              <a:t>The decoder is replaced by an array of AND gates that can be programmed to generate any product term of the input variables.</a:t>
            </a:r>
          </a:p>
          <a:p>
            <a:pPr algn="just"/>
            <a:r>
              <a:rPr lang="en-US" sz="3000" dirty="0"/>
              <a:t>The product terms are then connected to OR gates to provide the sum of products for the required Boolean functions.</a:t>
            </a:r>
            <a:endParaRPr lang="en-IN" sz="3000" dirty="0"/>
          </a:p>
        </p:txBody>
      </p:sp>
    </p:spTree>
    <p:extLst>
      <p:ext uri="{BB962C8B-B14F-4D97-AF65-F5344CB8AC3E}">
        <p14:creationId xmlns:p14="http://schemas.microsoft.com/office/powerpoint/2010/main" val="308773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output of the OR gate goes to an XOR gate, where the other input can be programmed to receive a signal equal to either logic 1 or logic 0.</a:t>
            </a:r>
          </a:p>
          <a:p>
            <a:pPr algn="just"/>
            <a:r>
              <a:rPr lang="en-US" sz="3000" dirty="0"/>
              <a:t>The output is inverted when the XOR input is connected to 1 (since </a:t>
            </a:r>
            <a:r>
              <a:rPr lang="en-US" sz="3000" i="1" dirty="0"/>
              <a:t>x </a:t>
            </a:r>
            <a:r>
              <a:rPr lang="en-US" sz="3000" dirty="0"/>
              <a:t>Ꚛ 1 = </a:t>
            </a:r>
            <a:r>
              <a:rPr lang="en-US" sz="3000" i="1" dirty="0"/>
              <a:t>x</a:t>
            </a:r>
            <a:r>
              <a:rPr lang="en-US" sz="3000" dirty="0"/>
              <a:t>).</a:t>
            </a:r>
          </a:p>
          <a:p>
            <a:pPr algn="just"/>
            <a:r>
              <a:rPr lang="en-US" sz="3000" dirty="0"/>
              <a:t>The output does not change when the XOR input is connected to 0 (since </a:t>
            </a:r>
            <a:r>
              <a:rPr lang="en-IN" sz="3000" i="1" dirty="0"/>
              <a:t>x </a:t>
            </a:r>
            <a:r>
              <a:rPr lang="en-IN" sz="3000" dirty="0"/>
              <a:t>Ꚛ 0 = </a:t>
            </a:r>
            <a:r>
              <a:rPr lang="en-IN" sz="3000" i="1" dirty="0"/>
              <a:t>x</a:t>
            </a:r>
            <a:r>
              <a:rPr lang="en-IN" sz="3000" dirty="0"/>
              <a:t>).</a:t>
            </a:r>
          </a:p>
        </p:txBody>
      </p:sp>
    </p:spTree>
    <p:extLst>
      <p:ext uri="{BB962C8B-B14F-4D97-AF65-F5344CB8AC3E}">
        <p14:creationId xmlns:p14="http://schemas.microsoft.com/office/powerpoint/2010/main" val="278703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002060"/>
                </a:solidFill>
              </a:rPr>
              <a:t>Example</a:t>
            </a:r>
          </a:p>
        </p:txBody>
      </p:sp>
      <p:sp>
        <p:nvSpPr>
          <p:cNvPr id="3" name="Content Placeholder 2"/>
          <p:cNvSpPr>
            <a:spLocks noGrp="1"/>
          </p:cNvSpPr>
          <p:nvPr>
            <p:ph idx="1"/>
          </p:nvPr>
        </p:nvSpPr>
        <p:spPr/>
        <p:txBody>
          <a:bodyPr>
            <a:normAutofit/>
          </a:bodyPr>
          <a:lstStyle/>
          <a:p>
            <a:pPr algn="just"/>
            <a:r>
              <a:rPr lang="en-US" sz="3000" dirty="0"/>
              <a:t>Implement the following two Boolean functions with a PLA:</a:t>
            </a:r>
          </a:p>
          <a:p>
            <a:pPr marL="0" indent="0" algn="just">
              <a:buNone/>
            </a:pPr>
            <a:r>
              <a:rPr lang="en-IN" sz="3000" i="1" dirty="0"/>
              <a:t>	</a:t>
            </a:r>
            <a:r>
              <a:rPr lang="en-IN" sz="2800" i="1" dirty="0"/>
              <a:t>F</a:t>
            </a:r>
            <a:r>
              <a:rPr lang="en-IN" sz="2800" baseline="-25000" dirty="0"/>
              <a:t>1</a:t>
            </a:r>
            <a:r>
              <a:rPr lang="en-IN" sz="2800" dirty="0"/>
              <a:t> = </a:t>
            </a:r>
            <a:r>
              <a:rPr lang="en-IN" sz="2800" i="1" dirty="0"/>
              <a:t>AB’</a:t>
            </a:r>
            <a:r>
              <a:rPr lang="en-IN" sz="2800" dirty="0"/>
              <a:t> + </a:t>
            </a:r>
            <a:r>
              <a:rPr lang="en-IN" sz="2800" i="1" dirty="0"/>
              <a:t>AC </a:t>
            </a:r>
            <a:r>
              <a:rPr lang="en-IN" sz="2800" dirty="0"/>
              <a:t>+ </a:t>
            </a:r>
            <a:r>
              <a:rPr lang="en-IN" sz="2800" i="1" dirty="0"/>
              <a:t>A’BC’</a:t>
            </a:r>
            <a:endParaRPr lang="en-IN" sz="2800" dirty="0"/>
          </a:p>
          <a:p>
            <a:pPr marL="0" indent="0">
              <a:buNone/>
            </a:pPr>
            <a:r>
              <a:rPr lang="en-IN" sz="2800" i="1" dirty="0"/>
              <a:t>	F</a:t>
            </a:r>
            <a:r>
              <a:rPr lang="en-IN" sz="2800" baseline="-25000" dirty="0"/>
              <a:t>2</a:t>
            </a:r>
            <a:r>
              <a:rPr lang="en-IN" sz="2800" dirty="0"/>
              <a:t> = (</a:t>
            </a:r>
            <a:r>
              <a:rPr lang="en-IN" sz="2800" i="1" dirty="0"/>
              <a:t>AC </a:t>
            </a:r>
            <a:r>
              <a:rPr lang="en-IN" sz="2800" dirty="0"/>
              <a:t>+ </a:t>
            </a:r>
            <a:r>
              <a:rPr lang="en-IN" sz="2800" i="1" dirty="0"/>
              <a:t>BC</a:t>
            </a:r>
            <a:r>
              <a:rPr lang="en-IN" sz="2800" dirty="0"/>
              <a:t>)’</a:t>
            </a:r>
          </a:p>
          <a:p>
            <a:pPr marL="0" indent="0">
              <a:buNone/>
            </a:pPr>
            <a:endParaRPr lang="en-IN" sz="3000" dirty="0"/>
          </a:p>
        </p:txBody>
      </p:sp>
    </p:spTree>
    <p:extLst>
      <p:ext uri="{BB962C8B-B14F-4D97-AF65-F5344CB8AC3E}">
        <p14:creationId xmlns:p14="http://schemas.microsoft.com/office/powerpoint/2010/main" val="217022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25" y="476250"/>
            <a:ext cx="6915150"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227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barn(inVertical)">
                                      <p:cBhvr>
                                        <p:cTn id="7"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2128838"/>
            <a:ext cx="6057900"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590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002060"/>
                </a:solidFill>
              </a:rPr>
              <a:t>Example</a:t>
            </a:r>
          </a:p>
        </p:txBody>
      </p:sp>
      <p:sp>
        <p:nvSpPr>
          <p:cNvPr id="3" name="Content Placeholder 2"/>
          <p:cNvSpPr>
            <a:spLocks noGrp="1"/>
          </p:cNvSpPr>
          <p:nvPr>
            <p:ph idx="1"/>
          </p:nvPr>
        </p:nvSpPr>
        <p:spPr/>
        <p:txBody>
          <a:bodyPr>
            <a:normAutofit/>
          </a:bodyPr>
          <a:lstStyle/>
          <a:p>
            <a:pPr algn="just"/>
            <a:r>
              <a:rPr lang="en-US" sz="3000" dirty="0"/>
              <a:t>Implement the following two Boolean functions with a PLA:</a:t>
            </a:r>
          </a:p>
          <a:p>
            <a:pPr marL="0" indent="0" algn="just">
              <a:buNone/>
            </a:pPr>
            <a:r>
              <a:rPr lang="en-IN" sz="3000" i="1" dirty="0"/>
              <a:t>	F</a:t>
            </a:r>
            <a:r>
              <a:rPr lang="en-IN" sz="3000" baseline="-25000" dirty="0"/>
              <a:t>1</a:t>
            </a:r>
            <a:r>
              <a:rPr lang="en-IN" sz="3000" dirty="0"/>
              <a:t>(</a:t>
            </a:r>
            <a:r>
              <a:rPr lang="en-IN" sz="3000" i="1" dirty="0"/>
              <a:t>A</a:t>
            </a:r>
            <a:r>
              <a:rPr lang="en-IN" sz="3000" dirty="0"/>
              <a:t>, </a:t>
            </a:r>
            <a:r>
              <a:rPr lang="en-IN" sz="3000" i="1" dirty="0"/>
              <a:t>B</a:t>
            </a:r>
            <a:r>
              <a:rPr lang="en-IN" sz="3000" dirty="0"/>
              <a:t>, </a:t>
            </a:r>
            <a:r>
              <a:rPr lang="en-IN" sz="3000" i="1" dirty="0"/>
              <a:t>C</a:t>
            </a:r>
            <a:r>
              <a:rPr lang="en-IN" sz="3000" dirty="0"/>
              <a:t>) = ∑(0, 1, 2, 4)</a:t>
            </a:r>
          </a:p>
          <a:p>
            <a:pPr marL="0" indent="0" algn="just">
              <a:buNone/>
            </a:pPr>
            <a:r>
              <a:rPr lang="en-IN" sz="3000" i="1" dirty="0"/>
              <a:t>	F</a:t>
            </a:r>
            <a:r>
              <a:rPr lang="en-IN" sz="3000" baseline="-25000" dirty="0"/>
              <a:t>2</a:t>
            </a:r>
            <a:r>
              <a:rPr lang="en-IN" sz="3000" dirty="0"/>
              <a:t>(</a:t>
            </a:r>
            <a:r>
              <a:rPr lang="en-IN" sz="3000" i="1" dirty="0"/>
              <a:t>A</a:t>
            </a:r>
            <a:r>
              <a:rPr lang="en-IN" sz="3000" dirty="0"/>
              <a:t>, </a:t>
            </a:r>
            <a:r>
              <a:rPr lang="en-IN" sz="3000" i="1" dirty="0"/>
              <a:t>B</a:t>
            </a:r>
            <a:r>
              <a:rPr lang="en-IN" sz="3000" dirty="0"/>
              <a:t>, </a:t>
            </a:r>
            <a:r>
              <a:rPr lang="en-IN" sz="3000" i="1" dirty="0"/>
              <a:t>C</a:t>
            </a:r>
            <a:r>
              <a:rPr lang="en-IN" sz="3000" dirty="0"/>
              <a:t>) = ∑(0, 5, 6, 7)</a:t>
            </a:r>
          </a:p>
        </p:txBody>
      </p:sp>
    </p:spTree>
    <p:extLst>
      <p:ext uri="{BB962C8B-B14F-4D97-AF65-F5344CB8AC3E}">
        <p14:creationId xmlns:p14="http://schemas.microsoft.com/office/powerpoint/2010/main" val="206712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two functions are simplified by the maps. Both the true value and the complement of the functions are simplified into sum‐of‐products form.</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13" y="3544788"/>
            <a:ext cx="5819775"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18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IN" sz="3000" dirty="0"/>
              <a:t>The combination </a:t>
            </a:r>
            <a:r>
              <a:rPr lang="en-US" sz="3000" dirty="0"/>
              <a:t>that gives the minimum number of product terms is</a:t>
            </a:r>
          </a:p>
          <a:p>
            <a:pPr marL="0" indent="0" algn="just">
              <a:buNone/>
            </a:pPr>
            <a:r>
              <a:rPr lang="en-IN" sz="3000" i="1" dirty="0"/>
              <a:t>	F</a:t>
            </a:r>
            <a:r>
              <a:rPr lang="en-IN" sz="3000" baseline="-25000" dirty="0"/>
              <a:t>1</a:t>
            </a:r>
            <a:r>
              <a:rPr lang="en-IN" sz="3000" dirty="0"/>
              <a:t> = (</a:t>
            </a:r>
            <a:r>
              <a:rPr lang="en-IN" sz="3000" i="1" dirty="0"/>
              <a:t>AB </a:t>
            </a:r>
            <a:r>
              <a:rPr lang="en-IN" sz="3000" dirty="0"/>
              <a:t>+ </a:t>
            </a:r>
            <a:r>
              <a:rPr lang="en-IN" sz="3000" i="1" dirty="0"/>
              <a:t>AC </a:t>
            </a:r>
            <a:r>
              <a:rPr lang="en-IN" sz="3000" dirty="0"/>
              <a:t>+ </a:t>
            </a:r>
            <a:r>
              <a:rPr lang="en-IN" sz="3000" i="1" dirty="0"/>
              <a:t>BC</a:t>
            </a:r>
            <a:r>
              <a:rPr lang="en-IN" sz="3000" dirty="0"/>
              <a:t>)’</a:t>
            </a:r>
          </a:p>
          <a:p>
            <a:pPr marL="361950" indent="0" algn="just">
              <a:buNone/>
            </a:pPr>
            <a:r>
              <a:rPr lang="en-IN" sz="3000" dirty="0"/>
              <a:t>and</a:t>
            </a:r>
          </a:p>
          <a:p>
            <a:pPr marL="0" indent="0" algn="just">
              <a:buNone/>
            </a:pPr>
            <a:r>
              <a:rPr lang="en-IN" sz="3000" i="1" dirty="0"/>
              <a:t>	F</a:t>
            </a:r>
            <a:r>
              <a:rPr lang="en-IN" sz="3000" baseline="-25000" dirty="0"/>
              <a:t>2</a:t>
            </a:r>
            <a:r>
              <a:rPr lang="en-IN" sz="3000" dirty="0"/>
              <a:t> = </a:t>
            </a:r>
            <a:r>
              <a:rPr lang="en-IN" sz="3000" i="1" dirty="0"/>
              <a:t>AB </a:t>
            </a:r>
            <a:r>
              <a:rPr lang="en-IN" sz="3000" dirty="0"/>
              <a:t>+ </a:t>
            </a:r>
            <a:r>
              <a:rPr lang="en-IN" sz="3000" i="1" dirty="0"/>
              <a:t>AC </a:t>
            </a:r>
            <a:r>
              <a:rPr lang="en-IN" sz="3000" dirty="0"/>
              <a:t>+ </a:t>
            </a:r>
            <a:r>
              <a:rPr lang="en-IN" sz="3000" i="1" dirty="0"/>
              <a:t>A’B’C’</a:t>
            </a:r>
            <a:endParaRPr lang="en-IN" sz="3000"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329261"/>
            <a:ext cx="32004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688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4099"/>
                                        </p:tgtEl>
                                        <p:attrNameLst>
                                          <p:attrName>style.visibility</p:attrName>
                                        </p:attrNameLst>
                                      </p:cBhvr>
                                      <p:to>
                                        <p:strVal val="visible"/>
                                      </p:to>
                                    </p:set>
                                    <p:animEffect transition="in" filter="barn(inVertical)">
                                      <p:cBhvr>
                                        <p:cTn id="25"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Programmable Array Logic</a:t>
            </a:r>
          </a:p>
        </p:txBody>
      </p:sp>
      <p:sp>
        <p:nvSpPr>
          <p:cNvPr id="3" name="Content Placeholder 2"/>
          <p:cNvSpPr>
            <a:spLocks noGrp="1"/>
          </p:cNvSpPr>
          <p:nvPr>
            <p:ph idx="1"/>
          </p:nvPr>
        </p:nvSpPr>
        <p:spPr>
          <a:xfrm>
            <a:off x="457200" y="1340768"/>
            <a:ext cx="8229600" cy="4785395"/>
          </a:xfrm>
        </p:spPr>
        <p:txBody>
          <a:bodyPr>
            <a:noAutofit/>
          </a:bodyPr>
          <a:lstStyle/>
          <a:p>
            <a:pPr algn="just"/>
            <a:r>
              <a:rPr lang="en-US" sz="3000" dirty="0"/>
              <a:t>The PAL is a programmable logic device with a fixed OR array and a programmable AND array.</a:t>
            </a:r>
          </a:p>
          <a:p>
            <a:pPr algn="just"/>
            <a:r>
              <a:rPr lang="en-US" sz="3000" dirty="0"/>
              <a:t>Because only the AND gates are programmable, the PAL is easier to program than, but is not as flexible as, the PLA.</a:t>
            </a:r>
          </a:p>
          <a:p>
            <a:pPr algn="just"/>
            <a:r>
              <a:rPr lang="en-IN" sz="3000" dirty="0"/>
              <a:t>A typical </a:t>
            </a:r>
            <a:r>
              <a:rPr lang="en-US" sz="3000" dirty="0"/>
              <a:t>PAL integrated circuit may have eight inputs, eight outputs, and eight sections, each consisting of an eight‐wide AND-OR array. The output terminals are sometimes driven by </a:t>
            </a:r>
            <a:r>
              <a:rPr lang="en-IN" sz="3000" dirty="0"/>
              <a:t>three‐state buffers or inverters.</a:t>
            </a:r>
          </a:p>
        </p:txBody>
      </p:sp>
    </p:spTree>
    <p:extLst>
      <p:ext uri="{BB962C8B-B14F-4D97-AF65-F5344CB8AC3E}">
        <p14:creationId xmlns:p14="http://schemas.microsoft.com/office/powerpoint/2010/main" val="334553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002060"/>
                </a:solidFill>
              </a:rPr>
              <a:t>Example</a:t>
            </a:r>
            <a:endParaRPr lang="en-IN" dirty="0">
              <a:solidFill>
                <a:srgbClr val="002060"/>
              </a:solidFill>
            </a:endParaRPr>
          </a:p>
        </p:txBody>
      </p:sp>
      <p:sp>
        <p:nvSpPr>
          <p:cNvPr id="3" name="Content Placeholder 2"/>
          <p:cNvSpPr>
            <a:spLocks noGrp="1"/>
          </p:cNvSpPr>
          <p:nvPr>
            <p:ph idx="1"/>
          </p:nvPr>
        </p:nvSpPr>
        <p:spPr/>
        <p:txBody>
          <a:bodyPr>
            <a:normAutofit/>
          </a:bodyPr>
          <a:lstStyle/>
          <a:p>
            <a:pPr algn="just"/>
            <a:r>
              <a:rPr lang="en-US" sz="3000" dirty="0"/>
              <a:t>As an example of using a PAL in the design of a combinational circuit, consider the following Boolean functions, given in sum‐of‐</a:t>
            </a:r>
            <a:r>
              <a:rPr lang="en-US" sz="3000" dirty="0" err="1"/>
              <a:t>minterms</a:t>
            </a:r>
            <a:r>
              <a:rPr lang="en-US" sz="3000" dirty="0"/>
              <a:t> form:</a:t>
            </a:r>
          </a:p>
          <a:p>
            <a:pPr marL="0" indent="0" algn="just">
              <a:buNone/>
            </a:pPr>
            <a:r>
              <a:rPr lang="en-US" sz="3000" i="1" dirty="0"/>
              <a:t>	</a:t>
            </a:r>
            <a:r>
              <a:rPr lang="pl-PL" sz="3000" i="1" dirty="0"/>
              <a:t>w</a:t>
            </a:r>
            <a:r>
              <a:rPr lang="pl-PL" sz="3000" dirty="0"/>
              <a:t>(</a:t>
            </a:r>
            <a:r>
              <a:rPr lang="pl-PL" sz="3000" i="1" dirty="0"/>
              <a:t>A</a:t>
            </a:r>
            <a:r>
              <a:rPr lang="pl-PL" sz="3000" dirty="0"/>
              <a:t>, </a:t>
            </a:r>
            <a:r>
              <a:rPr lang="pl-PL" sz="3000" i="1" dirty="0"/>
              <a:t>B</a:t>
            </a:r>
            <a:r>
              <a:rPr lang="pl-PL" sz="3000" dirty="0"/>
              <a:t>, </a:t>
            </a:r>
            <a:r>
              <a:rPr lang="pl-PL" sz="3000" i="1" dirty="0"/>
              <a:t>C</a:t>
            </a:r>
            <a:r>
              <a:rPr lang="pl-PL" sz="3000" dirty="0"/>
              <a:t>, </a:t>
            </a:r>
            <a:r>
              <a:rPr lang="pl-PL" sz="3000" i="1" dirty="0"/>
              <a:t>D</a:t>
            </a:r>
            <a:r>
              <a:rPr lang="pl-PL" sz="3000" dirty="0"/>
              <a:t>) = ∑(2, 12, 13)</a:t>
            </a:r>
          </a:p>
          <a:p>
            <a:pPr marL="0" indent="0" algn="just">
              <a:buNone/>
            </a:pPr>
            <a:r>
              <a:rPr lang="en-IN" sz="3000" i="1" dirty="0"/>
              <a:t>	x</a:t>
            </a:r>
            <a:r>
              <a:rPr lang="en-IN" sz="3000" dirty="0"/>
              <a:t>(</a:t>
            </a:r>
            <a:r>
              <a:rPr lang="en-IN" sz="3000" i="1" dirty="0"/>
              <a:t>A</a:t>
            </a:r>
            <a:r>
              <a:rPr lang="en-IN" sz="3000" dirty="0"/>
              <a:t>, </a:t>
            </a:r>
            <a:r>
              <a:rPr lang="en-IN" sz="3000" i="1" dirty="0"/>
              <a:t>B</a:t>
            </a:r>
            <a:r>
              <a:rPr lang="en-IN" sz="3000" dirty="0"/>
              <a:t>, </a:t>
            </a:r>
            <a:r>
              <a:rPr lang="en-IN" sz="3000" i="1" dirty="0"/>
              <a:t>C</a:t>
            </a:r>
            <a:r>
              <a:rPr lang="en-IN" sz="3000" dirty="0"/>
              <a:t>, </a:t>
            </a:r>
            <a:r>
              <a:rPr lang="en-IN" sz="3000" i="1" dirty="0"/>
              <a:t>D</a:t>
            </a:r>
            <a:r>
              <a:rPr lang="en-IN" sz="3000" dirty="0"/>
              <a:t>) = ∑(7, 8, 9, 10, 11, 12, 13, 14, 15)</a:t>
            </a:r>
          </a:p>
          <a:p>
            <a:pPr marL="0" indent="0" algn="just">
              <a:buNone/>
            </a:pPr>
            <a:r>
              <a:rPr lang="es-ES" sz="3000" i="1" dirty="0"/>
              <a:t>	y</a:t>
            </a:r>
            <a:r>
              <a:rPr lang="es-ES" sz="3000" dirty="0"/>
              <a:t>(</a:t>
            </a:r>
            <a:r>
              <a:rPr lang="es-ES" sz="3000" i="1" dirty="0"/>
              <a:t>A</a:t>
            </a:r>
            <a:r>
              <a:rPr lang="es-ES" sz="3000" dirty="0"/>
              <a:t>, </a:t>
            </a:r>
            <a:r>
              <a:rPr lang="es-ES" sz="3000" i="1" dirty="0"/>
              <a:t>B</a:t>
            </a:r>
            <a:r>
              <a:rPr lang="es-ES" sz="3000" dirty="0"/>
              <a:t>, </a:t>
            </a:r>
            <a:r>
              <a:rPr lang="es-ES" sz="3000" i="1" dirty="0"/>
              <a:t>C</a:t>
            </a:r>
            <a:r>
              <a:rPr lang="es-ES" sz="3000" dirty="0"/>
              <a:t>, </a:t>
            </a:r>
            <a:r>
              <a:rPr lang="es-ES" sz="3000" i="1" dirty="0"/>
              <a:t>D</a:t>
            </a:r>
            <a:r>
              <a:rPr lang="es-ES" sz="3000" dirty="0"/>
              <a:t>) = ∑(0, 2, 3, 4, 5, 6, 7, 8, 10, 11, 15)</a:t>
            </a:r>
          </a:p>
          <a:p>
            <a:pPr marL="0" indent="0" algn="just">
              <a:buNone/>
            </a:pPr>
            <a:r>
              <a:rPr lang="en-US" sz="3000" i="1" dirty="0"/>
              <a:t>	</a:t>
            </a:r>
            <a:r>
              <a:rPr lang="pl-PL" sz="3000" i="1" dirty="0"/>
              <a:t>z</a:t>
            </a:r>
            <a:r>
              <a:rPr lang="pl-PL" sz="3000" dirty="0"/>
              <a:t>(</a:t>
            </a:r>
            <a:r>
              <a:rPr lang="pl-PL" sz="3000" i="1" dirty="0"/>
              <a:t>A</a:t>
            </a:r>
            <a:r>
              <a:rPr lang="pl-PL" sz="3000" dirty="0"/>
              <a:t>, </a:t>
            </a:r>
            <a:r>
              <a:rPr lang="pl-PL" sz="3000" i="1" dirty="0"/>
              <a:t>B</a:t>
            </a:r>
            <a:r>
              <a:rPr lang="pl-PL" sz="3000" dirty="0"/>
              <a:t>, </a:t>
            </a:r>
            <a:r>
              <a:rPr lang="pl-PL" sz="3000" i="1" dirty="0"/>
              <a:t>C</a:t>
            </a:r>
            <a:r>
              <a:rPr lang="pl-PL" sz="3000" dirty="0"/>
              <a:t>, </a:t>
            </a:r>
            <a:r>
              <a:rPr lang="pl-PL" sz="3000" i="1" dirty="0"/>
              <a:t>D</a:t>
            </a:r>
            <a:r>
              <a:rPr lang="pl-PL" sz="3000" dirty="0"/>
              <a:t>) = ∑(1, 2, 8, 12, 13)</a:t>
            </a:r>
            <a:endParaRPr lang="en-IN" sz="3000" dirty="0"/>
          </a:p>
        </p:txBody>
      </p:sp>
    </p:spTree>
    <p:extLst>
      <p:ext uri="{BB962C8B-B14F-4D97-AF65-F5344CB8AC3E}">
        <p14:creationId xmlns:p14="http://schemas.microsoft.com/office/powerpoint/2010/main" val="366459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sz="3000" dirty="0"/>
              <a:t>Simplifying the four functions to a minimum number of terms results in the following </a:t>
            </a:r>
            <a:r>
              <a:rPr lang="en-IN" sz="3000" dirty="0"/>
              <a:t>Boolean functions:</a:t>
            </a:r>
          </a:p>
          <a:p>
            <a:pPr marL="0" indent="0" algn="just">
              <a:buNone/>
            </a:pPr>
            <a:r>
              <a:rPr lang="en-IN" sz="3000" i="1" dirty="0"/>
              <a:t>	w </a:t>
            </a:r>
            <a:r>
              <a:rPr lang="en-IN" sz="3000" dirty="0"/>
              <a:t>= </a:t>
            </a:r>
            <a:r>
              <a:rPr lang="en-IN" sz="3000" i="1" dirty="0"/>
              <a:t>ABC’</a:t>
            </a:r>
            <a:r>
              <a:rPr lang="en-IN" sz="3000" dirty="0"/>
              <a:t> + </a:t>
            </a:r>
            <a:r>
              <a:rPr lang="en-IN" sz="3000" i="1" dirty="0"/>
              <a:t>A’B’CD’</a:t>
            </a:r>
            <a:endParaRPr lang="en-IN" sz="3000" dirty="0"/>
          </a:p>
          <a:p>
            <a:pPr marL="0" indent="0" algn="just">
              <a:buNone/>
            </a:pPr>
            <a:r>
              <a:rPr lang="en-IN" sz="3000" i="1" dirty="0"/>
              <a:t>	x </a:t>
            </a:r>
            <a:r>
              <a:rPr lang="en-IN" sz="3000" dirty="0"/>
              <a:t>= </a:t>
            </a:r>
            <a:r>
              <a:rPr lang="en-IN" sz="3000" i="1" dirty="0"/>
              <a:t>A </a:t>
            </a:r>
            <a:r>
              <a:rPr lang="en-IN" sz="3000" dirty="0"/>
              <a:t>+ </a:t>
            </a:r>
            <a:r>
              <a:rPr lang="en-IN" sz="3000" i="1" dirty="0"/>
              <a:t>BCD</a:t>
            </a:r>
          </a:p>
          <a:p>
            <a:pPr marL="0" indent="0" algn="just">
              <a:buNone/>
            </a:pPr>
            <a:r>
              <a:rPr lang="en-IN" sz="3000" i="1" dirty="0"/>
              <a:t>	y </a:t>
            </a:r>
            <a:r>
              <a:rPr lang="en-IN" sz="3000" dirty="0"/>
              <a:t>= </a:t>
            </a:r>
            <a:r>
              <a:rPr lang="en-IN" sz="3000" i="1" dirty="0"/>
              <a:t>A’B </a:t>
            </a:r>
            <a:r>
              <a:rPr lang="en-IN" sz="3000" dirty="0"/>
              <a:t>+ </a:t>
            </a:r>
            <a:r>
              <a:rPr lang="en-IN" sz="3000" i="1" dirty="0"/>
              <a:t>CD </a:t>
            </a:r>
            <a:r>
              <a:rPr lang="en-IN" sz="3000" dirty="0"/>
              <a:t>+ </a:t>
            </a:r>
            <a:r>
              <a:rPr lang="en-IN" sz="3000" i="1" dirty="0"/>
              <a:t>B’D’</a:t>
            </a:r>
            <a:endParaRPr lang="en-IN" sz="3000" dirty="0"/>
          </a:p>
          <a:p>
            <a:pPr marL="0" indent="0" algn="just">
              <a:buNone/>
            </a:pPr>
            <a:r>
              <a:rPr lang="en-US" sz="3000" i="1" dirty="0"/>
              <a:t>	</a:t>
            </a:r>
            <a:r>
              <a:rPr lang="pl-PL" sz="3000" i="1" dirty="0"/>
              <a:t>z </a:t>
            </a:r>
            <a:r>
              <a:rPr lang="pl-PL" sz="3000" dirty="0"/>
              <a:t>= </a:t>
            </a:r>
            <a:r>
              <a:rPr lang="pl-PL" sz="3000" i="1" dirty="0"/>
              <a:t>ABC</a:t>
            </a:r>
            <a:r>
              <a:rPr lang="en-US" sz="3000" i="1" dirty="0"/>
              <a:t>’</a:t>
            </a:r>
            <a:r>
              <a:rPr lang="pl-PL" sz="3000" dirty="0"/>
              <a:t> + </a:t>
            </a:r>
            <a:r>
              <a:rPr lang="pl-PL" sz="3000" i="1" dirty="0"/>
              <a:t>A</a:t>
            </a:r>
            <a:r>
              <a:rPr lang="en-US" sz="3000" i="1" dirty="0"/>
              <a:t>’</a:t>
            </a:r>
            <a:r>
              <a:rPr lang="pl-PL" sz="3000" i="1" dirty="0"/>
              <a:t>B</a:t>
            </a:r>
            <a:r>
              <a:rPr lang="en-US" sz="3000" i="1" dirty="0"/>
              <a:t>’</a:t>
            </a:r>
            <a:r>
              <a:rPr lang="pl-PL" sz="3000" i="1" dirty="0"/>
              <a:t>CD</a:t>
            </a:r>
            <a:r>
              <a:rPr lang="en-US" sz="3000" i="1" dirty="0"/>
              <a:t>’</a:t>
            </a:r>
            <a:r>
              <a:rPr lang="pl-PL" sz="3000" dirty="0"/>
              <a:t> + </a:t>
            </a:r>
            <a:r>
              <a:rPr lang="pl-PL" sz="3000" i="1" dirty="0"/>
              <a:t>AC</a:t>
            </a:r>
            <a:r>
              <a:rPr lang="en-US" sz="3000" i="1" dirty="0"/>
              <a:t>’</a:t>
            </a:r>
            <a:r>
              <a:rPr lang="pl-PL" sz="3000" i="1" dirty="0"/>
              <a:t>D</a:t>
            </a:r>
            <a:r>
              <a:rPr lang="en-US" sz="3000" i="1" dirty="0"/>
              <a:t>’</a:t>
            </a:r>
            <a:r>
              <a:rPr lang="pl-PL" sz="3000" dirty="0"/>
              <a:t> + </a:t>
            </a:r>
            <a:r>
              <a:rPr lang="pl-PL" sz="3000" i="1" dirty="0"/>
              <a:t>A</a:t>
            </a:r>
            <a:r>
              <a:rPr lang="en-US" sz="3000" i="1" dirty="0"/>
              <a:t>’</a:t>
            </a:r>
            <a:r>
              <a:rPr lang="pl-PL" sz="3000" i="1" dirty="0"/>
              <a:t>B</a:t>
            </a:r>
            <a:r>
              <a:rPr lang="en-US" sz="3000" i="1" dirty="0"/>
              <a:t>’</a:t>
            </a:r>
            <a:r>
              <a:rPr lang="pl-PL" sz="3000" i="1" dirty="0"/>
              <a:t>C</a:t>
            </a:r>
            <a:r>
              <a:rPr lang="en-US" sz="3000" i="1" dirty="0"/>
              <a:t>’</a:t>
            </a:r>
            <a:r>
              <a:rPr lang="pl-PL" sz="3000" i="1" dirty="0"/>
              <a:t>D</a:t>
            </a:r>
          </a:p>
          <a:p>
            <a:pPr marL="0" indent="0" algn="just">
              <a:buNone/>
            </a:pPr>
            <a:r>
              <a:rPr lang="en-IN" sz="3000" dirty="0"/>
              <a:t>	   = </a:t>
            </a:r>
            <a:r>
              <a:rPr lang="en-IN" sz="3000" i="1" dirty="0"/>
              <a:t>w </a:t>
            </a:r>
            <a:r>
              <a:rPr lang="en-IN" sz="3000" dirty="0"/>
              <a:t>+ </a:t>
            </a:r>
            <a:r>
              <a:rPr lang="en-IN" sz="3000" i="1" dirty="0"/>
              <a:t>AC’D’</a:t>
            </a:r>
            <a:r>
              <a:rPr lang="en-IN" sz="3000" dirty="0"/>
              <a:t> + </a:t>
            </a:r>
            <a:r>
              <a:rPr lang="en-IN" sz="3000" i="1" dirty="0"/>
              <a:t>A’B’C’D</a:t>
            </a:r>
          </a:p>
        </p:txBody>
      </p:sp>
    </p:spTree>
    <p:extLst>
      <p:ext uri="{BB962C8B-B14F-4D97-AF65-F5344CB8AC3E}">
        <p14:creationId xmlns:p14="http://schemas.microsoft.com/office/powerpoint/2010/main" val="213447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Note that the function for </a:t>
            </a:r>
            <a:r>
              <a:rPr lang="en-US" sz="3000" i="1" dirty="0"/>
              <a:t>z </a:t>
            </a:r>
            <a:r>
              <a:rPr lang="en-US" sz="3000" dirty="0"/>
              <a:t>has four product terms. The logical sum of two of these terms is equal </a:t>
            </a:r>
            <a:r>
              <a:rPr lang="en-US" sz="3000"/>
              <a:t>to </a:t>
            </a:r>
            <a:r>
              <a:rPr lang="en-US" sz="3000" i="1"/>
              <a:t>w</a:t>
            </a:r>
            <a:r>
              <a:rPr lang="en-US" sz="3000"/>
              <a:t>. </a:t>
            </a:r>
            <a:r>
              <a:rPr lang="en-US" sz="3000" dirty="0"/>
              <a:t>By using </a:t>
            </a:r>
            <a:r>
              <a:rPr lang="en-US" sz="3000" i="1" dirty="0"/>
              <a:t>w, </a:t>
            </a:r>
            <a:r>
              <a:rPr lang="en-US" sz="3000" dirty="0"/>
              <a:t>it is possible to reduce the number of terms for </a:t>
            </a:r>
            <a:r>
              <a:rPr lang="en-US" sz="3000" i="1" dirty="0"/>
              <a:t>z </a:t>
            </a:r>
            <a:r>
              <a:rPr lang="en-US" sz="3000" dirty="0"/>
              <a:t>from four to </a:t>
            </a:r>
            <a:r>
              <a:rPr lang="en-IN" sz="3000" dirty="0"/>
              <a:t>three.</a:t>
            </a:r>
          </a:p>
          <a:p>
            <a:pPr algn="just"/>
            <a:r>
              <a:rPr lang="en-US" sz="3000" dirty="0"/>
              <a:t>The PAL programming table is similar to the one used for the PLA, except that only the inputs of the AND gates need to be programmed. Table lists the PAL programming table for the four Boolean functions.</a:t>
            </a:r>
            <a:endParaRPr lang="en-IN" sz="3000" dirty="0"/>
          </a:p>
        </p:txBody>
      </p:sp>
    </p:spTree>
    <p:extLst>
      <p:ext uri="{BB962C8B-B14F-4D97-AF65-F5344CB8AC3E}">
        <p14:creationId xmlns:p14="http://schemas.microsoft.com/office/powerpoint/2010/main" val="156555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1333500"/>
            <a:ext cx="82677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303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arn(inVertical)">
                                      <p:cBhvr>
                                        <p:cTn id="7"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303237"/>
            <a:ext cx="4476750" cy="593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331640" y="6237312"/>
            <a:ext cx="6341262" cy="338554"/>
          </a:xfrm>
          <a:prstGeom prst="rect">
            <a:avLst/>
          </a:prstGeom>
        </p:spPr>
        <p:txBody>
          <a:bodyPr wrap="square">
            <a:spAutoFit/>
          </a:bodyPr>
          <a:lstStyle/>
          <a:p>
            <a:r>
              <a:rPr lang="en-US" sz="1600" b="1" dirty="0">
                <a:solidFill>
                  <a:srgbClr val="00B0F0"/>
                </a:solidFill>
              </a:rPr>
              <a:t>PAL with four inputs, four outputs, and a three‐wide AND–OR structure</a:t>
            </a:r>
            <a:endParaRPr lang="en-IN" sz="1600" dirty="0">
              <a:solidFill>
                <a:srgbClr val="00B0F0"/>
              </a:solidFill>
            </a:endParaRPr>
          </a:p>
        </p:txBody>
      </p:sp>
    </p:spTree>
    <p:extLst>
      <p:ext uri="{BB962C8B-B14F-4D97-AF65-F5344CB8AC3E}">
        <p14:creationId xmlns:p14="http://schemas.microsoft.com/office/powerpoint/2010/main" val="117354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arn(inVertical)">
                                      <p:cBhvr>
                                        <p:cTn id="7" dur="500"/>
                                        <p:tgtEl>
                                          <p:spTgt spid="1229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C00000"/>
                </a:solidFill>
              </a:rPr>
              <a:t>Sequential Programmable Devices</a:t>
            </a:r>
          </a:p>
        </p:txBody>
      </p:sp>
      <p:sp>
        <p:nvSpPr>
          <p:cNvPr id="3" name="Content Placeholder 2"/>
          <p:cNvSpPr>
            <a:spLocks noGrp="1"/>
          </p:cNvSpPr>
          <p:nvPr>
            <p:ph idx="1"/>
          </p:nvPr>
        </p:nvSpPr>
        <p:spPr/>
        <p:txBody>
          <a:bodyPr>
            <a:noAutofit/>
          </a:bodyPr>
          <a:lstStyle/>
          <a:p>
            <a:pPr algn="just"/>
            <a:r>
              <a:rPr lang="en-IN" sz="3000" dirty="0"/>
              <a:t>The combinational PLD consists of only gates, but the </a:t>
            </a:r>
            <a:r>
              <a:rPr lang="en-US" sz="3000" dirty="0"/>
              <a:t>sequential programmable devices include both gates and flip‐flops.</a:t>
            </a:r>
          </a:p>
          <a:p>
            <a:pPr algn="just"/>
            <a:r>
              <a:rPr lang="en-US" sz="3000" dirty="0"/>
              <a:t>In this way, the device can be programmed to perform a variety of sequential‐circuit functions.</a:t>
            </a:r>
          </a:p>
          <a:p>
            <a:pPr algn="just"/>
            <a:r>
              <a:rPr lang="en-US" sz="3000" dirty="0"/>
              <a:t>There are several types of sequential programmable devices available commercially, and each device has vendor‐specific variants within each type.</a:t>
            </a:r>
          </a:p>
        </p:txBody>
      </p:sp>
    </p:spTree>
    <p:extLst>
      <p:ext uri="{BB962C8B-B14F-4D97-AF65-F5344CB8AC3E}">
        <p14:creationId xmlns:p14="http://schemas.microsoft.com/office/powerpoint/2010/main" val="33431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three major types sequential programmable devices are</a:t>
            </a:r>
          </a:p>
          <a:p>
            <a:pPr marL="895350" indent="-514350" algn="just">
              <a:buFont typeface="+mj-lt"/>
              <a:buAutoNum type="arabicPeriod"/>
            </a:pPr>
            <a:r>
              <a:rPr lang="en-IN" sz="3000" dirty="0">
                <a:solidFill>
                  <a:srgbClr val="002060"/>
                </a:solidFill>
              </a:rPr>
              <a:t>Sequential (or simple) Programmable Logic Device (SPLD)</a:t>
            </a:r>
          </a:p>
          <a:p>
            <a:pPr marL="895350" indent="-514350" algn="just">
              <a:buFont typeface="+mj-lt"/>
              <a:buAutoNum type="arabicPeriod"/>
            </a:pPr>
            <a:r>
              <a:rPr lang="fr-FR" sz="3000" dirty="0" err="1">
                <a:solidFill>
                  <a:srgbClr val="002060"/>
                </a:solidFill>
              </a:rPr>
              <a:t>Complex</a:t>
            </a:r>
            <a:r>
              <a:rPr lang="fr-FR" sz="3000" dirty="0">
                <a:solidFill>
                  <a:srgbClr val="002060"/>
                </a:solidFill>
              </a:rPr>
              <a:t> Programmable </a:t>
            </a:r>
            <a:r>
              <a:rPr lang="fr-FR" sz="3000" dirty="0" err="1">
                <a:solidFill>
                  <a:srgbClr val="002060"/>
                </a:solidFill>
              </a:rPr>
              <a:t>Logic</a:t>
            </a:r>
            <a:r>
              <a:rPr lang="fr-FR" sz="3000" dirty="0">
                <a:solidFill>
                  <a:srgbClr val="002060"/>
                </a:solidFill>
              </a:rPr>
              <a:t> </a:t>
            </a:r>
            <a:r>
              <a:rPr lang="fr-FR" sz="3000" dirty="0" err="1">
                <a:solidFill>
                  <a:srgbClr val="002060"/>
                </a:solidFill>
              </a:rPr>
              <a:t>Device</a:t>
            </a:r>
            <a:r>
              <a:rPr lang="fr-FR" sz="3000" dirty="0">
                <a:solidFill>
                  <a:srgbClr val="002060"/>
                </a:solidFill>
              </a:rPr>
              <a:t> (CPLD)</a:t>
            </a:r>
          </a:p>
          <a:p>
            <a:pPr marL="895350" indent="-514350" algn="just">
              <a:buFont typeface="+mj-lt"/>
              <a:buAutoNum type="arabicPeriod"/>
            </a:pPr>
            <a:r>
              <a:rPr lang="en-US" sz="3000" dirty="0">
                <a:solidFill>
                  <a:srgbClr val="002060"/>
                </a:solidFill>
              </a:rPr>
              <a:t>Field‐Programmable Gate Array (FPGA)</a:t>
            </a:r>
            <a:endParaRPr lang="en-IN" sz="3000" dirty="0">
              <a:solidFill>
                <a:srgbClr val="002060"/>
              </a:solidFill>
            </a:endParaRPr>
          </a:p>
        </p:txBody>
      </p:sp>
    </p:spTree>
    <p:extLst>
      <p:ext uri="{BB962C8B-B14F-4D97-AF65-F5344CB8AC3E}">
        <p14:creationId xmlns:p14="http://schemas.microsoft.com/office/powerpoint/2010/main" val="125150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400" dirty="0">
                <a:solidFill>
                  <a:srgbClr val="002060"/>
                </a:solidFill>
              </a:rPr>
              <a:t>Sequential Programmable Logic Device (SPLD)</a:t>
            </a:r>
          </a:p>
        </p:txBody>
      </p:sp>
      <p:sp>
        <p:nvSpPr>
          <p:cNvPr id="3" name="Content Placeholder 2"/>
          <p:cNvSpPr>
            <a:spLocks noGrp="1"/>
          </p:cNvSpPr>
          <p:nvPr>
            <p:ph idx="1"/>
          </p:nvPr>
        </p:nvSpPr>
        <p:spPr/>
        <p:txBody>
          <a:bodyPr>
            <a:normAutofit/>
          </a:bodyPr>
          <a:lstStyle/>
          <a:p>
            <a:pPr algn="just"/>
            <a:r>
              <a:rPr lang="en-US" sz="3000" dirty="0"/>
              <a:t>The sequential PLD is sometimes referred to as a simple PLD to differentiate it from the complex PLD.</a:t>
            </a:r>
          </a:p>
          <a:p>
            <a:pPr algn="just"/>
            <a:r>
              <a:rPr lang="en-US" sz="3000" dirty="0"/>
              <a:t>The SPLD includes flip‐flops, in addition to the AND-OR array, within the integrated circuit chip.</a:t>
            </a:r>
          </a:p>
          <a:p>
            <a:pPr algn="just"/>
            <a:r>
              <a:rPr lang="en-US" sz="3000" dirty="0"/>
              <a:t>The result is a sequential circuit as shown in Figure.</a:t>
            </a:r>
          </a:p>
          <a:p>
            <a:pPr algn="just"/>
            <a:r>
              <a:rPr lang="en-US" sz="3000" dirty="0"/>
              <a:t>A PAL or PLA is modified by including a number of flip‐flops connected to form a register.</a:t>
            </a:r>
          </a:p>
        </p:txBody>
      </p:sp>
    </p:spTree>
    <p:extLst>
      <p:ext uri="{BB962C8B-B14F-4D97-AF65-F5344CB8AC3E}">
        <p14:creationId xmlns:p14="http://schemas.microsoft.com/office/powerpoint/2010/main" val="411416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24944"/>
            <a:ext cx="8229600" cy="3201219"/>
          </a:xfrm>
        </p:spPr>
        <p:txBody>
          <a:bodyPr>
            <a:normAutofit/>
          </a:bodyPr>
          <a:lstStyle/>
          <a:p>
            <a:pPr algn="just"/>
            <a:r>
              <a:rPr lang="en-US" sz="3000" dirty="0"/>
              <a:t>The circuit outputs can be taken from the OR gates or from the outputs of the</a:t>
            </a:r>
            <a:r>
              <a:rPr lang="en-IN" sz="3000" dirty="0"/>
              <a:t> </a:t>
            </a:r>
            <a:r>
              <a:rPr lang="en-US" sz="3000" dirty="0"/>
              <a:t>flip‐flops.</a:t>
            </a:r>
          </a:p>
          <a:p>
            <a:pPr algn="just"/>
            <a:r>
              <a:rPr lang="en-US" sz="3000" dirty="0"/>
              <a:t>Additional programmable connections are available to include the flip‐flop outputs in the product terms formed with the AND array.</a:t>
            </a:r>
          </a:p>
          <a:p>
            <a:pPr algn="just"/>
            <a:r>
              <a:rPr lang="en-US" sz="3000" dirty="0"/>
              <a:t>The flip‐flops may be of the </a:t>
            </a:r>
            <a:r>
              <a:rPr lang="en-US" sz="3000" i="1" dirty="0"/>
              <a:t>D </a:t>
            </a:r>
            <a:r>
              <a:rPr lang="en-US" sz="3000" dirty="0"/>
              <a:t>or the </a:t>
            </a:r>
            <a:r>
              <a:rPr lang="en-US" sz="3000" i="1" dirty="0"/>
              <a:t>JK </a:t>
            </a:r>
            <a:r>
              <a:rPr lang="en-US" sz="3000" dirty="0"/>
              <a:t>type.</a:t>
            </a:r>
            <a:endParaRPr lang="en-IN" sz="30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218" y="692696"/>
            <a:ext cx="653415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609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arn(inVertical)">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dirty="0">
                <a:solidFill>
                  <a:srgbClr val="002060"/>
                </a:solidFill>
              </a:rPr>
              <a:t>Complex Programmable Logic Device (CPLD)</a:t>
            </a:r>
            <a:endParaRPr lang="en-IN" sz="3400" dirty="0">
              <a:solidFill>
                <a:srgbClr val="002060"/>
              </a:solidFill>
            </a:endParaRPr>
          </a:p>
        </p:txBody>
      </p:sp>
      <p:sp>
        <p:nvSpPr>
          <p:cNvPr id="3" name="Content Placeholder 2"/>
          <p:cNvSpPr>
            <a:spLocks noGrp="1"/>
          </p:cNvSpPr>
          <p:nvPr>
            <p:ph idx="1"/>
          </p:nvPr>
        </p:nvSpPr>
        <p:spPr>
          <a:xfrm>
            <a:off x="457200" y="1268760"/>
            <a:ext cx="8229600" cy="4857403"/>
          </a:xfrm>
        </p:spPr>
        <p:txBody>
          <a:bodyPr>
            <a:noAutofit/>
          </a:bodyPr>
          <a:lstStyle/>
          <a:p>
            <a:pPr algn="just"/>
            <a:r>
              <a:rPr lang="en-US" sz="3000" dirty="0"/>
              <a:t>The design of a digital system using PLDs often requires the connection of several devices to produce the complete specification.</a:t>
            </a:r>
          </a:p>
          <a:p>
            <a:pPr algn="just"/>
            <a:r>
              <a:rPr lang="en-US" sz="3000" dirty="0"/>
              <a:t>For this type of application, it is more economical to use a complex programmable logic device (CPLD), which is a collection of individual PLDs on a single integrated circuit.</a:t>
            </a:r>
          </a:p>
          <a:p>
            <a:pPr algn="just"/>
            <a:r>
              <a:rPr lang="en-US" sz="3000" dirty="0"/>
              <a:t>A programmable interconnection structure allows the PLDs to be connected to each other in the same way that can be </a:t>
            </a:r>
            <a:r>
              <a:rPr lang="en-IN" sz="3000" dirty="0"/>
              <a:t>done with individual PLDs.</a:t>
            </a:r>
          </a:p>
        </p:txBody>
      </p:sp>
    </p:spTree>
    <p:extLst>
      <p:ext uri="{BB962C8B-B14F-4D97-AF65-F5344CB8AC3E}">
        <p14:creationId xmlns:p14="http://schemas.microsoft.com/office/powerpoint/2010/main" val="132371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sz="3000" dirty="0"/>
              <a:t>Figure shows the general configuration of a CPLD.</a:t>
            </a:r>
          </a:p>
          <a:p>
            <a:pPr algn="just"/>
            <a:r>
              <a:rPr lang="en-US" sz="3000" dirty="0"/>
              <a:t>The device consists of multiple PLDs interconnected through a programmable switch matrix.</a:t>
            </a:r>
          </a:p>
          <a:p>
            <a:pPr algn="just"/>
            <a:r>
              <a:rPr lang="en-US" sz="3000" dirty="0"/>
              <a:t>The input-output (I/O) blocks provide the connections to the IC pins. Each I/O pin is driven by a three state buffer and can be programmed to act as input or output.</a:t>
            </a:r>
          </a:p>
        </p:txBody>
      </p:sp>
    </p:spTree>
    <p:extLst>
      <p:ext uri="{BB962C8B-B14F-4D97-AF65-F5344CB8AC3E}">
        <p14:creationId xmlns:p14="http://schemas.microsoft.com/office/powerpoint/2010/main" val="142303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1104900"/>
            <a:ext cx="882967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133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arn(inVertical)">
                                      <p:cBhvr>
                                        <p:cTn id="7"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001419"/>
          </a:xfrm>
        </p:spPr>
        <p:txBody>
          <a:bodyPr>
            <a:normAutofit/>
          </a:bodyPr>
          <a:lstStyle/>
          <a:p>
            <a:pPr algn="just"/>
            <a:r>
              <a:rPr lang="en-US" sz="3000" dirty="0"/>
              <a:t>The switch matrix receives inputs from the I/O block and directs them to the individual </a:t>
            </a:r>
            <a:r>
              <a:rPr lang="en-US" sz="3000" dirty="0" err="1"/>
              <a:t>macrocells</a:t>
            </a:r>
            <a:r>
              <a:rPr lang="en-US" sz="3000" dirty="0"/>
              <a:t>. Similarly, selected outputs from </a:t>
            </a:r>
            <a:r>
              <a:rPr lang="en-US" sz="3000" dirty="0" err="1"/>
              <a:t>macrocells</a:t>
            </a:r>
            <a:r>
              <a:rPr lang="en-US" sz="3000" dirty="0"/>
              <a:t> are sent to the outputs as needed.</a:t>
            </a:r>
          </a:p>
          <a:p>
            <a:pPr algn="just"/>
            <a:r>
              <a:rPr lang="en-US" sz="3000" dirty="0"/>
              <a:t>Each PLD typically contains from 8 to 16 </a:t>
            </a:r>
            <a:r>
              <a:rPr lang="en-US" sz="3000" dirty="0" err="1"/>
              <a:t>macrocells</a:t>
            </a:r>
            <a:r>
              <a:rPr lang="en-US" sz="3000" dirty="0"/>
              <a:t>, usually fully connected. If a </a:t>
            </a:r>
            <a:r>
              <a:rPr lang="en-US" sz="3000" dirty="0" err="1"/>
              <a:t>macrocell</a:t>
            </a:r>
            <a:r>
              <a:rPr lang="en-US" sz="3000" dirty="0"/>
              <a:t> has unused product terms, they can be used by other nearby </a:t>
            </a:r>
            <a:r>
              <a:rPr lang="en-US" sz="3000" dirty="0" err="1"/>
              <a:t>macrocells</a:t>
            </a:r>
            <a:r>
              <a:rPr lang="en-US" sz="3000" dirty="0"/>
              <a:t>.</a:t>
            </a:r>
          </a:p>
          <a:p>
            <a:pPr algn="just"/>
            <a:r>
              <a:rPr lang="en-US" sz="3000" dirty="0"/>
              <a:t>In some cases the </a:t>
            </a:r>
            <a:r>
              <a:rPr lang="en-US" sz="3000" dirty="0" err="1"/>
              <a:t>macrocell</a:t>
            </a:r>
            <a:r>
              <a:rPr lang="en-US" sz="3000" dirty="0"/>
              <a:t> flip‐flop is programmed to act as a </a:t>
            </a:r>
            <a:r>
              <a:rPr lang="en-US" sz="3000" i="1" dirty="0"/>
              <a:t>D</a:t>
            </a:r>
            <a:r>
              <a:rPr lang="en-US" sz="3000" dirty="0"/>
              <a:t>, </a:t>
            </a:r>
            <a:r>
              <a:rPr lang="en-US" sz="3000" i="1" dirty="0"/>
              <a:t>JK</a:t>
            </a:r>
            <a:r>
              <a:rPr lang="en-US" sz="3000" dirty="0"/>
              <a:t>, or </a:t>
            </a:r>
            <a:r>
              <a:rPr lang="en-US" sz="3000" i="1" dirty="0"/>
              <a:t>T </a:t>
            </a:r>
            <a:r>
              <a:rPr lang="en-US" sz="3000" dirty="0"/>
              <a:t>flip‐flop.</a:t>
            </a:r>
            <a:endParaRPr lang="en-IN" sz="3000" dirty="0"/>
          </a:p>
        </p:txBody>
      </p:sp>
    </p:spTree>
    <p:extLst>
      <p:ext uri="{BB962C8B-B14F-4D97-AF65-F5344CB8AC3E}">
        <p14:creationId xmlns:p14="http://schemas.microsoft.com/office/powerpoint/2010/main" val="143104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002060"/>
                </a:solidFill>
              </a:rPr>
              <a:t>Field‐Programmable Gate Array (FPGA)</a:t>
            </a:r>
            <a:endParaRPr lang="en-IN" sz="3400" dirty="0">
              <a:solidFill>
                <a:srgbClr val="002060"/>
              </a:solidFill>
            </a:endParaRPr>
          </a:p>
        </p:txBody>
      </p:sp>
      <p:sp>
        <p:nvSpPr>
          <p:cNvPr id="3" name="Content Placeholder 2"/>
          <p:cNvSpPr>
            <a:spLocks noGrp="1"/>
          </p:cNvSpPr>
          <p:nvPr>
            <p:ph idx="1"/>
          </p:nvPr>
        </p:nvSpPr>
        <p:spPr/>
        <p:txBody>
          <a:bodyPr>
            <a:noAutofit/>
          </a:bodyPr>
          <a:lstStyle/>
          <a:p>
            <a:pPr algn="just"/>
            <a:r>
              <a:rPr lang="en-US" sz="3000" dirty="0"/>
              <a:t>A field‐programmable gate array (FPGA) is a VLSI circuit that can be programmed at the user’s location.</a:t>
            </a:r>
          </a:p>
          <a:p>
            <a:pPr algn="just"/>
            <a:r>
              <a:rPr lang="en-US" sz="3000" dirty="0"/>
              <a:t>A typical FPGA consists of an array of millions of logic blocks, surrounded by programmable input and output blocks and connected together via programmable interconnections.</a:t>
            </a:r>
          </a:p>
          <a:p>
            <a:pPr algn="just"/>
            <a:r>
              <a:rPr lang="en-US" sz="3000" dirty="0"/>
              <a:t>There is a wide variety of internal configurations within this group of devices.</a:t>
            </a:r>
          </a:p>
        </p:txBody>
      </p:sp>
    </p:spTree>
    <p:extLst>
      <p:ext uri="{BB962C8B-B14F-4D97-AF65-F5344CB8AC3E}">
        <p14:creationId xmlns:p14="http://schemas.microsoft.com/office/powerpoint/2010/main" val="426760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3000" dirty="0"/>
              <a:t>The performance of each type of device depends on the circuit contained in its logic blocks and the efficiency of its programmed interconnections.</a:t>
            </a:r>
          </a:p>
          <a:p>
            <a:pPr algn="just"/>
            <a:r>
              <a:rPr lang="en-US" sz="3000" dirty="0"/>
              <a:t>A typical FPGA logic block consists of lookup tables, multiplexers, gates, and flip‐flops.</a:t>
            </a:r>
          </a:p>
          <a:p>
            <a:pPr algn="just"/>
            <a:r>
              <a:rPr lang="en-US" sz="3000" dirty="0"/>
              <a:t>A lookup table is a truth table stored in an SRAM and provides the combinational circuit functions for the logic block.</a:t>
            </a:r>
            <a:endParaRPr lang="en-IN" dirty="0"/>
          </a:p>
          <a:p>
            <a:endParaRPr lang="en-IN" dirty="0"/>
          </a:p>
        </p:txBody>
      </p:sp>
    </p:spTree>
    <p:extLst>
      <p:ext uri="{BB962C8B-B14F-4D97-AF65-F5344CB8AC3E}">
        <p14:creationId xmlns:p14="http://schemas.microsoft.com/office/powerpoint/2010/main" val="270707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lgn="just"/>
            <a:r>
              <a:rPr lang="en-US" sz="3000" dirty="0"/>
              <a:t>The design with PLD, CPLD, or FPGA requires extensive computer‐aided design (CAD) tools to facilitate the synthesis procedure.</a:t>
            </a:r>
          </a:p>
          <a:p>
            <a:pPr algn="just"/>
            <a:r>
              <a:rPr lang="en-US" sz="3000" dirty="0"/>
              <a:t>Among the tools that are available are schematic entry packages and hardware description languages (HDLs), such as ABEL, VHDL, and Verilog. Synthesis tools are available that allocate, configure, and connect logic blocks to match a high‐level design description written in HDL.</a:t>
            </a:r>
            <a:endParaRPr lang="en-IN" sz="3000" dirty="0"/>
          </a:p>
        </p:txBody>
      </p:sp>
    </p:spTree>
    <p:extLst>
      <p:ext uri="{BB962C8B-B14F-4D97-AF65-F5344CB8AC3E}">
        <p14:creationId xmlns:p14="http://schemas.microsoft.com/office/powerpoint/2010/main" val="11675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536</TotalTime>
  <Words>2891</Words>
  <Application>Microsoft Office PowerPoint</Application>
  <PresentationFormat>On-screen Show (4:3)</PresentationFormat>
  <Paragraphs>152</Paragraphs>
  <Slides>53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Read-Only Memory; Programmable Logic Array; Programmable Array Logic; Sequential Programmable Devices</vt:lpstr>
      <vt:lpstr>Read‐Only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Combinational Circuit Implementation</vt:lpstr>
      <vt:lpstr>Example</vt:lpstr>
      <vt:lpstr>PowerPoint Presentation</vt:lpstr>
      <vt:lpstr>Problems</vt:lpstr>
      <vt:lpstr>Types of ROMs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Combinational PLDs</vt:lpstr>
      <vt:lpstr>PowerPoint Presentation</vt:lpstr>
      <vt:lpstr>PowerPoint Presentation</vt:lpstr>
      <vt:lpstr>PowerPoint Presentation</vt:lpstr>
      <vt:lpstr>Programmable Logic Array</vt:lpstr>
      <vt:lpstr>PowerPoint Presentation</vt:lpstr>
      <vt:lpstr>Example</vt:lpstr>
      <vt:lpstr>PowerPoint Presentation</vt:lpstr>
      <vt:lpstr>PowerPoint Presentation</vt:lpstr>
      <vt:lpstr>Example</vt:lpstr>
      <vt:lpstr>PowerPoint Presentation</vt:lpstr>
      <vt:lpstr>PowerPoint Presentation</vt:lpstr>
      <vt:lpstr>Programmable Array Logic</vt:lpstr>
      <vt:lpstr>Example</vt:lpstr>
      <vt:lpstr>PowerPoint Presentation</vt:lpstr>
      <vt:lpstr>PowerPoint Presentation</vt:lpstr>
      <vt:lpstr>PowerPoint Presentation</vt:lpstr>
      <vt:lpstr>PowerPoint Presentation</vt:lpstr>
      <vt:lpstr>Sequential Programmable Devices</vt:lpstr>
      <vt:lpstr>PowerPoint Presentation</vt:lpstr>
      <vt:lpstr>Sequential Programmable Logic Device (SPLD)</vt:lpstr>
      <vt:lpstr>PowerPoint Presentation</vt:lpstr>
      <vt:lpstr>Complex Programmable Logic Device (CPLD)</vt:lpstr>
      <vt:lpstr>PowerPoint Presentation</vt:lpstr>
      <vt:lpstr>PowerPoint Presentation</vt:lpstr>
      <vt:lpstr>PowerPoint Presentation</vt:lpstr>
      <vt:lpstr>Field‐Programmable Gate Array (FPGA)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AJIT PATRO</dc:creator>
  <cp:lastModifiedBy>TANISHA PATRA</cp:lastModifiedBy>
  <cp:revision>38</cp:revision>
  <dcterms:created xsi:type="dcterms:W3CDTF">2020-12-04T15:32:55Z</dcterms:created>
  <dcterms:modified xsi:type="dcterms:W3CDTF">2024-11-22T16:54:22Z</dcterms:modified>
</cp:coreProperties>
</file>