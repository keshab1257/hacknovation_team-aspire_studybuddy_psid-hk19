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6" r:id="rId3"/>
    <p:sldId id="277" r:id="rId4"/>
    <p:sldId id="278" r:id="rId5"/>
    <p:sldId id="279" r:id="rId6"/>
    <p:sldId id="280" r:id="rId7"/>
    <p:sldId id="281" r:id="rId8"/>
    <p:sldId id="282" r:id="rId9"/>
    <p:sldId id="283" r:id="rId10"/>
    <p:sldId id="284" r:id="rId11"/>
    <p:sldId id="285" r:id="rId12"/>
    <p:sldId id="286" r:id="rId13"/>
    <p:sldId id="287" r:id="rId14"/>
    <p:sldId id="315" r:id="rId15"/>
    <p:sldId id="314" r:id="rId16"/>
    <p:sldId id="288" r:id="rId17"/>
    <p:sldId id="289" r:id="rId18"/>
    <p:sldId id="290" r:id="rId19"/>
    <p:sldId id="291" r:id="rId20"/>
    <p:sldId id="292" r:id="rId21"/>
    <p:sldId id="293" r:id="rId22"/>
    <p:sldId id="294" r:id="rId23"/>
    <p:sldId id="295" r:id="rId24"/>
    <p:sldId id="297" r:id="rId25"/>
    <p:sldId id="296" r:id="rId26"/>
    <p:sldId id="338" r:id="rId27"/>
    <p:sldId id="307" r:id="rId28"/>
    <p:sldId id="300" r:id="rId29"/>
    <p:sldId id="301" r:id="rId30"/>
    <p:sldId id="302" r:id="rId31"/>
    <p:sldId id="303" r:id="rId32"/>
    <p:sldId id="304" r:id="rId33"/>
    <p:sldId id="310" r:id="rId34"/>
    <p:sldId id="305" r:id="rId35"/>
    <p:sldId id="308" r:id="rId36"/>
    <p:sldId id="311" r:id="rId37"/>
    <p:sldId id="316" r:id="rId38"/>
    <p:sldId id="312" r:id="rId39"/>
    <p:sldId id="336" r:id="rId40"/>
    <p:sldId id="320" r:id="rId41"/>
    <p:sldId id="321" r:id="rId42"/>
    <p:sldId id="322" r:id="rId43"/>
    <p:sldId id="323" r:id="rId44"/>
    <p:sldId id="324" r:id="rId45"/>
    <p:sldId id="325" r:id="rId46"/>
    <p:sldId id="326" r:id="rId47"/>
    <p:sldId id="327" r:id="rId48"/>
    <p:sldId id="328" r:id="rId49"/>
    <p:sldId id="330" r:id="rId50"/>
    <p:sldId id="331" r:id="rId51"/>
    <p:sldId id="332" r:id="rId52"/>
    <p:sldId id="333" r:id="rId53"/>
    <p:sldId id="334" r:id="rId54"/>
    <p:sldId id="335"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ISHA PATRA" userId="0753ce7bc1ad7bf8" providerId="LiveId" clId="{5FDD7E72-6E63-4054-96C6-9D78B3D96083}"/>
    <pc:docChg chg="modSld">
      <pc:chgData name="TANISHA PATRA" userId="0753ce7bc1ad7bf8" providerId="LiveId" clId="{5FDD7E72-6E63-4054-96C6-9D78B3D96083}" dt="2024-11-22T16:28:03.409" v="0" actId="1076"/>
      <pc:docMkLst>
        <pc:docMk/>
      </pc:docMkLst>
      <pc:sldChg chg="modSp mod">
        <pc:chgData name="TANISHA PATRA" userId="0753ce7bc1ad7bf8" providerId="LiveId" clId="{5FDD7E72-6E63-4054-96C6-9D78B3D96083}" dt="2024-11-22T16:28:03.409" v="0" actId="1076"/>
        <pc:sldMkLst>
          <pc:docMk/>
          <pc:sldMk cId="4187697850" sldId="296"/>
        </pc:sldMkLst>
        <pc:spChg chg="mod">
          <ac:chgData name="TANISHA PATRA" userId="0753ce7bc1ad7bf8" providerId="LiveId" clId="{5FDD7E72-6E63-4054-96C6-9D78B3D96083}" dt="2024-11-22T16:28:03.409" v="0" actId="1076"/>
          <ac:spMkLst>
            <pc:docMk/>
            <pc:sldMk cId="4187697850" sldId="29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C27686B-E8E4-43A6-9546-06BCC0E584A2}" type="datetimeFigureOut">
              <a:rPr lang="en-IN" smtClean="0"/>
              <a:t>22-11-2024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11DE4F3-5CEA-4305-A575-A57A8C6FD48F}" type="slidenum">
              <a:rPr lang="en-IN" smtClean="0"/>
              <a:t>‹#›</a:t>
            </a:fld>
            <a:endParaRPr lang="en-IN" dirty="0"/>
          </a:p>
        </p:txBody>
      </p:sp>
    </p:spTree>
    <p:extLst>
      <p:ext uri="{BB962C8B-B14F-4D97-AF65-F5344CB8AC3E}">
        <p14:creationId xmlns:p14="http://schemas.microsoft.com/office/powerpoint/2010/main" val="2084623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C27686B-E8E4-43A6-9546-06BCC0E584A2}" type="datetimeFigureOut">
              <a:rPr lang="en-IN" smtClean="0"/>
              <a:t>22-11-2024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11DE4F3-5CEA-4305-A575-A57A8C6FD48F}" type="slidenum">
              <a:rPr lang="en-IN" smtClean="0"/>
              <a:t>‹#›</a:t>
            </a:fld>
            <a:endParaRPr lang="en-IN" dirty="0"/>
          </a:p>
        </p:txBody>
      </p:sp>
    </p:spTree>
    <p:extLst>
      <p:ext uri="{BB962C8B-B14F-4D97-AF65-F5344CB8AC3E}">
        <p14:creationId xmlns:p14="http://schemas.microsoft.com/office/powerpoint/2010/main" val="1529599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27686B-E8E4-43A6-9546-06BCC0E584A2}" type="datetimeFigureOut">
              <a:rPr lang="en-IN" smtClean="0"/>
              <a:t>22-11-2024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11DE4F3-5CEA-4305-A575-A57A8C6FD48F}" type="slidenum">
              <a:rPr lang="en-IN" smtClean="0"/>
              <a:t>‹#›</a:t>
            </a:fld>
            <a:endParaRPr lang="en-IN" dirty="0"/>
          </a:p>
        </p:txBody>
      </p:sp>
    </p:spTree>
    <p:extLst>
      <p:ext uri="{BB962C8B-B14F-4D97-AF65-F5344CB8AC3E}">
        <p14:creationId xmlns:p14="http://schemas.microsoft.com/office/powerpoint/2010/main" val="2153551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C27686B-E8E4-43A6-9546-06BCC0E584A2}" type="datetimeFigureOut">
              <a:rPr lang="en-IN" smtClean="0"/>
              <a:t>22-11-2024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11DE4F3-5CEA-4305-A575-A57A8C6FD48F}" type="slidenum">
              <a:rPr lang="en-IN" smtClean="0"/>
              <a:t>‹#›</a:t>
            </a:fld>
            <a:endParaRPr lang="en-IN" dirty="0"/>
          </a:p>
        </p:txBody>
      </p:sp>
    </p:spTree>
    <p:extLst>
      <p:ext uri="{BB962C8B-B14F-4D97-AF65-F5344CB8AC3E}">
        <p14:creationId xmlns:p14="http://schemas.microsoft.com/office/powerpoint/2010/main" val="1916426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C27686B-E8E4-43A6-9546-06BCC0E584A2}" type="datetimeFigureOut">
              <a:rPr lang="en-IN" smtClean="0"/>
              <a:t>22-11-2024</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11DE4F3-5CEA-4305-A575-A57A8C6FD48F}" type="slidenum">
              <a:rPr lang="en-IN" smtClean="0"/>
              <a:t>‹#›</a:t>
            </a:fld>
            <a:endParaRPr lang="en-IN" dirty="0"/>
          </a:p>
        </p:txBody>
      </p:sp>
    </p:spTree>
    <p:extLst>
      <p:ext uri="{BB962C8B-B14F-4D97-AF65-F5344CB8AC3E}">
        <p14:creationId xmlns:p14="http://schemas.microsoft.com/office/powerpoint/2010/main" val="1170974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C27686B-E8E4-43A6-9546-06BCC0E584A2}" type="datetimeFigureOut">
              <a:rPr lang="en-IN" smtClean="0"/>
              <a:t>22-11-2024</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11DE4F3-5CEA-4305-A575-A57A8C6FD48F}" type="slidenum">
              <a:rPr lang="en-IN" smtClean="0"/>
              <a:t>‹#›</a:t>
            </a:fld>
            <a:endParaRPr lang="en-IN" dirty="0"/>
          </a:p>
        </p:txBody>
      </p:sp>
    </p:spTree>
    <p:extLst>
      <p:ext uri="{BB962C8B-B14F-4D97-AF65-F5344CB8AC3E}">
        <p14:creationId xmlns:p14="http://schemas.microsoft.com/office/powerpoint/2010/main" val="2610338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27686B-E8E4-43A6-9546-06BCC0E584A2}" type="datetimeFigureOut">
              <a:rPr lang="en-IN" smtClean="0"/>
              <a:t>22-11-2024</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11DE4F3-5CEA-4305-A575-A57A8C6FD48F}" type="slidenum">
              <a:rPr lang="en-IN" smtClean="0"/>
              <a:t>‹#›</a:t>
            </a:fld>
            <a:endParaRPr lang="en-IN" dirty="0"/>
          </a:p>
        </p:txBody>
      </p:sp>
    </p:spTree>
    <p:extLst>
      <p:ext uri="{BB962C8B-B14F-4D97-AF65-F5344CB8AC3E}">
        <p14:creationId xmlns:p14="http://schemas.microsoft.com/office/powerpoint/2010/main" val="1870162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27686B-E8E4-43A6-9546-06BCC0E584A2}" type="datetimeFigureOut">
              <a:rPr lang="en-IN" smtClean="0"/>
              <a:t>22-11-2024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11DE4F3-5CEA-4305-A575-A57A8C6FD48F}" type="slidenum">
              <a:rPr lang="en-IN" smtClean="0"/>
              <a:t>‹#›</a:t>
            </a:fld>
            <a:endParaRPr lang="en-IN" dirty="0"/>
          </a:p>
        </p:txBody>
      </p:sp>
    </p:spTree>
    <p:extLst>
      <p:ext uri="{BB962C8B-B14F-4D97-AF65-F5344CB8AC3E}">
        <p14:creationId xmlns:p14="http://schemas.microsoft.com/office/powerpoint/2010/main" val="1085115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27686B-E8E4-43A6-9546-06BCC0E584A2}" type="datetimeFigureOut">
              <a:rPr lang="en-IN" smtClean="0"/>
              <a:t>22-11-2024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11DE4F3-5CEA-4305-A575-A57A8C6FD48F}" type="slidenum">
              <a:rPr lang="en-IN" smtClean="0"/>
              <a:t>‹#›</a:t>
            </a:fld>
            <a:endParaRPr lang="en-IN" dirty="0"/>
          </a:p>
        </p:txBody>
      </p:sp>
    </p:spTree>
    <p:extLst>
      <p:ext uri="{BB962C8B-B14F-4D97-AF65-F5344CB8AC3E}">
        <p14:creationId xmlns:p14="http://schemas.microsoft.com/office/powerpoint/2010/main" val="1200279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C27686B-E8E4-43A6-9546-06BCC0E584A2}" type="datetimeFigureOut">
              <a:rPr lang="en-IN" smtClean="0"/>
              <a:t>22-11-2024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11DE4F3-5CEA-4305-A575-A57A8C6FD48F}" type="slidenum">
              <a:rPr lang="en-IN" smtClean="0"/>
              <a:t>‹#›</a:t>
            </a:fld>
            <a:endParaRPr lang="en-IN" dirty="0"/>
          </a:p>
        </p:txBody>
      </p:sp>
    </p:spTree>
    <p:extLst>
      <p:ext uri="{BB962C8B-B14F-4D97-AF65-F5344CB8AC3E}">
        <p14:creationId xmlns:p14="http://schemas.microsoft.com/office/powerpoint/2010/main" val="2814653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C27686B-E8E4-43A6-9546-06BCC0E584A2}" type="datetimeFigureOut">
              <a:rPr lang="en-IN" smtClean="0"/>
              <a:t>22-11-2024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11DE4F3-5CEA-4305-A575-A57A8C6FD48F}" type="slidenum">
              <a:rPr lang="en-IN" smtClean="0"/>
              <a:t>‹#›</a:t>
            </a:fld>
            <a:endParaRPr lang="en-IN" dirty="0"/>
          </a:p>
        </p:txBody>
      </p:sp>
    </p:spTree>
    <p:extLst>
      <p:ext uri="{BB962C8B-B14F-4D97-AF65-F5344CB8AC3E}">
        <p14:creationId xmlns:p14="http://schemas.microsoft.com/office/powerpoint/2010/main" val="3405583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27686B-E8E4-43A6-9546-06BCC0E584A2}" type="datetimeFigureOut">
              <a:rPr lang="en-IN" smtClean="0"/>
              <a:t>22-11-2024</a:t>
            </a:fld>
            <a:endParaRPr lang="en-IN"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1DE4F3-5CEA-4305-A575-A57A8C6FD48F}" type="slidenum">
              <a:rPr lang="en-IN" smtClean="0"/>
              <a:t>‹#›</a:t>
            </a:fld>
            <a:endParaRPr lang="en-IN" dirty="0"/>
          </a:p>
        </p:txBody>
      </p:sp>
    </p:spTree>
    <p:extLst>
      <p:ext uri="{BB962C8B-B14F-4D97-AF65-F5344CB8AC3E}">
        <p14:creationId xmlns:p14="http://schemas.microsoft.com/office/powerpoint/2010/main" val="38533551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4744"/>
            <a:ext cx="7772400" cy="1584176"/>
          </a:xfrm>
        </p:spPr>
        <p:txBody>
          <a:bodyPr>
            <a:noAutofit/>
          </a:bodyPr>
          <a:lstStyle/>
          <a:p>
            <a:r>
              <a:rPr lang="en-IN" sz="5400" b="1" dirty="0">
                <a:solidFill>
                  <a:srgbClr val="FF0000"/>
                </a:solidFill>
              </a:rPr>
              <a:t>Memory and Programmable Logic</a:t>
            </a:r>
          </a:p>
        </p:txBody>
      </p:sp>
      <p:sp>
        <p:nvSpPr>
          <p:cNvPr id="3" name="Subtitle 2"/>
          <p:cNvSpPr>
            <a:spLocks noGrp="1"/>
          </p:cNvSpPr>
          <p:nvPr>
            <p:ph type="subTitle" idx="1"/>
          </p:nvPr>
        </p:nvSpPr>
        <p:spPr>
          <a:xfrm>
            <a:off x="827584" y="2996952"/>
            <a:ext cx="7560840" cy="3024336"/>
          </a:xfrm>
        </p:spPr>
        <p:txBody>
          <a:bodyPr>
            <a:noAutofit/>
          </a:bodyPr>
          <a:lstStyle/>
          <a:p>
            <a:r>
              <a:rPr lang="en-IN" sz="4400" b="1" dirty="0">
                <a:solidFill>
                  <a:srgbClr val="00B050"/>
                </a:solidFill>
              </a:rPr>
              <a:t>Introduction;</a:t>
            </a:r>
          </a:p>
          <a:p>
            <a:r>
              <a:rPr lang="en-IN" sz="4400" b="1" dirty="0">
                <a:solidFill>
                  <a:srgbClr val="00B050"/>
                </a:solidFill>
              </a:rPr>
              <a:t>Random-Access Memory; Memory Decoding;</a:t>
            </a:r>
          </a:p>
          <a:p>
            <a:r>
              <a:rPr lang="en-IN" sz="4400" b="1" dirty="0">
                <a:solidFill>
                  <a:srgbClr val="00B050"/>
                </a:solidFill>
              </a:rPr>
              <a:t>Error Detection and Correction</a:t>
            </a:r>
          </a:p>
        </p:txBody>
      </p:sp>
    </p:spTree>
    <p:extLst>
      <p:ext uri="{BB962C8B-B14F-4D97-AF65-F5344CB8AC3E}">
        <p14:creationId xmlns:p14="http://schemas.microsoft.com/office/powerpoint/2010/main" val="607900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par>
                                <p:cTn id="13" presetID="6" presetClass="entr" presetSubtype="16"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circle(in)">
                                      <p:cBhvr>
                                        <p:cTn id="15" dur="2000"/>
                                        <p:tgtEl>
                                          <p:spTgt spid="3">
                                            <p:txEl>
                                              <p:pRg st="1" end="1"/>
                                            </p:txEl>
                                          </p:spTgt>
                                        </p:tgtEl>
                                      </p:cBhvr>
                                    </p:animEffect>
                                  </p:childTnLst>
                                </p:cTn>
                              </p:par>
                              <p:par>
                                <p:cTn id="16" presetID="6" presetClass="entr" presetSubtype="16"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circle(in)">
                                      <p:cBhvr>
                                        <p:cTn id="18"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C00000"/>
                </a:solidFill>
              </a:rPr>
              <a:t>Introduction</a:t>
            </a:r>
            <a:endParaRPr lang="en-IN" dirty="0"/>
          </a:p>
        </p:txBody>
      </p:sp>
      <p:sp>
        <p:nvSpPr>
          <p:cNvPr id="3" name="Content Placeholder 2"/>
          <p:cNvSpPr>
            <a:spLocks noGrp="1"/>
          </p:cNvSpPr>
          <p:nvPr>
            <p:ph idx="1"/>
          </p:nvPr>
        </p:nvSpPr>
        <p:spPr/>
        <p:txBody>
          <a:bodyPr>
            <a:normAutofit fontScale="92500"/>
          </a:bodyPr>
          <a:lstStyle/>
          <a:p>
            <a:pPr algn="just"/>
            <a:r>
              <a:rPr lang="en-US" dirty="0"/>
              <a:t>A </a:t>
            </a:r>
            <a:r>
              <a:rPr lang="en-US" dirty="0">
                <a:solidFill>
                  <a:srgbClr val="C00000"/>
                </a:solidFill>
              </a:rPr>
              <a:t>memory unit</a:t>
            </a:r>
            <a:r>
              <a:rPr lang="en-US" dirty="0"/>
              <a:t> is a device to which binary information is transferred for storage and from which information is retrieved when needed for processing.</a:t>
            </a:r>
          </a:p>
          <a:p>
            <a:pPr algn="just"/>
            <a:r>
              <a:rPr lang="en-US" dirty="0"/>
              <a:t>Binary information received from an input device is stored in memory and information transferred to an output device is taken from memory.</a:t>
            </a:r>
          </a:p>
          <a:p>
            <a:pPr algn="just"/>
            <a:r>
              <a:rPr lang="en-US" dirty="0"/>
              <a:t> A </a:t>
            </a:r>
            <a:r>
              <a:rPr lang="en-US" dirty="0">
                <a:solidFill>
                  <a:srgbClr val="C00000"/>
                </a:solidFill>
              </a:rPr>
              <a:t>memory unit</a:t>
            </a:r>
            <a:r>
              <a:rPr lang="en-US" dirty="0"/>
              <a:t> is a collection of cells capable of storing a large quantity of binary information.</a:t>
            </a:r>
            <a:endParaRPr lang="en-IN" dirty="0"/>
          </a:p>
        </p:txBody>
      </p:sp>
    </p:spTree>
    <p:extLst>
      <p:ext uri="{BB962C8B-B14F-4D97-AF65-F5344CB8AC3E}">
        <p14:creationId xmlns:p14="http://schemas.microsoft.com/office/powerpoint/2010/main" val="1345054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5937523"/>
          </a:xfrm>
        </p:spPr>
        <p:txBody>
          <a:bodyPr>
            <a:noAutofit/>
          </a:bodyPr>
          <a:lstStyle/>
          <a:p>
            <a:pPr algn="just"/>
            <a:r>
              <a:rPr lang="en-US" sz="3000" dirty="0"/>
              <a:t>There are two types of memories that are used in digital systems: </a:t>
            </a:r>
            <a:r>
              <a:rPr lang="en-US" sz="3000" i="1" dirty="0">
                <a:solidFill>
                  <a:srgbClr val="C00000"/>
                </a:solidFill>
              </a:rPr>
              <a:t>random‐access memory </a:t>
            </a:r>
            <a:r>
              <a:rPr lang="en-US" sz="3000" dirty="0">
                <a:solidFill>
                  <a:srgbClr val="C00000"/>
                </a:solidFill>
              </a:rPr>
              <a:t>(RAM)</a:t>
            </a:r>
            <a:r>
              <a:rPr lang="en-US" sz="3000" dirty="0"/>
              <a:t> and </a:t>
            </a:r>
            <a:r>
              <a:rPr lang="en-US" sz="3000" i="1" dirty="0">
                <a:solidFill>
                  <a:srgbClr val="C00000"/>
                </a:solidFill>
              </a:rPr>
              <a:t>read‐only memory </a:t>
            </a:r>
            <a:r>
              <a:rPr lang="en-US" sz="3000" dirty="0">
                <a:solidFill>
                  <a:srgbClr val="C00000"/>
                </a:solidFill>
              </a:rPr>
              <a:t>(ROM)</a:t>
            </a:r>
            <a:r>
              <a:rPr lang="en-US" sz="3000" dirty="0"/>
              <a:t>.</a:t>
            </a:r>
          </a:p>
          <a:p>
            <a:pPr algn="just"/>
            <a:r>
              <a:rPr lang="en-US" sz="3000" dirty="0"/>
              <a:t>RAM stores new information for later use.</a:t>
            </a:r>
          </a:p>
          <a:p>
            <a:pPr algn="just"/>
            <a:r>
              <a:rPr lang="en-US" sz="3000" dirty="0"/>
              <a:t>The process of storing new information into memory is referred to as a memory </a:t>
            </a:r>
            <a:r>
              <a:rPr lang="en-US" sz="3000" i="1" dirty="0">
                <a:solidFill>
                  <a:srgbClr val="002060"/>
                </a:solidFill>
              </a:rPr>
              <a:t>write</a:t>
            </a:r>
            <a:r>
              <a:rPr lang="en-US" sz="3000" i="1" dirty="0"/>
              <a:t> </a:t>
            </a:r>
            <a:r>
              <a:rPr lang="en-US" sz="3000" dirty="0"/>
              <a:t>operation.</a:t>
            </a:r>
          </a:p>
          <a:p>
            <a:pPr algn="just"/>
            <a:r>
              <a:rPr lang="en-US" sz="3000" dirty="0"/>
              <a:t>The process of transferring the stored information out of memory is referred to as a memory </a:t>
            </a:r>
            <a:r>
              <a:rPr lang="en-US" sz="3000" i="1" dirty="0">
                <a:solidFill>
                  <a:srgbClr val="002060"/>
                </a:solidFill>
              </a:rPr>
              <a:t>read</a:t>
            </a:r>
            <a:r>
              <a:rPr lang="en-US" sz="3000" i="1" dirty="0"/>
              <a:t> </a:t>
            </a:r>
            <a:r>
              <a:rPr lang="en-US" sz="3000" dirty="0"/>
              <a:t>operation.</a:t>
            </a:r>
          </a:p>
          <a:p>
            <a:pPr algn="just"/>
            <a:r>
              <a:rPr lang="en-US" sz="3000" dirty="0">
                <a:solidFill>
                  <a:srgbClr val="002060"/>
                </a:solidFill>
              </a:rPr>
              <a:t>RAM can perform both write and read operations.</a:t>
            </a:r>
          </a:p>
        </p:txBody>
      </p:sp>
    </p:spTree>
    <p:extLst>
      <p:ext uri="{BB962C8B-B14F-4D97-AF65-F5344CB8AC3E}">
        <p14:creationId xmlns:p14="http://schemas.microsoft.com/office/powerpoint/2010/main" val="1673419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24744"/>
            <a:ext cx="8229600" cy="5001419"/>
          </a:xfrm>
        </p:spPr>
        <p:txBody>
          <a:bodyPr>
            <a:noAutofit/>
          </a:bodyPr>
          <a:lstStyle/>
          <a:p>
            <a:pPr algn="just"/>
            <a:r>
              <a:rPr lang="en-US" sz="3000" dirty="0">
                <a:solidFill>
                  <a:srgbClr val="002060"/>
                </a:solidFill>
              </a:rPr>
              <a:t>ROM can perform only the read operation.</a:t>
            </a:r>
          </a:p>
          <a:p>
            <a:pPr algn="just"/>
            <a:r>
              <a:rPr lang="en-US" sz="3000" dirty="0"/>
              <a:t>This means that suitable binary information is already stored inside memory and can be retrieved or read at any time. However, that information cannot be altered by writing.</a:t>
            </a:r>
            <a:endParaRPr lang="en-IN" sz="3000" dirty="0"/>
          </a:p>
          <a:p>
            <a:pPr algn="just"/>
            <a:r>
              <a:rPr lang="en-US" sz="3000" dirty="0"/>
              <a:t>ROM is a </a:t>
            </a:r>
            <a:r>
              <a:rPr lang="en-US" sz="3000" i="1" dirty="0">
                <a:solidFill>
                  <a:srgbClr val="002060"/>
                </a:solidFill>
              </a:rPr>
              <a:t>programmable logic device</a:t>
            </a:r>
            <a:r>
              <a:rPr lang="en-US" sz="3000" i="1" dirty="0"/>
              <a:t> </a:t>
            </a:r>
            <a:r>
              <a:rPr lang="en-US" sz="3000" dirty="0"/>
              <a:t>(PLD).</a:t>
            </a:r>
          </a:p>
          <a:p>
            <a:pPr algn="just"/>
            <a:r>
              <a:rPr lang="en-US" sz="3000" dirty="0"/>
              <a:t>The binary information that is stored within such a device is specified in some fashion and then embedded within the hardware in a process is referred to as </a:t>
            </a:r>
            <a:r>
              <a:rPr lang="en-US" sz="3000" i="1" dirty="0"/>
              <a:t>programming </a:t>
            </a:r>
            <a:r>
              <a:rPr lang="en-US" sz="3000" dirty="0"/>
              <a:t>the device.</a:t>
            </a:r>
            <a:endParaRPr lang="en-IN" sz="3000" dirty="0"/>
          </a:p>
        </p:txBody>
      </p:sp>
    </p:spTree>
    <p:extLst>
      <p:ext uri="{BB962C8B-B14F-4D97-AF65-F5344CB8AC3E}">
        <p14:creationId xmlns:p14="http://schemas.microsoft.com/office/powerpoint/2010/main" val="2329925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000" dirty="0"/>
              <a:t>ROM is one example of a PLD. Other such units are the programmable logic array (PLA), programmable array logic (PAL), and the field‐programmable gate array (FPGA).</a:t>
            </a:r>
          </a:p>
          <a:p>
            <a:pPr algn="just"/>
            <a:r>
              <a:rPr lang="en-US" sz="3000" dirty="0"/>
              <a:t>A PLD is an integrated circuit with internal logic gates connected through electronic paths that behave similarly to fuses.</a:t>
            </a:r>
          </a:p>
          <a:p>
            <a:pPr algn="just"/>
            <a:r>
              <a:rPr lang="en-US" sz="3000" dirty="0"/>
              <a:t>In the original state of the device, all the fuses are intact.</a:t>
            </a:r>
          </a:p>
        </p:txBody>
      </p:sp>
    </p:spTree>
    <p:extLst>
      <p:ext uri="{BB962C8B-B14F-4D97-AF65-F5344CB8AC3E}">
        <p14:creationId xmlns:p14="http://schemas.microsoft.com/office/powerpoint/2010/main" val="2028916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000" dirty="0"/>
              <a:t>Programming the device involves blowing those fuses along the paths that must be removed in order to obtain the particular configuration of the desired logic function.</a:t>
            </a:r>
            <a:endParaRPr lang="en-IN" sz="30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3840874"/>
            <a:ext cx="5689529" cy="1532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8780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animEffect transition="in" filter="barn(inVertical)">
                                      <p:cBhvr>
                                        <p:cTn id="13"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C00000"/>
                </a:solidFill>
              </a:rPr>
              <a:t>Random-Access Memory</a:t>
            </a:r>
          </a:p>
        </p:txBody>
      </p:sp>
      <p:sp>
        <p:nvSpPr>
          <p:cNvPr id="3" name="Content Placeholder 2"/>
          <p:cNvSpPr>
            <a:spLocks noGrp="1"/>
          </p:cNvSpPr>
          <p:nvPr>
            <p:ph idx="1"/>
          </p:nvPr>
        </p:nvSpPr>
        <p:spPr/>
        <p:txBody>
          <a:bodyPr>
            <a:normAutofit/>
          </a:bodyPr>
          <a:lstStyle/>
          <a:p>
            <a:pPr algn="just"/>
            <a:r>
              <a:rPr lang="en-US" sz="3000" dirty="0"/>
              <a:t>A memory unit is a collection of storage cells, together with associated circuits needed to transfer information into and out of a device.</a:t>
            </a:r>
          </a:p>
          <a:p>
            <a:pPr algn="just"/>
            <a:r>
              <a:rPr lang="en-US" sz="3000" dirty="0"/>
              <a:t>A memory unit stores binary information in groups of bits called </a:t>
            </a:r>
            <a:r>
              <a:rPr lang="en-US" sz="3000" i="1" dirty="0">
                <a:solidFill>
                  <a:srgbClr val="002060"/>
                </a:solidFill>
              </a:rPr>
              <a:t>words</a:t>
            </a:r>
            <a:r>
              <a:rPr lang="en-US" sz="3000" dirty="0"/>
              <a:t>.</a:t>
            </a:r>
          </a:p>
          <a:p>
            <a:pPr algn="just"/>
            <a:r>
              <a:rPr lang="en-US" sz="3000" dirty="0"/>
              <a:t>A memory word is a group of 1’s and 0’s and may represent a number, an instruction, one or more alphanumeric characters, or any other binary‐coded information.</a:t>
            </a:r>
          </a:p>
        </p:txBody>
      </p:sp>
    </p:spTree>
    <p:extLst>
      <p:ext uri="{BB962C8B-B14F-4D97-AF65-F5344CB8AC3E}">
        <p14:creationId xmlns:p14="http://schemas.microsoft.com/office/powerpoint/2010/main" val="3241518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sz="3000" dirty="0"/>
              <a:t>A group of 8 bits is called a </a:t>
            </a:r>
            <a:r>
              <a:rPr lang="en-US" sz="3000" i="1" dirty="0">
                <a:solidFill>
                  <a:srgbClr val="002060"/>
                </a:solidFill>
              </a:rPr>
              <a:t>byte</a:t>
            </a:r>
            <a:r>
              <a:rPr lang="en-US" sz="3000" dirty="0"/>
              <a:t>.</a:t>
            </a:r>
          </a:p>
          <a:p>
            <a:pPr algn="just"/>
            <a:r>
              <a:rPr lang="en-US" sz="3000" dirty="0"/>
              <a:t>Most computer memories use words that are multiples of 8 bits in length.</a:t>
            </a:r>
          </a:p>
          <a:p>
            <a:pPr algn="just"/>
            <a:r>
              <a:rPr lang="en-US" sz="3000" dirty="0"/>
              <a:t>Thus, a 16‐bit word contains two bytes, and a 32‐bit word is made up of four bytes.</a:t>
            </a:r>
          </a:p>
          <a:p>
            <a:pPr algn="just"/>
            <a:r>
              <a:rPr lang="en-US" sz="3000" dirty="0"/>
              <a:t>The capacity of a memory unit is usually stated as the total number of bytes that the unit </a:t>
            </a:r>
            <a:r>
              <a:rPr lang="en-IN" sz="3000" dirty="0"/>
              <a:t>can store.</a:t>
            </a:r>
          </a:p>
          <a:p>
            <a:endParaRPr lang="en-IN" dirty="0"/>
          </a:p>
        </p:txBody>
      </p:sp>
    </p:spTree>
    <p:extLst>
      <p:ext uri="{BB962C8B-B14F-4D97-AF65-F5344CB8AC3E}">
        <p14:creationId xmlns:p14="http://schemas.microsoft.com/office/powerpoint/2010/main" val="3678972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80728"/>
            <a:ext cx="8229600" cy="3805883"/>
          </a:xfrm>
        </p:spPr>
        <p:txBody>
          <a:bodyPr>
            <a:normAutofit/>
          </a:bodyPr>
          <a:lstStyle/>
          <a:p>
            <a:pPr algn="just"/>
            <a:r>
              <a:rPr lang="en-US" sz="3000" dirty="0"/>
              <a:t>Communication between memory and its environment is achieved through data input and output lines, address selection lines, and control lines that specify the direction of transfer.</a:t>
            </a:r>
          </a:p>
          <a:p>
            <a:pPr algn="just"/>
            <a:r>
              <a:rPr lang="en-US" sz="3000" dirty="0"/>
              <a:t>A block diagram of a memory unit is shown in Figure. </a:t>
            </a:r>
            <a:endParaRPr lang="en-IN" sz="30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3645024"/>
            <a:ext cx="4202585" cy="2810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366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050"/>
                                        </p:tgtEl>
                                        <p:attrNameLst>
                                          <p:attrName>style.visibility</p:attrName>
                                        </p:attrNameLst>
                                      </p:cBhvr>
                                      <p:to>
                                        <p:strVal val="visible"/>
                                      </p:to>
                                    </p:set>
                                    <p:animEffect transition="in" filter="barn(inVertical)">
                                      <p:cBhvr>
                                        <p:cTn id="19"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6752"/>
            <a:ext cx="8229600" cy="4929411"/>
          </a:xfrm>
        </p:spPr>
        <p:txBody>
          <a:bodyPr>
            <a:normAutofit fontScale="92500"/>
          </a:bodyPr>
          <a:lstStyle/>
          <a:p>
            <a:pPr algn="just"/>
            <a:r>
              <a:rPr lang="en-US" dirty="0"/>
              <a:t>The </a:t>
            </a:r>
            <a:r>
              <a:rPr lang="en-US" i="1" dirty="0"/>
              <a:t>n </a:t>
            </a:r>
            <a:r>
              <a:rPr lang="en-US" dirty="0"/>
              <a:t>data input lines provide the information to be stored in memory, and the </a:t>
            </a:r>
            <a:r>
              <a:rPr lang="en-US" i="1" dirty="0"/>
              <a:t>n </a:t>
            </a:r>
            <a:r>
              <a:rPr lang="en-US" dirty="0"/>
              <a:t>data output lines supply the information coming out of memory.</a:t>
            </a:r>
          </a:p>
          <a:p>
            <a:pPr algn="just"/>
            <a:r>
              <a:rPr lang="en-US" dirty="0"/>
              <a:t>The </a:t>
            </a:r>
            <a:r>
              <a:rPr lang="en-US" i="1" dirty="0"/>
              <a:t>k </a:t>
            </a:r>
            <a:r>
              <a:rPr lang="en-US" dirty="0"/>
              <a:t>address lines specify the particular word chosen among the many available.</a:t>
            </a:r>
          </a:p>
          <a:p>
            <a:pPr algn="just"/>
            <a:r>
              <a:rPr lang="en-US" dirty="0"/>
              <a:t>The two control inputs specify the direction of transfer desired: the </a:t>
            </a:r>
            <a:r>
              <a:rPr lang="en-US" i="1" dirty="0">
                <a:solidFill>
                  <a:srgbClr val="002060"/>
                </a:solidFill>
              </a:rPr>
              <a:t>Write</a:t>
            </a:r>
            <a:r>
              <a:rPr lang="en-US" i="1" dirty="0"/>
              <a:t> </a:t>
            </a:r>
            <a:r>
              <a:rPr lang="en-US" dirty="0"/>
              <a:t>input causes binary data to be transferred into the memory, and the </a:t>
            </a:r>
            <a:r>
              <a:rPr lang="en-US" i="1" dirty="0">
                <a:solidFill>
                  <a:srgbClr val="002060"/>
                </a:solidFill>
              </a:rPr>
              <a:t>Read</a:t>
            </a:r>
            <a:r>
              <a:rPr lang="en-US" i="1" dirty="0"/>
              <a:t> </a:t>
            </a:r>
            <a:r>
              <a:rPr lang="en-US" dirty="0"/>
              <a:t>input causes binary data to be transferred out of memory.</a:t>
            </a:r>
            <a:endParaRPr lang="en-IN" dirty="0"/>
          </a:p>
        </p:txBody>
      </p:sp>
    </p:spTree>
    <p:extLst>
      <p:ext uri="{BB962C8B-B14F-4D97-AF65-F5344CB8AC3E}">
        <p14:creationId xmlns:p14="http://schemas.microsoft.com/office/powerpoint/2010/main" val="967941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6752"/>
            <a:ext cx="8229600" cy="4929411"/>
          </a:xfrm>
        </p:spPr>
        <p:txBody>
          <a:bodyPr>
            <a:noAutofit/>
          </a:bodyPr>
          <a:lstStyle/>
          <a:p>
            <a:pPr algn="just"/>
            <a:r>
              <a:rPr lang="en-US" sz="3000" dirty="0"/>
              <a:t>The memory unit is specified by the number of words it contains and the number of bits in each word.</a:t>
            </a:r>
          </a:p>
          <a:p>
            <a:pPr algn="just"/>
            <a:r>
              <a:rPr lang="en-US" sz="3000" dirty="0"/>
              <a:t>It is customary to refer to the number of words (or bytes) in memory with one of the letters K (kilo), M (mega), and G (</a:t>
            </a:r>
            <a:r>
              <a:rPr lang="en-US" sz="3000" dirty="0" err="1"/>
              <a:t>giga</a:t>
            </a:r>
            <a:r>
              <a:rPr lang="en-US" sz="3000" dirty="0"/>
              <a:t>).</a:t>
            </a:r>
          </a:p>
          <a:p>
            <a:pPr algn="just"/>
            <a:r>
              <a:rPr lang="en-US" sz="3000" dirty="0"/>
              <a:t>K is equal to 2</a:t>
            </a:r>
            <a:r>
              <a:rPr lang="en-US" sz="3000" baseline="30000" dirty="0"/>
              <a:t>10</a:t>
            </a:r>
            <a:r>
              <a:rPr lang="en-US" sz="3000" dirty="0"/>
              <a:t>, M is equal to 2</a:t>
            </a:r>
            <a:r>
              <a:rPr lang="en-US" sz="3000" baseline="30000" dirty="0"/>
              <a:t>20</a:t>
            </a:r>
            <a:r>
              <a:rPr lang="en-US" sz="3000" dirty="0"/>
              <a:t>, and G is equal to 2</a:t>
            </a:r>
            <a:r>
              <a:rPr lang="en-US" sz="3000" baseline="30000" dirty="0"/>
              <a:t>30</a:t>
            </a:r>
            <a:r>
              <a:rPr lang="en-US" sz="3000" dirty="0"/>
              <a:t>.</a:t>
            </a:r>
          </a:p>
          <a:p>
            <a:pPr algn="just"/>
            <a:r>
              <a:rPr lang="en-US" sz="3000" dirty="0"/>
              <a:t>Thus, 64K = 2</a:t>
            </a:r>
            <a:r>
              <a:rPr lang="en-US" sz="3000" baseline="30000" dirty="0"/>
              <a:t>6 </a:t>
            </a:r>
            <a:r>
              <a:rPr lang="en-US" sz="3000" dirty="0"/>
              <a:t>× 2</a:t>
            </a:r>
            <a:r>
              <a:rPr lang="en-US" sz="3000" baseline="30000" dirty="0"/>
              <a:t>10</a:t>
            </a:r>
            <a:r>
              <a:rPr lang="en-US" sz="3000" dirty="0"/>
              <a:t> = 2</a:t>
            </a:r>
            <a:r>
              <a:rPr lang="en-US" sz="3000" baseline="30000" dirty="0"/>
              <a:t>16</a:t>
            </a:r>
            <a:r>
              <a:rPr lang="en-US" sz="3000" dirty="0"/>
              <a:t>, 2M = 2</a:t>
            </a:r>
            <a:r>
              <a:rPr lang="en-US" sz="3000" baseline="30000" dirty="0"/>
              <a:t>1 </a:t>
            </a:r>
            <a:r>
              <a:rPr lang="en-US" sz="3000" dirty="0"/>
              <a:t>× 2</a:t>
            </a:r>
            <a:r>
              <a:rPr lang="en-US" sz="3000" baseline="30000" dirty="0"/>
              <a:t>20</a:t>
            </a:r>
            <a:r>
              <a:rPr lang="en-US" sz="3000" dirty="0"/>
              <a:t> = 2</a:t>
            </a:r>
            <a:r>
              <a:rPr lang="en-US" sz="3000" baseline="30000" dirty="0"/>
              <a:t>21</a:t>
            </a:r>
            <a:r>
              <a:rPr lang="en-US" sz="3000" dirty="0"/>
              <a:t>, and 4G = 2</a:t>
            </a:r>
            <a:r>
              <a:rPr lang="en-US" sz="3000" baseline="30000" dirty="0"/>
              <a:t>2 </a:t>
            </a:r>
            <a:r>
              <a:rPr lang="en-US" sz="3000" dirty="0"/>
              <a:t>× 2</a:t>
            </a:r>
            <a:r>
              <a:rPr lang="en-US" sz="3000" baseline="30000" dirty="0"/>
              <a:t>30</a:t>
            </a:r>
            <a:r>
              <a:rPr lang="en-US" sz="3000" dirty="0"/>
              <a:t> = 2</a:t>
            </a:r>
            <a:r>
              <a:rPr lang="en-US" sz="3000" baseline="30000" dirty="0"/>
              <a:t>32</a:t>
            </a:r>
            <a:r>
              <a:rPr lang="en-US" sz="3000" dirty="0"/>
              <a:t>.</a:t>
            </a:r>
          </a:p>
        </p:txBody>
      </p:sp>
    </p:spTree>
    <p:extLst>
      <p:ext uri="{BB962C8B-B14F-4D97-AF65-F5344CB8AC3E}">
        <p14:creationId xmlns:p14="http://schemas.microsoft.com/office/powerpoint/2010/main" val="716106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24744"/>
            <a:ext cx="8229600" cy="5001419"/>
          </a:xfrm>
        </p:spPr>
        <p:txBody>
          <a:bodyPr>
            <a:noAutofit/>
          </a:bodyPr>
          <a:lstStyle/>
          <a:p>
            <a:pPr algn="just"/>
            <a:r>
              <a:rPr lang="en-US" sz="3000" dirty="0"/>
              <a:t>Consider, for example, a memory unit with a capacity of 1K words of 16 bits each.</a:t>
            </a:r>
          </a:p>
          <a:p>
            <a:pPr algn="just"/>
            <a:r>
              <a:rPr lang="en-US" sz="3000" dirty="0"/>
              <a:t>Since 1K = 1,024 = 2</a:t>
            </a:r>
            <a:r>
              <a:rPr lang="en-US" sz="3000" baseline="30000" dirty="0"/>
              <a:t>10</a:t>
            </a:r>
            <a:r>
              <a:rPr lang="en-US" sz="3000" dirty="0"/>
              <a:t> and 16 bits constitute two bytes, we can say that the memory can accommodate 2,048 = 2K bytes.</a:t>
            </a:r>
          </a:p>
          <a:p>
            <a:pPr algn="just"/>
            <a:r>
              <a:rPr lang="en-US" sz="3000" dirty="0"/>
              <a:t>The 1K × 16 memory has 10 bits in the address and 16 bits in each word.</a:t>
            </a:r>
          </a:p>
          <a:p>
            <a:pPr algn="just"/>
            <a:r>
              <a:rPr lang="en-US" sz="3000" dirty="0"/>
              <a:t>As another example, a 64K × 10 memory will have 16 bits in the address (since 64K = 2</a:t>
            </a:r>
            <a:r>
              <a:rPr lang="en-US" sz="3000" baseline="30000" dirty="0"/>
              <a:t>16</a:t>
            </a:r>
            <a:r>
              <a:rPr lang="en-US" sz="3000" dirty="0"/>
              <a:t>) and each word will consist of 10 bits.</a:t>
            </a:r>
            <a:endParaRPr lang="en-IN" sz="3000" dirty="0"/>
          </a:p>
        </p:txBody>
      </p:sp>
    </p:spTree>
    <p:extLst>
      <p:ext uri="{BB962C8B-B14F-4D97-AF65-F5344CB8AC3E}">
        <p14:creationId xmlns:p14="http://schemas.microsoft.com/office/powerpoint/2010/main" val="942390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sz="3000" dirty="0"/>
              <a:t>The number of address bits needed in a memory is dependent on the total number of words that can be stored in the memory and is independent of the number of bits in each word.</a:t>
            </a:r>
          </a:p>
          <a:p>
            <a:pPr algn="just"/>
            <a:r>
              <a:rPr lang="en-US" sz="3000" dirty="0"/>
              <a:t>The number of bits in the address is determined from the relationship 2</a:t>
            </a:r>
            <a:r>
              <a:rPr lang="en-US" sz="3000" i="1" baseline="30000" dirty="0"/>
              <a:t>k</a:t>
            </a:r>
            <a:r>
              <a:rPr lang="en-US" sz="3000" i="1" dirty="0"/>
              <a:t> ≥</a:t>
            </a:r>
            <a:r>
              <a:rPr lang="en-US" sz="3000" dirty="0"/>
              <a:t> </a:t>
            </a:r>
            <a:r>
              <a:rPr lang="en-US" sz="3000" i="1" dirty="0"/>
              <a:t>m</a:t>
            </a:r>
            <a:r>
              <a:rPr lang="en-US" sz="3000" dirty="0"/>
              <a:t>, where </a:t>
            </a:r>
            <a:r>
              <a:rPr lang="en-US" sz="3000" i="1" dirty="0"/>
              <a:t>m </a:t>
            </a:r>
            <a:r>
              <a:rPr lang="en-US" sz="3000" dirty="0"/>
              <a:t>is the total number of words and </a:t>
            </a:r>
            <a:r>
              <a:rPr lang="en-US" sz="3000" i="1" dirty="0"/>
              <a:t>k </a:t>
            </a:r>
            <a:r>
              <a:rPr lang="en-US" sz="3000" dirty="0"/>
              <a:t>is the number of address bits needed to satisfy the relationship.</a:t>
            </a:r>
            <a:endParaRPr lang="en-IN" sz="3000" dirty="0"/>
          </a:p>
        </p:txBody>
      </p:sp>
    </p:spTree>
    <p:extLst>
      <p:ext uri="{BB962C8B-B14F-4D97-AF65-F5344CB8AC3E}">
        <p14:creationId xmlns:p14="http://schemas.microsoft.com/office/powerpoint/2010/main" val="293283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4000" dirty="0">
                <a:solidFill>
                  <a:srgbClr val="C00000"/>
                </a:solidFill>
              </a:rPr>
              <a:t>Problem</a:t>
            </a:r>
            <a:endParaRPr lang="en-IN" sz="4000" dirty="0"/>
          </a:p>
        </p:txBody>
      </p:sp>
      <p:sp>
        <p:nvSpPr>
          <p:cNvPr id="3" name="Content Placeholder 2"/>
          <p:cNvSpPr>
            <a:spLocks noGrp="1"/>
          </p:cNvSpPr>
          <p:nvPr>
            <p:ph idx="1"/>
          </p:nvPr>
        </p:nvSpPr>
        <p:spPr/>
        <p:txBody>
          <a:bodyPr>
            <a:normAutofit/>
          </a:bodyPr>
          <a:lstStyle/>
          <a:p>
            <a:pPr algn="just"/>
            <a:r>
              <a:rPr lang="en-US" sz="3000" dirty="0"/>
              <a:t>The memory units that follow are specified by the number of words times the number of bits per word. How many address lines and input-output data lines are needed in each </a:t>
            </a:r>
            <a:r>
              <a:rPr lang="en-IN" sz="3000" dirty="0"/>
              <a:t>case?</a:t>
            </a:r>
          </a:p>
          <a:p>
            <a:pPr marL="0" indent="0" algn="just">
              <a:buNone/>
            </a:pPr>
            <a:r>
              <a:rPr lang="en-IN" sz="3000" dirty="0"/>
              <a:t>	(a) 8K × 16		(b) 2G × 8</a:t>
            </a:r>
          </a:p>
          <a:p>
            <a:pPr marL="0" indent="0" algn="just">
              <a:buNone/>
            </a:pPr>
            <a:r>
              <a:rPr lang="en-IN" sz="3000" dirty="0"/>
              <a:t>	(c) 16M × 32	(d) 256K × 64</a:t>
            </a:r>
          </a:p>
        </p:txBody>
      </p:sp>
    </p:spTree>
    <p:extLst>
      <p:ext uri="{BB962C8B-B14F-4D97-AF65-F5344CB8AC3E}">
        <p14:creationId xmlns:p14="http://schemas.microsoft.com/office/powerpoint/2010/main" val="542640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additive="base">
                                        <p:cTn id="16"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pPr algn="l"/>
            <a:r>
              <a:rPr lang="en-US" i="1" dirty="0">
                <a:solidFill>
                  <a:srgbClr val="002060"/>
                </a:solidFill>
              </a:rPr>
              <a:t>Solution:</a:t>
            </a:r>
            <a:endParaRPr lang="en-IN" i="1" dirty="0">
              <a:solidFill>
                <a:srgbClr val="002060"/>
              </a:solidFill>
            </a:endParaRPr>
          </a:p>
        </p:txBody>
      </p:sp>
      <p:sp>
        <p:nvSpPr>
          <p:cNvPr id="3" name="Content Placeholder 2"/>
          <p:cNvSpPr>
            <a:spLocks noGrp="1"/>
          </p:cNvSpPr>
          <p:nvPr>
            <p:ph idx="1"/>
          </p:nvPr>
        </p:nvSpPr>
        <p:spPr>
          <a:xfrm>
            <a:off x="457200" y="908720"/>
            <a:ext cx="8229600" cy="5760640"/>
          </a:xfrm>
        </p:spPr>
        <p:txBody>
          <a:bodyPr>
            <a:normAutofit fontScale="92500" lnSpcReduction="10000"/>
          </a:bodyPr>
          <a:lstStyle/>
          <a:p>
            <a:pPr algn="just"/>
            <a:r>
              <a:rPr lang="en-IN" dirty="0"/>
              <a:t>(</a:t>
            </a:r>
            <a:r>
              <a:rPr lang="en-IN" sz="3600" dirty="0"/>
              <a:t>a) </a:t>
            </a:r>
            <a:r>
              <a:rPr lang="en-IN" sz="3000" dirty="0"/>
              <a:t>8K × 16 = 2</a:t>
            </a:r>
            <a:r>
              <a:rPr lang="en-IN" sz="3000" baseline="30000" dirty="0"/>
              <a:t>3</a:t>
            </a:r>
            <a:r>
              <a:rPr lang="en-IN" sz="3000" dirty="0"/>
              <a:t> </a:t>
            </a:r>
            <a:r>
              <a:rPr lang="en-IN" sz="3000" dirty="0">
                <a:solidFill>
                  <a:srgbClr val="002060"/>
                </a:solidFill>
              </a:rPr>
              <a:t>×</a:t>
            </a:r>
            <a:r>
              <a:rPr lang="en-IN" sz="3000" dirty="0"/>
              <a:t> 2</a:t>
            </a:r>
            <a:r>
              <a:rPr lang="en-IN" sz="3000" baseline="30000" dirty="0"/>
              <a:t>10</a:t>
            </a:r>
            <a:r>
              <a:rPr lang="en-IN" sz="3000" dirty="0"/>
              <a:t> × 16 = 2</a:t>
            </a:r>
            <a:r>
              <a:rPr lang="en-IN" sz="3000" baseline="30000" dirty="0"/>
              <a:t>13</a:t>
            </a:r>
            <a:r>
              <a:rPr lang="en-IN" sz="3000" dirty="0"/>
              <a:t> × 16</a:t>
            </a:r>
          </a:p>
          <a:p>
            <a:pPr marL="0" indent="0" algn="just">
              <a:buNone/>
            </a:pPr>
            <a:r>
              <a:rPr lang="en-US" sz="3000" dirty="0"/>
              <a:t>	Address lines = 13 and </a:t>
            </a:r>
          </a:p>
          <a:p>
            <a:pPr marL="0" indent="0" algn="just">
              <a:buNone/>
            </a:pPr>
            <a:r>
              <a:rPr lang="en-US" sz="3000" dirty="0"/>
              <a:t>	Input-output data lines = 16</a:t>
            </a:r>
            <a:endParaRPr lang="en-IN" sz="3000" dirty="0"/>
          </a:p>
          <a:p>
            <a:pPr algn="just"/>
            <a:r>
              <a:rPr lang="en-IN" sz="3000" dirty="0"/>
              <a:t>(b) 2G × 8 = 2</a:t>
            </a:r>
            <a:r>
              <a:rPr lang="en-IN" sz="3000" baseline="30000" dirty="0"/>
              <a:t>1</a:t>
            </a:r>
            <a:r>
              <a:rPr lang="en-IN" sz="3000" dirty="0"/>
              <a:t> </a:t>
            </a:r>
            <a:r>
              <a:rPr lang="en-IN" sz="3000" dirty="0">
                <a:solidFill>
                  <a:srgbClr val="002060"/>
                </a:solidFill>
              </a:rPr>
              <a:t>×</a:t>
            </a:r>
            <a:r>
              <a:rPr lang="en-IN" sz="3000" dirty="0"/>
              <a:t> 2</a:t>
            </a:r>
            <a:r>
              <a:rPr lang="en-IN" sz="3000" baseline="30000" dirty="0"/>
              <a:t>30</a:t>
            </a:r>
            <a:r>
              <a:rPr lang="en-IN" sz="3000" dirty="0"/>
              <a:t> × 8 = 2</a:t>
            </a:r>
            <a:r>
              <a:rPr lang="en-IN" sz="3000" baseline="30000" dirty="0"/>
              <a:t>31</a:t>
            </a:r>
            <a:r>
              <a:rPr lang="en-IN" sz="3000" dirty="0"/>
              <a:t> × 8</a:t>
            </a:r>
          </a:p>
          <a:p>
            <a:pPr marL="0" indent="0" algn="just">
              <a:buNone/>
            </a:pPr>
            <a:r>
              <a:rPr lang="en-US" sz="3000" dirty="0"/>
              <a:t>	Address lines = 31 and </a:t>
            </a:r>
          </a:p>
          <a:p>
            <a:pPr marL="0" indent="0" algn="just">
              <a:buNone/>
            </a:pPr>
            <a:r>
              <a:rPr lang="en-US" sz="3000" dirty="0"/>
              <a:t>	Input-output data lines = 8</a:t>
            </a:r>
            <a:endParaRPr lang="en-IN" sz="3000" dirty="0"/>
          </a:p>
          <a:p>
            <a:pPr algn="just"/>
            <a:r>
              <a:rPr lang="en-IN" sz="3000" dirty="0"/>
              <a:t>(c) 16M × 32 = 2</a:t>
            </a:r>
            <a:r>
              <a:rPr lang="en-IN" sz="3000" baseline="30000" dirty="0"/>
              <a:t>4</a:t>
            </a:r>
            <a:r>
              <a:rPr lang="en-IN" sz="3000" dirty="0"/>
              <a:t> </a:t>
            </a:r>
            <a:r>
              <a:rPr lang="en-IN" sz="3000" dirty="0">
                <a:solidFill>
                  <a:srgbClr val="002060"/>
                </a:solidFill>
              </a:rPr>
              <a:t>×</a:t>
            </a:r>
            <a:r>
              <a:rPr lang="en-IN" sz="3000" dirty="0"/>
              <a:t> 2</a:t>
            </a:r>
            <a:r>
              <a:rPr lang="en-IN" sz="3000" baseline="30000" dirty="0"/>
              <a:t>20</a:t>
            </a:r>
            <a:r>
              <a:rPr lang="en-IN" sz="3000" dirty="0"/>
              <a:t> × 32 = 2</a:t>
            </a:r>
            <a:r>
              <a:rPr lang="en-IN" sz="3000" baseline="30000" dirty="0"/>
              <a:t>24</a:t>
            </a:r>
            <a:r>
              <a:rPr lang="en-IN" sz="3000" dirty="0"/>
              <a:t> × 32</a:t>
            </a:r>
          </a:p>
          <a:p>
            <a:pPr marL="0" indent="0" algn="just">
              <a:buNone/>
            </a:pPr>
            <a:r>
              <a:rPr lang="en-US" sz="3000" dirty="0"/>
              <a:t>	Address lines = 24 and </a:t>
            </a:r>
          </a:p>
          <a:p>
            <a:pPr marL="0" indent="0" algn="just">
              <a:buNone/>
            </a:pPr>
            <a:r>
              <a:rPr lang="en-US" sz="3000" dirty="0"/>
              <a:t>	Input-output data lines = 32</a:t>
            </a:r>
            <a:endParaRPr lang="en-IN" sz="3000" dirty="0"/>
          </a:p>
          <a:p>
            <a:pPr algn="just"/>
            <a:r>
              <a:rPr lang="en-IN" sz="3000" dirty="0"/>
              <a:t>(d) 256K × 64 = 2</a:t>
            </a:r>
            <a:r>
              <a:rPr lang="en-IN" sz="3000" baseline="30000" dirty="0"/>
              <a:t>8</a:t>
            </a:r>
            <a:r>
              <a:rPr lang="en-IN" sz="3000" dirty="0"/>
              <a:t> </a:t>
            </a:r>
            <a:r>
              <a:rPr lang="en-IN" sz="3000" dirty="0">
                <a:solidFill>
                  <a:srgbClr val="002060"/>
                </a:solidFill>
              </a:rPr>
              <a:t>×</a:t>
            </a:r>
            <a:r>
              <a:rPr lang="en-IN" sz="3000" dirty="0"/>
              <a:t> 2</a:t>
            </a:r>
            <a:r>
              <a:rPr lang="en-IN" sz="3000" baseline="30000" dirty="0"/>
              <a:t>10</a:t>
            </a:r>
            <a:r>
              <a:rPr lang="en-IN" sz="3000" dirty="0"/>
              <a:t> × 64 = 2</a:t>
            </a:r>
            <a:r>
              <a:rPr lang="en-IN" sz="3000" baseline="30000" dirty="0"/>
              <a:t>18</a:t>
            </a:r>
            <a:r>
              <a:rPr lang="en-IN" sz="3000" dirty="0"/>
              <a:t> × 64</a:t>
            </a:r>
          </a:p>
          <a:p>
            <a:pPr marL="0" indent="0" algn="just">
              <a:buNone/>
            </a:pPr>
            <a:r>
              <a:rPr lang="en-US" sz="3000" dirty="0"/>
              <a:t>	Address lines = 18 and </a:t>
            </a:r>
          </a:p>
          <a:p>
            <a:pPr marL="0" indent="0" algn="just">
              <a:buNone/>
            </a:pPr>
            <a:r>
              <a:rPr lang="en-US" sz="3000" dirty="0"/>
              <a:t>	Input-output data lines = 64</a:t>
            </a:r>
            <a:endParaRPr lang="en-IN" sz="3000" dirty="0"/>
          </a:p>
        </p:txBody>
      </p:sp>
    </p:spTree>
    <p:extLst>
      <p:ext uri="{BB962C8B-B14F-4D97-AF65-F5344CB8AC3E}">
        <p14:creationId xmlns:p14="http://schemas.microsoft.com/office/powerpoint/2010/main" val="3522897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additive="base">
                                        <p:cTn id="16"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 calcmode="lin" valueType="num">
                                      <p:cBhvr additive="base">
                                        <p:cTn id="26"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 calcmode="lin" valueType="num">
                                      <p:cBhvr additive="base">
                                        <p:cTn id="3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 calcmode="lin" valueType="num">
                                      <p:cBhvr additive="base">
                                        <p:cTn id="3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 calcmode="lin" valueType="num">
                                      <p:cBhvr additive="base">
                                        <p:cTn id="4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 calcmode="lin" valueType="num">
                                      <p:cBhvr additive="base">
                                        <p:cTn id="4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3">
                                            <p:txEl>
                                              <p:pRg st="8" end="8"/>
                                            </p:txEl>
                                          </p:spTgt>
                                        </p:tgtEl>
                                        <p:attrNameLst>
                                          <p:attrName>style.visibility</p:attrName>
                                        </p:attrNameLst>
                                      </p:cBhvr>
                                      <p:to>
                                        <p:strVal val="visible"/>
                                      </p:to>
                                    </p:set>
                                    <p:anim calcmode="lin" valueType="num">
                                      <p:cBhvr additive="base">
                                        <p:cTn id="48"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3">
                                            <p:txEl>
                                              <p:pRg st="9" end="9"/>
                                            </p:txEl>
                                          </p:spTgt>
                                        </p:tgtEl>
                                        <p:attrNameLst>
                                          <p:attrName>style.visibility</p:attrName>
                                        </p:attrNameLst>
                                      </p:cBhvr>
                                      <p:to>
                                        <p:strVal val="visible"/>
                                      </p:to>
                                    </p:set>
                                    <p:anim calcmode="lin" valueType="num">
                                      <p:cBhvr additive="base">
                                        <p:cTn id="54"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9" end="9"/>
                                            </p:txEl>
                                          </p:spTgt>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3">
                                            <p:txEl>
                                              <p:pRg st="10" end="10"/>
                                            </p:txEl>
                                          </p:spTgt>
                                        </p:tgtEl>
                                        <p:attrNameLst>
                                          <p:attrName>style.visibility</p:attrName>
                                        </p:attrNameLst>
                                      </p:cBhvr>
                                      <p:to>
                                        <p:strVal val="visible"/>
                                      </p:to>
                                    </p:set>
                                    <p:anim calcmode="lin" valueType="num">
                                      <p:cBhvr additive="base">
                                        <p:cTn id="58"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 calcmode="lin" valueType="num">
                                      <p:cBhvr additive="base">
                                        <p:cTn id="62"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2060"/>
                </a:solidFill>
              </a:rPr>
              <a:t>Write and Read Operations</a:t>
            </a:r>
          </a:p>
        </p:txBody>
      </p:sp>
      <p:sp>
        <p:nvSpPr>
          <p:cNvPr id="3" name="Content Placeholder 2"/>
          <p:cNvSpPr>
            <a:spLocks noGrp="1"/>
          </p:cNvSpPr>
          <p:nvPr>
            <p:ph idx="1"/>
          </p:nvPr>
        </p:nvSpPr>
        <p:spPr>
          <a:xfrm>
            <a:off x="457200" y="1384176"/>
            <a:ext cx="8229600" cy="5141168"/>
          </a:xfrm>
        </p:spPr>
        <p:txBody>
          <a:bodyPr>
            <a:noAutofit/>
          </a:bodyPr>
          <a:lstStyle/>
          <a:p>
            <a:pPr algn="just"/>
            <a:r>
              <a:rPr lang="en-US" sz="3000" dirty="0"/>
              <a:t>The steps that must be taken for the purpose of transferring a new word to be stored into memory are as follows:</a:t>
            </a:r>
          </a:p>
          <a:p>
            <a:pPr marL="457200" lvl="1" indent="0" algn="just">
              <a:buNone/>
            </a:pPr>
            <a:r>
              <a:rPr lang="en-US" sz="2600" b="1" dirty="0">
                <a:solidFill>
                  <a:srgbClr val="002060"/>
                </a:solidFill>
              </a:rPr>
              <a:t>1. </a:t>
            </a:r>
            <a:r>
              <a:rPr lang="en-US" sz="2600" dirty="0">
                <a:solidFill>
                  <a:srgbClr val="002060"/>
                </a:solidFill>
              </a:rPr>
              <a:t>Apply the binary address of the desired word to the address lines.</a:t>
            </a:r>
          </a:p>
          <a:p>
            <a:pPr marL="457200" lvl="1" indent="0" algn="just">
              <a:buNone/>
            </a:pPr>
            <a:r>
              <a:rPr lang="en-US" sz="2600" b="1" dirty="0">
                <a:solidFill>
                  <a:srgbClr val="002060"/>
                </a:solidFill>
              </a:rPr>
              <a:t>2. </a:t>
            </a:r>
            <a:r>
              <a:rPr lang="en-US" sz="2600" dirty="0">
                <a:solidFill>
                  <a:srgbClr val="002060"/>
                </a:solidFill>
              </a:rPr>
              <a:t>Apply the data bits that must be stored in memory to the data input lines.</a:t>
            </a:r>
          </a:p>
          <a:p>
            <a:pPr marL="457200" lvl="1" indent="0" algn="just">
              <a:buNone/>
            </a:pPr>
            <a:r>
              <a:rPr lang="en-US" sz="2600" b="1" dirty="0">
                <a:solidFill>
                  <a:srgbClr val="002060"/>
                </a:solidFill>
              </a:rPr>
              <a:t>3. </a:t>
            </a:r>
            <a:r>
              <a:rPr lang="en-US" sz="2600" dirty="0">
                <a:solidFill>
                  <a:srgbClr val="002060"/>
                </a:solidFill>
              </a:rPr>
              <a:t>Activate the </a:t>
            </a:r>
            <a:r>
              <a:rPr lang="en-US" sz="2600" i="1" dirty="0">
                <a:solidFill>
                  <a:srgbClr val="002060"/>
                </a:solidFill>
              </a:rPr>
              <a:t>write </a:t>
            </a:r>
            <a:r>
              <a:rPr lang="en-US" sz="2600" dirty="0">
                <a:solidFill>
                  <a:srgbClr val="002060"/>
                </a:solidFill>
              </a:rPr>
              <a:t>input.</a:t>
            </a:r>
            <a:endParaRPr lang="en-US" sz="3000" dirty="0">
              <a:solidFill>
                <a:srgbClr val="002060"/>
              </a:solidFill>
            </a:endParaRPr>
          </a:p>
          <a:p>
            <a:pPr algn="just"/>
            <a:r>
              <a:rPr lang="en-US" sz="3000" dirty="0"/>
              <a:t>The memory unit will then take the bits from the input data lines and store them in the word specified by the address lines.</a:t>
            </a:r>
          </a:p>
          <a:p>
            <a:pPr algn="just"/>
            <a:endParaRPr lang="en-US" sz="3000" dirty="0"/>
          </a:p>
          <a:p>
            <a:pPr marL="457200" lvl="1" indent="0" algn="just">
              <a:buNone/>
            </a:pPr>
            <a:endParaRPr lang="en-US" sz="2600" dirty="0"/>
          </a:p>
        </p:txBody>
      </p:sp>
    </p:spTree>
    <p:extLst>
      <p:ext uri="{BB962C8B-B14F-4D97-AF65-F5344CB8AC3E}">
        <p14:creationId xmlns:p14="http://schemas.microsoft.com/office/powerpoint/2010/main" val="1770645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000" dirty="0"/>
              <a:t>The steps that must be taken for the purpose of transferring a stored word out of </a:t>
            </a:r>
            <a:r>
              <a:rPr lang="en-IN" sz="3000" dirty="0"/>
              <a:t>memory are as follows:</a:t>
            </a:r>
          </a:p>
          <a:p>
            <a:pPr marL="457200" lvl="1" indent="0" algn="just">
              <a:buNone/>
            </a:pPr>
            <a:r>
              <a:rPr lang="en-US" sz="2600" b="1" dirty="0">
                <a:solidFill>
                  <a:srgbClr val="002060"/>
                </a:solidFill>
              </a:rPr>
              <a:t>1. </a:t>
            </a:r>
            <a:r>
              <a:rPr lang="en-US" sz="2600" dirty="0">
                <a:solidFill>
                  <a:srgbClr val="002060"/>
                </a:solidFill>
              </a:rPr>
              <a:t>Apply the binary address of the desired word to the address lines.</a:t>
            </a:r>
          </a:p>
          <a:p>
            <a:pPr marL="457200" lvl="1" indent="0" algn="just">
              <a:buNone/>
            </a:pPr>
            <a:r>
              <a:rPr lang="en-US" sz="2600" b="1" dirty="0">
                <a:solidFill>
                  <a:srgbClr val="002060"/>
                </a:solidFill>
              </a:rPr>
              <a:t>2. </a:t>
            </a:r>
            <a:r>
              <a:rPr lang="en-US" sz="2600" dirty="0">
                <a:solidFill>
                  <a:srgbClr val="002060"/>
                </a:solidFill>
              </a:rPr>
              <a:t>Activate the </a:t>
            </a:r>
            <a:r>
              <a:rPr lang="en-US" sz="2600" i="1" dirty="0">
                <a:solidFill>
                  <a:srgbClr val="002060"/>
                </a:solidFill>
              </a:rPr>
              <a:t>read </a:t>
            </a:r>
            <a:r>
              <a:rPr lang="en-US" sz="2600" dirty="0">
                <a:solidFill>
                  <a:srgbClr val="002060"/>
                </a:solidFill>
              </a:rPr>
              <a:t>input.</a:t>
            </a:r>
            <a:endParaRPr lang="en-IN" sz="2600" dirty="0">
              <a:solidFill>
                <a:srgbClr val="002060"/>
              </a:solidFill>
            </a:endParaRPr>
          </a:p>
          <a:p>
            <a:pPr algn="just"/>
            <a:r>
              <a:rPr lang="en-US" sz="3000" dirty="0"/>
              <a:t>The memory unit will then take the bits from the word that has been selected by the address and apply them to the output data lines.</a:t>
            </a:r>
          </a:p>
          <a:p>
            <a:pPr marL="0" indent="0" algn="just">
              <a:buNone/>
            </a:pPr>
            <a:endParaRPr lang="en-IN" sz="3000" dirty="0"/>
          </a:p>
        </p:txBody>
      </p:sp>
    </p:spTree>
    <p:extLst>
      <p:ext uri="{BB962C8B-B14F-4D97-AF65-F5344CB8AC3E}">
        <p14:creationId xmlns:p14="http://schemas.microsoft.com/office/powerpoint/2010/main" val="2356538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6336704"/>
          </a:xfrm>
        </p:spPr>
        <p:txBody>
          <a:bodyPr>
            <a:noAutofit/>
          </a:bodyPr>
          <a:lstStyle/>
          <a:p>
            <a:pPr algn="just"/>
            <a:r>
              <a:rPr lang="en-US" sz="3000" dirty="0"/>
              <a:t>Instead of having separate read and write inputs to control the two operations, most integrated circuits provide two other control inputs: one input selects the unit and the other determines the operation.</a:t>
            </a:r>
          </a:p>
          <a:p>
            <a:pPr algn="just"/>
            <a:endParaRPr lang="en-US" sz="2800" dirty="0"/>
          </a:p>
          <a:p>
            <a:pPr algn="just"/>
            <a:endParaRPr lang="en-US" sz="2800" dirty="0"/>
          </a:p>
          <a:p>
            <a:pPr algn="just"/>
            <a:endParaRPr lang="en-US" sz="2800" dirty="0"/>
          </a:p>
          <a:p>
            <a:pPr algn="just"/>
            <a:endParaRPr lang="en-IN" sz="2800" dirty="0"/>
          </a:p>
          <a:p>
            <a:pPr algn="just"/>
            <a:r>
              <a:rPr lang="en-US" sz="2800" dirty="0"/>
              <a:t>The </a:t>
            </a:r>
            <a:r>
              <a:rPr lang="en-US" sz="3000" dirty="0"/>
              <a:t>memory enable (sometimes called the chip select) is used to enable the particular memory chip in a multichip implementation of a large memory.</a:t>
            </a:r>
            <a:endParaRPr lang="en-IN" sz="3000"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780928"/>
            <a:ext cx="7841256" cy="18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1437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075"/>
                                        </p:tgtEl>
                                        <p:attrNameLst>
                                          <p:attrName>style.visibility</p:attrName>
                                        </p:attrNameLst>
                                      </p:cBhvr>
                                      <p:to>
                                        <p:strVal val="visible"/>
                                      </p:to>
                                    </p:set>
                                    <p:animEffect transition="in" filter="barn(inVertical)">
                                      <p:cBhvr>
                                        <p:cTn id="13" dur="500"/>
                                        <p:tgtEl>
                                          <p:spTgt spid="307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 calcmode="lin" valueType="num">
                                      <p:cBhvr additive="base">
                                        <p:cTn id="18"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2060"/>
                </a:solidFill>
              </a:rPr>
              <a:t>Types of Memories</a:t>
            </a:r>
          </a:p>
        </p:txBody>
      </p:sp>
      <p:sp>
        <p:nvSpPr>
          <p:cNvPr id="3" name="Content Placeholder 2"/>
          <p:cNvSpPr>
            <a:spLocks noGrp="1"/>
          </p:cNvSpPr>
          <p:nvPr>
            <p:ph idx="1"/>
          </p:nvPr>
        </p:nvSpPr>
        <p:spPr>
          <a:xfrm>
            <a:off x="457200" y="1600200"/>
            <a:ext cx="8229600" cy="4853136"/>
          </a:xfrm>
        </p:spPr>
        <p:txBody>
          <a:bodyPr>
            <a:noAutofit/>
          </a:bodyPr>
          <a:lstStyle/>
          <a:p>
            <a:pPr algn="just"/>
            <a:r>
              <a:rPr lang="en-US" sz="3000" dirty="0"/>
              <a:t>Integrated circuit RAM units are available in two operating modes: </a:t>
            </a:r>
            <a:r>
              <a:rPr lang="en-US" sz="3000" i="1" dirty="0">
                <a:solidFill>
                  <a:srgbClr val="C00000"/>
                </a:solidFill>
              </a:rPr>
              <a:t>static</a:t>
            </a:r>
            <a:r>
              <a:rPr lang="en-US" sz="3000" i="1" dirty="0"/>
              <a:t> </a:t>
            </a:r>
            <a:r>
              <a:rPr lang="en-US" sz="3000" dirty="0"/>
              <a:t>and </a:t>
            </a:r>
            <a:r>
              <a:rPr lang="en-US" sz="3000" i="1" dirty="0">
                <a:solidFill>
                  <a:srgbClr val="C00000"/>
                </a:solidFill>
              </a:rPr>
              <a:t>dynamic</a:t>
            </a:r>
            <a:r>
              <a:rPr lang="en-US" sz="3000" dirty="0"/>
              <a:t>.</a:t>
            </a:r>
          </a:p>
          <a:p>
            <a:pPr algn="just"/>
            <a:r>
              <a:rPr lang="en-US" sz="3000" dirty="0">
                <a:solidFill>
                  <a:srgbClr val="002060"/>
                </a:solidFill>
              </a:rPr>
              <a:t>Static RAM (SRAM) </a:t>
            </a:r>
            <a:r>
              <a:rPr lang="en-US" sz="3000" dirty="0"/>
              <a:t>consists essentially of internal latches that store the binary information. The stored information remains valid as long as power is applied to the unit.</a:t>
            </a:r>
          </a:p>
          <a:p>
            <a:pPr algn="just"/>
            <a:r>
              <a:rPr lang="en-US" sz="3000" dirty="0">
                <a:solidFill>
                  <a:srgbClr val="002060"/>
                </a:solidFill>
              </a:rPr>
              <a:t>Dynamic RAM (DRAM)</a:t>
            </a:r>
            <a:r>
              <a:rPr lang="en-US" sz="3000" dirty="0"/>
              <a:t> stores the binary information in the form of electric charges on capacitors provided inside the chip by MOS transistors. </a:t>
            </a:r>
            <a:endParaRPr lang="en-IN" sz="3000" dirty="0"/>
          </a:p>
        </p:txBody>
      </p:sp>
    </p:spTree>
    <p:extLst>
      <p:ext uri="{BB962C8B-B14F-4D97-AF65-F5344CB8AC3E}">
        <p14:creationId xmlns:p14="http://schemas.microsoft.com/office/powerpoint/2010/main" val="2321820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sz="3000" dirty="0"/>
              <a:t>The stored charge on the capacitors tends to discharge with time, and the capacitors must be periodically recharged by </a:t>
            </a:r>
            <a:r>
              <a:rPr lang="en-US" sz="3000" i="1" dirty="0"/>
              <a:t>refreshing </a:t>
            </a:r>
            <a:r>
              <a:rPr lang="en-US" sz="3000" dirty="0"/>
              <a:t>the dynamic memory.</a:t>
            </a:r>
          </a:p>
          <a:p>
            <a:pPr algn="just"/>
            <a:r>
              <a:rPr lang="en-US" sz="3000" dirty="0"/>
              <a:t>DRAM offers reduced power consumption and larger storage capacity in a single memory chip.</a:t>
            </a:r>
          </a:p>
          <a:p>
            <a:pPr algn="just"/>
            <a:r>
              <a:rPr lang="en-US" sz="3000" dirty="0"/>
              <a:t>SRAM is easier to use and has shorter read and write cycles.</a:t>
            </a:r>
            <a:endParaRPr lang="en-IN" sz="3000" dirty="0"/>
          </a:p>
          <a:p>
            <a:pPr algn="just"/>
            <a:endParaRPr lang="en-IN" sz="3000" dirty="0"/>
          </a:p>
        </p:txBody>
      </p:sp>
    </p:spTree>
    <p:extLst>
      <p:ext uri="{BB962C8B-B14F-4D97-AF65-F5344CB8AC3E}">
        <p14:creationId xmlns:p14="http://schemas.microsoft.com/office/powerpoint/2010/main" val="566686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000" dirty="0"/>
              <a:t>Memory units that lose stored information when power is turned off are said to be </a:t>
            </a:r>
            <a:r>
              <a:rPr lang="en-US" sz="3000" i="1" dirty="0">
                <a:solidFill>
                  <a:srgbClr val="002060"/>
                </a:solidFill>
              </a:rPr>
              <a:t>volatile</a:t>
            </a:r>
            <a:r>
              <a:rPr lang="en-US" sz="3000" dirty="0"/>
              <a:t>.</a:t>
            </a:r>
          </a:p>
          <a:p>
            <a:pPr algn="just"/>
            <a:r>
              <a:rPr lang="en-US" sz="3000" dirty="0"/>
              <a:t>CMOS integrated circuit RAMs, both static and dynamic, are volatile memory, since the binary cells need external power to maintain the stored information.</a:t>
            </a:r>
          </a:p>
          <a:p>
            <a:pPr algn="just"/>
            <a:r>
              <a:rPr lang="en-IN" sz="2800" dirty="0"/>
              <a:t>In contrast, a </a:t>
            </a:r>
            <a:r>
              <a:rPr lang="en-US" sz="2800" dirty="0"/>
              <a:t>nonvolatile memory, such as magnetic disk, retains its stored information after the removal </a:t>
            </a:r>
            <a:r>
              <a:rPr lang="en-IN" sz="2800" dirty="0"/>
              <a:t>of power.</a:t>
            </a:r>
            <a:endParaRPr lang="en-IN" sz="3000" dirty="0"/>
          </a:p>
        </p:txBody>
      </p:sp>
    </p:spTree>
    <p:extLst>
      <p:ext uri="{BB962C8B-B14F-4D97-AF65-F5344CB8AC3E}">
        <p14:creationId xmlns:p14="http://schemas.microsoft.com/office/powerpoint/2010/main" val="3913576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C00000"/>
                </a:solidFill>
              </a:rPr>
              <a:t>Memory Decoding</a:t>
            </a:r>
          </a:p>
        </p:txBody>
      </p:sp>
      <p:sp>
        <p:nvSpPr>
          <p:cNvPr id="3" name="Content Placeholder 2"/>
          <p:cNvSpPr>
            <a:spLocks noGrp="1"/>
          </p:cNvSpPr>
          <p:nvPr>
            <p:ph idx="1"/>
          </p:nvPr>
        </p:nvSpPr>
        <p:spPr/>
        <p:txBody>
          <a:bodyPr>
            <a:normAutofit/>
          </a:bodyPr>
          <a:lstStyle/>
          <a:p>
            <a:pPr algn="just"/>
            <a:r>
              <a:rPr lang="en-US" dirty="0"/>
              <a:t>In addition to requiring storage components in a memory unit, there is a need for decoding circuits to select the memory word specified by the input address.</a:t>
            </a:r>
            <a:endParaRPr lang="en-IN" dirty="0"/>
          </a:p>
        </p:txBody>
      </p:sp>
    </p:spTree>
    <p:extLst>
      <p:ext uri="{BB962C8B-B14F-4D97-AF65-F5344CB8AC3E}">
        <p14:creationId xmlns:p14="http://schemas.microsoft.com/office/powerpoint/2010/main" val="1146546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a:solidFill>
                  <a:srgbClr val="002060"/>
                </a:solidFill>
              </a:rPr>
              <a:t>Internal Construction</a:t>
            </a:r>
          </a:p>
        </p:txBody>
      </p:sp>
      <p:sp>
        <p:nvSpPr>
          <p:cNvPr id="3" name="Content Placeholder 2"/>
          <p:cNvSpPr>
            <a:spLocks noGrp="1"/>
          </p:cNvSpPr>
          <p:nvPr>
            <p:ph idx="1"/>
          </p:nvPr>
        </p:nvSpPr>
        <p:spPr/>
        <p:txBody>
          <a:bodyPr>
            <a:noAutofit/>
          </a:bodyPr>
          <a:lstStyle/>
          <a:p>
            <a:pPr algn="just"/>
            <a:r>
              <a:rPr lang="en-US" sz="3000" dirty="0"/>
              <a:t>The internal construction of a RAM of </a:t>
            </a:r>
            <a:r>
              <a:rPr lang="en-US" sz="3000" i="1" dirty="0"/>
              <a:t>m </a:t>
            </a:r>
            <a:r>
              <a:rPr lang="en-US" sz="3000" dirty="0"/>
              <a:t>words and </a:t>
            </a:r>
            <a:r>
              <a:rPr lang="en-US" sz="3000" i="1" dirty="0"/>
              <a:t>n </a:t>
            </a:r>
            <a:r>
              <a:rPr lang="en-US" sz="3000" dirty="0"/>
              <a:t>bits per word consists of </a:t>
            </a:r>
            <a:r>
              <a:rPr lang="en-US" sz="3000" i="1" dirty="0"/>
              <a:t>m </a:t>
            </a:r>
            <a:r>
              <a:rPr lang="en-US" sz="3000" dirty="0"/>
              <a:t>× </a:t>
            </a:r>
            <a:r>
              <a:rPr lang="en-US" sz="3000" i="1" dirty="0"/>
              <a:t>n </a:t>
            </a:r>
            <a:r>
              <a:rPr lang="en-US" sz="3000" dirty="0"/>
              <a:t>binary storage cells and associated decoding circuits for selecting individual words.</a:t>
            </a:r>
          </a:p>
          <a:p>
            <a:pPr algn="just"/>
            <a:r>
              <a:rPr lang="en-US" sz="3000" dirty="0"/>
              <a:t>The binary storage cell is the basic building block of a memory unit.</a:t>
            </a:r>
          </a:p>
          <a:p>
            <a:pPr algn="just"/>
            <a:r>
              <a:rPr lang="en-US" sz="3000" dirty="0"/>
              <a:t>The equivalent logic of a binary cell that stores one bit of information is shown in Figure.</a:t>
            </a:r>
          </a:p>
        </p:txBody>
      </p:sp>
    </p:spTree>
    <p:extLst>
      <p:ext uri="{BB962C8B-B14F-4D97-AF65-F5344CB8AC3E}">
        <p14:creationId xmlns:p14="http://schemas.microsoft.com/office/powerpoint/2010/main" val="301433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000" dirty="0"/>
              <a:t>The storage part of the cell is modeled by an </a:t>
            </a:r>
            <a:r>
              <a:rPr lang="en-US" sz="3000" i="1" dirty="0"/>
              <a:t>SR </a:t>
            </a:r>
            <a:r>
              <a:rPr lang="en-US" sz="3000" dirty="0"/>
              <a:t>latch with associated gates to form a </a:t>
            </a:r>
            <a:r>
              <a:rPr lang="en-US" sz="3000" i="1" dirty="0"/>
              <a:t>D </a:t>
            </a:r>
            <a:r>
              <a:rPr lang="en-US" sz="3000" dirty="0"/>
              <a:t>latch.</a:t>
            </a:r>
            <a:endParaRPr lang="en-IN" sz="3000" dirty="0"/>
          </a:p>
          <a:p>
            <a:pPr algn="just"/>
            <a:endParaRPr lang="en-US" sz="30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2708920"/>
            <a:ext cx="7560840" cy="3184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3945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4098"/>
                                        </p:tgtEl>
                                        <p:attrNameLst>
                                          <p:attrName>style.visibility</p:attrName>
                                        </p:attrNameLst>
                                      </p:cBhvr>
                                      <p:to>
                                        <p:strVal val="visible"/>
                                      </p:to>
                                    </p:set>
                                    <p:animEffect transition="in" filter="barn(inVertical)">
                                      <p:cBhvr>
                                        <p:cTn id="13"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928290"/>
            <a:ext cx="8229600" cy="5001419"/>
          </a:xfrm>
        </p:spPr>
        <p:txBody>
          <a:bodyPr>
            <a:noAutofit/>
          </a:bodyPr>
          <a:lstStyle/>
          <a:p>
            <a:pPr algn="just"/>
            <a:r>
              <a:rPr lang="en-US" sz="3000" dirty="0"/>
              <a:t>The binary cell stores one bit in its internal latch.</a:t>
            </a:r>
          </a:p>
          <a:p>
            <a:pPr algn="just"/>
            <a:r>
              <a:rPr lang="en-US" sz="3000" dirty="0"/>
              <a:t>The select input enables the cell for reading or writing, and the read/write input determines the operation of the cell when it is selected.</a:t>
            </a:r>
          </a:p>
          <a:p>
            <a:pPr algn="just"/>
            <a:r>
              <a:rPr lang="en-US" sz="3000" dirty="0"/>
              <a:t>A </a:t>
            </a:r>
            <a:r>
              <a:rPr lang="en-US" sz="3000" dirty="0">
                <a:solidFill>
                  <a:srgbClr val="002060"/>
                </a:solidFill>
              </a:rPr>
              <a:t>1</a:t>
            </a:r>
            <a:r>
              <a:rPr lang="en-US" sz="3000" dirty="0"/>
              <a:t> in the read/write input provides the read operation by forming a path from the latch to the output terminal.</a:t>
            </a:r>
          </a:p>
          <a:p>
            <a:pPr algn="just"/>
            <a:r>
              <a:rPr lang="en-US" sz="3000" dirty="0"/>
              <a:t>A </a:t>
            </a:r>
            <a:r>
              <a:rPr lang="en-US" sz="3000" dirty="0">
                <a:solidFill>
                  <a:srgbClr val="002060"/>
                </a:solidFill>
              </a:rPr>
              <a:t>0</a:t>
            </a:r>
            <a:r>
              <a:rPr lang="en-US" sz="3000" dirty="0"/>
              <a:t> in the read/write input provides the write operation by forming a path from the input terminal to the latch.</a:t>
            </a:r>
            <a:endParaRPr lang="en-IN" sz="3000" dirty="0"/>
          </a:p>
        </p:txBody>
      </p:sp>
    </p:spTree>
    <p:extLst>
      <p:ext uri="{BB962C8B-B14F-4D97-AF65-F5344CB8AC3E}">
        <p14:creationId xmlns:p14="http://schemas.microsoft.com/office/powerpoint/2010/main" val="4187697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40768"/>
            <a:ext cx="8229600" cy="5112568"/>
          </a:xfrm>
        </p:spPr>
        <p:txBody>
          <a:bodyPr>
            <a:normAutofit fontScale="92500" lnSpcReduction="10000"/>
          </a:bodyPr>
          <a:lstStyle/>
          <a:p>
            <a:pPr algn="just"/>
            <a:r>
              <a:rPr lang="en-US" dirty="0"/>
              <a:t>The logical construction of a 4 × 4 RAM is shown in Figure.</a:t>
            </a:r>
          </a:p>
          <a:p>
            <a:pPr algn="just"/>
            <a:r>
              <a:rPr lang="en-US" dirty="0"/>
              <a:t>The RAM consists of four words of four bits each and has a total of 16 binary cells.</a:t>
            </a:r>
          </a:p>
          <a:p>
            <a:pPr algn="just"/>
            <a:r>
              <a:rPr lang="en-US" dirty="0"/>
              <a:t>The small blocks labeled BC represent the binary cell with its three inputs and one output.</a:t>
            </a:r>
          </a:p>
          <a:p>
            <a:pPr algn="just"/>
            <a:r>
              <a:rPr lang="en-US" dirty="0"/>
              <a:t>A memory with four words needs two address lines. The two address inputs go through a 2 × 4 decoder to select one of the four words.</a:t>
            </a:r>
          </a:p>
          <a:p>
            <a:pPr algn="just"/>
            <a:r>
              <a:rPr lang="en-US" dirty="0"/>
              <a:t>The decoder is enabled with the memory‐enable input. </a:t>
            </a:r>
            <a:endParaRPr lang="en-IN" dirty="0"/>
          </a:p>
        </p:txBody>
      </p:sp>
    </p:spTree>
    <p:extLst>
      <p:ext uri="{BB962C8B-B14F-4D97-AF65-F5344CB8AC3E}">
        <p14:creationId xmlns:p14="http://schemas.microsoft.com/office/powerpoint/2010/main" val="1850294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731" y="279589"/>
            <a:ext cx="7684968" cy="6173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6092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barn(inVertical)">
                                      <p:cBhvr>
                                        <p:cTn id="7"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2696"/>
            <a:ext cx="8229600" cy="5433467"/>
          </a:xfrm>
        </p:spPr>
        <p:txBody>
          <a:bodyPr>
            <a:noAutofit/>
          </a:bodyPr>
          <a:lstStyle/>
          <a:p>
            <a:pPr algn="just"/>
            <a:r>
              <a:rPr lang="en-US" sz="3000" dirty="0"/>
              <a:t>When the memory enable is 0, all outputs of the decoder are 0 and none of the memory words are selected.</a:t>
            </a:r>
          </a:p>
          <a:p>
            <a:pPr algn="just"/>
            <a:r>
              <a:rPr lang="en-US" sz="3000" dirty="0"/>
              <a:t>With the memory select at 1, one of the four words is selected, dictated by the value in the two address lines.</a:t>
            </a:r>
          </a:p>
          <a:p>
            <a:pPr algn="just"/>
            <a:r>
              <a:rPr lang="en-US" sz="3000" dirty="0"/>
              <a:t>Once a word has  been selected, the read/write input determines the operation.</a:t>
            </a:r>
          </a:p>
          <a:p>
            <a:pPr algn="just"/>
            <a:r>
              <a:rPr lang="en-US" sz="3000" dirty="0"/>
              <a:t>During the read operation, the four bits of the selected word go through OR gates to the output terminals.</a:t>
            </a:r>
          </a:p>
        </p:txBody>
      </p:sp>
    </p:spTree>
    <p:extLst>
      <p:ext uri="{BB962C8B-B14F-4D97-AF65-F5344CB8AC3E}">
        <p14:creationId xmlns:p14="http://schemas.microsoft.com/office/powerpoint/2010/main" val="2491728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4704"/>
            <a:ext cx="8229600" cy="5361459"/>
          </a:xfrm>
        </p:spPr>
        <p:txBody>
          <a:bodyPr>
            <a:normAutofit/>
          </a:bodyPr>
          <a:lstStyle/>
          <a:p>
            <a:pPr algn="just"/>
            <a:r>
              <a:rPr lang="en-US" sz="3000" dirty="0"/>
              <a:t>During the write operation, the data available in the input lines are transferred into the four binary cells of the selected word.</a:t>
            </a:r>
          </a:p>
          <a:p>
            <a:pPr algn="just"/>
            <a:r>
              <a:rPr lang="en-US" sz="3000" dirty="0"/>
              <a:t>The binary cells that are not selected are disabled, and their previous binary values remain unchanged.</a:t>
            </a:r>
          </a:p>
          <a:p>
            <a:pPr algn="just"/>
            <a:r>
              <a:rPr lang="en-US" sz="3000" dirty="0"/>
              <a:t>When the memory select input that goes into the decoder is equal to 0, none of the words are selected and the contents of all cells remain unchanged regardless of the value of the read/write input.</a:t>
            </a:r>
            <a:endParaRPr lang="en-IN" sz="3000" dirty="0"/>
          </a:p>
          <a:p>
            <a:endParaRPr lang="en-IN" dirty="0"/>
          </a:p>
        </p:txBody>
      </p:sp>
    </p:spTree>
    <p:extLst>
      <p:ext uri="{BB962C8B-B14F-4D97-AF65-F5344CB8AC3E}">
        <p14:creationId xmlns:p14="http://schemas.microsoft.com/office/powerpoint/2010/main" val="2952376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000" dirty="0"/>
              <a:t>A memory with 2</a:t>
            </a:r>
            <a:r>
              <a:rPr lang="en-US" sz="3000" i="1" baseline="30000" dirty="0"/>
              <a:t>k</a:t>
            </a:r>
            <a:r>
              <a:rPr lang="en-US" sz="3000" i="1" dirty="0"/>
              <a:t> </a:t>
            </a:r>
            <a:r>
              <a:rPr lang="en-US" sz="3000" dirty="0"/>
              <a:t>words of </a:t>
            </a:r>
            <a:r>
              <a:rPr lang="en-US" sz="3000" i="1" dirty="0"/>
              <a:t>n </a:t>
            </a:r>
            <a:r>
              <a:rPr lang="en-US" sz="3000" dirty="0"/>
              <a:t>bits per word requires </a:t>
            </a:r>
            <a:r>
              <a:rPr lang="en-US" sz="3000" i="1" dirty="0"/>
              <a:t>k </a:t>
            </a:r>
            <a:r>
              <a:rPr lang="en-US" sz="3000" dirty="0"/>
              <a:t>address lines that go into a </a:t>
            </a:r>
            <a:r>
              <a:rPr lang="en-US" sz="3000" i="1" dirty="0"/>
              <a:t>k </a:t>
            </a:r>
            <a:r>
              <a:rPr lang="en-US" sz="3000" dirty="0"/>
              <a:t>× 2</a:t>
            </a:r>
            <a:r>
              <a:rPr lang="en-US" sz="3000" i="1" baseline="30000" dirty="0"/>
              <a:t>k</a:t>
            </a:r>
            <a:r>
              <a:rPr lang="en-US" sz="3000" i="1" dirty="0"/>
              <a:t> </a:t>
            </a:r>
            <a:r>
              <a:rPr lang="en-US" sz="3000" dirty="0"/>
              <a:t>decoder.</a:t>
            </a:r>
          </a:p>
          <a:p>
            <a:pPr algn="just"/>
            <a:r>
              <a:rPr lang="en-US" sz="3000" dirty="0"/>
              <a:t>Each one of the decoder outputs selects one word of </a:t>
            </a:r>
            <a:r>
              <a:rPr lang="en-US" sz="3000" i="1" dirty="0"/>
              <a:t>n </a:t>
            </a:r>
            <a:r>
              <a:rPr lang="en-US" sz="3000" dirty="0"/>
              <a:t>bits for reading or writing.</a:t>
            </a:r>
            <a:endParaRPr lang="en-IN" sz="3000" dirty="0"/>
          </a:p>
        </p:txBody>
      </p:sp>
    </p:spTree>
    <p:extLst>
      <p:ext uri="{BB962C8B-B14F-4D97-AF65-F5344CB8AC3E}">
        <p14:creationId xmlns:p14="http://schemas.microsoft.com/office/powerpoint/2010/main" val="3510372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a:solidFill>
                  <a:srgbClr val="002060"/>
                </a:solidFill>
              </a:rPr>
              <a:t>Coincident Decoding</a:t>
            </a:r>
          </a:p>
        </p:txBody>
      </p:sp>
      <p:sp>
        <p:nvSpPr>
          <p:cNvPr id="3" name="Content Placeholder 2"/>
          <p:cNvSpPr>
            <a:spLocks noGrp="1"/>
          </p:cNvSpPr>
          <p:nvPr>
            <p:ph idx="1"/>
          </p:nvPr>
        </p:nvSpPr>
        <p:spPr>
          <a:xfrm>
            <a:off x="457200" y="1412776"/>
            <a:ext cx="8229600" cy="5040560"/>
          </a:xfrm>
        </p:spPr>
        <p:txBody>
          <a:bodyPr>
            <a:normAutofit/>
          </a:bodyPr>
          <a:lstStyle/>
          <a:p>
            <a:pPr algn="just"/>
            <a:r>
              <a:rPr lang="en-US" sz="3000" dirty="0"/>
              <a:t>A decoder with </a:t>
            </a:r>
            <a:r>
              <a:rPr lang="en-US" sz="3000" i="1" dirty="0"/>
              <a:t>k </a:t>
            </a:r>
            <a:r>
              <a:rPr lang="en-US" sz="3000" dirty="0"/>
              <a:t>inputs and 2</a:t>
            </a:r>
            <a:r>
              <a:rPr lang="en-US" sz="3000" i="1" baseline="30000" dirty="0"/>
              <a:t>k</a:t>
            </a:r>
            <a:r>
              <a:rPr lang="en-US" sz="3000" i="1" dirty="0"/>
              <a:t> </a:t>
            </a:r>
            <a:r>
              <a:rPr lang="en-US" sz="3000" dirty="0"/>
              <a:t>outputs requires 2</a:t>
            </a:r>
            <a:r>
              <a:rPr lang="en-US" sz="3000" i="1" baseline="30000" dirty="0"/>
              <a:t>k</a:t>
            </a:r>
            <a:r>
              <a:rPr lang="en-US" sz="3000" i="1" dirty="0"/>
              <a:t> </a:t>
            </a:r>
            <a:r>
              <a:rPr lang="en-US" sz="3000" dirty="0"/>
              <a:t>AND gates with </a:t>
            </a:r>
            <a:r>
              <a:rPr lang="en-US" sz="3000" i="1" dirty="0"/>
              <a:t>k </a:t>
            </a:r>
            <a:r>
              <a:rPr lang="en-US" sz="3000" dirty="0"/>
              <a:t>inputs per gate.</a:t>
            </a:r>
          </a:p>
          <a:p>
            <a:pPr algn="just"/>
            <a:r>
              <a:rPr lang="en-US" sz="3000" dirty="0"/>
              <a:t>The total number of gates and the number of inputs per gate can be reduced by employing two decoders in a two‐dimensional selection scheme.</a:t>
            </a:r>
          </a:p>
          <a:p>
            <a:pPr algn="just"/>
            <a:r>
              <a:rPr lang="en-US" sz="3000" dirty="0"/>
              <a:t>The basic idea in two‐dimensional decoding is to arrange the memory cells in an array that is close as possible to square.</a:t>
            </a:r>
          </a:p>
          <a:p>
            <a:pPr algn="just"/>
            <a:r>
              <a:rPr lang="en-US" sz="2800" dirty="0"/>
              <a:t>In this configuration, two </a:t>
            </a:r>
            <a:r>
              <a:rPr lang="en-US" sz="2800" i="1" dirty="0"/>
              <a:t>k</a:t>
            </a:r>
            <a:r>
              <a:rPr lang="en-US" sz="2800" dirty="0"/>
              <a:t>/2‐input decoders are used instead of one </a:t>
            </a:r>
            <a:r>
              <a:rPr lang="en-US" sz="2800" i="1" dirty="0"/>
              <a:t>k </a:t>
            </a:r>
            <a:r>
              <a:rPr lang="en-US" sz="2800" dirty="0"/>
              <a:t>‐input decoder. </a:t>
            </a:r>
          </a:p>
        </p:txBody>
      </p:sp>
    </p:spTree>
    <p:extLst>
      <p:ext uri="{BB962C8B-B14F-4D97-AF65-F5344CB8AC3E}">
        <p14:creationId xmlns:p14="http://schemas.microsoft.com/office/powerpoint/2010/main" val="1810574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80728"/>
            <a:ext cx="8229600" cy="5328592"/>
          </a:xfrm>
        </p:spPr>
        <p:txBody>
          <a:bodyPr>
            <a:noAutofit/>
          </a:bodyPr>
          <a:lstStyle/>
          <a:p>
            <a:pPr algn="just"/>
            <a:r>
              <a:rPr lang="en-US" sz="3000" dirty="0"/>
              <a:t>One decoder performs the row selection and the other the column </a:t>
            </a:r>
            <a:r>
              <a:rPr lang="en-IN" sz="3000" dirty="0"/>
              <a:t>selection in a two‐dimensional matrix configuration.</a:t>
            </a:r>
          </a:p>
          <a:p>
            <a:pPr algn="just"/>
            <a:r>
              <a:rPr lang="en-US" sz="3000" dirty="0"/>
              <a:t>The two‐dimensional selection pattern is demonstrated in Figure for a 1K‐word memory.  Instead of using a single 10 × 1,024 decoder, we use two 5 × 32 decoders.</a:t>
            </a:r>
          </a:p>
          <a:p>
            <a:pPr algn="just"/>
            <a:r>
              <a:rPr lang="en-US" sz="3000" dirty="0"/>
              <a:t>With the single decoder, we would need 1,024 AND gates with 10 inputs in each. In the two‐decoder case, we need 64 AND gates with 5 inputs in each.</a:t>
            </a:r>
          </a:p>
        </p:txBody>
      </p:sp>
    </p:spTree>
    <p:extLst>
      <p:ext uri="{BB962C8B-B14F-4D97-AF65-F5344CB8AC3E}">
        <p14:creationId xmlns:p14="http://schemas.microsoft.com/office/powerpoint/2010/main" val="284612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6743" y="620688"/>
            <a:ext cx="6776771" cy="5472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1471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additive="base">
                                        <p:cTn id="7" dur="500" fill="hold"/>
                                        <p:tgtEl>
                                          <p:spTgt spid="6146"/>
                                        </p:tgtEl>
                                        <p:attrNameLst>
                                          <p:attrName>ppt_x</p:attrName>
                                        </p:attrNameLst>
                                      </p:cBhvr>
                                      <p:tavLst>
                                        <p:tav tm="0">
                                          <p:val>
                                            <p:strVal val="#ppt_x"/>
                                          </p:val>
                                        </p:tav>
                                        <p:tav tm="100000">
                                          <p:val>
                                            <p:strVal val="#ppt_x"/>
                                          </p:val>
                                        </p:tav>
                                      </p:tavLst>
                                    </p:anim>
                                    <p:anim calcmode="lin" valueType="num">
                                      <p:cBhvr additive="base">
                                        <p:cTn id="8"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24744"/>
            <a:ext cx="8229600" cy="5001419"/>
          </a:xfrm>
        </p:spPr>
        <p:txBody>
          <a:bodyPr>
            <a:noAutofit/>
          </a:bodyPr>
          <a:lstStyle/>
          <a:p>
            <a:pPr algn="just"/>
            <a:r>
              <a:rPr lang="en-US" sz="3000" dirty="0"/>
              <a:t>The five most significant bits of the address go to input </a:t>
            </a:r>
            <a:r>
              <a:rPr lang="en-US" sz="3000" i="1" dirty="0"/>
              <a:t>X </a:t>
            </a:r>
            <a:r>
              <a:rPr lang="en-US" sz="3000" dirty="0"/>
              <a:t>and the five least significant bits go to input </a:t>
            </a:r>
            <a:r>
              <a:rPr lang="en-US" sz="3000" i="1" dirty="0"/>
              <a:t>Y.</a:t>
            </a:r>
          </a:p>
          <a:p>
            <a:pPr algn="just"/>
            <a:r>
              <a:rPr lang="en-US" sz="3000" dirty="0"/>
              <a:t>Each word within the memory array is selected by the coincidence of one </a:t>
            </a:r>
            <a:r>
              <a:rPr lang="en-US" sz="3000" i="1" dirty="0"/>
              <a:t>X </a:t>
            </a:r>
            <a:r>
              <a:rPr lang="en-US" sz="3000" dirty="0"/>
              <a:t>line and one </a:t>
            </a:r>
            <a:r>
              <a:rPr lang="en-US" sz="3000" i="1" dirty="0"/>
              <a:t>Y </a:t>
            </a:r>
            <a:r>
              <a:rPr lang="en-US" sz="3000" dirty="0"/>
              <a:t>line.</a:t>
            </a:r>
          </a:p>
          <a:p>
            <a:pPr algn="just"/>
            <a:r>
              <a:rPr lang="en-US" sz="3000" dirty="0"/>
              <a:t>Thus, each word in memory is selected by the coincidence between 1 of 32 rows and 1 of 32 columns, for a total of 1,024 words.</a:t>
            </a:r>
          </a:p>
          <a:p>
            <a:pPr algn="just"/>
            <a:r>
              <a:rPr lang="en-US" sz="3000" dirty="0"/>
              <a:t>Note that each intersection represents a word that may have any number of bits.</a:t>
            </a:r>
            <a:endParaRPr lang="en-IN" sz="3000" dirty="0"/>
          </a:p>
        </p:txBody>
      </p:sp>
    </p:spTree>
    <p:extLst>
      <p:ext uri="{BB962C8B-B14F-4D97-AF65-F5344CB8AC3E}">
        <p14:creationId xmlns:p14="http://schemas.microsoft.com/office/powerpoint/2010/main" val="72825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08720"/>
            <a:ext cx="8229600" cy="5472608"/>
          </a:xfrm>
        </p:spPr>
        <p:txBody>
          <a:bodyPr>
            <a:noAutofit/>
          </a:bodyPr>
          <a:lstStyle/>
          <a:p>
            <a:pPr algn="just"/>
            <a:r>
              <a:rPr lang="en-US" sz="3000" dirty="0"/>
              <a:t>As an example, consider the word whose address is 404.</a:t>
            </a:r>
          </a:p>
          <a:p>
            <a:pPr algn="just"/>
            <a:r>
              <a:rPr lang="en-US" sz="3000" dirty="0"/>
              <a:t>The 10‐bit binary equivalent of 404 is 01100 10100.</a:t>
            </a:r>
          </a:p>
          <a:p>
            <a:pPr algn="just"/>
            <a:r>
              <a:rPr lang="en-US" sz="3000" dirty="0"/>
              <a:t>This makes </a:t>
            </a:r>
            <a:r>
              <a:rPr lang="en-US" sz="3000" i="1" dirty="0"/>
              <a:t>X </a:t>
            </a:r>
            <a:r>
              <a:rPr lang="en-US" sz="3000" dirty="0"/>
              <a:t>= 01100 (binary 12) and </a:t>
            </a:r>
            <a:r>
              <a:rPr lang="en-US" sz="3000" i="1" dirty="0"/>
              <a:t>Y </a:t>
            </a:r>
            <a:r>
              <a:rPr lang="en-US" sz="3000" dirty="0"/>
              <a:t>= 10100 (binary 20).</a:t>
            </a:r>
          </a:p>
          <a:p>
            <a:pPr algn="just"/>
            <a:r>
              <a:rPr lang="en-US" sz="3000" dirty="0"/>
              <a:t>The </a:t>
            </a:r>
            <a:r>
              <a:rPr lang="en-US" sz="3000" i="1" dirty="0"/>
              <a:t>n </a:t>
            </a:r>
            <a:r>
              <a:rPr lang="en-US" sz="3000" dirty="0"/>
              <a:t>‐bit word that is selected lies in the </a:t>
            </a:r>
            <a:r>
              <a:rPr lang="en-US" sz="3000" i="1" dirty="0"/>
              <a:t>X </a:t>
            </a:r>
            <a:r>
              <a:rPr lang="en-US" sz="3000" dirty="0"/>
              <a:t>decoder output number 12 and the </a:t>
            </a:r>
            <a:r>
              <a:rPr lang="en-US" sz="3000" i="1" dirty="0"/>
              <a:t>Y </a:t>
            </a:r>
            <a:r>
              <a:rPr lang="en-US" sz="3000" dirty="0"/>
              <a:t>decoder output number 20.</a:t>
            </a:r>
          </a:p>
          <a:p>
            <a:pPr algn="just"/>
            <a:r>
              <a:rPr lang="en-US" sz="3000" dirty="0"/>
              <a:t>All the bits of the word are selected for reading or writing.</a:t>
            </a:r>
            <a:endParaRPr lang="en-IN" sz="3000" dirty="0"/>
          </a:p>
        </p:txBody>
      </p:sp>
    </p:spTree>
    <p:extLst>
      <p:ext uri="{BB962C8B-B14F-4D97-AF65-F5344CB8AC3E}">
        <p14:creationId xmlns:p14="http://schemas.microsoft.com/office/powerpoint/2010/main" val="2147107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4000" dirty="0">
                <a:solidFill>
                  <a:srgbClr val="C00000"/>
                </a:solidFill>
              </a:rPr>
              <a:t>Problem</a:t>
            </a:r>
            <a:endParaRPr lang="en-IN" sz="4000" dirty="0"/>
          </a:p>
        </p:txBody>
      </p:sp>
      <p:sp>
        <p:nvSpPr>
          <p:cNvPr id="3" name="Content Placeholder 2"/>
          <p:cNvSpPr>
            <a:spLocks noGrp="1"/>
          </p:cNvSpPr>
          <p:nvPr>
            <p:ph idx="1"/>
          </p:nvPr>
        </p:nvSpPr>
        <p:spPr/>
        <p:txBody>
          <a:bodyPr>
            <a:noAutofit/>
          </a:bodyPr>
          <a:lstStyle/>
          <a:p>
            <a:pPr marL="0" indent="0" algn="just">
              <a:buNone/>
            </a:pPr>
            <a:r>
              <a:rPr lang="en-US" sz="3000" dirty="0"/>
              <a:t>(a) How many 32K × 8 RAM chips are needed to provide a memory capacity of 256K </a:t>
            </a:r>
            <a:r>
              <a:rPr lang="en-IN" sz="3000" dirty="0"/>
              <a:t>bytes?</a:t>
            </a:r>
          </a:p>
          <a:p>
            <a:pPr marL="0" indent="0" algn="just">
              <a:buNone/>
            </a:pPr>
            <a:r>
              <a:rPr lang="en-US" sz="3000" dirty="0"/>
              <a:t>(b) How many lines of the address must be used to access 256K bytes? How many of these lines are connected to the address inputs of all chips?</a:t>
            </a:r>
          </a:p>
          <a:p>
            <a:pPr marL="0" indent="0" algn="just">
              <a:buNone/>
            </a:pPr>
            <a:r>
              <a:rPr lang="en-US" sz="3000" dirty="0"/>
              <a:t>(c) How many lines must be decoded for the chip select inputs? Specify the size of the </a:t>
            </a:r>
            <a:r>
              <a:rPr lang="en-IN" sz="3000" dirty="0"/>
              <a:t>decoder.</a:t>
            </a:r>
          </a:p>
        </p:txBody>
      </p:sp>
    </p:spTree>
    <p:extLst>
      <p:ext uri="{BB962C8B-B14F-4D97-AF65-F5344CB8AC3E}">
        <p14:creationId xmlns:p14="http://schemas.microsoft.com/office/powerpoint/2010/main" val="1456600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pPr algn="l"/>
            <a:r>
              <a:rPr lang="en-US" sz="4000" i="1" dirty="0">
                <a:solidFill>
                  <a:srgbClr val="002060"/>
                </a:solidFill>
              </a:rPr>
              <a:t>Solution:</a:t>
            </a:r>
            <a:endParaRPr lang="en-IN" sz="4000" i="1" dirty="0">
              <a:solidFill>
                <a:srgbClr val="002060"/>
              </a:solidFill>
            </a:endParaRPr>
          </a:p>
        </p:txBody>
      </p:sp>
      <p:sp>
        <p:nvSpPr>
          <p:cNvPr id="3" name="Content Placeholder 2"/>
          <p:cNvSpPr>
            <a:spLocks noGrp="1"/>
          </p:cNvSpPr>
          <p:nvPr>
            <p:ph idx="1"/>
          </p:nvPr>
        </p:nvSpPr>
        <p:spPr>
          <a:xfrm>
            <a:off x="457200" y="980728"/>
            <a:ext cx="8229600" cy="5616624"/>
          </a:xfrm>
        </p:spPr>
        <p:txBody>
          <a:bodyPr>
            <a:normAutofit/>
          </a:bodyPr>
          <a:lstStyle/>
          <a:p>
            <a:pPr algn="just"/>
            <a:r>
              <a:rPr lang="en-US" sz="3000" dirty="0"/>
              <a:t>32K × 8 = 2</a:t>
            </a:r>
            <a:r>
              <a:rPr lang="en-US" sz="3000" baseline="30000" dirty="0"/>
              <a:t>5</a:t>
            </a:r>
            <a:r>
              <a:rPr lang="en-US" sz="3000" dirty="0"/>
              <a:t> </a:t>
            </a:r>
            <a:r>
              <a:rPr lang="en-US" sz="3000" dirty="0">
                <a:solidFill>
                  <a:srgbClr val="002060"/>
                </a:solidFill>
              </a:rPr>
              <a:t>×</a:t>
            </a:r>
            <a:r>
              <a:rPr lang="en-US" sz="3000" dirty="0"/>
              <a:t> 2</a:t>
            </a:r>
            <a:r>
              <a:rPr lang="en-US" sz="3000" baseline="30000" dirty="0"/>
              <a:t>10</a:t>
            </a:r>
            <a:r>
              <a:rPr lang="en-US" sz="3000" dirty="0"/>
              <a:t> × 8 = 2</a:t>
            </a:r>
            <a:r>
              <a:rPr lang="en-US" sz="3000" baseline="30000" dirty="0"/>
              <a:t>15</a:t>
            </a:r>
            <a:r>
              <a:rPr lang="en-US" sz="3000" dirty="0"/>
              <a:t> × 8</a:t>
            </a:r>
          </a:p>
          <a:p>
            <a:pPr algn="just"/>
            <a:r>
              <a:rPr lang="en-US" sz="3000" dirty="0"/>
              <a:t>256K </a:t>
            </a:r>
            <a:r>
              <a:rPr lang="en-IN" sz="3000" dirty="0"/>
              <a:t>bytes = 256K × 8 = </a:t>
            </a:r>
            <a:r>
              <a:rPr lang="en-US" sz="3000" dirty="0"/>
              <a:t>2</a:t>
            </a:r>
            <a:r>
              <a:rPr lang="en-US" sz="3000" baseline="30000" dirty="0"/>
              <a:t>8</a:t>
            </a:r>
            <a:r>
              <a:rPr lang="en-US" sz="3000" dirty="0"/>
              <a:t> </a:t>
            </a:r>
            <a:r>
              <a:rPr lang="en-US" sz="3000" dirty="0">
                <a:solidFill>
                  <a:srgbClr val="002060"/>
                </a:solidFill>
              </a:rPr>
              <a:t>×</a:t>
            </a:r>
            <a:r>
              <a:rPr lang="en-US" sz="3000" dirty="0"/>
              <a:t> 2</a:t>
            </a:r>
            <a:r>
              <a:rPr lang="en-US" sz="3000" baseline="30000" dirty="0"/>
              <a:t>10</a:t>
            </a:r>
            <a:r>
              <a:rPr lang="en-US" sz="3000" dirty="0"/>
              <a:t> × 8 = 2</a:t>
            </a:r>
            <a:r>
              <a:rPr lang="en-US" sz="3000" baseline="30000" dirty="0"/>
              <a:t>18</a:t>
            </a:r>
            <a:r>
              <a:rPr lang="en-US" sz="3000" dirty="0"/>
              <a:t> × 8</a:t>
            </a:r>
          </a:p>
          <a:p>
            <a:pPr marL="514350" indent="-514350" algn="just">
              <a:buAutoNum type="alphaLcParenBoth"/>
            </a:pPr>
            <a:r>
              <a:rPr lang="en-US" sz="3000" dirty="0"/>
              <a:t>2</a:t>
            </a:r>
            <a:r>
              <a:rPr lang="en-US" sz="3000" baseline="30000" dirty="0"/>
              <a:t>18</a:t>
            </a:r>
            <a:r>
              <a:rPr lang="en-US" sz="3000" dirty="0"/>
              <a:t> × 8 / 2</a:t>
            </a:r>
            <a:r>
              <a:rPr lang="en-US" sz="3000" baseline="30000" dirty="0"/>
              <a:t>15</a:t>
            </a:r>
            <a:r>
              <a:rPr lang="en-US" sz="3000" dirty="0"/>
              <a:t> × 8 = 2</a:t>
            </a:r>
            <a:r>
              <a:rPr lang="en-US" sz="3000" baseline="30000" dirty="0"/>
              <a:t>18-15</a:t>
            </a:r>
            <a:r>
              <a:rPr lang="en-US" sz="3000" dirty="0"/>
              <a:t> = 2</a:t>
            </a:r>
            <a:r>
              <a:rPr lang="en-US" sz="3000" baseline="30000" dirty="0"/>
              <a:t>3</a:t>
            </a:r>
            <a:r>
              <a:rPr lang="en-US" sz="3000" dirty="0"/>
              <a:t> = 8</a:t>
            </a:r>
          </a:p>
          <a:p>
            <a:pPr marL="0" indent="0" algn="just">
              <a:buNone/>
            </a:pPr>
            <a:r>
              <a:rPr lang="en-US" sz="3000" dirty="0">
                <a:solidFill>
                  <a:srgbClr val="002060"/>
                </a:solidFill>
              </a:rPr>
              <a:t>Eight</a:t>
            </a:r>
            <a:r>
              <a:rPr lang="en-US" sz="3000" dirty="0"/>
              <a:t> 32K × 8 RAM chips are needed to provide a memory capacity of 256K </a:t>
            </a:r>
            <a:r>
              <a:rPr lang="en-IN" sz="3000" dirty="0"/>
              <a:t>bytes.</a:t>
            </a:r>
          </a:p>
          <a:p>
            <a:pPr marL="0" indent="0" algn="just">
              <a:buNone/>
            </a:pPr>
            <a:r>
              <a:rPr lang="en-US" sz="3000" dirty="0"/>
              <a:t>(b) </a:t>
            </a:r>
            <a:r>
              <a:rPr lang="en-US" sz="3000" dirty="0">
                <a:solidFill>
                  <a:srgbClr val="002060"/>
                </a:solidFill>
              </a:rPr>
              <a:t>18</a:t>
            </a:r>
            <a:r>
              <a:rPr lang="en-US" sz="3000" dirty="0"/>
              <a:t> lines of the address must be used to access 256K bytes. </a:t>
            </a:r>
            <a:r>
              <a:rPr lang="en-US" sz="3000" dirty="0">
                <a:solidFill>
                  <a:srgbClr val="002060"/>
                </a:solidFill>
              </a:rPr>
              <a:t>15</a:t>
            </a:r>
            <a:r>
              <a:rPr lang="en-US" sz="3000" dirty="0"/>
              <a:t> of these lines are connected to the address inputs of all chips.</a:t>
            </a:r>
          </a:p>
          <a:p>
            <a:pPr marL="0" indent="0" algn="just">
              <a:buNone/>
            </a:pPr>
            <a:r>
              <a:rPr lang="en-US" sz="3000" dirty="0"/>
              <a:t>(c) 18 - 15 = </a:t>
            </a:r>
            <a:r>
              <a:rPr lang="en-US" sz="3000" dirty="0">
                <a:solidFill>
                  <a:srgbClr val="002060"/>
                </a:solidFill>
              </a:rPr>
              <a:t>3</a:t>
            </a:r>
            <a:r>
              <a:rPr lang="en-US" sz="3000" dirty="0"/>
              <a:t> lines must be decoded for the chip select inputs. The size of the </a:t>
            </a:r>
            <a:r>
              <a:rPr lang="en-IN" sz="3000" dirty="0"/>
              <a:t>decoder is 3 × 2</a:t>
            </a:r>
            <a:r>
              <a:rPr lang="en-IN" sz="3000" baseline="30000" dirty="0"/>
              <a:t>3</a:t>
            </a:r>
            <a:r>
              <a:rPr lang="en-IN" sz="3000" dirty="0"/>
              <a:t> = </a:t>
            </a:r>
            <a:r>
              <a:rPr lang="en-IN" sz="3000" dirty="0">
                <a:solidFill>
                  <a:srgbClr val="002060"/>
                </a:solidFill>
              </a:rPr>
              <a:t>3 × 8</a:t>
            </a:r>
            <a:r>
              <a:rPr lang="en-IN" sz="3000" dirty="0"/>
              <a:t>.</a:t>
            </a:r>
            <a:endParaRPr lang="en-US" sz="3000" dirty="0"/>
          </a:p>
          <a:p>
            <a:pPr algn="just"/>
            <a:endParaRPr lang="en-US" sz="3000" dirty="0"/>
          </a:p>
          <a:p>
            <a:pPr algn="just"/>
            <a:endParaRPr lang="en-US" sz="3000" dirty="0"/>
          </a:p>
          <a:p>
            <a:pPr algn="just"/>
            <a:endParaRPr lang="en-IN" sz="3000" dirty="0"/>
          </a:p>
        </p:txBody>
      </p:sp>
    </p:spTree>
    <p:extLst>
      <p:ext uri="{BB962C8B-B14F-4D97-AF65-F5344CB8AC3E}">
        <p14:creationId xmlns:p14="http://schemas.microsoft.com/office/powerpoint/2010/main" val="4059520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 calcmode="lin" valueType="num">
                                      <p:cBhvr additive="base">
                                        <p:cTn id="4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solidFill>
                  <a:srgbClr val="C00000"/>
                </a:solidFill>
              </a:rPr>
              <a:t>Error Detection and Correction</a:t>
            </a:r>
          </a:p>
        </p:txBody>
      </p:sp>
      <p:sp>
        <p:nvSpPr>
          <p:cNvPr id="3" name="Content Placeholder 2"/>
          <p:cNvSpPr>
            <a:spLocks noGrp="1"/>
          </p:cNvSpPr>
          <p:nvPr>
            <p:ph idx="1"/>
          </p:nvPr>
        </p:nvSpPr>
        <p:spPr/>
        <p:txBody>
          <a:bodyPr>
            <a:normAutofit/>
          </a:bodyPr>
          <a:lstStyle/>
          <a:p>
            <a:pPr algn="just"/>
            <a:r>
              <a:rPr lang="en-US" dirty="0"/>
              <a:t>The dynamic physical interaction of the electrical signals affecting the data path of a memory unit may cause occasional errors in storing and retrieving the binary information.</a:t>
            </a:r>
          </a:p>
          <a:p>
            <a:pPr algn="just"/>
            <a:r>
              <a:rPr lang="en-US" dirty="0"/>
              <a:t>The reliability of a memory unit may be improved by employing error‐detecting and error‐correcting codes.</a:t>
            </a:r>
          </a:p>
        </p:txBody>
      </p:sp>
    </p:spTree>
    <p:extLst>
      <p:ext uri="{BB962C8B-B14F-4D97-AF65-F5344CB8AC3E}">
        <p14:creationId xmlns:p14="http://schemas.microsoft.com/office/powerpoint/2010/main" val="3805202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4784"/>
            <a:ext cx="8229600" cy="4641379"/>
          </a:xfrm>
        </p:spPr>
        <p:txBody>
          <a:bodyPr>
            <a:normAutofit/>
          </a:bodyPr>
          <a:lstStyle/>
          <a:p>
            <a:pPr algn="just"/>
            <a:r>
              <a:rPr lang="en-US" dirty="0"/>
              <a:t>The most common error detection scheme is the parity bit. A parity bit is generated and stored along with the data word in memory. The parity of the word is checked after reading it from memory.</a:t>
            </a:r>
          </a:p>
          <a:p>
            <a:pPr algn="just"/>
            <a:r>
              <a:rPr lang="en-US" dirty="0"/>
              <a:t>An error‐correcting code generates multiple parity check bits that are stored with the data word in memory. Each check bit is a parity over a group of bits in the data </a:t>
            </a:r>
            <a:r>
              <a:rPr lang="en-IN" dirty="0"/>
              <a:t>word.</a:t>
            </a:r>
            <a:endParaRPr lang="en-US" dirty="0"/>
          </a:p>
          <a:p>
            <a:endParaRPr lang="en-IN" dirty="0"/>
          </a:p>
        </p:txBody>
      </p:sp>
    </p:spTree>
    <p:extLst>
      <p:ext uri="{BB962C8B-B14F-4D97-AF65-F5344CB8AC3E}">
        <p14:creationId xmlns:p14="http://schemas.microsoft.com/office/powerpoint/2010/main" val="2661295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pPr algn="l"/>
            <a:r>
              <a:rPr lang="en-IN" dirty="0">
                <a:solidFill>
                  <a:srgbClr val="0070C0"/>
                </a:solidFill>
              </a:rPr>
              <a:t>Hamming Code</a:t>
            </a:r>
          </a:p>
        </p:txBody>
      </p:sp>
      <p:sp>
        <p:nvSpPr>
          <p:cNvPr id="3" name="Content Placeholder 2"/>
          <p:cNvSpPr>
            <a:spLocks noGrp="1"/>
          </p:cNvSpPr>
          <p:nvPr>
            <p:ph idx="1"/>
          </p:nvPr>
        </p:nvSpPr>
        <p:spPr>
          <a:xfrm>
            <a:off x="457200" y="980728"/>
            <a:ext cx="8229600" cy="5472608"/>
          </a:xfrm>
        </p:spPr>
        <p:txBody>
          <a:bodyPr>
            <a:noAutofit/>
          </a:bodyPr>
          <a:lstStyle/>
          <a:p>
            <a:pPr algn="just"/>
            <a:r>
              <a:rPr lang="en-US" sz="3000" dirty="0"/>
              <a:t>One of the most common error‐correcting codes used in RAMs was devised by R. W. Hamming.</a:t>
            </a:r>
          </a:p>
          <a:p>
            <a:pPr algn="just"/>
            <a:r>
              <a:rPr lang="en-US" sz="3000" dirty="0"/>
              <a:t>In the Hamming code, </a:t>
            </a:r>
            <a:r>
              <a:rPr lang="en-US" sz="3000" i="1" dirty="0"/>
              <a:t>k </a:t>
            </a:r>
            <a:r>
              <a:rPr lang="en-US" sz="3000" dirty="0"/>
              <a:t>parity bits are added to an </a:t>
            </a:r>
            <a:r>
              <a:rPr lang="en-US" sz="3000" i="1" dirty="0"/>
              <a:t>n</a:t>
            </a:r>
            <a:r>
              <a:rPr lang="en-US" sz="3000" dirty="0"/>
              <a:t>‐bit data word, forming a new word of </a:t>
            </a:r>
            <a:r>
              <a:rPr lang="en-US" sz="3000" i="1" dirty="0"/>
              <a:t>n </a:t>
            </a:r>
            <a:r>
              <a:rPr lang="en-US" sz="3000" dirty="0"/>
              <a:t>+ </a:t>
            </a:r>
            <a:r>
              <a:rPr lang="en-US" sz="3000" i="1" dirty="0"/>
              <a:t>k </a:t>
            </a:r>
            <a:r>
              <a:rPr lang="en-US" sz="3000" dirty="0"/>
              <a:t>bits.</a:t>
            </a:r>
          </a:p>
          <a:p>
            <a:pPr algn="just"/>
            <a:r>
              <a:rPr lang="en-US" sz="3000" dirty="0"/>
              <a:t>The bit positions are numbered in sequence from 1 to </a:t>
            </a:r>
            <a:r>
              <a:rPr lang="en-US" sz="3000" i="1" dirty="0"/>
              <a:t>n </a:t>
            </a:r>
            <a:r>
              <a:rPr lang="en-US" sz="3000" dirty="0"/>
              <a:t>+ </a:t>
            </a:r>
            <a:r>
              <a:rPr lang="en-US" sz="3000" i="1" dirty="0"/>
              <a:t>k</a:t>
            </a:r>
            <a:r>
              <a:rPr lang="en-US" sz="3000" dirty="0"/>
              <a:t>.</a:t>
            </a:r>
          </a:p>
          <a:p>
            <a:pPr algn="just"/>
            <a:r>
              <a:rPr lang="en-US" sz="3000" dirty="0"/>
              <a:t>Those positions numbered as a power of 2 are reserved for the parity bits. The remaining bits are the data bits.</a:t>
            </a:r>
          </a:p>
          <a:p>
            <a:pPr algn="just"/>
            <a:r>
              <a:rPr lang="en-US" sz="3000" dirty="0"/>
              <a:t>The code can be used with words of any length.</a:t>
            </a:r>
          </a:p>
        </p:txBody>
      </p:sp>
    </p:spTree>
    <p:extLst>
      <p:ext uri="{BB962C8B-B14F-4D97-AF65-F5344CB8AC3E}">
        <p14:creationId xmlns:p14="http://schemas.microsoft.com/office/powerpoint/2010/main" val="2004894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08720"/>
            <a:ext cx="8229600" cy="5217443"/>
          </a:xfrm>
        </p:spPr>
        <p:txBody>
          <a:bodyPr>
            <a:normAutofit/>
          </a:bodyPr>
          <a:lstStyle/>
          <a:p>
            <a:pPr algn="just"/>
            <a:r>
              <a:rPr lang="en-US" sz="3000" dirty="0"/>
              <a:t>Consider, for example, the 8‐bit data word 11000100.</a:t>
            </a:r>
          </a:p>
          <a:p>
            <a:pPr algn="just"/>
            <a:r>
              <a:rPr lang="en-US" sz="3000" dirty="0"/>
              <a:t>We include 4 parity bits with the 8‐bit word and arrange the 12 bits as follows:</a:t>
            </a:r>
          </a:p>
          <a:p>
            <a:pPr algn="just"/>
            <a:endParaRPr lang="en-US" sz="3000" dirty="0"/>
          </a:p>
          <a:p>
            <a:pPr algn="just"/>
            <a:endParaRPr lang="en-US" sz="3000" dirty="0"/>
          </a:p>
          <a:p>
            <a:pPr algn="just"/>
            <a:r>
              <a:rPr lang="en-US" sz="3000" dirty="0"/>
              <a:t>The 4 parity bits, </a:t>
            </a:r>
            <a:r>
              <a:rPr lang="en-US" sz="3000" i="1" dirty="0"/>
              <a:t>P</a:t>
            </a:r>
            <a:r>
              <a:rPr lang="en-US" sz="3000" baseline="-25000" dirty="0"/>
              <a:t>1</a:t>
            </a:r>
            <a:r>
              <a:rPr lang="en-US" sz="3000" dirty="0"/>
              <a:t>, </a:t>
            </a:r>
            <a:r>
              <a:rPr lang="en-US" sz="3000" i="1" dirty="0"/>
              <a:t>P</a:t>
            </a:r>
            <a:r>
              <a:rPr lang="en-US" sz="3000" baseline="-25000" dirty="0"/>
              <a:t>2</a:t>
            </a:r>
            <a:r>
              <a:rPr lang="en-US" sz="3000" dirty="0"/>
              <a:t>, </a:t>
            </a:r>
            <a:r>
              <a:rPr lang="en-US" sz="3000" i="1" dirty="0"/>
              <a:t>P</a:t>
            </a:r>
            <a:r>
              <a:rPr lang="en-US" sz="3000" baseline="-25000" dirty="0"/>
              <a:t>4</a:t>
            </a:r>
            <a:r>
              <a:rPr lang="en-US" sz="3000" dirty="0"/>
              <a:t>, and </a:t>
            </a:r>
            <a:r>
              <a:rPr lang="en-US" sz="3000" i="1" dirty="0"/>
              <a:t>P</a:t>
            </a:r>
            <a:r>
              <a:rPr lang="en-US" sz="3000" baseline="-25000" dirty="0"/>
              <a:t>8</a:t>
            </a:r>
            <a:r>
              <a:rPr lang="en-US" sz="3000" dirty="0"/>
              <a:t>, are in positions 1, 2, 4, and 8, respectively.</a:t>
            </a:r>
          </a:p>
          <a:p>
            <a:pPr algn="just"/>
            <a:r>
              <a:rPr lang="en-US" sz="3000" dirty="0"/>
              <a:t>The 8 bits of the data word are in the remaining positions.</a:t>
            </a:r>
          </a:p>
          <a:p>
            <a:endParaRPr lang="en-US"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3068960"/>
            <a:ext cx="7776864"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909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027"/>
                                        </p:tgtEl>
                                        <p:attrNameLst>
                                          <p:attrName>style.visibility</p:attrName>
                                        </p:attrNameLst>
                                      </p:cBhvr>
                                      <p:to>
                                        <p:strVal val="visible"/>
                                      </p:to>
                                    </p:set>
                                    <p:animEffect transition="in" filter="barn(inVertical)">
                                      <p:cBhvr>
                                        <p:cTn id="19" dur="500"/>
                                        <p:tgtEl>
                                          <p:spTgt spid="1027"/>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 calcmode="lin" valueType="num">
                                      <p:cBhvr additive="base">
                                        <p:cTn id="30"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6752"/>
            <a:ext cx="8229600" cy="4929411"/>
          </a:xfrm>
        </p:spPr>
        <p:txBody>
          <a:bodyPr>
            <a:noAutofit/>
          </a:bodyPr>
          <a:lstStyle/>
          <a:p>
            <a:r>
              <a:rPr lang="en-US" sz="3000" dirty="0"/>
              <a:t>Each parity bit is calculated as follows:</a:t>
            </a:r>
          </a:p>
          <a:p>
            <a:pPr marL="361950" indent="0">
              <a:buNone/>
            </a:pPr>
            <a:r>
              <a:rPr lang="en-US" sz="3000" i="1" dirty="0"/>
              <a:t>P</a:t>
            </a:r>
            <a:r>
              <a:rPr lang="en-US" sz="3000" baseline="-25000" dirty="0"/>
              <a:t>1</a:t>
            </a:r>
            <a:r>
              <a:rPr lang="en-US" sz="3000" dirty="0"/>
              <a:t> = XOR of bits (3, 5, 7, 9, 11)</a:t>
            </a:r>
          </a:p>
          <a:p>
            <a:pPr marL="361950" indent="0">
              <a:buNone/>
            </a:pPr>
            <a:r>
              <a:rPr lang="en-US" sz="3000" dirty="0"/>
              <a:t>	= 1 Ꚛ 1 Ꚛ 0 Ꚛ 0 Ꚛ 0 = 0</a:t>
            </a:r>
          </a:p>
          <a:p>
            <a:pPr marL="361950" indent="0">
              <a:buNone/>
            </a:pPr>
            <a:r>
              <a:rPr lang="en-US" sz="3000" i="1" dirty="0"/>
              <a:t>P</a:t>
            </a:r>
            <a:r>
              <a:rPr lang="en-US" sz="3000" baseline="-25000" dirty="0"/>
              <a:t>2</a:t>
            </a:r>
            <a:r>
              <a:rPr lang="en-US" sz="3000" dirty="0"/>
              <a:t> = XOR of bits (3, 5, 7, 10, 11)</a:t>
            </a:r>
          </a:p>
          <a:p>
            <a:pPr marL="361950" indent="0">
              <a:buNone/>
            </a:pPr>
            <a:r>
              <a:rPr lang="en-US" sz="3000" dirty="0"/>
              <a:t>	= 1 Ꚛ 0 Ꚛ 0 Ꚛ 1 Ꚛ 0 = 0</a:t>
            </a:r>
          </a:p>
          <a:p>
            <a:pPr marL="361950" indent="0">
              <a:buNone/>
            </a:pPr>
            <a:r>
              <a:rPr lang="en-US" sz="3000" i="1" dirty="0"/>
              <a:t>P</a:t>
            </a:r>
            <a:r>
              <a:rPr lang="en-US" sz="3000" baseline="-25000" dirty="0"/>
              <a:t>4</a:t>
            </a:r>
            <a:r>
              <a:rPr lang="en-US" sz="3000" dirty="0"/>
              <a:t> = XOR of bits (5, 6, 7, 12)</a:t>
            </a:r>
          </a:p>
          <a:p>
            <a:pPr marL="361950" indent="0">
              <a:buNone/>
            </a:pPr>
            <a:r>
              <a:rPr lang="en-US" sz="3000" dirty="0"/>
              <a:t>	= 1 Ꚛ 0 Ꚛ 0 Ꚛ 0 = 1</a:t>
            </a:r>
          </a:p>
          <a:p>
            <a:pPr marL="361950" indent="0">
              <a:buNone/>
            </a:pPr>
            <a:r>
              <a:rPr lang="en-US" sz="3000" i="1" dirty="0"/>
              <a:t>P</a:t>
            </a:r>
            <a:r>
              <a:rPr lang="en-US" sz="3000" baseline="-25000" dirty="0"/>
              <a:t>8</a:t>
            </a:r>
            <a:r>
              <a:rPr lang="en-US" sz="3000" dirty="0"/>
              <a:t> = XOR of bits (9, 10, 11, 12)</a:t>
            </a:r>
          </a:p>
          <a:p>
            <a:pPr marL="361950" indent="0">
              <a:buNone/>
            </a:pPr>
            <a:r>
              <a:rPr lang="en-US" sz="3000" dirty="0"/>
              <a:t>	= 0 Ꚛ 1 Ꚛ 0 Ꚛ 0 = 1</a:t>
            </a:r>
          </a:p>
        </p:txBody>
      </p:sp>
    </p:spTree>
    <p:extLst>
      <p:ext uri="{BB962C8B-B14F-4D97-AF65-F5344CB8AC3E}">
        <p14:creationId xmlns:p14="http://schemas.microsoft.com/office/powerpoint/2010/main" val="809308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000" dirty="0"/>
              <a:t>The 8‐bit data word is stored in memory together with the 4 parity bits as a 12‐bit composite word.</a:t>
            </a:r>
          </a:p>
          <a:p>
            <a:pPr algn="just"/>
            <a:r>
              <a:rPr lang="en-US" sz="3000" dirty="0"/>
              <a:t>Substituting the 4 </a:t>
            </a:r>
            <a:r>
              <a:rPr lang="en-US" sz="3000" i="1" dirty="0"/>
              <a:t>P </a:t>
            </a:r>
            <a:r>
              <a:rPr lang="en-US" sz="3000" dirty="0"/>
              <a:t>bits in their proper positions, we obtain the 12‐bit composite word stored in memory:</a:t>
            </a:r>
          </a:p>
          <a:p>
            <a:pPr algn="just"/>
            <a:endParaRPr lang="en-IN" sz="30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4149080"/>
            <a:ext cx="7863274"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8201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050"/>
                                        </p:tgtEl>
                                        <p:attrNameLst>
                                          <p:attrName>style.visibility</p:attrName>
                                        </p:attrNameLst>
                                      </p:cBhvr>
                                      <p:to>
                                        <p:strVal val="visible"/>
                                      </p:to>
                                    </p:set>
                                    <p:animEffect transition="in" filter="barn(inVertical)">
                                      <p:cBhvr>
                                        <p:cTn id="19"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40768"/>
            <a:ext cx="8229600" cy="4785395"/>
          </a:xfrm>
        </p:spPr>
        <p:txBody>
          <a:bodyPr>
            <a:noAutofit/>
          </a:bodyPr>
          <a:lstStyle/>
          <a:p>
            <a:r>
              <a:rPr lang="en-US" sz="3000" dirty="0"/>
              <a:t>When the 12 bits are read from memory, they are checked again for errors.</a:t>
            </a:r>
          </a:p>
          <a:p>
            <a:r>
              <a:rPr lang="en-US" sz="3000" dirty="0"/>
              <a:t>The parity is checked over the same combination of bits, including the parity bit.</a:t>
            </a:r>
          </a:p>
          <a:p>
            <a:r>
              <a:rPr lang="en-US" sz="3000" dirty="0"/>
              <a:t>The 4 check bits are </a:t>
            </a:r>
            <a:r>
              <a:rPr lang="en-IN" sz="3000" dirty="0"/>
              <a:t>evaluated as follows:</a:t>
            </a:r>
          </a:p>
          <a:p>
            <a:pPr marL="361950" indent="0">
              <a:buNone/>
            </a:pPr>
            <a:r>
              <a:rPr lang="en-US" sz="3000" i="1" dirty="0"/>
              <a:t>C</a:t>
            </a:r>
            <a:r>
              <a:rPr lang="en-US" sz="3000" baseline="-25000" dirty="0"/>
              <a:t>1</a:t>
            </a:r>
            <a:r>
              <a:rPr lang="en-US" sz="3000" dirty="0"/>
              <a:t> = XOR of bits (1, 3, 5, 7, 9, 11)</a:t>
            </a:r>
          </a:p>
          <a:p>
            <a:pPr marL="361950" indent="0">
              <a:buNone/>
            </a:pPr>
            <a:r>
              <a:rPr lang="en-US" sz="3000" i="1" dirty="0"/>
              <a:t>C</a:t>
            </a:r>
            <a:r>
              <a:rPr lang="en-US" sz="3000" baseline="-25000" dirty="0"/>
              <a:t>2</a:t>
            </a:r>
            <a:r>
              <a:rPr lang="en-US" sz="3000" dirty="0"/>
              <a:t> = XOR of bits (2, 3, 5, 7, 10, 11)</a:t>
            </a:r>
          </a:p>
          <a:p>
            <a:pPr marL="361950" indent="0">
              <a:buNone/>
            </a:pPr>
            <a:r>
              <a:rPr lang="en-US" sz="3000" i="1" dirty="0"/>
              <a:t>C</a:t>
            </a:r>
            <a:r>
              <a:rPr lang="en-US" sz="3000" baseline="-25000" dirty="0"/>
              <a:t>4</a:t>
            </a:r>
            <a:r>
              <a:rPr lang="en-US" sz="3000" dirty="0"/>
              <a:t> = XOR of bits (4, 5, 6, 7, 12) </a:t>
            </a:r>
          </a:p>
          <a:p>
            <a:pPr marL="361950" indent="0">
              <a:buNone/>
            </a:pPr>
            <a:r>
              <a:rPr lang="en-US" sz="3000" i="1" dirty="0"/>
              <a:t>C</a:t>
            </a:r>
            <a:r>
              <a:rPr lang="en-US" sz="3000" baseline="-25000" dirty="0"/>
              <a:t>8</a:t>
            </a:r>
            <a:r>
              <a:rPr lang="en-US" sz="3000" dirty="0"/>
              <a:t> = XOR of bits (8, 9, 10, 11, 12)</a:t>
            </a:r>
          </a:p>
        </p:txBody>
      </p:sp>
    </p:spTree>
    <p:extLst>
      <p:ext uri="{BB962C8B-B14F-4D97-AF65-F5344CB8AC3E}">
        <p14:creationId xmlns:p14="http://schemas.microsoft.com/office/powerpoint/2010/main" val="1057163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000" dirty="0"/>
              <a:t>A 0 check bit designates even parity over the checked bits and a 1 designates odd parity.</a:t>
            </a:r>
          </a:p>
          <a:p>
            <a:pPr algn="just"/>
            <a:r>
              <a:rPr lang="en-US" sz="3000" dirty="0"/>
              <a:t>Since the bits were stored with even parity, the result, </a:t>
            </a:r>
            <a:r>
              <a:rPr lang="en-US" sz="3000" i="1" dirty="0"/>
              <a:t>C </a:t>
            </a:r>
            <a:r>
              <a:rPr lang="en-US" sz="3000" dirty="0"/>
              <a:t>= </a:t>
            </a:r>
            <a:r>
              <a:rPr lang="en-US" sz="3000" i="1" dirty="0"/>
              <a:t>C</a:t>
            </a:r>
            <a:r>
              <a:rPr lang="en-US" sz="3000" baseline="-25000" dirty="0"/>
              <a:t>8</a:t>
            </a:r>
            <a:r>
              <a:rPr lang="en-US" sz="3000" i="1" dirty="0"/>
              <a:t>C</a:t>
            </a:r>
            <a:r>
              <a:rPr lang="en-US" sz="3000" baseline="-25000" dirty="0"/>
              <a:t>4</a:t>
            </a:r>
            <a:r>
              <a:rPr lang="en-US" sz="3000" i="1" dirty="0"/>
              <a:t>C</a:t>
            </a:r>
            <a:r>
              <a:rPr lang="en-US" sz="3000" baseline="-25000" dirty="0"/>
              <a:t>2</a:t>
            </a:r>
            <a:r>
              <a:rPr lang="en-US" sz="3000" i="1" dirty="0"/>
              <a:t>C</a:t>
            </a:r>
            <a:r>
              <a:rPr lang="en-US" sz="3000" baseline="-25000" dirty="0"/>
              <a:t>1</a:t>
            </a:r>
            <a:r>
              <a:rPr lang="en-US" sz="3000" dirty="0"/>
              <a:t> = 0000, indicates that no error has occurred.</a:t>
            </a:r>
          </a:p>
          <a:p>
            <a:pPr algn="just"/>
            <a:r>
              <a:rPr lang="en-US" sz="3000" dirty="0"/>
              <a:t>However, if </a:t>
            </a:r>
            <a:r>
              <a:rPr lang="en-US" sz="3000" i="1" dirty="0"/>
              <a:t>C ≠</a:t>
            </a:r>
            <a:r>
              <a:rPr lang="en-US" sz="3000" dirty="0"/>
              <a:t> 0, then the 4‐bit binary number formed by the check bits gives the position of the erroneous bit.</a:t>
            </a:r>
            <a:endParaRPr lang="en-IN" sz="3000" dirty="0"/>
          </a:p>
        </p:txBody>
      </p:sp>
    </p:spTree>
    <p:extLst>
      <p:ext uri="{BB962C8B-B14F-4D97-AF65-F5344CB8AC3E}">
        <p14:creationId xmlns:p14="http://schemas.microsoft.com/office/powerpoint/2010/main" val="282309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08720"/>
            <a:ext cx="8229600" cy="5217443"/>
          </a:xfrm>
        </p:spPr>
        <p:txBody>
          <a:bodyPr>
            <a:normAutofit fontScale="85000" lnSpcReduction="10000"/>
          </a:bodyPr>
          <a:lstStyle/>
          <a:p>
            <a:pPr algn="just"/>
            <a:r>
              <a:rPr lang="en-US" sz="3500" dirty="0"/>
              <a:t>For example, consider the following </a:t>
            </a:r>
            <a:r>
              <a:rPr lang="en-IN" sz="3500" dirty="0"/>
              <a:t>three cases:</a:t>
            </a:r>
          </a:p>
          <a:p>
            <a:pPr algn="just"/>
            <a:endParaRPr lang="en-US" sz="3500" dirty="0"/>
          </a:p>
          <a:p>
            <a:pPr algn="just"/>
            <a:endParaRPr lang="en-US" sz="3500" dirty="0"/>
          </a:p>
          <a:p>
            <a:pPr algn="just"/>
            <a:endParaRPr lang="en-US" sz="3500" dirty="0"/>
          </a:p>
          <a:p>
            <a:pPr algn="just"/>
            <a:r>
              <a:rPr lang="en-US" sz="3500" dirty="0"/>
              <a:t>In the first case, there is no error in the 12‐bit word.</a:t>
            </a:r>
          </a:p>
          <a:p>
            <a:pPr algn="just"/>
            <a:r>
              <a:rPr lang="en-US" sz="3500" dirty="0"/>
              <a:t>In the second case, there is an error in bit position number 1 because it changed from 0 to 1.</a:t>
            </a:r>
          </a:p>
          <a:p>
            <a:pPr algn="just"/>
            <a:r>
              <a:rPr lang="en-US" sz="3500" dirty="0"/>
              <a:t>The third case shows an error in bit position 5, with a change from 1 to 0.</a:t>
            </a:r>
            <a:endParaRPr lang="en-IN" sz="3500" dirty="0"/>
          </a:p>
          <a:p>
            <a:endParaRPr lang="en-IN"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073" y="1484784"/>
            <a:ext cx="7953375"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1762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075"/>
                                        </p:tgtEl>
                                        <p:attrNameLst>
                                          <p:attrName>style.visibility</p:attrName>
                                        </p:attrNameLst>
                                      </p:cBhvr>
                                      <p:to>
                                        <p:strVal val="visible"/>
                                      </p:to>
                                    </p:set>
                                    <p:animEffect transition="in" filter="barn(inVertical)">
                                      <p:cBhvr>
                                        <p:cTn id="13" dur="500"/>
                                        <p:tgtEl>
                                          <p:spTgt spid="307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 calcmode="lin" valueType="num">
                                      <p:cBhvr additive="base">
                                        <p:cTn id="1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 calcmode="lin" valueType="num">
                                      <p:cBhvr additive="base">
                                        <p:cTn id="2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 calcmode="lin" valueType="num">
                                      <p:cBhvr additive="base">
                                        <p:cTn id="3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40768"/>
            <a:ext cx="8229600" cy="4785395"/>
          </a:xfrm>
        </p:spPr>
        <p:txBody>
          <a:bodyPr>
            <a:noAutofit/>
          </a:bodyPr>
          <a:lstStyle/>
          <a:p>
            <a:pPr algn="just"/>
            <a:r>
              <a:rPr lang="en-US" sz="3000" dirty="0"/>
              <a:t>Evaluating the XOR of the corresponding bits, we determine the 4 check bits to be as follows:</a:t>
            </a:r>
          </a:p>
          <a:p>
            <a:pPr marL="361950" indent="0" algn="just">
              <a:buNone/>
            </a:pPr>
            <a:r>
              <a:rPr lang="en-IN" sz="3000" i="1" dirty="0"/>
              <a:t>				C</a:t>
            </a:r>
            <a:r>
              <a:rPr lang="en-IN" sz="3000" baseline="-25000" dirty="0"/>
              <a:t>8</a:t>
            </a:r>
            <a:r>
              <a:rPr lang="en-IN" sz="3000" dirty="0"/>
              <a:t> </a:t>
            </a:r>
            <a:r>
              <a:rPr lang="en-IN" sz="3000" i="1" dirty="0"/>
              <a:t>C</a:t>
            </a:r>
            <a:r>
              <a:rPr lang="en-IN" sz="3000" baseline="-25000" dirty="0"/>
              <a:t>4</a:t>
            </a:r>
            <a:r>
              <a:rPr lang="en-IN" sz="3000" dirty="0"/>
              <a:t> </a:t>
            </a:r>
            <a:r>
              <a:rPr lang="en-IN" sz="3000" i="1" dirty="0"/>
              <a:t>C</a:t>
            </a:r>
            <a:r>
              <a:rPr lang="en-IN" sz="3000" baseline="-25000" dirty="0"/>
              <a:t>2</a:t>
            </a:r>
            <a:r>
              <a:rPr lang="en-IN" sz="3000" dirty="0"/>
              <a:t> </a:t>
            </a:r>
            <a:r>
              <a:rPr lang="en-IN" sz="3000" i="1" dirty="0"/>
              <a:t>C</a:t>
            </a:r>
            <a:r>
              <a:rPr lang="en-IN" sz="3000" baseline="-25000" dirty="0"/>
              <a:t>1</a:t>
            </a:r>
          </a:p>
          <a:p>
            <a:pPr marL="361950" indent="0" algn="just">
              <a:buNone/>
            </a:pPr>
            <a:r>
              <a:rPr lang="es-ES" sz="3000" dirty="0" err="1"/>
              <a:t>For</a:t>
            </a:r>
            <a:r>
              <a:rPr lang="es-ES" sz="3000" dirty="0"/>
              <a:t> no error: 		 0  0   0  0</a:t>
            </a:r>
          </a:p>
          <a:p>
            <a:pPr marL="361950" indent="0" algn="just">
              <a:buNone/>
            </a:pPr>
            <a:r>
              <a:rPr lang="en-US" sz="3000" dirty="0"/>
              <a:t>With error in bit 1: 	 0  0   0  1</a:t>
            </a:r>
          </a:p>
          <a:p>
            <a:pPr marL="361950" indent="0" algn="just">
              <a:buNone/>
            </a:pPr>
            <a:r>
              <a:rPr lang="en-US" sz="3000" dirty="0"/>
              <a:t>With error in bit 5: 	 0  1   0  1</a:t>
            </a:r>
          </a:p>
          <a:p>
            <a:pPr algn="just"/>
            <a:r>
              <a:rPr lang="en-US" sz="3000" dirty="0"/>
              <a:t>Thus, for no error, we have </a:t>
            </a:r>
            <a:r>
              <a:rPr lang="en-US" sz="3000" i="1" dirty="0"/>
              <a:t>C </a:t>
            </a:r>
            <a:r>
              <a:rPr lang="en-US" sz="3000" dirty="0"/>
              <a:t>= 0000; with an error in bit 1, we obtain </a:t>
            </a:r>
            <a:r>
              <a:rPr lang="en-US" sz="3000" i="1" dirty="0"/>
              <a:t>C </a:t>
            </a:r>
            <a:r>
              <a:rPr lang="en-US" sz="3000" dirty="0"/>
              <a:t>= 0001; and with an error in bit 5, we get </a:t>
            </a:r>
            <a:r>
              <a:rPr lang="en-US" sz="3000" i="1" dirty="0"/>
              <a:t>C </a:t>
            </a:r>
            <a:r>
              <a:rPr lang="en-US" sz="3000" dirty="0"/>
              <a:t>= 0101.</a:t>
            </a:r>
          </a:p>
        </p:txBody>
      </p:sp>
    </p:spTree>
    <p:extLst>
      <p:ext uri="{BB962C8B-B14F-4D97-AF65-F5344CB8AC3E}">
        <p14:creationId xmlns:p14="http://schemas.microsoft.com/office/powerpoint/2010/main" val="2116942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sz="3000" dirty="0"/>
              <a:t>When the binary number </a:t>
            </a:r>
            <a:r>
              <a:rPr lang="en-US" sz="3000" i="1" dirty="0"/>
              <a:t>C </a:t>
            </a:r>
            <a:r>
              <a:rPr lang="en-US" sz="3000" dirty="0"/>
              <a:t>is not equal to 0000, it gives the position of the bit in error. The error can be corrected by complementing the corresponding bit. </a:t>
            </a:r>
          </a:p>
          <a:p>
            <a:pPr algn="just"/>
            <a:r>
              <a:rPr lang="en-US" sz="3000" dirty="0"/>
              <a:t>Note that an error can occur in the data word or in one of the parity bits.</a:t>
            </a:r>
          </a:p>
          <a:p>
            <a:pPr algn="just"/>
            <a:endParaRPr lang="en-IN" sz="3000" dirty="0"/>
          </a:p>
          <a:p>
            <a:endParaRPr lang="en-IN" dirty="0"/>
          </a:p>
        </p:txBody>
      </p:sp>
    </p:spTree>
    <p:extLst>
      <p:ext uri="{BB962C8B-B14F-4D97-AF65-F5344CB8AC3E}">
        <p14:creationId xmlns:p14="http://schemas.microsoft.com/office/powerpoint/2010/main" val="3717518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24744"/>
            <a:ext cx="8229600" cy="5001419"/>
          </a:xfrm>
        </p:spPr>
        <p:txBody>
          <a:bodyPr>
            <a:noAutofit/>
          </a:bodyPr>
          <a:lstStyle/>
          <a:p>
            <a:pPr algn="just"/>
            <a:r>
              <a:rPr lang="en-US" sz="3000" dirty="0"/>
              <a:t>The Hamming code can be used for data words of any length.</a:t>
            </a:r>
          </a:p>
          <a:p>
            <a:pPr algn="just"/>
            <a:r>
              <a:rPr lang="en-US" sz="3000" dirty="0"/>
              <a:t>In general, the Hamming code consists of </a:t>
            </a:r>
            <a:r>
              <a:rPr lang="en-US" sz="3000" i="1" dirty="0"/>
              <a:t>k </a:t>
            </a:r>
            <a:r>
              <a:rPr lang="en-US" sz="3000" dirty="0"/>
              <a:t>check bits and </a:t>
            </a:r>
            <a:r>
              <a:rPr lang="en-US" sz="3000" i="1" dirty="0"/>
              <a:t>n </a:t>
            </a:r>
            <a:r>
              <a:rPr lang="en-US" sz="3000" dirty="0"/>
              <a:t>data bits, for a total of </a:t>
            </a:r>
            <a:r>
              <a:rPr lang="en-US" sz="3000" i="1" dirty="0"/>
              <a:t>n </a:t>
            </a:r>
            <a:r>
              <a:rPr lang="en-US" sz="3000" dirty="0"/>
              <a:t>+ </a:t>
            </a:r>
            <a:r>
              <a:rPr lang="en-US" sz="3000" i="1" dirty="0"/>
              <a:t>k </a:t>
            </a:r>
            <a:r>
              <a:rPr lang="en-US" sz="3000" dirty="0"/>
              <a:t>bits.</a:t>
            </a:r>
          </a:p>
          <a:p>
            <a:pPr algn="just"/>
            <a:r>
              <a:rPr lang="en-US" sz="3000" dirty="0"/>
              <a:t>The range of </a:t>
            </a:r>
            <a:r>
              <a:rPr lang="en-US" sz="3000" i="1" dirty="0"/>
              <a:t>k </a:t>
            </a:r>
            <a:r>
              <a:rPr lang="en-US" sz="3000" dirty="0"/>
              <a:t>must be equal to or greater than </a:t>
            </a:r>
            <a:r>
              <a:rPr lang="en-US" sz="3000" i="1" dirty="0"/>
              <a:t>n </a:t>
            </a:r>
            <a:r>
              <a:rPr lang="en-US" sz="3000" dirty="0"/>
              <a:t>+ </a:t>
            </a:r>
            <a:r>
              <a:rPr lang="en-US" sz="3000" i="1" dirty="0"/>
              <a:t>k</a:t>
            </a:r>
            <a:r>
              <a:rPr lang="en-US" sz="3000" dirty="0"/>
              <a:t>, giving the relationship </a:t>
            </a:r>
            <a:r>
              <a:rPr lang="pt-BR" sz="3000" dirty="0">
                <a:solidFill>
                  <a:srgbClr val="002060"/>
                </a:solidFill>
              </a:rPr>
              <a:t>2</a:t>
            </a:r>
            <a:r>
              <a:rPr lang="pt-BR" sz="3000" i="1" baseline="30000" dirty="0">
                <a:solidFill>
                  <a:srgbClr val="002060"/>
                </a:solidFill>
              </a:rPr>
              <a:t>k</a:t>
            </a:r>
            <a:r>
              <a:rPr lang="pt-BR" sz="3000" i="1" dirty="0">
                <a:solidFill>
                  <a:srgbClr val="002060"/>
                </a:solidFill>
              </a:rPr>
              <a:t> </a:t>
            </a:r>
            <a:r>
              <a:rPr lang="pt-BR" sz="3000" dirty="0">
                <a:solidFill>
                  <a:srgbClr val="002060"/>
                </a:solidFill>
              </a:rPr>
              <a:t>- 1 ≥ </a:t>
            </a:r>
            <a:r>
              <a:rPr lang="pt-BR" sz="3000" i="1" dirty="0">
                <a:solidFill>
                  <a:srgbClr val="002060"/>
                </a:solidFill>
              </a:rPr>
              <a:t>n </a:t>
            </a:r>
            <a:r>
              <a:rPr lang="pt-BR" sz="3000" dirty="0">
                <a:solidFill>
                  <a:srgbClr val="002060"/>
                </a:solidFill>
              </a:rPr>
              <a:t>+ </a:t>
            </a:r>
            <a:r>
              <a:rPr lang="pt-BR" sz="3000" i="1" dirty="0">
                <a:solidFill>
                  <a:srgbClr val="002060"/>
                </a:solidFill>
              </a:rPr>
              <a:t>k</a:t>
            </a:r>
          </a:p>
          <a:p>
            <a:pPr algn="just"/>
            <a:r>
              <a:rPr lang="en-US" sz="3000" dirty="0"/>
              <a:t>Solving for </a:t>
            </a:r>
            <a:r>
              <a:rPr lang="en-US" sz="3000" i="1" dirty="0"/>
              <a:t>n </a:t>
            </a:r>
            <a:r>
              <a:rPr lang="en-US" sz="3000" dirty="0"/>
              <a:t>in terms of </a:t>
            </a:r>
            <a:r>
              <a:rPr lang="en-US" sz="3000" i="1" dirty="0"/>
              <a:t>k, </a:t>
            </a:r>
            <a:r>
              <a:rPr lang="en-US" sz="3000" dirty="0"/>
              <a:t>we obtain </a:t>
            </a:r>
            <a:r>
              <a:rPr lang="pt-BR" sz="3000" dirty="0">
                <a:solidFill>
                  <a:srgbClr val="002060"/>
                </a:solidFill>
              </a:rPr>
              <a:t>2</a:t>
            </a:r>
            <a:r>
              <a:rPr lang="pt-BR" sz="3000" i="1" baseline="30000" dirty="0">
                <a:solidFill>
                  <a:srgbClr val="002060"/>
                </a:solidFill>
              </a:rPr>
              <a:t>k</a:t>
            </a:r>
            <a:r>
              <a:rPr lang="pt-BR" sz="3000" i="1" dirty="0">
                <a:solidFill>
                  <a:srgbClr val="002060"/>
                </a:solidFill>
              </a:rPr>
              <a:t> </a:t>
            </a:r>
            <a:r>
              <a:rPr lang="pt-BR" sz="3000" dirty="0">
                <a:solidFill>
                  <a:srgbClr val="002060"/>
                </a:solidFill>
              </a:rPr>
              <a:t>- 1 - </a:t>
            </a:r>
            <a:r>
              <a:rPr lang="pt-BR" sz="3000" i="1" dirty="0">
                <a:solidFill>
                  <a:srgbClr val="002060"/>
                </a:solidFill>
              </a:rPr>
              <a:t>k </a:t>
            </a:r>
            <a:r>
              <a:rPr lang="pt-BR" sz="3000" dirty="0">
                <a:solidFill>
                  <a:srgbClr val="002060"/>
                </a:solidFill>
              </a:rPr>
              <a:t>≥ </a:t>
            </a:r>
            <a:r>
              <a:rPr lang="pt-BR" sz="3000" i="1" dirty="0">
                <a:solidFill>
                  <a:srgbClr val="002060"/>
                </a:solidFill>
              </a:rPr>
              <a:t>n</a:t>
            </a:r>
          </a:p>
          <a:p>
            <a:pPr algn="just"/>
            <a:r>
              <a:rPr lang="en-US" sz="3000" dirty="0"/>
              <a:t>This relationship gives a formula for establishing the number of data bits that can be used in conjunction with </a:t>
            </a:r>
            <a:r>
              <a:rPr lang="en-US" sz="3000" i="1" dirty="0"/>
              <a:t>k </a:t>
            </a:r>
            <a:r>
              <a:rPr lang="en-US" sz="3000" dirty="0"/>
              <a:t>check bits.</a:t>
            </a:r>
            <a:endParaRPr lang="en-IN" sz="3000" dirty="0"/>
          </a:p>
        </p:txBody>
      </p:sp>
    </p:spTree>
    <p:extLst>
      <p:ext uri="{BB962C8B-B14F-4D97-AF65-F5344CB8AC3E}">
        <p14:creationId xmlns:p14="http://schemas.microsoft.com/office/powerpoint/2010/main" val="734095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363" y="1981200"/>
            <a:ext cx="7915275"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4787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animEffect transition="in" filter="barn(inVertical)">
                                      <p:cBhvr>
                                        <p:cTn id="7" dur="500"/>
                                        <p:tgtEl>
                                          <p:spTgt spid="4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6712"/>
            <a:ext cx="8229600" cy="5289451"/>
          </a:xfrm>
        </p:spPr>
        <p:txBody>
          <a:bodyPr>
            <a:noAutofit/>
          </a:bodyPr>
          <a:lstStyle/>
          <a:p>
            <a:pPr algn="just"/>
            <a:r>
              <a:rPr lang="en-US" sz="3000" dirty="0"/>
              <a:t>The grouping of bits for parity generation and checking can be determined from a list of the binary numbers from 0 through 2</a:t>
            </a:r>
            <a:r>
              <a:rPr lang="en-US" sz="3000" i="1" baseline="30000" dirty="0"/>
              <a:t>k</a:t>
            </a:r>
            <a:r>
              <a:rPr lang="en-US" sz="3000" i="1" dirty="0"/>
              <a:t> </a:t>
            </a:r>
            <a:r>
              <a:rPr lang="en-US" sz="3000" dirty="0"/>
              <a:t>- 1.</a:t>
            </a:r>
          </a:p>
          <a:p>
            <a:pPr algn="just"/>
            <a:r>
              <a:rPr lang="en-US" sz="3000" dirty="0"/>
              <a:t>The least significant bit is a 1 in the binary numbers 1, 3, 5, 7, and so on. The second significant bit is a 1 in the binary numbers 2, 3, 6, 7, and so on.</a:t>
            </a:r>
          </a:p>
          <a:p>
            <a:pPr algn="just"/>
            <a:r>
              <a:rPr lang="en-IN" sz="3000" dirty="0"/>
              <a:t>Note </a:t>
            </a:r>
            <a:r>
              <a:rPr lang="en-US" sz="3000" dirty="0"/>
              <a:t>that each group of bits starts with a number that is a power of 2: 1, 2, 4, 8, 16, etc. These numbers are also the position numbers for the parity bits.</a:t>
            </a:r>
            <a:endParaRPr lang="en-IN" sz="3000" dirty="0"/>
          </a:p>
        </p:txBody>
      </p:sp>
    </p:spTree>
    <p:extLst>
      <p:ext uri="{BB962C8B-B14F-4D97-AF65-F5344CB8AC3E}">
        <p14:creationId xmlns:p14="http://schemas.microsoft.com/office/powerpoint/2010/main" val="1180229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IN" dirty="0">
                <a:solidFill>
                  <a:srgbClr val="002060"/>
                </a:solidFill>
              </a:rPr>
              <a:t>Single‐Error Correction, Double‐Error Detection</a:t>
            </a:r>
          </a:p>
        </p:txBody>
      </p:sp>
      <p:sp>
        <p:nvSpPr>
          <p:cNvPr id="3" name="Content Placeholder 2"/>
          <p:cNvSpPr>
            <a:spLocks noGrp="1"/>
          </p:cNvSpPr>
          <p:nvPr>
            <p:ph idx="1"/>
          </p:nvPr>
        </p:nvSpPr>
        <p:spPr/>
        <p:txBody>
          <a:bodyPr>
            <a:noAutofit/>
          </a:bodyPr>
          <a:lstStyle/>
          <a:p>
            <a:pPr algn="just"/>
            <a:r>
              <a:rPr lang="en-US" sz="3000" dirty="0"/>
              <a:t>The Hamming code can detect and correct only a single error.</a:t>
            </a:r>
          </a:p>
          <a:p>
            <a:pPr algn="just"/>
            <a:r>
              <a:rPr lang="en-US" sz="3000" dirty="0"/>
              <a:t>By adding another parity bit to the coded word, the Hamming code can be used to correct a single error and detect double errors.</a:t>
            </a:r>
          </a:p>
          <a:p>
            <a:pPr algn="just"/>
            <a:r>
              <a:rPr lang="en-US" sz="3000" dirty="0"/>
              <a:t>If we include this additional parity bit, then the previous 12‐bit coded word becomes 001110010100</a:t>
            </a:r>
            <a:r>
              <a:rPr lang="en-US" sz="3000" i="1" dirty="0"/>
              <a:t>P</a:t>
            </a:r>
            <a:r>
              <a:rPr lang="en-US" sz="3000" baseline="-25000" dirty="0"/>
              <a:t>13</a:t>
            </a:r>
            <a:r>
              <a:rPr lang="en-US" sz="3000" dirty="0"/>
              <a:t>, where </a:t>
            </a:r>
            <a:r>
              <a:rPr lang="en-US" sz="3000" i="1" dirty="0"/>
              <a:t>P</a:t>
            </a:r>
            <a:r>
              <a:rPr lang="en-US" sz="3000" baseline="-25000" dirty="0"/>
              <a:t>13</a:t>
            </a:r>
            <a:r>
              <a:rPr lang="en-US" sz="3000" dirty="0"/>
              <a:t> is evaluated from the exclusive‐OR of the other 12 bits.</a:t>
            </a:r>
          </a:p>
        </p:txBody>
      </p:sp>
    </p:spTree>
    <p:extLst>
      <p:ext uri="{BB962C8B-B14F-4D97-AF65-F5344CB8AC3E}">
        <p14:creationId xmlns:p14="http://schemas.microsoft.com/office/powerpoint/2010/main" val="1804195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000" dirty="0"/>
              <a:t>This produces the 13‐bit word 0011100101001 (even parity).</a:t>
            </a:r>
          </a:p>
          <a:p>
            <a:pPr algn="just"/>
            <a:r>
              <a:rPr lang="en-US" sz="3000" dirty="0"/>
              <a:t>When the 13‐bit word is read from memory, the check bits are evaluated, as is the parity </a:t>
            </a:r>
            <a:r>
              <a:rPr lang="en-US" sz="3000" i="1" dirty="0"/>
              <a:t>P </a:t>
            </a:r>
            <a:r>
              <a:rPr lang="en-US" sz="3000" dirty="0"/>
              <a:t>over the entire 13 bits.</a:t>
            </a:r>
          </a:p>
          <a:p>
            <a:pPr algn="just"/>
            <a:r>
              <a:rPr lang="en-US" sz="3000" dirty="0"/>
              <a:t>If </a:t>
            </a:r>
            <a:r>
              <a:rPr lang="en-US" sz="3000" i="1" dirty="0"/>
              <a:t>P </a:t>
            </a:r>
            <a:r>
              <a:rPr lang="en-US" sz="3000" dirty="0"/>
              <a:t>= 0, the parity is correct (even parity), but if </a:t>
            </a:r>
            <a:r>
              <a:rPr lang="en-US" sz="3000" i="1" dirty="0"/>
              <a:t>P </a:t>
            </a:r>
            <a:r>
              <a:rPr lang="en-US" sz="3000" dirty="0"/>
              <a:t>= 1, then the parity over the 13 bits is incorrect (odd parity).</a:t>
            </a:r>
          </a:p>
        </p:txBody>
      </p:sp>
    </p:spTree>
    <p:extLst>
      <p:ext uri="{BB962C8B-B14F-4D97-AF65-F5344CB8AC3E}">
        <p14:creationId xmlns:p14="http://schemas.microsoft.com/office/powerpoint/2010/main" val="2210205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6192688"/>
          </a:xfrm>
        </p:spPr>
        <p:txBody>
          <a:bodyPr>
            <a:noAutofit/>
          </a:bodyPr>
          <a:lstStyle/>
          <a:p>
            <a:pPr algn="just"/>
            <a:r>
              <a:rPr lang="en-US" sz="3000" dirty="0"/>
              <a:t>The following four cases can arise:</a:t>
            </a:r>
          </a:p>
          <a:p>
            <a:pPr marL="361950" indent="0" algn="just">
              <a:buNone/>
            </a:pPr>
            <a:r>
              <a:rPr lang="en-US" sz="3000" dirty="0">
                <a:solidFill>
                  <a:srgbClr val="002060"/>
                </a:solidFill>
              </a:rPr>
              <a:t>If </a:t>
            </a:r>
            <a:r>
              <a:rPr lang="en-US" sz="3000" i="1" dirty="0">
                <a:solidFill>
                  <a:srgbClr val="002060"/>
                </a:solidFill>
              </a:rPr>
              <a:t>C </a:t>
            </a:r>
            <a:r>
              <a:rPr lang="en-US" sz="3000" dirty="0">
                <a:solidFill>
                  <a:srgbClr val="002060"/>
                </a:solidFill>
              </a:rPr>
              <a:t>= 0 and </a:t>
            </a:r>
            <a:r>
              <a:rPr lang="en-US" sz="3000" i="1" dirty="0">
                <a:solidFill>
                  <a:srgbClr val="002060"/>
                </a:solidFill>
              </a:rPr>
              <a:t>P </a:t>
            </a:r>
            <a:r>
              <a:rPr lang="en-US" sz="3000" dirty="0">
                <a:solidFill>
                  <a:srgbClr val="002060"/>
                </a:solidFill>
              </a:rPr>
              <a:t>= 0, no error occurred.</a:t>
            </a:r>
          </a:p>
          <a:p>
            <a:pPr marL="361950" indent="0" algn="just">
              <a:buNone/>
            </a:pPr>
            <a:r>
              <a:rPr lang="en-US" sz="3000" dirty="0">
                <a:solidFill>
                  <a:srgbClr val="002060"/>
                </a:solidFill>
              </a:rPr>
              <a:t>If </a:t>
            </a:r>
            <a:r>
              <a:rPr lang="en-US" sz="3000" i="1" dirty="0">
                <a:solidFill>
                  <a:srgbClr val="002060"/>
                </a:solidFill>
              </a:rPr>
              <a:t>C</a:t>
            </a:r>
            <a:r>
              <a:rPr lang="en-US" sz="3000" dirty="0">
                <a:solidFill>
                  <a:srgbClr val="002060"/>
                </a:solidFill>
              </a:rPr>
              <a:t> ≠ 0 and </a:t>
            </a:r>
            <a:r>
              <a:rPr lang="en-US" sz="3000" i="1" dirty="0">
                <a:solidFill>
                  <a:srgbClr val="002060"/>
                </a:solidFill>
              </a:rPr>
              <a:t>P </a:t>
            </a:r>
            <a:r>
              <a:rPr lang="en-US" sz="3000" dirty="0">
                <a:solidFill>
                  <a:srgbClr val="002060"/>
                </a:solidFill>
              </a:rPr>
              <a:t>= 1, a single error occurred that can be corrected.</a:t>
            </a:r>
          </a:p>
          <a:p>
            <a:pPr marL="361950" indent="0" algn="just">
              <a:buNone/>
            </a:pPr>
            <a:r>
              <a:rPr lang="en-US" sz="3000" dirty="0">
                <a:solidFill>
                  <a:srgbClr val="002060"/>
                </a:solidFill>
              </a:rPr>
              <a:t>If </a:t>
            </a:r>
            <a:r>
              <a:rPr lang="en-US" sz="3000" i="1" dirty="0">
                <a:solidFill>
                  <a:srgbClr val="002060"/>
                </a:solidFill>
              </a:rPr>
              <a:t>C</a:t>
            </a:r>
            <a:r>
              <a:rPr lang="en-US" sz="3000" dirty="0">
                <a:solidFill>
                  <a:srgbClr val="002060"/>
                </a:solidFill>
              </a:rPr>
              <a:t> ≠ 0 and </a:t>
            </a:r>
            <a:r>
              <a:rPr lang="en-US" sz="3000" i="1" dirty="0">
                <a:solidFill>
                  <a:srgbClr val="002060"/>
                </a:solidFill>
              </a:rPr>
              <a:t>P </a:t>
            </a:r>
            <a:r>
              <a:rPr lang="en-US" sz="3000" dirty="0">
                <a:solidFill>
                  <a:srgbClr val="002060"/>
                </a:solidFill>
              </a:rPr>
              <a:t>= 0, a double error occurred that is detected, but that cannot be </a:t>
            </a:r>
            <a:r>
              <a:rPr lang="en-IN" sz="3000" dirty="0">
                <a:solidFill>
                  <a:srgbClr val="002060"/>
                </a:solidFill>
              </a:rPr>
              <a:t>corrected.</a:t>
            </a:r>
          </a:p>
          <a:p>
            <a:pPr marL="361950" indent="0" algn="just">
              <a:buNone/>
            </a:pPr>
            <a:r>
              <a:rPr lang="en-US" sz="3000" dirty="0">
                <a:solidFill>
                  <a:srgbClr val="002060"/>
                </a:solidFill>
              </a:rPr>
              <a:t>If </a:t>
            </a:r>
            <a:r>
              <a:rPr lang="en-US" sz="3000" i="1" dirty="0">
                <a:solidFill>
                  <a:srgbClr val="002060"/>
                </a:solidFill>
              </a:rPr>
              <a:t>C </a:t>
            </a:r>
            <a:r>
              <a:rPr lang="en-US" sz="3000" dirty="0">
                <a:solidFill>
                  <a:srgbClr val="002060"/>
                </a:solidFill>
              </a:rPr>
              <a:t>= 0 and </a:t>
            </a:r>
            <a:r>
              <a:rPr lang="en-US" sz="3000" i="1" dirty="0">
                <a:solidFill>
                  <a:srgbClr val="002060"/>
                </a:solidFill>
              </a:rPr>
              <a:t>P </a:t>
            </a:r>
            <a:r>
              <a:rPr lang="en-US" sz="3000" dirty="0">
                <a:solidFill>
                  <a:srgbClr val="002060"/>
                </a:solidFill>
              </a:rPr>
              <a:t>= 1, an error occurred in the </a:t>
            </a:r>
            <a:r>
              <a:rPr lang="en-US" sz="3000" i="1" dirty="0">
                <a:solidFill>
                  <a:srgbClr val="002060"/>
                </a:solidFill>
              </a:rPr>
              <a:t>P</a:t>
            </a:r>
            <a:r>
              <a:rPr lang="en-US" sz="3000" baseline="-25000" dirty="0">
                <a:solidFill>
                  <a:srgbClr val="002060"/>
                </a:solidFill>
              </a:rPr>
              <a:t>13</a:t>
            </a:r>
            <a:r>
              <a:rPr lang="en-US" sz="3000" dirty="0">
                <a:solidFill>
                  <a:srgbClr val="002060"/>
                </a:solidFill>
              </a:rPr>
              <a:t> bit.</a:t>
            </a:r>
          </a:p>
          <a:p>
            <a:pPr algn="just"/>
            <a:r>
              <a:rPr lang="en-US" sz="3000" dirty="0"/>
              <a:t>This scheme may detect more than two errors, but is not guaranteed to detect all such </a:t>
            </a:r>
            <a:r>
              <a:rPr lang="en-IN" sz="3000" dirty="0"/>
              <a:t>errors.</a:t>
            </a:r>
          </a:p>
          <a:p>
            <a:pPr algn="just"/>
            <a:r>
              <a:rPr lang="en-US" sz="3000" dirty="0"/>
              <a:t>Integrated circuits use a modified Hamming code to generate and check parity bits for single‐error correction and double‐error detection.</a:t>
            </a:r>
            <a:endParaRPr lang="en-IN" sz="3000" dirty="0"/>
          </a:p>
        </p:txBody>
      </p:sp>
    </p:spTree>
    <p:extLst>
      <p:ext uri="{BB962C8B-B14F-4D97-AF65-F5344CB8AC3E}">
        <p14:creationId xmlns:p14="http://schemas.microsoft.com/office/powerpoint/2010/main" val="115644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616</TotalTime>
  <Words>3863</Words>
  <Application>Microsoft Office PowerPoint</Application>
  <PresentationFormat>On-screen Show (4:3)</PresentationFormat>
  <Paragraphs>216</Paragraphs>
  <Slides>54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Memory and Programmable Logic</vt:lpstr>
      <vt:lpstr>Introduction</vt:lpstr>
      <vt:lpstr>PowerPoint Presentation</vt:lpstr>
      <vt:lpstr>PowerPoint Presentation</vt:lpstr>
      <vt:lpstr>PowerPoint Presentation</vt:lpstr>
      <vt:lpstr>PowerPoint Presentation</vt:lpstr>
      <vt:lpstr>Random-Access Memory</vt:lpstr>
      <vt:lpstr>PowerPoint Presentation</vt:lpstr>
      <vt:lpstr>PowerPoint Presentation</vt:lpstr>
      <vt:lpstr>PowerPoint Presentation</vt:lpstr>
      <vt:lpstr>PowerPoint Presentation</vt:lpstr>
      <vt:lpstr>PowerPoint Presentation</vt:lpstr>
      <vt:lpstr>PowerPoint Presentation</vt:lpstr>
      <vt:lpstr>Problem</vt:lpstr>
      <vt:lpstr>Solution:</vt:lpstr>
      <vt:lpstr>Write and Read Operations</vt:lpstr>
      <vt:lpstr>PowerPoint Presentation</vt:lpstr>
      <vt:lpstr>PowerPoint Presentation</vt:lpstr>
      <vt:lpstr>Types of Memories</vt:lpstr>
      <vt:lpstr>PowerPoint Presentation</vt:lpstr>
      <vt:lpstr>PowerPoint Presentation</vt:lpstr>
      <vt:lpstr>Memory Decoding</vt:lpstr>
      <vt:lpstr>Internal Construction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Coincident Decoding</vt:lpstr>
      <vt:lpstr>PowerPoint Presentation</vt:lpstr>
      <vt:lpstr>PowerPoint Presentation</vt:lpstr>
      <vt:lpstr>PowerPoint Presentation</vt:lpstr>
      <vt:lpstr>PowerPoint Presentation</vt:lpstr>
      <vt:lpstr>Problem</vt:lpstr>
      <vt:lpstr>Solution:</vt:lpstr>
      <vt:lpstr>Error Detection and Correction</vt:lpstr>
      <vt:lpstr>PowerPoint Presentation</vt:lpstr>
      <vt:lpstr>Hamming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Single‐Error Correction, Double‐Error Detection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staff</dc:creator>
  <cp:lastModifiedBy>TANISHA PATRA</cp:lastModifiedBy>
  <cp:revision>59</cp:revision>
  <dcterms:created xsi:type="dcterms:W3CDTF">2020-11-20T06:21:20Z</dcterms:created>
  <dcterms:modified xsi:type="dcterms:W3CDTF">2024-11-22T16:28:14Z</dcterms:modified>
</cp:coreProperties>
</file>