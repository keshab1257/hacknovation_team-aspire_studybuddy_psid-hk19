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99" r:id="rId19"/>
    <p:sldId id="295" r:id="rId20"/>
    <p:sldId id="300" r:id="rId21"/>
    <p:sldId id="296" r:id="rId22"/>
    <p:sldId id="301" r:id="rId23"/>
    <p:sldId id="304" r:id="rId24"/>
    <p:sldId id="303" r:id="rId25"/>
    <p:sldId id="309" r:id="rId26"/>
    <p:sldId id="307" r:id="rId27"/>
    <p:sldId id="308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7" r:id="rId39"/>
    <p:sldId id="288" r:id="rId40"/>
    <p:sldId id="286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924C5B-D1FF-4789-9B4D-2460296F3C68}" v="2" dt="2024-11-21T09:42:28.5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8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ISHA PATRA" userId="0753ce7bc1ad7bf8" providerId="LiveId" clId="{22924C5B-D1FF-4789-9B4D-2460296F3C68}"/>
    <pc:docChg chg="modSld">
      <pc:chgData name="TANISHA PATRA" userId="0753ce7bc1ad7bf8" providerId="LiveId" clId="{22924C5B-D1FF-4789-9B4D-2460296F3C68}" dt="2024-11-21T09:42:28.574" v="4" actId="1035"/>
      <pc:docMkLst>
        <pc:docMk/>
      </pc:docMkLst>
      <pc:sldChg chg="modSp mod">
        <pc:chgData name="TANISHA PATRA" userId="0753ce7bc1ad7bf8" providerId="LiveId" clId="{22924C5B-D1FF-4789-9B4D-2460296F3C68}" dt="2024-11-21T09:39:15.255" v="3" actId="1035"/>
        <pc:sldMkLst>
          <pc:docMk/>
          <pc:sldMk cId="881385066" sldId="259"/>
        </pc:sldMkLst>
        <pc:spChg chg="mod">
          <ac:chgData name="TANISHA PATRA" userId="0753ce7bc1ad7bf8" providerId="LiveId" clId="{22924C5B-D1FF-4789-9B4D-2460296F3C68}" dt="2024-11-21T09:39:15.255" v="3" actId="1035"/>
          <ac:spMkLst>
            <pc:docMk/>
            <pc:sldMk cId="881385066" sldId="259"/>
            <ac:spMk id="3" creationId="{00000000-0000-0000-0000-000000000000}"/>
          </ac:spMkLst>
        </pc:spChg>
        <pc:picChg chg="mod">
          <ac:chgData name="TANISHA PATRA" userId="0753ce7bc1ad7bf8" providerId="LiveId" clId="{22924C5B-D1FF-4789-9B4D-2460296F3C68}" dt="2024-11-21T09:38:29.279" v="0" actId="1076"/>
          <ac:picMkLst>
            <pc:docMk/>
            <pc:sldMk cId="881385066" sldId="259"/>
            <ac:picMk id="1027" creationId="{00000000-0000-0000-0000-000000000000}"/>
          </ac:picMkLst>
        </pc:picChg>
      </pc:sldChg>
      <pc:sldChg chg="modSp">
        <pc:chgData name="TANISHA PATRA" userId="0753ce7bc1ad7bf8" providerId="LiveId" clId="{22924C5B-D1FF-4789-9B4D-2460296F3C68}" dt="2024-11-21T09:42:28.574" v="4" actId="1035"/>
        <pc:sldMkLst>
          <pc:docMk/>
          <pc:sldMk cId="1348046284" sldId="264"/>
        </pc:sldMkLst>
        <pc:picChg chg="mod">
          <ac:chgData name="TANISHA PATRA" userId="0753ce7bc1ad7bf8" providerId="LiveId" clId="{22924C5B-D1FF-4789-9B4D-2460296F3C68}" dt="2024-11-21T09:42:28.574" v="4" actId="1035"/>
          <ac:picMkLst>
            <pc:docMk/>
            <pc:sldMk cId="1348046284" sldId="264"/>
            <ac:picMk id="307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55F5-D0A3-4CAE-BFB2-D060F92FFF5E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580F3-7D18-4EA6-8A52-56F482786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977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55F5-D0A3-4CAE-BFB2-D060F92FFF5E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580F3-7D18-4EA6-8A52-56F482786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904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55F5-D0A3-4CAE-BFB2-D060F92FFF5E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580F3-7D18-4EA6-8A52-56F482786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685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55F5-D0A3-4CAE-BFB2-D060F92FFF5E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580F3-7D18-4EA6-8A52-56F482786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463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55F5-D0A3-4CAE-BFB2-D060F92FFF5E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580F3-7D18-4EA6-8A52-56F482786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607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55F5-D0A3-4CAE-BFB2-D060F92FFF5E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580F3-7D18-4EA6-8A52-56F482786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750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55F5-D0A3-4CAE-BFB2-D060F92FFF5E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580F3-7D18-4EA6-8A52-56F482786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37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55F5-D0A3-4CAE-BFB2-D060F92FFF5E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580F3-7D18-4EA6-8A52-56F482786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206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55F5-D0A3-4CAE-BFB2-D060F92FFF5E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580F3-7D18-4EA6-8A52-56F482786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219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55F5-D0A3-4CAE-BFB2-D060F92FFF5E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580F3-7D18-4EA6-8A52-56F482786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788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55F5-D0A3-4CAE-BFB2-D060F92FFF5E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580F3-7D18-4EA6-8A52-56F482786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5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855F5-D0A3-4CAE-BFB2-D060F92FFF5E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580F3-7D18-4EA6-8A52-56F482786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21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28800"/>
            <a:ext cx="7772400" cy="3528393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Binary Parallel Adder</a:t>
            </a:r>
            <a:r>
              <a:rPr lang="en-US" b="1" dirty="0">
                <a:solidFill>
                  <a:srgbClr val="92D050"/>
                </a:solidFill>
              </a:rPr>
              <a:t>;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Binary Adder-</a:t>
            </a:r>
            <a:r>
              <a:rPr lang="en-US" b="1" dirty="0" err="1">
                <a:solidFill>
                  <a:srgbClr val="00B050"/>
                </a:solidFill>
              </a:rPr>
              <a:t>Subtractor</a:t>
            </a:r>
            <a:r>
              <a:rPr lang="en-US" b="1" dirty="0">
                <a:solidFill>
                  <a:srgbClr val="92D050"/>
                </a:solidFill>
              </a:rPr>
              <a:t>;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Binary Multiplier</a:t>
            </a:r>
            <a:r>
              <a:rPr lang="en-US" b="1" dirty="0">
                <a:solidFill>
                  <a:srgbClr val="92D050"/>
                </a:solidFill>
              </a:rPr>
              <a:t>;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Magnitude Comparator</a:t>
            </a:r>
            <a:r>
              <a:rPr lang="en-US" b="1" dirty="0">
                <a:solidFill>
                  <a:srgbClr val="92D050"/>
                </a:solidFill>
              </a:rPr>
              <a:t>;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Code Converters</a:t>
            </a:r>
            <a:endParaRPr lang="en-IN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34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Binary Parallel Adder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binary adder</a:t>
            </a:r>
            <a:r>
              <a:rPr lang="en-US" dirty="0"/>
              <a:t> is a digital circuit that produces the arithmetic sum of two binary numbers.</a:t>
            </a:r>
          </a:p>
          <a:p>
            <a:pPr algn="just"/>
            <a:r>
              <a:rPr lang="en-US" dirty="0"/>
              <a:t>It can be constructed with full adders connected in cascade, with the output carry from each full adder connected to the input carry of the next full adder in the chain.</a:t>
            </a:r>
          </a:p>
        </p:txBody>
      </p:sp>
    </p:spTree>
    <p:extLst>
      <p:ext uri="{BB962C8B-B14F-4D97-AF65-F5344CB8AC3E}">
        <p14:creationId xmlns:p14="http://schemas.microsoft.com/office/powerpoint/2010/main" val="1094644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C00000"/>
                </a:solidFill>
              </a:rPr>
              <a:t>Example: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525963"/>
          </a:xfrm>
        </p:spPr>
        <p:txBody>
          <a:bodyPr/>
          <a:lstStyle/>
          <a:p>
            <a:pPr algn="just"/>
            <a:r>
              <a:rPr lang="en-US" dirty="0"/>
              <a:t>Consider the two binary numbers </a:t>
            </a:r>
            <a:r>
              <a:rPr lang="en-US" i="1" dirty="0"/>
              <a:t>A </a:t>
            </a:r>
            <a:r>
              <a:rPr lang="en-US" dirty="0"/>
              <a:t>= 1011 and </a:t>
            </a:r>
            <a:r>
              <a:rPr lang="en-US" i="1" dirty="0"/>
              <a:t>B </a:t>
            </a:r>
            <a:r>
              <a:rPr lang="en-US" dirty="0"/>
              <a:t>= 0011. Their sum </a:t>
            </a:r>
            <a:r>
              <a:rPr lang="en-US" i="1" dirty="0"/>
              <a:t>S </a:t>
            </a:r>
            <a:r>
              <a:rPr lang="en-US" dirty="0"/>
              <a:t>= 1110 is formed with the four-bit adder as follows:</a:t>
            </a:r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621" y="3140968"/>
            <a:ext cx="7240757" cy="286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1385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Figure shows the interconnection of four full-adder (FA) circuits to provide a 4-bit binary parallel adder.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140968"/>
            <a:ext cx="8424001" cy="308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5317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The augend bits of </a:t>
            </a:r>
            <a:r>
              <a:rPr lang="en-US" i="1" dirty="0"/>
              <a:t>A</a:t>
            </a:r>
            <a:r>
              <a:rPr lang="en-US" dirty="0"/>
              <a:t> and the addend bits of </a:t>
            </a:r>
            <a:r>
              <a:rPr lang="en-US" i="1" dirty="0"/>
              <a:t>B</a:t>
            </a:r>
            <a:r>
              <a:rPr lang="en-US" dirty="0"/>
              <a:t> are designated by subscript numbers from right to left, with subscript 1 denoting the least significant bit.</a:t>
            </a:r>
          </a:p>
          <a:p>
            <a:pPr algn="just"/>
            <a:r>
              <a:rPr lang="en-US" dirty="0"/>
              <a:t>The carries are connected in a chain through the full adders. The input carry to the adder is </a:t>
            </a:r>
            <a:r>
              <a:rPr lang="en-US" i="1" dirty="0" err="1"/>
              <a:t>C</a:t>
            </a:r>
            <a:r>
              <a:rPr lang="en-US" baseline="-25000" dirty="0" err="1"/>
              <a:t>in</a:t>
            </a:r>
            <a:r>
              <a:rPr lang="en-US" dirty="0"/>
              <a:t>, and it ripples through the full adders to the output carry </a:t>
            </a:r>
            <a:r>
              <a:rPr lang="en-US" i="1" dirty="0"/>
              <a:t>C</a:t>
            </a:r>
            <a:r>
              <a:rPr lang="en-US" baseline="-25000" dirty="0"/>
              <a:t>4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 </a:t>
            </a:r>
            <a:r>
              <a:rPr lang="en-US" i="1" dirty="0"/>
              <a:t>S</a:t>
            </a:r>
            <a:r>
              <a:rPr lang="en-US" dirty="0"/>
              <a:t> outputs generate the required sum bits.</a:t>
            </a:r>
          </a:p>
        </p:txBody>
      </p:sp>
    </p:spTree>
    <p:extLst>
      <p:ext uri="{BB962C8B-B14F-4D97-AF65-F5344CB8AC3E}">
        <p14:creationId xmlns:p14="http://schemas.microsoft.com/office/powerpoint/2010/main" val="411800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002060"/>
                </a:solidFill>
              </a:rPr>
              <a:t>An </a:t>
            </a:r>
            <a:r>
              <a:rPr lang="en-US" i="1" dirty="0">
                <a:solidFill>
                  <a:srgbClr val="002060"/>
                </a:solidFill>
              </a:rPr>
              <a:t>n</a:t>
            </a:r>
            <a:r>
              <a:rPr lang="en-US" dirty="0">
                <a:solidFill>
                  <a:srgbClr val="002060"/>
                </a:solidFill>
              </a:rPr>
              <a:t>-bit adder requires </a:t>
            </a:r>
            <a:r>
              <a:rPr lang="en-US" i="1" dirty="0">
                <a:solidFill>
                  <a:srgbClr val="002060"/>
                </a:solidFill>
              </a:rPr>
              <a:t>n</a:t>
            </a:r>
            <a:r>
              <a:rPr lang="en-US" dirty="0">
                <a:solidFill>
                  <a:srgbClr val="002060"/>
                </a:solidFill>
              </a:rPr>
              <a:t> full adders, with each output carry connected to the input carry of the next higher order full adder. The input carry to the least significant position is fixed at 0.</a:t>
            </a:r>
            <a:endParaRPr lang="en-IN" dirty="0">
              <a:solidFill>
                <a:srgbClr val="002060"/>
              </a:solidFill>
            </a:endParaRPr>
          </a:p>
          <a:p>
            <a:pPr algn="just"/>
            <a:r>
              <a:rPr lang="en-US" dirty="0"/>
              <a:t>The parallel adder, in which the carry-out of each full-adder is the carry-in to the next most significant adder is called a </a:t>
            </a:r>
            <a:r>
              <a:rPr lang="en-US" i="1" dirty="0">
                <a:solidFill>
                  <a:srgbClr val="C00000"/>
                </a:solidFill>
              </a:rPr>
              <a:t>ripple carry adder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2498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Binary </a:t>
            </a:r>
            <a:r>
              <a:rPr lang="en-US" dirty="0">
                <a:solidFill>
                  <a:srgbClr val="C00000"/>
                </a:solidFill>
              </a:rPr>
              <a:t>Parallel </a:t>
            </a:r>
            <a:r>
              <a:rPr lang="en-IN" dirty="0" err="1">
                <a:solidFill>
                  <a:srgbClr val="C00000"/>
                </a:solidFill>
              </a:rPr>
              <a:t>Subtractor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The subtraction of unsigned binary numbers can be done most conveniently by means of complements.</a:t>
            </a:r>
          </a:p>
          <a:p>
            <a:pPr algn="just"/>
            <a:r>
              <a:rPr lang="en-US" dirty="0"/>
              <a:t>Remember that the subtraction </a:t>
            </a:r>
            <a:r>
              <a:rPr lang="en-US" i="1" dirty="0"/>
              <a:t>A </a:t>
            </a:r>
            <a:r>
              <a:rPr lang="en-US" dirty="0"/>
              <a:t>- </a:t>
            </a:r>
            <a:r>
              <a:rPr lang="en-US" i="1" dirty="0"/>
              <a:t>B </a:t>
            </a:r>
            <a:r>
              <a:rPr lang="en-US" dirty="0"/>
              <a:t>can be done by taking the 2’s complement of </a:t>
            </a:r>
            <a:r>
              <a:rPr lang="en-US" i="1" dirty="0"/>
              <a:t>B </a:t>
            </a:r>
            <a:r>
              <a:rPr lang="en-US" dirty="0"/>
              <a:t>and adding it to </a:t>
            </a:r>
            <a:r>
              <a:rPr lang="en-US" i="1" dirty="0"/>
              <a:t>A 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 2’s complement can be obtained by taking the 1’s complement and adding 1 to the least significant pair of bits.</a:t>
            </a:r>
          </a:p>
        </p:txBody>
      </p:sp>
    </p:spTree>
    <p:extLst>
      <p:ext uri="{BB962C8B-B14F-4D97-AF65-F5344CB8AC3E}">
        <p14:creationId xmlns:p14="http://schemas.microsoft.com/office/powerpoint/2010/main" val="127510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1’s complement can be implemented with inverters, and a 1 can be added to the sum through the input carry.</a:t>
            </a: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140968"/>
            <a:ext cx="8476845" cy="307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8046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The circuit for subtracting </a:t>
            </a:r>
            <a:r>
              <a:rPr lang="en-US" i="1" dirty="0"/>
              <a:t>A </a:t>
            </a:r>
            <a:r>
              <a:rPr lang="en-US" dirty="0"/>
              <a:t>- </a:t>
            </a:r>
            <a:r>
              <a:rPr lang="en-US" i="1" dirty="0"/>
              <a:t>B </a:t>
            </a:r>
            <a:r>
              <a:rPr lang="en-US" dirty="0"/>
              <a:t>consists of an adder with inverters placed between each data input </a:t>
            </a:r>
            <a:r>
              <a:rPr lang="en-US" i="1" dirty="0"/>
              <a:t>B </a:t>
            </a:r>
            <a:r>
              <a:rPr lang="en-US" dirty="0"/>
              <a:t>and the corresponding input of the full adder.</a:t>
            </a:r>
          </a:p>
          <a:p>
            <a:pPr algn="just"/>
            <a:r>
              <a:rPr lang="en-US" dirty="0"/>
              <a:t>The input carry </a:t>
            </a:r>
            <a:r>
              <a:rPr lang="en-US" i="1" dirty="0" err="1"/>
              <a:t>C</a:t>
            </a:r>
            <a:r>
              <a:rPr lang="en-US" baseline="-25000" dirty="0" err="1"/>
              <a:t>in</a:t>
            </a:r>
            <a:r>
              <a:rPr lang="en-US" dirty="0"/>
              <a:t> must be equal to 1 when subtraction is performed.</a:t>
            </a:r>
          </a:p>
          <a:p>
            <a:pPr algn="just"/>
            <a:r>
              <a:rPr lang="en-US" dirty="0"/>
              <a:t>The operation thus performed becomes </a:t>
            </a:r>
            <a:r>
              <a:rPr lang="en-US" i="1" dirty="0"/>
              <a:t>A</a:t>
            </a:r>
            <a:r>
              <a:rPr lang="en-US" dirty="0"/>
              <a:t>, plus the 1’s complement of </a:t>
            </a:r>
            <a:r>
              <a:rPr lang="en-US" i="1" dirty="0"/>
              <a:t>B</a:t>
            </a:r>
            <a:r>
              <a:rPr lang="en-US" dirty="0"/>
              <a:t>, plus 1. This is equal to </a:t>
            </a:r>
            <a:r>
              <a:rPr lang="en-US" i="1" dirty="0"/>
              <a:t>A </a:t>
            </a:r>
            <a:r>
              <a:rPr lang="en-US" dirty="0"/>
              <a:t>plus the 2’s complement of </a:t>
            </a:r>
            <a:r>
              <a:rPr lang="en-US" i="1" dirty="0"/>
              <a:t>B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For unsigned numbers, that gives </a:t>
            </a:r>
            <a:r>
              <a:rPr lang="en-US" i="1" dirty="0"/>
              <a:t>A </a:t>
            </a:r>
            <a:r>
              <a:rPr lang="en-US" dirty="0"/>
              <a:t>- </a:t>
            </a:r>
            <a:r>
              <a:rPr lang="en-US" i="1" dirty="0"/>
              <a:t>B </a:t>
            </a:r>
            <a:r>
              <a:rPr lang="en-US" dirty="0"/>
              <a:t>if </a:t>
            </a:r>
            <a:r>
              <a:rPr lang="en-US" i="1" dirty="0"/>
              <a:t>A </a:t>
            </a:r>
            <a:r>
              <a:rPr lang="en-US" dirty="0"/>
              <a:t>≥ </a:t>
            </a:r>
            <a:r>
              <a:rPr lang="en-US" i="1" dirty="0"/>
              <a:t>B </a:t>
            </a:r>
            <a:r>
              <a:rPr lang="en-US" dirty="0"/>
              <a:t>or the 2’s complement of (</a:t>
            </a:r>
            <a:r>
              <a:rPr lang="en-US" i="1" dirty="0"/>
              <a:t>B </a:t>
            </a:r>
            <a:r>
              <a:rPr lang="en-US" dirty="0"/>
              <a:t>- </a:t>
            </a:r>
            <a:r>
              <a:rPr lang="en-US" i="1" dirty="0"/>
              <a:t>A</a:t>
            </a:r>
            <a:r>
              <a:rPr lang="en-US" dirty="0"/>
              <a:t>) </a:t>
            </a:r>
            <a:r>
              <a:rPr lang="en-IN" dirty="0"/>
              <a:t>if </a:t>
            </a:r>
            <a:r>
              <a:rPr lang="en-IN" i="1" dirty="0"/>
              <a:t>A </a:t>
            </a:r>
            <a:r>
              <a:rPr lang="en-IN" dirty="0"/>
              <a:t>&lt; </a:t>
            </a:r>
            <a:r>
              <a:rPr lang="en-IN" i="1" dirty="0"/>
              <a:t>B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4771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Binary Adder-</a:t>
            </a:r>
            <a:r>
              <a:rPr lang="en-US" dirty="0" err="1">
                <a:solidFill>
                  <a:srgbClr val="C00000"/>
                </a:solidFill>
              </a:rPr>
              <a:t>Subtractor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addition and subtraction operations can be combined into one circuit with one common binary adder by including an exclusive-OR gate with each full adder.</a:t>
            </a:r>
          </a:p>
          <a:p>
            <a:pPr algn="just"/>
            <a:r>
              <a:rPr lang="en-US" dirty="0"/>
              <a:t>A 4-bit adder-</a:t>
            </a:r>
            <a:r>
              <a:rPr lang="en-US" dirty="0" err="1"/>
              <a:t>subtractor</a:t>
            </a:r>
            <a:r>
              <a:rPr lang="en-US" dirty="0"/>
              <a:t> circuit is shown in Fig.</a:t>
            </a:r>
          </a:p>
          <a:p>
            <a:pPr algn="just"/>
            <a:r>
              <a:rPr lang="en-US" dirty="0"/>
              <a:t>The mode input </a:t>
            </a:r>
            <a:r>
              <a:rPr lang="en-US" i="1" dirty="0"/>
              <a:t>M </a:t>
            </a:r>
            <a:r>
              <a:rPr lang="en-US" dirty="0"/>
              <a:t>controls the operation.</a:t>
            </a:r>
          </a:p>
          <a:p>
            <a:pPr algn="just"/>
            <a:r>
              <a:rPr lang="en-US" dirty="0"/>
              <a:t>When </a:t>
            </a:r>
            <a:r>
              <a:rPr lang="en-US" i="1" dirty="0">
                <a:solidFill>
                  <a:srgbClr val="C00000"/>
                </a:solidFill>
              </a:rPr>
              <a:t>M </a:t>
            </a:r>
            <a:r>
              <a:rPr lang="en-US" dirty="0">
                <a:solidFill>
                  <a:srgbClr val="C00000"/>
                </a:solidFill>
              </a:rPr>
              <a:t>= 0</a:t>
            </a:r>
            <a:r>
              <a:rPr lang="en-US" dirty="0"/>
              <a:t>, the circuit is an </a:t>
            </a:r>
            <a:r>
              <a:rPr lang="en-US" dirty="0">
                <a:solidFill>
                  <a:srgbClr val="C00000"/>
                </a:solidFill>
              </a:rPr>
              <a:t>adder</a:t>
            </a:r>
            <a:r>
              <a:rPr lang="en-US" dirty="0"/>
              <a:t>, and when </a:t>
            </a:r>
            <a:r>
              <a:rPr lang="en-US" i="1" dirty="0">
                <a:solidFill>
                  <a:srgbClr val="C00000"/>
                </a:solidFill>
              </a:rPr>
              <a:t>M </a:t>
            </a:r>
            <a:r>
              <a:rPr lang="en-US" dirty="0">
                <a:solidFill>
                  <a:srgbClr val="C00000"/>
                </a:solidFill>
              </a:rPr>
              <a:t>= 1</a:t>
            </a:r>
            <a:r>
              <a:rPr lang="en-US" dirty="0"/>
              <a:t>, the circuit becomes a </a:t>
            </a:r>
            <a:r>
              <a:rPr lang="en-US" dirty="0" err="1">
                <a:solidFill>
                  <a:srgbClr val="C00000"/>
                </a:solidFill>
              </a:rPr>
              <a:t>subtractor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7162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432" y="1340768"/>
            <a:ext cx="8451040" cy="430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949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Each exclusive-OR gate receives input </a:t>
            </a:r>
            <a:r>
              <a:rPr lang="en-US" i="1" dirty="0"/>
              <a:t>M </a:t>
            </a:r>
            <a:r>
              <a:rPr lang="en-US" dirty="0"/>
              <a:t>and one of the inputs of </a:t>
            </a:r>
            <a:r>
              <a:rPr lang="en-US" i="1" dirty="0"/>
              <a:t>B 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When </a:t>
            </a:r>
            <a:r>
              <a:rPr lang="en-US" i="1" dirty="0">
                <a:solidFill>
                  <a:srgbClr val="C00000"/>
                </a:solidFill>
              </a:rPr>
              <a:t>M </a:t>
            </a:r>
            <a:r>
              <a:rPr lang="en-US" dirty="0">
                <a:solidFill>
                  <a:srgbClr val="C00000"/>
                </a:solidFill>
              </a:rPr>
              <a:t>= 0</a:t>
            </a:r>
            <a:r>
              <a:rPr lang="en-US" dirty="0"/>
              <a:t>, we have </a:t>
            </a:r>
            <a:r>
              <a:rPr lang="en-US" i="1" dirty="0">
                <a:solidFill>
                  <a:srgbClr val="C00000"/>
                </a:solidFill>
              </a:rPr>
              <a:t>B </a:t>
            </a:r>
            <a:r>
              <a:rPr lang="en-US" dirty="0">
                <a:solidFill>
                  <a:srgbClr val="C00000"/>
                </a:solidFill>
              </a:rPr>
              <a:t>Ꚛ 0 = </a:t>
            </a:r>
            <a:r>
              <a:rPr lang="en-US" i="1" dirty="0">
                <a:solidFill>
                  <a:srgbClr val="C00000"/>
                </a:solidFill>
              </a:rPr>
              <a:t>B</a:t>
            </a:r>
            <a:r>
              <a:rPr lang="en-US" dirty="0"/>
              <a:t>. The full adders receive the value of </a:t>
            </a:r>
            <a:r>
              <a:rPr lang="en-US" i="1" dirty="0"/>
              <a:t>B </a:t>
            </a:r>
            <a:r>
              <a:rPr lang="en-US" dirty="0"/>
              <a:t>, the input carry is 0, and the circuit performs </a:t>
            </a:r>
            <a:r>
              <a:rPr lang="en-US" i="1" dirty="0"/>
              <a:t>A </a:t>
            </a:r>
            <a:r>
              <a:rPr lang="en-US" dirty="0"/>
              <a:t>plus </a:t>
            </a:r>
            <a:r>
              <a:rPr lang="en-US" i="1" dirty="0"/>
              <a:t>B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When </a:t>
            </a:r>
            <a:r>
              <a:rPr lang="en-US" i="1" dirty="0">
                <a:solidFill>
                  <a:srgbClr val="C00000"/>
                </a:solidFill>
              </a:rPr>
              <a:t>M </a:t>
            </a:r>
            <a:r>
              <a:rPr lang="en-US" dirty="0">
                <a:solidFill>
                  <a:srgbClr val="C00000"/>
                </a:solidFill>
              </a:rPr>
              <a:t>= 1</a:t>
            </a:r>
            <a:r>
              <a:rPr lang="en-US" dirty="0"/>
              <a:t>, we have </a:t>
            </a:r>
            <a:r>
              <a:rPr lang="en-US" i="1" dirty="0">
                <a:solidFill>
                  <a:srgbClr val="C00000"/>
                </a:solidFill>
              </a:rPr>
              <a:t>B </a:t>
            </a:r>
            <a:r>
              <a:rPr lang="en-US" dirty="0">
                <a:solidFill>
                  <a:srgbClr val="C00000"/>
                </a:solidFill>
              </a:rPr>
              <a:t>Ꚛ 1 = </a:t>
            </a:r>
            <a:r>
              <a:rPr lang="en-US" i="1" dirty="0">
                <a:solidFill>
                  <a:srgbClr val="C00000"/>
                </a:solidFill>
              </a:rPr>
              <a:t>B’</a:t>
            </a:r>
            <a:r>
              <a:rPr lang="en-US" dirty="0"/>
              <a:t> and </a:t>
            </a:r>
            <a:r>
              <a:rPr lang="en-US" i="1" dirty="0" err="1"/>
              <a:t>C</a:t>
            </a:r>
            <a:r>
              <a:rPr lang="en-US" baseline="-25000" dirty="0" err="1"/>
              <a:t>in</a:t>
            </a:r>
            <a:r>
              <a:rPr lang="en-US" dirty="0"/>
              <a:t> = 1. The </a:t>
            </a:r>
            <a:r>
              <a:rPr lang="en-US" i="1" dirty="0"/>
              <a:t>B </a:t>
            </a:r>
            <a:r>
              <a:rPr lang="en-US" dirty="0"/>
              <a:t>inputs are all complemented and a 1 is added through the input carry. The circuit performs the operation </a:t>
            </a:r>
            <a:r>
              <a:rPr lang="en-US" i="1" dirty="0"/>
              <a:t>A </a:t>
            </a:r>
            <a:r>
              <a:rPr lang="en-US" dirty="0"/>
              <a:t>plus the 2’s complement of </a:t>
            </a:r>
            <a:r>
              <a:rPr lang="en-US" i="1" dirty="0"/>
              <a:t>B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583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Binary Multiplier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Multiplication of binary numbers is performed in the same way as multiplication of decimal numbers.</a:t>
            </a:r>
          </a:p>
          <a:p>
            <a:pPr algn="just"/>
            <a:r>
              <a:rPr lang="en-US" dirty="0"/>
              <a:t>The multiplicand is multiplied by each bit of the multiplier, starting from the least significant bit.</a:t>
            </a:r>
          </a:p>
          <a:p>
            <a:pPr algn="just"/>
            <a:r>
              <a:rPr lang="en-US" dirty="0"/>
              <a:t>Each such multiplication forms a partial product. Successive partial products are shifted one position to the left.</a:t>
            </a:r>
          </a:p>
          <a:p>
            <a:pPr algn="just"/>
            <a:r>
              <a:rPr lang="en-US" dirty="0"/>
              <a:t>The final product is obtained from the sum of the partial products.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445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Consider the multiplication of two 2-bit numbers as shown in Fig.</a:t>
            </a:r>
          </a:p>
          <a:p>
            <a:pPr algn="just"/>
            <a:r>
              <a:rPr lang="en-US" dirty="0"/>
              <a:t>The multiplicand bits are </a:t>
            </a:r>
            <a:r>
              <a:rPr lang="en-US" i="1" dirty="0"/>
              <a:t>B</a:t>
            </a:r>
            <a:r>
              <a:rPr lang="en-US" baseline="-25000" dirty="0"/>
              <a:t>1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baseline="-25000" dirty="0"/>
              <a:t>0</a:t>
            </a:r>
            <a:r>
              <a:rPr lang="en-US" dirty="0"/>
              <a:t>, the multiplier bits are </a:t>
            </a:r>
            <a:r>
              <a:rPr lang="en-US" i="1" dirty="0"/>
              <a:t>A</a:t>
            </a:r>
            <a:r>
              <a:rPr lang="en-US" baseline="-25000" dirty="0"/>
              <a:t>1</a:t>
            </a:r>
            <a:r>
              <a:rPr lang="en-US" dirty="0"/>
              <a:t> and </a:t>
            </a:r>
            <a:r>
              <a:rPr lang="en-US" i="1" dirty="0"/>
              <a:t>A</a:t>
            </a:r>
            <a:r>
              <a:rPr lang="en-US" baseline="-25000" dirty="0"/>
              <a:t>0</a:t>
            </a:r>
            <a:r>
              <a:rPr lang="en-US" dirty="0"/>
              <a:t>, and the product is </a:t>
            </a:r>
            <a:r>
              <a:rPr lang="en-US" i="1" dirty="0"/>
              <a:t>C</a:t>
            </a:r>
            <a:r>
              <a:rPr lang="en-US" baseline="-25000" dirty="0"/>
              <a:t>3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  <a:r>
              <a:rPr lang="en-US" i="1" dirty="0"/>
              <a:t>C</a:t>
            </a:r>
            <a:r>
              <a:rPr lang="en-US" baseline="-25000" dirty="0"/>
              <a:t>1</a:t>
            </a:r>
            <a:r>
              <a:rPr lang="en-US" i="1" dirty="0"/>
              <a:t>C</a:t>
            </a:r>
            <a:r>
              <a:rPr lang="en-US" baseline="-25000" dirty="0"/>
              <a:t>0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 first partial product is formed by multiplying </a:t>
            </a:r>
            <a:r>
              <a:rPr lang="en-US" i="1" dirty="0"/>
              <a:t>B</a:t>
            </a:r>
            <a:r>
              <a:rPr lang="en-US" baseline="-25000" dirty="0"/>
              <a:t>1</a:t>
            </a:r>
            <a:r>
              <a:rPr lang="en-US" i="1" dirty="0"/>
              <a:t>B</a:t>
            </a:r>
            <a:r>
              <a:rPr lang="en-US" baseline="-25000" dirty="0"/>
              <a:t>0</a:t>
            </a:r>
            <a:r>
              <a:rPr lang="en-US" dirty="0"/>
              <a:t> by </a:t>
            </a:r>
            <a:r>
              <a:rPr lang="en-US" i="1" dirty="0"/>
              <a:t>A</a:t>
            </a:r>
            <a:r>
              <a:rPr lang="en-US" baseline="-25000" dirty="0"/>
              <a:t>0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 multiplication of two bits such as </a:t>
            </a:r>
            <a:r>
              <a:rPr lang="en-US" i="1" dirty="0"/>
              <a:t>A</a:t>
            </a:r>
            <a:r>
              <a:rPr lang="en-US" baseline="-25000" dirty="0"/>
              <a:t>0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baseline="-25000" dirty="0"/>
              <a:t>0</a:t>
            </a:r>
            <a:r>
              <a:rPr lang="en-US" dirty="0"/>
              <a:t> produces a 1 if both bits are 1; otherwise, it produces a 0. This is identical to an AND operation. Therefore, the partial product can be implemented with AND gates as shown in the diagram.</a:t>
            </a:r>
          </a:p>
        </p:txBody>
      </p:sp>
    </p:spTree>
    <p:extLst>
      <p:ext uri="{BB962C8B-B14F-4D97-AF65-F5344CB8AC3E}">
        <p14:creationId xmlns:p14="http://schemas.microsoft.com/office/powerpoint/2010/main" val="246216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The second partial product is formed by multiplying </a:t>
            </a:r>
            <a:r>
              <a:rPr lang="en-US" i="1" dirty="0"/>
              <a:t>B</a:t>
            </a:r>
            <a:r>
              <a:rPr lang="en-US" baseline="-25000" dirty="0"/>
              <a:t>1</a:t>
            </a:r>
            <a:r>
              <a:rPr lang="en-US" i="1" dirty="0"/>
              <a:t>B</a:t>
            </a:r>
            <a:r>
              <a:rPr lang="en-US" baseline="-25000" dirty="0"/>
              <a:t>0</a:t>
            </a:r>
            <a:r>
              <a:rPr lang="en-US" dirty="0"/>
              <a:t> by </a:t>
            </a:r>
            <a:r>
              <a:rPr lang="en-US" i="1" dirty="0"/>
              <a:t>A</a:t>
            </a:r>
            <a:r>
              <a:rPr lang="en-US" baseline="-25000" dirty="0"/>
              <a:t>1</a:t>
            </a:r>
            <a:r>
              <a:rPr lang="en-US" dirty="0"/>
              <a:t> and shifting one position to the left.</a:t>
            </a:r>
          </a:p>
          <a:p>
            <a:pPr algn="just"/>
            <a:r>
              <a:rPr lang="en-US" dirty="0"/>
              <a:t>The two partial products are added with two half-adder (HA) circuits.</a:t>
            </a:r>
          </a:p>
          <a:p>
            <a:pPr algn="just"/>
            <a:r>
              <a:rPr lang="en-US" dirty="0"/>
              <a:t>Usually, there are more bits in the partial products and it is necessary to use full adders to produce the sum of the partial products.</a:t>
            </a:r>
          </a:p>
          <a:p>
            <a:pPr algn="just"/>
            <a:r>
              <a:rPr lang="en-US" dirty="0"/>
              <a:t>Note that the least significant bit of the product does not have to go through an adder, since it is formed by the output of the first AND gate.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8684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20" y="678928"/>
            <a:ext cx="8155044" cy="570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0073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A combinational circuit binary multiplier with more bits can be constructed in a similar fashion.</a:t>
            </a:r>
          </a:p>
          <a:p>
            <a:pPr algn="just"/>
            <a:r>
              <a:rPr lang="en-US" dirty="0"/>
              <a:t>A bit of the multiplier is </a:t>
            </a:r>
            <a:r>
              <a:rPr lang="en-US" dirty="0" err="1"/>
              <a:t>ANDed</a:t>
            </a:r>
            <a:r>
              <a:rPr lang="en-US" dirty="0"/>
              <a:t> with each bit of the multiplicand in as many levels as there are bits in the multiplier.</a:t>
            </a:r>
          </a:p>
          <a:p>
            <a:pPr algn="just"/>
            <a:r>
              <a:rPr lang="en-US" dirty="0"/>
              <a:t>The binary output in each level of AND gates is added with the partial product of the previous level to form a new partial product.</a:t>
            </a:r>
          </a:p>
          <a:p>
            <a:pPr algn="just"/>
            <a:r>
              <a:rPr lang="en-US" dirty="0"/>
              <a:t>The last level produces the product.</a:t>
            </a:r>
          </a:p>
          <a:p>
            <a:pPr algn="just"/>
            <a:r>
              <a:rPr lang="en-US" dirty="0">
                <a:solidFill>
                  <a:srgbClr val="002060"/>
                </a:solidFill>
              </a:rPr>
              <a:t>For </a:t>
            </a:r>
            <a:r>
              <a:rPr lang="en-US" i="1" dirty="0">
                <a:solidFill>
                  <a:srgbClr val="002060"/>
                </a:solidFill>
              </a:rPr>
              <a:t>J </a:t>
            </a:r>
            <a:r>
              <a:rPr lang="en-US" dirty="0">
                <a:solidFill>
                  <a:srgbClr val="002060"/>
                </a:solidFill>
              </a:rPr>
              <a:t>multiplier bits and </a:t>
            </a:r>
            <a:r>
              <a:rPr lang="en-US" i="1" dirty="0">
                <a:solidFill>
                  <a:srgbClr val="002060"/>
                </a:solidFill>
              </a:rPr>
              <a:t>K </a:t>
            </a:r>
            <a:r>
              <a:rPr lang="en-US" dirty="0">
                <a:solidFill>
                  <a:srgbClr val="002060"/>
                </a:solidFill>
              </a:rPr>
              <a:t>multiplicand bits, we need (</a:t>
            </a:r>
            <a:r>
              <a:rPr lang="en-US" i="1" dirty="0">
                <a:solidFill>
                  <a:srgbClr val="002060"/>
                </a:solidFill>
              </a:rPr>
              <a:t>J </a:t>
            </a:r>
            <a:r>
              <a:rPr lang="en-US" dirty="0">
                <a:solidFill>
                  <a:srgbClr val="002060"/>
                </a:solidFill>
              </a:rPr>
              <a:t>× </a:t>
            </a:r>
            <a:r>
              <a:rPr lang="en-US" i="1" dirty="0">
                <a:solidFill>
                  <a:srgbClr val="002060"/>
                </a:solidFill>
              </a:rPr>
              <a:t>K</a:t>
            </a:r>
            <a:r>
              <a:rPr lang="en-US" dirty="0">
                <a:solidFill>
                  <a:srgbClr val="002060"/>
                </a:solidFill>
              </a:rPr>
              <a:t>) AND gates and (</a:t>
            </a:r>
            <a:r>
              <a:rPr lang="en-US" i="1" dirty="0">
                <a:solidFill>
                  <a:srgbClr val="002060"/>
                </a:solidFill>
              </a:rPr>
              <a:t>J - 1</a:t>
            </a:r>
            <a:r>
              <a:rPr lang="en-US" dirty="0">
                <a:solidFill>
                  <a:srgbClr val="002060"/>
                </a:solidFill>
              </a:rPr>
              <a:t>)</a:t>
            </a:r>
            <a:r>
              <a:rPr lang="en-US" i="1" dirty="0">
                <a:solidFill>
                  <a:srgbClr val="002060"/>
                </a:solidFill>
              </a:rPr>
              <a:t>K</a:t>
            </a:r>
            <a:r>
              <a:rPr lang="en-US" dirty="0">
                <a:solidFill>
                  <a:srgbClr val="002060"/>
                </a:solidFill>
              </a:rPr>
              <a:t>-bit adders to produce a product of (</a:t>
            </a:r>
            <a:r>
              <a:rPr lang="en-US" i="1" dirty="0">
                <a:solidFill>
                  <a:srgbClr val="002060"/>
                </a:solidFill>
              </a:rPr>
              <a:t>J </a:t>
            </a:r>
            <a:r>
              <a:rPr lang="en-US" dirty="0">
                <a:solidFill>
                  <a:srgbClr val="002060"/>
                </a:solidFill>
              </a:rPr>
              <a:t>+ </a:t>
            </a:r>
            <a:r>
              <a:rPr lang="en-US" i="1" dirty="0">
                <a:solidFill>
                  <a:srgbClr val="002060"/>
                </a:solidFill>
              </a:rPr>
              <a:t>K</a:t>
            </a:r>
            <a:r>
              <a:rPr lang="en-US" dirty="0">
                <a:solidFill>
                  <a:srgbClr val="002060"/>
                </a:solidFill>
              </a:rPr>
              <a:t>) </a:t>
            </a:r>
            <a:r>
              <a:rPr lang="en-IN" dirty="0">
                <a:solidFill>
                  <a:srgbClr val="002060"/>
                </a:solidFill>
              </a:rPr>
              <a:t>bits.</a:t>
            </a:r>
          </a:p>
        </p:txBody>
      </p:sp>
    </p:spTree>
    <p:extLst>
      <p:ext uri="{BB962C8B-B14F-4D97-AF65-F5344CB8AC3E}">
        <p14:creationId xmlns:p14="http://schemas.microsoft.com/office/powerpoint/2010/main" val="143309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Comparators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sz="3500" dirty="0"/>
              <a:t>A </a:t>
            </a:r>
            <a:r>
              <a:rPr lang="en-US" sz="3500" dirty="0">
                <a:solidFill>
                  <a:srgbClr val="C00000"/>
                </a:solidFill>
              </a:rPr>
              <a:t>comparator</a:t>
            </a:r>
            <a:r>
              <a:rPr lang="en-US" sz="3500" dirty="0"/>
              <a:t> is a logic circuit, used to compare the magnitudes of two binary numbers.</a:t>
            </a:r>
          </a:p>
          <a:p>
            <a:pPr algn="just"/>
            <a:r>
              <a:rPr lang="en-US" sz="3500" dirty="0"/>
              <a:t>The comparison of two numbers is an operation that determines whether one number is greater than, less than, or equal to the other number.</a:t>
            </a:r>
          </a:p>
          <a:p>
            <a:pPr algn="just"/>
            <a:r>
              <a:rPr lang="en-US" sz="3500" dirty="0"/>
              <a:t>There are two common types of comparators.</a:t>
            </a:r>
          </a:p>
          <a:p>
            <a:pPr lvl="1">
              <a:buFont typeface="Arial" pitchFamily="34" charset="0"/>
              <a:buChar char="•"/>
            </a:pPr>
            <a:r>
              <a:rPr lang="en-IN" sz="3500" dirty="0">
                <a:solidFill>
                  <a:srgbClr val="C00000"/>
                </a:solidFill>
              </a:rPr>
              <a:t>Equality Comparator</a:t>
            </a:r>
          </a:p>
          <a:p>
            <a:pPr lvl="1">
              <a:buFont typeface="Arial" pitchFamily="34" charset="0"/>
              <a:buChar char="•"/>
            </a:pPr>
            <a:r>
              <a:rPr lang="en-IN" sz="3500" dirty="0">
                <a:solidFill>
                  <a:srgbClr val="C00000"/>
                </a:solidFill>
              </a:rPr>
              <a:t>Magnitude Comparator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5019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Equality Comparator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An </a:t>
            </a:r>
            <a:r>
              <a:rPr lang="en-US" i="1" dirty="0">
                <a:solidFill>
                  <a:srgbClr val="C00000"/>
                </a:solidFill>
              </a:rPr>
              <a:t>equality comparator</a:t>
            </a:r>
            <a:r>
              <a:rPr lang="en-US" dirty="0"/>
              <a:t> produces a single output indicating whether A is equal to B. </a:t>
            </a:r>
          </a:p>
          <a:p>
            <a:pPr algn="just"/>
            <a:r>
              <a:rPr lang="en-US" dirty="0"/>
              <a:t>Two binary numbers are equal, if and only if all their corresponding bits coincide.</a:t>
            </a:r>
          </a:p>
          <a:p>
            <a:pPr algn="just"/>
            <a:r>
              <a:rPr lang="en-US" dirty="0"/>
              <a:t>For example, two 4-bit binary numbers, A</a:t>
            </a:r>
            <a:r>
              <a:rPr lang="en-US" baseline="-25000" dirty="0"/>
              <a:t>3</a:t>
            </a:r>
            <a:r>
              <a:rPr lang="en-US" dirty="0"/>
              <a:t>A</a:t>
            </a:r>
            <a:r>
              <a:rPr lang="en-US" baseline="-25000" dirty="0"/>
              <a:t>2</a:t>
            </a:r>
            <a:r>
              <a:rPr lang="en-US" dirty="0"/>
              <a:t>A</a:t>
            </a:r>
            <a:r>
              <a:rPr lang="en-US" baseline="-25000" dirty="0"/>
              <a:t>1</a:t>
            </a:r>
            <a:r>
              <a:rPr lang="en-US" dirty="0"/>
              <a:t>A</a:t>
            </a:r>
            <a:r>
              <a:rPr lang="en-US" baseline="-25000" dirty="0"/>
              <a:t>0</a:t>
            </a:r>
            <a:r>
              <a:rPr lang="en-US" dirty="0"/>
              <a:t> and B</a:t>
            </a:r>
            <a:r>
              <a:rPr lang="en-US" baseline="-25000" dirty="0"/>
              <a:t>3</a:t>
            </a:r>
            <a:r>
              <a:rPr lang="en-US" dirty="0"/>
              <a:t>B</a:t>
            </a:r>
            <a:r>
              <a:rPr lang="en-US" baseline="-25000" dirty="0"/>
              <a:t>2</a:t>
            </a:r>
            <a:r>
              <a:rPr lang="en-US" dirty="0"/>
              <a:t>B</a:t>
            </a:r>
            <a:r>
              <a:rPr lang="en-US" baseline="-25000" dirty="0"/>
              <a:t>1</a:t>
            </a:r>
            <a:r>
              <a:rPr lang="en-US" dirty="0"/>
              <a:t>B</a:t>
            </a:r>
            <a:r>
              <a:rPr lang="en-US" baseline="-25000" dirty="0"/>
              <a:t>0</a:t>
            </a:r>
            <a:r>
              <a:rPr lang="en-US" dirty="0"/>
              <a:t> are equal, if and only if, A</a:t>
            </a:r>
            <a:r>
              <a:rPr lang="en-US" baseline="-25000" dirty="0"/>
              <a:t>3</a:t>
            </a:r>
            <a:r>
              <a:rPr lang="en-US" dirty="0"/>
              <a:t> = B</a:t>
            </a:r>
            <a:r>
              <a:rPr lang="en-US" baseline="-25000" dirty="0"/>
              <a:t>3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 = B</a:t>
            </a:r>
            <a:r>
              <a:rPr lang="en-US" baseline="-25000" dirty="0"/>
              <a:t>2</a:t>
            </a:r>
            <a:r>
              <a:rPr lang="en-US" dirty="0"/>
              <a:t>, A</a:t>
            </a:r>
            <a:r>
              <a:rPr lang="en-US" baseline="-25000" dirty="0"/>
              <a:t>1</a:t>
            </a:r>
            <a:r>
              <a:rPr lang="en-US" dirty="0"/>
              <a:t> = B</a:t>
            </a:r>
            <a:r>
              <a:rPr lang="en-US" baseline="-25000" dirty="0"/>
              <a:t>1</a:t>
            </a:r>
            <a:r>
              <a:rPr lang="en-US" dirty="0"/>
              <a:t>, and A</a:t>
            </a:r>
            <a:r>
              <a:rPr lang="en-US" baseline="-25000" dirty="0"/>
              <a:t>0</a:t>
            </a:r>
            <a:r>
              <a:rPr lang="en-US" dirty="0"/>
              <a:t> = B</a:t>
            </a:r>
            <a:r>
              <a:rPr lang="en-US" baseline="-25000" dirty="0"/>
              <a:t>0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88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The equality </a:t>
            </a:r>
            <a:r>
              <a:rPr lang="en-US" dirty="0"/>
              <a:t>can be expressed logically with an exclusive-NOR function as</a:t>
            </a:r>
          </a:p>
          <a:p>
            <a:pPr marL="0" indent="0" algn="just">
              <a:buNone/>
            </a:pPr>
            <a:r>
              <a:rPr lang="en-US" sz="2800" dirty="0">
                <a:solidFill>
                  <a:srgbClr val="0070C0"/>
                </a:solidFill>
              </a:rPr>
              <a:t>	EQUALITY = (A</a:t>
            </a:r>
            <a:r>
              <a:rPr lang="en-US" sz="2800" baseline="-25000" dirty="0">
                <a:solidFill>
                  <a:srgbClr val="0070C0"/>
                </a:solidFill>
              </a:rPr>
              <a:t>3</a:t>
            </a:r>
            <a:r>
              <a:rPr lang="en-US" sz="2800" dirty="0">
                <a:solidFill>
                  <a:srgbClr val="0070C0"/>
                </a:solidFill>
              </a:rPr>
              <a:t> ʘ B</a:t>
            </a:r>
            <a:r>
              <a:rPr lang="en-US" sz="2800" baseline="-25000" dirty="0">
                <a:solidFill>
                  <a:srgbClr val="0070C0"/>
                </a:solidFill>
              </a:rPr>
              <a:t>3</a:t>
            </a:r>
            <a:r>
              <a:rPr lang="en-US" sz="2800" dirty="0">
                <a:solidFill>
                  <a:srgbClr val="0070C0"/>
                </a:solidFill>
              </a:rPr>
              <a:t>) (A</a:t>
            </a:r>
            <a:r>
              <a:rPr lang="en-US" sz="2800" baseline="-25000" dirty="0">
                <a:solidFill>
                  <a:srgbClr val="0070C0"/>
                </a:solidFill>
              </a:rPr>
              <a:t>2</a:t>
            </a:r>
            <a:r>
              <a:rPr lang="en-US" sz="2800" dirty="0">
                <a:solidFill>
                  <a:srgbClr val="0070C0"/>
                </a:solidFill>
              </a:rPr>
              <a:t> ʘ B</a:t>
            </a:r>
            <a:r>
              <a:rPr lang="en-US" sz="2800" baseline="-25000" dirty="0">
                <a:solidFill>
                  <a:srgbClr val="0070C0"/>
                </a:solidFill>
              </a:rPr>
              <a:t>2</a:t>
            </a:r>
            <a:r>
              <a:rPr lang="en-US" sz="2800" dirty="0">
                <a:solidFill>
                  <a:srgbClr val="0070C0"/>
                </a:solidFill>
              </a:rPr>
              <a:t>) (A</a:t>
            </a:r>
            <a:r>
              <a:rPr lang="en-US" sz="2800" baseline="-25000" dirty="0">
                <a:solidFill>
                  <a:srgbClr val="0070C0"/>
                </a:solidFill>
              </a:rPr>
              <a:t>1</a:t>
            </a:r>
            <a:r>
              <a:rPr lang="en-US" sz="2800" dirty="0">
                <a:solidFill>
                  <a:srgbClr val="0070C0"/>
                </a:solidFill>
              </a:rPr>
              <a:t> ʘ B</a:t>
            </a:r>
            <a:r>
              <a:rPr lang="en-US" sz="2800" baseline="-25000" dirty="0">
                <a:solidFill>
                  <a:srgbClr val="0070C0"/>
                </a:solidFill>
              </a:rPr>
              <a:t>1</a:t>
            </a:r>
            <a:r>
              <a:rPr lang="en-US" sz="2800" dirty="0">
                <a:solidFill>
                  <a:srgbClr val="0070C0"/>
                </a:solidFill>
              </a:rPr>
              <a:t>) (A</a:t>
            </a:r>
            <a:r>
              <a:rPr lang="en-US" sz="2800" baseline="-25000" dirty="0">
                <a:solidFill>
                  <a:srgbClr val="0070C0"/>
                </a:solidFill>
              </a:rPr>
              <a:t>0</a:t>
            </a:r>
            <a:r>
              <a:rPr lang="en-US" sz="2800" dirty="0">
                <a:solidFill>
                  <a:srgbClr val="0070C0"/>
                </a:solidFill>
              </a:rPr>
              <a:t> ʘ B</a:t>
            </a:r>
            <a:r>
              <a:rPr lang="en-US" sz="2800" baseline="-25000" dirty="0">
                <a:solidFill>
                  <a:srgbClr val="0070C0"/>
                </a:solidFill>
              </a:rPr>
              <a:t>0</a:t>
            </a:r>
            <a:r>
              <a:rPr lang="en-US" sz="2800" dirty="0">
                <a:solidFill>
                  <a:srgbClr val="0070C0"/>
                </a:solidFill>
              </a:rPr>
              <a:t>)</a:t>
            </a:r>
            <a:endParaRPr lang="en-IN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238544"/>
            <a:ext cx="4201682" cy="328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74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Magnitude Comparator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 </a:t>
            </a:r>
            <a:r>
              <a:rPr lang="en-US" i="1" dirty="0">
                <a:solidFill>
                  <a:srgbClr val="C00000"/>
                </a:solidFill>
              </a:rPr>
              <a:t>magnitude comparator</a:t>
            </a:r>
            <a:r>
              <a:rPr lang="en-US" i="1" dirty="0"/>
              <a:t> </a:t>
            </a:r>
            <a:r>
              <a:rPr lang="en-US" dirty="0"/>
              <a:t>is a combinational circuit that compares two numbers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B </a:t>
            </a:r>
            <a:r>
              <a:rPr lang="en-US" dirty="0"/>
              <a:t>and determines their relative magnitudes.</a:t>
            </a:r>
          </a:p>
          <a:p>
            <a:pPr algn="just"/>
            <a:r>
              <a:rPr lang="en-US" dirty="0"/>
              <a:t>The outcome of the comparison is specified by three binary variables that indicate whether 		</a:t>
            </a:r>
            <a:r>
              <a:rPr lang="en-US" i="1" dirty="0">
                <a:solidFill>
                  <a:srgbClr val="0070C0"/>
                </a:solidFill>
              </a:rPr>
              <a:t>A </a:t>
            </a:r>
            <a:r>
              <a:rPr lang="en-US" dirty="0">
                <a:solidFill>
                  <a:srgbClr val="0070C0"/>
                </a:solidFill>
              </a:rPr>
              <a:t>&gt; </a:t>
            </a:r>
            <a:r>
              <a:rPr lang="en-US" i="1" dirty="0">
                <a:solidFill>
                  <a:srgbClr val="0070C0"/>
                </a:solidFill>
              </a:rPr>
              <a:t>B</a:t>
            </a:r>
            <a:r>
              <a:rPr lang="en-US" dirty="0"/>
              <a:t>, </a:t>
            </a:r>
            <a:r>
              <a:rPr lang="en-US" i="1" dirty="0">
                <a:solidFill>
                  <a:srgbClr val="0070C0"/>
                </a:solidFill>
              </a:rPr>
              <a:t>A </a:t>
            </a:r>
            <a:r>
              <a:rPr lang="en-US" dirty="0">
                <a:solidFill>
                  <a:srgbClr val="0070C0"/>
                </a:solidFill>
              </a:rPr>
              <a:t>= </a:t>
            </a:r>
            <a:r>
              <a:rPr lang="en-US" i="1" dirty="0">
                <a:solidFill>
                  <a:srgbClr val="0070C0"/>
                </a:solidFill>
              </a:rPr>
              <a:t>B</a:t>
            </a:r>
            <a:r>
              <a:rPr lang="en-US" dirty="0"/>
              <a:t>, or </a:t>
            </a:r>
            <a:r>
              <a:rPr lang="en-US" i="1" dirty="0">
                <a:solidFill>
                  <a:srgbClr val="0070C0"/>
                </a:solidFill>
              </a:rPr>
              <a:t>A </a:t>
            </a:r>
            <a:r>
              <a:rPr lang="en-US" dirty="0">
                <a:solidFill>
                  <a:srgbClr val="0070C0"/>
                </a:solidFill>
              </a:rPr>
              <a:t>&lt; </a:t>
            </a:r>
            <a:r>
              <a:rPr lang="en-US" i="1" dirty="0">
                <a:solidFill>
                  <a:srgbClr val="0070C0"/>
                </a:solidFill>
              </a:rPr>
              <a:t>B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616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1-bit Magnitude Comparator</a:t>
            </a:r>
            <a:endParaRPr lang="en-IN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3440" y="1628800"/>
            <a:ext cx="8171286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744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6488" y="1556792"/>
            <a:ext cx="8139968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314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2-bit Magnitude Comparator</a:t>
            </a:r>
            <a:endParaRPr lang="en-IN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5598" y="1628800"/>
            <a:ext cx="8292866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2491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3927" y="1124744"/>
            <a:ext cx="7310481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6686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4-bit Magnitude Comparator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052736"/>
            <a:ext cx="8352928" cy="5420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9363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60648"/>
            <a:ext cx="6192688" cy="6452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389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Code Converters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968552"/>
          </a:xfrm>
        </p:spPr>
        <p:txBody>
          <a:bodyPr>
            <a:noAutofit/>
          </a:bodyPr>
          <a:lstStyle/>
          <a:p>
            <a:pPr algn="just"/>
            <a:r>
              <a:rPr lang="en-IN" sz="2800" dirty="0"/>
              <a:t>A </a:t>
            </a:r>
            <a:r>
              <a:rPr lang="en-IN" sz="2800" dirty="0">
                <a:solidFill>
                  <a:srgbClr val="C00000"/>
                </a:solidFill>
              </a:rPr>
              <a:t>code converter</a:t>
            </a:r>
            <a:r>
              <a:rPr lang="en-IN" sz="2800" dirty="0"/>
              <a:t> is a logic circuit whose inputs are bit patterns representing numbers (or characters) in one code and whose outputs are the corresponding representations in a different code.</a:t>
            </a:r>
          </a:p>
          <a:p>
            <a:pPr algn="just"/>
            <a:r>
              <a:rPr lang="en-IN" sz="2800" dirty="0"/>
              <a:t>Code converters are usually multiple output circuits.</a:t>
            </a:r>
          </a:p>
          <a:p>
            <a:pPr algn="just"/>
            <a:r>
              <a:rPr lang="en-IN" sz="2800" dirty="0"/>
              <a:t>To convert from binary code A to binary code B, the input lines must supply the bit combination of elements as specified by code A and the output lines must generate the corresponding bit combination of code B. A combinational circuit performs this transformation by means of logic gates.</a:t>
            </a:r>
          </a:p>
        </p:txBody>
      </p:sp>
    </p:spTree>
    <p:extLst>
      <p:ext uri="{BB962C8B-B14F-4D97-AF65-F5344CB8AC3E}">
        <p14:creationId xmlns:p14="http://schemas.microsoft.com/office/powerpoint/2010/main" val="150976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IN" dirty="0">
                <a:solidFill>
                  <a:srgbClr val="C00000"/>
                </a:solidFill>
              </a:rPr>
              <a:t>Design of a 4-bit Binary-to-</a:t>
            </a:r>
            <a:r>
              <a:rPr lang="en-IN" dirty="0" err="1">
                <a:solidFill>
                  <a:srgbClr val="C00000"/>
                </a:solidFill>
              </a:rPr>
              <a:t>Gray</a:t>
            </a:r>
            <a:r>
              <a:rPr lang="en-IN" dirty="0">
                <a:solidFill>
                  <a:srgbClr val="C00000"/>
                </a:solidFill>
              </a:rPr>
              <a:t> Code Converter.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/>
              <a:t>The input to the 4-bit binary-to-</a:t>
            </a:r>
            <a:r>
              <a:rPr lang="en-IN" dirty="0" err="1"/>
              <a:t>Gray</a:t>
            </a:r>
            <a:r>
              <a:rPr lang="en-IN" dirty="0"/>
              <a:t> code converter circuit is a 4-bit binary and the output is a 4-bit </a:t>
            </a:r>
            <a:r>
              <a:rPr lang="en-IN" dirty="0" err="1"/>
              <a:t>Gray</a:t>
            </a:r>
            <a:r>
              <a:rPr lang="en-IN" dirty="0"/>
              <a:t> code. There are 16 possible combinations of 4-bit binary input and all of them are valid. Hence no don’t cares.</a:t>
            </a:r>
          </a:p>
          <a:p>
            <a:pPr algn="just"/>
            <a:r>
              <a:rPr lang="en-IN" dirty="0"/>
              <a:t>The 4-bit binary code and the corresponding output </a:t>
            </a:r>
            <a:r>
              <a:rPr lang="en-IN" dirty="0" err="1"/>
              <a:t>Gray</a:t>
            </a:r>
            <a:r>
              <a:rPr lang="en-IN" dirty="0"/>
              <a:t> code are shown in the conversion table.</a:t>
            </a:r>
          </a:p>
        </p:txBody>
      </p:sp>
    </p:spTree>
    <p:extLst>
      <p:ext uri="{BB962C8B-B14F-4D97-AF65-F5344CB8AC3E}">
        <p14:creationId xmlns:p14="http://schemas.microsoft.com/office/powerpoint/2010/main" val="608456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79712" y="414691"/>
            <a:ext cx="5256584" cy="6254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1906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From the conversion table, we observe that expressions for the outputs G</a:t>
            </a:r>
            <a:r>
              <a:rPr lang="en-IN" baseline="-25000" dirty="0"/>
              <a:t>4</a:t>
            </a:r>
            <a:r>
              <a:rPr lang="en-IN" dirty="0"/>
              <a:t>, G</a:t>
            </a:r>
            <a:r>
              <a:rPr lang="en-IN" baseline="-25000" dirty="0"/>
              <a:t>3</a:t>
            </a:r>
            <a:r>
              <a:rPr lang="en-IN" dirty="0"/>
              <a:t>, G</a:t>
            </a:r>
            <a:r>
              <a:rPr lang="en-IN" baseline="-25000" dirty="0"/>
              <a:t>2</a:t>
            </a:r>
            <a:r>
              <a:rPr lang="en-IN" dirty="0"/>
              <a:t>, and G</a:t>
            </a:r>
            <a:r>
              <a:rPr lang="en-IN" baseline="-25000" dirty="0"/>
              <a:t>1</a:t>
            </a:r>
            <a:r>
              <a:rPr lang="en-IN" dirty="0"/>
              <a:t> are as follows:</a:t>
            </a: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979712" y="3284984"/>
            <a:ext cx="4680520" cy="19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14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9592" y="332656"/>
            <a:ext cx="3371401" cy="2984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87416" y="332656"/>
            <a:ext cx="3412976" cy="2984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501008"/>
            <a:ext cx="3412158" cy="3068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576803"/>
            <a:ext cx="3468046" cy="3020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4585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The minimal expressions for the outputs obtained from the K-map are:</a:t>
            </a:r>
          </a:p>
          <a:p>
            <a:endParaRPr lang="en-IN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5" y="2708920"/>
            <a:ext cx="3600400" cy="188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636912"/>
            <a:ext cx="4320479" cy="3523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978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IN" dirty="0">
                <a:solidFill>
                  <a:srgbClr val="C00000"/>
                </a:solidFill>
              </a:rPr>
              <a:t>Design of a 4-bit </a:t>
            </a:r>
            <a:r>
              <a:rPr lang="en-IN" dirty="0" err="1">
                <a:solidFill>
                  <a:srgbClr val="C00000"/>
                </a:solidFill>
              </a:rPr>
              <a:t>Gray</a:t>
            </a:r>
            <a:r>
              <a:rPr lang="en-IN" dirty="0">
                <a:solidFill>
                  <a:srgbClr val="C00000"/>
                </a:solidFill>
              </a:rPr>
              <a:t>-to-Binary Code Converter.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The input to the 4-bit </a:t>
            </a:r>
            <a:r>
              <a:rPr lang="en-IN" dirty="0" err="1"/>
              <a:t>Gray</a:t>
            </a:r>
            <a:r>
              <a:rPr lang="en-IN" dirty="0"/>
              <a:t>-to-binary code converter circuit is a 4-bit </a:t>
            </a:r>
            <a:r>
              <a:rPr lang="en-IN" dirty="0" err="1"/>
              <a:t>Gray</a:t>
            </a:r>
            <a:r>
              <a:rPr lang="en-IN" dirty="0"/>
              <a:t> and the output is a 4-bit binary code. There are 16 possible combinations of 4-bit </a:t>
            </a:r>
            <a:r>
              <a:rPr lang="en-IN" dirty="0" err="1"/>
              <a:t>Gray</a:t>
            </a:r>
            <a:r>
              <a:rPr lang="en-IN" dirty="0"/>
              <a:t> input and all of them are valid. Hence no don’t cares.</a:t>
            </a:r>
          </a:p>
          <a:p>
            <a:pPr algn="just"/>
            <a:r>
              <a:rPr lang="en-IN" dirty="0"/>
              <a:t>The 4-bit </a:t>
            </a:r>
            <a:r>
              <a:rPr lang="en-IN" dirty="0" err="1"/>
              <a:t>Gray</a:t>
            </a:r>
            <a:r>
              <a:rPr lang="en-IN" dirty="0"/>
              <a:t> code and the corresponding output binary code are shown in the conversion table.</a:t>
            </a:r>
          </a:p>
        </p:txBody>
      </p:sp>
    </p:spTree>
    <p:extLst>
      <p:ext uri="{BB962C8B-B14F-4D97-AF65-F5344CB8AC3E}">
        <p14:creationId xmlns:p14="http://schemas.microsoft.com/office/powerpoint/2010/main" val="1794360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421010"/>
            <a:ext cx="5256584" cy="614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6041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From the conversion table, we observe that expressions for the outputs B</a:t>
            </a:r>
            <a:r>
              <a:rPr lang="en-IN" baseline="-25000" dirty="0"/>
              <a:t>4</a:t>
            </a:r>
            <a:r>
              <a:rPr lang="en-IN" dirty="0"/>
              <a:t>, B</a:t>
            </a:r>
            <a:r>
              <a:rPr lang="en-IN" baseline="-25000" dirty="0"/>
              <a:t>3</a:t>
            </a:r>
            <a:r>
              <a:rPr lang="en-IN" dirty="0"/>
              <a:t>, B</a:t>
            </a:r>
            <a:r>
              <a:rPr lang="en-IN" baseline="-25000" dirty="0"/>
              <a:t>2</a:t>
            </a:r>
            <a:r>
              <a:rPr lang="en-IN" dirty="0"/>
              <a:t>, and B</a:t>
            </a:r>
            <a:r>
              <a:rPr lang="en-IN" baseline="-25000" dirty="0"/>
              <a:t>1</a:t>
            </a:r>
            <a:r>
              <a:rPr lang="en-IN" dirty="0"/>
              <a:t> are as follows:</a:t>
            </a:r>
          </a:p>
          <a:p>
            <a:endParaRPr lang="en-IN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209156"/>
            <a:ext cx="7618055" cy="1876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372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08392"/>
            <a:ext cx="3312368" cy="304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60648"/>
            <a:ext cx="3456384" cy="309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42" y="3332326"/>
            <a:ext cx="3309117" cy="3409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356992"/>
            <a:ext cx="3292093" cy="3408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1127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The minimal expressions for the outputs obtained from the K-map are:</a:t>
            </a:r>
          </a:p>
          <a:p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775" y="2780928"/>
            <a:ext cx="7807725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309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98" y="1700808"/>
            <a:ext cx="8299766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481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936502"/>
            <a:ext cx="4032448" cy="4012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36503"/>
            <a:ext cx="1810435" cy="1852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3749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1500</Words>
  <Application>Microsoft Office PowerPoint</Application>
  <PresentationFormat>On-screen Show (4:3)</PresentationFormat>
  <Paragraphs>79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Binary Parallel Adder; Binary Adder-Subtractor; Binary Multiplier; Magnitude Comparator; Code Converters</vt:lpstr>
      <vt:lpstr>Binary Parallel Adder</vt:lpstr>
      <vt:lpstr>Example:</vt:lpstr>
      <vt:lpstr>PowerPoint Presentation</vt:lpstr>
      <vt:lpstr>PowerPoint Presentation</vt:lpstr>
      <vt:lpstr>PowerPoint Presentation</vt:lpstr>
      <vt:lpstr>Binary Parallel Subtractor</vt:lpstr>
      <vt:lpstr>PowerPoint Presentation</vt:lpstr>
      <vt:lpstr>PowerPoint Presentation</vt:lpstr>
      <vt:lpstr>Binary Adder-Subtractor</vt:lpstr>
      <vt:lpstr>PowerPoint Presentation</vt:lpstr>
      <vt:lpstr>PowerPoint Presentation</vt:lpstr>
      <vt:lpstr>Binary Multiplier</vt:lpstr>
      <vt:lpstr>PowerPoint Presentation</vt:lpstr>
      <vt:lpstr>PowerPoint Presentation</vt:lpstr>
      <vt:lpstr>PowerPoint Presentation</vt:lpstr>
      <vt:lpstr>PowerPoint Presentation</vt:lpstr>
      <vt:lpstr>Comparators</vt:lpstr>
      <vt:lpstr>Equality Comparator</vt:lpstr>
      <vt:lpstr>PowerPoint Presentation</vt:lpstr>
      <vt:lpstr>Magnitude Comparator</vt:lpstr>
      <vt:lpstr>1-bit Magnitude Comparator</vt:lpstr>
      <vt:lpstr>PowerPoint Presentation</vt:lpstr>
      <vt:lpstr>2-bit Magnitude Comparator</vt:lpstr>
      <vt:lpstr>PowerPoint Presentation</vt:lpstr>
      <vt:lpstr>4-bit Magnitude Comparator</vt:lpstr>
      <vt:lpstr>PowerPoint Presentation</vt:lpstr>
      <vt:lpstr>Code Converters</vt:lpstr>
      <vt:lpstr>Design of a 4-bit Binary-to-Gray Code Converter.</vt:lpstr>
      <vt:lpstr>PowerPoint Presentation</vt:lpstr>
      <vt:lpstr>PowerPoint Presentation</vt:lpstr>
      <vt:lpstr>PowerPoint Presentation</vt:lpstr>
      <vt:lpstr>PowerPoint Presentation</vt:lpstr>
      <vt:lpstr>Design of a 4-bit Gray-to-Binary Code Converter.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AJIT PATRO</dc:creator>
  <cp:lastModifiedBy>TANISHA PATRA</cp:lastModifiedBy>
  <cp:revision>59</cp:revision>
  <dcterms:created xsi:type="dcterms:W3CDTF">2020-10-12T15:11:42Z</dcterms:created>
  <dcterms:modified xsi:type="dcterms:W3CDTF">2024-11-21T09:42:37Z</dcterms:modified>
</cp:coreProperties>
</file>