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2" r:id="rId2"/>
    <p:sldId id="280" r:id="rId3"/>
    <p:sldId id="257" r:id="rId4"/>
    <p:sldId id="259" r:id="rId5"/>
    <p:sldId id="260" r:id="rId6"/>
    <p:sldId id="261" r:id="rId7"/>
    <p:sldId id="28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265" autoAdjust="0"/>
  </p:normalViewPr>
  <p:slideViewPr>
    <p:cSldViewPr>
      <p:cViewPr>
        <p:scale>
          <a:sx n="80" d="100"/>
          <a:sy n="80" d="100"/>
        </p:scale>
        <p:origin x="-1272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8144B-7328-45F4-84AB-6037A09C7659}" type="datetimeFigureOut">
              <a:rPr lang="en-US" smtClean="0"/>
              <a:pPr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3A28E-197A-4460-98E0-A45DA2DC95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8254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D3A28E-197A-4460-98E0-A45DA2DC95A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1C3A-C176-459B-BBA7-29EB8A09DED6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27E5C-182E-4328-A969-892045984DFD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86BAF-11E8-41C3-B4B7-A34F7A773C81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248-9374-4FA6-85A7-615B682EF678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290D6-1A8A-4E24-ACD8-D307BD28A1C3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1E51-AFC5-45B9-8860-3AF220181FF7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E0219-9574-4939-9B46-4B01630E4ED7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5F23-7741-49E3-96F5-52DACCE2760F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8436-E2C9-4C90-9370-7689D0A533DE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85E59-292D-4D61-98F3-81CE57945587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A310-6B0D-4E92-A0A8-9E26F259222A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13782-808D-47E9-BD2A-DFAAB9FF04EE}" type="datetime1">
              <a:rPr lang="en-US" smtClean="0"/>
              <a:pPr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5B046-418A-4190-91DF-A0702F309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642918"/>
            <a:ext cx="8572560" cy="1420210"/>
          </a:xfrm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rgbClr val="FF0000"/>
                </a:solidFill>
                <a:latin typeface="Baskerville Old Face" pitchFamily="18" charset="0"/>
              </a:rPr>
              <a:t>DIGITAL ELECTRONICS</a:t>
            </a:r>
            <a: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  <a:t/>
            </a:r>
            <a:b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</a:br>
            <a:r>
              <a:rPr lang="en-US" sz="3600" b="1" dirty="0" smtClean="0">
                <a:solidFill>
                  <a:srgbClr val="00B050"/>
                </a:solidFill>
                <a:latin typeface="Baskerville Old Face" pitchFamily="18" charset="0"/>
              </a:rPr>
              <a:t>III Semester CSE, CSE (AIML) &amp; CSE (DS)</a:t>
            </a:r>
            <a:endParaRPr lang="en-US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034" y="4214818"/>
            <a:ext cx="8358246" cy="1857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SCHOOL OF ENGINEERING &amp; TECHNOLOGY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GIET UNIVERSITY, GUNUPUR, ODISHA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68" y="2071678"/>
            <a:ext cx="196454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8596" y="3643314"/>
            <a:ext cx="8358246" cy="64294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Kumar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Patro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0817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B050"/>
                </a:solidFill>
              </a:rPr>
              <a:t>AXIOMS AND LAWS OF BOOLEAN ALGEBRA</a:t>
            </a:r>
            <a:endParaRPr lang="en-US" sz="6000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Boolean Algebra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Boolean Algebra is used to analyze and simplify the digital (logic) circuits.</a:t>
            </a:r>
          </a:p>
          <a:p>
            <a:pPr algn="just"/>
            <a:r>
              <a:rPr lang="en-US" dirty="0" smtClean="0"/>
              <a:t>It uses only the binary numbers i.e. 0 and 1.</a:t>
            </a:r>
          </a:p>
          <a:p>
            <a:pPr algn="just"/>
            <a:r>
              <a:rPr lang="en-US" dirty="0" smtClean="0"/>
              <a:t>It is also called as </a:t>
            </a:r>
            <a:r>
              <a:rPr lang="en-US" b="1" dirty="0" smtClean="0"/>
              <a:t>Binary Algebra</a:t>
            </a:r>
            <a:r>
              <a:rPr lang="en-US" dirty="0" smtClean="0"/>
              <a:t> or </a:t>
            </a:r>
            <a:r>
              <a:rPr lang="en-US" b="1" dirty="0" smtClean="0"/>
              <a:t>logical Algebra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Algebra consists of symbolic representation of a statement (generally mathematical statements).</a:t>
            </a:r>
          </a:p>
          <a:p>
            <a:pPr algn="just"/>
            <a:r>
              <a:rPr lang="en-US" dirty="0" smtClean="0"/>
              <a:t>Similarly, there are expressions, equations and functions in Boolean algebra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Axioms or Postulates of Boolean Algebra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Axioms or postulates of Boolean algebra are a set of logical expressions that we accept without proof and upon which we can build a set of useful theorems.</a:t>
            </a:r>
          </a:p>
          <a:p>
            <a:pPr algn="just"/>
            <a:r>
              <a:rPr lang="en-US" dirty="0" smtClean="0"/>
              <a:t>Actually axioms are nothing more than the definitions of three basic logic operations that we have already discussed: AND, OR, INVERT.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 numCol="2">
            <a:normAutofit/>
          </a:bodyPr>
          <a:lstStyle/>
          <a:p>
            <a:pPr algn="ctr">
              <a:buNone/>
            </a:pPr>
            <a:r>
              <a:rPr lang="en-US" u="sng" dirty="0" smtClean="0"/>
              <a:t>OR Operation</a:t>
            </a:r>
          </a:p>
          <a:p>
            <a:pPr algn="ctr">
              <a:buNone/>
            </a:pPr>
            <a:r>
              <a:rPr lang="en-US" dirty="0" smtClean="0"/>
              <a:t>0 + 0 = 0</a:t>
            </a:r>
          </a:p>
          <a:p>
            <a:pPr algn="ctr">
              <a:buNone/>
            </a:pPr>
            <a:r>
              <a:rPr lang="en-US" dirty="0" smtClean="0"/>
              <a:t>0 + 1 = 1</a:t>
            </a:r>
          </a:p>
          <a:p>
            <a:pPr algn="ctr">
              <a:buNone/>
            </a:pPr>
            <a:r>
              <a:rPr lang="en-US" dirty="0" smtClean="0"/>
              <a:t>1 + 0 = 1</a:t>
            </a:r>
          </a:p>
          <a:p>
            <a:pPr algn="ctr">
              <a:buNone/>
            </a:pPr>
            <a:r>
              <a:rPr lang="en-US" dirty="0" smtClean="0"/>
              <a:t>1 + 1 = 1</a:t>
            </a:r>
            <a:endParaRPr lang="en-US" u="sng" dirty="0" smtClean="0"/>
          </a:p>
          <a:p>
            <a:pPr algn="ctr">
              <a:buNone/>
            </a:pPr>
            <a:endParaRPr lang="en-US" u="sng" dirty="0" smtClean="0"/>
          </a:p>
          <a:p>
            <a:pPr algn="ctr">
              <a:buNone/>
            </a:pPr>
            <a:r>
              <a:rPr lang="en-US" u="sng" dirty="0" smtClean="0"/>
              <a:t>NOT Operation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u="sng" dirty="0" smtClean="0"/>
              <a:t>AND Operation</a:t>
            </a:r>
          </a:p>
          <a:p>
            <a:pPr algn="ctr">
              <a:buNone/>
            </a:pPr>
            <a:r>
              <a:rPr lang="en-US" dirty="0" smtClean="0"/>
              <a:t>0 . 0 = 0</a:t>
            </a:r>
          </a:p>
          <a:p>
            <a:pPr algn="ctr">
              <a:buNone/>
            </a:pPr>
            <a:r>
              <a:rPr lang="en-US" dirty="0" smtClean="0"/>
              <a:t>0 . 1 = 0</a:t>
            </a:r>
          </a:p>
          <a:p>
            <a:pPr algn="ctr">
              <a:buNone/>
            </a:pPr>
            <a:r>
              <a:rPr lang="en-US" dirty="0" smtClean="0"/>
              <a:t>1 . 0 = 0</a:t>
            </a:r>
          </a:p>
          <a:p>
            <a:pPr algn="ctr">
              <a:buNone/>
            </a:pPr>
            <a:r>
              <a:rPr lang="en-US" dirty="0" smtClean="0"/>
              <a:t>1 . 1 = 1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43400" y="5686425"/>
            <a:ext cx="857250" cy="485775"/>
          </a:xfrm>
          <a:prstGeom prst="rect">
            <a:avLst/>
          </a:prstGeom>
          <a:noFill/>
        </p:spPr>
      </p:pic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24350" y="5076825"/>
            <a:ext cx="857250" cy="485775"/>
          </a:xfrm>
          <a:prstGeom prst="rect">
            <a:avLst/>
          </a:prstGeom>
          <a:noFill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 numCol="1"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1. </a:t>
            </a:r>
            <a:r>
              <a:rPr lang="en-US" dirty="0" smtClean="0">
                <a:solidFill>
                  <a:srgbClr val="002060"/>
                </a:solidFill>
              </a:rPr>
              <a:t>Postulate 2</a:t>
            </a:r>
            <a:r>
              <a:rPr lang="en-US" dirty="0" smtClean="0"/>
              <a:t> : </a:t>
            </a:r>
            <a:r>
              <a:rPr lang="en-US" dirty="0"/>
              <a:t>Identity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 			(a)			(b)</a:t>
            </a:r>
            <a:endParaRPr lang="en-US" dirty="0"/>
          </a:p>
          <a:p>
            <a:pPr marL="514350" indent="-514350">
              <a:buNone/>
            </a:pPr>
            <a:r>
              <a:rPr lang="en-US" dirty="0" smtClean="0"/>
              <a:t>2. </a:t>
            </a:r>
            <a:r>
              <a:rPr lang="en-US" dirty="0" smtClean="0">
                <a:solidFill>
                  <a:srgbClr val="002060"/>
                </a:solidFill>
              </a:rPr>
              <a:t>Postulate 5</a:t>
            </a:r>
            <a:r>
              <a:rPr lang="en-US" dirty="0" smtClean="0"/>
              <a:t> : Complement</a:t>
            </a:r>
          </a:p>
          <a:p>
            <a:pPr marL="514350" indent="-514350">
              <a:buNone/>
            </a:pPr>
            <a:r>
              <a:rPr lang="en-US" dirty="0" smtClean="0"/>
              <a:t>    			(a)			(b)</a:t>
            </a:r>
          </a:p>
          <a:p>
            <a:pPr marL="514350" indent="-514350">
              <a:buNone/>
            </a:pPr>
            <a:r>
              <a:rPr lang="en-US" dirty="0" smtClean="0"/>
              <a:t>3. </a:t>
            </a:r>
            <a:r>
              <a:rPr lang="en-US" dirty="0" smtClean="0">
                <a:solidFill>
                  <a:srgbClr val="002060"/>
                </a:solidFill>
              </a:rPr>
              <a:t>Theorem 1</a:t>
            </a:r>
            <a:r>
              <a:rPr lang="en-US" dirty="0" smtClean="0"/>
              <a:t> : Idempotent</a:t>
            </a:r>
          </a:p>
          <a:p>
            <a:pPr marL="514350" indent="-514350">
              <a:buNone/>
            </a:pPr>
            <a:r>
              <a:rPr lang="en-US" dirty="0" smtClean="0"/>
              <a:t>			(a)			(b)</a:t>
            </a:r>
            <a:endParaRPr lang="en-US" dirty="0"/>
          </a:p>
          <a:p>
            <a:pPr marL="514350" indent="-514350">
              <a:buNone/>
            </a:pPr>
            <a:r>
              <a:rPr lang="en-US" dirty="0" smtClean="0"/>
              <a:t>4. </a:t>
            </a:r>
            <a:r>
              <a:rPr lang="en-US" dirty="0" smtClean="0">
                <a:solidFill>
                  <a:srgbClr val="002060"/>
                </a:solidFill>
              </a:rPr>
              <a:t>Theorem 2</a:t>
            </a:r>
            <a:r>
              <a:rPr lang="en-US" dirty="0" smtClean="0"/>
              <a:t> : Annulment</a:t>
            </a:r>
          </a:p>
          <a:p>
            <a:pPr marL="514350" indent="-514350">
              <a:buNone/>
            </a:pPr>
            <a:r>
              <a:rPr lang="en-US" dirty="0"/>
              <a:t>	</a:t>
            </a:r>
            <a:r>
              <a:rPr lang="en-US" dirty="0" smtClean="0"/>
              <a:t>		(a)			(b)</a:t>
            </a:r>
            <a:endParaRPr lang="en-US" dirty="0"/>
          </a:p>
          <a:p>
            <a:pPr marL="514350" indent="-514350">
              <a:buNone/>
            </a:pPr>
            <a:r>
              <a:rPr lang="en-US" dirty="0" smtClean="0"/>
              <a:t>5. </a:t>
            </a:r>
            <a:r>
              <a:rPr lang="en-US" dirty="0" smtClean="0">
                <a:solidFill>
                  <a:srgbClr val="002060"/>
                </a:solidFill>
              </a:rPr>
              <a:t>Theorem 3</a:t>
            </a:r>
            <a:r>
              <a:rPr lang="en-US" dirty="0" smtClean="0"/>
              <a:t> : </a:t>
            </a:r>
            <a:r>
              <a:rPr lang="en-US" dirty="0"/>
              <a:t>Involution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76575" y="3714750"/>
            <a:ext cx="1571625" cy="476250"/>
          </a:xfrm>
          <a:prstGeom prst="rect">
            <a:avLst/>
          </a:prstGeom>
          <a:noFill/>
        </p:spPr>
      </p:pic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28950" y="1352550"/>
            <a:ext cx="1543050" cy="476250"/>
          </a:xfrm>
          <a:prstGeom prst="rect">
            <a:avLst/>
          </a:prstGeom>
          <a:noFill/>
        </p:spPr>
      </p:pic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41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67050" y="4857750"/>
            <a:ext cx="1504950" cy="476250"/>
          </a:xfrm>
          <a:prstGeom prst="rect">
            <a:avLst/>
          </a:prstGeom>
          <a:noFill/>
        </p:spPr>
      </p:pic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43" name="Picture 1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05150" y="2514600"/>
            <a:ext cx="1543050" cy="485775"/>
          </a:xfrm>
          <a:prstGeom prst="rect">
            <a:avLst/>
          </a:prstGeom>
          <a:noFill/>
        </p:spPr>
      </p:pic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45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38825" y="2486025"/>
            <a:ext cx="1323975" cy="485775"/>
          </a:xfrm>
          <a:prstGeom prst="rect">
            <a:avLst/>
          </a:prstGeom>
          <a:noFill/>
        </p:spPr>
      </p:pic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47" name="Picture 1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76925" y="3714750"/>
            <a:ext cx="1362075" cy="476250"/>
          </a:xfrm>
          <a:prstGeom prst="rect">
            <a:avLst/>
          </a:prstGeom>
          <a:noFill/>
        </p:spPr>
      </p:pic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49" name="Picture 17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38825" y="1352550"/>
            <a:ext cx="1323975" cy="476250"/>
          </a:xfrm>
          <a:prstGeom prst="rect">
            <a:avLst/>
          </a:prstGeom>
          <a:noFill/>
        </p:spPr>
      </p:pic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51" name="Picture 19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67400" y="4857750"/>
            <a:ext cx="1295400" cy="476250"/>
          </a:xfrm>
          <a:prstGeom prst="rect">
            <a:avLst/>
          </a:prstGeom>
          <a:noFill/>
        </p:spPr>
      </p:pic>
      <p:sp>
        <p:nvSpPr>
          <p:cNvPr id="18454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53" name="Picture 21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81675" y="5410200"/>
            <a:ext cx="923925" cy="542925"/>
          </a:xfrm>
          <a:prstGeom prst="rect">
            <a:avLst/>
          </a:prstGeom>
          <a:noFill/>
        </p:spPr>
      </p:pic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2060"/>
                </a:solidFill>
              </a:rPr>
              <a:t>Theorem 1</a:t>
            </a:r>
          </a:p>
          <a:p>
            <a:pPr>
              <a:buNone/>
            </a:pPr>
            <a:r>
              <a:rPr lang="en-US" dirty="0" smtClean="0"/>
              <a:t>(a)	</a:t>
            </a:r>
            <a:r>
              <a:rPr lang="en-US" dirty="0" smtClean="0">
                <a:solidFill>
                  <a:srgbClr val="C00000"/>
                </a:solidFill>
              </a:rPr>
              <a:t>A + A = A</a:t>
            </a:r>
          </a:p>
          <a:p>
            <a:pPr>
              <a:buNone/>
            </a:pPr>
            <a:r>
              <a:rPr lang="en-US" dirty="0" smtClean="0"/>
              <a:t>	A + A = (A + A).1</a:t>
            </a:r>
          </a:p>
          <a:p>
            <a:pPr>
              <a:buNone/>
            </a:pPr>
            <a:r>
              <a:rPr lang="en-US" dirty="0" smtClean="0"/>
              <a:t>	= (A + A).(A + A’)</a:t>
            </a:r>
          </a:p>
          <a:p>
            <a:pPr>
              <a:buNone/>
            </a:pPr>
            <a:r>
              <a:rPr lang="en-US" dirty="0" smtClean="0"/>
              <a:t>	= A + A.A’</a:t>
            </a:r>
          </a:p>
          <a:p>
            <a:pPr>
              <a:buNone/>
            </a:pPr>
            <a:r>
              <a:rPr lang="en-US" smtClean="0"/>
              <a:t>	= </a:t>
            </a:r>
            <a:r>
              <a:rPr lang="en-US" dirty="0" smtClean="0"/>
              <a:t>A + 0</a:t>
            </a:r>
          </a:p>
          <a:p>
            <a:pPr>
              <a:buNone/>
            </a:pPr>
            <a:r>
              <a:rPr lang="en-US" dirty="0" smtClean="0"/>
              <a:t>	= 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(b)	</a:t>
            </a:r>
            <a:r>
              <a:rPr lang="en-US" dirty="0" smtClean="0">
                <a:solidFill>
                  <a:srgbClr val="C00000"/>
                </a:solidFill>
              </a:rPr>
              <a:t>A.A = A</a:t>
            </a:r>
          </a:p>
          <a:p>
            <a:pPr>
              <a:buNone/>
            </a:pPr>
            <a:r>
              <a:rPr lang="en-US" dirty="0" smtClean="0"/>
              <a:t>		    A.A = A.A + 0</a:t>
            </a:r>
          </a:p>
          <a:p>
            <a:pPr>
              <a:buNone/>
            </a:pPr>
            <a:r>
              <a:rPr lang="en-US" dirty="0" smtClean="0"/>
              <a:t>			= A.A + A.A’</a:t>
            </a:r>
          </a:p>
          <a:p>
            <a:pPr>
              <a:buNone/>
            </a:pPr>
            <a:r>
              <a:rPr lang="en-US" dirty="0" smtClean="0"/>
              <a:t>			= A.(A + A’)</a:t>
            </a:r>
          </a:p>
          <a:p>
            <a:pPr>
              <a:buNone/>
            </a:pPr>
            <a:r>
              <a:rPr lang="en-US" dirty="0" smtClean="0"/>
              <a:t>			= A.1</a:t>
            </a:r>
          </a:p>
          <a:p>
            <a:pPr>
              <a:buNone/>
            </a:pPr>
            <a:r>
              <a:rPr lang="en-US" dirty="0" smtClean="0"/>
              <a:t>			= 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6. </a:t>
            </a:r>
            <a:r>
              <a:rPr lang="en-US" dirty="0" smtClean="0">
                <a:solidFill>
                  <a:srgbClr val="002060"/>
                </a:solidFill>
              </a:rPr>
              <a:t>Postulate 3</a:t>
            </a:r>
            <a:r>
              <a:rPr lang="en-US" dirty="0" smtClean="0"/>
              <a:t> : </a:t>
            </a:r>
            <a:r>
              <a:rPr lang="en-US" dirty="0" smtClean="0">
                <a:solidFill>
                  <a:srgbClr val="FF0000"/>
                </a:solidFill>
              </a:rPr>
              <a:t>Commutative Law</a:t>
            </a:r>
          </a:p>
          <a:p>
            <a:pPr>
              <a:buNone/>
            </a:pPr>
            <a:r>
              <a:rPr lang="en-US" dirty="0" smtClean="0"/>
              <a:t>(a) </a:t>
            </a:r>
            <a:r>
              <a:rPr lang="en-US" dirty="0" smtClean="0">
                <a:solidFill>
                  <a:srgbClr val="C00000"/>
                </a:solidFill>
              </a:rPr>
              <a:t>A + B = B + A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14219" y="2438400"/>
            <a:ext cx="4991381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(b) </a:t>
            </a:r>
            <a:r>
              <a:rPr lang="en-US" dirty="0" smtClean="0">
                <a:solidFill>
                  <a:srgbClr val="C00000"/>
                </a:solidFill>
              </a:rPr>
              <a:t>A.B = B.A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78002" y="2133600"/>
            <a:ext cx="5613398" cy="297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7. </a:t>
            </a:r>
            <a:r>
              <a:rPr lang="en-US" dirty="0" smtClean="0">
                <a:solidFill>
                  <a:srgbClr val="002060"/>
                </a:solidFill>
              </a:rPr>
              <a:t>Theorem 4</a:t>
            </a:r>
            <a:r>
              <a:rPr lang="en-US" dirty="0" smtClean="0"/>
              <a:t> : </a:t>
            </a:r>
            <a:r>
              <a:rPr lang="en-US" dirty="0">
                <a:solidFill>
                  <a:srgbClr val="FF0000"/>
                </a:solidFill>
              </a:rPr>
              <a:t>Associative Law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(a) </a:t>
            </a:r>
            <a:r>
              <a:rPr lang="en-US" dirty="0" smtClean="0">
                <a:solidFill>
                  <a:srgbClr val="C00000"/>
                </a:solidFill>
              </a:rPr>
              <a:t>(A + B) + C = A + (B + C)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7791" y="2286000"/>
            <a:ext cx="8028597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(b) </a:t>
            </a:r>
            <a:r>
              <a:rPr lang="en-US" dirty="0" smtClean="0">
                <a:solidFill>
                  <a:srgbClr val="C00000"/>
                </a:solidFill>
              </a:rPr>
              <a:t>(A.B).C = A.(B.C)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8102600" cy="373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8. </a:t>
            </a:r>
            <a:r>
              <a:rPr lang="en-US" dirty="0" smtClean="0">
                <a:solidFill>
                  <a:srgbClr val="002060"/>
                </a:solidFill>
              </a:rPr>
              <a:t>Postulate 4</a:t>
            </a:r>
            <a:r>
              <a:rPr lang="en-US" dirty="0" smtClean="0"/>
              <a:t> : </a:t>
            </a:r>
            <a:r>
              <a:rPr lang="en-US" dirty="0">
                <a:solidFill>
                  <a:srgbClr val="FF0000"/>
                </a:solidFill>
              </a:rPr>
              <a:t>Distributive </a:t>
            </a:r>
            <a:r>
              <a:rPr lang="en-US" dirty="0" smtClean="0">
                <a:solidFill>
                  <a:srgbClr val="FF0000"/>
                </a:solidFill>
              </a:rPr>
              <a:t>Law</a:t>
            </a:r>
          </a:p>
          <a:p>
            <a:pPr>
              <a:buNone/>
            </a:pPr>
            <a:r>
              <a:rPr lang="en-US" dirty="0" smtClean="0"/>
              <a:t>(a) </a:t>
            </a:r>
            <a:r>
              <a:rPr lang="en-US" dirty="0" smtClean="0">
                <a:solidFill>
                  <a:srgbClr val="C00000"/>
                </a:solidFill>
              </a:rPr>
              <a:t>A.(B + C) = A.B + A.C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7773161" cy="4011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(b) </a:t>
            </a:r>
            <a:r>
              <a:rPr lang="en-US" dirty="0" smtClean="0">
                <a:solidFill>
                  <a:srgbClr val="C00000"/>
                </a:solidFill>
              </a:rPr>
              <a:t>A + B.C = (A + B).(A + C)</a:t>
            </a:r>
          </a:p>
          <a:p>
            <a:pPr>
              <a:buNone/>
            </a:pPr>
            <a:r>
              <a:rPr lang="en-US" dirty="0"/>
              <a:t>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  RHS = (A + B).(A + C)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= A.A + A.C + B.A + B.C</a:t>
            </a:r>
          </a:p>
          <a:p>
            <a:pPr>
              <a:buNone/>
            </a:pPr>
            <a:r>
              <a:rPr lang="en-US" dirty="0" smtClean="0"/>
              <a:t>			= A + A.C + A.B + B.C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= A.(1 + C + B) + B.C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= A.1 + B.C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= A + B.C = LHS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772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>
              <a:buNone/>
            </a:pPr>
            <a:r>
              <a:rPr lang="en-US" dirty="0"/>
              <a:t>9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2060"/>
                </a:solidFill>
              </a:rPr>
              <a:t>Theorem 6 </a:t>
            </a:r>
            <a:r>
              <a:rPr lang="en-US" dirty="0" smtClean="0"/>
              <a:t>: </a:t>
            </a:r>
            <a:r>
              <a:rPr lang="en-US" dirty="0">
                <a:solidFill>
                  <a:srgbClr val="FF0000"/>
                </a:solidFill>
              </a:rPr>
              <a:t>Absorption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(a) </a:t>
            </a:r>
            <a:r>
              <a:rPr lang="en-US" dirty="0" smtClean="0">
                <a:solidFill>
                  <a:srgbClr val="C00000"/>
                </a:solidFill>
              </a:rPr>
              <a:t>A + A.B = A</a:t>
            </a:r>
          </a:p>
          <a:p>
            <a:pPr>
              <a:buNone/>
            </a:pPr>
            <a:r>
              <a:rPr lang="en-US" dirty="0" smtClean="0"/>
              <a:t>		A + A.B = A.1 + A.B</a:t>
            </a:r>
          </a:p>
          <a:p>
            <a:pPr>
              <a:buNone/>
            </a:pPr>
            <a:r>
              <a:rPr lang="en-US" dirty="0" smtClean="0"/>
              <a:t>				= A.(1 + B) = A.1 = A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00400"/>
            <a:ext cx="7627484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(b) </a:t>
            </a:r>
            <a:r>
              <a:rPr lang="en-US" dirty="0" smtClean="0">
                <a:solidFill>
                  <a:srgbClr val="C00000"/>
                </a:solidFill>
              </a:rPr>
              <a:t>A.(A </a:t>
            </a:r>
            <a:r>
              <a:rPr lang="en-US" dirty="0">
                <a:solidFill>
                  <a:srgbClr val="C00000"/>
                </a:solidFill>
              </a:rPr>
              <a:t>+</a:t>
            </a:r>
            <a:r>
              <a:rPr lang="en-US" dirty="0" smtClean="0">
                <a:solidFill>
                  <a:srgbClr val="C00000"/>
                </a:solidFill>
              </a:rPr>
              <a:t> B) = A</a:t>
            </a:r>
          </a:p>
          <a:p>
            <a:pPr>
              <a:buNone/>
            </a:pPr>
            <a:r>
              <a:rPr lang="en-US" dirty="0" smtClean="0"/>
              <a:t>		 A.(A + B) = A.A + A.B = A + A.B</a:t>
            </a:r>
          </a:p>
          <a:p>
            <a:pPr>
              <a:buNone/>
            </a:pPr>
            <a:r>
              <a:rPr lang="en-US" dirty="0" smtClean="0"/>
              <a:t>				= A.(1 + B) = A.1 = A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4784" y="2971800"/>
            <a:ext cx="7809616" cy="183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10. </a:t>
            </a:r>
            <a:r>
              <a:rPr lang="en-US" dirty="0" smtClean="0">
                <a:solidFill>
                  <a:srgbClr val="FF0000"/>
                </a:solidFill>
              </a:rPr>
              <a:t>Consensus Theorem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i="1" dirty="0" smtClean="0"/>
              <a:t>	Proof: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1219200"/>
            <a:ext cx="4048125" cy="485775"/>
          </a:xfrm>
          <a:prstGeom prst="rect">
            <a:avLst/>
          </a:prstGeom>
          <a:noFill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354766"/>
            <a:ext cx="4800600" cy="3629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11. </a:t>
            </a:r>
            <a:r>
              <a:rPr lang="en-US" dirty="0" smtClean="0">
                <a:solidFill>
                  <a:srgbClr val="FF0000"/>
                </a:solidFill>
              </a:rPr>
              <a:t>Transposition Theorem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i="1" dirty="0" smtClean="0"/>
              <a:t>	Proof: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1714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942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00200" y="1219200"/>
            <a:ext cx="4181475" cy="485775"/>
          </a:xfrm>
          <a:prstGeom prst="rect">
            <a:avLst/>
          </a:prstGeom>
          <a:noFill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438400"/>
            <a:ext cx="4817555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12. </a:t>
            </a:r>
            <a:r>
              <a:rPr lang="en-US" sz="3600" dirty="0" smtClean="0">
                <a:solidFill>
                  <a:srgbClr val="FF0000"/>
                </a:solidFill>
              </a:rPr>
              <a:t>De Morgan’s Theorem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smtClean="0"/>
              <a:t>De Morgan’s Theorem states that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 smtClean="0"/>
              <a:t>The complement of a sum of variables is equal to the product of their individual complements.</a:t>
            </a:r>
          </a:p>
          <a:p>
            <a:pPr marL="571500" indent="-571500" algn="just">
              <a:buFont typeface="+mj-lt"/>
              <a:buAutoNum type="romanLcPeriod"/>
            </a:pPr>
            <a:endParaRPr lang="en-US" dirty="0" smtClean="0"/>
          </a:p>
          <a:p>
            <a:pPr marL="571500" indent="-571500" algn="just">
              <a:buFont typeface="+mj-lt"/>
              <a:buAutoNum type="romanLcPeriod"/>
            </a:pPr>
            <a:r>
              <a:rPr lang="en-US" dirty="0" smtClean="0"/>
              <a:t>The complement of the product of variables is equal to the sum of their individual complements.</a:t>
            </a:r>
          </a:p>
          <a:p>
            <a:pPr marL="571500" indent="-571500" algn="just">
              <a:buFont typeface="+mj-lt"/>
              <a:buAutoNum type="romanLcPeriod"/>
            </a:pPr>
            <a:endParaRPr lang="en-US" dirty="0" smtClean="0"/>
          </a:p>
          <a:p>
            <a:pPr marL="571500" indent="-571500">
              <a:buFont typeface="+mj-lt"/>
              <a:buAutoNum type="romanLcPeriod"/>
            </a:pPr>
            <a:endParaRPr lang="en-US" dirty="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57650" y="3352800"/>
            <a:ext cx="2038350" cy="485775"/>
          </a:xfrm>
          <a:prstGeom prst="rect">
            <a:avLst/>
          </a:prstGeom>
          <a:noFill/>
        </p:spPr>
      </p:pic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33850" y="5334000"/>
            <a:ext cx="2038350" cy="485775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05200" y="914400"/>
            <a:ext cx="2038350" cy="485775"/>
          </a:xfrm>
          <a:prstGeom prst="rect">
            <a:avLst/>
          </a:prstGeom>
          <a:noFill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7251851" cy="477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81400" y="914400"/>
            <a:ext cx="2038095" cy="485714"/>
          </a:xfrm>
          <a:prstGeom prst="rect">
            <a:avLst/>
          </a:prstGeom>
          <a:noFill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7010400" cy="4865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Duality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It states that every algebraic expression deducible from the postulates of Boolean algebra remains valid if the operators and identity elements are interchanged.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If the </a:t>
            </a:r>
            <a:r>
              <a:rPr lang="en-US" i="1" dirty="0" smtClean="0"/>
              <a:t>dual</a:t>
            </a:r>
            <a:r>
              <a:rPr lang="en-US" dirty="0" smtClean="0"/>
              <a:t> of a algebraic expression is desired, we simply interchanged OR and </a:t>
            </a:r>
            <a:r>
              <a:rPr lang="en-US" dirty="0" err="1" smtClean="0"/>
              <a:t>AND</a:t>
            </a:r>
            <a:r>
              <a:rPr lang="en-US" dirty="0" smtClean="0"/>
              <a:t> operators and replace 1’s by 0’s and 0’s by 1’s.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Prove </a:t>
            </a:r>
            <a:r>
              <a:rPr lang="en-US" dirty="0">
                <a:solidFill>
                  <a:srgbClr val="FF0000"/>
                </a:solidFill>
              </a:rPr>
              <a:t>that the dual of EX-OR gate is equal to its complement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EX-OR gate		:  A . B’ + A’ . B</a:t>
            </a:r>
          </a:p>
          <a:p>
            <a:r>
              <a:rPr lang="en-US" dirty="0" smtClean="0"/>
              <a:t>Dual of EX-OR gate	:  (A + B’) . (A’ + B)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= A.A’ + AB + B’A’ + B’B</a:t>
            </a:r>
          </a:p>
          <a:p>
            <a:pPr>
              <a:buNone/>
            </a:pPr>
            <a:r>
              <a:rPr lang="en-US" dirty="0" smtClean="0"/>
              <a:t>					= 0 + AB + B’A’ + 0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= AB + A’B’</a:t>
            </a:r>
          </a:p>
          <a:p>
            <a:r>
              <a:rPr lang="en-US" dirty="0" smtClean="0"/>
              <a:t>Complement of EX-OR gate</a:t>
            </a:r>
          </a:p>
          <a:p>
            <a:pPr>
              <a:buNone/>
            </a:pPr>
            <a:r>
              <a:rPr lang="en-US" dirty="0" smtClean="0"/>
              <a:t> 	(AB’ + A’B)’ = (AB’)’ . (A’B)’ = (A’ + B).(A + B’)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    = A’A + A’B’ + BA + BB’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    = </a:t>
            </a:r>
            <a:r>
              <a:rPr lang="en-US" dirty="0"/>
              <a:t>0</a:t>
            </a:r>
            <a:r>
              <a:rPr lang="en-US" dirty="0" smtClean="0"/>
              <a:t> + A’B’ + BA + 0 = AB + A’B’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B046-418A-4190-91DF-A0702F309AE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465</Words>
  <Application>Microsoft Office PowerPoint</Application>
  <PresentationFormat>On-screen Show (4:3)</PresentationFormat>
  <Paragraphs>128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DIGITAL ELECTRONICS III Semester CSE, CSE (AIML) &amp; CSE (DS)</vt:lpstr>
      <vt:lpstr>AXIOMS AND LAWS OF BOOLEAN ALGEBRA</vt:lpstr>
      <vt:lpstr>Boolean Algebra</vt:lpstr>
      <vt:lpstr>Axioms or Postulates of Boolean Algebra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12. De Morgan’s Theorem</vt:lpstr>
      <vt:lpstr>Slide 20</vt:lpstr>
      <vt:lpstr>Slide 21</vt:lpstr>
      <vt:lpstr>Duality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Boolean Algebra Laws and Theorems</dc:title>
  <dc:creator>admin</dc:creator>
  <cp:lastModifiedBy>staff</cp:lastModifiedBy>
  <cp:revision>67</cp:revision>
  <dcterms:created xsi:type="dcterms:W3CDTF">2020-01-24T16:17:22Z</dcterms:created>
  <dcterms:modified xsi:type="dcterms:W3CDTF">2023-07-24T04:40:12Z</dcterms:modified>
</cp:coreProperties>
</file>