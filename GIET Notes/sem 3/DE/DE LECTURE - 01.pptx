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s/slide38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slides/slide4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4"/>
  </p:notesMasterIdLst>
  <p:sldIdLst>
    <p:sldId id="327" r:id="rId2"/>
    <p:sldId id="332" r:id="rId3"/>
    <p:sldId id="333" r:id="rId4"/>
    <p:sldId id="334" r:id="rId5"/>
    <p:sldId id="317" r:id="rId6"/>
    <p:sldId id="318" r:id="rId7"/>
    <p:sldId id="335" r:id="rId8"/>
    <p:sldId id="331" r:id="rId9"/>
    <p:sldId id="320" r:id="rId10"/>
    <p:sldId id="309" r:id="rId11"/>
    <p:sldId id="260" r:id="rId12"/>
    <p:sldId id="259" r:id="rId13"/>
    <p:sldId id="257" r:id="rId14"/>
    <p:sldId id="258" r:id="rId15"/>
    <p:sldId id="262" r:id="rId16"/>
    <p:sldId id="261" r:id="rId17"/>
    <p:sldId id="263" r:id="rId18"/>
    <p:sldId id="264" r:id="rId19"/>
    <p:sldId id="265" r:id="rId20"/>
    <p:sldId id="273" r:id="rId21"/>
    <p:sldId id="274" r:id="rId22"/>
    <p:sldId id="276" r:id="rId23"/>
    <p:sldId id="321" r:id="rId24"/>
    <p:sldId id="277" r:id="rId25"/>
    <p:sldId id="322" r:id="rId26"/>
    <p:sldId id="282" r:id="rId27"/>
    <p:sldId id="278" r:id="rId28"/>
    <p:sldId id="280" r:id="rId29"/>
    <p:sldId id="275" r:id="rId30"/>
    <p:sldId id="281" r:id="rId31"/>
    <p:sldId id="279" r:id="rId32"/>
    <p:sldId id="287" r:id="rId33"/>
    <p:sldId id="283" r:id="rId34"/>
    <p:sldId id="284" r:id="rId35"/>
    <p:sldId id="288" r:id="rId36"/>
    <p:sldId id="285" r:id="rId37"/>
    <p:sldId id="286" r:id="rId38"/>
    <p:sldId id="324" r:id="rId39"/>
    <p:sldId id="325" r:id="rId40"/>
    <p:sldId id="328" r:id="rId41"/>
    <p:sldId id="329" r:id="rId42"/>
    <p:sldId id="330" r:id="rId4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96633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88" autoAdjust="0"/>
    <p:restoredTop sz="94624" autoAdjust="0"/>
  </p:normalViewPr>
  <p:slideViewPr>
    <p:cSldViewPr>
      <p:cViewPr>
        <p:scale>
          <a:sx n="80" d="100"/>
          <a:sy n="80" d="100"/>
        </p:scale>
        <p:origin x="-216" y="37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48" y="5322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AE23C99-B531-4052-BD7A-A3D959673C7C}" type="datetimeFigureOut">
              <a:rPr lang="en-US" smtClean="0"/>
              <a:pPr/>
              <a:t>7/25/2023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681A192-B02B-4DF2-A370-8A89B8B9A880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79164A-1FCC-48F0-B197-11E2ADED8F68}" type="datetime1">
              <a:rPr lang="en-US" smtClean="0"/>
              <a:pPr/>
              <a:t>7/25/2023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4DEF83-8E89-4D94-8D5D-613AED6F19E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1A4A7E-6F85-4D58-BBA5-DE4EDC3409FE}" type="datetime1">
              <a:rPr lang="en-US" smtClean="0"/>
              <a:pPr/>
              <a:t>7/25/2023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4DEF83-8E89-4D94-8D5D-613AED6F19E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3AD2BD-C2C7-485C-A838-4283E36E4CAF}" type="datetime1">
              <a:rPr lang="en-US" smtClean="0"/>
              <a:pPr/>
              <a:t>7/25/2023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4DEF83-8E89-4D94-8D5D-613AED6F19E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7F8A83-8673-42DF-BB17-4353001EEEFF}" type="datetime1">
              <a:rPr lang="en-US" smtClean="0"/>
              <a:pPr/>
              <a:t>7/25/2023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4DEF83-8E89-4D94-8D5D-613AED6F19E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CD0E9A-83B0-42F0-935E-111BD2A3CB17}" type="datetime1">
              <a:rPr lang="en-US" smtClean="0"/>
              <a:pPr/>
              <a:t>7/25/2023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4DEF83-8E89-4D94-8D5D-613AED6F19E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89F6EB-7A27-46DB-A3D2-5CCBFDA09490}" type="datetime1">
              <a:rPr lang="en-US" smtClean="0"/>
              <a:pPr/>
              <a:t>7/25/2023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4DEF83-8E89-4D94-8D5D-613AED6F19E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417D77-761C-4310-BE5F-C093207E3181}" type="datetime1">
              <a:rPr lang="en-US" smtClean="0"/>
              <a:pPr/>
              <a:t>7/25/2023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4DEF83-8E89-4D94-8D5D-613AED6F19E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0836F8-774A-45BD-9019-CEACCB48624E}" type="datetime1">
              <a:rPr lang="en-US" smtClean="0"/>
              <a:pPr/>
              <a:t>7/25/2023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4DEF83-8E89-4D94-8D5D-613AED6F19E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D9BA1C-3DBF-4D9D-B3B8-F439A97786F7}" type="datetime1">
              <a:rPr lang="en-US" smtClean="0"/>
              <a:pPr/>
              <a:t>7/25/2023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4DEF83-8E89-4D94-8D5D-613AED6F19E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60C1C0-BEF7-4FC7-B29A-32A399C51C3D}" type="datetime1">
              <a:rPr lang="en-US" smtClean="0"/>
              <a:pPr/>
              <a:t>7/25/2023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4DEF83-8E89-4D94-8D5D-613AED6F19E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374EA0-45E7-43CC-B0BF-513200CCFDC1}" type="datetime1">
              <a:rPr lang="en-US" smtClean="0"/>
              <a:pPr/>
              <a:t>7/25/2023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4DEF83-8E89-4D94-8D5D-613AED6F19E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5DF8D9-EFBC-4422-9FE2-483DDF11542F}" type="datetime1">
              <a:rPr lang="en-US" smtClean="0"/>
              <a:pPr/>
              <a:t>7/25/2023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4DEF83-8E89-4D94-8D5D-613AED6F19E4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85720" y="642918"/>
            <a:ext cx="8572560" cy="1420210"/>
          </a:xfrm>
        </p:spPr>
        <p:txBody>
          <a:bodyPr>
            <a:normAutofit fontScale="90000"/>
          </a:bodyPr>
          <a:lstStyle/>
          <a:p>
            <a:r>
              <a:rPr lang="en-US" sz="6000" b="1" dirty="0" smtClean="0">
                <a:solidFill>
                  <a:srgbClr val="FF0000"/>
                </a:solidFill>
                <a:latin typeface="Baskerville Old Face" pitchFamily="18" charset="0"/>
              </a:rPr>
              <a:t>DIGITAL ELECTRONICS</a:t>
            </a:r>
            <a:r>
              <a:rPr lang="en-US" sz="6600" b="1" dirty="0" smtClean="0">
                <a:solidFill>
                  <a:srgbClr val="00B050"/>
                </a:solidFill>
                <a:latin typeface="Baskerville Old Face" pitchFamily="18" charset="0"/>
              </a:rPr>
              <a:t/>
            </a:r>
            <a:br>
              <a:rPr lang="en-US" sz="6600" b="1" dirty="0" smtClean="0">
                <a:solidFill>
                  <a:srgbClr val="00B050"/>
                </a:solidFill>
                <a:latin typeface="Baskerville Old Face" pitchFamily="18" charset="0"/>
              </a:rPr>
            </a:br>
            <a:r>
              <a:rPr lang="en-US" b="1" dirty="0" smtClean="0">
                <a:solidFill>
                  <a:srgbClr val="00B050"/>
                </a:solidFill>
                <a:latin typeface="Baskerville Old Face" pitchFamily="18" charset="0"/>
              </a:rPr>
              <a:t> </a:t>
            </a:r>
            <a:r>
              <a:rPr lang="en-US" sz="3600" b="1" dirty="0" smtClean="0">
                <a:solidFill>
                  <a:srgbClr val="00B050"/>
                </a:solidFill>
                <a:latin typeface="Baskerville Old Face" pitchFamily="18" charset="0"/>
              </a:rPr>
              <a:t>III Semester CSE, CSE (AIML) &amp; CSE (DS)</a:t>
            </a:r>
            <a:endParaRPr lang="en-US" dirty="0">
              <a:solidFill>
                <a:srgbClr val="00B050"/>
              </a:solidFill>
              <a:latin typeface="Baskerville Old Face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00034" y="4214818"/>
            <a:ext cx="8358246" cy="1857388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18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DEPARTMENT OF ELECTRONICS AND COMMUNICATION ENGINEERING</a:t>
            </a:r>
            <a:endParaRPr lang="en-US" sz="1800" dirty="0" smtClean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400" b="1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SCHOOL OF ENGINEERING &amp; TECHNOLOGY</a:t>
            </a:r>
          </a:p>
          <a:p>
            <a:pPr>
              <a:lnSpc>
                <a:spcPct val="150000"/>
              </a:lnSpc>
            </a:pPr>
            <a:r>
              <a:rPr lang="en-US" sz="2800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GIET UNIVERSITY, GUNUPUR, ODISHA</a:t>
            </a: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571868" y="2071678"/>
            <a:ext cx="1964545" cy="15716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Subtitle 2"/>
          <p:cNvSpPr txBox="1">
            <a:spLocks/>
          </p:cNvSpPr>
          <p:nvPr/>
        </p:nvSpPr>
        <p:spPr>
          <a:xfrm>
            <a:off x="428596" y="3643314"/>
            <a:ext cx="8358246" cy="642942"/>
          </a:xfrm>
          <a:prstGeom prst="rect">
            <a:avLst/>
          </a:prstGeom>
        </p:spPr>
        <p:txBody>
          <a:bodyPr vert="horz" lIns="91440" tIns="45720" rIns="91440" bIns="45720" numCol="1" rtlCol="0">
            <a:normAutofit/>
          </a:bodyPr>
          <a:lstStyle/>
          <a:p>
            <a:pPr lvl="0" algn="ctr">
              <a:lnSpc>
                <a:spcPct val="150000"/>
              </a:lnSpc>
              <a:spcBef>
                <a:spcPct val="20000"/>
              </a:spcBef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Dr. </a:t>
            </a:r>
            <a:r>
              <a:rPr lang="en-US" sz="2400" b="1" dirty="0" err="1" smtClean="0">
                <a:latin typeface="Times New Roman" pitchFamily="18" charset="0"/>
                <a:cs typeface="Times New Roman" pitchFamily="18" charset="0"/>
              </a:rPr>
              <a:t>Ajit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 Kumar </a:t>
            </a:r>
            <a:r>
              <a:rPr lang="en-US" sz="2400" b="1" dirty="0" err="1" smtClean="0">
                <a:latin typeface="Times New Roman" pitchFamily="18" charset="0"/>
                <a:cs typeface="Times New Roman" pitchFamily="18" charset="0"/>
              </a:rPr>
              <a:t>Patro</a:t>
            </a:r>
            <a:endParaRPr lang="en-US" sz="2400" b="1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4DEF83-8E89-4D94-8D5D-613AED6F19E4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C00000"/>
                </a:solidFill>
              </a:rPr>
              <a:t>Syllabus</a:t>
            </a:r>
            <a:endParaRPr lang="en-US" dirty="0">
              <a:solidFill>
                <a:srgbClr val="C00000"/>
              </a:solidFill>
            </a:endParaRPr>
          </a:p>
        </p:txBody>
      </p:sp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025" y="1638319"/>
            <a:ext cx="8488363" cy="4505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4DEF83-8E89-4D94-8D5D-613AED6F19E4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65125" y="1357298"/>
            <a:ext cx="8412163" cy="2076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57158" y="3481396"/>
            <a:ext cx="8516937" cy="1162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4DEF83-8E89-4D94-8D5D-613AED6F19E4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sz="3200" dirty="0" smtClean="0">
                <a:solidFill>
                  <a:srgbClr val="C00000"/>
                </a:solidFill>
              </a:rPr>
              <a:t>Books</a:t>
            </a:r>
            <a:endParaRPr lang="en-US" sz="3200" dirty="0">
              <a:solidFill>
                <a:srgbClr val="C00000"/>
              </a:solidFill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28596" y="1643050"/>
            <a:ext cx="8364421" cy="43876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4DEF83-8E89-4D94-8D5D-613AED6F19E4}" type="slidenum">
              <a:rPr lang="en-US" smtClean="0"/>
              <a:pPr/>
              <a:t>4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What is Digital Electronics?</a:t>
            </a:r>
            <a:endParaRPr lang="en-US" sz="4800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4038600" cy="3686188"/>
          </a:xfrm>
        </p:spPr>
        <p:txBody>
          <a:bodyPr>
            <a:normAutofit/>
          </a:bodyPr>
          <a:lstStyle/>
          <a:p>
            <a:pPr algn="just">
              <a:buNone/>
            </a:pPr>
            <a:r>
              <a:rPr lang="en-US" sz="3200" dirty="0" smtClean="0"/>
              <a:t>	Digital electronics is the branch of electronics which is based on the combination and switching of voltages called logic levels.</a:t>
            </a:r>
          </a:p>
          <a:p>
            <a:endParaRPr lang="en-US" dirty="0"/>
          </a:p>
        </p:txBody>
      </p:sp>
      <p:pic>
        <p:nvPicPr>
          <p:cNvPr id="9218" name="Picture 2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648200" y="1714488"/>
            <a:ext cx="4210080" cy="32861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4DEF83-8E89-4D94-8D5D-613AED6F19E4}" type="slidenum">
              <a:rPr lang="en-US" smtClean="0"/>
              <a:pPr/>
              <a:t>5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457200" y="285728"/>
            <a:ext cx="8229600" cy="1131910"/>
          </a:xfrm>
        </p:spPr>
        <p:txBody>
          <a:bodyPr>
            <a:normAutofit/>
          </a:bodyPr>
          <a:lstStyle/>
          <a:p>
            <a:pPr algn="l"/>
            <a:r>
              <a:rPr lang="en-US" sz="31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Electronics circuits and systems are of two kinds - </a:t>
            </a:r>
            <a:br>
              <a:rPr lang="en-US" sz="31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sz="31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b="1" i="1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analog</a:t>
            </a:r>
            <a:r>
              <a:rPr lang="en-US" sz="3200" b="1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and </a:t>
            </a:r>
            <a:r>
              <a:rPr lang="en-US" sz="3200" b="1" i="1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digital</a:t>
            </a:r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US" sz="3200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C00000"/>
                </a:solidFill>
              </a:rPr>
              <a:t>What is Analog circuits ?</a:t>
            </a: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7" name="Content Placeholder 6"/>
          <p:cNvSpPr>
            <a:spLocks noGrp="1"/>
          </p:cNvSpPr>
          <p:nvPr>
            <p:ph sz="half" idx="2"/>
          </p:nvPr>
        </p:nvSpPr>
        <p:spPr>
          <a:xfrm>
            <a:off x="214282" y="2174874"/>
            <a:ext cx="4500594" cy="4325959"/>
          </a:xfrm>
        </p:spPr>
        <p:txBody>
          <a:bodyPr>
            <a:normAutofit/>
          </a:bodyPr>
          <a:lstStyle/>
          <a:p>
            <a:pPr lvl="0" algn="just">
              <a:buFont typeface="Wingdings" pitchFamily="2" charset="2"/>
              <a:buChar char="Ø"/>
            </a:pPr>
            <a:r>
              <a:rPr lang="en-US" dirty="0" smtClean="0"/>
              <a:t>Analog circuits are those in which voltages and currents vary continuously through the given range. They can take infinite values within the specified range.</a:t>
            </a:r>
          </a:p>
          <a:p>
            <a:pPr algn="just">
              <a:buFont typeface="Wingdings" pitchFamily="2" charset="2"/>
              <a:buChar char="Ø"/>
            </a:pPr>
            <a:r>
              <a:rPr lang="en-US" dirty="0" smtClean="0"/>
              <a:t>For example, the output voltage from an audio amplifier might be any one of the infinite values between -10 V and +10 V at any particular instant of time.</a:t>
            </a:r>
          </a:p>
          <a:p>
            <a:endParaRPr lang="en-US" dirty="0"/>
          </a:p>
        </p:txBody>
      </p:sp>
      <p:pic>
        <p:nvPicPr>
          <p:cNvPr id="10242" name="Picture 2"/>
          <p:cNvPicPr>
            <a:picLocks noGrp="1" noChangeAspect="1" noChangeArrowheads="1"/>
          </p:cNvPicPr>
          <p:nvPr>
            <p:ph sz="quarter" idx="4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714876" y="2143116"/>
            <a:ext cx="4214842" cy="37147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4DEF83-8E89-4D94-8D5D-613AED6F19E4}" type="slidenum">
              <a:rPr lang="en-US" smtClean="0"/>
              <a:pPr/>
              <a:t>6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lvl="0" algn="just"/>
            <a:r>
              <a:rPr lang="en-US" dirty="0" smtClean="0"/>
              <a:t>A digital circuit is one in which the voltage levels assume a finite number of distinct values. There are just discrete voltage levels. However, each voltage level in a particle digital system can be a narrow </a:t>
            </a:r>
            <a:r>
              <a:rPr lang="en-US" i="1" dirty="0" smtClean="0"/>
              <a:t>band</a:t>
            </a:r>
            <a:r>
              <a:rPr lang="en-US" dirty="0" smtClean="0"/>
              <a:t> or </a:t>
            </a:r>
            <a:r>
              <a:rPr lang="en-US" i="1" dirty="0" smtClean="0"/>
              <a:t>range</a:t>
            </a:r>
            <a:r>
              <a:rPr lang="en-US" dirty="0" smtClean="0"/>
              <a:t> of voltages.</a:t>
            </a:r>
          </a:p>
          <a:p>
            <a:pPr>
              <a:buNone/>
            </a:pP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4DEF83-8E89-4D94-8D5D-613AED6F19E4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8" name="Title 9"/>
          <p:cNvSpPr>
            <a:spLocks noGrp="1"/>
          </p:cNvSpPr>
          <p:nvPr>
            <p:ph type="body" idx="1"/>
          </p:nvPr>
        </p:nvSpPr>
        <p:spPr/>
        <p:txBody>
          <a:bodyPr>
            <a:noAutofit/>
          </a:bodyPr>
          <a:lstStyle/>
          <a:p>
            <a:pPr algn="l"/>
            <a:r>
              <a:rPr lang="en-US" sz="2800" b="1" dirty="0" smtClean="0">
                <a:solidFill>
                  <a:srgbClr val="C00000"/>
                </a:solidFill>
              </a:rPr>
              <a:t>What is Digital Circuit?</a:t>
            </a:r>
            <a:endParaRPr lang="en-US" sz="2800" b="1" dirty="0">
              <a:solidFill>
                <a:srgbClr val="C00000"/>
              </a:solidFill>
            </a:endParaRPr>
          </a:p>
        </p:txBody>
      </p:sp>
      <p:pic>
        <p:nvPicPr>
          <p:cNvPr id="9" name="Picture 2"/>
          <p:cNvPicPr>
            <a:picLocks noGrp="1" noChangeAspect="1" noChangeArrowheads="1"/>
          </p:cNvPicPr>
          <p:nvPr>
            <p:ph sz="quarter" idx="4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500562" y="2643182"/>
            <a:ext cx="4268692" cy="24288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algn="just">
              <a:buFont typeface="Wingdings" pitchFamily="2" charset="2"/>
              <a:buChar char="v"/>
            </a:pPr>
            <a:r>
              <a:rPr lang="en-US" dirty="0" smtClean="0"/>
              <a:t>Digital circuits are often called </a:t>
            </a:r>
            <a:r>
              <a:rPr lang="en-US" b="1" i="1" dirty="0" smtClean="0">
                <a:solidFill>
                  <a:srgbClr val="C00000"/>
                </a:solidFill>
              </a:rPr>
              <a:t>switching circuits</a:t>
            </a:r>
            <a:r>
              <a:rPr lang="en-US" i="1" dirty="0" smtClean="0">
                <a:solidFill>
                  <a:srgbClr val="C00000"/>
                </a:solidFill>
              </a:rPr>
              <a:t> </a:t>
            </a:r>
            <a:r>
              <a:rPr lang="en-US" dirty="0" smtClean="0"/>
              <a:t>because the voltage levels in a digital circuit are assumed to be switched from one value to another instantaneously, i.e. the transition time is assumed to be zero.</a:t>
            </a:r>
          </a:p>
          <a:p>
            <a:pPr algn="just">
              <a:buFont typeface="Wingdings" pitchFamily="2" charset="2"/>
              <a:buChar char="v"/>
            </a:pPr>
            <a:r>
              <a:rPr lang="en-US" dirty="0" smtClean="0"/>
              <a:t>Digital circuits are also called </a:t>
            </a:r>
            <a:r>
              <a:rPr lang="en-US" b="1" i="1" dirty="0" smtClean="0">
                <a:solidFill>
                  <a:srgbClr val="C00000"/>
                </a:solidFill>
              </a:rPr>
              <a:t>logic</a:t>
            </a:r>
            <a:r>
              <a:rPr lang="en-US" b="1" dirty="0" smtClean="0">
                <a:solidFill>
                  <a:srgbClr val="C00000"/>
                </a:solidFill>
              </a:rPr>
              <a:t> circuits</a:t>
            </a:r>
            <a:r>
              <a:rPr lang="en-US" dirty="0" smtClean="0">
                <a:solidFill>
                  <a:srgbClr val="C00000"/>
                </a:solidFill>
              </a:rPr>
              <a:t> </a:t>
            </a:r>
            <a:r>
              <a:rPr lang="en-US" dirty="0" smtClean="0"/>
              <a:t>because each type of digital circuit obeys a certain set of logic rules. The manner in which a logic circuit responds to input is referred to as the circuit's logic.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4DEF83-8E89-4D94-8D5D-613AED6F19E4}" type="slidenum">
              <a:rPr lang="en-US" smtClean="0"/>
              <a:pPr/>
              <a:t>8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 smtClean="0">
                <a:solidFill>
                  <a:srgbClr val="C00000"/>
                </a:solidFill>
              </a:rPr>
              <a:t>Advantages of Digital Systems 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Font typeface="Wingdings" pitchFamily="2" charset="2"/>
              <a:buChar char="Ø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Digital systems are easier to design.</a:t>
            </a:r>
          </a:p>
          <a:p>
            <a:pPr lvl="0">
              <a:buFont typeface="Wingdings" pitchFamily="2" charset="2"/>
              <a:buChar char="Ø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Information storage is easy.</a:t>
            </a:r>
          </a:p>
          <a:p>
            <a:pPr lvl="0">
              <a:buFont typeface="Wingdings" pitchFamily="2" charset="2"/>
              <a:buChar char="Ø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Accuracy and precision are greater.</a:t>
            </a:r>
          </a:p>
          <a:p>
            <a:pPr lvl="0">
              <a:buFont typeface="Wingdings" pitchFamily="2" charset="2"/>
              <a:buChar char="Ø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Digital systems are more versatile.</a:t>
            </a:r>
          </a:p>
          <a:p>
            <a:pPr lvl="0">
              <a:buFont typeface="Wingdings" pitchFamily="2" charset="2"/>
              <a:buChar char="Ø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Digital circuits are less affected by noise.</a:t>
            </a:r>
          </a:p>
          <a:p>
            <a:pPr lvl="0">
              <a:buFont typeface="Wingdings" pitchFamily="2" charset="2"/>
              <a:buChar char="Ø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More digital circuitry can be fabricated on IC chips.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4DEF83-8E89-4D94-8D5D-613AED6F19E4}" type="slidenum">
              <a:rPr lang="en-US" smtClean="0"/>
              <a:pPr/>
              <a:t>9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7158" y="274638"/>
            <a:ext cx="8501122" cy="3011486"/>
          </a:xfrm>
        </p:spPr>
        <p:txBody>
          <a:bodyPr>
            <a:noAutofit/>
          </a:bodyPr>
          <a:lstStyle/>
          <a:p>
            <a:r>
              <a:rPr lang="en-US" sz="5400" b="1" dirty="0" smtClean="0">
                <a:solidFill>
                  <a:srgbClr val="FF0000"/>
                </a:solidFill>
              </a:rPr>
              <a:t>UNIT-1</a:t>
            </a:r>
            <a:br>
              <a:rPr lang="en-US" sz="5400" b="1" dirty="0" smtClean="0">
                <a:solidFill>
                  <a:srgbClr val="FF0000"/>
                </a:solidFill>
              </a:rPr>
            </a:br>
            <a:r>
              <a:rPr lang="en-US" sz="5400" b="1" dirty="0" smtClean="0">
                <a:solidFill>
                  <a:srgbClr val="C00000"/>
                </a:solidFill>
              </a:rPr>
              <a:t>Chapter-1</a:t>
            </a:r>
            <a:r>
              <a:rPr lang="en-US" sz="5400" b="1" dirty="0" smtClean="0">
                <a:solidFill>
                  <a:srgbClr val="FF0000"/>
                </a:solidFill>
              </a:rPr>
              <a:t/>
            </a:r>
            <a:br>
              <a:rPr lang="en-US" sz="5400" b="1" dirty="0" smtClean="0">
                <a:solidFill>
                  <a:srgbClr val="FF0000"/>
                </a:solidFill>
              </a:rPr>
            </a:br>
            <a:r>
              <a:rPr lang="en-IN" sz="5400" b="1" dirty="0" smtClean="0">
                <a:solidFill>
                  <a:srgbClr val="7030A0"/>
                </a:solidFill>
              </a:rPr>
              <a:t>Number Systems and Codes</a:t>
            </a:r>
            <a:endParaRPr lang="en-US" sz="5400" dirty="0">
              <a:solidFill>
                <a:srgbClr val="7030A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357562"/>
            <a:ext cx="8229600" cy="2768601"/>
          </a:xfrm>
        </p:spPr>
        <p:txBody>
          <a:bodyPr>
            <a:normAutofit/>
          </a:bodyPr>
          <a:lstStyle/>
          <a:p>
            <a:pPr algn="ctr">
              <a:buNone/>
            </a:pPr>
            <a:r>
              <a:rPr lang="en-IN" sz="4400" b="1" dirty="0" smtClean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Binary, Octal, Hexadecimal, and Decimal Number System and their Conversion</a:t>
            </a:r>
            <a:endParaRPr lang="en-US" sz="4400" b="1" dirty="0">
              <a:solidFill>
                <a:srgbClr val="00B05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4DEF83-8E89-4D94-8D5D-613AED6F19E4}" type="slidenum">
              <a:rPr lang="en-US" smtClean="0"/>
              <a:pPr/>
              <a:t>10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What is number System?</a:t>
            </a:r>
            <a:endParaRPr lang="en-US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buFont typeface="Wingdings" pitchFamily="2" charset="2"/>
              <a:buChar char="Ø"/>
            </a:pPr>
            <a:r>
              <a:rPr lang="en-US" dirty="0" smtClean="0"/>
              <a:t>A number system is defined as the technique of writing to express numbers. </a:t>
            </a:r>
          </a:p>
          <a:p>
            <a:pPr algn="just">
              <a:buFont typeface="Wingdings" pitchFamily="2" charset="2"/>
              <a:buChar char="Ø"/>
            </a:pPr>
            <a:r>
              <a:rPr lang="en-US" dirty="0" smtClean="0"/>
              <a:t>The number system has different bases and the most common of them are the decimal, binary, octal, and hexadecimal.</a:t>
            </a:r>
          </a:p>
          <a:p>
            <a:pPr algn="just">
              <a:buFont typeface="Wingdings" pitchFamily="2" charset="2"/>
              <a:buChar char="Ø"/>
            </a:pPr>
            <a:r>
              <a:rPr lang="en-US" dirty="0" smtClean="0"/>
              <a:t> The </a:t>
            </a:r>
            <a:r>
              <a:rPr lang="en-US" b="1" dirty="0" smtClean="0"/>
              <a:t>base or radix</a:t>
            </a:r>
            <a:r>
              <a:rPr lang="en-US" dirty="0" smtClean="0"/>
              <a:t> of the number system is the total number of the digit used in the number system. 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4DEF83-8E89-4D94-8D5D-613AED6F19E4}" type="slidenum">
              <a:rPr lang="en-US" smtClean="0"/>
              <a:pPr/>
              <a:t>11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>
                <a:solidFill>
                  <a:srgbClr val="C00000"/>
                </a:solidFill>
              </a:rPr>
              <a:t>What is the need of  </a:t>
            </a:r>
            <a:r>
              <a:rPr lang="en-US" b="1" dirty="0">
                <a:solidFill>
                  <a:srgbClr val="C00000"/>
                </a:solidFill>
              </a:rPr>
              <a:t>Number </a:t>
            </a:r>
            <a:r>
              <a:rPr lang="en-US" b="1" dirty="0" smtClean="0">
                <a:solidFill>
                  <a:srgbClr val="C00000"/>
                </a:solidFill>
              </a:rPr>
              <a:t>System?</a:t>
            </a:r>
            <a:endParaRPr lang="en-US" b="1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>
              <a:buFont typeface="Wingdings" pitchFamily="2" charset="2"/>
              <a:buChar char="Ø"/>
            </a:pPr>
            <a:r>
              <a:rPr lang="en-US" sz="2800" b="1" dirty="0" smtClean="0"/>
              <a:t>Computers </a:t>
            </a:r>
            <a:r>
              <a:rPr lang="en-US" sz="2800" dirty="0" smtClean="0"/>
              <a:t>understand</a:t>
            </a:r>
            <a:r>
              <a:rPr lang="en-US" sz="2800" dirty="0"/>
              <a:t> </a:t>
            </a:r>
            <a:r>
              <a:rPr lang="en-US" sz="2800" b="1" dirty="0"/>
              <a:t>machine language.</a:t>
            </a:r>
            <a:r>
              <a:rPr lang="en-US" sz="2800" dirty="0"/>
              <a:t> Every letter, symbol etc. that we write in the instructions given to computer, it gets converted into machine language. </a:t>
            </a:r>
            <a:endParaRPr lang="en-US" sz="2800" dirty="0" smtClean="0"/>
          </a:p>
          <a:p>
            <a:pPr algn="just">
              <a:buFont typeface="Wingdings" pitchFamily="2" charset="2"/>
              <a:buChar char="Ø"/>
            </a:pPr>
            <a:r>
              <a:rPr lang="en-US" sz="2800" dirty="0" smtClean="0"/>
              <a:t>This </a:t>
            </a:r>
            <a:r>
              <a:rPr lang="en-US" sz="2800" dirty="0"/>
              <a:t>machine language comprises of numbers. In order to understand the language used by computers and other digital system it is crucial to have a better understanding of number system</a:t>
            </a:r>
            <a:r>
              <a:rPr lang="en-US" sz="2800" dirty="0" smtClean="0"/>
              <a:t>.</a:t>
            </a:r>
          </a:p>
          <a:p>
            <a:pPr algn="just">
              <a:buFont typeface="Wingdings" pitchFamily="2" charset="2"/>
              <a:buChar char="Ø"/>
            </a:pPr>
            <a:endParaRPr lang="en-US" sz="2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4DEF83-8E89-4D94-8D5D-613AED6F19E4}" type="slidenum">
              <a:rPr lang="en-US" smtClean="0"/>
              <a:pPr/>
              <a:t>12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8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Types of Number </a:t>
            </a:r>
            <a:r>
              <a:rPr lang="en-US" sz="4800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System</a:t>
            </a:r>
            <a:endParaRPr lang="en-US" sz="4800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214282" y="1600200"/>
            <a:ext cx="4281518" cy="4525963"/>
          </a:xfrm>
        </p:spPr>
        <p:txBody>
          <a:bodyPr>
            <a:normAutofit fontScale="92500"/>
          </a:bodyPr>
          <a:lstStyle/>
          <a:p>
            <a:pPr>
              <a:buFont typeface="Wingdings" pitchFamily="2" charset="2"/>
              <a:buChar char="Ø"/>
            </a:pP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There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are various types of number systems used for 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representing information.</a:t>
            </a:r>
          </a:p>
          <a:p>
            <a:pPr>
              <a:buFont typeface="Wingdings" pitchFamily="2" charset="2"/>
              <a:buChar char="Ø"/>
            </a:pP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The number systems are of following types.</a:t>
            </a:r>
          </a:p>
          <a:p>
            <a:pPr>
              <a:buNone/>
            </a:pPr>
            <a:r>
              <a:rPr lang="en-US" b="1" dirty="0" smtClean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1. Binary </a:t>
            </a:r>
            <a:r>
              <a:rPr lang="en-US" b="1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Number System</a:t>
            </a:r>
          </a:p>
          <a:p>
            <a:pPr>
              <a:buNone/>
            </a:pPr>
            <a:r>
              <a:rPr lang="en-US" b="1" dirty="0" smtClean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2. Decimal </a:t>
            </a:r>
            <a:r>
              <a:rPr lang="en-US" b="1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Number </a:t>
            </a:r>
            <a:r>
              <a:rPr lang="en-US" b="1" dirty="0" smtClean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System</a:t>
            </a:r>
          </a:p>
          <a:p>
            <a:pPr>
              <a:buNone/>
            </a:pPr>
            <a:r>
              <a:rPr lang="en-US" b="1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3</a:t>
            </a:r>
            <a:r>
              <a:rPr lang="en-US" b="1" dirty="0" smtClean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. Octal Number System</a:t>
            </a:r>
            <a:endParaRPr lang="en-US" b="1" dirty="0">
              <a:solidFill>
                <a:srgbClr val="00B050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b="1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4</a:t>
            </a:r>
            <a:r>
              <a:rPr lang="en-US" b="1" dirty="0" smtClean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. Hexadecimal </a:t>
            </a:r>
            <a:r>
              <a:rPr lang="en-US" b="1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Number System</a:t>
            </a:r>
          </a:p>
          <a:p>
            <a:pPr>
              <a:buFont typeface="Wingdings" pitchFamily="2" charset="2"/>
              <a:buChar char="Ø"/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429124" y="1643050"/>
            <a:ext cx="4572032" cy="40005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4DEF83-8E89-4D94-8D5D-613AED6F19E4}" type="slidenum">
              <a:rPr lang="en-US" smtClean="0"/>
              <a:pPr/>
              <a:t>13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96908"/>
          </a:xfrm>
        </p:spPr>
        <p:txBody>
          <a:bodyPr>
            <a:normAutofit/>
          </a:bodyPr>
          <a:lstStyle/>
          <a:p>
            <a:r>
              <a:rPr lang="en-US" sz="4000" b="1" dirty="0" smtClean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1. Binary </a:t>
            </a:r>
            <a:r>
              <a:rPr lang="en-US" sz="4000" b="1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Number </a:t>
            </a:r>
            <a:r>
              <a:rPr lang="en-US" sz="4000" b="1" dirty="0" smtClean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System</a:t>
            </a:r>
            <a:endParaRPr lang="en-US" sz="4000" b="1" dirty="0">
              <a:solidFill>
                <a:srgbClr val="00B05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>
          <a:xfrm>
            <a:off x="285720" y="1071546"/>
            <a:ext cx="8643998" cy="5643602"/>
          </a:xfrm>
        </p:spPr>
        <p:txBody>
          <a:bodyPr>
            <a:noAutofit/>
          </a:bodyPr>
          <a:lstStyle/>
          <a:p>
            <a:pPr algn="just">
              <a:buFont typeface="Wingdings" pitchFamily="2" charset="2"/>
              <a:buChar char="Ø"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Generally, a binary number system is used in the </a:t>
            </a:r>
            <a:r>
              <a:rPr lang="en-US" sz="28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digital computers. </a:t>
            </a:r>
            <a:endParaRPr lang="en-US" sz="2800" b="1" dirty="0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>
              <a:buFont typeface="Wingdings" pitchFamily="2" charset="2"/>
              <a:buChar char="Ø"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In 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this number system, it carries only two digits, either 0 or 1. 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So the </a:t>
            </a:r>
            <a:r>
              <a:rPr lang="en-US" sz="2800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base or radix of the number system is 2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just">
              <a:buFont typeface="Wingdings" pitchFamily="2" charset="2"/>
              <a:buChar char="Ø"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There 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are two types of electronic pulses present in a binary number system. The first one is the absence of an electronic pulse representing '0'and second one is the presence of electronic pulse representing '1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'.</a:t>
            </a:r>
          </a:p>
          <a:p>
            <a:pPr algn="just">
              <a:buFont typeface="Wingdings" pitchFamily="2" charset="2"/>
              <a:buChar char="Ø"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Each digit is known as a </a:t>
            </a:r>
            <a:r>
              <a:rPr lang="en-US" sz="28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bit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. </a:t>
            </a:r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buFont typeface="Wingdings" pitchFamily="2" charset="2"/>
              <a:buChar char="Ø"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A 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four-bit collection (1101) is known as a </a:t>
            </a:r>
            <a:r>
              <a:rPr lang="en-US" sz="2800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nibble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just">
              <a:buFont typeface="Wingdings" pitchFamily="2" charset="2"/>
              <a:buChar char="Ø"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A collection 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of eight bits (11001010) is known as a </a:t>
            </a:r>
            <a:r>
              <a:rPr lang="en-US" sz="28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byte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. 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4DEF83-8E89-4D94-8D5D-613AED6F19E4}" type="slidenum">
              <a:rPr lang="en-US" smtClean="0"/>
              <a:pPr/>
              <a:t>14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Grp="1" noChangeAspect="1" noChangeArrowheads="1"/>
          </p:cNvPicPr>
          <p:nvPr>
            <p:ph sz="half" idx="1"/>
          </p:nvPr>
        </p:nvPicPr>
        <p:blipFill>
          <a:blip r:embed="rId2" cstate="print"/>
          <a:stretch>
            <a:fillRect/>
          </a:stretch>
        </p:blipFill>
        <p:spPr bwMode="auto">
          <a:xfrm>
            <a:off x="357158" y="2000240"/>
            <a:ext cx="5286412" cy="23574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075" name="Picture 3"/>
          <p:cNvPicPr>
            <a:picLocks noGrp="1" noChangeAspect="1" noChangeArrowheads="1"/>
          </p:cNvPicPr>
          <p:nvPr>
            <p:ph sz="half" idx="2"/>
          </p:nvPr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643570" y="1500174"/>
            <a:ext cx="3286148" cy="3643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4DEF83-8E89-4D94-8D5D-613AED6F19E4}" type="slidenum">
              <a:rPr lang="en-US" smtClean="0"/>
              <a:pPr/>
              <a:t>15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 smtClean="0">
                <a:solidFill>
                  <a:srgbClr val="0070C0"/>
                </a:solidFill>
              </a:rPr>
              <a:t>Examples</a:t>
            </a:r>
            <a:endParaRPr lang="en-US" dirty="0">
              <a:solidFill>
                <a:srgbClr val="0070C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>
              <a:buNone/>
            </a:pPr>
            <a:r>
              <a:rPr lang="en-US" b="1" dirty="0" smtClean="0">
                <a:solidFill>
                  <a:srgbClr val="0070C0"/>
                </a:solidFill>
              </a:rPr>
              <a:t>a)</a:t>
            </a:r>
            <a:r>
              <a:rPr lang="en-US" dirty="0" smtClean="0">
                <a:solidFill>
                  <a:srgbClr val="0070C0"/>
                </a:solidFill>
              </a:rPr>
              <a:t>	</a:t>
            </a:r>
            <a:r>
              <a:rPr lang="en-US" dirty="0" smtClean="0"/>
              <a:t>	 (10101)</a:t>
            </a:r>
            <a:r>
              <a:rPr lang="en-US" baseline="-25000" dirty="0" smtClean="0"/>
              <a:t>2</a:t>
            </a:r>
            <a:endParaRPr lang="en-US" baseline="-25000" dirty="0"/>
          </a:p>
          <a:p>
            <a:pPr>
              <a:buNone/>
            </a:pPr>
            <a:r>
              <a:rPr lang="en-US" b="1" dirty="0" smtClean="0">
                <a:solidFill>
                  <a:srgbClr val="0070C0"/>
                </a:solidFill>
              </a:rPr>
              <a:t>b) </a:t>
            </a:r>
            <a:r>
              <a:rPr lang="en-US" dirty="0" smtClean="0"/>
              <a:t>	 (11011.1101)</a:t>
            </a:r>
            <a:r>
              <a:rPr lang="en-US" baseline="-25000" dirty="0" smtClean="0"/>
              <a:t>2</a:t>
            </a:r>
            <a:endParaRPr lang="en-US" baseline="-25000" dirty="0"/>
          </a:p>
          <a:p>
            <a:pPr>
              <a:buNone/>
            </a:pPr>
            <a:r>
              <a:rPr lang="en-US" b="1" dirty="0" smtClean="0">
                <a:solidFill>
                  <a:srgbClr val="0070C0"/>
                </a:solidFill>
              </a:rPr>
              <a:t>c)</a:t>
            </a:r>
            <a:r>
              <a:rPr lang="en-US" dirty="0" smtClean="0">
                <a:solidFill>
                  <a:srgbClr val="0070C0"/>
                </a:solidFill>
              </a:rPr>
              <a:t>	</a:t>
            </a:r>
            <a:r>
              <a:rPr lang="en-US" dirty="0" smtClean="0"/>
              <a:t>	 (11001.11)</a:t>
            </a:r>
            <a:r>
              <a:rPr lang="en-US" baseline="-25000" dirty="0" smtClean="0"/>
              <a:t>2</a:t>
            </a:r>
            <a:endParaRPr lang="en-US" dirty="0" smtClean="0"/>
          </a:p>
          <a:p>
            <a:pPr>
              <a:buNone/>
            </a:pPr>
            <a:r>
              <a:rPr lang="en-US" b="1" dirty="0" smtClean="0">
                <a:solidFill>
                  <a:srgbClr val="0070C0"/>
                </a:solidFill>
              </a:rPr>
              <a:t>d) </a:t>
            </a:r>
            <a:r>
              <a:rPr lang="en-US" dirty="0" smtClean="0"/>
              <a:t>	 (0.101)</a:t>
            </a:r>
            <a:r>
              <a:rPr lang="en-US" baseline="-25000" dirty="0" smtClean="0"/>
              <a:t>2</a:t>
            </a:r>
            <a:endParaRPr lang="en-US" baseline="-25000" dirty="0"/>
          </a:p>
          <a:p>
            <a:pPr>
              <a:buNone/>
            </a:pPr>
            <a:r>
              <a:rPr lang="en-US" b="1" dirty="0" smtClean="0">
                <a:solidFill>
                  <a:srgbClr val="0070C0"/>
                </a:solidFill>
              </a:rPr>
              <a:t>e)	</a:t>
            </a:r>
            <a:r>
              <a:rPr lang="en-US" dirty="0" smtClean="0"/>
              <a:t>	 (110.1)</a:t>
            </a:r>
            <a:r>
              <a:rPr lang="en-US" baseline="-25000" dirty="0" smtClean="0"/>
              <a:t>2</a:t>
            </a:r>
            <a:endParaRPr lang="en-US" dirty="0"/>
          </a:p>
          <a:p>
            <a:pPr>
              <a:buNone/>
            </a:pPr>
            <a:endParaRPr lang="en-US" dirty="0"/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214810" y="1571612"/>
            <a:ext cx="4429156" cy="38576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4DEF83-8E89-4D94-8D5D-613AED6F19E4}" type="slidenum">
              <a:rPr lang="en-US" smtClean="0"/>
              <a:pPr/>
              <a:t>16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 smtClean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2. Decimal </a:t>
            </a:r>
            <a:r>
              <a:rPr lang="en-US" b="1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Number </a:t>
            </a:r>
            <a:r>
              <a:rPr lang="en-US" b="1" dirty="0" smtClean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System</a:t>
            </a:r>
            <a:endParaRPr lang="en-US" b="1" dirty="0">
              <a:solidFill>
                <a:srgbClr val="00B05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just">
              <a:buFont typeface="Wingdings" pitchFamily="2" charset="2"/>
              <a:buChar char="Ø"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The decimal numbers are used in our </a:t>
            </a:r>
            <a:r>
              <a:rPr lang="en-US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day to day life. </a:t>
            </a:r>
            <a:endParaRPr lang="en-US" b="1" dirty="0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>
              <a:buFont typeface="Wingdings" pitchFamily="2" charset="2"/>
              <a:buChar char="Ø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decimal number system contains ten digits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and these digits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are 0, 1, 2, 3, 4, 5, 6, 7, 8 &amp; 9. 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buFont typeface="Wingdings" pitchFamily="2" charset="2"/>
              <a:buChar char="Ø"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he </a:t>
            </a:r>
            <a:r>
              <a:rPr lang="en-US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base or radix of the number system is 10</a:t>
            </a:r>
            <a:r>
              <a:rPr lang="en-US" dirty="0"/>
              <a:t> 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because total 10 digits are available in the number system.</a:t>
            </a:r>
            <a:endParaRPr lang="en-US" b="1" dirty="0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>
              <a:buNone/>
            </a:pPr>
            <a:r>
              <a:rPr lang="en-US" b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Examples:</a:t>
            </a:r>
          </a:p>
          <a:p>
            <a:pPr algn="just">
              <a:buNone/>
            </a:pPr>
            <a:r>
              <a:rPr lang="en-US" b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a)</a:t>
            </a:r>
            <a:r>
              <a:rPr lang="en-US" b="1" dirty="0" smtClean="0"/>
              <a:t> (2546)</a:t>
            </a:r>
            <a:r>
              <a:rPr lang="en-US" b="1" baseline="-25000" dirty="0" smtClean="0"/>
              <a:t>10</a:t>
            </a:r>
            <a:r>
              <a:rPr lang="en-US" b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	 b)</a:t>
            </a:r>
            <a:r>
              <a:rPr lang="en-US" b="1" dirty="0" smtClean="0"/>
              <a:t> (36.46)</a:t>
            </a:r>
            <a:r>
              <a:rPr lang="en-US" b="1" baseline="-25000" dirty="0" smtClean="0"/>
              <a:t>10</a:t>
            </a:r>
            <a:r>
              <a:rPr lang="en-US" b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 c)</a:t>
            </a:r>
            <a:r>
              <a:rPr lang="en-US" b="1" dirty="0" smtClean="0"/>
              <a:t> (4.567)</a:t>
            </a:r>
            <a:r>
              <a:rPr lang="en-US" b="1" baseline="-25000" dirty="0" smtClean="0"/>
              <a:t>10</a:t>
            </a:r>
            <a:r>
              <a:rPr lang="en-US" b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 d)</a:t>
            </a:r>
            <a:r>
              <a:rPr lang="en-US" b="1" dirty="0" smtClean="0"/>
              <a:t> (984.76)</a:t>
            </a:r>
            <a:r>
              <a:rPr lang="en-US" b="1" baseline="-25000" dirty="0" smtClean="0"/>
              <a:t>10</a:t>
            </a:r>
            <a:endParaRPr lang="en-US" b="1" dirty="0" smtClean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>
              <a:buNone/>
            </a:pPr>
            <a:endParaRPr lang="en-US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4DEF83-8E89-4D94-8D5D-613AED6F19E4}" type="slidenum">
              <a:rPr lang="en-US" smtClean="0"/>
              <a:pPr/>
              <a:t>17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 smtClean="0">
                <a:solidFill>
                  <a:srgbClr val="00B050"/>
                </a:solidFill>
              </a:rPr>
              <a:t>3. Octal </a:t>
            </a:r>
            <a:r>
              <a:rPr lang="en-US" b="1" dirty="0">
                <a:solidFill>
                  <a:srgbClr val="00B050"/>
                </a:solidFill>
              </a:rPr>
              <a:t>Number </a:t>
            </a:r>
            <a:r>
              <a:rPr lang="en-US" b="1" dirty="0" smtClean="0">
                <a:solidFill>
                  <a:srgbClr val="00B050"/>
                </a:solidFill>
              </a:rPr>
              <a:t>System</a:t>
            </a:r>
            <a:endParaRPr lang="en-US" b="1" dirty="0">
              <a:solidFill>
                <a:srgbClr val="00B05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buFont typeface="Wingdings" pitchFamily="2" charset="2"/>
              <a:buChar char="Ø"/>
            </a:pPr>
            <a:r>
              <a:rPr lang="en-US" b="1" dirty="0" smtClean="0"/>
              <a:t>The </a:t>
            </a:r>
            <a:r>
              <a:rPr lang="en-US" b="1" dirty="0"/>
              <a:t>octal number system</a:t>
            </a:r>
            <a:r>
              <a:rPr lang="en-US" dirty="0"/>
              <a:t> is a number system which uses eight digits to express any </a:t>
            </a:r>
            <a:r>
              <a:rPr lang="en-US" dirty="0" smtClean="0"/>
              <a:t>number.</a:t>
            </a:r>
          </a:p>
          <a:p>
            <a:pPr algn="just">
              <a:buFont typeface="Wingdings" pitchFamily="2" charset="2"/>
              <a:buChar char="Ø"/>
            </a:pPr>
            <a:r>
              <a:rPr lang="en-US" dirty="0" smtClean="0"/>
              <a:t>The </a:t>
            </a:r>
            <a:r>
              <a:rPr lang="en-US" dirty="0"/>
              <a:t>digits used are 0, 1, 2, 3, 4, 5, 6 &amp; 7. </a:t>
            </a:r>
            <a:endParaRPr lang="en-US" dirty="0" smtClean="0"/>
          </a:p>
          <a:p>
            <a:pPr algn="just">
              <a:buFont typeface="Wingdings" pitchFamily="2" charset="2"/>
              <a:buChar char="Ø"/>
            </a:pPr>
            <a:r>
              <a:rPr lang="en-US" dirty="0" smtClean="0"/>
              <a:t>The </a:t>
            </a:r>
            <a:r>
              <a:rPr lang="en-US" dirty="0"/>
              <a:t>base of the octal number system or </a:t>
            </a:r>
            <a:r>
              <a:rPr lang="en-US" b="1" dirty="0"/>
              <a:t>radix is 8</a:t>
            </a:r>
            <a:r>
              <a:rPr lang="en-US" dirty="0"/>
              <a:t>. This is because the total number of digits in the number system is 8</a:t>
            </a:r>
            <a:r>
              <a:rPr lang="en-US" dirty="0" smtClean="0"/>
              <a:t>.</a:t>
            </a:r>
          </a:p>
          <a:p>
            <a:pPr algn="just">
              <a:buNone/>
            </a:pPr>
            <a:r>
              <a:rPr lang="en-US" b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Examples:</a:t>
            </a:r>
          </a:p>
          <a:p>
            <a:pPr algn="just">
              <a:buNone/>
            </a:pPr>
            <a:r>
              <a:rPr lang="en-US" b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a)</a:t>
            </a:r>
            <a:r>
              <a:rPr lang="en-US" b="1" dirty="0" smtClean="0"/>
              <a:t> (765)</a:t>
            </a:r>
            <a:r>
              <a:rPr lang="en-US" b="1" baseline="-25000" dirty="0" smtClean="0"/>
              <a:t>8    </a:t>
            </a:r>
            <a:r>
              <a:rPr lang="en-US" b="1" dirty="0" smtClean="0"/>
              <a:t> </a:t>
            </a:r>
            <a:r>
              <a:rPr lang="en-US" b="1" dirty="0" smtClean="0">
                <a:solidFill>
                  <a:srgbClr val="0070C0"/>
                </a:solidFill>
              </a:rPr>
              <a:t>b)  </a:t>
            </a:r>
            <a:r>
              <a:rPr lang="en-US" b="1" dirty="0" smtClean="0"/>
              <a:t>(23.46)</a:t>
            </a:r>
            <a:r>
              <a:rPr lang="en-US" b="1" baseline="-25000" dirty="0" smtClean="0"/>
              <a:t>8</a:t>
            </a:r>
            <a:r>
              <a:rPr lang="en-US" b="1" dirty="0" smtClean="0">
                <a:solidFill>
                  <a:srgbClr val="0070C0"/>
                </a:solidFill>
              </a:rPr>
              <a:t>      c)  </a:t>
            </a:r>
            <a:r>
              <a:rPr lang="en-US" b="1" dirty="0" smtClean="0"/>
              <a:t>(67.4)</a:t>
            </a:r>
            <a:r>
              <a:rPr lang="en-US" b="1" baseline="-25000" dirty="0" smtClean="0"/>
              <a:t>8</a:t>
            </a:r>
            <a:r>
              <a:rPr lang="en-US" b="1" dirty="0" smtClean="0">
                <a:solidFill>
                  <a:srgbClr val="0070C0"/>
                </a:solidFill>
              </a:rPr>
              <a:t> d)  </a:t>
            </a:r>
            <a:r>
              <a:rPr lang="en-US" b="1" dirty="0" smtClean="0"/>
              <a:t>(2.546)</a:t>
            </a:r>
            <a:r>
              <a:rPr lang="en-US" b="1" baseline="-25000" dirty="0" smtClean="0"/>
              <a:t>8</a:t>
            </a:r>
            <a:endParaRPr lang="en-US" b="1" dirty="0" smtClean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>
              <a:buNone/>
            </a:pPr>
            <a:endParaRPr lang="en-US" b="1" dirty="0" smtClean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>
              <a:buNone/>
            </a:pPr>
            <a:endParaRPr lang="en-US" b="1" dirty="0" smtClean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>
              <a:buNone/>
            </a:pPr>
            <a:endParaRPr lang="en-US" b="1" dirty="0" smtClean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4DEF83-8E89-4D94-8D5D-613AED6F19E4}" type="slidenum">
              <a:rPr lang="en-US" smtClean="0"/>
              <a:pPr/>
              <a:t>18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96908"/>
          </a:xfrm>
        </p:spPr>
        <p:txBody>
          <a:bodyPr/>
          <a:lstStyle/>
          <a:p>
            <a:r>
              <a:rPr lang="en-US" b="1" dirty="0" smtClean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4. Hexadecimal Number System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5720" y="1142984"/>
            <a:ext cx="8572560" cy="5429288"/>
          </a:xfrm>
        </p:spPr>
        <p:txBody>
          <a:bodyPr>
            <a:normAutofit fontScale="92500" lnSpcReduction="20000"/>
          </a:bodyPr>
          <a:lstStyle/>
          <a:p>
            <a:pPr algn="just">
              <a:buFont typeface="Wingdings" pitchFamily="2" charset="2"/>
              <a:buChar char="Ø"/>
            </a:pPr>
            <a:r>
              <a:rPr lang="en-US" dirty="0"/>
              <a:t>It is another technique to represent the number in the digital system called the </a:t>
            </a:r>
            <a:r>
              <a:rPr lang="en-US" b="1" dirty="0"/>
              <a:t>hexadecimal number system</a:t>
            </a:r>
            <a:r>
              <a:rPr lang="en-US" dirty="0"/>
              <a:t>. </a:t>
            </a:r>
            <a:endParaRPr lang="en-US" dirty="0" smtClean="0"/>
          </a:p>
          <a:p>
            <a:pPr algn="just">
              <a:buFont typeface="Wingdings" pitchFamily="2" charset="2"/>
              <a:buChar char="Ø"/>
            </a:pPr>
            <a:r>
              <a:rPr lang="en-US" dirty="0" smtClean="0"/>
              <a:t>The </a:t>
            </a:r>
            <a:r>
              <a:rPr lang="en-US" dirty="0"/>
              <a:t>number system has a base of 16 means there are total 16 symbols(0, 1, 2, 3, 4, 5, 6, 7, 8, 9, A, B, C, D, E, F) used for representing a number. </a:t>
            </a:r>
            <a:endParaRPr lang="en-US" dirty="0" smtClean="0"/>
          </a:p>
          <a:p>
            <a:pPr algn="just">
              <a:buFont typeface="Wingdings" pitchFamily="2" charset="2"/>
              <a:buChar char="Ø"/>
            </a:pPr>
            <a:r>
              <a:rPr lang="en-US" dirty="0" smtClean="0"/>
              <a:t>The </a:t>
            </a:r>
            <a:r>
              <a:rPr lang="en-US" dirty="0"/>
              <a:t>single-bit representation of decimal values10, 11, 12, 13, 14, and 15 are represented by A, B, C, D, E, and F. </a:t>
            </a:r>
            <a:endParaRPr lang="en-US" dirty="0" smtClean="0"/>
          </a:p>
          <a:p>
            <a:pPr algn="just">
              <a:buFont typeface="Wingdings" pitchFamily="2" charset="2"/>
              <a:buChar char="Ø"/>
            </a:pPr>
            <a:r>
              <a:rPr lang="en-US" dirty="0" smtClean="0"/>
              <a:t>Only </a:t>
            </a:r>
            <a:r>
              <a:rPr lang="en-US" dirty="0"/>
              <a:t>4 bits are required for representing a number in a hexadecimal number</a:t>
            </a:r>
            <a:r>
              <a:rPr lang="en-US" dirty="0" smtClean="0"/>
              <a:t>.</a:t>
            </a:r>
          </a:p>
          <a:p>
            <a:pPr algn="just">
              <a:buNone/>
            </a:pPr>
            <a:r>
              <a:rPr lang="en-US" b="1" dirty="0" smtClean="0">
                <a:solidFill>
                  <a:srgbClr val="0070C0"/>
                </a:solidFill>
              </a:rPr>
              <a:t>Examples:</a:t>
            </a:r>
          </a:p>
          <a:p>
            <a:pPr algn="just">
              <a:buNone/>
            </a:pPr>
            <a:r>
              <a:rPr lang="en-US" b="1" dirty="0" smtClean="0">
                <a:solidFill>
                  <a:srgbClr val="0070C0"/>
                </a:solidFill>
              </a:rPr>
              <a:t>a)  </a:t>
            </a:r>
            <a:r>
              <a:rPr lang="en-US" b="1" dirty="0" smtClean="0"/>
              <a:t>(2C.4F)</a:t>
            </a:r>
            <a:r>
              <a:rPr lang="en-US" b="1" baseline="-25000" dirty="0" smtClean="0"/>
              <a:t>16             </a:t>
            </a:r>
            <a:r>
              <a:rPr lang="en-US" b="1" dirty="0" smtClean="0">
                <a:solidFill>
                  <a:srgbClr val="0070C0"/>
                </a:solidFill>
              </a:rPr>
              <a:t>  b)  </a:t>
            </a:r>
            <a:r>
              <a:rPr lang="en-US" b="1" dirty="0" smtClean="0"/>
              <a:t>(7AD.9E)</a:t>
            </a:r>
            <a:r>
              <a:rPr lang="en-US" b="1" baseline="-25000" dirty="0" smtClean="0"/>
              <a:t>16</a:t>
            </a:r>
            <a:r>
              <a:rPr lang="en-US" b="1" dirty="0" smtClean="0">
                <a:solidFill>
                  <a:srgbClr val="0070C0"/>
                </a:solidFill>
              </a:rPr>
              <a:t>           c)</a:t>
            </a:r>
            <a:r>
              <a:rPr lang="en-US" b="1" dirty="0" smtClean="0"/>
              <a:t>(81B.6F)</a:t>
            </a:r>
            <a:r>
              <a:rPr lang="en-US" b="1" baseline="-25000" dirty="0" smtClean="0"/>
              <a:t>16</a:t>
            </a:r>
            <a:endParaRPr lang="en-US" dirty="0" smtClean="0"/>
          </a:p>
          <a:p>
            <a:pPr algn="just">
              <a:buNone/>
            </a:pPr>
            <a:endParaRPr lang="en-US" dirty="0" smtClean="0"/>
          </a:p>
          <a:p>
            <a:pPr algn="just">
              <a:buNone/>
            </a:pPr>
            <a:endParaRPr lang="en-US" dirty="0" smtClean="0"/>
          </a:p>
          <a:p>
            <a:pPr algn="just">
              <a:buNone/>
            </a:pPr>
            <a:endParaRPr lang="en-US" dirty="0" smtClean="0"/>
          </a:p>
          <a:p>
            <a:pPr algn="just">
              <a:buNone/>
            </a:pPr>
            <a:endParaRPr lang="en-US" dirty="0" smtClean="0"/>
          </a:p>
          <a:p>
            <a:pPr algn="just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4DEF83-8E89-4D94-8D5D-613AED6F19E4}" type="slidenum">
              <a:rPr lang="en-US" smtClean="0"/>
              <a:pPr/>
              <a:t>19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14290"/>
            <a:ext cx="8229600" cy="1714512"/>
          </a:xfrm>
        </p:spPr>
        <p:txBody>
          <a:bodyPr>
            <a:noAutofit/>
          </a:bodyPr>
          <a:lstStyle/>
          <a:p>
            <a:r>
              <a:rPr lang="en-US" sz="3600" b="1" u="sng" dirty="0" smtClean="0">
                <a:solidFill>
                  <a:srgbClr val="0070C0"/>
                </a:solidFill>
              </a:rPr>
              <a:t>Decimal to Binary </a:t>
            </a:r>
            <a:r>
              <a:rPr lang="en-IN" sz="3600" b="1" u="sng" dirty="0" smtClean="0">
                <a:solidFill>
                  <a:srgbClr val="0070C0"/>
                </a:solidFill>
              </a:rPr>
              <a:t>Conversion</a:t>
            </a:r>
            <a:r>
              <a:rPr lang="en-US" sz="3600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3600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sz="3600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Example: </a:t>
            </a:r>
            <a:r>
              <a:rPr lang="en-US" sz="3200" b="1" dirty="0" smtClean="0">
                <a:latin typeface="Times New Roman" pitchFamily="18" charset="0"/>
                <a:cs typeface="Times New Roman" pitchFamily="18" charset="0"/>
              </a:rPr>
              <a:t>Convert the decimal number 43 in to its binary equivalent.</a:t>
            </a:r>
            <a:endParaRPr lang="en-US" sz="3200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14379" y="1928802"/>
            <a:ext cx="8201025" cy="4514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4DEF83-8E89-4D94-8D5D-613AED6F19E4}" type="slidenum">
              <a:rPr lang="en-US" smtClean="0"/>
              <a:pPr/>
              <a:t>20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2844" y="274638"/>
            <a:ext cx="8786874" cy="1725602"/>
          </a:xfrm>
        </p:spPr>
        <p:txBody>
          <a:bodyPr>
            <a:normAutofit fontScale="90000"/>
          </a:bodyPr>
          <a:lstStyle/>
          <a:p>
            <a:pPr algn="just"/>
            <a:r>
              <a:rPr lang="en-US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Example: </a:t>
            </a:r>
            <a:r>
              <a:rPr lang="en-US" sz="4000" b="1" dirty="0" smtClean="0">
                <a:latin typeface="Times New Roman" pitchFamily="18" charset="0"/>
                <a:cs typeface="Times New Roman" pitchFamily="18" charset="0"/>
              </a:rPr>
              <a:t>Convert the decimal number 10.25 in to its binary equivalent.</a:t>
            </a:r>
            <a:endParaRPr lang="en-US" sz="4000" b="1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14282" y="1857364"/>
            <a:ext cx="8715436" cy="47149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4DEF83-8E89-4D94-8D5D-613AED6F19E4}" type="slidenum">
              <a:rPr lang="en-US" smtClean="0"/>
              <a:pPr/>
              <a:t>21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654164"/>
          </a:xfrm>
        </p:spPr>
        <p:txBody>
          <a:bodyPr>
            <a:normAutofit fontScale="90000"/>
          </a:bodyPr>
          <a:lstStyle/>
          <a:p>
            <a:r>
              <a:rPr lang="en-US" b="1" u="sng" dirty="0" smtClean="0">
                <a:solidFill>
                  <a:srgbClr val="0070C0"/>
                </a:solidFill>
              </a:rPr>
              <a:t>Decimal to Octal </a:t>
            </a:r>
            <a:r>
              <a:rPr lang="en-IN" b="1" u="sng" dirty="0" smtClean="0">
                <a:solidFill>
                  <a:srgbClr val="0070C0"/>
                </a:solidFill>
              </a:rPr>
              <a:t>Conversion</a:t>
            </a:r>
            <a:r>
              <a:rPr lang="en-US" b="1" dirty="0" smtClean="0">
                <a:solidFill>
                  <a:srgbClr val="0070C0"/>
                </a:solidFill>
              </a:rPr>
              <a:t/>
            </a:r>
            <a:br>
              <a:rPr lang="en-US" b="1" dirty="0" smtClean="0">
                <a:solidFill>
                  <a:srgbClr val="0070C0"/>
                </a:solidFill>
              </a:rPr>
            </a:br>
            <a:r>
              <a:rPr lang="en-US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600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Example: </a:t>
            </a:r>
            <a:r>
              <a:rPr lang="en-US" sz="3600" b="1" dirty="0" smtClean="0">
                <a:latin typeface="Times New Roman" pitchFamily="18" charset="0"/>
                <a:cs typeface="Times New Roman" pitchFamily="18" charset="0"/>
              </a:rPr>
              <a:t>Convert the decimal number 473 in to its octal equivalent.</a:t>
            </a:r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28662" y="2000240"/>
            <a:ext cx="7515225" cy="4381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4DEF83-8E89-4D94-8D5D-613AED6F19E4}" type="slidenum">
              <a:rPr lang="en-US" smtClean="0"/>
              <a:pPr/>
              <a:t>22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654164"/>
          </a:xfrm>
        </p:spPr>
        <p:txBody>
          <a:bodyPr>
            <a:normAutofit/>
          </a:bodyPr>
          <a:lstStyle/>
          <a:p>
            <a:pPr algn="l"/>
            <a:r>
              <a:rPr lang="en-US" sz="3600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Example: </a:t>
            </a:r>
            <a:r>
              <a:rPr lang="en-US" sz="3600" b="1" dirty="0" smtClean="0">
                <a:latin typeface="Times New Roman" pitchFamily="18" charset="0"/>
                <a:cs typeface="Times New Roman" pitchFamily="18" charset="0"/>
              </a:rPr>
              <a:t>Convert (0.513)</a:t>
            </a:r>
            <a:r>
              <a:rPr lang="en-US" sz="3600" b="1" baseline="-25000" dirty="0" smtClean="0">
                <a:latin typeface="Times New Roman" pitchFamily="18" charset="0"/>
                <a:cs typeface="Times New Roman" pitchFamily="18" charset="0"/>
              </a:rPr>
              <a:t>10</a:t>
            </a:r>
            <a:r>
              <a:rPr lang="en-US" sz="3600" b="1" dirty="0" smtClean="0">
                <a:latin typeface="Times New Roman" pitchFamily="18" charset="0"/>
                <a:cs typeface="Times New Roman" pitchFamily="18" charset="0"/>
              </a:rPr>
              <a:t> to octal.</a:t>
            </a:r>
            <a:endParaRPr lang="en-US" b="1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026" name="Picture 2" descr="C:\Users\admin\Desktop\Capture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42844" y="1928802"/>
            <a:ext cx="8858312" cy="3786214"/>
          </a:xfrm>
          <a:prstGeom prst="rect">
            <a:avLst/>
          </a:prstGeom>
          <a:noFill/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4DEF83-8E89-4D94-8D5D-613AED6F19E4}" type="slidenum">
              <a:rPr lang="en-US" smtClean="0"/>
              <a:pPr/>
              <a:t>23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868478"/>
          </a:xfrm>
        </p:spPr>
        <p:txBody>
          <a:bodyPr>
            <a:normAutofit fontScale="90000"/>
          </a:bodyPr>
          <a:lstStyle/>
          <a:p>
            <a:r>
              <a:rPr lang="en-US" b="1" dirty="0" smtClean="0">
                <a:solidFill>
                  <a:srgbClr val="0070C0"/>
                </a:solidFill>
              </a:rPr>
              <a:t/>
            </a:r>
            <a:br>
              <a:rPr lang="en-US" b="1" dirty="0" smtClean="0">
                <a:solidFill>
                  <a:srgbClr val="0070C0"/>
                </a:solidFill>
              </a:rPr>
            </a:br>
            <a:r>
              <a:rPr lang="en-US" b="1" u="sng" dirty="0" smtClean="0">
                <a:solidFill>
                  <a:srgbClr val="0070C0"/>
                </a:solidFill>
              </a:rPr>
              <a:t>Decimal to Hexadecimal </a:t>
            </a:r>
            <a:r>
              <a:rPr lang="en-IN" b="1" u="sng" dirty="0" smtClean="0">
                <a:solidFill>
                  <a:srgbClr val="0070C0"/>
                </a:solidFill>
              </a:rPr>
              <a:t>Conversion </a:t>
            </a:r>
            <a:r>
              <a:rPr lang="en-US" b="1" dirty="0" smtClean="0">
                <a:solidFill>
                  <a:srgbClr val="0070C0"/>
                </a:solidFill>
              </a:rPr>
              <a:t/>
            </a:r>
            <a:br>
              <a:rPr lang="en-US" b="1" dirty="0" smtClean="0">
                <a:solidFill>
                  <a:srgbClr val="0070C0"/>
                </a:solidFill>
              </a:rPr>
            </a:br>
            <a:r>
              <a:rPr lang="en-US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600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Example: </a:t>
            </a:r>
            <a:r>
              <a:rPr lang="en-US" sz="3600" b="1" dirty="0" smtClean="0">
                <a:latin typeface="Times New Roman" pitchFamily="18" charset="0"/>
                <a:cs typeface="Times New Roman" pitchFamily="18" charset="0"/>
              </a:rPr>
              <a:t>Convert the decimal number 423 in to its hexadecimal equivalent .</a:t>
            </a:r>
            <a:r>
              <a:rPr lang="en-US" b="1" dirty="0" smtClean="0">
                <a:solidFill>
                  <a:srgbClr val="0070C0"/>
                </a:solidFill>
              </a:rPr>
              <a:t/>
            </a:r>
            <a:br>
              <a:rPr lang="en-US" b="1" dirty="0" smtClean="0">
                <a:solidFill>
                  <a:srgbClr val="0070C0"/>
                </a:solidFill>
              </a:rPr>
            </a:br>
            <a:endParaRPr lang="en-US" dirty="0"/>
          </a:p>
        </p:txBody>
      </p:sp>
      <p:pic>
        <p:nvPicPr>
          <p:cNvPr id="717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28596" y="2571744"/>
            <a:ext cx="8215370" cy="37147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4DEF83-8E89-4D94-8D5D-613AED6F19E4}" type="slidenum">
              <a:rPr lang="en-US" smtClean="0"/>
              <a:pPr/>
              <a:t>24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1414"/>
            <a:ext cx="8229600" cy="714380"/>
          </a:xfrm>
        </p:spPr>
        <p:txBody>
          <a:bodyPr>
            <a:normAutofit fontScale="90000"/>
          </a:bodyPr>
          <a:lstStyle/>
          <a:p>
            <a:pPr algn="l"/>
            <a:r>
              <a:rPr lang="en-US" b="1" dirty="0" smtClean="0">
                <a:solidFill>
                  <a:srgbClr val="0070C0"/>
                </a:solidFill>
              </a:rPr>
              <a:t/>
            </a:r>
            <a:br>
              <a:rPr lang="en-US" b="1" dirty="0" smtClean="0">
                <a:solidFill>
                  <a:srgbClr val="0070C0"/>
                </a:solidFill>
              </a:rPr>
            </a:br>
            <a:r>
              <a:rPr lang="en-US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600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Example: </a:t>
            </a:r>
            <a:r>
              <a:rPr lang="en-US" sz="3100" b="1" dirty="0" smtClean="0">
                <a:latin typeface="Times New Roman" pitchFamily="18" charset="0"/>
                <a:cs typeface="Times New Roman" pitchFamily="18" charset="0"/>
              </a:rPr>
              <a:t>Convert the (2598.675)</a:t>
            </a:r>
            <a:r>
              <a:rPr lang="en-US" sz="3100" b="1" baseline="-25000" dirty="0" smtClean="0">
                <a:latin typeface="Times New Roman" pitchFamily="18" charset="0"/>
                <a:cs typeface="Times New Roman" pitchFamily="18" charset="0"/>
              </a:rPr>
              <a:t>10</a:t>
            </a:r>
            <a:r>
              <a:rPr lang="en-US" sz="3100" b="1" dirty="0" smtClean="0">
                <a:latin typeface="Times New Roman" pitchFamily="18" charset="0"/>
                <a:cs typeface="Times New Roman" pitchFamily="18" charset="0"/>
              </a:rPr>
              <a:t> to hexadecimal </a:t>
            </a:r>
            <a:r>
              <a:rPr lang="en-US" b="1" dirty="0" smtClean="0">
                <a:solidFill>
                  <a:srgbClr val="0070C0"/>
                </a:solidFill>
              </a:rPr>
              <a:t/>
            </a:r>
            <a:br>
              <a:rPr lang="en-US" b="1" dirty="0" smtClean="0">
                <a:solidFill>
                  <a:srgbClr val="0070C0"/>
                </a:solidFill>
              </a:rPr>
            </a:br>
            <a:endParaRPr lang="en-US" dirty="0"/>
          </a:p>
        </p:txBody>
      </p:sp>
      <p:pic>
        <p:nvPicPr>
          <p:cNvPr id="2050" name="Picture 2" descr="C:\Users\admin\Desktop\Captureqww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28596" y="928670"/>
            <a:ext cx="8286808" cy="5558678"/>
          </a:xfrm>
          <a:prstGeom prst="rect">
            <a:avLst/>
          </a:prstGeom>
          <a:noFill/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4DEF83-8E89-4D94-8D5D-613AED6F19E4}" type="slidenum">
              <a:rPr lang="en-US" smtClean="0"/>
              <a:pPr/>
              <a:t>25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725602"/>
          </a:xfrm>
        </p:spPr>
        <p:txBody>
          <a:bodyPr>
            <a:normAutofit fontScale="90000"/>
          </a:bodyPr>
          <a:lstStyle/>
          <a:p>
            <a:r>
              <a:rPr lang="en-US" b="1" u="sng" dirty="0" smtClean="0">
                <a:solidFill>
                  <a:srgbClr val="0070C0"/>
                </a:solidFill>
              </a:rPr>
              <a:t>Binary to Decimal </a:t>
            </a:r>
            <a:r>
              <a:rPr lang="en-IN" b="1" u="sng" dirty="0" smtClean="0">
                <a:solidFill>
                  <a:srgbClr val="0070C0"/>
                </a:solidFill>
              </a:rPr>
              <a:t>Conversion </a:t>
            </a:r>
            <a:r>
              <a:rPr lang="en-US" b="1" dirty="0" smtClean="0">
                <a:solidFill>
                  <a:srgbClr val="C00000"/>
                </a:solidFill>
              </a:rPr>
              <a:t/>
            </a:r>
            <a:br>
              <a:rPr lang="en-US" b="1" dirty="0" smtClean="0">
                <a:solidFill>
                  <a:srgbClr val="C00000"/>
                </a:solidFill>
              </a:rPr>
            </a:br>
            <a:r>
              <a:rPr lang="en-US" b="1" dirty="0" smtClean="0">
                <a:solidFill>
                  <a:srgbClr val="C00000"/>
                </a:solidFill>
              </a:rPr>
              <a:t>Example: </a:t>
            </a:r>
            <a:r>
              <a:rPr lang="en-US" b="1" dirty="0" smtClean="0"/>
              <a:t>Convert the binary number 11010 in to its decimal equivalent.</a:t>
            </a:r>
            <a:endParaRPr lang="en-US" dirty="0"/>
          </a:p>
        </p:txBody>
      </p:sp>
      <p:pic>
        <p:nvPicPr>
          <p:cNvPr id="1024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42910" y="2285992"/>
            <a:ext cx="7929618" cy="38576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4DEF83-8E89-4D94-8D5D-613AED6F19E4}" type="slidenum">
              <a:rPr lang="en-US" smtClean="0"/>
              <a:pPr/>
              <a:t>26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654164"/>
          </a:xfrm>
        </p:spPr>
        <p:txBody>
          <a:bodyPr>
            <a:normAutofit fontScale="90000"/>
          </a:bodyPr>
          <a:lstStyle/>
          <a:p>
            <a:pPr algn="just"/>
            <a:r>
              <a:rPr lang="en-US" b="1" dirty="0" smtClean="0">
                <a:solidFill>
                  <a:srgbClr val="C00000"/>
                </a:solidFill>
              </a:rPr>
              <a:t>Example: </a:t>
            </a:r>
            <a:r>
              <a:rPr lang="en-US" b="1" dirty="0" smtClean="0"/>
              <a:t>Convert the binary number 1010.01 in to its decimal equivalent.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58" y="1928802"/>
            <a:ext cx="8572560" cy="4572032"/>
          </a:xfrm>
        </p:spPr>
        <p:txBody>
          <a:bodyPr>
            <a:normAutofit/>
          </a:bodyPr>
          <a:lstStyle/>
          <a:p>
            <a:pPr fontAlgn="base">
              <a:lnSpc>
                <a:spcPct val="150000"/>
              </a:lnSpc>
              <a:buNone/>
            </a:pPr>
            <a:r>
              <a:rPr lang="en-US" dirty="0" smtClean="0"/>
              <a:t>(1010.01)</a:t>
            </a:r>
            <a:r>
              <a:rPr lang="en-US" baseline="-25000" dirty="0" smtClean="0"/>
              <a:t>2</a:t>
            </a:r>
            <a:endParaRPr lang="en-US" dirty="0" smtClean="0"/>
          </a:p>
          <a:p>
            <a:pPr fontAlgn="base">
              <a:lnSpc>
                <a:spcPct val="150000"/>
              </a:lnSpc>
              <a:buNone/>
            </a:pPr>
            <a:r>
              <a:rPr lang="en-US" dirty="0" smtClean="0"/>
              <a:t>	= 1×2</a:t>
            </a:r>
            <a:r>
              <a:rPr lang="en-US" baseline="30000" dirty="0" smtClean="0"/>
              <a:t>3</a:t>
            </a:r>
            <a:r>
              <a:rPr lang="en-US" dirty="0" smtClean="0"/>
              <a:t> + 0×2</a:t>
            </a:r>
            <a:r>
              <a:rPr lang="en-US" baseline="30000" dirty="0" smtClean="0"/>
              <a:t>2</a:t>
            </a:r>
            <a:r>
              <a:rPr lang="en-US" dirty="0" smtClean="0"/>
              <a:t> + 1×2</a:t>
            </a:r>
            <a:r>
              <a:rPr lang="en-US" baseline="30000" dirty="0" smtClean="0"/>
              <a:t>1 </a:t>
            </a:r>
            <a:r>
              <a:rPr lang="en-US" dirty="0" smtClean="0"/>
              <a:t>+ 0×2</a:t>
            </a:r>
            <a:r>
              <a:rPr lang="en-US" baseline="30000" dirty="0" smtClean="0"/>
              <a:t>0</a:t>
            </a:r>
            <a:r>
              <a:rPr lang="en-US" dirty="0" smtClean="0"/>
              <a:t> + 0×2</a:t>
            </a:r>
            <a:r>
              <a:rPr lang="en-US" baseline="30000" dirty="0" smtClean="0"/>
              <a:t>-1</a:t>
            </a:r>
            <a:r>
              <a:rPr lang="en-US" dirty="0" smtClean="0"/>
              <a:t> + 1×2</a:t>
            </a:r>
            <a:r>
              <a:rPr lang="en-US" baseline="30000" dirty="0" smtClean="0"/>
              <a:t>-2 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= 8 + 0 + 2 + 0 + 0 + 0.25</a:t>
            </a:r>
          </a:p>
          <a:p>
            <a:pPr fontAlgn="base">
              <a:lnSpc>
                <a:spcPct val="150000"/>
              </a:lnSpc>
              <a:buNone/>
            </a:pPr>
            <a:r>
              <a:rPr lang="en-US" dirty="0" smtClean="0"/>
              <a:t>	= 10.25</a:t>
            </a:r>
          </a:p>
          <a:p>
            <a:pPr fontAlgn="base">
              <a:lnSpc>
                <a:spcPct val="150000"/>
              </a:lnSpc>
              <a:buNone/>
            </a:pPr>
            <a:r>
              <a:rPr lang="en-US" dirty="0" smtClean="0"/>
              <a:t>	(1010.01)</a:t>
            </a:r>
            <a:r>
              <a:rPr lang="en-US" baseline="-25000" dirty="0" smtClean="0"/>
              <a:t>2</a:t>
            </a:r>
            <a:r>
              <a:rPr lang="en-US" dirty="0" smtClean="0"/>
              <a:t> = (10.25)</a:t>
            </a:r>
            <a:r>
              <a:rPr lang="en-US" baseline="-25000" dirty="0" smtClean="0"/>
              <a:t>10</a:t>
            </a:r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4DEF83-8E89-4D94-8D5D-613AED6F19E4}" type="slidenum">
              <a:rPr lang="en-US" smtClean="0"/>
              <a:pPr/>
              <a:t>27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939916"/>
          </a:xfrm>
        </p:spPr>
        <p:txBody>
          <a:bodyPr>
            <a:normAutofit fontScale="90000"/>
          </a:bodyPr>
          <a:lstStyle/>
          <a:p>
            <a:r>
              <a:rPr lang="en-US" b="1" u="sng" dirty="0" smtClean="0">
                <a:solidFill>
                  <a:srgbClr val="0070C0"/>
                </a:solidFill>
              </a:rPr>
              <a:t>Octal to Decimal </a:t>
            </a:r>
            <a:r>
              <a:rPr lang="en-IN" b="1" u="sng" dirty="0" smtClean="0">
                <a:solidFill>
                  <a:srgbClr val="0070C0"/>
                </a:solidFill>
              </a:rPr>
              <a:t>Conversion </a:t>
            </a:r>
            <a:r>
              <a:rPr lang="en-US" b="1" dirty="0" smtClean="0">
                <a:solidFill>
                  <a:srgbClr val="C00000"/>
                </a:solidFill>
              </a:rPr>
              <a:t/>
            </a:r>
            <a:br>
              <a:rPr lang="en-US" b="1" dirty="0" smtClean="0">
                <a:solidFill>
                  <a:srgbClr val="C00000"/>
                </a:solidFill>
              </a:rPr>
            </a:br>
            <a:r>
              <a:rPr lang="en-US" b="1" dirty="0" smtClean="0">
                <a:solidFill>
                  <a:srgbClr val="C00000"/>
                </a:solidFill>
              </a:rPr>
              <a:t>Example: </a:t>
            </a:r>
            <a:r>
              <a:rPr lang="en-US" b="1" dirty="0" smtClean="0"/>
              <a:t>Convert the octal number 726 in to its decimal equivalent.</a:t>
            </a:r>
            <a:endParaRPr lang="en-US" dirty="0"/>
          </a:p>
        </p:txBody>
      </p:sp>
      <p:pic>
        <p:nvPicPr>
          <p:cNvPr id="819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85786" y="2428868"/>
            <a:ext cx="7572428" cy="29334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4DEF83-8E89-4D94-8D5D-613AED6F19E4}" type="slidenum">
              <a:rPr lang="en-US" smtClean="0"/>
              <a:pPr/>
              <a:t>28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939916"/>
          </a:xfrm>
        </p:spPr>
        <p:txBody>
          <a:bodyPr>
            <a:normAutofit fontScale="90000"/>
          </a:bodyPr>
          <a:lstStyle/>
          <a:p>
            <a:pPr algn="just"/>
            <a:r>
              <a:rPr lang="en-US" b="1" dirty="0" smtClean="0">
                <a:solidFill>
                  <a:srgbClr val="C00000"/>
                </a:solidFill>
              </a:rPr>
              <a:t>Example: </a:t>
            </a:r>
            <a:r>
              <a:rPr lang="en-US" b="1" dirty="0" smtClean="0"/>
              <a:t>Convert the octal number 12.2 in to its decimal equivalent.</a:t>
            </a:r>
            <a:endParaRPr lang="en-US" b="1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00100" y="2000240"/>
            <a:ext cx="5500726" cy="40804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4DEF83-8E89-4D94-8D5D-613AED6F19E4}" type="slidenum">
              <a:rPr lang="en-US" smtClean="0"/>
              <a:pPr/>
              <a:t>29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85728"/>
            <a:ext cx="8229600" cy="2286016"/>
          </a:xfrm>
        </p:spPr>
        <p:txBody>
          <a:bodyPr>
            <a:normAutofit fontScale="90000"/>
          </a:bodyPr>
          <a:lstStyle/>
          <a:p>
            <a:pPr algn="l"/>
            <a:r>
              <a:rPr lang="en-US" b="1" u="sng" dirty="0" smtClean="0">
                <a:solidFill>
                  <a:srgbClr val="0070C0"/>
                </a:solidFill>
              </a:rPr>
              <a:t>Hexadecimal to Decimal </a:t>
            </a:r>
            <a:r>
              <a:rPr lang="en-IN" b="1" u="sng" dirty="0" smtClean="0">
                <a:solidFill>
                  <a:srgbClr val="0070C0"/>
                </a:solidFill>
              </a:rPr>
              <a:t>Conversion</a:t>
            </a:r>
            <a:r>
              <a:rPr lang="en-US" b="1" dirty="0" smtClean="0">
                <a:solidFill>
                  <a:srgbClr val="0070C0"/>
                </a:solidFill>
              </a:rPr>
              <a:t/>
            </a:r>
            <a:br>
              <a:rPr lang="en-US" b="1" dirty="0" smtClean="0">
                <a:solidFill>
                  <a:srgbClr val="0070C0"/>
                </a:solidFill>
              </a:rPr>
            </a:br>
            <a:r>
              <a:rPr lang="en-US" b="1" dirty="0" smtClean="0">
                <a:solidFill>
                  <a:srgbClr val="C00000"/>
                </a:solidFill>
              </a:rPr>
              <a:t>Example: </a:t>
            </a:r>
            <a:r>
              <a:rPr lang="en-US" sz="4000" b="1" dirty="0" smtClean="0"/>
              <a:t>Convert the hexadecimal number 27FA in to its decimal equivalent.</a:t>
            </a:r>
            <a:endParaRPr lang="en-US" sz="4000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57158" y="2714620"/>
            <a:ext cx="8362950" cy="2847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4DEF83-8E89-4D94-8D5D-613AED6F19E4}" type="slidenum">
              <a:rPr lang="en-US" smtClean="0"/>
              <a:pPr/>
              <a:t>30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85728"/>
            <a:ext cx="8229600" cy="1868478"/>
          </a:xfrm>
        </p:spPr>
        <p:txBody>
          <a:bodyPr>
            <a:normAutofit/>
          </a:bodyPr>
          <a:lstStyle/>
          <a:p>
            <a:pPr algn="l"/>
            <a:r>
              <a:rPr lang="en-US" b="1" dirty="0" smtClean="0">
                <a:solidFill>
                  <a:srgbClr val="C00000"/>
                </a:solidFill>
              </a:rPr>
              <a:t>Example: </a:t>
            </a:r>
            <a:r>
              <a:rPr lang="en-US" b="1" dirty="0" smtClean="0"/>
              <a:t>Convert (A0F9.0EB)</a:t>
            </a:r>
            <a:r>
              <a:rPr lang="en-US" b="1" baseline="-25000" dirty="0" smtClean="0"/>
              <a:t>16</a:t>
            </a:r>
            <a:r>
              <a:rPr lang="en-US" b="1" dirty="0" smtClean="0"/>
              <a:t> to decimal.</a:t>
            </a:r>
            <a:endParaRPr lang="en-US" b="1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19150" y="2357430"/>
            <a:ext cx="7505700" cy="31432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4DEF83-8E89-4D94-8D5D-613AED6F19E4}" type="slidenum">
              <a:rPr lang="en-US" smtClean="0"/>
              <a:pPr/>
              <a:t>31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96908"/>
          </a:xfrm>
        </p:spPr>
        <p:txBody>
          <a:bodyPr/>
          <a:lstStyle/>
          <a:p>
            <a:r>
              <a:rPr lang="en-US" b="1" u="sng" dirty="0" smtClean="0">
                <a:solidFill>
                  <a:srgbClr val="0070C0"/>
                </a:solidFill>
              </a:rPr>
              <a:t>Binary to octal and vice versa</a:t>
            </a:r>
            <a:endParaRPr lang="en-US" b="1" u="sng" dirty="0">
              <a:solidFill>
                <a:srgbClr val="0070C0"/>
              </a:solidFill>
            </a:endParaRPr>
          </a:p>
        </p:txBody>
      </p:sp>
      <p:pic>
        <p:nvPicPr>
          <p:cNvPr id="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42910" y="1357298"/>
            <a:ext cx="8001056" cy="50006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4DEF83-8E89-4D94-8D5D-613AED6F19E4}" type="slidenum">
              <a:rPr lang="en-US" smtClean="0"/>
              <a:pPr/>
              <a:t>32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368412"/>
          </a:xfrm>
        </p:spPr>
        <p:txBody>
          <a:bodyPr>
            <a:normAutofit/>
          </a:bodyPr>
          <a:lstStyle/>
          <a:p>
            <a:pPr algn="just"/>
            <a:r>
              <a:rPr lang="en-US" sz="3600" b="1" dirty="0" smtClean="0">
                <a:solidFill>
                  <a:srgbClr val="C00000"/>
                </a:solidFill>
              </a:rPr>
              <a:t>Example: </a:t>
            </a:r>
            <a:r>
              <a:rPr lang="en-US" sz="3600" b="1" dirty="0" smtClean="0"/>
              <a:t>Convert the binary number 1101010 in to its octal equivalent.</a:t>
            </a:r>
            <a:endParaRPr lang="en-US" sz="36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85720" y="1643050"/>
            <a:ext cx="8643998" cy="47863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4DEF83-8E89-4D94-8D5D-613AED6F19E4}" type="slidenum">
              <a:rPr lang="en-US" smtClean="0"/>
              <a:pPr/>
              <a:t>33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just"/>
            <a:r>
              <a:rPr lang="en-US" b="1" dirty="0" smtClean="0">
                <a:solidFill>
                  <a:srgbClr val="C00000"/>
                </a:solidFill>
              </a:rPr>
              <a:t>Example: </a:t>
            </a:r>
            <a:r>
              <a:rPr lang="en-US" b="1" dirty="0" smtClean="0"/>
              <a:t>Convert the octal number 562 in to its binary equivalent.</a:t>
            </a:r>
            <a:endParaRPr lang="en-US" b="1" dirty="0"/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28596" y="1643050"/>
            <a:ext cx="8143932" cy="47863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4DEF83-8E89-4D94-8D5D-613AED6F19E4}" type="slidenum">
              <a:rPr lang="en-US" smtClean="0"/>
              <a:pPr/>
              <a:t>34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96908"/>
          </a:xfrm>
        </p:spPr>
        <p:txBody>
          <a:bodyPr>
            <a:normAutofit fontScale="90000"/>
          </a:bodyPr>
          <a:lstStyle/>
          <a:p>
            <a:r>
              <a:rPr lang="en-US" b="1" u="sng" dirty="0" smtClean="0">
                <a:solidFill>
                  <a:srgbClr val="0070C0"/>
                </a:solidFill>
              </a:rPr>
              <a:t>Binary to Hexadecimal and vice versa</a:t>
            </a:r>
            <a:endParaRPr lang="en-US" u="sng" dirty="0"/>
          </a:p>
        </p:txBody>
      </p:sp>
      <p:pic>
        <p:nvPicPr>
          <p:cNvPr id="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357290" y="1214422"/>
            <a:ext cx="6715172" cy="51435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4DEF83-8E89-4D94-8D5D-613AED6F19E4}" type="slidenum">
              <a:rPr lang="en-US" smtClean="0"/>
              <a:pPr/>
              <a:t>35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just"/>
            <a:r>
              <a:rPr lang="en-US" sz="3600" b="1" dirty="0" smtClean="0">
                <a:solidFill>
                  <a:srgbClr val="C00000"/>
                </a:solidFill>
              </a:rPr>
              <a:t>Example: </a:t>
            </a:r>
            <a:r>
              <a:rPr lang="en-US" sz="3600" b="1" dirty="0" smtClean="0"/>
              <a:t>Convert the binary number 111101 in to its hexadecimal equivalent.</a:t>
            </a:r>
            <a:endParaRPr lang="en-US" sz="3600" b="1" dirty="0"/>
          </a:p>
        </p:txBody>
      </p:sp>
      <p:pic>
        <p:nvPicPr>
          <p:cNvPr id="307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28596" y="1500174"/>
            <a:ext cx="8429684" cy="51435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4DEF83-8E89-4D94-8D5D-613AED6F19E4}" type="slidenum">
              <a:rPr lang="en-US" smtClean="0"/>
              <a:pPr/>
              <a:t>36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654164"/>
          </a:xfrm>
        </p:spPr>
        <p:txBody>
          <a:bodyPr>
            <a:normAutofit fontScale="90000"/>
          </a:bodyPr>
          <a:lstStyle/>
          <a:p>
            <a:pPr algn="just"/>
            <a:r>
              <a:rPr lang="en-US" b="1" dirty="0" smtClean="0">
                <a:solidFill>
                  <a:srgbClr val="C00000"/>
                </a:solidFill>
              </a:rPr>
              <a:t>Example: </a:t>
            </a:r>
            <a:r>
              <a:rPr lang="en-US" sz="4000" b="1" dirty="0" smtClean="0"/>
              <a:t>Convert the hexadecimal number 2AB in to its binary equivalent.</a:t>
            </a:r>
            <a:endParaRPr lang="en-US" sz="4000" b="1" dirty="0"/>
          </a:p>
        </p:txBody>
      </p:sp>
      <p:pic>
        <p:nvPicPr>
          <p:cNvPr id="4098" name="Picture 2"/>
          <p:cNvPicPr>
            <a:picLocks noGrp="1" noChangeAspect="1" noChangeArrowheads="1"/>
          </p:cNvPicPr>
          <p:nvPr>
            <p:ph sz="half"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85720" y="2214554"/>
            <a:ext cx="4210080" cy="35004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099" name="Picture 3"/>
          <p:cNvPicPr>
            <a:picLocks noGrp="1" noChangeAspect="1" noChangeArrowheads="1"/>
          </p:cNvPicPr>
          <p:nvPr>
            <p:ph sz="half" idx="2"/>
          </p:nvPr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572000" y="2214554"/>
            <a:ext cx="4214842" cy="35004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4DEF83-8E89-4D94-8D5D-613AED6F19E4}" type="slidenum">
              <a:rPr lang="en-US" smtClean="0"/>
              <a:pPr/>
              <a:t>37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 smtClean="0">
                <a:solidFill>
                  <a:srgbClr val="0070C0"/>
                </a:solidFill>
              </a:rPr>
              <a:t>Octal to Hexadecimal Conversion</a:t>
            </a:r>
            <a:endParaRPr lang="en-US" b="1" u="sng" dirty="0">
              <a:solidFill>
                <a:srgbClr val="0070C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4423"/>
            <a:ext cx="8229600" cy="2071702"/>
          </a:xfrm>
        </p:spPr>
        <p:txBody>
          <a:bodyPr>
            <a:normAutofit lnSpcReduction="10000"/>
          </a:bodyPr>
          <a:lstStyle/>
          <a:p>
            <a:r>
              <a:rPr lang="en-US" b="1" dirty="0" smtClean="0">
                <a:solidFill>
                  <a:srgbClr val="002060"/>
                </a:solidFill>
              </a:rPr>
              <a:t>To convert an octal number to hexadecimal, the simplest way is to first convert to binary and then binary to hexadecimal.</a:t>
            </a:r>
          </a:p>
          <a:p>
            <a:pPr>
              <a:buNone/>
            </a:pPr>
            <a:r>
              <a:rPr lang="en-US" dirty="0" smtClean="0">
                <a:solidFill>
                  <a:srgbClr val="FF0000"/>
                </a:solidFill>
              </a:rPr>
              <a:t>Example: </a:t>
            </a:r>
            <a:r>
              <a:rPr lang="en-US" dirty="0" smtClean="0"/>
              <a:t>Convert 756.603</a:t>
            </a:r>
            <a:r>
              <a:rPr lang="en-US" baseline="-25000" dirty="0" smtClean="0"/>
              <a:t>8</a:t>
            </a:r>
            <a:r>
              <a:rPr lang="en-US" dirty="0" smtClean="0"/>
              <a:t> to hexadecimal.</a:t>
            </a:r>
          </a:p>
          <a:p>
            <a:pPr>
              <a:buNone/>
            </a:pPr>
            <a:endParaRPr lang="en-US" dirty="0"/>
          </a:p>
        </p:txBody>
      </p:sp>
      <p:pic>
        <p:nvPicPr>
          <p:cNvPr id="4099" name="Picture 3" descr="C:\Users\admin\Desktop\1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82725" y="3429000"/>
            <a:ext cx="8404117" cy="2500330"/>
          </a:xfrm>
          <a:prstGeom prst="rect">
            <a:avLst/>
          </a:prstGeom>
          <a:noFill/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4DEF83-8E89-4D94-8D5D-613AED6F19E4}" type="slidenum">
              <a:rPr lang="en-US" smtClean="0"/>
              <a:pPr/>
              <a:t>38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u="sng" dirty="0" smtClean="0">
                <a:solidFill>
                  <a:srgbClr val="0070C0"/>
                </a:solidFill>
              </a:rPr>
              <a:t>Hexadecimal to Octal Conversion</a:t>
            </a:r>
            <a:endParaRPr lang="en-US" b="1" u="sng" dirty="0">
              <a:solidFill>
                <a:srgbClr val="0070C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4423"/>
            <a:ext cx="8229600" cy="2071702"/>
          </a:xfrm>
        </p:spPr>
        <p:txBody>
          <a:bodyPr>
            <a:normAutofit lnSpcReduction="10000"/>
          </a:bodyPr>
          <a:lstStyle/>
          <a:p>
            <a:r>
              <a:rPr lang="en-US" b="1" dirty="0" smtClean="0">
                <a:solidFill>
                  <a:srgbClr val="002060"/>
                </a:solidFill>
              </a:rPr>
              <a:t>To convert a hexadecimal number to octal , the simplest way is to first convert to binary and then binary to octal.</a:t>
            </a:r>
          </a:p>
          <a:p>
            <a:pPr>
              <a:buNone/>
            </a:pPr>
            <a:r>
              <a:rPr lang="en-US" dirty="0" smtClean="0">
                <a:solidFill>
                  <a:srgbClr val="FF0000"/>
                </a:solidFill>
              </a:rPr>
              <a:t>Example: </a:t>
            </a:r>
            <a:r>
              <a:rPr lang="en-US" dirty="0" smtClean="0"/>
              <a:t>Convert B9F.AE</a:t>
            </a:r>
            <a:r>
              <a:rPr lang="en-US" baseline="-25000" dirty="0" smtClean="0"/>
              <a:t>16</a:t>
            </a:r>
            <a:r>
              <a:rPr lang="en-US" dirty="0" smtClean="0"/>
              <a:t> to octal.</a:t>
            </a:r>
          </a:p>
          <a:p>
            <a:pPr>
              <a:buNone/>
            </a:pPr>
            <a:endParaRPr lang="en-US" dirty="0"/>
          </a:p>
        </p:txBody>
      </p:sp>
      <p:pic>
        <p:nvPicPr>
          <p:cNvPr id="5122" name="Picture 2" descr="C:\Users\admin\Desktop\Capturesddd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57158" y="3286124"/>
            <a:ext cx="8467784" cy="2857520"/>
          </a:xfrm>
          <a:prstGeom prst="rect">
            <a:avLst/>
          </a:prstGeom>
          <a:noFill/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4DEF83-8E89-4D94-8D5D-613AED6F19E4}" type="slidenum">
              <a:rPr lang="en-US" smtClean="0"/>
              <a:pPr/>
              <a:t>39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FF0000"/>
                </a:solidFill>
              </a:rPr>
              <a:t>MISCELLANEOUS EXAMPLES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just">
              <a:buNone/>
            </a:pPr>
            <a:r>
              <a:rPr lang="en-US" dirty="0" smtClean="0">
                <a:solidFill>
                  <a:srgbClr val="FF0000"/>
                </a:solidFill>
              </a:rPr>
              <a:t>Example: </a:t>
            </a:r>
          </a:p>
          <a:p>
            <a:pPr algn="just">
              <a:buNone/>
            </a:pPr>
            <a:r>
              <a:rPr lang="en-US" dirty="0" smtClean="0">
                <a:solidFill>
                  <a:srgbClr val="0070C0"/>
                </a:solidFill>
              </a:rPr>
              <a:t>Given that 16</a:t>
            </a:r>
            <a:r>
              <a:rPr lang="en-US" baseline="-25000" dirty="0" smtClean="0">
                <a:solidFill>
                  <a:srgbClr val="0070C0"/>
                </a:solidFill>
              </a:rPr>
              <a:t>10</a:t>
            </a:r>
            <a:r>
              <a:rPr lang="en-US" dirty="0" smtClean="0">
                <a:solidFill>
                  <a:srgbClr val="0070C0"/>
                </a:solidFill>
              </a:rPr>
              <a:t> = 100</a:t>
            </a:r>
            <a:r>
              <a:rPr lang="en-US" baseline="-25000" dirty="0" smtClean="0">
                <a:solidFill>
                  <a:srgbClr val="0070C0"/>
                </a:solidFill>
              </a:rPr>
              <a:t>b</a:t>
            </a:r>
            <a:r>
              <a:rPr lang="en-US" dirty="0" smtClean="0">
                <a:solidFill>
                  <a:srgbClr val="0070C0"/>
                </a:solidFill>
              </a:rPr>
              <a:t>, find the value of b.</a:t>
            </a:r>
          </a:p>
          <a:p>
            <a:pPr algn="just">
              <a:buNone/>
            </a:pPr>
            <a:r>
              <a:rPr lang="en-US" i="1" u="sng" dirty="0" smtClean="0">
                <a:solidFill>
                  <a:srgbClr val="002060"/>
                </a:solidFill>
              </a:rPr>
              <a:t>Solution</a:t>
            </a:r>
            <a:endParaRPr lang="en-US" dirty="0" smtClean="0"/>
          </a:p>
          <a:p>
            <a:pPr algn="just">
              <a:buNone/>
            </a:pPr>
            <a:r>
              <a:rPr lang="en-US" dirty="0" smtClean="0"/>
              <a:t>	Given 16</a:t>
            </a:r>
            <a:r>
              <a:rPr lang="en-US" baseline="-25000" dirty="0" smtClean="0"/>
              <a:t>10</a:t>
            </a:r>
            <a:r>
              <a:rPr lang="en-US" dirty="0" smtClean="0"/>
              <a:t> = 100</a:t>
            </a:r>
            <a:r>
              <a:rPr lang="en-US" baseline="-25000" dirty="0" smtClean="0"/>
              <a:t>b</a:t>
            </a:r>
            <a:endParaRPr lang="en-US" dirty="0" smtClean="0"/>
          </a:p>
          <a:p>
            <a:pPr algn="just">
              <a:buNone/>
            </a:pPr>
            <a:r>
              <a:rPr lang="en-US" dirty="0" smtClean="0"/>
              <a:t>	Convert 100</a:t>
            </a:r>
            <a:r>
              <a:rPr lang="en-US" baseline="-25000" dirty="0" smtClean="0"/>
              <a:t>b</a:t>
            </a:r>
            <a:r>
              <a:rPr lang="en-US" dirty="0" smtClean="0"/>
              <a:t> to decimal.</a:t>
            </a:r>
          </a:p>
          <a:p>
            <a:pPr algn="just">
              <a:buNone/>
            </a:pPr>
            <a:r>
              <a:rPr lang="en-US" dirty="0" smtClean="0"/>
              <a:t>	Therefore,	16  =  1 × b</a:t>
            </a:r>
            <a:r>
              <a:rPr lang="en-US" baseline="30000" dirty="0" smtClean="0"/>
              <a:t>2</a:t>
            </a:r>
            <a:r>
              <a:rPr lang="en-US" dirty="0" smtClean="0"/>
              <a:t> +  0 × b</a:t>
            </a:r>
            <a:r>
              <a:rPr lang="en-US" baseline="30000" dirty="0" smtClean="0"/>
              <a:t>1</a:t>
            </a:r>
            <a:r>
              <a:rPr lang="en-US" dirty="0" smtClean="0"/>
              <a:t> + 0 × b</a:t>
            </a:r>
            <a:r>
              <a:rPr lang="en-US" baseline="30000" dirty="0" smtClean="0"/>
              <a:t>0</a:t>
            </a:r>
            <a:endParaRPr lang="en-US" dirty="0" smtClean="0"/>
          </a:p>
          <a:p>
            <a:pPr algn="just">
              <a:buNone/>
            </a:pPr>
            <a:r>
              <a:rPr lang="en-US" dirty="0" smtClean="0"/>
              <a:t>			or 	16 = b</a:t>
            </a:r>
            <a:r>
              <a:rPr lang="en-US" baseline="30000" dirty="0" smtClean="0"/>
              <a:t>2</a:t>
            </a:r>
            <a:endParaRPr lang="en-US" dirty="0" smtClean="0"/>
          </a:p>
          <a:p>
            <a:pPr algn="just">
              <a:buNone/>
            </a:pPr>
            <a:r>
              <a:rPr lang="en-US" dirty="0" smtClean="0"/>
              <a:t>			or 	b = 4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4DEF83-8E89-4D94-8D5D-613AED6F19E4}" type="slidenum">
              <a:rPr lang="en-US" smtClean="0"/>
              <a:pPr/>
              <a:t>40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17589"/>
            <a:ext cx="8229600" cy="5411807"/>
          </a:xfrm>
        </p:spPr>
        <p:txBody>
          <a:bodyPr>
            <a:normAutofit fontScale="92500" lnSpcReduction="20000"/>
          </a:bodyPr>
          <a:lstStyle/>
          <a:p>
            <a:pPr algn="just">
              <a:buNone/>
            </a:pPr>
            <a:r>
              <a:rPr lang="en-US" dirty="0" smtClean="0">
                <a:solidFill>
                  <a:srgbClr val="FF0000"/>
                </a:solidFill>
              </a:rPr>
              <a:t>Example: </a:t>
            </a:r>
            <a:r>
              <a:rPr lang="en-US" dirty="0" smtClean="0">
                <a:solidFill>
                  <a:srgbClr val="0070C0"/>
                </a:solidFill>
              </a:rPr>
              <a:t>What should be the radix of the number used in the following addition?</a:t>
            </a:r>
          </a:p>
          <a:p>
            <a:pPr algn="just">
              <a:buNone/>
            </a:pPr>
            <a:r>
              <a:rPr lang="en-US" dirty="0" smtClean="0">
                <a:solidFill>
                  <a:srgbClr val="0070C0"/>
                </a:solidFill>
              </a:rPr>
              <a:t>				34 + 15 = 50</a:t>
            </a:r>
          </a:p>
          <a:p>
            <a:pPr>
              <a:buNone/>
            </a:pPr>
            <a:r>
              <a:rPr lang="en-US" i="1" u="sng" dirty="0" smtClean="0">
                <a:solidFill>
                  <a:srgbClr val="002060"/>
                </a:solidFill>
              </a:rPr>
              <a:t>Solution</a:t>
            </a:r>
            <a:r>
              <a:rPr lang="en-US" dirty="0" smtClean="0">
                <a:solidFill>
                  <a:srgbClr val="002060"/>
                </a:solidFill>
              </a:rPr>
              <a:t> </a:t>
            </a:r>
          </a:p>
          <a:p>
            <a:pPr>
              <a:buNone/>
            </a:pPr>
            <a:r>
              <a:rPr lang="en-US" dirty="0" smtClean="0"/>
              <a:t>	Given 	34 + 15 = 50</a:t>
            </a:r>
          </a:p>
          <a:p>
            <a:pPr>
              <a:buNone/>
            </a:pPr>
            <a:r>
              <a:rPr lang="en-US" dirty="0" smtClean="0"/>
              <a:t>	or 		(34)</a:t>
            </a:r>
            <a:r>
              <a:rPr lang="en-US" baseline="-25000" dirty="0" smtClean="0"/>
              <a:t>r </a:t>
            </a:r>
            <a:r>
              <a:rPr lang="en-US" dirty="0" smtClean="0"/>
              <a:t>+ (15)</a:t>
            </a:r>
            <a:r>
              <a:rPr lang="en-US" baseline="-25000" dirty="0" smtClean="0"/>
              <a:t>r </a:t>
            </a:r>
            <a:r>
              <a:rPr lang="en-US" dirty="0" smtClean="0"/>
              <a:t>= (50)</a:t>
            </a:r>
            <a:r>
              <a:rPr lang="en-US" baseline="-25000" dirty="0" smtClean="0"/>
              <a:t>r</a:t>
            </a:r>
          </a:p>
          <a:p>
            <a:pPr>
              <a:buNone/>
            </a:pPr>
            <a:r>
              <a:rPr lang="en-US" dirty="0" smtClean="0"/>
              <a:t>	or 		3×r</a:t>
            </a:r>
            <a:r>
              <a:rPr lang="en-US" baseline="30000" dirty="0" smtClean="0"/>
              <a:t>1 </a:t>
            </a:r>
            <a:r>
              <a:rPr lang="en-US" dirty="0" smtClean="0"/>
              <a:t>+ 4×r</a:t>
            </a:r>
            <a:r>
              <a:rPr lang="en-US" baseline="30000" dirty="0" smtClean="0"/>
              <a:t>0</a:t>
            </a:r>
            <a:r>
              <a:rPr lang="en-US" dirty="0" smtClean="0"/>
              <a:t> + 1×r</a:t>
            </a:r>
            <a:r>
              <a:rPr lang="en-US" baseline="30000" dirty="0" smtClean="0"/>
              <a:t>1</a:t>
            </a:r>
            <a:r>
              <a:rPr lang="en-US" dirty="0" smtClean="0"/>
              <a:t> + 5×r</a:t>
            </a:r>
            <a:r>
              <a:rPr lang="en-US" baseline="30000" dirty="0" smtClean="0"/>
              <a:t>0</a:t>
            </a:r>
            <a:r>
              <a:rPr lang="en-US" dirty="0" smtClean="0"/>
              <a:t> = 5×r</a:t>
            </a:r>
            <a:r>
              <a:rPr lang="en-US" baseline="30000" dirty="0" smtClean="0"/>
              <a:t>1</a:t>
            </a:r>
            <a:r>
              <a:rPr lang="en-US" dirty="0" smtClean="0"/>
              <a:t> + 0×r</a:t>
            </a:r>
            <a:r>
              <a:rPr lang="en-US" baseline="30000" dirty="0" smtClean="0"/>
              <a:t>0</a:t>
            </a:r>
            <a:endParaRPr lang="en-US" dirty="0" smtClean="0"/>
          </a:p>
          <a:p>
            <a:pPr>
              <a:buNone/>
            </a:pPr>
            <a:r>
              <a:rPr lang="en-US" dirty="0" smtClean="0"/>
              <a:t>	or 		3r + 4 + 1r + 5 = 5r + 0</a:t>
            </a:r>
          </a:p>
          <a:p>
            <a:pPr>
              <a:buNone/>
            </a:pPr>
            <a:r>
              <a:rPr lang="en-US" dirty="0" smtClean="0"/>
              <a:t>	or 		4r + 9 = 5r</a:t>
            </a:r>
          </a:p>
          <a:p>
            <a:pPr>
              <a:buNone/>
            </a:pPr>
            <a:r>
              <a:rPr lang="en-US" dirty="0" smtClean="0"/>
              <a:t>	or 		5r – 4r = 9</a:t>
            </a:r>
          </a:p>
          <a:p>
            <a:pPr>
              <a:buNone/>
            </a:pPr>
            <a:r>
              <a:rPr lang="en-US" dirty="0" smtClean="0"/>
              <a:t>	or 		r = 9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4DEF83-8E89-4D94-8D5D-613AED6F19E4}" type="slidenum">
              <a:rPr lang="en-US" smtClean="0"/>
              <a:pPr/>
              <a:t>41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500042"/>
            <a:ext cx="8229600" cy="5786478"/>
          </a:xfrm>
        </p:spPr>
        <p:txBody>
          <a:bodyPr>
            <a:normAutofit/>
          </a:bodyPr>
          <a:lstStyle/>
          <a:p>
            <a:pPr algn="just">
              <a:buNone/>
            </a:pPr>
            <a:r>
              <a:rPr lang="en-US" dirty="0" smtClean="0">
                <a:solidFill>
                  <a:srgbClr val="FF0000"/>
                </a:solidFill>
              </a:rPr>
              <a:t>Example: </a:t>
            </a:r>
            <a:r>
              <a:rPr lang="en-US" dirty="0" smtClean="0">
                <a:solidFill>
                  <a:srgbClr val="0070C0"/>
                </a:solidFill>
              </a:rPr>
              <a:t>Determine the possible base in the following arithmetic operation.</a:t>
            </a:r>
          </a:p>
          <a:p>
            <a:pPr algn="just">
              <a:buNone/>
            </a:pPr>
            <a:endParaRPr lang="en-US" dirty="0" smtClean="0"/>
          </a:p>
          <a:p>
            <a:pPr>
              <a:buNone/>
            </a:pPr>
            <a:r>
              <a:rPr lang="en-US" i="1" u="sng" dirty="0" smtClean="0">
                <a:solidFill>
                  <a:srgbClr val="002060"/>
                </a:solidFill>
              </a:rPr>
              <a:t>Solution </a:t>
            </a:r>
            <a:r>
              <a:rPr lang="en-US" i="1" dirty="0" smtClean="0"/>
              <a:t/>
            </a:r>
            <a:br>
              <a:rPr lang="en-US" i="1" dirty="0" smtClean="0"/>
            </a:br>
            <a:endParaRPr lang="en-US" dirty="0" smtClean="0"/>
          </a:p>
          <a:p>
            <a:pPr>
              <a:buNone/>
            </a:pPr>
            <a:endParaRPr lang="en-US" dirty="0"/>
          </a:p>
        </p:txBody>
      </p:sp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028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1032" name="Picture 8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929058" y="1571612"/>
            <a:ext cx="1285884" cy="8572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428860" y="2643182"/>
            <a:ext cx="4357718" cy="37278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4DEF83-8E89-4D94-8D5D-613AED6F19E4}" type="slidenum">
              <a:rPr lang="en-US" smtClean="0"/>
              <a:pPr/>
              <a:t>42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0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allAtOnce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841</TotalTime>
  <Words>883</Words>
  <Application>Microsoft Office PowerPoint</Application>
  <PresentationFormat>On-screen Show (4:3)</PresentationFormat>
  <Paragraphs>169</Paragraphs>
  <Slides>42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43" baseType="lpstr">
      <vt:lpstr>Office Theme</vt:lpstr>
      <vt:lpstr>DIGITAL ELECTRONICS  III Semester CSE, CSE (AIML) &amp; CSE (DS)</vt:lpstr>
      <vt:lpstr>Syllabus</vt:lpstr>
      <vt:lpstr>Slide 3</vt:lpstr>
      <vt:lpstr>Books</vt:lpstr>
      <vt:lpstr>What is Digital Electronics?</vt:lpstr>
      <vt:lpstr>Electronics circuits and systems are of two kinds -   analog and digital.</vt:lpstr>
      <vt:lpstr>Slide 7</vt:lpstr>
      <vt:lpstr>Slide 8</vt:lpstr>
      <vt:lpstr>Advantages of Digital Systems </vt:lpstr>
      <vt:lpstr>UNIT-1 Chapter-1 Number Systems and Codes</vt:lpstr>
      <vt:lpstr>What is number System?</vt:lpstr>
      <vt:lpstr>What is the need of  Number System?</vt:lpstr>
      <vt:lpstr>Types of Number System</vt:lpstr>
      <vt:lpstr>1. Binary Number System</vt:lpstr>
      <vt:lpstr>Slide 15</vt:lpstr>
      <vt:lpstr>Examples</vt:lpstr>
      <vt:lpstr>2. Decimal Number System</vt:lpstr>
      <vt:lpstr>3. Octal Number System</vt:lpstr>
      <vt:lpstr>4. Hexadecimal Number System</vt:lpstr>
      <vt:lpstr>Decimal to Binary Conversion Example: Convert the decimal number 43 in to its binary equivalent.</vt:lpstr>
      <vt:lpstr>Example: Convert the decimal number 10.25 in to its binary equivalent.</vt:lpstr>
      <vt:lpstr>Decimal to Octal Conversion  Example: Convert the decimal number 473 in to its octal equivalent.</vt:lpstr>
      <vt:lpstr>Example: Convert (0.513)10 to octal.</vt:lpstr>
      <vt:lpstr> Decimal to Hexadecimal Conversion   Example: Convert the decimal number 423 in to its hexadecimal equivalent . </vt:lpstr>
      <vt:lpstr>  Example: Convert the (2598.675)10 to hexadecimal  </vt:lpstr>
      <vt:lpstr>Binary to Decimal Conversion  Example: Convert the binary number 11010 in to its decimal equivalent.</vt:lpstr>
      <vt:lpstr>Example: Convert the binary number 1010.01 in to its decimal equivalent.</vt:lpstr>
      <vt:lpstr>Octal to Decimal Conversion  Example: Convert the octal number 726 in to its decimal equivalent.</vt:lpstr>
      <vt:lpstr>Example: Convert the octal number 12.2 in to its decimal equivalent.</vt:lpstr>
      <vt:lpstr>Hexadecimal to Decimal Conversion Example: Convert the hexadecimal number 27FA in to its decimal equivalent.</vt:lpstr>
      <vt:lpstr>Example: Convert (A0F9.0EB)16 to decimal.</vt:lpstr>
      <vt:lpstr>Binary to octal and vice versa</vt:lpstr>
      <vt:lpstr>Example: Convert the binary number 1101010 in to its octal equivalent.</vt:lpstr>
      <vt:lpstr>Example: Convert the octal number 562 in to its binary equivalent.</vt:lpstr>
      <vt:lpstr>Binary to Hexadecimal and vice versa</vt:lpstr>
      <vt:lpstr>Example: Convert the binary number 111101 in to its hexadecimal equivalent.</vt:lpstr>
      <vt:lpstr>Example: Convert the hexadecimal number 2AB in to its binary equivalent.</vt:lpstr>
      <vt:lpstr>Octal to Hexadecimal Conversion</vt:lpstr>
      <vt:lpstr>Hexadecimal to Octal Conversion</vt:lpstr>
      <vt:lpstr>MISCELLANEOUS EXAMPLES</vt:lpstr>
      <vt:lpstr>Slide 41</vt:lpstr>
      <vt:lpstr>Slide 42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AMI PARIDA</dc:creator>
  <cp:lastModifiedBy>tcstcs</cp:lastModifiedBy>
  <cp:revision>108</cp:revision>
  <dcterms:created xsi:type="dcterms:W3CDTF">2020-08-13T13:47:54Z</dcterms:created>
  <dcterms:modified xsi:type="dcterms:W3CDTF">2023-07-25T18:48:34Z</dcterms:modified>
</cp:coreProperties>
</file>