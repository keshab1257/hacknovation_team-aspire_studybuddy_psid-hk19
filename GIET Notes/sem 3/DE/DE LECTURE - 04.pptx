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301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6" r:id="rId14"/>
    <p:sldId id="257" r:id="rId15"/>
    <p:sldId id="279" r:id="rId16"/>
    <p:sldId id="282" r:id="rId17"/>
    <p:sldId id="297" r:id="rId18"/>
    <p:sldId id="298" r:id="rId19"/>
    <p:sldId id="283" r:id="rId20"/>
    <p:sldId id="285" r:id="rId21"/>
    <p:sldId id="284" r:id="rId22"/>
    <p:sldId id="286" r:id="rId23"/>
    <p:sldId id="287" r:id="rId24"/>
    <p:sldId id="290" r:id="rId25"/>
    <p:sldId id="289" r:id="rId26"/>
    <p:sldId id="292" r:id="rId27"/>
    <p:sldId id="291" r:id="rId28"/>
    <p:sldId id="296" r:id="rId29"/>
    <p:sldId id="293" r:id="rId30"/>
    <p:sldId id="294" r:id="rId31"/>
    <p:sldId id="295" r:id="rId32"/>
    <p:sldId id="299" r:id="rId33"/>
    <p:sldId id="300" r:id="rId34"/>
    <p:sldId id="278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 autoAdjust="0"/>
    <p:restoredTop sz="94624" autoAdjust="0"/>
  </p:normalViewPr>
  <p:slideViewPr>
    <p:cSldViewPr>
      <p:cViewPr>
        <p:scale>
          <a:sx n="80" d="100"/>
          <a:sy n="80" d="100"/>
        </p:scale>
        <p:origin x="-1272" y="-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E7524C-E09E-4AC1-9E61-A47CF4801FE8}" type="datetimeFigureOut">
              <a:rPr lang="en-US" smtClean="0"/>
              <a:pPr/>
              <a:t>7/24/2023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4B1673-ED88-4294-B706-9B3FE57C100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CA7A0-C39C-4F1F-B35D-8DF215320AE8}" type="datetime1">
              <a:rPr lang="en-US" smtClean="0"/>
              <a:pPr/>
              <a:t>7/24/2023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09A61-72DB-4D81-A6FA-6F2AEF2074F7}" type="datetime1">
              <a:rPr lang="en-US" smtClean="0"/>
              <a:pPr/>
              <a:t>7/24/2023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2C49C-593A-4548-9CDF-4EEB902DCA64}" type="datetime1">
              <a:rPr lang="en-US" smtClean="0"/>
              <a:pPr/>
              <a:t>7/24/2023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21960-96B8-47EF-873E-77F9BE271312}" type="datetime1">
              <a:rPr lang="en-US" smtClean="0"/>
              <a:pPr/>
              <a:t>7/24/2023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67880-23DC-4B15-87C2-9A6226DF9E5A}" type="datetime1">
              <a:rPr lang="en-US" smtClean="0"/>
              <a:pPr/>
              <a:t>7/24/2023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16BE3-744A-4253-897A-61C9F4D41DB9}" type="datetime1">
              <a:rPr lang="en-US" smtClean="0"/>
              <a:pPr/>
              <a:t>7/24/2023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B22-F604-491B-AD45-93EA3BBD6950}" type="datetime1">
              <a:rPr lang="en-US" smtClean="0"/>
              <a:pPr/>
              <a:t>7/24/2023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7E746-64EC-4A5F-9E25-7E6BD2A8F27B}" type="datetime1">
              <a:rPr lang="en-US" smtClean="0"/>
              <a:pPr/>
              <a:t>7/24/2023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BB808-3015-433D-BDF2-DDF0556FB0D9}" type="datetime1">
              <a:rPr lang="en-US" smtClean="0"/>
              <a:pPr/>
              <a:t>7/24/2023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03A2C-D5BE-4EA8-B0C0-D5270AD8A7B8}" type="datetime1">
              <a:rPr lang="en-US" smtClean="0"/>
              <a:pPr/>
              <a:t>7/24/2023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1001A-0DC2-438A-B684-28C22B25F69E}" type="datetime1">
              <a:rPr lang="en-US" smtClean="0"/>
              <a:pPr/>
              <a:t>7/24/2023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554CEF-F892-43F5-883F-3F6C9CDDA0F0}" type="datetime1">
              <a:rPr lang="en-US" smtClean="0"/>
              <a:pPr/>
              <a:t>7/24/2023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F5C19-442C-4C4D-A74E-4357F7891BF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720" y="642918"/>
            <a:ext cx="8572560" cy="1420210"/>
          </a:xfrm>
        </p:spPr>
        <p:txBody>
          <a:bodyPr>
            <a:normAutofit fontScale="90000"/>
          </a:bodyPr>
          <a:lstStyle/>
          <a:p>
            <a:r>
              <a:rPr lang="en-US" sz="6000" b="1" dirty="0" smtClean="0">
                <a:solidFill>
                  <a:srgbClr val="FF0000"/>
                </a:solidFill>
                <a:latin typeface="Baskerville Old Face" pitchFamily="18" charset="0"/>
              </a:rPr>
              <a:t>DIGITAL ELECTRONICS</a:t>
            </a:r>
            <a:r>
              <a:rPr lang="en-US" sz="6600" b="1" dirty="0" smtClean="0">
                <a:solidFill>
                  <a:srgbClr val="00B050"/>
                </a:solidFill>
                <a:latin typeface="Baskerville Old Face" pitchFamily="18" charset="0"/>
              </a:rPr>
              <a:t/>
            </a:r>
            <a:br>
              <a:rPr lang="en-US" sz="6600" b="1" dirty="0" smtClean="0">
                <a:solidFill>
                  <a:srgbClr val="00B050"/>
                </a:solidFill>
                <a:latin typeface="Baskerville Old Face" pitchFamily="18" charset="0"/>
              </a:rPr>
            </a:br>
            <a:r>
              <a:rPr lang="en-US" sz="3600" b="1" dirty="0" smtClean="0">
                <a:solidFill>
                  <a:srgbClr val="00B050"/>
                </a:solidFill>
                <a:latin typeface="Baskerville Old Face" pitchFamily="18" charset="0"/>
              </a:rPr>
              <a:t>III Semester CSE, CSE (AIML) &amp; CSE (DS)</a:t>
            </a:r>
            <a:endParaRPr lang="en-US" dirty="0">
              <a:solidFill>
                <a:srgbClr val="00B050"/>
              </a:solidFill>
              <a:latin typeface="Baskerville Old Face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034" y="4214818"/>
            <a:ext cx="8358246" cy="185738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DEPARTMENT OF ELECTRONICS AND COMMUNICATION ENGINEERING</a:t>
            </a:r>
            <a:endParaRPr lang="en-US" sz="1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SCHOOL OF ENGINEERING &amp; TECHNOLOGY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GIET UNIVERSITY, GUNUPUR, ODISHA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868" y="2071678"/>
            <a:ext cx="1964545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Subtitle 2"/>
          <p:cNvSpPr txBox="1">
            <a:spLocks/>
          </p:cNvSpPr>
          <p:nvPr/>
        </p:nvSpPr>
        <p:spPr>
          <a:xfrm>
            <a:off x="428596" y="3643314"/>
            <a:ext cx="8358246" cy="642942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/>
          <a:p>
            <a:pPr lvl="0" algn="ctr">
              <a:lnSpc>
                <a:spcPct val="150000"/>
              </a:lnSpc>
              <a:spcBef>
                <a:spcPct val="20000"/>
              </a:spcBef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Ajit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Kumar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Patro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00174"/>
            <a:ext cx="7772400" cy="3786215"/>
          </a:xfrm>
        </p:spPr>
        <p:txBody>
          <a:bodyPr>
            <a:noAutofit/>
          </a:bodyPr>
          <a:lstStyle/>
          <a:p>
            <a:r>
              <a:rPr lang="en-US" sz="6600" b="1" dirty="0" smtClean="0">
                <a:solidFill>
                  <a:srgbClr val="00B050"/>
                </a:solidFill>
              </a:rPr>
              <a:t>LOGIC LEVELS AND PULSE WAVEFORMS</a:t>
            </a:r>
            <a:br>
              <a:rPr lang="en-US" sz="6600" b="1" dirty="0" smtClean="0">
                <a:solidFill>
                  <a:srgbClr val="00B050"/>
                </a:solidFill>
              </a:rPr>
            </a:br>
            <a:r>
              <a:rPr lang="en-US" sz="6600" b="1" dirty="0" smtClean="0">
                <a:solidFill>
                  <a:srgbClr val="00B050"/>
                </a:solidFill>
              </a:rPr>
              <a:t>LOGIC GATES</a:t>
            </a:r>
            <a:endParaRPr lang="en-US" sz="6600" b="1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Logic Levels and Pulse Waveforms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Digital systems use the binary number system. Therefore, two-state devices are used to represent the two </a:t>
            </a:r>
            <a:r>
              <a:rPr lang="en-US" smtClean="0"/>
              <a:t>binary bits </a:t>
            </a:r>
            <a:r>
              <a:rPr lang="en-US" dirty="0" smtClean="0"/>
              <a:t>1 and 0 by two different voltage levels, called </a:t>
            </a:r>
            <a:r>
              <a:rPr lang="en-US" dirty="0" smtClean="0">
                <a:solidFill>
                  <a:srgbClr val="C00000"/>
                </a:solidFill>
              </a:rPr>
              <a:t>HIGH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LOW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If the HIGH voltage level is used to represent 1 and the LOW voltage level to represent 0, the system is called the </a:t>
            </a:r>
            <a:r>
              <a:rPr lang="en-US" i="1" dirty="0" smtClean="0">
                <a:solidFill>
                  <a:srgbClr val="C00000"/>
                </a:solidFill>
              </a:rPr>
              <a:t>positive logic system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If the HIGH voltage level is used to represent 0 and the LOW voltage level to represent 1, the system is called the </a:t>
            </a:r>
            <a:r>
              <a:rPr lang="en-US" i="1" dirty="0" smtClean="0">
                <a:solidFill>
                  <a:srgbClr val="C00000"/>
                </a:solidFill>
              </a:rPr>
              <a:t>negative logic system</a:t>
            </a:r>
            <a:r>
              <a:rPr lang="en-US" dirty="0" smtClean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Normally, the binary 0 and 1 are represented by the logic voltage levels 0 V and + 5 V.</a:t>
            </a:r>
          </a:p>
          <a:p>
            <a:pPr algn="just"/>
            <a:r>
              <a:rPr lang="en-US" dirty="0" smtClean="0"/>
              <a:t>In a </a:t>
            </a:r>
            <a:r>
              <a:rPr lang="en-US" dirty="0" smtClean="0">
                <a:solidFill>
                  <a:srgbClr val="C00000"/>
                </a:solidFill>
              </a:rPr>
              <a:t>positive logic system</a:t>
            </a:r>
            <a:r>
              <a:rPr lang="en-US" dirty="0" smtClean="0"/>
              <a:t>, 1 is represented by + 5 V (HIGH) and 0 is represented by 0 V (LOW).</a:t>
            </a:r>
          </a:p>
          <a:p>
            <a:pPr algn="just"/>
            <a:r>
              <a:rPr lang="en-US" dirty="0" smtClean="0"/>
              <a:t>In a </a:t>
            </a:r>
            <a:r>
              <a:rPr lang="en-US" dirty="0" smtClean="0">
                <a:solidFill>
                  <a:srgbClr val="C00000"/>
                </a:solidFill>
              </a:rPr>
              <a:t>negative logic system</a:t>
            </a:r>
            <a:r>
              <a:rPr lang="en-US" dirty="0" smtClean="0"/>
              <a:t>, 0 is represented by + 5 V (HIGH) and 1 is represented by 0 V (LOW).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 smtClean="0"/>
              <a:t>In reality, because of circuit variations, the 0 and 1 would be represented by voltage ranges instead of particular voltage levels.</a:t>
            </a:r>
          </a:p>
          <a:p>
            <a:pPr algn="just"/>
            <a:r>
              <a:rPr lang="en-US" dirty="0" smtClean="0"/>
              <a:t>Usually, any voltage between 0 V and 0.8 V represents the </a:t>
            </a:r>
            <a:r>
              <a:rPr lang="en-US" dirty="0" smtClean="0">
                <a:solidFill>
                  <a:srgbClr val="C00000"/>
                </a:solidFill>
              </a:rPr>
              <a:t>logic 0</a:t>
            </a:r>
            <a:r>
              <a:rPr lang="en-US" dirty="0" smtClean="0"/>
              <a:t> and any voltage between   2  V and 5 V represents the </a:t>
            </a:r>
            <a:r>
              <a:rPr lang="en-US" dirty="0" smtClean="0">
                <a:solidFill>
                  <a:srgbClr val="C00000"/>
                </a:solidFill>
              </a:rPr>
              <a:t>logic 1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The range between 0.8 V and 2 V is called the </a:t>
            </a:r>
            <a:r>
              <a:rPr lang="en-US" i="1" dirty="0" smtClean="0">
                <a:solidFill>
                  <a:srgbClr val="C00000"/>
                </a:solidFill>
              </a:rPr>
              <a:t>indeterminate range</a:t>
            </a:r>
            <a:r>
              <a:rPr lang="en-US" dirty="0" smtClean="0"/>
              <a:t>. If the signal falls between 0.8 V and 2 V, the response is not predictable.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A pulse may be a positive pulse or a negative pulse. </a:t>
            </a:r>
          </a:p>
          <a:p>
            <a:pPr algn="just"/>
            <a:r>
              <a:rPr lang="en-US" dirty="0" smtClean="0"/>
              <a:t>A single </a:t>
            </a:r>
            <a:r>
              <a:rPr lang="en-US" dirty="0" smtClean="0">
                <a:solidFill>
                  <a:srgbClr val="C00000"/>
                </a:solidFill>
              </a:rPr>
              <a:t>positive pulse</a:t>
            </a:r>
            <a:r>
              <a:rPr lang="en-US" dirty="0" smtClean="0"/>
              <a:t> is generated when a normally LOW voltage goes to its HIGH level and then returns to its normal LOW level.</a:t>
            </a:r>
          </a:p>
          <a:p>
            <a:pPr algn="just"/>
            <a:r>
              <a:rPr lang="en-US" dirty="0" smtClean="0"/>
              <a:t>A single </a:t>
            </a:r>
            <a:r>
              <a:rPr lang="en-US" dirty="0" smtClean="0">
                <a:solidFill>
                  <a:srgbClr val="C00000"/>
                </a:solidFill>
              </a:rPr>
              <a:t>negative pulse</a:t>
            </a:r>
            <a:r>
              <a:rPr lang="en-US" dirty="0" smtClean="0"/>
              <a:t> is generated when a normally HIGH voltage goes to its LOW level and then returns to its normal HIGH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4" y="1857364"/>
            <a:ext cx="8358246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42910" y="1500175"/>
            <a:ext cx="8001056" cy="4929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rise time</a:t>
            </a:r>
            <a:r>
              <a:rPr lang="en-US" dirty="0" smtClean="0"/>
              <a:t> is defined as the time taken by the pulse to rise from 10% to 90% of the pulse amplitude.</a:t>
            </a:r>
          </a:p>
          <a:p>
            <a:pPr algn="just"/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fall time</a:t>
            </a:r>
            <a:r>
              <a:rPr lang="en-US" dirty="0" smtClean="0"/>
              <a:t> is defined as the time taken by the pulse to fall from 90% to 10% of the pulse amplitude.</a:t>
            </a:r>
          </a:p>
          <a:p>
            <a:pPr algn="just"/>
            <a:r>
              <a:rPr lang="en-US" dirty="0" smtClean="0"/>
              <a:t>The duration of the pulse is usually indicated by </a:t>
            </a:r>
            <a:r>
              <a:rPr lang="en-US" dirty="0" smtClean="0">
                <a:solidFill>
                  <a:srgbClr val="C00000"/>
                </a:solidFill>
              </a:rPr>
              <a:t>pulse width</a:t>
            </a:r>
            <a:r>
              <a:rPr lang="en-US" dirty="0" smtClean="0"/>
              <a:t> </a:t>
            </a:r>
            <a:r>
              <a:rPr lang="en-US" i="1" dirty="0" err="1" smtClean="0"/>
              <a:t>t</a:t>
            </a:r>
            <a:r>
              <a:rPr lang="en-US" i="1" baseline="-25000" dirty="0" err="1" smtClean="0"/>
              <a:t>w</a:t>
            </a:r>
            <a:r>
              <a:rPr lang="en-US" dirty="0" smtClean="0"/>
              <a:t> which is defined as the time between the 50% points on the rising and falling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 smtClean="0"/>
              <a:t>In digital systems the waveforms are composed of a series of pulses and can be classified as periodic waveforms and non-periodic waveforms.</a:t>
            </a:r>
          </a:p>
          <a:p>
            <a:pPr algn="just"/>
            <a:r>
              <a:rPr lang="en-US" dirty="0" smtClean="0"/>
              <a:t>A </a:t>
            </a:r>
            <a:r>
              <a:rPr lang="en-US" i="1" dirty="0" smtClean="0">
                <a:solidFill>
                  <a:srgbClr val="C00000"/>
                </a:solidFill>
              </a:rPr>
              <a:t>periodic waveform</a:t>
            </a:r>
            <a:r>
              <a:rPr lang="en-US" dirty="0" smtClean="0"/>
              <a:t> is one which repeats itself at regular intervals of time called the period, T.</a:t>
            </a:r>
          </a:p>
          <a:p>
            <a:pPr algn="just"/>
            <a:r>
              <a:rPr lang="en-US" dirty="0" smtClean="0"/>
              <a:t>A </a:t>
            </a:r>
            <a:r>
              <a:rPr lang="en-US" i="1" dirty="0" smtClean="0">
                <a:solidFill>
                  <a:srgbClr val="C00000"/>
                </a:solidFill>
              </a:rPr>
              <a:t>non-periodic waveform</a:t>
            </a:r>
            <a:r>
              <a:rPr lang="en-US" dirty="0" smtClean="0"/>
              <a:t>, of course, does not repeat itself at regular intervals and may be composed of pulses of different widths and/or differing time intervals between the pulses.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The reciprocal of the time period is called the </a:t>
            </a:r>
            <a:r>
              <a:rPr lang="en-US" i="1" dirty="0" smtClean="0">
                <a:solidFill>
                  <a:srgbClr val="C00000"/>
                </a:solidFill>
              </a:rPr>
              <a:t>frequency</a:t>
            </a:r>
            <a:r>
              <a:rPr lang="en-US" dirty="0" smtClean="0"/>
              <a:t> of the periodic waveform.</a:t>
            </a:r>
          </a:p>
          <a:p>
            <a:endParaRPr lang="en-US" dirty="0" smtClean="0"/>
          </a:p>
          <a:p>
            <a:endParaRPr lang="en-US" sz="1200" dirty="0" smtClean="0">
              <a:solidFill>
                <a:srgbClr val="C00000"/>
              </a:solidFill>
            </a:endParaRPr>
          </a:p>
          <a:p>
            <a:pPr algn="just"/>
            <a:r>
              <a:rPr lang="en-US" dirty="0" smtClean="0">
                <a:solidFill>
                  <a:srgbClr val="C00000"/>
                </a:solidFill>
              </a:rPr>
              <a:t>Duty cycle</a:t>
            </a:r>
            <a:r>
              <a:rPr lang="en-US" dirty="0" smtClean="0"/>
              <a:t> of a periodic pulse waveform is the ratio of the ON time (pulse width </a:t>
            </a:r>
            <a:r>
              <a:rPr lang="en-US" i="1" dirty="0" err="1" smtClean="0"/>
              <a:t>t</a:t>
            </a:r>
            <a:r>
              <a:rPr lang="en-US" i="1" baseline="-25000" dirty="0" err="1" smtClean="0"/>
              <a:t>w</a:t>
            </a:r>
            <a:r>
              <a:rPr lang="en-US" dirty="0" smtClean="0"/>
              <a:t>) to the period of the pulse waveform.</a:t>
            </a:r>
          </a:p>
          <a:p>
            <a:endParaRPr lang="en-US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071934" y="2714620"/>
            <a:ext cx="857256" cy="764580"/>
          </a:xfrm>
          <a:prstGeom prst="rect">
            <a:avLst/>
          </a:prstGeom>
          <a:noFill/>
        </p:spPr>
      </p:pic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3143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41" name="Picture 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57488" y="5143512"/>
            <a:ext cx="3638873" cy="714380"/>
          </a:xfrm>
          <a:prstGeom prst="rect">
            <a:avLst/>
          </a:prstGeom>
          <a:noFill/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68412"/>
          </a:xfrm>
        </p:spPr>
        <p:txBody>
          <a:bodyPr>
            <a:noAutofit/>
          </a:bodyPr>
          <a:lstStyle/>
          <a:p>
            <a:pPr algn="just"/>
            <a:r>
              <a:rPr lang="en-US" sz="3200" b="1" dirty="0" smtClean="0">
                <a:solidFill>
                  <a:srgbClr val="C00000"/>
                </a:solidFill>
              </a:rPr>
              <a:t>Example: </a:t>
            </a:r>
            <a:r>
              <a:rPr lang="en-US" sz="3200" b="1" dirty="0" smtClean="0">
                <a:solidFill>
                  <a:srgbClr val="002060"/>
                </a:solidFill>
              </a:rPr>
              <a:t>A periodic digital waveform has a pulse width of 25 </a:t>
            </a:r>
            <a:r>
              <a:rPr lang="en-US" sz="3200" b="1" dirty="0" err="1" smtClean="0">
                <a:solidFill>
                  <a:srgbClr val="002060"/>
                </a:solidFill>
              </a:rPr>
              <a:t>μs</a:t>
            </a:r>
            <a:r>
              <a:rPr lang="en-US" sz="3200" b="1" dirty="0" smtClean="0">
                <a:solidFill>
                  <a:srgbClr val="002060"/>
                </a:solidFill>
              </a:rPr>
              <a:t> and a period of 150 </a:t>
            </a:r>
            <a:r>
              <a:rPr lang="en-US" sz="3200" b="1" dirty="0" err="1" smtClean="0">
                <a:solidFill>
                  <a:srgbClr val="002060"/>
                </a:solidFill>
              </a:rPr>
              <a:t>μs</a:t>
            </a:r>
            <a:r>
              <a:rPr lang="en-US" sz="3200" b="1" dirty="0" smtClean="0">
                <a:solidFill>
                  <a:srgbClr val="002060"/>
                </a:solidFill>
              </a:rPr>
              <a:t>. Determine the frequency and the duty cycle.</a:t>
            </a:r>
            <a:endParaRPr lang="en-US" sz="32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43116"/>
            <a:ext cx="8229600" cy="3983047"/>
          </a:xfrm>
        </p:spPr>
        <p:txBody>
          <a:bodyPr/>
          <a:lstStyle/>
          <a:p>
            <a:pPr>
              <a:buNone/>
            </a:pPr>
            <a:r>
              <a:rPr lang="en-US" i="1" dirty="0" smtClean="0"/>
              <a:t>	Solution: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Pulse width </a:t>
            </a:r>
            <a:r>
              <a:rPr lang="en-US" i="1" dirty="0" err="1" smtClean="0"/>
              <a:t>t</a:t>
            </a:r>
            <a:r>
              <a:rPr lang="en-US" i="1" baseline="-25000" dirty="0" err="1" smtClean="0"/>
              <a:t>w</a:t>
            </a:r>
            <a:r>
              <a:rPr lang="en-US" dirty="0" smtClean="0"/>
              <a:t> = 25 </a:t>
            </a:r>
            <a:r>
              <a:rPr lang="en-US" dirty="0" err="1" smtClean="0"/>
              <a:t>μs</a:t>
            </a:r>
            <a:r>
              <a:rPr lang="en-US" dirty="0" smtClean="0"/>
              <a:t> and period T = 150 </a:t>
            </a:r>
            <a:r>
              <a:rPr lang="en-US" dirty="0" err="1" smtClean="0"/>
              <a:t>μs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Frequency</a:t>
            </a:r>
            <a:endParaRPr lang="en-US" dirty="0"/>
          </a:p>
        </p:txBody>
      </p:sp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33675" y="3786190"/>
            <a:ext cx="4238655" cy="857256"/>
          </a:xfrm>
          <a:prstGeom prst="rect">
            <a:avLst/>
          </a:prstGeom>
          <a:noFill/>
        </p:spPr>
      </p:pic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28662" y="4857760"/>
            <a:ext cx="7727211" cy="928694"/>
          </a:xfrm>
          <a:prstGeom prst="rect">
            <a:avLst/>
          </a:prstGeom>
          <a:noFill/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797040"/>
          </a:xfrm>
        </p:spPr>
        <p:txBody>
          <a:bodyPr>
            <a:noAutofit/>
          </a:bodyPr>
          <a:lstStyle/>
          <a:p>
            <a:pPr algn="just"/>
            <a:r>
              <a:rPr lang="en-US" sz="2800" b="1" dirty="0" smtClean="0">
                <a:solidFill>
                  <a:srgbClr val="C00000"/>
                </a:solidFill>
              </a:rPr>
              <a:t>Example: </a:t>
            </a:r>
            <a:r>
              <a:rPr lang="en-US" sz="2800" b="1" dirty="0" smtClean="0">
                <a:solidFill>
                  <a:srgbClr val="002060"/>
                </a:solidFill>
              </a:rPr>
              <a:t>A portion of a periodic digital waveform is shown in Figure. The measurements are in milliseconds. Determine (a) period (b) frequency and (c) duty cycle.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429000"/>
            <a:ext cx="8229600" cy="300039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i="1" dirty="0" smtClean="0"/>
              <a:t>	Solution:</a:t>
            </a:r>
          </a:p>
          <a:p>
            <a:pPr lvl="0">
              <a:buNone/>
            </a:pPr>
            <a:r>
              <a:rPr lang="en-US" i="1" dirty="0" smtClean="0"/>
              <a:t>	</a:t>
            </a:r>
            <a:r>
              <a:rPr lang="en-US" dirty="0" smtClean="0"/>
              <a:t> Period T = 10 ms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9" name="Picture 8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00166" y="2071678"/>
            <a:ext cx="6143667" cy="128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2769" name="Picture 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00100" y="4643446"/>
            <a:ext cx="5043956" cy="714380"/>
          </a:xfrm>
          <a:prstGeom prst="rect">
            <a:avLst/>
          </a:prstGeom>
          <a:noFill/>
        </p:spPr>
      </p:pic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71538" y="5429264"/>
            <a:ext cx="6604770" cy="928694"/>
          </a:xfrm>
          <a:prstGeom prst="rect">
            <a:avLst/>
          </a:prstGeom>
          <a:noFill/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Logic Gates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Logic gates are the basic building blocks of any digital system. </a:t>
            </a:r>
            <a:endParaRPr lang="en-US" dirty="0" smtClean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is an electronic circuit having one or more than one input and only one output.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relationship between the input and the output is based on a </a:t>
            </a:r>
            <a:r>
              <a:rPr lang="en-US" dirty="0">
                <a:solidFill>
                  <a:srgbClr val="C00000"/>
                </a:solidFill>
              </a:rPr>
              <a:t>certain logic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Based on this, logic gates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are named as NOT, AND</a:t>
            </a:r>
            <a:r>
              <a:rPr lang="en-US" dirty="0"/>
              <a:t>, OR, NAND, NOR</a:t>
            </a:r>
            <a:r>
              <a:rPr lang="en-US" dirty="0" smtClean="0"/>
              <a:t>, EX-OR </a:t>
            </a:r>
            <a:r>
              <a:rPr lang="en-US" dirty="0"/>
              <a:t>and </a:t>
            </a:r>
            <a:r>
              <a:rPr lang="en-US" dirty="0" smtClean="0"/>
              <a:t>EX-NOR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Types of Logic Gates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74897" y="1500174"/>
            <a:ext cx="8738915" cy="4214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Buffer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A </a:t>
            </a:r>
            <a:r>
              <a:rPr lang="en-US" b="1" dirty="0" smtClean="0"/>
              <a:t>buffer</a:t>
            </a:r>
            <a:r>
              <a:rPr lang="en-US" dirty="0" smtClean="0"/>
              <a:t>, is a basic logic </a:t>
            </a:r>
            <a:r>
              <a:rPr lang="en-US" b="1" dirty="0" smtClean="0"/>
              <a:t>gate</a:t>
            </a:r>
            <a:r>
              <a:rPr lang="en-US" dirty="0" smtClean="0"/>
              <a:t> that passes its input, unchanged, to its output.</a:t>
            </a:r>
          </a:p>
          <a:p>
            <a:pPr algn="just"/>
            <a:r>
              <a:rPr lang="en-US" dirty="0" smtClean="0"/>
              <a:t>The main purpose of a </a:t>
            </a:r>
            <a:r>
              <a:rPr lang="en-US" b="1" dirty="0" smtClean="0"/>
              <a:t>buffer</a:t>
            </a:r>
            <a:r>
              <a:rPr lang="en-US" dirty="0" smtClean="0"/>
              <a:t> is to regenerate the input, usually using a strong high and a strong low.</a:t>
            </a:r>
          </a:p>
          <a:p>
            <a:pPr algn="just"/>
            <a:r>
              <a:rPr lang="en-US" dirty="0" smtClean="0"/>
              <a:t>A </a:t>
            </a:r>
            <a:r>
              <a:rPr lang="en-US" b="1" dirty="0" smtClean="0"/>
              <a:t>buffer</a:t>
            </a:r>
            <a:r>
              <a:rPr lang="en-US" dirty="0" smtClean="0"/>
              <a:t> has one input and one output; its output always equals its input.</a:t>
            </a:r>
          </a:p>
          <a:p>
            <a:pPr algn="just"/>
            <a:r>
              <a:rPr lang="en-US" dirty="0" smtClean="0"/>
              <a:t>Its symbol is simply a triangle.</a:t>
            </a:r>
          </a:p>
          <a:p>
            <a:pPr algn="just"/>
            <a:r>
              <a:rPr lang="en-US" dirty="0" smtClean="0">
                <a:solidFill>
                  <a:srgbClr val="002060"/>
                </a:solidFill>
              </a:rPr>
              <a:t>Boolean Expression:	</a:t>
            </a:r>
            <a:endParaRPr lang="en-US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86248" y="5286388"/>
            <a:ext cx="857256" cy="383509"/>
          </a:xfrm>
          <a:prstGeom prst="rect">
            <a:avLst/>
          </a:prstGeom>
          <a:noFill/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512134" y="3071810"/>
            <a:ext cx="22231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7407 Hex Buffer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28662" y="1071546"/>
            <a:ext cx="21805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Graphic Symbol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98846" y="1071546"/>
            <a:ext cx="17304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IEEE Symbol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601370" y="1071546"/>
            <a:ext cx="16139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Truth Table</a:t>
            </a:r>
            <a:endParaRPr lang="en-US" sz="2400" b="1" dirty="0">
              <a:solidFill>
                <a:srgbClr val="C00000"/>
              </a:solidFill>
            </a:endParaRPr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32" y="3571876"/>
            <a:ext cx="3643338" cy="2507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2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00807" y="1643050"/>
            <a:ext cx="1728119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2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43306" y="1643050"/>
            <a:ext cx="1871667" cy="857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22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429388" y="1539140"/>
            <a:ext cx="2000264" cy="1954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NOT Gate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The NOT gate is an electronic circuit that produces an inverted version of the input at its output.</a:t>
            </a:r>
          </a:p>
          <a:p>
            <a:pPr algn="just"/>
            <a:r>
              <a:rPr lang="en-US" dirty="0" smtClean="0"/>
              <a:t>It is also known as an </a:t>
            </a:r>
            <a:r>
              <a:rPr lang="en-US" i="1" dirty="0" smtClean="0">
                <a:solidFill>
                  <a:srgbClr val="C00000"/>
                </a:solidFill>
              </a:rPr>
              <a:t>inverter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If the input variable is A, the inverted output is known as NOT A.</a:t>
            </a:r>
          </a:p>
          <a:p>
            <a:pPr algn="just"/>
            <a:r>
              <a:rPr lang="en-US" dirty="0" smtClean="0"/>
              <a:t>This is also shown as A' or</a:t>
            </a:r>
          </a:p>
          <a:p>
            <a:pPr algn="just"/>
            <a:r>
              <a:rPr lang="en-US" dirty="0" smtClean="0">
                <a:solidFill>
                  <a:srgbClr val="002060"/>
                </a:solidFill>
              </a:rPr>
              <a:t>Boolean Expression:	</a:t>
            </a:r>
            <a:endParaRPr lang="en-US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286380" y="4857760"/>
            <a:ext cx="214314" cy="476252"/>
          </a:xfrm>
          <a:prstGeom prst="rect">
            <a:avLst/>
          </a:prstGeom>
          <a:noFill/>
        </p:spPr>
      </p:pic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00562" y="5429264"/>
            <a:ext cx="928694" cy="488786"/>
          </a:xfrm>
          <a:prstGeom prst="rect">
            <a:avLst/>
          </a:prstGeom>
          <a:noFill/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716052"/>
            <a:ext cx="2071702" cy="10700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891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00826" y="1571612"/>
            <a:ext cx="1928826" cy="1780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43042" y="3643314"/>
            <a:ext cx="3929090" cy="264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2409453" y="3071810"/>
            <a:ext cx="24482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7404 Hex Inverter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28662" y="1071546"/>
            <a:ext cx="21805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Graphic Symbol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98846" y="1071546"/>
            <a:ext cx="17304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IEEE Symbol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601370" y="1071546"/>
            <a:ext cx="16139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Truth Table</a:t>
            </a:r>
            <a:endParaRPr lang="en-US" sz="2400" b="1" dirty="0">
              <a:solidFill>
                <a:srgbClr val="C00000"/>
              </a:solidFill>
            </a:endParaRPr>
          </a:p>
        </p:txBody>
      </p:sp>
      <p:pic>
        <p:nvPicPr>
          <p:cNvPr id="22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5"/>
          <a:srcRect/>
          <a:stretch>
            <a:fillRect/>
          </a:stretch>
        </p:blipFill>
        <p:spPr bwMode="auto">
          <a:xfrm>
            <a:off x="3714743" y="1714488"/>
            <a:ext cx="1857389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AND Gate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The AND gate is an electronic circuit that gives a </a:t>
            </a:r>
            <a:r>
              <a:rPr lang="en-US" b="1" dirty="0" smtClean="0"/>
              <a:t>high</a:t>
            </a:r>
            <a:r>
              <a:rPr lang="en-US" dirty="0" smtClean="0"/>
              <a:t> output (1) only if </a:t>
            </a:r>
            <a:r>
              <a:rPr lang="en-US" b="1" dirty="0" smtClean="0"/>
              <a:t>all</a:t>
            </a:r>
            <a:r>
              <a:rPr lang="en-US" dirty="0" smtClean="0"/>
              <a:t> its inputs are high.</a:t>
            </a:r>
          </a:p>
          <a:p>
            <a:pPr algn="just"/>
            <a:r>
              <a:rPr lang="en-US" dirty="0" smtClean="0"/>
              <a:t>A dot (.) is used to show the AND operation.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>
                <a:solidFill>
                  <a:srgbClr val="002060"/>
                </a:solidFill>
              </a:rPr>
              <a:t>Boolean Expression: 	</a:t>
            </a:r>
            <a:endParaRPr lang="en-US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608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6081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471146" y="3929066"/>
            <a:ext cx="1386738" cy="428628"/>
          </a:xfrm>
          <a:prstGeom prst="rect">
            <a:avLst/>
          </a:prstGeom>
          <a:noFill/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57356" y="3071810"/>
            <a:ext cx="38905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7408 Quad 2-input AND Gate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28662" y="1071546"/>
            <a:ext cx="21805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Graphic Symbol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98846" y="1071546"/>
            <a:ext cx="17304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IEEE Symbol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601370" y="1071546"/>
            <a:ext cx="16139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Truth Table</a:t>
            </a:r>
            <a:endParaRPr lang="en-US" sz="2400" b="1" dirty="0">
              <a:solidFill>
                <a:srgbClr val="C00000"/>
              </a:solidFill>
            </a:endParaRP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714488"/>
            <a:ext cx="2081556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43306" y="1643050"/>
            <a:ext cx="1774882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57950" y="1500174"/>
            <a:ext cx="2071702" cy="25379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1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785918" y="3539682"/>
            <a:ext cx="3929090" cy="267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OR Gate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The OR gate is an electronic circuit that gives a high output (1) if </a:t>
            </a:r>
            <a:r>
              <a:rPr lang="en-US" b="1" dirty="0" smtClean="0"/>
              <a:t>one or more</a:t>
            </a:r>
            <a:r>
              <a:rPr lang="en-US" dirty="0" smtClean="0"/>
              <a:t> of its inputs are high.</a:t>
            </a:r>
          </a:p>
          <a:p>
            <a:pPr algn="just"/>
            <a:r>
              <a:rPr lang="en-US" dirty="0" smtClean="0"/>
              <a:t>A plus (+) is used to show the OR operation.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>
                <a:solidFill>
                  <a:srgbClr val="002060"/>
                </a:solidFill>
              </a:rPr>
              <a:t>Boolean Expression: 	</a:t>
            </a:r>
            <a:endParaRPr lang="en-US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505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5057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458540" y="4429132"/>
            <a:ext cx="1613658" cy="428628"/>
          </a:xfrm>
          <a:prstGeom prst="rect">
            <a:avLst/>
          </a:prstGeom>
          <a:noFill/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57356" y="3071810"/>
            <a:ext cx="36901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7432 Quad 2-input OR Gate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662" y="1071546"/>
            <a:ext cx="21805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Graphic Symbol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98846" y="1071546"/>
            <a:ext cx="17304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IEEE Symbol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601370" y="1071546"/>
            <a:ext cx="16139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Truth Table</a:t>
            </a:r>
            <a:endParaRPr lang="en-US" sz="2400" b="1" dirty="0">
              <a:solidFill>
                <a:srgbClr val="C00000"/>
              </a:solidFill>
            </a:endParaRPr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00113" y="1714488"/>
            <a:ext cx="1828813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43306" y="1714488"/>
            <a:ext cx="1746499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6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57950" y="1626814"/>
            <a:ext cx="2000264" cy="2516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65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785918" y="3571876"/>
            <a:ext cx="3857652" cy="27028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NAND Gate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This is a NOT-AND gate which is equal to an AND gate followed by a NOT gate.</a:t>
            </a:r>
          </a:p>
          <a:p>
            <a:pPr algn="just"/>
            <a:r>
              <a:rPr lang="en-US" dirty="0" smtClean="0"/>
              <a:t>The outputs of all NAND gates are high if </a:t>
            </a:r>
            <a:r>
              <a:rPr lang="en-US" b="1" dirty="0" smtClean="0"/>
              <a:t>any</a:t>
            </a:r>
            <a:r>
              <a:rPr lang="en-US" dirty="0" smtClean="0"/>
              <a:t> of the inputs are low.</a:t>
            </a:r>
          </a:p>
          <a:p>
            <a:pPr algn="just"/>
            <a:r>
              <a:rPr lang="en-US" dirty="0" smtClean="0"/>
              <a:t>The symbol is an AND gate with a small circle on the output. The small circle represents inversion.</a:t>
            </a:r>
          </a:p>
          <a:p>
            <a:pPr algn="just"/>
            <a:r>
              <a:rPr lang="en-US" dirty="0" smtClean="0">
                <a:solidFill>
                  <a:srgbClr val="002060"/>
                </a:solidFill>
              </a:rPr>
              <a:t>Boolean Expression: 	</a:t>
            </a:r>
            <a:endParaRPr lang="en-US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199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1989" name="Picture 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00562" y="5357826"/>
            <a:ext cx="1357322" cy="493572"/>
          </a:xfrm>
          <a:prstGeom prst="rect">
            <a:avLst/>
          </a:prstGeom>
          <a:noFill/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57356" y="3071810"/>
            <a:ext cx="40925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7400 Quad 2-input NAND Gate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28662" y="1071546"/>
            <a:ext cx="21805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Graphic Symbol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98846" y="1071546"/>
            <a:ext cx="17304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IEEE Symbol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601370" y="1071546"/>
            <a:ext cx="16139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Truth Table</a:t>
            </a:r>
            <a:endParaRPr lang="en-US" sz="2400" b="1" dirty="0">
              <a:solidFill>
                <a:srgbClr val="C00000"/>
              </a:solidFill>
            </a:endParaRPr>
          </a:p>
        </p:txBody>
      </p:sp>
      <p:pic>
        <p:nvPicPr>
          <p:cNvPr id="4300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1714487"/>
            <a:ext cx="1785950" cy="89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43306" y="1714488"/>
            <a:ext cx="1925066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57950" y="1571612"/>
            <a:ext cx="1928826" cy="2453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3012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928794" y="3571876"/>
            <a:ext cx="4000528" cy="264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25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NOR Gate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This is a NOT-OR gate which is equal to an OR gate followed by a NOT gate.</a:t>
            </a:r>
          </a:p>
          <a:p>
            <a:pPr algn="just"/>
            <a:r>
              <a:rPr lang="en-US" dirty="0" smtClean="0"/>
              <a:t>The outputs of all NOR gates are low if </a:t>
            </a:r>
            <a:r>
              <a:rPr lang="en-US" b="1" dirty="0" smtClean="0"/>
              <a:t>any</a:t>
            </a:r>
            <a:r>
              <a:rPr lang="en-US" dirty="0" smtClean="0"/>
              <a:t> of the inputs are high.</a:t>
            </a:r>
          </a:p>
          <a:p>
            <a:pPr algn="just"/>
            <a:r>
              <a:rPr lang="en-US" dirty="0" smtClean="0"/>
              <a:t>The symbol is an OR gate with a small circle on the output. The small circle represents inversion. </a:t>
            </a:r>
          </a:p>
          <a:p>
            <a:pPr algn="just"/>
            <a:r>
              <a:rPr lang="en-US" dirty="0" smtClean="0">
                <a:solidFill>
                  <a:srgbClr val="002060"/>
                </a:solidFill>
              </a:rPr>
              <a:t>Boolean Expression: </a:t>
            </a:r>
            <a:endParaRPr lang="en-US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7107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471987" y="5357826"/>
            <a:ext cx="1600211" cy="500066"/>
          </a:xfrm>
          <a:prstGeom prst="rect">
            <a:avLst/>
          </a:prstGeom>
          <a:noFill/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26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57356" y="3071810"/>
            <a:ext cx="38921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7402 Quad 2-input NOR Gate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28662" y="1071546"/>
            <a:ext cx="21805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Graphic Symbol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98846" y="1071546"/>
            <a:ext cx="17304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IEEE Symbol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601370" y="1071546"/>
            <a:ext cx="16139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Truth Table</a:t>
            </a:r>
            <a:endParaRPr lang="en-US" sz="2400" b="1" dirty="0">
              <a:solidFill>
                <a:srgbClr val="C00000"/>
              </a:solidFill>
            </a:endParaRPr>
          </a:p>
        </p:txBody>
      </p:sp>
      <p:pic>
        <p:nvPicPr>
          <p:cNvPr id="4812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52055" y="1571612"/>
            <a:ext cx="1948309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97639" y="1571612"/>
            <a:ext cx="1803055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57950" y="1494721"/>
            <a:ext cx="1928826" cy="2434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8132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857356" y="3632575"/>
            <a:ext cx="4000528" cy="26539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27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EX-OR Gate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The '</a:t>
            </a:r>
            <a:r>
              <a:rPr lang="en-US" b="1" dirty="0" smtClean="0"/>
              <a:t>Exclusive-OR</a:t>
            </a:r>
            <a:r>
              <a:rPr lang="en-US" dirty="0" smtClean="0"/>
              <a:t>' gate is a circuit which will give a high output if </a:t>
            </a:r>
            <a:r>
              <a:rPr lang="en-US" b="1" dirty="0" smtClean="0"/>
              <a:t>either, but not both</a:t>
            </a:r>
            <a:r>
              <a:rPr lang="en-US" dirty="0" smtClean="0"/>
              <a:t>, of its two inputs are high.</a:t>
            </a:r>
          </a:p>
          <a:p>
            <a:pPr algn="just"/>
            <a:r>
              <a:rPr lang="en-US" dirty="0" smtClean="0"/>
              <a:t>An encircled plus sign (   ) is used to show the EX-OR operation. </a:t>
            </a:r>
          </a:p>
          <a:p>
            <a:pPr algn="just"/>
            <a:endParaRPr lang="en-US" dirty="0" smtClean="0">
              <a:solidFill>
                <a:srgbClr val="002060"/>
              </a:solidFill>
            </a:endParaRPr>
          </a:p>
          <a:p>
            <a:pPr algn="just"/>
            <a:r>
              <a:rPr lang="en-US" dirty="0" smtClean="0">
                <a:solidFill>
                  <a:srgbClr val="002060"/>
                </a:solidFill>
              </a:rPr>
              <a:t>Boolean Expression: 	</a:t>
            </a:r>
            <a:endParaRPr lang="en-US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64843" y="4857760"/>
            <a:ext cx="3679057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15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14876" y="3338514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28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00166" y="3071810"/>
            <a:ext cx="40765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7486 Quad 2-input EX-OR Gate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28662" y="1071546"/>
            <a:ext cx="21805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Graphic Symbol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98846" y="1071546"/>
            <a:ext cx="17304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IEEE Symbol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601370" y="1071546"/>
            <a:ext cx="16139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Truth Table</a:t>
            </a:r>
            <a:endParaRPr lang="en-US" sz="2400" b="1" dirty="0">
              <a:solidFill>
                <a:srgbClr val="C00000"/>
              </a:solidFill>
            </a:endParaRPr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643050"/>
            <a:ext cx="2000264" cy="937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017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43306" y="1571612"/>
            <a:ext cx="1871899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6072198" y="1540290"/>
            <a:ext cx="2357454" cy="296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30972" y="3571876"/>
            <a:ext cx="4555474" cy="2500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29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EX-NOR Gate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The '</a:t>
            </a:r>
            <a:r>
              <a:rPr lang="en-US" b="1" dirty="0" smtClean="0"/>
              <a:t>Exclusive-NOR' </a:t>
            </a:r>
            <a:r>
              <a:rPr lang="en-US" dirty="0" smtClean="0"/>
              <a:t>gate circuit does the opposite to the EX-OR gate.</a:t>
            </a:r>
          </a:p>
          <a:p>
            <a:pPr algn="just"/>
            <a:r>
              <a:rPr lang="en-US" dirty="0" smtClean="0"/>
              <a:t>It will give a low output if </a:t>
            </a:r>
            <a:r>
              <a:rPr lang="en-US" b="1" dirty="0" smtClean="0"/>
              <a:t>either, but not both</a:t>
            </a:r>
            <a:r>
              <a:rPr lang="en-US" dirty="0" smtClean="0"/>
              <a:t>, of its two inputs are high.</a:t>
            </a:r>
          </a:p>
          <a:p>
            <a:pPr algn="just"/>
            <a:r>
              <a:rPr lang="en-US" dirty="0" smtClean="0"/>
              <a:t>The symbol is an EX-OR gate with a small circle on the output. The small circle represents inversion.</a:t>
            </a:r>
            <a:endParaRPr lang="en-US" dirty="0" smtClean="0">
              <a:solidFill>
                <a:srgbClr val="002060"/>
              </a:solidFill>
            </a:endParaRPr>
          </a:p>
          <a:p>
            <a:pPr algn="just"/>
            <a:r>
              <a:rPr lang="en-US" dirty="0" smtClean="0">
                <a:solidFill>
                  <a:srgbClr val="002060"/>
                </a:solidFill>
              </a:rPr>
              <a:t>Boolean Expression:</a:t>
            </a:r>
            <a:endParaRPr lang="en-US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14875" y="5286388"/>
            <a:ext cx="3629025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30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28728" y="3071810"/>
            <a:ext cx="44339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74266 Quad 2-input Ex-NOR Gate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28662" y="1071546"/>
            <a:ext cx="21805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Graphic Symbol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98846" y="1071546"/>
            <a:ext cx="17304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IEEE Symbol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601370" y="1071546"/>
            <a:ext cx="16139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Truth Table</a:t>
            </a:r>
            <a:endParaRPr lang="en-US" sz="2400" b="1" dirty="0">
              <a:solidFill>
                <a:srgbClr val="C00000"/>
              </a:solidFill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15074" y="1500174"/>
            <a:ext cx="2333119" cy="292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8049" y="1643050"/>
            <a:ext cx="2017508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0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43306" y="1643050"/>
            <a:ext cx="1985337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85852" y="3571876"/>
            <a:ext cx="4647599" cy="2571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31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Digital Logic Gate Truth Table Summary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52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786050" y="1428736"/>
            <a:ext cx="3429000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30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71604" y="3286124"/>
            <a:ext cx="6257925" cy="302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32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 smtClean="0">
                <a:solidFill>
                  <a:srgbClr val="C00000"/>
                </a:solidFill>
              </a:rPr>
              <a:t>EX-OR Gate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 smtClean="0">
                <a:solidFill>
                  <a:srgbClr val="C00000"/>
                </a:solidFill>
              </a:rPr>
              <a:t>EX-NOR Gate</a:t>
            </a:r>
          </a:p>
        </p:txBody>
      </p:sp>
      <p:pic>
        <p:nvPicPr>
          <p:cNvPr id="56322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4" y="2500306"/>
            <a:ext cx="3929090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6323" name="Picture 3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714876" y="2500306"/>
            <a:ext cx="3913817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33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3-input Ex-OR Gate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400684" cy="4525963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n-US" dirty="0" smtClean="0"/>
              <a:t>	</a:t>
            </a:r>
            <a:r>
              <a:rPr lang="en-US" sz="3000" dirty="0" smtClean="0"/>
              <a:t>The logic function implemented by a 2-input Ex-OR is given as either: “A OR B but NOT both” will give an output at Q. In general, an Ex-OR gate will give an output value of logic “1” ONLY when there are an </a:t>
            </a:r>
            <a:r>
              <a:rPr lang="en-US" sz="3000" b="1" dirty="0" smtClean="0"/>
              <a:t>ODD</a:t>
            </a:r>
            <a:r>
              <a:rPr lang="en-US" sz="3000" dirty="0" smtClean="0"/>
              <a:t> number of 1’s on the inputs to the gate. </a:t>
            </a:r>
            <a:r>
              <a:rPr lang="en-US" sz="2800" dirty="0" smtClean="0"/>
              <a:t>Then an Ex-OR function with more than two inputs is called an “</a:t>
            </a:r>
            <a:r>
              <a:rPr lang="en-US" sz="2800" dirty="0" smtClean="0">
                <a:solidFill>
                  <a:srgbClr val="C00000"/>
                </a:solidFill>
              </a:rPr>
              <a:t>odd function</a:t>
            </a:r>
            <a:r>
              <a:rPr lang="en-US" sz="2800" dirty="0" smtClean="0"/>
              <a:t>”.</a:t>
            </a:r>
            <a:endParaRPr lang="en-US" sz="3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29322" y="1643050"/>
            <a:ext cx="2743200" cy="421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5C19-442C-4C4D-A74E-4357F7891BF6}" type="slidenum">
              <a:rPr lang="en-US" smtClean="0"/>
              <a:pPr/>
              <a:t>34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1205</Words>
  <Application>Microsoft Office PowerPoint</Application>
  <PresentationFormat>On-screen Show (4:3)</PresentationFormat>
  <Paragraphs>159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DIGITAL ELECTRONICS III Semester CSE, CSE (AIML) &amp; CSE (DS)</vt:lpstr>
      <vt:lpstr>LOGIC LEVELS AND PULSE WAVEFORMS LOGIC GATES</vt:lpstr>
      <vt:lpstr>Logic Levels and Pulse Waveforms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Example: A periodic digital waveform has a pulse width of 25 μs and a period of 150 μs. Determine the frequency and the duty cycle.</vt:lpstr>
      <vt:lpstr>Example: A portion of a periodic digital waveform is shown in Figure. The measurements are in milliseconds. Determine (a) period (b) frequency and (c) duty cycle.</vt:lpstr>
      <vt:lpstr>Logic Gates</vt:lpstr>
      <vt:lpstr>Types of Logic Gates</vt:lpstr>
      <vt:lpstr>Buffer</vt:lpstr>
      <vt:lpstr>Slide 17</vt:lpstr>
      <vt:lpstr>NOT Gate</vt:lpstr>
      <vt:lpstr>Slide 19</vt:lpstr>
      <vt:lpstr>AND Gate</vt:lpstr>
      <vt:lpstr>Slide 21</vt:lpstr>
      <vt:lpstr>OR Gate</vt:lpstr>
      <vt:lpstr>Slide 23</vt:lpstr>
      <vt:lpstr>NAND Gate</vt:lpstr>
      <vt:lpstr>Slide 25</vt:lpstr>
      <vt:lpstr>NOR Gate</vt:lpstr>
      <vt:lpstr>Slide 27</vt:lpstr>
      <vt:lpstr>EX-OR Gate</vt:lpstr>
      <vt:lpstr>Slide 29</vt:lpstr>
      <vt:lpstr>EX-NOR Gate</vt:lpstr>
      <vt:lpstr>Slide 31</vt:lpstr>
      <vt:lpstr>Digital Logic Gate Truth Table Summary</vt:lpstr>
      <vt:lpstr>Slide 33</vt:lpstr>
      <vt:lpstr>3-input Ex-OR Gate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Logic gates?</dc:title>
  <dc:creator>AMI PARIDA</dc:creator>
  <cp:lastModifiedBy>staff</cp:lastModifiedBy>
  <cp:revision>58</cp:revision>
  <dcterms:created xsi:type="dcterms:W3CDTF">2020-08-31T15:41:50Z</dcterms:created>
  <dcterms:modified xsi:type="dcterms:W3CDTF">2023-07-24T04:40:06Z</dcterms:modified>
</cp:coreProperties>
</file>