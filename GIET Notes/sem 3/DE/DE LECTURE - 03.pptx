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6" r:id="rId2"/>
    <p:sldId id="256" r:id="rId3"/>
    <p:sldId id="257" r:id="rId4"/>
    <p:sldId id="258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4" r:id="rId15"/>
    <p:sldId id="268" r:id="rId16"/>
    <p:sldId id="275" r:id="rId17"/>
    <p:sldId id="269" r:id="rId18"/>
    <p:sldId id="270" r:id="rId19"/>
    <p:sldId id="271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272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26889C-265A-464D-BFB1-CB330F769786}" type="datetimeFigureOut">
              <a:rPr lang="en-US" smtClean="0"/>
              <a:pPr/>
              <a:t>7/24/2023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F1EFD-5CAA-4088-9094-EBCAF552E0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0A40-92C4-4FE1-BFD6-2655B33975AF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9149A-49AC-4DE6-8E49-6F6EF31DF452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2271F-8B4A-46F8-86E1-328E3DCC3084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9F729-FEC8-4D3D-B225-1F4B3C4F38F1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ED2DE-AB02-41DE-9093-6C8D7663BEF5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7C909-8C1E-492F-B81C-E19290CD8710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C025-CC23-4588-B325-8F00F4143F73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EAD51-DDB9-4019-87E1-3F900004D1E9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DA268-A69A-4760-8DAF-1802B44A4E80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406BC-4C3F-4F76-8267-B12EECC8A60D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14ED0-C958-482F-8C9F-2D1E2F725773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FEF717-D7B0-439D-9AAE-FB0DE0B23F42}" type="datetime1">
              <a:rPr lang="en-US" smtClean="0"/>
              <a:pPr/>
              <a:t>7/24/2023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FD349-A1A4-441B-87DE-72BBE5547A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720" y="642918"/>
            <a:ext cx="8572560" cy="1420210"/>
          </a:xfrm>
        </p:spPr>
        <p:txBody>
          <a:bodyPr>
            <a:normAutofit fontScale="90000"/>
          </a:bodyPr>
          <a:lstStyle/>
          <a:p>
            <a:r>
              <a:rPr lang="en-US" sz="6000" b="1" dirty="0" smtClean="0">
                <a:solidFill>
                  <a:srgbClr val="FF0000"/>
                </a:solidFill>
                <a:latin typeface="Baskerville Old Face" pitchFamily="18" charset="0"/>
              </a:rPr>
              <a:t>DIGITAL ELECTRONICS</a:t>
            </a:r>
            <a:r>
              <a:rPr lang="en-US" sz="6600" b="1" dirty="0" smtClean="0">
                <a:solidFill>
                  <a:srgbClr val="00B050"/>
                </a:solidFill>
                <a:latin typeface="Baskerville Old Face" pitchFamily="18" charset="0"/>
              </a:rPr>
              <a:t/>
            </a:r>
            <a:br>
              <a:rPr lang="en-US" sz="6600" b="1" dirty="0" smtClean="0">
                <a:solidFill>
                  <a:srgbClr val="00B050"/>
                </a:solidFill>
                <a:latin typeface="Baskerville Old Face" pitchFamily="18" charset="0"/>
              </a:rPr>
            </a:br>
            <a:r>
              <a:rPr lang="en-US" sz="3600" b="1" dirty="0" smtClean="0">
                <a:solidFill>
                  <a:srgbClr val="00B050"/>
                </a:solidFill>
                <a:latin typeface="Baskerville Old Face" pitchFamily="18" charset="0"/>
              </a:rPr>
              <a:t>III Semester CSE, CSE (AIML) &amp; CSE (DS)</a:t>
            </a:r>
            <a:endParaRPr lang="en-US" dirty="0">
              <a:solidFill>
                <a:srgbClr val="00B050"/>
              </a:solidFill>
              <a:latin typeface="Baskerville Old Fac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034" y="4214818"/>
            <a:ext cx="8358246" cy="18573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  <a:endParaRPr lang="en-US" sz="1800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SCHOOL OF ENGINEERING &amp; TECHNOLOGY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GIET UNIVERSITY, GUNUPUR, ODISHA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68" y="2071678"/>
            <a:ext cx="196454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8596" y="3643314"/>
            <a:ext cx="8358246" cy="64294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Dr.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Ajit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Kumar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Patro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solidFill>
                  <a:srgbClr val="00B050"/>
                </a:solidFill>
              </a:rPr>
              <a:t>BINARY </a:t>
            </a:r>
            <a:r>
              <a:rPr lang="en-US" sz="8000" b="1" dirty="0" smtClean="0">
                <a:solidFill>
                  <a:srgbClr val="00B050"/>
                </a:solidFill>
              </a:rPr>
              <a:t>CODES</a:t>
            </a:r>
            <a:endParaRPr lang="en-US" sz="8000" dirty="0">
              <a:solidFill>
                <a:srgbClr val="00B05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Classification of Binary </a:t>
            </a:r>
            <a:r>
              <a:rPr lang="en-US" b="1" dirty="0" smtClean="0">
                <a:solidFill>
                  <a:srgbClr val="FF0000"/>
                </a:solidFill>
              </a:rPr>
              <a:t>Codes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219200"/>
            <a:ext cx="86868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solidFill>
                  <a:srgbClr val="002060"/>
                </a:solidFill>
              </a:rPr>
              <a:t>1. Numeric </a:t>
            </a:r>
            <a:r>
              <a:rPr lang="en-US" b="1" dirty="0">
                <a:solidFill>
                  <a:srgbClr val="002060"/>
                </a:solidFill>
              </a:rPr>
              <a:t>and Alphanumeric </a:t>
            </a:r>
            <a:r>
              <a:rPr lang="en-US" b="1" dirty="0" smtClean="0">
                <a:solidFill>
                  <a:srgbClr val="002060"/>
                </a:solidFill>
              </a:rPr>
              <a:t>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algn="just"/>
            <a:r>
              <a:rPr lang="en-US" dirty="0"/>
              <a:t>Binary codes can be classified as </a:t>
            </a:r>
            <a:r>
              <a:rPr lang="en-US" i="1" dirty="0">
                <a:solidFill>
                  <a:srgbClr val="C00000"/>
                </a:solidFill>
              </a:rPr>
              <a:t>numeric codes</a:t>
            </a:r>
            <a:r>
              <a:rPr lang="en-US" dirty="0"/>
              <a:t> and </a:t>
            </a:r>
            <a:r>
              <a:rPr lang="en-US" i="1" dirty="0">
                <a:solidFill>
                  <a:srgbClr val="C00000"/>
                </a:solidFill>
              </a:rPr>
              <a:t>alphanumeric codes</a:t>
            </a:r>
            <a:r>
              <a:rPr lang="en-US" dirty="0"/>
              <a:t>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Numeric codes</a:t>
            </a:r>
            <a:r>
              <a:rPr lang="en-US" dirty="0"/>
              <a:t> are codes which represent numeric information, i.e. only numbers as a series of 0s and 1s.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8421, Excess-3, Gray code are numeric codes.</a:t>
            </a:r>
          </a:p>
          <a:p>
            <a:pPr lvl="0" algn="just"/>
            <a:r>
              <a:rPr lang="en-US" dirty="0"/>
              <a:t>Numeric codes used to represent the decimal digits are called Binary Coded Decimal (BCD) codes. </a:t>
            </a:r>
            <a:endParaRPr lang="en-US" dirty="0" smtClean="0"/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8421</a:t>
            </a:r>
            <a:r>
              <a:rPr lang="en-US" dirty="0">
                <a:solidFill>
                  <a:srgbClr val="0070C0"/>
                </a:solidFill>
              </a:rPr>
              <a:t>, 2421, 5211 are BCD codes.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Alphanumeric codes</a:t>
            </a:r>
            <a:r>
              <a:rPr lang="en-US" dirty="0"/>
              <a:t> are codes which represent alphanumeric information, i.e. letters of the alphabet and decimal numbers as a sequence of 0s and 1s.</a:t>
            </a:r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EBCDIC </a:t>
            </a:r>
            <a:r>
              <a:rPr lang="en-US" dirty="0">
                <a:solidFill>
                  <a:srgbClr val="0070C0"/>
                </a:solidFill>
              </a:rPr>
              <a:t>code and ASCII code are alphanumeric codes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2. Weighted and Non-weighted 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algn="just"/>
            <a:r>
              <a:rPr lang="en-US" dirty="0"/>
              <a:t>The BCD codes may be </a:t>
            </a:r>
            <a:r>
              <a:rPr lang="en-US" i="1" dirty="0">
                <a:solidFill>
                  <a:srgbClr val="C00000"/>
                </a:solidFill>
              </a:rPr>
              <a:t>weighted codes</a:t>
            </a:r>
            <a:r>
              <a:rPr lang="en-US" dirty="0"/>
              <a:t> or </a:t>
            </a:r>
            <a:r>
              <a:rPr lang="en-US" i="1" dirty="0">
                <a:solidFill>
                  <a:srgbClr val="C00000"/>
                </a:solidFill>
              </a:rPr>
              <a:t>non-weighted codes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weighted codes</a:t>
            </a:r>
            <a:r>
              <a:rPr lang="en-US" dirty="0"/>
              <a:t> are those which obey the position-weighting principal. Each position of the number represents a specific weight.</a:t>
            </a:r>
          </a:p>
          <a:p>
            <a:pPr lvl="0" algn="just"/>
            <a:r>
              <a:rPr lang="en-US" dirty="0"/>
              <a:t>For each group of four bits, the sum of the weights of those positions where the binary digits is 1 is equal to the decimal digit which the group represents.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8421, 2421, 84-2-1 are weighted codes.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Non-weighted codes</a:t>
            </a:r>
            <a:r>
              <a:rPr lang="en-US" dirty="0"/>
              <a:t> are codes which are not assigned with any weight to each digit position, i.e. each digit position within the number is not assigned fixed value.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Excess-3 code and Gray code are non-weighted codes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2060"/>
                </a:solidFill>
              </a:rPr>
              <a:t>3. Positively-weighted </a:t>
            </a:r>
            <a:r>
              <a:rPr lang="en-US" b="1" dirty="0">
                <a:solidFill>
                  <a:srgbClr val="002060"/>
                </a:solidFill>
              </a:rPr>
              <a:t>and Negatively-weighted 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0" algn="just"/>
            <a:r>
              <a:rPr lang="en-US" dirty="0"/>
              <a:t>The weighted codes may be either </a:t>
            </a:r>
            <a:r>
              <a:rPr lang="en-US" i="1" dirty="0">
                <a:solidFill>
                  <a:srgbClr val="C00000"/>
                </a:solidFill>
              </a:rPr>
              <a:t>positively-weighted codes</a:t>
            </a:r>
            <a:r>
              <a:rPr lang="en-US" dirty="0"/>
              <a:t> or </a:t>
            </a:r>
            <a:r>
              <a:rPr lang="en-US" i="1" dirty="0">
                <a:solidFill>
                  <a:srgbClr val="C00000"/>
                </a:solidFill>
              </a:rPr>
              <a:t>negatively-weighted codes</a:t>
            </a:r>
            <a:r>
              <a:rPr lang="en-US" dirty="0"/>
              <a:t>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Positively-weighted codes</a:t>
            </a:r>
            <a:r>
              <a:rPr lang="en-US" dirty="0"/>
              <a:t> are those in which all the weights assigned to the binary digits are positive.</a:t>
            </a:r>
          </a:p>
          <a:p>
            <a:pPr algn="just"/>
            <a:r>
              <a:rPr lang="en-US" dirty="0"/>
              <a:t>In every positively-weighted code, the first weight must be 1, the second weight must be either 1 or 2, and sum of all the weights must be equal to or greater than 9.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Example: 8421, 2421, 5211, 3321, 4321 codes.</a:t>
            </a:r>
          </a:p>
          <a:p>
            <a:pPr lvl="0" algn="just"/>
            <a:r>
              <a:rPr lang="en-US" dirty="0">
                <a:solidFill>
                  <a:srgbClr val="C00000"/>
                </a:solidFill>
              </a:rPr>
              <a:t>Negatively-weighted codes</a:t>
            </a:r>
            <a:r>
              <a:rPr lang="en-US" dirty="0"/>
              <a:t> are those in which some of the weights assigned to the binary digits are negative.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Example: 642-3, 631-1, 84-2-1, 74-2-1 codes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>
                <a:solidFill>
                  <a:srgbClr val="002060"/>
                </a:solidFill>
              </a:rPr>
              <a:t>4. Error </a:t>
            </a:r>
            <a:r>
              <a:rPr lang="en-US" b="1" dirty="0">
                <a:solidFill>
                  <a:srgbClr val="002060"/>
                </a:solidFill>
              </a:rPr>
              <a:t>Detecting and Error Correcting </a:t>
            </a:r>
            <a:r>
              <a:rPr lang="en-US" b="1" dirty="0" smtClean="0">
                <a:solidFill>
                  <a:srgbClr val="002060"/>
                </a:solidFill>
              </a:rPr>
              <a:t>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algn="just"/>
            <a:r>
              <a:rPr lang="en-US" dirty="0"/>
              <a:t>Binary codes may also be </a:t>
            </a:r>
            <a:r>
              <a:rPr lang="en-US" i="1" dirty="0">
                <a:solidFill>
                  <a:srgbClr val="C00000"/>
                </a:solidFill>
              </a:rPr>
              <a:t>error detecting codes</a:t>
            </a:r>
            <a:r>
              <a:rPr lang="en-US" dirty="0"/>
              <a:t> or </a:t>
            </a:r>
            <a:r>
              <a:rPr lang="en-US" i="1" dirty="0">
                <a:solidFill>
                  <a:srgbClr val="C00000"/>
                </a:solidFill>
              </a:rPr>
              <a:t>error correcting codes</a:t>
            </a:r>
            <a:r>
              <a:rPr lang="en-US" dirty="0"/>
              <a:t>.</a:t>
            </a:r>
          </a:p>
          <a:p>
            <a:pPr lvl="0" algn="just"/>
            <a:r>
              <a:rPr lang="en-US" dirty="0"/>
              <a:t>Codes which allow only error detection are called </a:t>
            </a:r>
            <a:r>
              <a:rPr lang="en-US" dirty="0">
                <a:solidFill>
                  <a:srgbClr val="C00000"/>
                </a:solidFill>
              </a:rPr>
              <a:t>error detecting </a:t>
            </a:r>
            <a:r>
              <a:rPr lang="en-US" dirty="0" smtClean="0">
                <a:solidFill>
                  <a:srgbClr val="C00000"/>
                </a:solidFill>
              </a:rPr>
              <a:t>codes</a:t>
            </a:r>
            <a:r>
              <a:rPr lang="en-US" dirty="0" smtClean="0"/>
              <a:t>.</a:t>
            </a:r>
            <a:endParaRPr lang="en-US" dirty="0"/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	Shift </a:t>
            </a:r>
            <a:r>
              <a:rPr lang="en-US" dirty="0">
                <a:solidFill>
                  <a:srgbClr val="0070C0"/>
                </a:solidFill>
              </a:rPr>
              <a:t>counter code, 2-out-of-5, 63210 codes are error detecting codes.</a:t>
            </a:r>
          </a:p>
          <a:p>
            <a:pPr lvl="0" algn="just"/>
            <a:r>
              <a:rPr lang="en-US" dirty="0"/>
              <a:t>Codes which allow error detection as well as error correction are called </a:t>
            </a:r>
            <a:r>
              <a:rPr lang="en-US" dirty="0">
                <a:solidFill>
                  <a:srgbClr val="C00000"/>
                </a:solidFill>
              </a:rPr>
              <a:t>error correcting codes</a:t>
            </a:r>
            <a:r>
              <a:rPr lang="en-US" dirty="0"/>
              <a:t>.</a:t>
            </a:r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	The </a:t>
            </a:r>
            <a:r>
              <a:rPr lang="en-US" dirty="0">
                <a:solidFill>
                  <a:srgbClr val="0070C0"/>
                </a:solidFill>
              </a:rPr>
              <a:t>Hamming code is a error correcting code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5. Sequential </a:t>
            </a:r>
            <a:r>
              <a:rPr lang="en-US" b="1" dirty="0">
                <a:solidFill>
                  <a:srgbClr val="002060"/>
                </a:solidFill>
              </a:rPr>
              <a:t>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solidFill>
                  <a:srgbClr val="C00000"/>
                </a:solidFill>
              </a:rPr>
              <a:t>Sequential code</a:t>
            </a:r>
            <a:r>
              <a:rPr lang="en-US" dirty="0"/>
              <a:t> is one, in which each succeeding code word is one binary number greater than its preceding code word.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The 8421 and Excess-3 codes are sequential.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The codes 5211, 2421 and 642-3 are not sequential.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>
                <a:solidFill>
                  <a:srgbClr val="002060"/>
                </a:solidFill>
              </a:rPr>
              <a:t>6. Self-complementing 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r>
              <a:rPr lang="en-US" sz="2800" dirty="0"/>
              <a:t>A code is said to be </a:t>
            </a:r>
            <a:r>
              <a:rPr lang="en-US" sz="2800" dirty="0">
                <a:solidFill>
                  <a:srgbClr val="C00000"/>
                </a:solidFill>
              </a:rPr>
              <a:t>self-complementing</a:t>
            </a:r>
            <a:r>
              <a:rPr lang="en-US" sz="2800" dirty="0"/>
              <a:t>, if the code word of the 9’s complement of </a:t>
            </a:r>
            <a:r>
              <a:rPr lang="en-US" sz="2800" i="1" dirty="0"/>
              <a:t>N</a:t>
            </a:r>
            <a:r>
              <a:rPr lang="en-US" sz="2800" dirty="0"/>
              <a:t>, i.e. of 9-</a:t>
            </a:r>
            <a:r>
              <a:rPr lang="en-US" sz="2800" i="1" dirty="0"/>
              <a:t>N </a:t>
            </a:r>
            <a:r>
              <a:rPr lang="en-US" sz="2800" dirty="0"/>
              <a:t>can be obtained from the code word of </a:t>
            </a:r>
            <a:r>
              <a:rPr lang="en-US" sz="2800" i="1" dirty="0"/>
              <a:t>N</a:t>
            </a:r>
            <a:r>
              <a:rPr lang="en-US" sz="2800" dirty="0"/>
              <a:t> by interchanging all the 0s and 1s.</a:t>
            </a:r>
          </a:p>
          <a:p>
            <a:pPr lvl="0" algn="just"/>
            <a:r>
              <a:rPr lang="en-US" sz="2800" dirty="0"/>
              <a:t>Therefore, in a self-complementing code, the code for 9 is the complement of the code for 0, the code for 8 is the complement of the code for 1, and so </a:t>
            </a:r>
            <a:r>
              <a:rPr lang="en-US" sz="2800" dirty="0" smtClean="0"/>
              <a:t>on.</a:t>
            </a:r>
          </a:p>
          <a:p>
            <a:pPr lvl="0" algn="just">
              <a:buNone/>
            </a:pPr>
            <a:r>
              <a:rPr lang="en-US" sz="2800" dirty="0">
                <a:solidFill>
                  <a:srgbClr val="0070C0"/>
                </a:solidFill>
              </a:rPr>
              <a:t>	</a:t>
            </a:r>
            <a:r>
              <a:rPr lang="en-US" sz="2400" dirty="0" smtClean="0">
                <a:solidFill>
                  <a:srgbClr val="0070C0"/>
                </a:solidFill>
              </a:rPr>
              <a:t>The 2421, 5211, 642-3, 84-2-1 and Excess-3 codes are self-complementing codes.</a:t>
            </a:r>
          </a:p>
          <a:p>
            <a:pPr lvl="0" algn="just">
              <a:buNone/>
            </a:pPr>
            <a:r>
              <a:rPr lang="en-US" sz="2400" dirty="0">
                <a:solidFill>
                  <a:srgbClr val="0070C0"/>
                </a:solidFill>
              </a:rPr>
              <a:t>	</a:t>
            </a:r>
            <a:r>
              <a:rPr lang="en-US" sz="2400" dirty="0" smtClean="0">
                <a:solidFill>
                  <a:srgbClr val="0070C0"/>
                </a:solidFill>
              </a:rPr>
              <a:t>The 8421 and 5421 codes are not self-complementing codes.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</a:rPr>
              <a:t>7. Cyclic </a:t>
            </a:r>
            <a:r>
              <a:rPr lang="en-US" b="1" dirty="0">
                <a:solidFill>
                  <a:srgbClr val="002060"/>
                </a:solidFill>
              </a:rPr>
              <a:t>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>
                <a:solidFill>
                  <a:srgbClr val="C00000"/>
                </a:solidFill>
              </a:rPr>
              <a:t>Cyclic codes</a:t>
            </a:r>
            <a:r>
              <a:rPr lang="en-US" dirty="0"/>
              <a:t> are those in which each successive code word differs from the preceding one in only one bit </a:t>
            </a:r>
            <a:r>
              <a:rPr lang="en-US" dirty="0" smtClean="0"/>
              <a:t>position.</a:t>
            </a:r>
          </a:p>
          <a:p>
            <a:pPr lvl="0" algn="just"/>
            <a:r>
              <a:rPr lang="en-US" dirty="0" smtClean="0"/>
              <a:t>They </a:t>
            </a:r>
            <a:r>
              <a:rPr lang="en-US" dirty="0"/>
              <a:t>are also called </a:t>
            </a:r>
            <a:r>
              <a:rPr lang="en-US" dirty="0">
                <a:solidFill>
                  <a:srgbClr val="FF0000"/>
                </a:solidFill>
              </a:rPr>
              <a:t>unit distance codes</a:t>
            </a:r>
            <a:r>
              <a:rPr lang="en-US" dirty="0"/>
              <a:t>.</a:t>
            </a:r>
          </a:p>
          <a:p>
            <a:pPr lvl="1" algn="just">
              <a:buNone/>
            </a:pPr>
            <a:r>
              <a:rPr lang="en-US" dirty="0" smtClean="0">
                <a:solidFill>
                  <a:srgbClr val="0070C0"/>
                </a:solidFill>
              </a:rPr>
              <a:t>The </a:t>
            </a:r>
            <a:r>
              <a:rPr lang="en-US" dirty="0">
                <a:solidFill>
                  <a:srgbClr val="0070C0"/>
                </a:solidFill>
              </a:rPr>
              <a:t>Gray code is a cyclic code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dirty="0" smtClean="0">
                <a:solidFill>
                  <a:srgbClr val="002060"/>
                </a:solidFill>
              </a:rPr>
              <a:t>8. Reflective Codes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reflective code</a:t>
            </a:r>
            <a:r>
              <a:rPr lang="en-US" dirty="0"/>
              <a:t> is a binary code in which the </a:t>
            </a:r>
            <a:r>
              <a:rPr lang="en-US" i="1" dirty="0"/>
              <a:t>n</a:t>
            </a:r>
            <a:r>
              <a:rPr lang="en-US" dirty="0"/>
              <a:t> least significant bits for code words 2</a:t>
            </a:r>
            <a:r>
              <a:rPr lang="en-US" i="1" baseline="30000" dirty="0"/>
              <a:t>n</a:t>
            </a:r>
            <a:r>
              <a:rPr lang="en-US" dirty="0"/>
              <a:t> through 2</a:t>
            </a:r>
            <a:r>
              <a:rPr lang="en-US" i="1" baseline="30000" dirty="0"/>
              <a:t>n</a:t>
            </a:r>
            <a:r>
              <a:rPr lang="en-US" baseline="30000" dirty="0"/>
              <a:t>+1</a:t>
            </a:r>
            <a:r>
              <a:rPr lang="en-US" dirty="0"/>
              <a:t> - 1 are the mirror images of those for 0 through 2</a:t>
            </a:r>
            <a:r>
              <a:rPr lang="en-US" baseline="30000" dirty="0"/>
              <a:t>n</a:t>
            </a:r>
            <a:r>
              <a:rPr lang="en-US" dirty="0"/>
              <a:t> - 1.</a:t>
            </a:r>
          </a:p>
          <a:p>
            <a:pPr lvl="1" algn="just">
              <a:buNone/>
            </a:pPr>
            <a:r>
              <a:rPr lang="en-US" dirty="0">
                <a:solidFill>
                  <a:srgbClr val="0070C0"/>
                </a:solidFill>
              </a:rPr>
              <a:t>The Gray code is a reflective code</a:t>
            </a:r>
            <a:r>
              <a:rPr lang="en-US" dirty="0" smtClean="0">
                <a:solidFill>
                  <a:srgbClr val="0070C0"/>
                </a:solidFill>
              </a:rPr>
              <a:t>.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838200"/>
            <a:ext cx="8229600" cy="5486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The 8421 BCD Code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8421 BCD code is so widely used that is a common practice to refer to it simply as BCD </a:t>
            </a:r>
            <a:r>
              <a:rPr lang="en-US" dirty="0" smtClean="0"/>
              <a:t>code.</a:t>
            </a:r>
          </a:p>
          <a:p>
            <a:pPr algn="just"/>
            <a:r>
              <a:rPr lang="en-US" dirty="0" smtClean="0"/>
              <a:t>In </a:t>
            </a:r>
            <a:r>
              <a:rPr lang="en-US" dirty="0"/>
              <a:t>this code, each decimal digit, 0 through 9, is coded by a 4-bit binary </a:t>
            </a:r>
            <a:r>
              <a:rPr lang="en-US" dirty="0" smtClean="0"/>
              <a:t>number.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also called the </a:t>
            </a:r>
            <a:r>
              <a:rPr lang="en-US" i="1" dirty="0">
                <a:solidFill>
                  <a:srgbClr val="C00000"/>
                </a:solidFill>
              </a:rPr>
              <a:t>natural binary code</a:t>
            </a:r>
            <a:r>
              <a:rPr lang="en-US" dirty="0"/>
              <a:t> because of the 8, 4, 2 and </a:t>
            </a:r>
            <a:r>
              <a:rPr lang="en-US" dirty="0" smtClean="0"/>
              <a:t>1 weights </a:t>
            </a:r>
            <a:r>
              <a:rPr lang="en-US" dirty="0"/>
              <a:t>attached to </a:t>
            </a:r>
            <a:r>
              <a:rPr lang="en-US" dirty="0" smtClean="0"/>
              <a:t>it.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 weighted code and is also </a:t>
            </a:r>
            <a:r>
              <a:rPr lang="en-US" dirty="0" smtClean="0"/>
              <a:t>sequential. Therefore</a:t>
            </a:r>
            <a:r>
              <a:rPr lang="en-US" dirty="0"/>
              <a:t>, it is useful for mathematical operations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The main advantage of this code is its ease of conversion to and from decimal.</a:t>
            </a:r>
          </a:p>
          <a:p>
            <a:pPr algn="just"/>
            <a:r>
              <a:rPr lang="en-US" dirty="0" smtClean="0"/>
              <a:t>It is less efficient than the pure binary, in the sense that it requires more bits.</a:t>
            </a:r>
          </a:p>
          <a:p>
            <a:pPr lvl="1" algn="just"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70C0"/>
                </a:solidFill>
              </a:rPr>
              <a:t>For example, the decimal number 14 can be represented as 1110 in pure binary but as 0001 0100 in 8421 code.</a:t>
            </a:r>
          </a:p>
          <a:p>
            <a:pPr algn="just"/>
            <a:r>
              <a:rPr lang="en-US" dirty="0" smtClean="0"/>
              <a:t>Another disadvantage of the BCD code is that, arithmetic operations are more complex than they in pure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Gray </a:t>
            </a:r>
            <a:r>
              <a:rPr lang="en-US" b="1" dirty="0" smtClean="0">
                <a:solidFill>
                  <a:srgbClr val="C00000"/>
                </a:solidFill>
              </a:rPr>
              <a:t>Code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Gray code is a non-weighted code, and is not suitable for arithmetic </a:t>
            </a:r>
            <a:r>
              <a:rPr lang="en-US" dirty="0" smtClean="0"/>
              <a:t>operations. It </a:t>
            </a:r>
            <a:r>
              <a:rPr lang="en-US" dirty="0"/>
              <a:t>is not a BCD </a:t>
            </a:r>
            <a:r>
              <a:rPr lang="en-US" dirty="0" smtClean="0"/>
              <a:t>code.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 cyclic code because successive code words in this code differ in one bit position only, i.e. it is a unit distance </a:t>
            </a:r>
            <a:r>
              <a:rPr lang="en-US" dirty="0" smtClean="0"/>
              <a:t>code.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also reflective code, i.e. it is both reflective and unit </a:t>
            </a:r>
            <a:r>
              <a:rPr lang="en-US" dirty="0" smtClean="0"/>
              <a:t>distance.</a:t>
            </a:r>
          </a:p>
          <a:p>
            <a:pPr lvl="1" algn="just">
              <a:buNone/>
            </a:pPr>
            <a:r>
              <a:rPr lang="en-US" dirty="0" smtClean="0"/>
              <a:t>	The </a:t>
            </a:r>
            <a:r>
              <a:rPr lang="en-US" i="1" dirty="0"/>
              <a:t>n</a:t>
            </a:r>
            <a:r>
              <a:rPr lang="en-US" dirty="0"/>
              <a:t> least significant bits for 2</a:t>
            </a:r>
            <a:r>
              <a:rPr lang="en-US" i="1" baseline="30000" dirty="0"/>
              <a:t>n</a:t>
            </a:r>
            <a:r>
              <a:rPr lang="en-US" dirty="0"/>
              <a:t> through 2</a:t>
            </a:r>
            <a:r>
              <a:rPr lang="en-US" i="1" baseline="30000" dirty="0"/>
              <a:t>n</a:t>
            </a:r>
            <a:r>
              <a:rPr lang="en-US" baseline="30000" dirty="0"/>
              <a:t>+1</a:t>
            </a:r>
            <a:r>
              <a:rPr lang="en-US" dirty="0"/>
              <a:t> - 1 are the mirror images of the those for 0 through 2</a:t>
            </a:r>
            <a:r>
              <a:rPr lang="en-US" i="1" baseline="30000" dirty="0"/>
              <a:t>n</a:t>
            </a:r>
            <a:r>
              <a:rPr lang="en-US" dirty="0"/>
              <a:t> - </a:t>
            </a:r>
            <a:r>
              <a:rPr lang="en-US" dirty="0" smtClean="0"/>
              <a:t>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Gray codes are used in instrumentation and data acquisition systems where linear or angular displacement is measured.</a:t>
            </a:r>
          </a:p>
          <a:p>
            <a:pPr algn="just"/>
            <a:r>
              <a:rPr lang="en-US" dirty="0" smtClean="0"/>
              <a:t>They are also used in shaft encoders, I/O devices, A/D converters and other peripheral equipment.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990600"/>
            <a:ext cx="7696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The ASCII </a:t>
            </a:r>
            <a:r>
              <a:rPr lang="en-US" b="1" dirty="0" smtClean="0">
                <a:solidFill>
                  <a:srgbClr val="C00000"/>
                </a:solidFill>
              </a:rPr>
              <a:t>Code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The American Standard Code for Information Interchange (ASCII) is a widely used alphanumeric </a:t>
            </a:r>
            <a:r>
              <a:rPr lang="en-US" dirty="0" smtClean="0"/>
              <a:t>code.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is basically a 7-bit </a:t>
            </a:r>
            <a:r>
              <a:rPr lang="en-US" dirty="0" smtClean="0"/>
              <a:t>code. Since </a:t>
            </a:r>
            <a:r>
              <a:rPr lang="en-US" dirty="0"/>
              <a:t>the number of different bit patterns that can be created with 7 bits is 2</a:t>
            </a:r>
            <a:r>
              <a:rPr lang="en-US" baseline="30000" dirty="0"/>
              <a:t>7</a:t>
            </a:r>
            <a:r>
              <a:rPr lang="en-US" dirty="0"/>
              <a:t> = 128, the ASCII can be used to encode both lowercase and uppercase characters of the alphabet (52 symbols) and some special symbols as well, in addition to the 10 decimal digits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It is used extensively for printers and terminals that interface with small computer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861059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219200"/>
            <a:ext cx="8000999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FD349-A1A4-441B-87DE-72BBE5547ACF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963</Words>
  <Application>Microsoft Office PowerPoint</Application>
  <PresentationFormat>On-screen Show (4:3)</PresentationFormat>
  <Paragraphs>91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DIGITAL ELECTRONICS III Semester CSE, CSE (AIML) &amp; CSE (DS)</vt:lpstr>
      <vt:lpstr>BINARY CODES</vt:lpstr>
      <vt:lpstr>Classification of Binary Codes</vt:lpstr>
      <vt:lpstr>1. Numeric and Alphanumeric Codes</vt:lpstr>
      <vt:lpstr>2. Weighted and Non-weighted Codes</vt:lpstr>
      <vt:lpstr>3. Positively-weighted and Negatively-weighted Codes</vt:lpstr>
      <vt:lpstr>4. Error Detecting and Error Correcting Codes</vt:lpstr>
      <vt:lpstr>5. Sequential Codes</vt:lpstr>
      <vt:lpstr>6. Self-complementing Codes</vt:lpstr>
      <vt:lpstr>7. Cyclic Codes</vt:lpstr>
      <vt:lpstr>8. Reflective Codes</vt:lpstr>
      <vt:lpstr>Slide 12</vt:lpstr>
      <vt:lpstr>The 8421 BCD Code</vt:lpstr>
      <vt:lpstr>Slide 14</vt:lpstr>
      <vt:lpstr>The Gray Code</vt:lpstr>
      <vt:lpstr>Slide 16</vt:lpstr>
      <vt:lpstr>Slide 17</vt:lpstr>
      <vt:lpstr>The ASCII Code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CODES</dc:title>
  <dc:creator>admin</dc:creator>
  <cp:lastModifiedBy>staff</cp:lastModifiedBy>
  <cp:revision>21</cp:revision>
  <dcterms:created xsi:type="dcterms:W3CDTF">2020-08-29T13:52:01Z</dcterms:created>
  <dcterms:modified xsi:type="dcterms:W3CDTF">2023-07-24T04:39:59Z</dcterms:modified>
</cp:coreProperties>
</file>