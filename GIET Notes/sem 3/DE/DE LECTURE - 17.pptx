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7" r:id="rId2"/>
    <p:sldId id="282" r:id="rId3"/>
    <p:sldId id="283" r:id="rId4"/>
    <p:sldId id="284" r:id="rId5"/>
    <p:sldId id="309" r:id="rId6"/>
    <p:sldId id="288" r:id="rId7"/>
    <p:sldId id="311" r:id="rId8"/>
    <p:sldId id="308" r:id="rId9"/>
    <p:sldId id="297" r:id="rId10"/>
    <p:sldId id="298" r:id="rId11"/>
    <p:sldId id="290" r:id="rId12"/>
    <p:sldId id="300" r:id="rId13"/>
    <p:sldId id="294" r:id="rId14"/>
    <p:sldId id="291" r:id="rId15"/>
    <p:sldId id="303" r:id="rId16"/>
    <p:sldId id="295" r:id="rId17"/>
    <p:sldId id="293" r:id="rId18"/>
    <p:sldId id="301" r:id="rId19"/>
    <p:sldId id="296" r:id="rId20"/>
    <p:sldId id="292" r:id="rId21"/>
    <p:sldId id="304" r:id="rId22"/>
    <p:sldId id="305" r:id="rId23"/>
    <p:sldId id="306" r:id="rId24"/>
    <p:sldId id="30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83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3D61D71-BB28-4AB1-86DD-EC5A9259A7E3}" type="datetimeFigureOut">
              <a:rPr lang="en-IN" smtClean="0"/>
              <a:pPr/>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9CBF4A-19EF-479D-8616-097F8E804F72}" type="slidenum">
              <a:rPr lang="en-IN" smtClean="0"/>
              <a:pPr/>
              <a:t>‹#›</a:t>
            </a:fld>
            <a:endParaRPr lang="en-IN"/>
          </a:p>
        </p:txBody>
      </p:sp>
    </p:spTree>
    <p:extLst>
      <p:ext uri="{BB962C8B-B14F-4D97-AF65-F5344CB8AC3E}">
        <p14:creationId xmlns:p14="http://schemas.microsoft.com/office/powerpoint/2010/main" val="1077788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3D61D71-BB28-4AB1-86DD-EC5A9259A7E3}" type="datetimeFigureOut">
              <a:rPr lang="en-IN" smtClean="0"/>
              <a:pPr/>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9CBF4A-19EF-479D-8616-097F8E804F72}" type="slidenum">
              <a:rPr lang="en-IN" smtClean="0"/>
              <a:pPr/>
              <a:t>‹#›</a:t>
            </a:fld>
            <a:endParaRPr lang="en-IN"/>
          </a:p>
        </p:txBody>
      </p:sp>
    </p:spTree>
    <p:extLst>
      <p:ext uri="{BB962C8B-B14F-4D97-AF65-F5344CB8AC3E}">
        <p14:creationId xmlns:p14="http://schemas.microsoft.com/office/powerpoint/2010/main" val="1556736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D61D71-BB28-4AB1-86DD-EC5A9259A7E3}" type="datetimeFigureOut">
              <a:rPr lang="en-IN" smtClean="0"/>
              <a:pPr/>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9CBF4A-19EF-479D-8616-097F8E804F72}" type="slidenum">
              <a:rPr lang="en-IN" smtClean="0"/>
              <a:pPr/>
              <a:t>‹#›</a:t>
            </a:fld>
            <a:endParaRPr lang="en-IN"/>
          </a:p>
        </p:txBody>
      </p:sp>
    </p:spTree>
    <p:extLst>
      <p:ext uri="{BB962C8B-B14F-4D97-AF65-F5344CB8AC3E}">
        <p14:creationId xmlns:p14="http://schemas.microsoft.com/office/powerpoint/2010/main" val="2902227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3D61D71-BB28-4AB1-86DD-EC5A9259A7E3}" type="datetimeFigureOut">
              <a:rPr lang="en-IN" smtClean="0"/>
              <a:pPr/>
              <a:t>22-10-2025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9CBF4A-19EF-479D-8616-097F8E804F72}" type="slidenum">
              <a:rPr lang="en-IN" smtClean="0"/>
              <a:pPr/>
              <a:t>‹#›</a:t>
            </a:fld>
            <a:endParaRPr lang="en-IN"/>
          </a:p>
        </p:txBody>
      </p:sp>
    </p:spTree>
    <p:extLst>
      <p:ext uri="{BB962C8B-B14F-4D97-AF65-F5344CB8AC3E}">
        <p14:creationId xmlns:p14="http://schemas.microsoft.com/office/powerpoint/2010/main" val="1986980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3D61D71-BB28-4AB1-86DD-EC5A9259A7E3}" type="datetimeFigureOut">
              <a:rPr lang="en-IN" smtClean="0"/>
              <a:pPr/>
              <a:t>22-10-2025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79CBF4A-19EF-479D-8616-097F8E804F72}" type="slidenum">
              <a:rPr lang="en-IN" smtClean="0"/>
              <a:pPr/>
              <a:t>‹#›</a:t>
            </a:fld>
            <a:endParaRPr lang="en-IN"/>
          </a:p>
        </p:txBody>
      </p:sp>
    </p:spTree>
    <p:extLst>
      <p:ext uri="{BB962C8B-B14F-4D97-AF65-F5344CB8AC3E}">
        <p14:creationId xmlns:p14="http://schemas.microsoft.com/office/powerpoint/2010/main" val="23664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3D61D71-BB28-4AB1-86DD-EC5A9259A7E3}" type="datetimeFigureOut">
              <a:rPr lang="en-IN" smtClean="0"/>
              <a:pPr/>
              <a:t>22-10-2025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79CBF4A-19EF-479D-8616-097F8E804F72}" type="slidenum">
              <a:rPr lang="en-IN" smtClean="0"/>
              <a:pPr/>
              <a:t>‹#›</a:t>
            </a:fld>
            <a:endParaRPr lang="en-IN"/>
          </a:p>
        </p:txBody>
      </p:sp>
    </p:spTree>
    <p:extLst>
      <p:ext uri="{BB962C8B-B14F-4D97-AF65-F5344CB8AC3E}">
        <p14:creationId xmlns:p14="http://schemas.microsoft.com/office/powerpoint/2010/main" val="2686333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D61D71-BB28-4AB1-86DD-EC5A9259A7E3}" type="datetimeFigureOut">
              <a:rPr lang="en-IN" smtClean="0"/>
              <a:pPr/>
              <a:t>22-10-2025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79CBF4A-19EF-479D-8616-097F8E804F72}" type="slidenum">
              <a:rPr lang="en-IN" smtClean="0"/>
              <a:pPr/>
              <a:t>‹#›</a:t>
            </a:fld>
            <a:endParaRPr lang="en-IN"/>
          </a:p>
        </p:txBody>
      </p:sp>
    </p:spTree>
    <p:extLst>
      <p:ext uri="{BB962C8B-B14F-4D97-AF65-F5344CB8AC3E}">
        <p14:creationId xmlns:p14="http://schemas.microsoft.com/office/powerpoint/2010/main" val="3410170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D61D71-BB28-4AB1-86DD-EC5A9259A7E3}" type="datetimeFigureOut">
              <a:rPr lang="en-IN" smtClean="0"/>
              <a:pPr/>
              <a:t>22-10-2025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9CBF4A-19EF-479D-8616-097F8E804F72}" type="slidenum">
              <a:rPr lang="en-IN" smtClean="0"/>
              <a:pPr/>
              <a:t>‹#›</a:t>
            </a:fld>
            <a:endParaRPr lang="en-IN"/>
          </a:p>
        </p:txBody>
      </p:sp>
    </p:spTree>
    <p:extLst>
      <p:ext uri="{BB962C8B-B14F-4D97-AF65-F5344CB8AC3E}">
        <p14:creationId xmlns:p14="http://schemas.microsoft.com/office/powerpoint/2010/main" val="272844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D61D71-BB28-4AB1-86DD-EC5A9259A7E3}" type="datetimeFigureOut">
              <a:rPr lang="en-IN" smtClean="0"/>
              <a:pPr/>
              <a:t>22-10-2025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9CBF4A-19EF-479D-8616-097F8E804F72}" type="slidenum">
              <a:rPr lang="en-IN" smtClean="0"/>
              <a:pPr/>
              <a:t>‹#›</a:t>
            </a:fld>
            <a:endParaRPr lang="en-IN"/>
          </a:p>
        </p:txBody>
      </p:sp>
    </p:spTree>
    <p:extLst>
      <p:ext uri="{BB962C8B-B14F-4D97-AF65-F5344CB8AC3E}">
        <p14:creationId xmlns:p14="http://schemas.microsoft.com/office/powerpoint/2010/main" val="3104764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3D61D71-BB28-4AB1-86DD-EC5A9259A7E3}" type="datetimeFigureOut">
              <a:rPr lang="en-IN" smtClean="0"/>
              <a:pPr/>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9CBF4A-19EF-479D-8616-097F8E804F72}" type="slidenum">
              <a:rPr lang="en-IN" smtClean="0"/>
              <a:pPr/>
              <a:t>‹#›</a:t>
            </a:fld>
            <a:endParaRPr lang="en-IN"/>
          </a:p>
        </p:txBody>
      </p:sp>
    </p:spTree>
    <p:extLst>
      <p:ext uri="{BB962C8B-B14F-4D97-AF65-F5344CB8AC3E}">
        <p14:creationId xmlns:p14="http://schemas.microsoft.com/office/powerpoint/2010/main" val="3396964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3D61D71-BB28-4AB1-86DD-EC5A9259A7E3}" type="datetimeFigureOut">
              <a:rPr lang="en-IN" smtClean="0"/>
              <a:pPr/>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9CBF4A-19EF-479D-8616-097F8E804F72}" type="slidenum">
              <a:rPr lang="en-IN" smtClean="0"/>
              <a:pPr/>
              <a:t>‹#›</a:t>
            </a:fld>
            <a:endParaRPr lang="en-IN"/>
          </a:p>
        </p:txBody>
      </p:sp>
    </p:spTree>
    <p:extLst>
      <p:ext uri="{BB962C8B-B14F-4D97-AF65-F5344CB8AC3E}">
        <p14:creationId xmlns:p14="http://schemas.microsoft.com/office/powerpoint/2010/main" val="2280325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D61D71-BB28-4AB1-86DD-EC5A9259A7E3}" type="datetimeFigureOut">
              <a:rPr lang="en-IN" smtClean="0"/>
              <a:pPr/>
              <a:t>22-10-2025</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9CBF4A-19EF-479D-8616-097F8E804F72}" type="slidenum">
              <a:rPr lang="en-IN" smtClean="0"/>
              <a:pPr/>
              <a:t>‹#›</a:t>
            </a:fld>
            <a:endParaRPr lang="en-IN"/>
          </a:p>
        </p:txBody>
      </p:sp>
    </p:spTree>
    <p:extLst>
      <p:ext uri="{BB962C8B-B14F-4D97-AF65-F5344CB8AC3E}">
        <p14:creationId xmlns:p14="http://schemas.microsoft.com/office/powerpoint/2010/main" val="323789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9720" y="642918"/>
            <a:ext cx="8572560" cy="1420210"/>
          </a:xfrm>
        </p:spPr>
        <p:txBody>
          <a:bodyPr>
            <a:normAutofit fontScale="90000"/>
          </a:bodyPr>
          <a:lstStyle/>
          <a:p>
            <a:r>
              <a:rPr lang="en-US" sz="6000" b="1" dirty="0">
                <a:solidFill>
                  <a:srgbClr val="FF0000"/>
                </a:solidFill>
                <a:latin typeface="Baskerville Old Face" pitchFamily="18" charset="0"/>
              </a:rPr>
              <a:t>DIGITAL ELECTRONICS</a:t>
            </a:r>
            <a:br>
              <a:rPr lang="en-US" sz="6600" b="1" dirty="0">
                <a:solidFill>
                  <a:srgbClr val="00B050"/>
                </a:solidFill>
                <a:latin typeface="Baskerville Old Face" pitchFamily="18" charset="0"/>
              </a:rPr>
            </a:br>
            <a:r>
              <a:rPr lang="en-US" b="1" dirty="0">
                <a:solidFill>
                  <a:srgbClr val="00B050"/>
                </a:solidFill>
                <a:latin typeface="Baskerville Old Face" pitchFamily="18" charset="0"/>
              </a:rPr>
              <a:t>III </a:t>
            </a:r>
            <a:r>
              <a:rPr lang="en-US" b="1">
                <a:solidFill>
                  <a:srgbClr val="00B050"/>
                </a:solidFill>
                <a:latin typeface="Baskerville Old Face" pitchFamily="18" charset="0"/>
              </a:rPr>
              <a:t>Semester CSE</a:t>
            </a:r>
            <a:endParaRPr lang="en-US" dirty="0">
              <a:solidFill>
                <a:srgbClr val="00B050"/>
              </a:solidFill>
              <a:latin typeface="Baskerville Old Face" pitchFamily="18" charset="0"/>
            </a:endParaRPr>
          </a:p>
        </p:txBody>
      </p:sp>
      <p:sp>
        <p:nvSpPr>
          <p:cNvPr id="3" name="Subtitle 2"/>
          <p:cNvSpPr>
            <a:spLocks noGrp="1"/>
          </p:cNvSpPr>
          <p:nvPr>
            <p:ph type="subTitle" idx="1"/>
          </p:nvPr>
        </p:nvSpPr>
        <p:spPr>
          <a:xfrm>
            <a:off x="2024034" y="4214818"/>
            <a:ext cx="8358246" cy="1857388"/>
          </a:xfrm>
        </p:spPr>
        <p:txBody>
          <a:bodyPr>
            <a:normAutofit/>
          </a:bodyPr>
          <a:lstStyle/>
          <a:p>
            <a:pPr>
              <a:lnSpc>
                <a:spcPct val="150000"/>
              </a:lnSpc>
            </a:pPr>
            <a:r>
              <a:rPr lang="en-US" sz="1800" b="1" dirty="0">
                <a:solidFill>
                  <a:srgbClr val="002060"/>
                </a:solidFill>
                <a:latin typeface="Times New Roman" pitchFamily="18" charset="0"/>
                <a:cs typeface="Times New Roman" pitchFamily="18" charset="0"/>
              </a:rPr>
              <a:t>DEPARTMENT OF ELECTRONICS AND COMMUNICATION ENGINEERING</a:t>
            </a:r>
            <a:endParaRPr lang="en-US" sz="1800" dirty="0">
              <a:solidFill>
                <a:srgbClr val="002060"/>
              </a:solidFill>
              <a:latin typeface="Times New Roman" pitchFamily="18" charset="0"/>
              <a:cs typeface="Times New Roman" pitchFamily="18" charset="0"/>
            </a:endParaRPr>
          </a:p>
          <a:p>
            <a:pPr>
              <a:lnSpc>
                <a:spcPct val="150000"/>
              </a:lnSpc>
            </a:pPr>
            <a:r>
              <a:rPr lang="en-US" sz="2400" b="1" dirty="0">
                <a:solidFill>
                  <a:srgbClr val="7030A0"/>
                </a:solidFill>
                <a:latin typeface="Times New Roman" pitchFamily="18" charset="0"/>
                <a:cs typeface="Times New Roman" pitchFamily="18" charset="0"/>
              </a:rPr>
              <a:t>SCHOOL OF ENGINEERING &amp; TECHNOLOGY</a:t>
            </a:r>
          </a:p>
          <a:p>
            <a:pPr>
              <a:lnSpc>
                <a:spcPct val="150000"/>
              </a:lnSpc>
            </a:pPr>
            <a:r>
              <a:rPr lang="en-US" sz="2800" b="1" dirty="0">
                <a:solidFill>
                  <a:srgbClr val="C00000"/>
                </a:solidFill>
                <a:latin typeface="Times New Roman" pitchFamily="18" charset="0"/>
                <a:cs typeface="Times New Roman" pitchFamily="18" charset="0"/>
              </a:rPr>
              <a:t>GIET UNIVERSITY, GUNUPUR, ODISHA</a:t>
            </a:r>
          </a:p>
        </p:txBody>
      </p:sp>
      <p:pic>
        <p:nvPicPr>
          <p:cNvPr id="4" name="Picture 2"/>
          <p:cNvPicPr>
            <a:picLocks noChangeAspect="1" noChangeArrowheads="1"/>
          </p:cNvPicPr>
          <p:nvPr/>
        </p:nvPicPr>
        <p:blipFill>
          <a:blip r:embed="rId2" cstate="print"/>
          <a:srcRect/>
          <a:stretch>
            <a:fillRect/>
          </a:stretch>
        </p:blipFill>
        <p:spPr bwMode="auto">
          <a:xfrm>
            <a:off x="5095869" y="2071678"/>
            <a:ext cx="1964545" cy="1571636"/>
          </a:xfrm>
          <a:prstGeom prst="rect">
            <a:avLst/>
          </a:prstGeom>
          <a:noFill/>
          <a:ln w="9525">
            <a:noFill/>
            <a:miter lim="800000"/>
            <a:headEnd/>
            <a:tailEnd/>
          </a:ln>
          <a:effectLst/>
        </p:spPr>
      </p:pic>
      <p:sp>
        <p:nvSpPr>
          <p:cNvPr id="7" name="Subtitle 2"/>
          <p:cNvSpPr txBox="1">
            <a:spLocks/>
          </p:cNvSpPr>
          <p:nvPr/>
        </p:nvSpPr>
        <p:spPr>
          <a:xfrm>
            <a:off x="1952596" y="3643314"/>
            <a:ext cx="8358246" cy="642942"/>
          </a:xfrm>
          <a:prstGeom prst="rect">
            <a:avLst/>
          </a:prstGeom>
        </p:spPr>
        <p:txBody>
          <a:bodyPr vert="horz" lIns="91440" tIns="45720" rIns="91440" bIns="45720" numCol="1" rtlCol="0">
            <a:normAutofit/>
          </a:bodyPr>
          <a:lstStyle/>
          <a:p>
            <a:pPr lvl="0" algn="ctr">
              <a:lnSpc>
                <a:spcPct val="150000"/>
              </a:lnSpc>
              <a:spcBef>
                <a:spcPct val="20000"/>
              </a:spcBef>
            </a:pPr>
            <a:r>
              <a:rPr lang="en-US" sz="2400" b="1" dirty="0">
                <a:latin typeface="Times New Roman" pitchFamily="18" charset="0"/>
                <a:cs typeface="Times New Roman" pitchFamily="18" charset="0"/>
              </a:rPr>
              <a:t>Dr. Ranjita Rout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556793"/>
            <a:ext cx="7772400" cy="1152128"/>
          </a:xfrm>
        </p:spPr>
        <p:txBody>
          <a:bodyPr/>
          <a:lstStyle/>
          <a:p>
            <a:r>
              <a:rPr lang="en-US" b="1" dirty="0">
                <a:solidFill>
                  <a:srgbClr val="FF0000"/>
                </a:solidFill>
              </a:rPr>
              <a:t>Registers and Counters</a:t>
            </a:r>
            <a:endParaRPr lang="en-IN" dirty="0">
              <a:solidFill>
                <a:srgbClr val="FF0000"/>
              </a:solidFill>
            </a:endParaRPr>
          </a:p>
        </p:txBody>
      </p:sp>
      <p:sp>
        <p:nvSpPr>
          <p:cNvPr id="3" name="Subtitle 2"/>
          <p:cNvSpPr>
            <a:spLocks noGrp="1"/>
          </p:cNvSpPr>
          <p:nvPr>
            <p:ph type="subTitle" idx="1"/>
          </p:nvPr>
        </p:nvSpPr>
        <p:spPr>
          <a:xfrm>
            <a:off x="1847528" y="2780928"/>
            <a:ext cx="8424936" cy="2088232"/>
          </a:xfrm>
        </p:spPr>
        <p:txBody>
          <a:bodyPr>
            <a:noAutofit/>
          </a:bodyPr>
          <a:lstStyle/>
          <a:p>
            <a:r>
              <a:rPr lang="en-US" sz="4000" b="1" dirty="0">
                <a:solidFill>
                  <a:srgbClr val="00B050"/>
                </a:solidFill>
              </a:rPr>
              <a:t>Shift Registers;</a:t>
            </a:r>
            <a:br>
              <a:rPr lang="en-US" sz="4000" b="1" dirty="0">
                <a:solidFill>
                  <a:srgbClr val="00B050"/>
                </a:solidFill>
              </a:rPr>
            </a:br>
            <a:r>
              <a:rPr lang="en-US" sz="3600" b="1" dirty="0">
                <a:solidFill>
                  <a:srgbClr val="00B050"/>
                </a:solidFill>
              </a:rPr>
              <a:t>Data Transmission in Shift Registers; </a:t>
            </a:r>
            <a:br>
              <a:rPr lang="en-US" sz="4000" b="1" dirty="0">
                <a:solidFill>
                  <a:srgbClr val="00B050"/>
                </a:solidFill>
              </a:rPr>
            </a:br>
            <a:r>
              <a:rPr lang="en-US" sz="3600" b="1" dirty="0">
                <a:solidFill>
                  <a:srgbClr val="00B050"/>
                </a:solidFill>
              </a:rPr>
              <a:t>SISO, SIPO, PISO, and PIPO Shift Registers</a:t>
            </a:r>
            <a:endParaRPr lang="en-IN" sz="3600" b="1" dirty="0"/>
          </a:p>
        </p:txBody>
      </p:sp>
    </p:spTree>
    <p:extLst>
      <p:ext uri="{BB962C8B-B14F-4D97-AF65-F5344CB8AC3E}">
        <p14:creationId xmlns:p14="http://schemas.microsoft.com/office/powerpoint/2010/main" val="1379767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5400" b="1" dirty="0">
                <a:solidFill>
                  <a:srgbClr val="C00000"/>
                </a:solidFill>
              </a:rPr>
              <a:t>Registers</a:t>
            </a:r>
          </a:p>
        </p:txBody>
      </p:sp>
      <p:sp>
        <p:nvSpPr>
          <p:cNvPr id="3" name="Content Placeholder 2"/>
          <p:cNvSpPr>
            <a:spLocks noGrp="1"/>
          </p:cNvSpPr>
          <p:nvPr>
            <p:ph idx="1"/>
          </p:nvPr>
        </p:nvSpPr>
        <p:spPr/>
        <p:txBody>
          <a:bodyPr/>
          <a:lstStyle/>
          <a:p>
            <a:pPr algn="just">
              <a:lnSpc>
                <a:spcPct val="150000"/>
              </a:lnSpc>
            </a:pPr>
            <a:r>
              <a:rPr lang="en-US" dirty="0"/>
              <a:t>A </a:t>
            </a:r>
            <a:r>
              <a:rPr lang="en-US" i="1" dirty="0">
                <a:solidFill>
                  <a:srgbClr val="C00000"/>
                </a:solidFill>
              </a:rPr>
              <a:t>register</a:t>
            </a:r>
            <a:r>
              <a:rPr lang="en-US" i="1" dirty="0"/>
              <a:t> </a:t>
            </a:r>
            <a:r>
              <a:rPr lang="en-US" dirty="0"/>
              <a:t>is a group of flip‐flops, each one of which shares a common clock and is capable of storing one bit of information.</a:t>
            </a:r>
          </a:p>
          <a:p>
            <a:pPr algn="just">
              <a:lnSpc>
                <a:spcPct val="150000"/>
              </a:lnSpc>
            </a:pPr>
            <a:r>
              <a:rPr lang="en-US" dirty="0"/>
              <a:t>An </a:t>
            </a:r>
            <a:r>
              <a:rPr lang="en-US" i="1" dirty="0"/>
              <a:t>n</a:t>
            </a:r>
            <a:r>
              <a:rPr lang="en-US" dirty="0"/>
              <a:t>‐bit register consists of a group of </a:t>
            </a:r>
            <a:r>
              <a:rPr lang="en-US" i="1" dirty="0"/>
              <a:t>n </a:t>
            </a:r>
            <a:r>
              <a:rPr lang="en-US" dirty="0"/>
              <a:t>flip‐flops capable of storing </a:t>
            </a:r>
            <a:r>
              <a:rPr lang="en-US" i="1" dirty="0"/>
              <a:t>n </a:t>
            </a:r>
            <a:r>
              <a:rPr lang="en-US" dirty="0"/>
              <a:t>bits of binary information.</a:t>
            </a:r>
            <a:endParaRPr lang="en-IN" dirty="0"/>
          </a:p>
        </p:txBody>
      </p:sp>
    </p:spTree>
    <p:extLst>
      <p:ext uri="{BB962C8B-B14F-4D97-AF65-F5344CB8AC3E}">
        <p14:creationId xmlns:p14="http://schemas.microsoft.com/office/powerpoint/2010/main" val="30751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800" b="1" dirty="0">
                <a:solidFill>
                  <a:srgbClr val="C00000"/>
                </a:solidFill>
              </a:rPr>
              <a:t>Shift Registers</a:t>
            </a:r>
          </a:p>
        </p:txBody>
      </p:sp>
      <p:sp>
        <p:nvSpPr>
          <p:cNvPr id="3" name="Content Placeholder 2"/>
          <p:cNvSpPr>
            <a:spLocks noGrp="1"/>
          </p:cNvSpPr>
          <p:nvPr>
            <p:ph idx="1"/>
          </p:nvPr>
        </p:nvSpPr>
        <p:spPr/>
        <p:txBody>
          <a:bodyPr>
            <a:normAutofit/>
          </a:bodyPr>
          <a:lstStyle/>
          <a:p>
            <a:pPr algn="just"/>
            <a:r>
              <a:rPr lang="en-US" dirty="0"/>
              <a:t>A register capable of shifting the binary information held in each cell to its neighboring cell, in a selected direction, is called a </a:t>
            </a:r>
            <a:r>
              <a:rPr lang="en-US" i="1" dirty="0">
                <a:solidFill>
                  <a:srgbClr val="C00000"/>
                </a:solidFill>
              </a:rPr>
              <a:t>shift register</a:t>
            </a:r>
            <a:r>
              <a:rPr lang="en-US" i="1" dirty="0"/>
              <a:t>.</a:t>
            </a:r>
          </a:p>
          <a:p>
            <a:pPr algn="just"/>
            <a:r>
              <a:rPr lang="en-US" dirty="0"/>
              <a:t>The logical configuration of a shift register consists of a chain of flip‐flops in cascade, with the output of one flip‐flop connected to the input of the next flip‐flop.</a:t>
            </a:r>
          </a:p>
          <a:p>
            <a:pPr algn="just"/>
            <a:r>
              <a:rPr lang="en-US" dirty="0"/>
              <a:t>All flip‐flops receive common clock pulses, which activate the shift of data from one stage to the next.</a:t>
            </a:r>
            <a:endParaRPr lang="en-IN" dirty="0"/>
          </a:p>
        </p:txBody>
      </p:sp>
    </p:spTree>
    <p:extLst>
      <p:ext uri="{BB962C8B-B14F-4D97-AF65-F5344CB8AC3E}">
        <p14:creationId xmlns:p14="http://schemas.microsoft.com/office/powerpoint/2010/main" val="1911163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hift Registers in Digital Logic ...">
            <a:extLst>
              <a:ext uri="{FF2B5EF4-FFF2-40B4-BE49-F238E27FC236}">
                <a16:creationId xmlns:a16="http://schemas.microsoft.com/office/drawing/2014/main" id="{F1BDB191-5B08-4E60-8AD7-1C3AFCC537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424" y="836713"/>
            <a:ext cx="10441160" cy="374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2448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800" b="1" dirty="0">
                <a:solidFill>
                  <a:srgbClr val="C00000"/>
                </a:solidFill>
              </a:rPr>
              <a:t>Data Transmission in Shift Registers</a:t>
            </a:r>
            <a:endParaRPr lang="en-IN" sz="4800" b="1" dirty="0"/>
          </a:p>
        </p:txBody>
      </p:sp>
      <p:sp>
        <p:nvSpPr>
          <p:cNvPr id="3" name="Content Placeholder 2"/>
          <p:cNvSpPr>
            <a:spLocks noGrp="1"/>
          </p:cNvSpPr>
          <p:nvPr>
            <p:ph idx="1"/>
          </p:nvPr>
        </p:nvSpPr>
        <p:spPr/>
        <p:txBody>
          <a:bodyPr>
            <a:normAutofit lnSpcReduction="10000"/>
          </a:bodyPr>
          <a:lstStyle/>
          <a:p>
            <a:pPr algn="just"/>
            <a:r>
              <a:rPr lang="en-US" dirty="0"/>
              <a:t>Data may be shifted into or out of the register either in serial form or in parallel form.</a:t>
            </a:r>
          </a:p>
          <a:p>
            <a:pPr algn="just"/>
            <a:r>
              <a:rPr lang="en-US" dirty="0"/>
              <a:t>So there are four basic types of shift registers:</a:t>
            </a:r>
          </a:p>
          <a:p>
            <a:pPr lvl="1" algn="just"/>
            <a:r>
              <a:rPr lang="en-US" dirty="0">
                <a:solidFill>
                  <a:srgbClr val="002060"/>
                </a:solidFill>
              </a:rPr>
              <a:t>Serial-in, Serial-out (SISO)</a:t>
            </a:r>
          </a:p>
          <a:p>
            <a:pPr lvl="1" algn="just"/>
            <a:r>
              <a:rPr lang="en-US" dirty="0">
                <a:solidFill>
                  <a:srgbClr val="002060"/>
                </a:solidFill>
              </a:rPr>
              <a:t>Serial-in, Parallel-out (SIPO)</a:t>
            </a:r>
          </a:p>
          <a:p>
            <a:pPr lvl="1" algn="just"/>
            <a:r>
              <a:rPr lang="en-US" dirty="0">
                <a:solidFill>
                  <a:srgbClr val="002060"/>
                </a:solidFill>
              </a:rPr>
              <a:t>Parallel-in, Serial-out (PISO)</a:t>
            </a:r>
          </a:p>
          <a:p>
            <a:pPr lvl="1" algn="just"/>
            <a:r>
              <a:rPr lang="en-US" dirty="0">
                <a:solidFill>
                  <a:srgbClr val="002060"/>
                </a:solidFill>
              </a:rPr>
              <a:t>Parallel-in, Parallel-out (PIPO)</a:t>
            </a:r>
          </a:p>
          <a:p>
            <a:pPr algn="just"/>
            <a:r>
              <a:rPr lang="en-US" dirty="0"/>
              <a:t>The process of data shifting in these registers is illustrated in Figure.</a:t>
            </a:r>
          </a:p>
        </p:txBody>
      </p:sp>
    </p:spTree>
    <p:extLst>
      <p:ext uri="{BB962C8B-B14F-4D97-AF65-F5344CB8AC3E}">
        <p14:creationId xmlns:p14="http://schemas.microsoft.com/office/powerpoint/2010/main" val="228734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 calcmode="lin" valueType="num">
                                      <p:cBhvr additive="base">
                                        <p:cTn id="4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6A4D5B-9004-4DB1-BA68-1BA352919364}"/>
              </a:ext>
            </a:extLst>
          </p:cNvPr>
          <p:cNvPicPr>
            <a:picLocks noChangeAspect="1"/>
          </p:cNvPicPr>
          <p:nvPr/>
        </p:nvPicPr>
        <p:blipFill>
          <a:blip r:embed="rId2"/>
          <a:stretch>
            <a:fillRect/>
          </a:stretch>
        </p:blipFill>
        <p:spPr>
          <a:xfrm>
            <a:off x="911424" y="1556792"/>
            <a:ext cx="10513168" cy="2664296"/>
          </a:xfrm>
          <a:prstGeom prst="rect">
            <a:avLst/>
          </a:prstGeom>
        </p:spPr>
      </p:pic>
    </p:spTree>
    <p:extLst>
      <p:ext uri="{BB962C8B-B14F-4D97-AF65-F5344CB8AC3E}">
        <p14:creationId xmlns:p14="http://schemas.microsoft.com/office/powerpoint/2010/main" val="1025672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906D9E-C8FC-4C63-96EB-900F2E303339}"/>
              </a:ext>
            </a:extLst>
          </p:cNvPr>
          <p:cNvPicPr>
            <a:picLocks noChangeAspect="1"/>
          </p:cNvPicPr>
          <p:nvPr/>
        </p:nvPicPr>
        <p:blipFill>
          <a:blip r:embed="rId2"/>
          <a:stretch>
            <a:fillRect/>
          </a:stretch>
        </p:blipFill>
        <p:spPr>
          <a:xfrm>
            <a:off x="1271464" y="-9128"/>
            <a:ext cx="9289032" cy="3528392"/>
          </a:xfrm>
          <a:prstGeom prst="rect">
            <a:avLst/>
          </a:prstGeom>
        </p:spPr>
      </p:pic>
      <p:pic>
        <p:nvPicPr>
          <p:cNvPr id="5" name="Picture 4">
            <a:extLst>
              <a:ext uri="{FF2B5EF4-FFF2-40B4-BE49-F238E27FC236}">
                <a16:creationId xmlns:a16="http://schemas.microsoft.com/office/drawing/2014/main" id="{21100757-B684-4076-9CC2-06191B3D42A8}"/>
              </a:ext>
            </a:extLst>
          </p:cNvPr>
          <p:cNvPicPr>
            <a:picLocks noChangeAspect="1"/>
          </p:cNvPicPr>
          <p:nvPr/>
        </p:nvPicPr>
        <p:blipFill>
          <a:blip r:embed="rId3"/>
          <a:stretch>
            <a:fillRect/>
          </a:stretch>
        </p:blipFill>
        <p:spPr>
          <a:xfrm>
            <a:off x="2855640" y="3717032"/>
            <a:ext cx="6408712" cy="2736304"/>
          </a:xfrm>
          <a:prstGeom prst="rect">
            <a:avLst/>
          </a:prstGeom>
        </p:spPr>
      </p:pic>
    </p:spTree>
    <p:extLst>
      <p:ext uri="{BB962C8B-B14F-4D97-AF65-F5344CB8AC3E}">
        <p14:creationId xmlns:p14="http://schemas.microsoft.com/office/powerpoint/2010/main" val="4207760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7408" y="404664"/>
            <a:ext cx="10972800" cy="4525963"/>
          </a:xfrm>
        </p:spPr>
        <p:txBody>
          <a:bodyPr/>
          <a:lstStyle/>
          <a:p>
            <a:pPr algn="just">
              <a:lnSpc>
                <a:spcPct val="150000"/>
              </a:lnSpc>
            </a:pPr>
            <a:r>
              <a:rPr lang="en-US" dirty="0"/>
              <a:t>Shift register has two shift operations that are controlled by the signals </a:t>
            </a:r>
            <a:r>
              <a:rPr lang="en-US" i="1" dirty="0">
                <a:solidFill>
                  <a:srgbClr val="002060"/>
                </a:solidFill>
              </a:rPr>
              <a:t>SHR</a:t>
            </a:r>
            <a:r>
              <a:rPr lang="en-US" dirty="0">
                <a:solidFill>
                  <a:srgbClr val="002060"/>
                </a:solidFill>
              </a:rPr>
              <a:t> (Shift Right)</a:t>
            </a:r>
            <a:r>
              <a:rPr lang="en-US" dirty="0"/>
              <a:t> and </a:t>
            </a:r>
            <a:r>
              <a:rPr lang="en-US" i="1" dirty="0">
                <a:solidFill>
                  <a:srgbClr val="002060"/>
                </a:solidFill>
              </a:rPr>
              <a:t>SHL</a:t>
            </a:r>
            <a:r>
              <a:rPr lang="en-US" dirty="0">
                <a:solidFill>
                  <a:srgbClr val="002060"/>
                </a:solidFill>
              </a:rPr>
              <a:t> (Shift Left)</a:t>
            </a:r>
            <a:r>
              <a:rPr lang="en-US" dirty="0"/>
              <a:t>.</a:t>
            </a:r>
          </a:p>
          <a:p>
            <a:pPr algn="just">
              <a:lnSpc>
                <a:spcPct val="150000"/>
              </a:lnSpc>
            </a:pPr>
            <a:r>
              <a:rPr lang="en-US" dirty="0"/>
              <a:t>In addition to the shift operations, a register may also have the capability of the rotate operations </a:t>
            </a:r>
            <a:r>
              <a:rPr lang="en-US" i="1" dirty="0">
                <a:solidFill>
                  <a:srgbClr val="002060"/>
                </a:solidFill>
              </a:rPr>
              <a:t>ROR</a:t>
            </a:r>
            <a:r>
              <a:rPr lang="en-US" dirty="0">
                <a:solidFill>
                  <a:srgbClr val="002060"/>
                </a:solidFill>
              </a:rPr>
              <a:t> (Rotate Right)</a:t>
            </a:r>
            <a:r>
              <a:rPr lang="en-US" dirty="0"/>
              <a:t> and </a:t>
            </a:r>
            <a:r>
              <a:rPr lang="en-US" i="1" dirty="0">
                <a:solidFill>
                  <a:srgbClr val="002060"/>
                </a:solidFill>
              </a:rPr>
              <a:t>ROL</a:t>
            </a:r>
            <a:r>
              <a:rPr lang="en-US" dirty="0">
                <a:solidFill>
                  <a:srgbClr val="002060"/>
                </a:solidFill>
              </a:rPr>
              <a:t> (Rotate Left)</a:t>
            </a:r>
            <a:r>
              <a:rPr lang="en-US" dirty="0"/>
              <a:t>.</a:t>
            </a:r>
            <a:endParaRPr lang="en-IN" dirty="0"/>
          </a:p>
        </p:txBody>
      </p:sp>
      <p:pic>
        <p:nvPicPr>
          <p:cNvPr id="2" name="Picture 1">
            <a:extLst>
              <a:ext uri="{FF2B5EF4-FFF2-40B4-BE49-F238E27FC236}">
                <a16:creationId xmlns:a16="http://schemas.microsoft.com/office/drawing/2014/main" id="{8D644CAC-50A0-4432-AD1A-FF63A8AA4F35}"/>
              </a:ext>
            </a:extLst>
          </p:cNvPr>
          <p:cNvPicPr>
            <a:picLocks noChangeAspect="1"/>
          </p:cNvPicPr>
          <p:nvPr/>
        </p:nvPicPr>
        <p:blipFill>
          <a:blip r:embed="rId2"/>
          <a:stretch>
            <a:fillRect/>
          </a:stretch>
        </p:blipFill>
        <p:spPr>
          <a:xfrm>
            <a:off x="3575720" y="3992283"/>
            <a:ext cx="7560840" cy="1876687"/>
          </a:xfrm>
          <a:prstGeom prst="rect">
            <a:avLst/>
          </a:prstGeom>
        </p:spPr>
      </p:pic>
      <p:sp>
        <p:nvSpPr>
          <p:cNvPr id="4" name="TextBox 3">
            <a:extLst>
              <a:ext uri="{FF2B5EF4-FFF2-40B4-BE49-F238E27FC236}">
                <a16:creationId xmlns:a16="http://schemas.microsoft.com/office/drawing/2014/main" id="{EFEA0EF5-4DE1-420F-9E0C-CA41CD62A711}"/>
              </a:ext>
            </a:extLst>
          </p:cNvPr>
          <p:cNvSpPr txBox="1"/>
          <p:nvPr/>
        </p:nvSpPr>
        <p:spPr>
          <a:xfrm>
            <a:off x="4259796" y="5949642"/>
            <a:ext cx="3096344" cy="523220"/>
          </a:xfrm>
          <a:prstGeom prst="rect">
            <a:avLst/>
          </a:prstGeom>
          <a:noFill/>
        </p:spPr>
        <p:txBody>
          <a:bodyPr wrap="square" rtlCol="0">
            <a:spAutoFit/>
          </a:bodyPr>
          <a:lstStyle/>
          <a:p>
            <a:r>
              <a:rPr lang="en-US" sz="2800" b="1" dirty="0"/>
              <a:t>Rotate Right</a:t>
            </a:r>
            <a:endParaRPr lang="en-IN" sz="2800" b="1" dirty="0"/>
          </a:p>
        </p:txBody>
      </p:sp>
      <p:sp>
        <p:nvSpPr>
          <p:cNvPr id="5" name="TextBox 4">
            <a:extLst>
              <a:ext uri="{FF2B5EF4-FFF2-40B4-BE49-F238E27FC236}">
                <a16:creationId xmlns:a16="http://schemas.microsoft.com/office/drawing/2014/main" id="{59C01118-674D-4D42-807D-7A22431F528A}"/>
              </a:ext>
            </a:extLst>
          </p:cNvPr>
          <p:cNvSpPr txBox="1"/>
          <p:nvPr/>
        </p:nvSpPr>
        <p:spPr>
          <a:xfrm>
            <a:off x="8328248" y="5930116"/>
            <a:ext cx="3096344" cy="523220"/>
          </a:xfrm>
          <a:prstGeom prst="rect">
            <a:avLst/>
          </a:prstGeom>
          <a:noFill/>
        </p:spPr>
        <p:txBody>
          <a:bodyPr wrap="square" rtlCol="0">
            <a:spAutoFit/>
          </a:bodyPr>
          <a:lstStyle/>
          <a:p>
            <a:r>
              <a:rPr lang="en-US" sz="2800" b="1" dirty="0"/>
              <a:t>Rotate Left</a:t>
            </a:r>
            <a:endParaRPr lang="en-IN" sz="2800" b="1" dirty="0"/>
          </a:p>
        </p:txBody>
      </p:sp>
    </p:spTree>
    <p:extLst>
      <p:ext uri="{BB962C8B-B14F-4D97-AF65-F5344CB8AC3E}">
        <p14:creationId xmlns:p14="http://schemas.microsoft.com/office/powerpoint/2010/main" val="3972391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392" y="332656"/>
            <a:ext cx="11017224" cy="5940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0765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160336"/>
            <a:ext cx="10972800" cy="1143000"/>
          </a:xfrm>
        </p:spPr>
        <p:txBody>
          <a:bodyPr>
            <a:normAutofit/>
          </a:bodyPr>
          <a:lstStyle/>
          <a:p>
            <a:pPr algn="l"/>
            <a:r>
              <a:rPr lang="en-US" sz="3800" b="1" dirty="0">
                <a:solidFill>
                  <a:srgbClr val="002060"/>
                </a:solidFill>
              </a:rPr>
              <a:t>Serial-In Serial-Out (SISO) Shift Register</a:t>
            </a:r>
            <a:endParaRPr lang="en-IN" sz="3800" b="1" dirty="0">
              <a:solidFill>
                <a:srgbClr val="002060"/>
              </a:solidFill>
            </a:endParaRPr>
          </a:p>
        </p:txBody>
      </p:sp>
      <p:sp>
        <p:nvSpPr>
          <p:cNvPr id="3" name="Content Placeholder 2"/>
          <p:cNvSpPr>
            <a:spLocks noGrp="1"/>
          </p:cNvSpPr>
          <p:nvPr>
            <p:ph idx="1"/>
          </p:nvPr>
        </p:nvSpPr>
        <p:spPr>
          <a:xfrm>
            <a:off x="407368" y="1268761"/>
            <a:ext cx="11449272" cy="4857403"/>
          </a:xfrm>
        </p:spPr>
        <p:txBody>
          <a:bodyPr>
            <a:normAutofit/>
          </a:bodyPr>
          <a:lstStyle/>
          <a:p>
            <a:pPr algn="just"/>
            <a:r>
              <a:rPr lang="en-US" sz="2800" dirty="0"/>
              <a:t>This type of shift register accepts data serially, i.e. one bit at a time, and also outputs data serially.</a:t>
            </a:r>
          </a:p>
          <a:p>
            <a:pPr algn="just"/>
            <a:r>
              <a:rPr lang="en-US" sz="2800" dirty="0"/>
              <a:t>The logic diagram of a 4-bit serial-in, serial-out, shift-right, shift register using D FFs is shown in Figure.</a:t>
            </a: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950" y="4095328"/>
            <a:ext cx="84201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9157" y="3056385"/>
            <a:ext cx="3076719" cy="715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8420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074"/>
                                        </p:tgtEl>
                                        <p:attrNameLst>
                                          <p:attrName>style.visibility</p:attrName>
                                        </p:attrNameLst>
                                      </p:cBhvr>
                                      <p:to>
                                        <p:strVal val="visible"/>
                                      </p:to>
                                    </p:set>
                                    <p:animEffect transition="in" filter="barn(inVertical)">
                                      <p:cBhvr>
                                        <p:cTn id="18" dur="500"/>
                                        <p:tgtEl>
                                          <p:spTgt spid="307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additive="base">
                                        <p:cTn id="2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5123"/>
                                        </p:tgtEl>
                                        <p:attrNameLst>
                                          <p:attrName>style.visibility</p:attrName>
                                        </p:attrNameLst>
                                      </p:cBhvr>
                                      <p:to>
                                        <p:strVal val="visible"/>
                                      </p:to>
                                    </p:set>
                                    <p:animEffect transition="in" filter="barn(inVertical)">
                                      <p:cBhvr>
                                        <p:cTn id="29" dur="500"/>
                                        <p:tgtEl>
                                          <p:spTgt spid="5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368" y="188640"/>
            <a:ext cx="11089232" cy="6597352"/>
          </a:xfrm>
        </p:spPr>
        <p:txBody>
          <a:bodyPr>
            <a:noAutofit/>
          </a:bodyPr>
          <a:lstStyle/>
          <a:p>
            <a:pPr algn="just"/>
            <a:r>
              <a:rPr lang="en-US" sz="2800" dirty="0"/>
              <a:t>With four stages, i.e. four FFs, the register can store up to four bits of data. Serial data is applied at the D input of the first FF. The Q output of the first FF is connected to the D input of the second FF, the Q output of the second FF is connected to the D input of the third FF, and the Q output of the third FF is connected to the D input of the fourth FF. The data is outputted from the Q terminal of the last FF.</a:t>
            </a:r>
            <a:endParaRPr lang="en-IN" sz="2800" dirty="0"/>
          </a:p>
          <a:p>
            <a:pPr algn="just"/>
            <a:r>
              <a:rPr lang="en-US" sz="2800" dirty="0"/>
              <a:t>When serial data is transferred into a register, each new bit is clocked into the first FF at the positive-edge of each clock pulse. The bit that was previously stored by the first FF is transferred to the second FF. The bit that was stored by the second FF is transferred to the third FF, and so on. The bit that was stored by the last FF is shifted out.</a:t>
            </a:r>
            <a:endParaRPr lang="en-IN" sz="2800" dirty="0"/>
          </a:p>
        </p:txBody>
      </p:sp>
    </p:spTree>
    <p:extLst>
      <p:ext uri="{BB962C8B-B14F-4D97-AF65-F5344CB8AC3E}">
        <p14:creationId xmlns:p14="http://schemas.microsoft.com/office/powerpoint/2010/main" val="107991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1384" y="4221089"/>
            <a:ext cx="11233248" cy="1905075"/>
          </a:xfrm>
        </p:spPr>
        <p:txBody>
          <a:bodyPr>
            <a:noAutofit/>
          </a:bodyPr>
          <a:lstStyle/>
          <a:p>
            <a:pPr algn="just"/>
            <a:r>
              <a:rPr lang="en-US" sz="2800" dirty="0">
                <a:solidFill>
                  <a:srgbClr val="002060"/>
                </a:solidFill>
              </a:rPr>
              <a:t>In </a:t>
            </a:r>
            <a:r>
              <a:rPr lang="en-US" sz="2800" i="1" dirty="0">
                <a:solidFill>
                  <a:srgbClr val="002060"/>
                </a:solidFill>
              </a:rPr>
              <a:t>n</a:t>
            </a:r>
            <a:r>
              <a:rPr lang="en-US" sz="2800" dirty="0">
                <a:solidFill>
                  <a:srgbClr val="002060"/>
                </a:solidFill>
              </a:rPr>
              <a:t>-bit serial-in serial-out (SISO) shift register </a:t>
            </a:r>
            <a:r>
              <a:rPr lang="en-US" sz="2800" i="1" dirty="0">
                <a:solidFill>
                  <a:srgbClr val="C00000"/>
                </a:solidFill>
              </a:rPr>
              <a:t>n</a:t>
            </a:r>
            <a:r>
              <a:rPr lang="en-US" sz="2800" dirty="0">
                <a:solidFill>
                  <a:srgbClr val="002060"/>
                </a:solidFill>
              </a:rPr>
              <a:t> number of clock pulses are required to store the </a:t>
            </a:r>
            <a:r>
              <a:rPr lang="en-US" sz="2800" i="1" dirty="0">
                <a:solidFill>
                  <a:srgbClr val="002060"/>
                </a:solidFill>
              </a:rPr>
              <a:t>n</a:t>
            </a:r>
            <a:r>
              <a:rPr lang="en-US" sz="2800" dirty="0">
                <a:solidFill>
                  <a:srgbClr val="002060"/>
                </a:solidFill>
              </a:rPr>
              <a:t>-bit data but in </a:t>
            </a:r>
            <a:r>
              <a:rPr lang="en-US" sz="2800" dirty="0">
                <a:solidFill>
                  <a:srgbClr val="C00000"/>
                </a:solidFill>
              </a:rPr>
              <a:t>(2</a:t>
            </a:r>
            <a:r>
              <a:rPr lang="en-US" sz="2800" i="1" dirty="0">
                <a:solidFill>
                  <a:srgbClr val="C00000"/>
                </a:solidFill>
              </a:rPr>
              <a:t>n</a:t>
            </a:r>
            <a:r>
              <a:rPr lang="en-US" sz="2800" dirty="0">
                <a:solidFill>
                  <a:srgbClr val="C00000"/>
                </a:solidFill>
              </a:rPr>
              <a:t> – 1)</a:t>
            </a:r>
            <a:r>
              <a:rPr lang="en-US" sz="2800" dirty="0" err="1">
                <a:solidFill>
                  <a:srgbClr val="C00000"/>
                </a:solidFill>
              </a:rPr>
              <a:t>th</a:t>
            </a:r>
            <a:r>
              <a:rPr lang="en-US" sz="2800" dirty="0">
                <a:solidFill>
                  <a:srgbClr val="002060"/>
                </a:solidFill>
              </a:rPr>
              <a:t> clock pulse the </a:t>
            </a:r>
            <a:r>
              <a:rPr lang="en-US" sz="2800" i="1" dirty="0">
                <a:solidFill>
                  <a:srgbClr val="002060"/>
                </a:solidFill>
              </a:rPr>
              <a:t>n</a:t>
            </a:r>
            <a:r>
              <a:rPr lang="en-US" sz="2800" dirty="0">
                <a:solidFill>
                  <a:srgbClr val="002060"/>
                </a:solidFill>
              </a:rPr>
              <a:t>-bit data out from the shift register. </a:t>
            </a:r>
            <a:endParaRPr lang="en-IN" sz="2800" dirty="0">
              <a:solidFill>
                <a:srgbClr val="002060"/>
              </a:solidFill>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384" y="332657"/>
            <a:ext cx="11089232" cy="3759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6057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barn(inVertical)">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800" b="1" dirty="0">
                <a:solidFill>
                  <a:srgbClr val="002060"/>
                </a:solidFill>
              </a:rPr>
              <a:t>Serial-In Parallel-Out (SIPO) Shift Register</a:t>
            </a:r>
            <a:endParaRPr lang="en-IN" sz="3800" b="1" dirty="0">
              <a:solidFill>
                <a:srgbClr val="002060"/>
              </a:solidFill>
            </a:endParaRPr>
          </a:p>
        </p:txBody>
      </p:sp>
      <p:sp>
        <p:nvSpPr>
          <p:cNvPr id="3" name="Content Placeholder 2"/>
          <p:cNvSpPr>
            <a:spLocks noGrp="1"/>
          </p:cNvSpPr>
          <p:nvPr>
            <p:ph idx="1"/>
          </p:nvPr>
        </p:nvSpPr>
        <p:spPr>
          <a:xfrm>
            <a:off x="767408" y="1340769"/>
            <a:ext cx="10972800" cy="4525963"/>
          </a:xfrm>
        </p:spPr>
        <p:txBody>
          <a:bodyPr>
            <a:normAutofit/>
          </a:bodyPr>
          <a:lstStyle/>
          <a:p>
            <a:pPr algn="just"/>
            <a:r>
              <a:rPr lang="en-US" sz="2800" dirty="0"/>
              <a:t>In this type of register, the data bits are entered into the register serially, but the data stored in the register is shifted out in parallel form.</a:t>
            </a:r>
            <a:endParaRPr lang="en-IN" sz="2800"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5185" y="3133057"/>
            <a:ext cx="7648575" cy="3450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1537" y="2626470"/>
            <a:ext cx="2319087" cy="11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6233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4098"/>
                                        </p:tgtEl>
                                        <p:attrNameLst>
                                          <p:attrName>style.visibility</p:attrName>
                                        </p:attrNameLst>
                                      </p:cBhvr>
                                      <p:to>
                                        <p:strVal val="visible"/>
                                      </p:to>
                                    </p:set>
                                    <p:animEffect transition="in" filter="barn(inVertical)">
                                      <p:cBhvr>
                                        <p:cTn id="18" dur="500"/>
                                        <p:tgtEl>
                                          <p:spTgt spid="409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6147"/>
                                        </p:tgtEl>
                                        <p:attrNameLst>
                                          <p:attrName>style.visibility</p:attrName>
                                        </p:attrNameLst>
                                      </p:cBhvr>
                                      <p:to>
                                        <p:strVal val="visible"/>
                                      </p:to>
                                    </p:set>
                                    <p:animEffect transition="in" filter="barn(inVertical)">
                                      <p:cBhvr>
                                        <p:cTn id="23" dur="500"/>
                                        <p:tgtEl>
                                          <p:spTgt spid="6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376" y="692696"/>
            <a:ext cx="10972800" cy="4525963"/>
          </a:xfrm>
        </p:spPr>
        <p:txBody>
          <a:bodyPr>
            <a:normAutofit/>
          </a:bodyPr>
          <a:lstStyle/>
          <a:p>
            <a:pPr algn="just">
              <a:lnSpc>
                <a:spcPct val="200000"/>
              </a:lnSpc>
            </a:pPr>
            <a:r>
              <a:rPr lang="en-US" sz="2800" dirty="0"/>
              <a:t>Figure shows the logic diagram of a 4-bit serial-in, parallel-out, shift register using D FFs.</a:t>
            </a:r>
          </a:p>
          <a:p>
            <a:pPr algn="just">
              <a:lnSpc>
                <a:spcPct val="200000"/>
              </a:lnSpc>
            </a:pPr>
            <a:r>
              <a:rPr lang="en-US" sz="2800" dirty="0"/>
              <a:t>Once the data bits are stored, each bit appears on its respective output line and all bits are available simultaneously, rather than on a bit-by-bit basis as with the serial output.</a:t>
            </a:r>
            <a:endParaRPr lang="en-IN" sz="2800" dirty="0"/>
          </a:p>
        </p:txBody>
      </p:sp>
    </p:spTree>
    <p:extLst>
      <p:ext uri="{BB962C8B-B14F-4D97-AF65-F5344CB8AC3E}">
        <p14:creationId xmlns:p14="http://schemas.microsoft.com/office/powerpoint/2010/main" val="119000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4369" y="4437112"/>
            <a:ext cx="11449272" cy="1905075"/>
          </a:xfrm>
        </p:spPr>
        <p:txBody>
          <a:bodyPr>
            <a:normAutofit/>
          </a:bodyPr>
          <a:lstStyle/>
          <a:p>
            <a:pPr algn="just"/>
            <a:r>
              <a:rPr lang="en-US" sz="2800" dirty="0">
                <a:solidFill>
                  <a:srgbClr val="002060"/>
                </a:solidFill>
              </a:rPr>
              <a:t>In </a:t>
            </a:r>
            <a:r>
              <a:rPr lang="en-US" sz="2800" i="1" dirty="0">
                <a:solidFill>
                  <a:srgbClr val="002060"/>
                </a:solidFill>
              </a:rPr>
              <a:t>n</a:t>
            </a:r>
            <a:r>
              <a:rPr lang="en-US" sz="2800" dirty="0">
                <a:solidFill>
                  <a:srgbClr val="002060"/>
                </a:solidFill>
              </a:rPr>
              <a:t>-bit serial-in parallel-out (SIPO) shift register </a:t>
            </a:r>
            <a:r>
              <a:rPr lang="en-US" sz="2800" i="1" dirty="0">
                <a:solidFill>
                  <a:srgbClr val="C00000"/>
                </a:solidFill>
              </a:rPr>
              <a:t>n</a:t>
            </a:r>
            <a:r>
              <a:rPr lang="en-US" sz="2800" dirty="0">
                <a:solidFill>
                  <a:srgbClr val="002060"/>
                </a:solidFill>
              </a:rPr>
              <a:t> number of clock pulses are required to store the </a:t>
            </a:r>
            <a:r>
              <a:rPr lang="en-US" sz="2800" i="1" dirty="0">
                <a:solidFill>
                  <a:srgbClr val="002060"/>
                </a:solidFill>
              </a:rPr>
              <a:t>n</a:t>
            </a:r>
            <a:r>
              <a:rPr lang="en-US" sz="2800" dirty="0">
                <a:solidFill>
                  <a:srgbClr val="002060"/>
                </a:solidFill>
              </a:rPr>
              <a:t>-bit data but in </a:t>
            </a:r>
            <a:r>
              <a:rPr lang="en-US" sz="2800" i="1" dirty="0">
                <a:solidFill>
                  <a:srgbClr val="C00000"/>
                </a:solidFill>
              </a:rPr>
              <a:t>n</a:t>
            </a:r>
            <a:r>
              <a:rPr lang="en-US" sz="2800" dirty="0">
                <a:solidFill>
                  <a:srgbClr val="C00000"/>
                </a:solidFill>
              </a:rPr>
              <a:t>th</a:t>
            </a:r>
            <a:r>
              <a:rPr lang="en-US" sz="2800" dirty="0">
                <a:solidFill>
                  <a:srgbClr val="002060"/>
                </a:solidFill>
              </a:rPr>
              <a:t> clock pulse the </a:t>
            </a:r>
            <a:r>
              <a:rPr lang="en-US" sz="2800" i="1" dirty="0">
                <a:solidFill>
                  <a:srgbClr val="002060"/>
                </a:solidFill>
              </a:rPr>
              <a:t>n</a:t>
            </a:r>
            <a:r>
              <a:rPr lang="en-US" sz="2800" dirty="0">
                <a:solidFill>
                  <a:srgbClr val="002060"/>
                </a:solidFill>
              </a:rPr>
              <a:t>-bit data out from the shift register. </a:t>
            </a:r>
            <a:endParaRPr lang="en-IN" sz="2800" dirty="0">
              <a:solidFill>
                <a:srgbClr val="002060"/>
              </a:solidFill>
            </a:endParaRPr>
          </a:p>
          <a:p>
            <a:endParaRPr lang="en-IN"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376" y="188640"/>
            <a:ext cx="10873208"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11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barn(inVertical)">
                                      <p:cBhvr>
                                        <p:cTn id="7" dur="500"/>
                                        <p:tgtEl>
                                          <p:spTgt spid="1126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600" b="1" dirty="0">
                <a:solidFill>
                  <a:srgbClr val="002060"/>
                </a:solidFill>
              </a:rPr>
              <a:t>Parallel-In Parallel-Out (PIPO) Shift Register</a:t>
            </a:r>
            <a:endParaRPr lang="en-IN" sz="3600" b="1" dirty="0">
              <a:solidFill>
                <a:srgbClr val="002060"/>
              </a:solidFill>
            </a:endParaRPr>
          </a:p>
        </p:txBody>
      </p:sp>
      <p:sp>
        <p:nvSpPr>
          <p:cNvPr id="3" name="Content Placeholder 2"/>
          <p:cNvSpPr>
            <a:spLocks noGrp="1"/>
          </p:cNvSpPr>
          <p:nvPr>
            <p:ph idx="1"/>
          </p:nvPr>
        </p:nvSpPr>
        <p:spPr>
          <a:xfrm>
            <a:off x="364627" y="1268761"/>
            <a:ext cx="9230816" cy="4857403"/>
          </a:xfrm>
        </p:spPr>
        <p:txBody>
          <a:bodyPr>
            <a:normAutofit/>
          </a:bodyPr>
          <a:lstStyle/>
          <a:p>
            <a:pPr algn="just"/>
            <a:r>
              <a:rPr lang="en-US" sz="2800" dirty="0"/>
              <a:t>In a parallel-in, parallel-out, shift register, the data is entered into the register in parallel form, and also the data is taken out of the register in parallel form.</a:t>
            </a:r>
            <a:endParaRPr lang="en-IN" sz="2800"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114" y="2906714"/>
            <a:ext cx="9569326" cy="367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0416" y="1394222"/>
            <a:ext cx="1986957" cy="176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504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6146"/>
                                        </p:tgtEl>
                                        <p:attrNameLst>
                                          <p:attrName>style.visibility</p:attrName>
                                        </p:attrNameLst>
                                      </p:cBhvr>
                                      <p:to>
                                        <p:strVal val="visible"/>
                                      </p:to>
                                    </p:set>
                                    <p:animEffect transition="in" filter="barn(inVertical)">
                                      <p:cBhvr>
                                        <p:cTn id="18" dur="500"/>
                                        <p:tgtEl>
                                          <p:spTgt spid="6146"/>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8195"/>
                                        </p:tgtEl>
                                        <p:attrNameLst>
                                          <p:attrName>style.visibility</p:attrName>
                                        </p:attrNameLst>
                                      </p:cBhvr>
                                      <p:to>
                                        <p:strVal val="visible"/>
                                      </p:to>
                                    </p:set>
                                    <p:animEffect transition="in" filter="barn(inVertical)">
                                      <p:cBhvr>
                                        <p:cTn id="23"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5360" y="332656"/>
            <a:ext cx="10972800" cy="4525963"/>
          </a:xfrm>
        </p:spPr>
        <p:txBody>
          <a:bodyPr/>
          <a:lstStyle/>
          <a:p>
            <a:pPr algn="just">
              <a:lnSpc>
                <a:spcPct val="200000"/>
              </a:lnSpc>
            </a:pPr>
            <a:r>
              <a:rPr lang="en-US" sz="2800" dirty="0"/>
              <a:t>Figure shows a 4-bit parallel-in, parallel-out, shift register using D FFs. Data is applied to the D input terminals of the FFs. When a clock pulse is applied, at the positive-edge of that pulse, the D inputs are shifted into Q outputs of the FFs. The register now stores the data. The stored data is available instantaneously for shifting out in parallel form.</a:t>
            </a:r>
            <a:endParaRPr lang="en-IN" sz="2800" dirty="0"/>
          </a:p>
        </p:txBody>
      </p:sp>
    </p:spTree>
    <p:extLst>
      <p:ext uri="{BB962C8B-B14F-4D97-AF65-F5344CB8AC3E}">
        <p14:creationId xmlns:p14="http://schemas.microsoft.com/office/powerpoint/2010/main" val="3848710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368" y="4005064"/>
            <a:ext cx="11233248" cy="1905075"/>
          </a:xfrm>
        </p:spPr>
        <p:txBody>
          <a:bodyPr>
            <a:normAutofit/>
          </a:bodyPr>
          <a:lstStyle/>
          <a:p>
            <a:pPr algn="just"/>
            <a:r>
              <a:rPr lang="en-US" sz="2800" dirty="0">
                <a:solidFill>
                  <a:srgbClr val="002060"/>
                </a:solidFill>
              </a:rPr>
              <a:t>In </a:t>
            </a:r>
            <a:r>
              <a:rPr lang="en-US" sz="2800" i="1" dirty="0">
                <a:solidFill>
                  <a:srgbClr val="002060"/>
                </a:solidFill>
              </a:rPr>
              <a:t>n</a:t>
            </a:r>
            <a:r>
              <a:rPr lang="en-US" sz="2800" dirty="0">
                <a:solidFill>
                  <a:srgbClr val="002060"/>
                </a:solidFill>
              </a:rPr>
              <a:t>-bit parallel-in parallel-out (PIPO) shift register a </a:t>
            </a:r>
            <a:r>
              <a:rPr lang="en-US" sz="2800" dirty="0">
                <a:solidFill>
                  <a:srgbClr val="C00000"/>
                </a:solidFill>
              </a:rPr>
              <a:t>single</a:t>
            </a:r>
            <a:r>
              <a:rPr lang="en-US" sz="2800" dirty="0">
                <a:solidFill>
                  <a:srgbClr val="002060"/>
                </a:solidFill>
              </a:rPr>
              <a:t> clock pulse is required to store the </a:t>
            </a:r>
            <a:r>
              <a:rPr lang="en-US" sz="2800" i="1" dirty="0">
                <a:solidFill>
                  <a:srgbClr val="002060"/>
                </a:solidFill>
              </a:rPr>
              <a:t>n</a:t>
            </a:r>
            <a:r>
              <a:rPr lang="en-US" sz="2800" dirty="0">
                <a:solidFill>
                  <a:srgbClr val="002060"/>
                </a:solidFill>
              </a:rPr>
              <a:t>-bit data but in </a:t>
            </a:r>
            <a:r>
              <a:rPr lang="en-US" sz="2800" dirty="0">
                <a:solidFill>
                  <a:srgbClr val="C00000"/>
                </a:solidFill>
              </a:rPr>
              <a:t>same</a:t>
            </a:r>
            <a:r>
              <a:rPr lang="en-US" sz="2800" dirty="0">
                <a:solidFill>
                  <a:srgbClr val="002060"/>
                </a:solidFill>
              </a:rPr>
              <a:t> clock pulse the </a:t>
            </a:r>
            <a:r>
              <a:rPr lang="en-US" sz="2800" i="1" dirty="0">
                <a:solidFill>
                  <a:srgbClr val="002060"/>
                </a:solidFill>
              </a:rPr>
              <a:t>n</a:t>
            </a:r>
            <a:r>
              <a:rPr lang="en-US" sz="2800" dirty="0">
                <a:solidFill>
                  <a:srgbClr val="002060"/>
                </a:solidFill>
              </a:rPr>
              <a:t>-bit data out from the shift register. </a:t>
            </a:r>
            <a:endParaRPr lang="en-IN" sz="2800" dirty="0">
              <a:solidFill>
                <a:srgbClr val="002060"/>
              </a:solidFill>
            </a:endParaRPr>
          </a:p>
          <a:p>
            <a:endParaRPr lang="en-IN"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3392" y="548680"/>
            <a:ext cx="11017224"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749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barn(inVertical)">
                                      <p:cBhvr>
                                        <p:cTn id="7" dur="500"/>
                                        <p:tgtEl>
                                          <p:spTgt spid="102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000" b="1" dirty="0">
                <a:solidFill>
                  <a:srgbClr val="002060"/>
                </a:solidFill>
              </a:rPr>
              <a:t>Parallel-In Serial-Out (PISO) Shift Register</a:t>
            </a:r>
            <a:endParaRPr lang="en-IN" sz="4000" b="1" dirty="0">
              <a:solidFill>
                <a:srgbClr val="002060"/>
              </a:solidFill>
            </a:endParaRPr>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810" y="2492896"/>
            <a:ext cx="10770472" cy="4097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0577" y="1005074"/>
            <a:ext cx="2567342" cy="1326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00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122"/>
                                        </p:tgtEl>
                                        <p:attrNameLst>
                                          <p:attrName>style.visibility</p:attrName>
                                        </p:attrNameLst>
                                      </p:cBhvr>
                                      <p:to>
                                        <p:strVal val="visible"/>
                                      </p:to>
                                    </p:set>
                                    <p:animEffect transition="in" filter="barn(inVertical)">
                                      <p:cBhvr>
                                        <p:cTn id="12" dur="500"/>
                                        <p:tgtEl>
                                          <p:spTgt spid="512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171"/>
                                        </p:tgtEl>
                                        <p:attrNameLst>
                                          <p:attrName>style.visibility</p:attrName>
                                        </p:attrNameLst>
                                      </p:cBhvr>
                                      <p:to>
                                        <p:strVal val="visible"/>
                                      </p:to>
                                    </p:set>
                                    <p:animEffect transition="in" filter="barn(inVertical)">
                                      <p:cBhvr>
                                        <p:cTn id="17"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376" y="620688"/>
            <a:ext cx="10972800" cy="5832648"/>
          </a:xfrm>
        </p:spPr>
        <p:txBody>
          <a:bodyPr>
            <a:normAutofit/>
          </a:bodyPr>
          <a:lstStyle/>
          <a:p>
            <a:pPr algn="just">
              <a:lnSpc>
                <a:spcPct val="150000"/>
              </a:lnSpc>
            </a:pPr>
            <a:r>
              <a:rPr lang="en-US" sz="2800" dirty="0"/>
              <a:t>For a parallel-in, serial-out, shift register, the data bits are entered simultaneously into their respective stages on parallel lines, rather than on a bit-by-bit basis on one line as with serial data inputs, but the data bits are transferred out of the register serially, i.e. on a bit-by-bit basis over a single line.</a:t>
            </a:r>
            <a:endParaRPr lang="en-IN" sz="2800" dirty="0"/>
          </a:p>
          <a:p>
            <a:pPr algn="just">
              <a:lnSpc>
                <a:spcPct val="150000"/>
              </a:lnSpc>
            </a:pPr>
            <a:r>
              <a:rPr lang="en-US" sz="2800" dirty="0"/>
              <a:t>Figure illustrates a 4-bit parallel-in, serial-out, shift register using D FFs. There are four data lines A, B, C, and D through which the data is entered into the register in parallel form. </a:t>
            </a:r>
            <a:endParaRPr lang="en-IN" sz="2800" dirty="0"/>
          </a:p>
        </p:txBody>
      </p:sp>
    </p:spTree>
    <p:extLst>
      <p:ext uri="{BB962C8B-B14F-4D97-AF65-F5344CB8AC3E}">
        <p14:creationId xmlns:p14="http://schemas.microsoft.com/office/powerpoint/2010/main" val="2582641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51384" y="692696"/>
                <a:ext cx="11449272" cy="5688632"/>
              </a:xfrm>
            </p:spPr>
            <p:txBody>
              <a:bodyPr>
                <a:normAutofit/>
              </a:bodyPr>
              <a:lstStyle/>
              <a:p>
                <a:pPr algn="just"/>
                <a:r>
                  <a:rPr lang="en-US" sz="3000" dirty="0"/>
                  <a:t>The signal  </a:t>
                </a:r>
                <a14:m>
                  <m:oMath xmlns:m="http://schemas.openxmlformats.org/officeDocument/2006/math">
                    <m:r>
                      <m:rPr>
                        <m:sty m:val="p"/>
                      </m:rPr>
                      <a:rPr lang="en-US" sz="3000">
                        <a:latin typeface="Cambria Math"/>
                      </a:rPr>
                      <m:t>Shift</m:t>
                    </m:r>
                    <m:r>
                      <a:rPr lang="en-US" sz="3000">
                        <a:latin typeface="Cambria Math"/>
                      </a:rPr>
                      <m:t>/</m:t>
                    </m:r>
                    <m:bar>
                      <m:barPr>
                        <m:pos m:val="top"/>
                        <m:ctrlPr>
                          <a:rPr lang="en-IN" sz="3000" i="1">
                            <a:latin typeface="Cambria Math" panose="02040503050406030204" pitchFamily="18" charset="0"/>
                          </a:rPr>
                        </m:ctrlPr>
                      </m:barPr>
                      <m:e>
                        <m:r>
                          <m:rPr>
                            <m:sty m:val="p"/>
                          </m:rPr>
                          <a:rPr lang="en-US" sz="3000">
                            <a:latin typeface="Cambria Math"/>
                          </a:rPr>
                          <m:t>Load</m:t>
                        </m:r>
                      </m:e>
                    </m:bar>
                  </m:oMath>
                </a14:m>
                <a:r>
                  <a:rPr lang="en-US" sz="3000" dirty="0"/>
                  <a:t> allows (a) the data to be entered in parallel form into the register and (b) the data to be shifted out serially from terminal Q</a:t>
                </a:r>
                <a:r>
                  <a:rPr lang="en-US" sz="3000" baseline="-25000" dirty="0"/>
                  <a:t>4</a:t>
                </a:r>
                <a:r>
                  <a:rPr lang="en-US" sz="3000" dirty="0"/>
                  <a:t>.</a:t>
                </a:r>
              </a:p>
              <a:p>
                <a:pPr algn="just"/>
                <a:r>
                  <a:rPr lang="en-US" sz="3000" dirty="0"/>
                  <a:t>When </a:t>
                </a:r>
                <a14:m>
                  <m:oMath xmlns:m="http://schemas.openxmlformats.org/officeDocument/2006/math">
                    <m:r>
                      <a:rPr lang="en-US" sz="3000" b="1" i="1">
                        <a:latin typeface="Cambria Math"/>
                      </a:rPr>
                      <m:t>𝐒𝐡𝐢𝐟𝐭</m:t>
                    </m:r>
                    <m:r>
                      <a:rPr lang="en-US" sz="3000" b="1">
                        <a:latin typeface="Cambria Math"/>
                      </a:rPr>
                      <m:t>/</m:t>
                    </m:r>
                    <m:bar>
                      <m:barPr>
                        <m:pos m:val="top"/>
                        <m:ctrlPr>
                          <a:rPr lang="en-IN" sz="3000" b="1" i="1">
                            <a:latin typeface="Cambria Math" panose="02040503050406030204" pitchFamily="18" charset="0"/>
                          </a:rPr>
                        </m:ctrlPr>
                      </m:barPr>
                      <m:e>
                        <m:r>
                          <a:rPr lang="en-US" sz="3000" b="1" i="1">
                            <a:latin typeface="Cambria Math"/>
                          </a:rPr>
                          <m:t>𝐋𝐨𝐚𝐝</m:t>
                        </m:r>
                      </m:e>
                    </m:bar>
                  </m:oMath>
                </a14:m>
                <a:r>
                  <a:rPr lang="en-US" sz="3000" b="1" dirty="0"/>
                  <a:t> line is LOW</a:t>
                </a:r>
                <a:r>
                  <a:rPr lang="en-US" sz="3000" dirty="0"/>
                  <a:t>, gates </a:t>
                </a:r>
                <a:r>
                  <a:rPr lang="en-US" sz="3000" b="1" dirty="0"/>
                  <a:t>G</a:t>
                </a:r>
                <a:r>
                  <a:rPr lang="en-US" sz="3000" b="1" baseline="-25000" dirty="0"/>
                  <a:t>4</a:t>
                </a:r>
                <a:r>
                  <a:rPr lang="en-US" sz="3000" b="1" dirty="0"/>
                  <a:t>, G</a:t>
                </a:r>
                <a:r>
                  <a:rPr lang="en-US" sz="3000" b="1" baseline="-25000" dirty="0"/>
                  <a:t>5</a:t>
                </a:r>
                <a:r>
                  <a:rPr lang="en-US" sz="3000" b="1" dirty="0"/>
                  <a:t>, and G</a:t>
                </a:r>
                <a:r>
                  <a:rPr lang="en-US" sz="3000" b="1" baseline="-25000" dirty="0"/>
                  <a:t>6</a:t>
                </a:r>
                <a:r>
                  <a:rPr lang="en-US" sz="3000" b="1" dirty="0"/>
                  <a:t> are disabled</a:t>
                </a:r>
                <a:r>
                  <a:rPr lang="en-US" sz="3000" dirty="0"/>
                  <a:t>, but whereas </a:t>
                </a:r>
                <a:r>
                  <a:rPr lang="en-US" sz="3000" b="1" dirty="0"/>
                  <a:t>gates G</a:t>
                </a:r>
                <a:r>
                  <a:rPr lang="en-US" sz="3000" b="1" baseline="-25000" dirty="0"/>
                  <a:t>1</a:t>
                </a:r>
                <a:r>
                  <a:rPr lang="en-US" sz="3000" b="1" dirty="0"/>
                  <a:t>, G</a:t>
                </a:r>
                <a:r>
                  <a:rPr lang="en-US" sz="3000" b="1" baseline="-25000" dirty="0"/>
                  <a:t>2</a:t>
                </a:r>
                <a:r>
                  <a:rPr lang="en-US" sz="3000" b="1" dirty="0"/>
                  <a:t>, and G</a:t>
                </a:r>
                <a:r>
                  <a:rPr lang="en-US" sz="3000" b="1" baseline="-25000" dirty="0"/>
                  <a:t>3</a:t>
                </a:r>
                <a:r>
                  <a:rPr lang="en-US" sz="3000" b="1" dirty="0"/>
                  <a:t> are enabled allowing the data input to appear at the D inputs of the respective FFs.</a:t>
                </a:r>
                <a:endParaRPr lang="en-IN" sz="3000" b="1" dirty="0"/>
              </a:p>
              <a:p>
                <a:pPr algn="just"/>
                <a:endParaRPr lang="en-IN" sz="3000" dirty="0"/>
              </a:p>
              <a:p>
                <a:pPr algn="just"/>
                <a:r>
                  <a:rPr lang="en-US" sz="3000" dirty="0"/>
                  <a:t>When </a:t>
                </a:r>
                <a14:m>
                  <m:oMath xmlns:m="http://schemas.openxmlformats.org/officeDocument/2006/math">
                    <m:r>
                      <a:rPr lang="en-US" sz="3000" b="1" i="1">
                        <a:latin typeface="Cambria Math"/>
                      </a:rPr>
                      <m:t>𝐒𝐡𝐢𝐟𝐭</m:t>
                    </m:r>
                    <m:r>
                      <a:rPr lang="en-US" sz="3000" b="1">
                        <a:latin typeface="Cambria Math"/>
                      </a:rPr>
                      <m:t>/</m:t>
                    </m:r>
                    <m:bar>
                      <m:barPr>
                        <m:pos m:val="top"/>
                        <m:ctrlPr>
                          <a:rPr lang="en-IN" sz="3000" b="1" i="1">
                            <a:latin typeface="Cambria Math" panose="02040503050406030204" pitchFamily="18" charset="0"/>
                          </a:rPr>
                        </m:ctrlPr>
                      </m:barPr>
                      <m:e>
                        <m:r>
                          <a:rPr lang="en-US" sz="3000" b="1" i="1">
                            <a:latin typeface="Cambria Math"/>
                          </a:rPr>
                          <m:t>𝐋𝐨𝐚𝐝</m:t>
                        </m:r>
                      </m:e>
                    </m:bar>
                  </m:oMath>
                </a14:m>
                <a:r>
                  <a:rPr lang="en-US" sz="3000" b="1" dirty="0"/>
                  <a:t> line is HIGH</a:t>
                </a:r>
                <a:r>
                  <a:rPr lang="en-US" sz="3000" dirty="0"/>
                  <a:t>, </a:t>
                </a:r>
                <a:r>
                  <a:rPr lang="en-US" sz="3000" b="1" dirty="0"/>
                  <a:t>gates G</a:t>
                </a:r>
                <a:r>
                  <a:rPr lang="en-US" sz="3000" b="1" baseline="-25000" dirty="0"/>
                  <a:t>1</a:t>
                </a:r>
                <a:r>
                  <a:rPr lang="en-US" sz="3000" b="1" dirty="0"/>
                  <a:t>, G</a:t>
                </a:r>
                <a:r>
                  <a:rPr lang="en-US" sz="3000" b="1" baseline="-25000" dirty="0"/>
                  <a:t>2</a:t>
                </a:r>
                <a:r>
                  <a:rPr lang="en-US" sz="3000" b="1" dirty="0"/>
                  <a:t>, and G</a:t>
                </a:r>
                <a:r>
                  <a:rPr lang="en-US" sz="3000" b="1" baseline="-25000" dirty="0"/>
                  <a:t>3</a:t>
                </a:r>
                <a:r>
                  <a:rPr lang="en-US" sz="3000" b="1" dirty="0"/>
                  <a:t> are disabled</a:t>
                </a:r>
                <a:r>
                  <a:rPr lang="en-US" sz="3000" dirty="0"/>
                  <a:t>, but </a:t>
                </a:r>
                <a:r>
                  <a:rPr lang="en-US" sz="3000" b="1" dirty="0"/>
                  <a:t>gates G</a:t>
                </a:r>
                <a:r>
                  <a:rPr lang="en-US" sz="3000" b="1" baseline="-25000" dirty="0"/>
                  <a:t>4</a:t>
                </a:r>
                <a:r>
                  <a:rPr lang="en-US" sz="3000" b="1" dirty="0"/>
                  <a:t>, G</a:t>
                </a:r>
                <a:r>
                  <a:rPr lang="en-US" sz="3000" b="1" baseline="-25000" dirty="0"/>
                  <a:t>5</a:t>
                </a:r>
                <a:r>
                  <a:rPr lang="en-US" sz="3000" b="1" dirty="0"/>
                  <a:t>, and G</a:t>
                </a:r>
                <a:r>
                  <a:rPr lang="en-US" sz="3000" b="1" baseline="-25000" dirty="0"/>
                  <a:t>6</a:t>
                </a:r>
                <a:r>
                  <a:rPr lang="en-US" sz="3000" b="1" dirty="0"/>
                  <a:t> are enabled allowing the bits to shift-right from one stage to the next.</a:t>
                </a:r>
                <a:endParaRPr lang="en-IN" sz="3000" b="1"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51384" y="692696"/>
                <a:ext cx="11449272" cy="5688632"/>
              </a:xfrm>
              <a:blipFill>
                <a:blip r:embed="rId2"/>
                <a:stretch>
                  <a:fillRect l="-1064" t="-214" r="-1224"/>
                </a:stretch>
              </a:blipFill>
            </p:spPr>
            <p:txBody>
              <a:bodyPr/>
              <a:lstStyle/>
              <a:p>
                <a:r>
                  <a:rPr lang="en-IN">
                    <a:noFill/>
                  </a:rPr>
                  <a:t> </a:t>
                </a:r>
              </a:p>
            </p:txBody>
          </p:sp>
        </mc:Fallback>
      </mc:AlternateContent>
    </p:spTree>
    <p:extLst>
      <p:ext uri="{BB962C8B-B14F-4D97-AF65-F5344CB8AC3E}">
        <p14:creationId xmlns:p14="http://schemas.microsoft.com/office/powerpoint/2010/main" val="195420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620688"/>
                <a:ext cx="10972800" cy="4525963"/>
              </a:xfrm>
            </p:spPr>
            <p:txBody>
              <a:bodyPr>
                <a:normAutofit/>
              </a:bodyPr>
              <a:lstStyle/>
              <a:p>
                <a:pPr algn="just">
                  <a:lnSpc>
                    <a:spcPct val="150000"/>
                  </a:lnSpc>
                </a:pPr>
                <a:r>
                  <a:rPr lang="en-US" sz="2800" dirty="0"/>
                  <a:t>When a clock pulse is applied, these data bits are shifted to the Q output terminals of the FFs and, therefore, data is inputted in one step.</a:t>
                </a:r>
              </a:p>
              <a:p>
                <a:pPr algn="just">
                  <a:lnSpc>
                    <a:spcPct val="150000"/>
                  </a:lnSpc>
                </a:pPr>
                <a:r>
                  <a:rPr lang="en-US" sz="2800" dirty="0"/>
                  <a:t>The OR gate allows either the normal shifting operation or the parallel data entry depending on which AND gates are enabled by the level on the  </a:t>
                </a:r>
                <a14:m>
                  <m:oMath xmlns:m="http://schemas.openxmlformats.org/officeDocument/2006/math">
                    <m:r>
                      <m:rPr>
                        <m:sty m:val="p"/>
                      </m:rPr>
                      <a:rPr lang="en-US" sz="2800">
                        <a:latin typeface="Cambria Math"/>
                      </a:rPr>
                      <m:t>Shift</m:t>
                    </m:r>
                    <m:r>
                      <a:rPr lang="en-US" sz="2800">
                        <a:latin typeface="Cambria Math"/>
                      </a:rPr>
                      <m:t>/</m:t>
                    </m:r>
                    <m:bar>
                      <m:barPr>
                        <m:pos m:val="top"/>
                        <m:ctrlPr>
                          <a:rPr lang="en-IN" sz="2800" i="1">
                            <a:latin typeface="Cambria Math" panose="02040503050406030204" pitchFamily="18" charset="0"/>
                          </a:rPr>
                        </m:ctrlPr>
                      </m:barPr>
                      <m:e>
                        <m:r>
                          <m:rPr>
                            <m:sty m:val="p"/>
                          </m:rPr>
                          <a:rPr lang="en-US" sz="2800">
                            <a:latin typeface="Cambria Math"/>
                          </a:rPr>
                          <m:t>Load</m:t>
                        </m:r>
                      </m:e>
                    </m:bar>
                  </m:oMath>
                </a14:m>
                <a:r>
                  <a:rPr lang="en-US" sz="2800" dirty="0"/>
                  <a:t> input.</a:t>
                </a:r>
                <a:endParaRPr lang="en-IN"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620688"/>
                <a:ext cx="10972800" cy="4525963"/>
              </a:xfrm>
              <a:blipFill>
                <a:blip r:embed="rId2"/>
                <a:stretch>
                  <a:fillRect l="-1000" r="-1111"/>
                </a:stretch>
              </a:blipFill>
            </p:spPr>
            <p:txBody>
              <a:bodyPr/>
              <a:lstStyle/>
              <a:p>
                <a:r>
                  <a:rPr lang="en-IN">
                    <a:noFill/>
                  </a:rPr>
                  <a:t> </a:t>
                </a:r>
              </a:p>
            </p:txBody>
          </p:sp>
        </mc:Fallback>
      </mc:AlternateContent>
    </p:spTree>
    <p:extLst>
      <p:ext uri="{BB962C8B-B14F-4D97-AF65-F5344CB8AC3E}">
        <p14:creationId xmlns:p14="http://schemas.microsoft.com/office/powerpoint/2010/main" val="3687002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400" y="4575696"/>
            <a:ext cx="11017224" cy="1905075"/>
          </a:xfrm>
        </p:spPr>
        <p:txBody>
          <a:bodyPr>
            <a:normAutofit/>
          </a:bodyPr>
          <a:lstStyle/>
          <a:p>
            <a:pPr algn="just"/>
            <a:r>
              <a:rPr lang="en-US" sz="2800" dirty="0">
                <a:solidFill>
                  <a:srgbClr val="002060"/>
                </a:solidFill>
              </a:rPr>
              <a:t>In </a:t>
            </a:r>
            <a:r>
              <a:rPr lang="en-US" sz="2800" i="1" dirty="0">
                <a:solidFill>
                  <a:srgbClr val="002060"/>
                </a:solidFill>
              </a:rPr>
              <a:t>n</a:t>
            </a:r>
            <a:r>
              <a:rPr lang="en-US" sz="2800" dirty="0">
                <a:solidFill>
                  <a:srgbClr val="002060"/>
                </a:solidFill>
              </a:rPr>
              <a:t>-bit parallel-in serial-out (PISO) shift register a </a:t>
            </a:r>
            <a:r>
              <a:rPr lang="en-US" sz="2800" dirty="0">
                <a:solidFill>
                  <a:srgbClr val="C00000"/>
                </a:solidFill>
              </a:rPr>
              <a:t>single</a:t>
            </a:r>
            <a:r>
              <a:rPr lang="en-US" sz="2800" dirty="0">
                <a:solidFill>
                  <a:srgbClr val="002060"/>
                </a:solidFill>
              </a:rPr>
              <a:t> clock pulse is required to store the </a:t>
            </a:r>
            <a:r>
              <a:rPr lang="en-US" sz="2800" i="1" dirty="0">
                <a:solidFill>
                  <a:srgbClr val="002060"/>
                </a:solidFill>
              </a:rPr>
              <a:t>n</a:t>
            </a:r>
            <a:r>
              <a:rPr lang="en-US" sz="2800" dirty="0">
                <a:solidFill>
                  <a:srgbClr val="002060"/>
                </a:solidFill>
              </a:rPr>
              <a:t>-bit data but in </a:t>
            </a:r>
            <a:r>
              <a:rPr lang="en-US" sz="2800" i="1" dirty="0">
                <a:solidFill>
                  <a:srgbClr val="C00000"/>
                </a:solidFill>
              </a:rPr>
              <a:t>n</a:t>
            </a:r>
            <a:r>
              <a:rPr lang="en-US" sz="2800" dirty="0">
                <a:solidFill>
                  <a:srgbClr val="C00000"/>
                </a:solidFill>
              </a:rPr>
              <a:t>th</a:t>
            </a:r>
            <a:r>
              <a:rPr lang="en-US" sz="2800" dirty="0">
                <a:solidFill>
                  <a:srgbClr val="002060"/>
                </a:solidFill>
              </a:rPr>
              <a:t> clock pulse </a:t>
            </a:r>
            <a:r>
              <a:rPr lang="en-US" sz="2800" i="1" dirty="0">
                <a:solidFill>
                  <a:srgbClr val="002060"/>
                </a:solidFill>
              </a:rPr>
              <a:t>n</a:t>
            </a:r>
            <a:r>
              <a:rPr lang="en-US" sz="2800" dirty="0">
                <a:solidFill>
                  <a:srgbClr val="002060"/>
                </a:solidFill>
              </a:rPr>
              <a:t>-bit data out from the shift register. </a:t>
            </a:r>
            <a:endParaRPr lang="en-IN" sz="2800" dirty="0">
              <a:solidFill>
                <a:srgbClr val="002060"/>
              </a:solidFill>
            </a:endParaRPr>
          </a:p>
          <a:p>
            <a:endParaRPr lang="en-IN"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376" y="377228"/>
            <a:ext cx="11377264" cy="3915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1772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barn(inVertical)">
                                      <p:cBhvr>
                                        <p:cTn id="7" dur="5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2169</TotalTime>
  <Words>1187</Words>
  <Application>Microsoft Office PowerPoint</Application>
  <PresentationFormat>Widescreen</PresentationFormat>
  <Paragraphs>51</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Baskerville Old Face</vt:lpstr>
      <vt:lpstr>Calibri</vt:lpstr>
      <vt:lpstr>Cambria Math</vt:lpstr>
      <vt:lpstr>Times New Roman</vt:lpstr>
      <vt:lpstr>Office Theme</vt:lpstr>
      <vt:lpstr>DIGITAL ELECTRONICS III Semester CSE</vt:lpstr>
      <vt:lpstr>Registers and Counters</vt:lpstr>
      <vt:lpstr>Registers</vt:lpstr>
      <vt:lpstr>Shift Registers</vt:lpstr>
      <vt:lpstr>PowerPoint Presentation</vt:lpstr>
      <vt:lpstr>Data Transmission in Shift Registers</vt:lpstr>
      <vt:lpstr>PowerPoint Presentation</vt:lpstr>
      <vt:lpstr>PowerPoint Presentation</vt:lpstr>
      <vt:lpstr>PowerPoint Presentation</vt:lpstr>
      <vt:lpstr>PowerPoint Presentation</vt:lpstr>
      <vt:lpstr>Serial-In Serial-Out (SISO) Shift Register</vt:lpstr>
      <vt:lpstr>PowerPoint Presentation</vt:lpstr>
      <vt:lpstr>PowerPoint Presentation</vt:lpstr>
      <vt:lpstr>Serial-In Parallel-Out (SIPO) Shift Register</vt:lpstr>
      <vt:lpstr>PowerPoint Presentation</vt:lpstr>
      <vt:lpstr>PowerPoint Presentation</vt:lpstr>
      <vt:lpstr>Parallel-In Parallel-Out (PIPO) Shift Register</vt:lpstr>
      <vt:lpstr>PowerPoint Presentation</vt:lpstr>
      <vt:lpstr>PowerPoint Presentation</vt:lpstr>
      <vt:lpstr>Parallel-In Serial-Out (PISO) Shift Register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staff</dc:creator>
  <cp:lastModifiedBy>ranjita rout</cp:lastModifiedBy>
  <cp:revision>104</cp:revision>
  <dcterms:created xsi:type="dcterms:W3CDTF">2020-11-16T06:17:29Z</dcterms:created>
  <dcterms:modified xsi:type="dcterms:W3CDTF">2025-10-22T11:40:13Z</dcterms:modified>
</cp:coreProperties>
</file>