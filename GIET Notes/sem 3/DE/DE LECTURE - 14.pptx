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9"/>
  </p:notesMasterIdLst>
  <p:sldIdLst>
    <p:sldId id="358" r:id="rId2"/>
    <p:sldId id="256" r:id="rId3"/>
    <p:sldId id="359" r:id="rId4"/>
    <p:sldId id="360" r:id="rId5"/>
    <p:sldId id="258" r:id="rId6"/>
    <p:sldId id="269" r:id="rId7"/>
    <p:sldId id="361" r:id="rId8"/>
    <p:sldId id="362" r:id="rId9"/>
    <p:sldId id="363" r:id="rId10"/>
    <p:sldId id="364" r:id="rId11"/>
    <p:sldId id="365" r:id="rId12"/>
    <p:sldId id="366" r:id="rId13"/>
    <p:sldId id="367" r:id="rId14"/>
    <p:sldId id="368" r:id="rId15"/>
    <p:sldId id="296" r:id="rId16"/>
    <p:sldId id="297" r:id="rId17"/>
    <p:sldId id="374" r:id="rId18"/>
    <p:sldId id="369" r:id="rId19"/>
    <p:sldId id="370" r:id="rId20"/>
    <p:sldId id="372" r:id="rId21"/>
    <p:sldId id="373" r:id="rId22"/>
    <p:sldId id="295" r:id="rId23"/>
    <p:sldId id="280" r:id="rId24"/>
    <p:sldId id="283" r:id="rId25"/>
    <p:sldId id="284" r:id="rId26"/>
    <p:sldId id="285" r:id="rId27"/>
    <p:sldId id="286" r:id="rId28"/>
    <p:sldId id="287" r:id="rId29"/>
    <p:sldId id="288" r:id="rId30"/>
    <p:sldId id="289" r:id="rId31"/>
    <p:sldId id="300" r:id="rId32"/>
    <p:sldId id="291" r:id="rId33"/>
    <p:sldId id="305" r:id="rId34"/>
    <p:sldId id="292" r:id="rId35"/>
    <p:sldId id="311" r:id="rId36"/>
    <p:sldId id="294" r:id="rId37"/>
    <p:sldId id="298" r:id="rId38"/>
    <p:sldId id="301" r:id="rId39"/>
    <p:sldId id="302" r:id="rId40"/>
    <p:sldId id="303" r:id="rId41"/>
    <p:sldId id="304" r:id="rId42"/>
    <p:sldId id="308" r:id="rId43"/>
    <p:sldId id="306" r:id="rId44"/>
    <p:sldId id="307" r:id="rId45"/>
    <p:sldId id="315" r:id="rId46"/>
    <p:sldId id="316" r:id="rId47"/>
    <p:sldId id="317" r:id="rId48"/>
    <p:sldId id="312" r:id="rId49"/>
    <p:sldId id="319" r:id="rId50"/>
    <p:sldId id="320" r:id="rId51"/>
    <p:sldId id="321" r:id="rId52"/>
    <p:sldId id="322" r:id="rId53"/>
    <p:sldId id="323" r:id="rId54"/>
    <p:sldId id="324" r:id="rId55"/>
    <p:sldId id="341" r:id="rId56"/>
    <p:sldId id="343" r:id="rId57"/>
    <p:sldId id="328" r:id="rId58"/>
    <p:sldId id="329" r:id="rId59"/>
    <p:sldId id="330" r:id="rId60"/>
    <p:sldId id="331" r:id="rId61"/>
    <p:sldId id="332" r:id="rId62"/>
    <p:sldId id="333" r:id="rId63"/>
    <p:sldId id="334" r:id="rId64"/>
    <p:sldId id="335" r:id="rId65"/>
    <p:sldId id="340" r:id="rId66"/>
    <p:sldId id="337" r:id="rId67"/>
    <p:sldId id="338" r:id="rId68"/>
    <p:sldId id="345" r:id="rId69"/>
    <p:sldId id="356" r:id="rId70"/>
    <p:sldId id="357" r:id="rId71"/>
    <p:sldId id="348" r:id="rId72"/>
    <p:sldId id="349" r:id="rId73"/>
    <p:sldId id="346" r:id="rId74"/>
    <p:sldId id="347" r:id="rId75"/>
    <p:sldId id="350" r:id="rId76"/>
    <p:sldId id="354" r:id="rId77"/>
    <p:sldId id="355" r:id="rId7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7" d="100"/>
          <a:sy n="67" d="100"/>
        </p:scale>
        <p:origin x="834" y="72"/>
      </p:cViewPr>
      <p:guideLst>
        <p:guide orient="horz" pos="2160"/>
        <p:guide pos="3840"/>
      </p:guideLst>
    </p:cSldViewPr>
  </p:slideViewPr>
  <p:notesTextViewPr>
    <p:cViewPr>
      <p:scale>
        <a:sx n="1" d="1"/>
        <a:sy n="1" d="1"/>
      </p:scale>
      <p:origin x="0" y="0"/>
    </p:cViewPr>
  </p:notesTextViewPr>
  <p:sorterViewPr>
    <p:cViewPr>
      <p:scale>
        <a:sx n="100" d="100"/>
        <a:sy n="100" d="100"/>
      </p:scale>
      <p:origin x="0" y="8352"/>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774EAC2-5ACA-4340-AE86-4A98D3C9F6C5}" type="datetimeFigureOut">
              <a:rPr lang="en-IN" smtClean="0"/>
              <a:pPr/>
              <a:t>10-10-2025</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5F31695-8C0B-44FA-ABE4-85D50D1EE9CF}" type="slidenum">
              <a:rPr lang="en-IN" smtClean="0"/>
              <a:pPr/>
              <a:t>‹#›</a:t>
            </a:fld>
            <a:endParaRPr lang="en-IN"/>
          </a:p>
        </p:txBody>
      </p:sp>
    </p:spTree>
    <p:extLst>
      <p:ext uri="{BB962C8B-B14F-4D97-AF65-F5344CB8AC3E}">
        <p14:creationId xmlns:p14="http://schemas.microsoft.com/office/powerpoint/2010/main" val="22854075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B962EBF1-EAE4-425A-84B0-7D05E5B49F62}" type="datetime5">
              <a:rPr lang="zh-CN" altLang="en-US" smtClean="0">
                <a:latin typeface="Times New Roman" pitchFamily="18" charset="0"/>
              </a:rPr>
              <a:pPr/>
              <a:t>2025/10/10</a:t>
            </a:fld>
            <a:endParaRPr lang="en-US" altLang="zh-CN">
              <a:latin typeface="Times New Roman" pitchFamily="18" charset="0"/>
            </a:endParaRPr>
          </a:p>
        </p:txBody>
      </p:sp>
      <p:sp>
        <p:nvSpPr>
          <p:cNvPr id="2150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F0A51433-9B20-43FE-A1D3-F2E1F95CEF34}" type="slidenum">
              <a:rPr lang="zh-CN" altLang="en-US">
                <a:latin typeface="Times New Roman" pitchFamily="18" charset="0"/>
              </a:rPr>
              <a:pPr/>
              <a:t>23</a:t>
            </a:fld>
            <a:endParaRPr lang="zh-CN" altLang="en-US">
              <a:latin typeface="Times New Roman" pitchFamily="18" charset="0"/>
            </a:endParaRPr>
          </a:p>
        </p:txBody>
      </p:sp>
      <p:sp>
        <p:nvSpPr>
          <p:cNvPr id="21508" name="Rectangle 2"/>
          <p:cNvSpPr>
            <a:spLocks noGrp="1" noRot="1" noChangeAspect="1" noChangeArrowheads="1" noTextEdit="1"/>
          </p:cNvSpPr>
          <p:nvPr>
            <p:ph type="sldImg"/>
          </p:nvPr>
        </p:nvSpPr>
        <p:spPr>
          <a:xfrm>
            <a:off x="381000" y="685800"/>
            <a:ext cx="6096000" cy="3429000"/>
          </a:xfrm>
          <a:ln/>
        </p:spPr>
      </p:sp>
      <p:sp>
        <p:nvSpPr>
          <p:cNvPr id="215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B962EBF1-EAE4-425A-84B0-7D05E5B49F62}" type="datetime5">
              <a:rPr lang="zh-CN" altLang="en-US" smtClean="0">
                <a:latin typeface="Times New Roman" pitchFamily="18" charset="0"/>
              </a:rPr>
              <a:pPr/>
              <a:t>2025/10/10</a:t>
            </a:fld>
            <a:endParaRPr lang="en-US" altLang="zh-CN">
              <a:latin typeface="Times New Roman" pitchFamily="18" charset="0"/>
            </a:endParaRPr>
          </a:p>
        </p:txBody>
      </p:sp>
      <p:sp>
        <p:nvSpPr>
          <p:cNvPr id="2150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F0A51433-9B20-43FE-A1D3-F2E1F95CEF34}" type="slidenum">
              <a:rPr lang="zh-CN" altLang="en-US">
                <a:latin typeface="Times New Roman" pitchFamily="18" charset="0"/>
              </a:rPr>
              <a:pPr/>
              <a:t>24</a:t>
            </a:fld>
            <a:endParaRPr lang="zh-CN" altLang="en-US">
              <a:latin typeface="Times New Roman" pitchFamily="18" charset="0"/>
            </a:endParaRPr>
          </a:p>
        </p:txBody>
      </p:sp>
      <p:sp>
        <p:nvSpPr>
          <p:cNvPr id="21508" name="Rectangle 2"/>
          <p:cNvSpPr>
            <a:spLocks noGrp="1" noRot="1" noChangeAspect="1" noChangeArrowheads="1" noTextEdit="1"/>
          </p:cNvSpPr>
          <p:nvPr>
            <p:ph type="sldImg"/>
          </p:nvPr>
        </p:nvSpPr>
        <p:spPr>
          <a:xfrm>
            <a:off x="381000" y="685800"/>
            <a:ext cx="6096000" cy="3429000"/>
          </a:xfrm>
          <a:ln/>
        </p:spPr>
      </p:sp>
      <p:sp>
        <p:nvSpPr>
          <p:cNvPr id="215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B962EBF1-EAE4-425A-84B0-7D05E5B49F62}" type="datetime5">
              <a:rPr lang="zh-CN" altLang="en-US" smtClean="0">
                <a:latin typeface="Times New Roman" pitchFamily="18" charset="0"/>
              </a:rPr>
              <a:pPr/>
              <a:t>2025/10/10</a:t>
            </a:fld>
            <a:endParaRPr lang="en-US" altLang="zh-CN">
              <a:latin typeface="Times New Roman" pitchFamily="18" charset="0"/>
            </a:endParaRPr>
          </a:p>
        </p:txBody>
      </p:sp>
      <p:sp>
        <p:nvSpPr>
          <p:cNvPr id="2150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F0A51433-9B20-43FE-A1D3-F2E1F95CEF34}" type="slidenum">
              <a:rPr lang="zh-CN" altLang="en-US">
                <a:latin typeface="Times New Roman" pitchFamily="18" charset="0"/>
              </a:rPr>
              <a:pPr/>
              <a:t>25</a:t>
            </a:fld>
            <a:endParaRPr lang="zh-CN" altLang="en-US">
              <a:latin typeface="Times New Roman" pitchFamily="18" charset="0"/>
            </a:endParaRPr>
          </a:p>
        </p:txBody>
      </p:sp>
      <p:sp>
        <p:nvSpPr>
          <p:cNvPr id="21508" name="Rectangle 2"/>
          <p:cNvSpPr>
            <a:spLocks noGrp="1" noRot="1" noChangeAspect="1" noChangeArrowheads="1" noTextEdit="1"/>
          </p:cNvSpPr>
          <p:nvPr>
            <p:ph type="sldImg"/>
          </p:nvPr>
        </p:nvSpPr>
        <p:spPr>
          <a:xfrm>
            <a:off x="381000" y="685800"/>
            <a:ext cx="6096000" cy="3429000"/>
          </a:xfrm>
          <a:ln/>
        </p:spPr>
      </p:sp>
      <p:sp>
        <p:nvSpPr>
          <p:cNvPr id="215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B962EBF1-EAE4-425A-84B0-7D05E5B49F62}" type="datetime5">
              <a:rPr lang="zh-CN" altLang="en-US" smtClean="0">
                <a:latin typeface="Times New Roman" pitchFamily="18" charset="0"/>
              </a:rPr>
              <a:pPr/>
              <a:t>2025/10/10</a:t>
            </a:fld>
            <a:endParaRPr lang="en-US" altLang="zh-CN">
              <a:latin typeface="Times New Roman" pitchFamily="18" charset="0"/>
            </a:endParaRPr>
          </a:p>
        </p:txBody>
      </p:sp>
      <p:sp>
        <p:nvSpPr>
          <p:cNvPr id="2150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F0A51433-9B20-43FE-A1D3-F2E1F95CEF34}" type="slidenum">
              <a:rPr lang="zh-CN" altLang="en-US">
                <a:latin typeface="Times New Roman" pitchFamily="18" charset="0"/>
              </a:rPr>
              <a:pPr/>
              <a:t>26</a:t>
            </a:fld>
            <a:endParaRPr lang="zh-CN" altLang="en-US">
              <a:latin typeface="Times New Roman" pitchFamily="18" charset="0"/>
            </a:endParaRPr>
          </a:p>
        </p:txBody>
      </p:sp>
      <p:sp>
        <p:nvSpPr>
          <p:cNvPr id="21508" name="Rectangle 2"/>
          <p:cNvSpPr>
            <a:spLocks noGrp="1" noRot="1" noChangeAspect="1" noChangeArrowheads="1" noTextEdit="1"/>
          </p:cNvSpPr>
          <p:nvPr>
            <p:ph type="sldImg"/>
          </p:nvPr>
        </p:nvSpPr>
        <p:spPr>
          <a:xfrm>
            <a:off x="381000" y="685800"/>
            <a:ext cx="6096000" cy="3429000"/>
          </a:xfrm>
          <a:ln/>
        </p:spPr>
      </p:sp>
      <p:sp>
        <p:nvSpPr>
          <p:cNvPr id="215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B962EBF1-EAE4-425A-84B0-7D05E5B49F62}" type="datetime5">
              <a:rPr lang="zh-CN" altLang="en-US" smtClean="0">
                <a:latin typeface="Times New Roman" pitchFamily="18" charset="0"/>
              </a:rPr>
              <a:pPr/>
              <a:t>2025/10/10</a:t>
            </a:fld>
            <a:endParaRPr lang="en-US" altLang="zh-CN">
              <a:latin typeface="Times New Roman" pitchFamily="18" charset="0"/>
            </a:endParaRPr>
          </a:p>
        </p:txBody>
      </p:sp>
      <p:sp>
        <p:nvSpPr>
          <p:cNvPr id="2150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F0A51433-9B20-43FE-A1D3-F2E1F95CEF34}" type="slidenum">
              <a:rPr lang="zh-CN" altLang="en-US">
                <a:latin typeface="Times New Roman" pitchFamily="18" charset="0"/>
              </a:rPr>
              <a:pPr/>
              <a:t>27</a:t>
            </a:fld>
            <a:endParaRPr lang="zh-CN" altLang="en-US">
              <a:latin typeface="Times New Roman" pitchFamily="18" charset="0"/>
            </a:endParaRPr>
          </a:p>
        </p:txBody>
      </p:sp>
      <p:sp>
        <p:nvSpPr>
          <p:cNvPr id="21508" name="Rectangle 2"/>
          <p:cNvSpPr>
            <a:spLocks noGrp="1" noRot="1" noChangeAspect="1" noChangeArrowheads="1" noTextEdit="1"/>
          </p:cNvSpPr>
          <p:nvPr>
            <p:ph type="sldImg"/>
          </p:nvPr>
        </p:nvSpPr>
        <p:spPr>
          <a:xfrm>
            <a:off x="381000" y="685800"/>
            <a:ext cx="6096000" cy="3429000"/>
          </a:xfrm>
          <a:ln/>
        </p:spPr>
      </p:sp>
      <p:sp>
        <p:nvSpPr>
          <p:cNvPr id="215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B962EBF1-EAE4-425A-84B0-7D05E5B49F62}" type="datetime5">
              <a:rPr lang="zh-CN" altLang="en-US" smtClean="0">
                <a:latin typeface="Times New Roman" pitchFamily="18" charset="0"/>
              </a:rPr>
              <a:pPr/>
              <a:t>2025/10/10</a:t>
            </a:fld>
            <a:endParaRPr lang="en-US" altLang="zh-CN">
              <a:latin typeface="Times New Roman" pitchFamily="18" charset="0"/>
            </a:endParaRPr>
          </a:p>
        </p:txBody>
      </p:sp>
      <p:sp>
        <p:nvSpPr>
          <p:cNvPr id="2150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F0A51433-9B20-43FE-A1D3-F2E1F95CEF34}" type="slidenum">
              <a:rPr lang="zh-CN" altLang="en-US">
                <a:latin typeface="Times New Roman" pitchFamily="18" charset="0"/>
              </a:rPr>
              <a:pPr/>
              <a:t>28</a:t>
            </a:fld>
            <a:endParaRPr lang="zh-CN" altLang="en-US">
              <a:latin typeface="Times New Roman" pitchFamily="18" charset="0"/>
            </a:endParaRPr>
          </a:p>
        </p:txBody>
      </p:sp>
      <p:sp>
        <p:nvSpPr>
          <p:cNvPr id="21508" name="Rectangle 2"/>
          <p:cNvSpPr>
            <a:spLocks noGrp="1" noRot="1" noChangeAspect="1" noChangeArrowheads="1" noTextEdit="1"/>
          </p:cNvSpPr>
          <p:nvPr>
            <p:ph type="sldImg"/>
          </p:nvPr>
        </p:nvSpPr>
        <p:spPr>
          <a:xfrm>
            <a:off x="381000" y="685800"/>
            <a:ext cx="6096000" cy="3429000"/>
          </a:xfrm>
          <a:ln/>
        </p:spPr>
      </p:sp>
      <p:sp>
        <p:nvSpPr>
          <p:cNvPr id="215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B962EBF1-EAE4-425A-84B0-7D05E5B49F62}" type="datetime5">
              <a:rPr lang="zh-CN" altLang="en-US" smtClean="0">
                <a:latin typeface="Times New Roman" pitchFamily="18" charset="0"/>
              </a:rPr>
              <a:pPr/>
              <a:t>2025/10/10</a:t>
            </a:fld>
            <a:endParaRPr lang="en-US" altLang="zh-CN">
              <a:latin typeface="Times New Roman" pitchFamily="18" charset="0"/>
            </a:endParaRPr>
          </a:p>
        </p:txBody>
      </p:sp>
      <p:sp>
        <p:nvSpPr>
          <p:cNvPr id="2150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F0A51433-9B20-43FE-A1D3-F2E1F95CEF34}" type="slidenum">
              <a:rPr lang="zh-CN" altLang="en-US">
                <a:latin typeface="Times New Roman" pitchFamily="18" charset="0"/>
              </a:rPr>
              <a:pPr/>
              <a:t>29</a:t>
            </a:fld>
            <a:endParaRPr lang="zh-CN" altLang="en-US">
              <a:latin typeface="Times New Roman" pitchFamily="18" charset="0"/>
            </a:endParaRPr>
          </a:p>
        </p:txBody>
      </p:sp>
      <p:sp>
        <p:nvSpPr>
          <p:cNvPr id="21508" name="Rectangle 2"/>
          <p:cNvSpPr>
            <a:spLocks noGrp="1" noRot="1" noChangeAspect="1" noChangeArrowheads="1" noTextEdit="1"/>
          </p:cNvSpPr>
          <p:nvPr>
            <p:ph type="sldImg"/>
          </p:nvPr>
        </p:nvSpPr>
        <p:spPr>
          <a:xfrm>
            <a:off x="381000" y="685800"/>
            <a:ext cx="6096000" cy="3429000"/>
          </a:xfrm>
          <a:ln/>
        </p:spPr>
      </p:sp>
      <p:sp>
        <p:nvSpPr>
          <p:cNvPr id="215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B962EBF1-EAE4-425A-84B0-7D05E5B49F62}" type="datetime5">
              <a:rPr lang="zh-CN" altLang="en-US" smtClean="0">
                <a:latin typeface="Times New Roman" pitchFamily="18" charset="0"/>
              </a:rPr>
              <a:pPr/>
              <a:t>2025/10/10</a:t>
            </a:fld>
            <a:endParaRPr lang="en-US" altLang="zh-CN">
              <a:latin typeface="Times New Roman" pitchFamily="18" charset="0"/>
            </a:endParaRPr>
          </a:p>
        </p:txBody>
      </p:sp>
      <p:sp>
        <p:nvSpPr>
          <p:cNvPr id="2150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F0A51433-9B20-43FE-A1D3-F2E1F95CEF34}" type="slidenum">
              <a:rPr lang="zh-CN" altLang="en-US">
                <a:latin typeface="Times New Roman" pitchFamily="18" charset="0"/>
              </a:rPr>
              <a:pPr/>
              <a:t>30</a:t>
            </a:fld>
            <a:endParaRPr lang="zh-CN" altLang="en-US">
              <a:latin typeface="Times New Roman" pitchFamily="18" charset="0"/>
            </a:endParaRPr>
          </a:p>
        </p:txBody>
      </p:sp>
      <p:sp>
        <p:nvSpPr>
          <p:cNvPr id="21508" name="Rectangle 2"/>
          <p:cNvSpPr>
            <a:spLocks noGrp="1" noRot="1" noChangeAspect="1" noChangeArrowheads="1" noTextEdit="1"/>
          </p:cNvSpPr>
          <p:nvPr>
            <p:ph type="sldImg"/>
          </p:nvPr>
        </p:nvSpPr>
        <p:spPr>
          <a:xfrm>
            <a:off x="381000" y="685800"/>
            <a:ext cx="6096000" cy="3429000"/>
          </a:xfrm>
          <a:ln/>
        </p:spPr>
      </p:sp>
      <p:sp>
        <p:nvSpPr>
          <p:cNvPr id="215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B962EBF1-EAE4-425A-84B0-7D05E5B49F62}" type="datetime5">
              <a:rPr lang="zh-CN" altLang="en-US" smtClean="0">
                <a:latin typeface="Times New Roman" pitchFamily="18" charset="0"/>
              </a:rPr>
              <a:pPr/>
              <a:t>2025/10/10</a:t>
            </a:fld>
            <a:endParaRPr lang="en-US" altLang="zh-CN">
              <a:latin typeface="Times New Roman" pitchFamily="18" charset="0"/>
            </a:endParaRPr>
          </a:p>
        </p:txBody>
      </p:sp>
      <p:sp>
        <p:nvSpPr>
          <p:cNvPr id="2150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F0A51433-9B20-43FE-A1D3-F2E1F95CEF34}" type="slidenum">
              <a:rPr lang="zh-CN" altLang="en-US">
                <a:latin typeface="Times New Roman" pitchFamily="18" charset="0"/>
              </a:rPr>
              <a:pPr/>
              <a:t>31</a:t>
            </a:fld>
            <a:endParaRPr lang="zh-CN" altLang="en-US">
              <a:latin typeface="Times New Roman" pitchFamily="18" charset="0"/>
            </a:endParaRPr>
          </a:p>
        </p:txBody>
      </p:sp>
      <p:sp>
        <p:nvSpPr>
          <p:cNvPr id="21508" name="Rectangle 2"/>
          <p:cNvSpPr>
            <a:spLocks noGrp="1" noRot="1" noChangeAspect="1" noChangeArrowheads="1" noTextEdit="1"/>
          </p:cNvSpPr>
          <p:nvPr>
            <p:ph type="sldImg"/>
          </p:nvPr>
        </p:nvSpPr>
        <p:spPr>
          <a:xfrm>
            <a:off x="381000" y="685800"/>
            <a:ext cx="6096000" cy="3429000"/>
          </a:xfrm>
          <a:ln/>
        </p:spPr>
      </p:sp>
      <p:sp>
        <p:nvSpPr>
          <p:cNvPr id="215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B962EBF1-EAE4-425A-84B0-7D05E5B49F62}" type="datetime5">
              <a:rPr lang="zh-CN" altLang="en-US" smtClean="0">
                <a:latin typeface="Times New Roman" pitchFamily="18" charset="0"/>
              </a:rPr>
              <a:pPr/>
              <a:t>2025/10/10</a:t>
            </a:fld>
            <a:endParaRPr lang="en-US" altLang="zh-CN">
              <a:latin typeface="Times New Roman" pitchFamily="18" charset="0"/>
            </a:endParaRPr>
          </a:p>
        </p:txBody>
      </p:sp>
      <p:sp>
        <p:nvSpPr>
          <p:cNvPr id="2150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F0A51433-9B20-43FE-A1D3-F2E1F95CEF34}" type="slidenum">
              <a:rPr lang="zh-CN" altLang="en-US">
                <a:latin typeface="Times New Roman" pitchFamily="18" charset="0"/>
              </a:rPr>
              <a:pPr/>
              <a:t>32</a:t>
            </a:fld>
            <a:endParaRPr lang="zh-CN" altLang="en-US">
              <a:latin typeface="Times New Roman" pitchFamily="18" charset="0"/>
            </a:endParaRPr>
          </a:p>
        </p:txBody>
      </p:sp>
      <p:sp>
        <p:nvSpPr>
          <p:cNvPr id="21508" name="Rectangle 2"/>
          <p:cNvSpPr>
            <a:spLocks noGrp="1" noRot="1" noChangeAspect="1" noChangeArrowheads="1" noTextEdit="1"/>
          </p:cNvSpPr>
          <p:nvPr>
            <p:ph type="sldImg"/>
          </p:nvPr>
        </p:nvSpPr>
        <p:spPr>
          <a:xfrm>
            <a:off x="381000" y="685800"/>
            <a:ext cx="6096000" cy="3429000"/>
          </a:xfrm>
          <a:ln/>
        </p:spPr>
      </p:sp>
      <p:sp>
        <p:nvSpPr>
          <p:cNvPr id="215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B962EBF1-EAE4-425A-84B0-7D05E5B49F62}" type="datetime5">
              <a:rPr lang="zh-CN" altLang="en-US" smtClean="0">
                <a:latin typeface="Times New Roman" pitchFamily="18" charset="0"/>
              </a:rPr>
              <a:pPr/>
              <a:t>2025/10/10</a:t>
            </a:fld>
            <a:endParaRPr lang="en-US" altLang="zh-CN">
              <a:latin typeface="Times New Roman" pitchFamily="18" charset="0"/>
            </a:endParaRPr>
          </a:p>
        </p:txBody>
      </p:sp>
      <p:sp>
        <p:nvSpPr>
          <p:cNvPr id="2150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F0A51433-9B20-43FE-A1D3-F2E1F95CEF34}" type="slidenum">
              <a:rPr lang="zh-CN" altLang="en-US">
                <a:latin typeface="Times New Roman" pitchFamily="18" charset="0"/>
              </a:rPr>
              <a:pPr/>
              <a:t>37</a:t>
            </a:fld>
            <a:endParaRPr lang="zh-CN" altLang="en-US">
              <a:latin typeface="Times New Roman" pitchFamily="18" charset="0"/>
            </a:endParaRPr>
          </a:p>
        </p:txBody>
      </p:sp>
      <p:sp>
        <p:nvSpPr>
          <p:cNvPr id="21508" name="Rectangle 2"/>
          <p:cNvSpPr>
            <a:spLocks noGrp="1" noRot="1" noChangeAspect="1" noChangeArrowheads="1" noTextEdit="1"/>
          </p:cNvSpPr>
          <p:nvPr>
            <p:ph type="sldImg"/>
          </p:nvPr>
        </p:nvSpPr>
        <p:spPr>
          <a:xfrm>
            <a:off x="381000" y="685800"/>
            <a:ext cx="6096000" cy="3429000"/>
          </a:xfrm>
          <a:ln/>
        </p:spPr>
      </p:sp>
      <p:sp>
        <p:nvSpPr>
          <p:cNvPr id="215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B962EBF1-EAE4-425A-84B0-7D05E5B49F62}" type="datetime5">
              <a:rPr lang="zh-CN" altLang="en-US" smtClean="0">
                <a:latin typeface="Times New Roman" pitchFamily="18" charset="0"/>
              </a:rPr>
              <a:pPr/>
              <a:t>2025/10/10</a:t>
            </a:fld>
            <a:endParaRPr lang="en-US" altLang="zh-CN">
              <a:latin typeface="Times New Roman" pitchFamily="18" charset="0"/>
            </a:endParaRPr>
          </a:p>
        </p:txBody>
      </p:sp>
      <p:sp>
        <p:nvSpPr>
          <p:cNvPr id="2150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F0A51433-9B20-43FE-A1D3-F2E1F95CEF34}" type="slidenum">
              <a:rPr lang="zh-CN" altLang="en-US">
                <a:latin typeface="Times New Roman" pitchFamily="18" charset="0"/>
              </a:rPr>
              <a:pPr/>
              <a:t>38</a:t>
            </a:fld>
            <a:endParaRPr lang="zh-CN" altLang="en-US">
              <a:latin typeface="Times New Roman" pitchFamily="18" charset="0"/>
            </a:endParaRPr>
          </a:p>
        </p:txBody>
      </p:sp>
      <p:sp>
        <p:nvSpPr>
          <p:cNvPr id="21508" name="Rectangle 2"/>
          <p:cNvSpPr>
            <a:spLocks noGrp="1" noRot="1" noChangeAspect="1" noChangeArrowheads="1" noTextEdit="1"/>
          </p:cNvSpPr>
          <p:nvPr>
            <p:ph type="sldImg"/>
          </p:nvPr>
        </p:nvSpPr>
        <p:spPr>
          <a:xfrm>
            <a:off x="381000" y="685800"/>
            <a:ext cx="6096000" cy="3429000"/>
          </a:xfrm>
          <a:ln/>
        </p:spPr>
      </p:sp>
      <p:sp>
        <p:nvSpPr>
          <p:cNvPr id="215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B962EBF1-EAE4-425A-84B0-7D05E5B49F62}" type="datetime5">
              <a:rPr lang="zh-CN" altLang="en-US" smtClean="0">
                <a:latin typeface="Times New Roman" pitchFamily="18" charset="0"/>
              </a:rPr>
              <a:pPr/>
              <a:t>2025/10/10</a:t>
            </a:fld>
            <a:endParaRPr lang="en-US" altLang="zh-CN">
              <a:latin typeface="Times New Roman" pitchFamily="18" charset="0"/>
            </a:endParaRPr>
          </a:p>
        </p:txBody>
      </p:sp>
      <p:sp>
        <p:nvSpPr>
          <p:cNvPr id="2150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F0A51433-9B20-43FE-A1D3-F2E1F95CEF34}" type="slidenum">
              <a:rPr lang="zh-CN" altLang="en-US">
                <a:latin typeface="Times New Roman" pitchFamily="18" charset="0"/>
              </a:rPr>
              <a:pPr/>
              <a:t>39</a:t>
            </a:fld>
            <a:endParaRPr lang="zh-CN" altLang="en-US">
              <a:latin typeface="Times New Roman" pitchFamily="18" charset="0"/>
            </a:endParaRPr>
          </a:p>
        </p:txBody>
      </p:sp>
      <p:sp>
        <p:nvSpPr>
          <p:cNvPr id="21508" name="Rectangle 2"/>
          <p:cNvSpPr>
            <a:spLocks noGrp="1" noRot="1" noChangeAspect="1" noChangeArrowheads="1" noTextEdit="1"/>
          </p:cNvSpPr>
          <p:nvPr>
            <p:ph type="sldImg"/>
          </p:nvPr>
        </p:nvSpPr>
        <p:spPr>
          <a:xfrm>
            <a:off x="381000" y="685800"/>
            <a:ext cx="6096000" cy="3429000"/>
          </a:xfrm>
          <a:ln/>
        </p:spPr>
      </p:sp>
      <p:sp>
        <p:nvSpPr>
          <p:cNvPr id="215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B962EBF1-EAE4-425A-84B0-7D05E5B49F62}" type="datetime5">
              <a:rPr lang="zh-CN" altLang="en-US" smtClean="0">
                <a:latin typeface="Times New Roman" pitchFamily="18" charset="0"/>
              </a:rPr>
              <a:pPr/>
              <a:t>2025/10/10</a:t>
            </a:fld>
            <a:endParaRPr lang="en-US" altLang="zh-CN">
              <a:latin typeface="Times New Roman" pitchFamily="18" charset="0"/>
            </a:endParaRPr>
          </a:p>
        </p:txBody>
      </p:sp>
      <p:sp>
        <p:nvSpPr>
          <p:cNvPr id="2150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F0A51433-9B20-43FE-A1D3-F2E1F95CEF34}" type="slidenum">
              <a:rPr lang="zh-CN" altLang="en-US">
                <a:latin typeface="Times New Roman" pitchFamily="18" charset="0"/>
              </a:rPr>
              <a:pPr/>
              <a:t>40</a:t>
            </a:fld>
            <a:endParaRPr lang="zh-CN" altLang="en-US">
              <a:latin typeface="Times New Roman" pitchFamily="18" charset="0"/>
            </a:endParaRPr>
          </a:p>
        </p:txBody>
      </p:sp>
      <p:sp>
        <p:nvSpPr>
          <p:cNvPr id="21508" name="Rectangle 2"/>
          <p:cNvSpPr>
            <a:spLocks noGrp="1" noRot="1" noChangeAspect="1" noChangeArrowheads="1" noTextEdit="1"/>
          </p:cNvSpPr>
          <p:nvPr>
            <p:ph type="sldImg"/>
          </p:nvPr>
        </p:nvSpPr>
        <p:spPr>
          <a:xfrm>
            <a:off x="381000" y="685800"/>
            <a:ext cx="6096000" cy="3429000"/>
          </a:xfrm>
          <a:ln/>
        </p:spPr>
      </p:sp>
      <p:sp>
        <p:nvSpPr>
          <p:cNvPr id="215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B962EBF1-EAE4-425A-84B0-7D05E5B49F62}" type="datetime5">
              <a:rPr lang="zh-CN" altLang="en-US" smtClean="0">
                <a:latin typeface="Times New Roman" pitchFamily="18" charset="0"/>
              </a:rPr>
              <a:pPr/>
              <a:t>2025/10/10</a:t>
            </a:fld>
            <a:endParaRPr lang="en-US" altLang="zh-CN">
              <a:latin typeface="Times New Roman" pitchFamily="18" charset="0"/>
            </a:endParaRPr>
          </a:p>
        </p:txBody>
      </p:sp>
      <p:sp>
        <p:nvSpPr>
          <p:cNvPr id="2150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F0A51433-9B20-43FE-A1D3-F2E1F95CEF34}" type="slidenum">
              <a:rPr lang="zh-CN" altLang="en-US">
                <a:latin typeface="Times New Roman" pitchFamily="18" charset="0"/>
              </a:rPr>
              <a:pPr/>
              <a:t>41</a:t>
            </a:fld>
            <a:endParaRPr lang="zh-CN" altLang="en-US">
              <a:latin typeface="Times New Roman" pitchFamily="18" charset="0"/>
            </a:endParaRPr>
          </a:p>
        </p:txBody>
      </p:sp>
      <p:sp>
        <p:nvSpPr>
          <p:cNvPr id="21508" name="Rectangle 2"/>
          <p:cNvSpPr>
            <a:spLocks noGrp="1" noRot="1" noChangeAspect="1" noChangeArrowheads="1" noTextEdit="1"/>
          </p:cNvSpPr>
          <p:nvPr>
            <p:ph type="sldImg"/>
          </p:nvPr>
        </p:nvSpPr>
        <p:spPr>
          <a:xfrm>
            <a:off x="381000" y="685800"/>
            <a:ext cx="6096000" cy="3429000"/>
          </a:xfrm>
          <a:ln/>
        </p:spPr>
      </p:sp>
      <p:sp>
        <p:nvSpPr>
          <p:cNvPr id="215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B962EBF1-EAE4-425A-84B0-7D05E5B49F62}" type="datetime5">
              <a:rPr lang="zh-CN" altLang="en-US" smtClean="0">
                <a:latin typeface="Times New Roman" pitchFamily="18" charset="0"/>
              </a:rPr>
              <a:pPr/>
              <a:t>2025/10/10</a:t>
            </a:fld>
            <a:endParaRPr lang="en-US" altLang="zh-CN">
              <a:latin typeface="Times New Roman" pitchFamily="18" charset="0"/>
            </a:endParaRPr>
          </a:p>
        </p:txBody>
      </p:sp>
      <p:sp>
        <p:nvSpPr>
          <p:cNvPr id="2150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F0A51433-9B20-43FE-A1D3-F2E1F95CEF34}" type="slidenum">
              <a:rPr lang="zh-CN" altLang="en-US">
                <a:latin typeface="Times New Roman" pitchFamily="18" charset="0"/>
              </a:rPr>
              <a:pPr/>
              <a:t>45</a:t>
            </a:fld>
            <a:endParaRPr lang="zh-CN" altLang="en-US">
              <a:latin typeface="Times New Roman" pitchFamily="18" charset="0"/>
            </a:endParaRPr>
          </a:p>
        </p:txBody>
      </p:sp>
      <p:sp>
        <p:nvSpPr>
          <p:cNvPr id="21508" name="Rectangle 2"/>
          <p:cNvSpPr>
            <a:spLocks noGrp="1" noRot="1" noChangeAspect="1" noChangeArrowheads="1" noTextEdit="1"/>
          </p:cNvSpPr>
          <p:nvPr>
            <p:ph type="sldImg"/>
          </p:nvPr>
        </p:nvSpPr>
        <p:spPr>
          <a:xfrm>
            <a:off x="381000" y="685800"/>
            <a:ext cx="6096000" cy="3429000"/>
          </a:xfrm>
          <a:ln/>
        </p:spPr>
      </p:sp>
      <p:sp>
        <p:nvSpPr>
          <p:cNvPr id="215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B962EBF1-EAE4-425A-84B0-7D05E5B49F62}" type="datetime5">
              <a:rPr lang="zh-CN" altLang="en-US" smtClean="0">
                <a:latin typeface="Times New Roman" pitchFamily="18" charset="0"/>
              </a:rPr>
              <a:pPr/>
              <a:t>2025/10/10</a:t>
            </a:fld>
            <a:endParaRPr lang="en-US" altLang="zh-CN">
              <a:latin typeface="Times New Roman" pitchFamily="18" charset="0"/>
            </a:endParaRPr>
          </a:p>
        </p:txBody>
      </p:sp>
      <p:sp>
        <p:nvSpPr>
          <p:cNvPr id="2150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F0A51433-9B20-43FE-A1D3-F2E1F95CEF34}" type="slidenum">
              <a:rPr lang="zh-CN" altLang="en-US">
                <a:latin typeface="Times New Roman" pitchFamily="18" charset="0"/>
              </a:rPr>
              <a:pPr/>
              <a:t>46</a:t>
            </a:fld>
            <a:endParaRPr lang="zh-CN" altLang="en-US">
              <a:latin typeface="Times New Roman" pitchFamily="18" charset="0"/>
            </a:endParaRPr>
          </a:p>
        </p:txBody>
      </p:sp>
      <p:sp>
        <p:nvSpPr>
          <p:cNvPr id="21508" name="Rectangle 2"/>
          <p:cNvSpPr>
            <a:spLocks noGrp="1" noRot="1" noChangeAspect="1" noChangeArrowheads="1" noTextEdit="1"/>
          </p:cNvSpPr>
          <p:nvPr>
            <p:ph type="sldImg"/>
          </p:nvPr>
        </p:nvSpPr>
        <p:spPr>
          <a:xfrm>
            <a:off x="381000" y="685800"/>
            <a:ext cx="6096000" cy="3429000"/>
          </a:xfrm>
          <a:ln/>
        </p:spPr>
      </p:sp>
      <p:sp>
        <p:nvSpPr>
          <p:cNvPr id="215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B962EBF1-EAE4-425A-84B0-7D05E5B49F62}" type="datetime5">
              <a:rPr lang="zh-CN" altLang="en-US" smtClean="0">
                <a:latin typeface="Times New Roman" pitchFamily="18" charset="0"/>
              </a:rPr>
              <a:pPr/>
              <a:t>2025/10/10</a:t>
            </a:fld>
            <a:endParaRPr lang="en-US" altLang="zh-CN">
              <a:latin typeface="Times New Roman" pitchFamily="18" charset="0"/>
            </a:endParaRPr>
          </a:p>
        </p:txBody>
      </p:sp>
      <p:sp>
        <p:nvSpPr>
          <p:cNvPr id="2150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F0A51433-9B20-43FE-A1D3-F2E1F95CEF34}" type="slidenum">
              <a:rPr lang="zh-CN" altLang="en-US">
                <a:latin typeface="Times New Roman" pitchFamily="18" charset="0"/>
              </a:rPr>
              <a:pPr/>
              <a:t>47</a:t>
            </a:fld>
            <a:endParaRPr lang="zh-CN" altLang="en-US">
              <a:latin typeface="Times New Roman" pitchFamily="18" charset="0"/>
            </a:endParaRPr>
          </a:p>
        </p:txBody>
      </p:sp>
      <p:sp>
        <p:nvSpPr>
          <p:cNvPr id="21508" name="Rectangle 2"/>
          <p:cNvSpPr>
            <a:spLocks noGrp="1" noRot="1" noChangeAspect="1" noChangeArrowheads="1" noTextEdit="1"/>
          </p:cNvSpPr>
          <p:nvPr>
            <p:ph type="sldImg"/>
          </p:nvPr>
        </p:nvSpPr>
        <p:spPr>
          <a:xfrm>
            <a:off x="381000" y="685800"/>
            <a:ext cx="6096000" cy="3429000"/>
          </a:xfrm>
          <a:ln/>
        </p:spPr>
      </p:sp>
      <p:sp>
        <p:nvSpPr>
          <p:cNvPr id="215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5F31695-8C0B-44FA-ABE4-85D50D1EE9CF}" type="slidenum">
              <a:rPr lang="en-IN" smtClean="0"/>
              <a:pPr/>
              <a:t>54</a:t>
            </a:fld>
            <a:endParaRPr lang="en-IN"/>
          </a:p>
        </p:txBody>
      </p:sp>
    </p:spTree>
    <p:extLst>
      <p:ext uri="{BB962C8B-B14F-4D97-AF65-F5344CB8AC3E}">
        <p14:creationId xmlns:p14="http://schemas.microsoft.com/office/powerpoint/2010/main" val="12806827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B962EBF1-EAE4-425A-84B0-7D05E5B49F62}" type="datetime5">
              <a:rPr lang="zh-CN" altLang="en-US" smtClean="0">
                <a:latin typeface="Times New Roman" pitchFamily="18" charset="0"/>
              </a:rPr>
              <a:pPr/>
              <a:t>2025/10/10</a:t>
            </a:fld>
            <a:endParaRPr lang="en-US" altLang="zh-CN">
              <a:latin typeface="Times New Roman" pitchFamily="18" charset="0"/>
            </a:endParaRPr>
          </a:p>
        </p:txBody>
      </p:sp>
      <p:sp>
        <p:nvSpPr>
          <p:cNvPr id="2150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F0A51433-9B20-43FE-A1D3-F2E1F95CEF34}" type="slidenum">
              <a:rPr lang="zh-CN" altLang="en-US">
                <a:latin typeface="Times New Roman" pitchFamily="18" charset="0"/>
              </a:rPr>
              <a:pPr/>
              <a:t>57</a:t>
            </a:fld>
            <a:endParaRPr lang="zh-CN" altLang="en-US">
              <a:latin typeface="Times New Roman" pitchFamily="18" charset="0"/>
            </a:endParaRPr>
          </a:p>
        </p:txBody>
      </p:sp>
      <p:sp>
        <p:nvSpPr>
          <p:cNvPr id="21508" name="Rectangle 2"/>
          <p:cNvSpPr>
            <a:spLocks noGrp="1" noRot="1" noChangeAspect="1" noChangeArrowheads="1" noTextEdit="1"/>
          </p:cNvSpPr>
          <p:nvPr>
            <p:ph type="sldImg"/>
          </p:nvPr>
        </p:nvSpPr>
        <p:spPr>
          <a:xfrm>
            <a:off x="381000" y="685800"/>
            <a:ext cx="6096000" cy="3429000"/>
          </a:xfrm>
          <a:ln/>
        </p:spPr>
      </p:sp>
      <p:sp>
        <p:nvSpPr>
          <p:cNvPr id="215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B962EBF1-EAE4-425A-84B0-7D05E5B49F62}" type="datetime5">
              <a:rPr lang="zh-CN" altLang="en-US" smtClean="0">
                <a:latin typeface="Times New Roman" pitchFamily="18" charset="0"/>
              </a:rPr>
              <a:pPr/>
              <a:t>2025/10/10</a:t>
            </a:fld>
            <a:endParaRPr lang="en-US" altLang="zh-CN">
              <a:latin typeface="Times New Roman" pitchFamily="18" charset="0"/>
            </a:endParaRPr>
          </a:p>
        </p:txBody>
      </p:sp>
      <p:sp>
        <p:nvSpPr>
          <p:cNvPr id="2150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F0A51433-9B20-43FE-A1D3-F2E1F95CEF34}" type="slidenum">
              <a:rPr lang="zh-CN" altLang="en-US">
                <a:latin typeface="Times New Roman" pitchFamily="18" charset="0"/>
              </a:rPr>
              <a:pPr/>
              <a:t>58</a:t>
            </a:fld>
            <a:endParaRPr lang="zh-CN" altLang="en-US">
              <a:latin typeface="Times New Roman" pitchFamily="18" charset="0"/>
            </a:endParaRPr>
          </a:p>
        </p:txBody>
      </p:sp>
      <p:sp>
        <p:nvSpPr>
          <p:cNvPr id="21508" name="Rectangle 2"/>
          <p:cNvSpPr>
            <a:spLocks noGrp="1" noRot="1" noChangeAspect="1" noChangeArrowheads="1" noTextEdit="1"/>
          </p:cNvSpPr>
          <p:nvPr>
            <p:ph type="sldImg"/>
          </p:nvPr>
        </p:nvSpPr>
        <p:spPr>
          <a:xfrm>
            <a:off x="381000" y="685800"/>
            <a:ext cx="6096000" cy="3429000"/>
          </a:xfrm>
          <a:ln/>
        </p:spPr>
      </p:sp>
      <p:sp>
        <p:nvSpPr>
          <p:cNvPr id="215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B962EBF1-EAE4-425A-84B0-7D05E5B49F62}" type="datetime5">
              <a:rPr lang="zh-CN" altLang="en-US" smtClean="0">
                <a:latin typeface="Times New Roman" pitchFamily="18" charset="0"/>
              </a:rPr>
              <a:pPr/>
              <a:t>2025/10/10</a:t>
            </a:fld>
            <a:endParaRPr lang="en-US" altLang="zh-CN">
              <a:latin typeface="Times New Roman" pitchFamily="18" charset="0"/>
            </a:endParaRPr>
          </a:p>
        </p:txBody>
      </p:sp>
      <p:sp>
        <p:nvSpPr>
          <p:cNvPr id="2150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F0A51433-9B20-43FE-A1D3-F2E1F95CEF34}" type="slidenum">
              <a:rPr lang="zh-CN" altLang="en-US">
                <a:latin typeface="Times New Roman" pitchFamily="18" charset="0"/>
              </a:rPr>
              <a:pPr/>
              <a:t>59</a:t>
            </a:fld>
            <a:endParaRPr lang="zh-CN" altLang="en-US">
              <a:latin typeface="Times New Roman" pitchFamily="18" charset="0"/>
            </a:endParaRPr>
          </a:p>
        </p:txBody>
      </p:sp>
      <p:sp>
        <p:nvSpPr>
          <p:cNvPr id="21508" name="Rectangle 2"/>
          <p:cNvSpPr>
            <a:spLocks noGrp="1" noRot="1" noChangeAspect="1" noChangeArrowheads="1" noTextEdit="1"/>
          </p:cNvSpPr>
          <p:nvPr>
            <p:ph type="sldImg"/>
          </p:nvPr>
        </p:nvSpPr>
        <p:spPr>
          <a:xfrm>
            <a:off x="381000" y="685800"/>
            <a:ext cx="6096000" cy="3429000"/>
          </a:xfrm>
          <a:ln/>
        </p:spPr>
      </p:sp>
      <p:sp>
        <p:nvSpPr>
          <p:cNvPr id="215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B962EBF1-EAE4-425A-84B0-7D05E5B49F62}" type="datetime5">
              <a:rPr lang="zh-CN" altLang="en-US" smtClean="0">
                <a:latin typeface="Times New Roman" pitchFamily="18" charset="0"/>
              </a:rPr>
              <a:pPr/>
              <a:t>2025/10/10</a:t>
            </a:fld>
            <a:endParaRPr lang="en-US" altLang="zh-CN">
              <a:latin typeface="Times New Roman" pitchFamily="18" charset="0"/>
            </a:endParaRPr>
          </a:p>
        </p:txBody>
      </p:sp>
      <p:sp>
        <p:nvSpPr>
          <p:cNvPr id="2150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F0A51433-9B20-43FE-A1D3-F2E1F95CEF34}" type="slidenum">
              <a:rPr lang="zh-CN" altLang="en-US">
                <a:latin typeface="Times New Roman" pitchFamily="18" charset="0"/>
              </a:rPr>
              <a:pPr/>
              <a:t>60</a:t>
            </a:fld>
            <a:endParaRPr lang="zh-CN" altLang="en-US">
              <a:latin typeface="Times New Roman" pitchFamily="18" charset="0"/>
            </a:endParaRPr>
          </a:p>
        </p:txBody>
      </p:sp>
      <p:sp>
        <p:nvSpPr>
          <p:cNvPr id="21508" name="Rectangle 2"/>
          <p:cNvSpPr>
            <a:spLocks noGrp="1" noRot="1" noChangeAspect="1" noChangeArrowheads="1" noTextEdit="1"/>
          </p:cNvSpPr>
          <p:nvPr>
            <p:ph type="sldImg"/>
          </p:nvPr>
        </p:nvSpPr>
        <p:spPr>
          <a:xfrm>
            <a:off x="381000" y="685800"/>
            <a:ext cx="6096000" cy="3429000"/>
          </a:xfrm>
          <a:ln/>
        </p:spPr>
      </p:sp>
      <p:sp>
        <p:nvSpPr>
          <p:cNvPr id="215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B962EBF1-EAE4-425A-84B0-7D05E5B49F62}" type="datetime5">
              <a:rPr lang="zh-CN" altLang="en-US" smtClean="0">
                <a:latin typeface="Times New Roman" pitchFamily="18" charset="0"/>
              </a:rPr>
              <a:pPr/>
              <a:t>2025/10/10</a:t>
            </a:fld>
            <a:endParaRPr lang="en-US" altLang="zh-CN">
              <a:latin typeface="Times New Roman" pitchFamily="18" charset="0"/>
            </a:endParaRPr>
          </a:p>
        </p:txBody>
      </p:sp>
      <p:sp>
        <p:nvSpPr>
          <p:cNvPr id="2150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F0A51433-9B20-43FE-A1D3-F2E1F95CEF34}" type="slidenum">
              <a:rPr lang="zh-CN" altLang="en-US">
                <a:latin typeface="Times New Roman" pitchFamily="18" charset="0"/>
              </a:rPr>
              <a:pPr/>
              <a:t>61</a:t>
            </a:fld>
            <a:endParaRPr lang="zh-CN" altLang="en-US">
              <a:latin typeface="Times New Roman" pitchFamily="18" charset="0"/>
            </a:endParaRPr>
          </a:p>
        </p:txBody>
      </p:sp>
      <p:sp>
        <p:nvSpPr>
          <p:cNvPr id="21508" name="Rectangle 2"/>
          <p:cNvSpPr>
            <a:spLocks noGrp="1" noRot="1" noChangeAspect="1" noChangeArrowheads="1" noTextEdit="1"/>
          </p:cNvSpPr>
          <p:nvPr>
            <p:ph type="sldImg"/>
          </p:nvPr>
        </p:nvSpPr>
        <p:spPr>
          <a:xfrm>
            <a:off x="381000" y="685800"/>
            <a:ext cx="6096000" cy="3429000"/>
          </a:xfrm>
          <a:ln/>
        </p:spPr>
      </p:sp>
      <p:sp>
        <p:nvSpPr>
          <p:cNvPr id="215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B962EBF1-EAE4-425A-84B0-7D05E5B49F62}" type="datetime5">
              <a:rPr lang="zh-CN" altLang="en-US" smtClean="0">
                <a:latin typeface="Times New Roman" pitchFamily="18" charset="0"/>
              </a:rPr>
              <a:pPr/>
              <a:t>2025/10/10</a:t>
            </a:fld>
            <a:endParaRPr lang="en-US" altLang="zh-CN">
              <a:latin typeface="Times New Roman" pitchFamily="18" charset="0"/>
            </a:endParaRPr>
          </a:p>
        </p:txBody>
      </p:sp>
      <p:sp>
        <p:nvSpPr>
          <p:cNvPr id="2150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F0A51433-9B20-43FE-A1D3-F2E1F95CEF34}" type="slidenum">
              <a:rPr lang="zh-CN" altLang="en-US">
                <a:latin typeface="Times New Roman" pitchFamily="18" charset="0"/>
              </a:rPr>
              <a:pPr/>
              <a:t>62</a:t>
            </a:fld>
            <a:endParaRPr lang="zh-CN" altLang="en-US">
              <a:latin typeface="Times New Roman" pitchFamily="18" charset="0"/>
            </a:endParaRPr>
          </a:p>
        </p:txBody>
      </p:sp>
      <p:sp>
        <p:nvSpPr>
          <p:cNvPr id="21508" name="Rectangle 2"/>
          <p:cNvSpPr>
            <a:spLocks noGrp="1" noRot="1" noChangeAspect="1" noChangeArrowheads="1" noTextEdit="1"/>
          </p:cNvSpPr>
          <p:nvPr>
            <p:ph type="sldImg"/>
          </p:nvPr>
        </p:nvSpPr>
        <p:spPr>
          <a:xfrm>
            <a:off x="381000" y="685800"/>
            <a:ext cx="6096000" cy="3429000"/>
          </a:xfrm>
          <a:ln/>
        </p:spPr>
      </p:sp>
      <p:sp>
        <p:nvSpPr>
          <p:cNvPr id="215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B962EBF1-EAE4-425A-84B0-7D05E5B49F62}" type="datetime5">
              <a:rPr lang="zh-CN" altLang="en-US" smtClean="0">
                <a:latin typeface="Times New Roman" pitchFamily="18" charset="0"/>
              </a:rPr>
              <a:pPr/>
              <a:t>2025/10/10</a:t>
            </a:fld>
            <a:endParaRPr lang="en-US" altLang="zh-CN">
              <a:latin typeface="Times New Roman" pitchFamily="18" charset="0"/>
            </a:endParaRPr>
          </a:p>
        </p:txBody>
      </p:sp>
      <p:sp>
        <p:nvSpPr>
          <p:cNvPr id="2150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F0A51433-9B20-43FE-A1D3-F2E1F95CEF34}" type="slidenum">
              <a:rPr lang="zh-CN" altLang="en-US">
                <a:latin typeface="Times New Roman" pitchFamily="18" charset="0"/>
              </a:rPr>
              <a:pPr/>
              <a:t>63</a:t>
            </a:fld>
            <a:endParaRPr lang="zh-CN" altLang="en-US">
              <a:latin typeface="Times New Roman" pitchFamily="18" charset="0"/>
            </a:endParaRPr>
          </a:p>
        </p:txBody>
      </p:sp>
      <p:sp>
        <p:nvSpPr>
          <p:cNvPr id="21508" name="Rectangle 2"/>
          <p:cNvSpPr>
            <a:spLocks noGrp="1" noRot="1" noChangeAspect="1" noChangeArrowheads="1" noTextEdit="1"/>
          </p:cNvSpPr>
          <p:nvPr>
            <p:ph type="sldImg"/>
          </p:nvPr>
        </p:nvSpPr>
        <p:spPr>
          <a:xfrm>
            <a:off x="381000" y="685800"/>
            <a:ext cx="6096000" cy="3429000"/>
          </a:xfrm>
          <a:ln/>
        </p:spPr>
      </p:sp>
      <p:sp>
        <p:nvSpPr>
          <p:cNvPr id="215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B962EBF1-EAE4-425A-84B0-7D05E5B49F62}" type="datetime5">
              <a:rPr lang="zh-CN" altLang="en-US" smtClean="0">
                <a:latin typeface="Times New Roman" pitchFamily="18" charset="0"/>
              </a:rPr>
              <a:pPr/>
              <a:t>2025/10/10</a:t>
            </a:fld>
            <a:endParaRPr lang="en-US" altLang="zh-CN">
              <a:latin typeface="Times New Roman" pitchFamily="18" charset="0"/>
            </a:endParaRPr>
          </a:p>
        </p:txBody>
      </p:sp>
      <p:sp>
        <p:nvSpPr>
          <p:cNvPr id="2150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itchFamily="18" charset="0"/>
              </a:defRPr>
            </a:lvl1pPr>
            <a:lvl2pPr marL="729057" indent="-280406">
              <a:defRPr>
                <a:solidFill>
                  <a:schemeClr val="tx1"/>
                </a:solidFill>
                <a:latin typeface="Garamond" pitchFamily="18" charset="0"/>
              </a:defRPr>
            </a:lvl2pPr>
            <a:lvl3pPr marL="1121626" indent="-224325">
              <a:defRPr>
                <a:solidFill>
                  <a:schemeClr val="tx1"/>
                </a:solidFill>
                <a:latin typeface="Garamond" pitchFamily="18" charset="0"/>
              </a:defRPr>
            </a:lvl3pPr>
            <a:lvl4pPr marL="1570276" indent="-224325">
              <a:defRPr>
                <a:solidFill>
                  <a:schemeClr val="tx1"/>
                </a:solidFill>
                <a:latin typeface="Garamond" pitchFamily="18" charset="0"/>
              </a:defRPr>
            </a:lvl4pPr>
            <a:lvl5pPr marL="2018927" indent="-224325">
              <a:defRPr>
                <a:solidFill>
                  <a:schemeClr val="tx1"/>
                </a:solidFill>
                <a:latin typeface="Garamond" pitchFamily="18" charset="0"/>
              </a:defRPr>
            </a:lvl5pPr>
            <a:lvl6pPr marL="2467577" indent="-224325" eaLnBrk="0" fontAlgn="base" hangingPunct="0">
              <a:spcBef>
                <a:spcPct val="0"/>
              </a:spcBef>
              <a:spcAft>
                <a:spcPct val="0"/>
              </a:spcAft>
              <a:defRPr>
                <a:solidFill>
                  <a:schemeClr val="tx1"/>
                </a:solidFill>
                <a:latin typeface="Garamond" pitchFamily="18" charset="0"/>
              </a:defRPr>
            </a:lvl6pPr>
            <a:lvl7pPr marL="2916227" indent="-224325" eaLnBrk="0" fontAlgn="base" hangingPunct="0">
              <a:spcBef>
                <a:spcPct val="0"/>
              </a:spcBef>
              <a:spcAft>
                <a:spcPct val="0"/>
              </a:spcAft>
              <a:defRPr>
                <a:solidFill>
                  <a:schemeClr val="tx1"/>
                </a:solidFill>
                <a:latin typeface="Garamond" pitchFamily="18" charset="0"/>
              </a:defRPr>
            </a:lvl7pPr>
            <a:lvl8pPr marL="3364878" indent="-224325" eaLnBrk="0" fontAlgn="base" hangingPunct="0">
              <a:spcBef>
                <a:spcPct val="0"/>
              </a:spcBef>
              <a:spcAft>
                <a:spcPct val="0"/>
              </a:spcAft>
              <a:defRPr>
                <a:solidFill>
                  <a:schemeClr val="tx1"/>
                </a:solidFill>
                <a:latin typeface="Garamond" pitchFamily="18" charset="0"/>
              </a:defRPr>
            </a:lvl8pPr>
            <a:lvl9pPr marL="3813528" indent="-224325" eaLnBrk="0" fontAlgn="base" hangingPunct="0">
              <a:spcBef>
                <a:spcPct val="0"/>
              </a:spcBef>
              <a:spcAft>
                <a:spcPct val="0"/>
              </a:spcAft>
              <a:defRPr>
                <a:solidFill>
                  <a:schemeClr val="tx1"/>
                </a:solidFill>
                <a:latin typeface="Garamond" pitchFamily="18" charset="0"/>
              </a:defRPr>
            </a:lvl9pPr>
          </a:lstStyle>
          <a:p>
            <a:fld id="{F0A51433-9B20-43FE-A1D3-F2E1F95CEF34}" type="slidenum">
              <a:rPr lang="zh-CN" altLang="en-US">
                <a:latin typeface="Times New Roman" pitchFamily="18" charset="0"/>
              </a:rPr>
              <a:pPr/>
              <a:t>64</a:t>
            </a:fld>
            <a:endParaRPr lang="zh-CN" altLang="en-US">
              <a:latin typeface="Times New Roman" pitchFamily="18" charset="0"/>
            </a:endParaRPr>
          </a:p>
        </p:txBody>
      </p:sp>
      <p:sp>
        <p:nvSpPr>
          <p:cNvPr id="21508" name="Rectangle 2"/>
          <p:cNvSpPr>
            <a:spLocks noGrp="1" noRot="1" noChangeAspect="1" noChangeArrowheads="1" noTextEdit="1"/>
          </p:cNvSpPr>
          <p:nvPr>
            <p:ph type="sldImg"/>
          </p:nvPr>
        </p:nvSpPr>
        <p:spPr>
          <a:xfrm>
            <a:off x="381000" y="685800"/>
            <a:ext cx="6096000" cy="3429000"/>
          </a:xfrm>
          <a:ln/>
        </p:spPr>
      </p:sp>
      <p:sp>
        <p:nvSpPr>
          <p:cNvPr id="215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7B0A8456-2C1B-4E4D-AAB9-452011DE9FB0}" type="datetimeFigureOut">
              <a:rPr lang="en-IN" smtClean="0"/>
              <a:pPr/>
              <a:t>10-10-2025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0886CB-9565-4355-83B5-8A60D7FD083B}" type="slidenum">
              <a:rPr lang="en-IN" smtClean="0"/>
              <a:pPr/>
              <a:t>‹#›</a:t>
            </a:fld>
            <a:endParaRPr lang="en-IN"/>
          </a:p>
        </p:txBody>
      </p:sp>
    </p:spTree>
    <p:extLst>
      <p:ext uri="{BB962C8B-B14F-4D97-AF65-F5344CB8AC3E}">
        <p14:creationId xmlns:p14="http://schemas.microsoft.com/office/powerpoint/2010/main" val="31214327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B0A8456-2C1B-4E4D-AAB9-452011DE9FB0}" type="datetimeFigureOut">
              <a:rPr lang="en-IN" smtClean="0"/>
              <a:pPr/>
              <a:t>10-10-2025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0886CB-9565-4355-83B5-8A60D7FD083B}" type="slidenum">
              <a:rPr lang="en-IN" smtClean="0"/>
              <a:pPr/>
              <a:t>‹#›</a:t>
            </a:fld>
            <a:endParaRPr lang="en-IN"/>
          </a:p>
        </p:txBody>
      </p:sp>
    </p:spTree>
    <p:extLst>
      <p:ext uri="{BB962C8B-B14F-4D97-AF65-F5344CB8AC3E}">
        <p14:creationId xmlns:p14="http://schemas.microsoft.com/office/powerpoint/2010/main" val="34329284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0A8456-2C1B-4E4D-AAB9-452011DE9FB0}" type="datetimeFigureOut">
              <a:rPr lang="en-IN" smtClean="0"/>
              <a:pPr/>
              <a:t>10-10-2025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0886CB-9565-4355-83B5-8A60D7FD083B}" type="slidenum">
              <a:rPr lang="en-IN" smtClean="0"/>
              <a:pPr/>
              <a:t>‹#›</a:t>
            </a:fld>
            <a:endParaRPr lang="en-IN"/>
          </a:p>
        </p:txBody>
      </p:sp>
    </p:spTree>
    <p:extLst>
      <p:ext uri="{BB962C8B-B14F-4D97-AF65-F5344CB8AC3E}">
        <p14:creationId xmlns:p14="http://schemas.microsoft.com/office/powerpoint/2010/main" val="23215760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7B0A8456-2C1B-4E4D-AAB9-452011DE9FB0}" type="datetimeFigureOut">
              <a:rPr lang="en-IN" smtClean="0"/>
              <a:pPr/>
              <a:t>10-10-2025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C0886CB-9565-4355-83B5-8A60D7FD083B}" type="slidenum">
              <a:rPr lang="en-IN" smtClean="0"/>
              <a:pPr/>
              <a:t>‹#›</a:t>
            </a:fld>
            <a:endParaRPr lang="en-IN"/>
          </a:p>
        </p:txBody>
      </p:sp>
    </p:spTree>
    <p:extLst>
      <p:ext uri="{BB962C8B-B14F-4D97-AF65-F5344CB8AC3E}">
        <p14:creationId xmlns:p14="http://schemas.microsoft.com/office/powerpoint/2010/main" val="24270771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7B0A8456-2C1B-4E4D-AAB9-452011DE9FB0}" type="datetimeFigureOut">
              <a:rPr lang="en-IN" smtClean="0"/>
              <a:pPr/>
              <a:t>10-10-2025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C0886CB-9565-4355-83B5-8A60D7FD083B}" type="slidenum">
              <a:rPr lang="en-IN" smtClean="0"/>
              <a:pPr/>
              <a:t>‹#›</a:t>
            </a:fld>
            <a:endParaRPr lang="en-IN"/>
          </a:p>
        </p:txBody>
      </p:sp>
    </p:spTree>
    <p:extLst>
      <p:ext uri="{BB962C8B-B14F-4D97-AF65-F5344CB8AC3E}">
        <p14:creationId xmlns:p14="http://schemas.microsoft.com/office/powerpoint/2010/main" val="36280695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7B0A8456-2C1B-4E4D-AAB9-452011DE9FB0}" type="datetimeFigureOut">
              <a:rPr lang="en-IN" smtClean="0"/>
              <a:pPr/>
              <a:t>10-10-2025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C0886CB-9565-4355-83B5-8A60D7FD083B}" type="slidenum">
              <a:rPr lang="en-IN" smtClean="0"/>
              <a:pPr/>
              <a:t>‹#›</a:t>
            </a:fld>
            <a:endParaRPr lang="en-IN"/>
          </a:p>
        </p:txBody>
      </p:sp>
    </p:spTree>
    <p:extLst>
      <p:ext uri="{BB962C8B-B14F-4D97-AF65-F5344CB8AC3E}">
        <p14:creationId xmlns:p14="http://schemas.microsoft.com/office/powerpoint/2010/main" val="36581015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0A8456-2C1B-4E4D-AAB9-452011DE9FB0}" type="datetimeFigureOut">
              <a:rPr lang="en-IN" smtClean="0"/>
              <a:pPr/>
              <a:t>10-10-2025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C0886CB-9565-4355-83B5-8A60D7FD083B}" type="slidenum">
              <a:rPr lang="en-IN" smtClean="0"/>
              <a:pPr/>
              <a:t>‹#›</a:t>
            </a:fld>
            <a:endParaRPr lang="en-IN"/>
          </a:p>
        </p:txBody>
      </p:sp>
    </p:spTree>
    <p:extLst>
      <p:ext uri="{BB962C8B-B14F-4D97-AF65-F5344CB8AC3E}">
        <p14:creationId xmlns:p14="http://schemas.microsoft.com/office/powerpoint/2010/main" val="36776291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B0A8456-2C1B-4E4D-AAB9-452011DE9FB0}" type="datetimeFigureOut">
              <a:rPr lang="en-IN" smtClean="0"/>
              <a:pPr/>
              <a:t>10-10-2025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C0886CB-9565-4355-83B5-8A60D7FD083B}" type="slidenum">
              <a:rPr lang="en-IN" smtClean="0"/>
              <a:pPr/>
              <a:t>‹#›</a:t>
            </a:fld>
            <a:endParaRPr lang="en-IN"/>
          </a:p>
        </p:txBody>
      </p:sp>
    </p:spTree>
    <p:extLst>
      <p:ext uri="{BB962C8B-B14F-4D97-AF65-F5344CB8AC3E}">
        <p14:creationId xmlns:p14="http://schemas.microsoft.com/office/powerpoint/2010/main" val="11770885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B0A8456-2C1B-4E4D-AAB9-452011DE9FB0}" type="datetimeFigureOut">
              <a:rPr lang="en-IN" smtClean="0"/>
              <a:pPr/>
              <a:t>10-10-2025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C0886CB-9565-4355-83B5-8A60D7FD083B}" type="slidenum">
              <a:rPr lang="en-IN" smtClean="0"/>
              <a:pPr/>
              <a:t>‹#›</a:t>
            </a:fld>
            <a:endParaRPr lang="en-IN"/>
          </a:p>
        </p:txBody>
      </p:sp>
    </p:spTree>
    <p:extLst>
      <p:ext uri="{BB962C8B-B14F-4D97-AF65-F5344CB8AC3E}">
        <p14:creationId xmlns:p14="http://schemas.microsoft.com/office/powerpoint/2010/main" val="26817450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B0A8456-2C1B-4E4D-AAB9-452011DE9FB0}" type="datetimeFigureOut">
              <a:rPr lang="en-IN" smtClean="0"/>
              <a:pPr/>
              <a:t>10-10-2025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0886CB-9565-4355-83B5-8A60D7FD083B}" type="slidenum">
              <a:rPr lang="en-IN" smtClean="0"/>
              <a:pPr/>
              <a:t>‹#›</a:t>
            </a:fld>
            <a:endParaRPr lang="en-IN"/>
          </a:p>
        </p:txBody>
      </p:sp>
    </p:spTree>
    <p:extLst>
      <p:ext uri="{BB962C8B-B14F-4D97-AF65-F5344CB8AC3E}">
        <p14:creationId xmlns:p14="http://schemas.microsoft.com/office/powerpoint/2010/main" val="2349518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B0A8456-2C1B-4E4D-AAB9-452011DE9FB0}" type="datetimeFigureOut">
              <a:rPr lang="en-IN" smtClean="0"/>
              <a:pPr/>
              <a:t>10-10-2025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C0886CB-9565-4355-83B5-8A60D7FD083B}" type="slidenum">
              <a:rPr lang="en-IN" smtClean="0"/>
              <a:pPr/>
              <a:t>‹#›</a:t>
            </a:fld>
            <a:endParaRPr lang="en-IN"/>
          </a:p>
        </p:txBody>
      </p:sp>
    </p:spTree>
    <p:extLst>
      <p:ext uri="{BB962C8B-B14F-4D97-AF65-F5344CB8AC3E}">
        <p14:creationId xmlns:p14="http://schemas.microsoft.com/office/powerpoint/2010/main" val="22013087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0A8456-2C1B-4E4D-AAB9-452011DE9FB0}" type="datetimeFigureOut">
              <a:rPr lang="en-IN" smtClean="0"/>
              <a:pPr/>
              <a:t>10-10-2025</a:t>
            </a:fld>
            <a:endParaRPr lang="en-IN"/>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0886CB-9565-4355-83B5-8A60D7FD083B}" type="slidenum">
              <a:rPr lang="en-IN" smtClean="0"/>
              <a:pPr/>
              <a:t>‹#›</a:t>
            </a:fld>
            <a:endParaRPr lang="en-IN"/>
          </a:p>
        </p:txBody>
      </p:sp>
    </p:spTree>
    <p:extLst>
      <p:ext uri="{BB962C8B-B14F-4D97-AF65-F5344CB8AC3E}">
        <p14:creationId xmlns:p14="http://schemas.microsoft.com/office/powerpoint/2010/main" val="6322072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8.png"/></Relationships>
</file>

<file path=ppt/slides/_rels/slide2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8.png"/></Relationships>
</file>

<file path=ppt/slides/_rels/slide2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6.xml"/><Relationship Id="rId1" Type="http://schemas.openxmlformats.org/officeDocument/2006/relationships/slideLayout" Target="../slideLayouts/slideLayout6.xml"/><Relationship Id="rId5" Type="http://schemas.openxmlformats.org/officeDocument/2006/relationships/image" Target="../media/image9.png"/><Relationship Id="rId4" Type="http://schemas.openxmlformats.org/officeDocument/2006/relationships/image" Target="../media/image11.png"/></Relationships>
</file>

<file path=ppt/slides/_rels/slide2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9.png"/><Relationship Id="rId4" Type="http://schemas.openxmlformats.org/officeDocument/2006/relationships/image" Target="../media/image11.png"/></Relationships>
</file>

<file path=ppt/slides/_rels/slide3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8.xml"/><Relationship Id="rId1" Type="http://schemas.openxmlformats.org/officeDocument/2006/relationships/slideLayout" Target="../slideLayouts/slideLayout6.xml"/><Relationship Id="rId5" Type="http://schemas.openxmlformats.org/officeDocument/2006/relationships/image" Target="../media/image9.png"/><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9.xml"/><Relationship Id="rId1" Type="http://schemas.openxmlformats.org/officeDocument/2006/relationships/slideLayout" Target="../slideLayouts/slideLayout6.xml"/><Relationship Id="rId5" Type="http://schemas.openxmlformats.org/officeDocument/2006/relationships/image" Target="../media/image9.png"/><Relationship Id="rId4" Type="http://schemas.openxmlformats.org/officeDocument/2006/relationships/image" Target="../media/image11.png"/></Relationships>
</file>

<file path=ppt/slides/_rels/slide3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0.xml"/><Relationship Id="rId1" Type="http://schemas.openxmlformats.org/officeDocument/2006/relationships/slideLayout" Target="../slideLayouts/slideLayout6.xml"/><Relationship Id="rId5" Type="http://schemas.openxmlformats.org/officeDocument/2006/relationships/image" Target="../media/image9.png"/><Relationship Id="rId4" Type="http://schemas.openxmlformats.org/officeDocument/2006/relationships/image" Target="../media/image11.png"/></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6.xml"/><Relationship Id="rId5" Type="http://schemas.openxmlformats.org/officeDocument/2006/relationships/image" Target="../media/image18.png"/><Relationship Id="rId4" Type="http://schemas.openxmlformats.org/officeDocument/2006/relationships/image" Target="../media/image16.png"/></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6.xml"/><Relationship Id="rId5" Type="http://schemas.openxmlformats.org/officeDocument/2006/relationships/image" Target="../media/image18.png"/><Relationship Id="rId4" Type="http://schemas.openxmlformats.org/officeDocument/2006/relationships/image" Target="../media/image16.png"/></Relationships>
</file>

<file path=ppt/slides/_rels/slide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6.xml"/><Relationship Id="rId5" Type="http://schemas.openxmlformats.org/officeDocument/2006/relationships/image" Target="../media/image18.png"/><Relationship Id="rId4" Type="http://schemas.openxmlformats.org/officeDocument/2006/relationships/image" Target="../media/image16.png"/></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6.xml"/><Relationship Id="rId5" Type="http://schemas.openxmlformats.org/officeDocument/2006/relationships/image" Target="../media/image18.png"/><Relationship Id="rId4" Type="http://schemas.openxmlformats.org/officeDocument/2006/relationships/image" Target="../media/image16.png"/></Relationships>
</file>

<file path=ppt/slides/_rels/slide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image" Target="../media/image18.png"/><Relationship Id="rId4" Type="http://schemas.openxmlformats.org/officeDocument/2006/relationships/image" Target="../media/image16.png"/></Relationships>
</file>

<file path=ppt/slides/_rels/slide4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4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6.xml"/><Relationship Id="rId5" Type="http://schemas.openxmlformats.org/officeDocument/2006/relationships/image" Target="../media/image24.png"/><Relationship Id="rId4" Type="http://schemas.openxmlformats.org/officeDocument/2006/relationships/image" Target="../media/image22.png"/></Relationships>
</file>

<file path=ppt/slides/_rels/slide4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24.png"/><Relationship Id="rId4" Type="http://schemas.openxmlformats.org/officeDocument/2006/relationships/image" Target="../media/image22.png"/></Relationships>
</file>

<file path=ppt/slides/_rels/slide4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6.xml"/><Relationship Id="rId5" Type="http://schemas.openxmlformats.org/officeDocument/2006/relationships/image" Target="../media/image24.png"/><Relationship Id="rId4" Type="http://schemas.openxmlformats.org/officeDocument/2006/relationships/image" Target="../media/image22.png"/></Relationships>
</file>

<file path=ppt/slides/_rels/slide4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5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0.xml"/><Relationship Id="rId1" Type="http://schemas.openxmlformats.org/officeDocument/2006/relationships/slideLayout" Target="../slideLayouts/slideLayout6.xml"/><Relationship Id="rId5" Type="http://schemas.openxmlformats.org/officeDocument/2006/relationships/image" Target="../media/image38.png"/><Relationship Id="rId4" Type="http://schemas.openxmlformats.org/officeDocument/2006/relationships/image" Target="../media/image18.png"/></Relationships>
</file>

<file path=ppt/slides/_rels/slide5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6.xml"/><Relationship Id="rId5" Type="http://schemas.openxmlformats.org/officeDocument/2006/relationships/image" Target="../media/image39.png"/><Relationship Id="rId4" Type="http://schemas.openxmlformats.org/officeDocument/2006/relationships/image" Target="../media/image38.png"/></Relationships>
</file>

<file path=ppt/slides/_rels/slide5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6.xml"/><Relationship Id="rId5" Type="http://schemas.openxmlformats.org/officeDocument/2006/relationships/image" Target="../media/image39.png"/><Relationship Id="rId4" Type="http://schemas.openxmlformats.org/officeDocument/2006/relationships/image" Target="../media/image38.png"/></Relationships>
</file>

<file path=ppt/slides/_rels/slide6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6.xml"/><Relationship Id="rId5" Type="http://schemas.openxmlformats.org/officeDocument/2006/relationships/image" Target="../media/image39.png"/><Relationship Id="rId4" Type="http://schemas.openxmlformats.org/officeDocument/2006/relationships/image" Target="../media/image38.png"/></Relationships>
</file>

<file path=ppt/slides/_rels/slide6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6.xml"/><Relationship Id="rId5" Type="http://schemas.openxmlformats.org/officeDocument/2006/relationships/image" Target="../media/image39.png"/><Relationship Id="rId4" Type="http://schemas.openxmlformats.org/officeDocument/2006/relationships/image" Target="../media/image38.png"/></Relationships>
</file>

<file path=ppt/slides/_rels/slide6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6.xml"/><Relationship Id="rId5" Type="http://schemas.openxmlformats.org/officeDocument/2006/relationships/image" Target="../media/image39.png"/><Relationship Id="rId4" Type="http://schemas.openxmlformats.org/officeDocument/2006/relationships/image" Target="../media/image38.png"/></Relationships>
</file>

<file path=ppt/slides/_rels/slide6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6.xml"/><Relationship Id="rId5" Type="http://schemas.openxmlformats.org/officeDocument/2006/relationships/image" Target="../media/image39.png"/><Relationship Id="rId4" Type="http://schemas.openxmlformats.org/officeDocument/2006/relationships/image" Target="../media/image38.png"/></Relationships>
</file>

<file path=ppt/slides/_rels/slide6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6.xml"/><Relationship Id="rId5" Type="http://schemas.openxmlformats.org/officeDocument/2006/relationships/image" Target="../media/image39.png"/><Relationship Id="rId4" Type="http://schemas.openxmlformats.org/officeDocument/2006/relationships/image" Target="../media/image38.png"/></Relationships>
</file>

<file path=ppt/slides/_rels/slide6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09720" y="642918"/>
            <a:ext cx="8572560" cy="1420210"/>
          </a:xfrm>
        </p:spPr>
        <p:txBody>
          <a:bodyPr>
            <a:normAutofit fontScale="90000"/>
          </a:bodyPr>
          <a:lstStyle/>
          <a:p>
            <a:r>
              <a:rPr lang="en-US" sz="6000" b="1" dirty="0">
                <a:solidFill>
                  <a:srgbClr val="FF0000"/>
                </a:solidFill>
                <a:latin typeface="Baskerville Old Face" pitchFamily="18" charset="0"/>
              </a:rPr>
              <a:t>DIGITAL ELECTRONICS</a:t>
            </a:r>
            <a:br>
              <a:rPr lang="en-US" sz="6600" b="1" dirty="0">
                <a:solidFill>
                  <a:srgbClr val="00B050"/>
                </a:solidFill>
                <a:latin typeface="Baskerville Old Face" pitchFamily="18" charset="0"/>
              </a:rPr>
            </a:br>
            <a:r>
              <a:rPr lang="en-US" b="1" dirty="0">
                <a:solidFill>
                  <a:srgbClr val="00B050"/>
                </a:solidFill>
                <a:latin typeface="Baskerville Old Face" pitchFamily="18" charset="0"/>
              </a:rPr>
              <a:t>III Semester ECE</a:t>
            </a:r>
            <a:endParaRPr lang="en-US" dirty="0">
              <a:solidFill>
                <a:srgbClr val="00B050"/>
              </a:solidFill>
              <a:latin typeface="Baskerville Old Face" pitchFamily="18" charset="0"/>
            </a:endParaRPr>
          </a:p>
        </p:txBody>
      </p:sp>
      <p:sp>
        <p:nvSpPr>
          <p:cNvPr id="3" name="Subtitle 2"/>
          <p:cNvSpPr>
            <a:spLocks noGrp="1"/>
          </p:cNvSpPr>
          <p:nvPr>
            <p:ph type="subTitle" idx="1"/>
          </p:nvPr>
        </p:nvSpPr>
        <p:spPr>
          <a:xfrm>
            <a:off x="2024034" y="4214818"/>
            <a:ext cx="8358246" cy="1857388"/>
          </a:xfrm>
        </p:spPr>
        <p:txBody>
          <a:bodyPr>
            <a:normAutofit/>
          </a:bodyPr>
          <a:lstStyle/>
          <a:p>
            <a:pPr>
              <a:lnSpc>
                <a:spcPct val="150000"/>
              </a:lnSpc>
            </a:pPr>
            <a:r>
              <a:rPr lang="en-US" sz="1800" b="1" dirty="0">
                <a:solidFill>
                  <a:srgbClr val="002060"/>
                </a:solidFill>
                <a:latin typeface="Times New Roman" pitchFamily="18" charset="0"/>
                <a:cs typeface="Times New Roman" pitchFamily="18" charset="0"/>
              </a:rPr>
              <a:t>DEPARTMENT OF ELECTRONICS AND COMMUNICATION ENGINEERING</a:t>
            </a:r>
            <a:endParaRPr lang="en-US" sz="1800" dirty="0">
              <a:solidFill>
                <a:srgbClr val="002060"/>
              </a:solidFill>
              <a:latin typeface="Times New Roman" pitchFamily="18" charset="0"/>
              <a:cs typeface="Times New Roman" pitchFamily="18" charset="0"/>
            </a:endParaRPr>
          </a:p>
          <a:p>
            <a:pPr>
              <a:lnSpc>
                <a:spcPct val="150000"/>
              </a:lnSpc>
            </a:pPr>
            <a:r>
              <a:rPr lang="en-US" sz="2400" b="1" dirty="0">
                <a:solidFill>
                  <a:srgbClr val="7030A0"/>
                </a:solidFill>
                <a:latin typeface="Times New Roman" pitchFamily="18" charset="0"/>
                <a:cs typeface="Times New Roman" pitchFamily="18" charset="0"/>
              </a:rPr>
              <a:t>SCHOOL OF ENGINEERING &amp; TECHNOLOGY</a:t>
            </a:r>
          </a:p>
          <a:p>
            <a:pPr>
              <a:lnSpc>
                <a:spcPct val="150000"/>
              </a:lnSpc>
            </a:pPr>
            <a:r>
              <a:rPr lang="en-US" sz="2800" b="1" dirty="0">
                <a:solidFill>
                  <a:srgbClr val="C00000"/>
                </a:solidFill>
                <a:latin typeface="Times New Roman" pitchFamily="18" charset="0"/>
                <a:cs typeface="Times New Roman" pitchFamily="18" charset="0"/>
              </a:rPr>
              <a:t>GIET UNIVERSITY, GUNUPUR, ODISHA</a:t>
            </a:r>
          </a:p>
        </p:txBody>
      </p:sp>
      <p:pic>
        <p:nvPicPr>
          <p:cNvPr id="4" name="Picture 2"/>
          <p:cNvPicPr>
            <a:picLocks noChangeAspect="1" noChangeArrowheads="1"/>
          </p:cNvPicPr>
          <p:nvPr/>
        </p:nvPicPr>
        <p:blipFill>
          <a:blip r:embed="rId2" cstate="print"/>
          <a:srcRect/>
          <a:stretch>
            <a:fillRect/>
          </a:stretch>
        </p:blipFill>
        <p:spPr bwMode="auto">
          <a:xfrm>
            <a:off x="5095869" y="2071678"/>
            <a:ext cx="1964545" cy="1571636"/>
          </a:xfrm>
          <a:prstGeom prst="rect">
            <a:avLst/>
          </a:prstGeom>
          <a:noFill/>
          <a:ln w="9525">
            <a:noFill/>
            <a:miter lim="800000"/>
            <a:headEnd/>
            <a:tailEnd/>
          </a:ln>
          <a:effectLst/>
        </p:spPr>
      </p:pic>
      <p:sp>
        <p:nvSpPr>
          <p:cNvPr id="7" name="Subtitle 2"/>
          <p:cNvSpPr txBox="1">
            <a:spLocks/>
          </p:cNvSpPr>
          <p:nvPr/>
        </p:nvSpPr>
        <p:spPr>
          <a:xfrm>
            <a:off x="1952596" y="3643314"/>
            <a:ext cx="8358246" cy="642942"/>
          </a:xfrm>
          <a:prstGeom prst="rect">
            <a:avLst/>
          </a:prstGeom>
        </p:spPr>
        <p:txBody>
          <a:bodyPr vert="horz" lIns="91440" tIns="45720" rIns="91440" bIns="45720" numCol="1" rtlCol="0">
            <a:normAutofit/>
          </a:bodyPr>
          <a:lstStyle/>
          <a:p>
            <a:pPr lvl="0" algn="ctr">
              <a:lnSpc>
                <a:spcPct val="150000"/>
              </a:lnSpc>
              <a:spcBef>
                <a:spcPct val="20000"/>
              </a:spcBef>
            </a:pPr>
            <a:r>
              <a:rPr lang="en-US" sz="2400" b="1" dirty="0">
                <a:latin typeface="Times New Roman" pitchFamily="18" charset="0"/>
                <a:cs typeface="Times New Roman" pitchFamily="18" charset="0"/>
              </a:rPr>
              <a:t>Dr. Ranjita Rout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1412777"/>
            <a:ext cx="7772400" cy="1470025"/>
          </a:xfrm>
        </p:spPr>
        <p:txBody>
          <a:bodyPr>
            <a:normAutofit/>
          </a:bodyPr>
          <a:lstStyle/>
          <a:p>
            <a:r>
              <a:rPr lang="en-IN" sz="4800" b="1" dirty="0">
                <a:solidFill>
                  <a:srgbClr val="FF0000"/>
                </a:solidFill>
              </a:rPr>
              <a:t>Synchronous Sequential Logic</a:t>
            </a:r>
          </a:p>
        </p:txBody>
      </p:sp>
      <p:sp>
        <p:nvSpPr>
          <p:cNvPr id="3" name="Subtitle 2"/>
          <p:cNvSpPr>
            <a:spLocks noGrp="1"/>
          </p:cNvSpPr>
          <p:nvPr>
            <p:ph type="subTitle" idx="1"/>
          </p:nvPr>
        </p:nvSpPr>
        <p:spPr>
          <a:xfrm>
            <a:off x="2895600" y="2924944"/>
            <a:ext cx="6400800" cy="2592288"/>
          </a:xfrm>
        </p:spPr>
        <p:txBody>
          <a:bodyPr>
            <a:normAutofit/>
          </a:bodyPr>
          <a:lstStyle/>
          <a:p>
            <a:r>
              <a:rPr lang="en-IN" sz="4400" b="1" dirty="0">
                <a:solidFill>
                  <a:srgbClr val="00B050"/>
                </a:solidFill>
              </a:rPr>
              <a:t>Sequential Circuits; </a:t>
            </a:r>
          </a:p>
          <a:p>
            <a:r>
              <a:rPr lang="en-IN" sz="4400" b="1" dirty="0">
                <a:solidFill>
                  <a:srgbClr val="00B050"/>
                </a:solidFill>
              </a:rPr>
              <a:t>Latches, Flip-Flops;</a:t>
            </a:r>
          </a:p>
          <a:p>
            <a:r>
              <a:rPr lang="en-IN" sz="4400" b="1" dirty="0">
                <a:solidFill>
                  <a:srgbClr val="00B050"/>
                </a:solidFill>
              </a:rPr>
              <a:t>Master-Slave Flip-Flop</a:t>
            </a:r>
          </a:p>
        </p:txBody>
      </p:sp>
    </p:spTree>
    <p:extLst>
      <p:ext uri="{BB962C8B-B14F-4D97-AF65-F5344CB8AC3E}">
        <p14:creationId xmlns:p14="http://schemas.microsoft.com/office/powerpoint/2010/main" val="1925030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wipe(down)">
                                      <p:cBhvr>
                                        <p:cTn id="15" dur="500"/>
                                        <p:tgtEl>
                                          <p:spTgt spid="3">
                                            <p:txEl>
                                              <p:pRg st="1" end="1"/>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wipe(down)">
                                      <p:cBhvr>
                                        <p:cTn id="18"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A3A801-2B3E-4408-A950-B039F2901F1F}"/>
              </a:ext>
            </a:extLst>
          </p:cNvPr>
          <p:cNvSpPr>
            <a:spLocks noGrp="1"/>
          </p:cNvSpPr>
          <p:nvPr>
            <p:ph idx="1"/>
          </p:nvPr>
        </p:nvSpPr>
        <p:spPr>
          <a:xfrm>
            <a:off x="364157" y="757012"/>
            <a:ext cx="10972800" cy="1440160"/>
          </a:xfrm>
        </p:spPr>
        <p:txBody>
          <a:bodyPr/>
          <a:lstStyle/>
          <a:p>
            <a:r>
              <a:rPr lang="en-US" dirty="0"/>
              <a:t>Digital circuits are classified into two major categories namely, </a:t>
            </a:r>
            <a:r>
              <a:rPr lang="en-US" b="1" dirty="0"/>
              <a:t>combinational circuits</a:t>
            </a:r>
            <a:r>
              <a:rPr lang="en-US" dirty="0"/>
              <a:t> and </a:t>
            </a:r>
            <a:r>
              <a:rPr lang="en-US" b="1" dirty="0"/>
              <a:t>sequential circuits</a:t>
            </a:r>
            <a:r>
              <a:rPr lang="en-US" dirty="0"/>
              <a:t>.</a:t>
            </a:r>
            <a:endParaRPr lang="en-IN" dirty="0"/>
          </a:p>
        </p:txBody>
      </p:sp>
      <p:sp>
        <p:nvSpPr>
          <p:cNvPr id="6" name="Title 1">
            <a:extLst>
              <a:ext uri="{FF2B5EF4-FFF2-40B4-BE49-F238E27FC236}">
                <a16:creationId xmlns:a16="http://schemas.microsoft.com/office/drawing/2014/main" id="{8B44BB83-1B80-4ACB-876D-2DA089BE22E5}"/>
              </a:ext>
            </a:extLst>
          </p:cNvPr>
          <p:cNvSpPr>
            <a:spLocks noGrp="1"/>
          </p:cNvSpPr>
          <p:nvPr>
            <p:ph type="title"/>
          </p:nvPr>
        </p:nvSpPr>
        <p:spPr>
          <a:xfrm>
            <a:off x="609600" y="274638"/>
            <a:ext cx="10972800" cy="346051"/>
          </a:xfrm>
        </p:spPr>
        <p:txBody>
          <a:bodyPr>
            <a:noAutofit/>
          </a:bodyPr>
          <a:lstStyle/>
          <a:p>
            <a:pPr algn="l"/>
            <a:r>
              <a:rPr lang="en-IN" b="1" dirty="0">
                <a:solidFill>
                  <a:srgbClr val="C00000"/>
                </a:solidFill>
              </a:rPr>
              <a:t>SEQUENTIAL CIRCUITS</a:t>
            </a:r>
            <a:endParaRPr lang="en-IN" b="1" dirty="0"/>
          </a:p>
        </p:txBody>
      </p:sp>
      <p:pic>
        <p:nvPicPr>
          <p:cNvPr id="4" name="Picture 3">
            <a:extLst>
              <a:ext uri="{FF2B5EF4-FFF2-40B4-BE49-F238E27FC236}">
                <a16:creationId xmlns:a16="http://schemas.microsoft.com/office/drawing/2014/main" id="{7F000312-E3C2-49C9-ABC4-27D7E294DA1B}"/>
              </a:ext>
            </a:extLst>
          </p:cNvPr>
          <p:cNvPicPr>
            <a:picLocks noChangeAspect="1"/>
          </p:cNvPicPr>
          <p:nvPr/>
        </p:nvPicPr>
        <p:blipFill>
          <a:blip r:embed="rId2"/>
          <a:stretch>
            <a:fillRect/>
          </a:stretch>
        </p:blipFill>
        <p:spPr>
          <a:xfrm>
            <a:off x="364157" y="2197173"/>
            <a:ext cx="11204898" cy="3903816"/>
          </a:xfrm>
          <a:prstGeom prst="rect">
            <a:avLst/>
          </a:prstGeom>
        </p:spPr>
      </p:pic>
    </p:spTree>
    <p:extLst>
      <p:ext uri="{BB962C8B-B14F-4D97-AF65-F5344CB8AC3E}">
        <p14:creationId xmlns:p14="http://schemas.microsoft.com/office/powerpoint/2010/main" val="4075421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527111-0C57-4344-9AC8-0F8C11DF8D61}"/>
              </a:ext>
            </a:extLst>
          </p:cNvPr>
          <p:cNvSpPr>
            <a:spLocks noGrp="1"/>
          </p:cNvSpPr>
          <p:nvPr>
            <p:ph idx="1"/>
          </p:nvPr>
        </p:nvSpPr>
        <p:spPr>
          <a:xfrm>
            <a:off x="263352" y="845423"/>
            <a:ext cx="11665296" cy="5575350"/>
          </a:xfrm>
        </p:spPr>
        <p:txBody>
          <a:bodyPr>
            <a:normAutofit fontScale="92500" lnSpcReduction="10000"/>
          </a:bodyPr>
          <a:lstStyle/>
          <a:p>
            <a:pPr algn="just">
              <a:lnSpc>
                <a:spcPct val="150000"/>
              </a:lnSpc>
            </a:pPr>
            <a:r>
              <a:rPr lang="en-US" sz="2800" dirty="0"/>
              <a:t>A </a:t>
            </a:r>
            <a:r>
              <a:rPr lang="en-US" sz="2800" b="1" dirty="0"/>
              <a:t>sequential circuit</a:t>
            </a:r>
            <a:r>
              <a:rPr lang="en-US" sz="2800" dirty="0"/>
              <a:t> is </a:t>
            </a:r>
            <a:r>
              <a:rPr lang="en-US" sz="2800" b="1" dirty="0">
                <a:solidFill>
                  <a:srgbClr val="C00000"/>
                </a:solidFill>
              </a:rPr>
              <a:t>a logic circuit that consists of a memory element to store history of past operation of the circuit. </a:t>
            </a:r>
          </a:p>
          <a:p>
            <a:pPr algn="just">
              <a:lnSpc>
                <a:spcPct val="150000"/>
              </a:lnSpc>
            </a:pPr>
            <a:r>
              <a:rPr lang="en-US" sz="2800" dirty="0"/>
              <a:t>Therefore, the output of a sequential circuit depends on present inputs as well as past outputs of the circuit.</a:t>
            </a:r>
          </a:p>
          <a:p>
            <a:pPr algn="just">
              <a:lnSpc>
                <a:spcPct val="150000"/>
              </a:lnSpc>
            </a:pPr>
            <a:r>
              <a:rPr lang="en-US" sz="2800" dirty="0"/>
              <a:t>Here, it can be seen that a sequential circuit is basically a combination of a combinational circuit and a memory element. </a:t>
            </a:r>
          </a:p>
          <a:p>
            <a:pPr algn="just">
              <a:lnSpc>
                <a:spcPct val="150000"/>
              </a:lnSpc>
            </a:pPr>
            <a:r>
              <a:rPr lang="en-US" sz="2800" dirty="0"/>
              <a:t>The combinational circuit performs the logical operations specified, while the memory element records the history of operation of the circuit. This history is then used to perform various logical operations in future.</a:t>
            </a:r>
          </a:p>
          <a:p>
            <a:endParaRPr lang="en-IN" sz="2400" dirty="0"/>
          </a:p>
        </p:txBody>
      </p:sp>
      <p:sp>
        <p:nvSpPr>
          <p:cNvPr id="4" name="Rectangle 3">
            <a:extLst>
              <a:ext uri="{FF2B5EF4-FFF2-40B4-BE49-F238E27FC236}">
                <a16:creationId xmlns:a16="http://schemas.microsoft.com/office/drawing/2014/main" id="{7B48B04F-8AC0-4F39-A090-6BF3955CE9E2}"/>
              </a:ext>
            </a:extLst>
          </p:cNvPr>
          <p:cNvSpPr/>
          <p:nvPr/>
        </p:nvSpPr>
        <p:spPr>
          <a:xfrm>
            <a:off x="479376" y="260648"/>
            <a:ext cx="5049203" cy="584775"/>
          </a:xfrm>
          <a:prstGeom prst="rect">
            <a:avLst/>
          </a:prstGeom>
        </p:spPr>
        <p:txBody>
          <a:bodyPr wrap="none">
            <a:spAutoFit/>
          </a:bodyPr>
          <a:lstStyle/>
          <a:p>
            <a:r>
              <a:rPr lang="en-US" sz="3200" b="1" dirty="0">
                <a:solidFill>
                  <a:srgbClr val="C00000"/>
                </a:solidFill>
              </a:rPr>
              <a:t>What is a Sequential Circuit?</a:t>
            </a:r>
          </a:p>
        </p:txBody>
      </p:sp>
    </p:spTree>
    <p:extLst>
      <p:ext uri="{BB962C8B-B14F-4D97-AF65-F5344CB8AC3E}">
        <p14:creationId xmlns:p14="http://schemas.microsoft.com/office/powerpoint/2010/main" val="8848165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5360" y="404664"/>
            <a:ext cx="11521280" cy="6120680"/>
          </a:xfrm>
        </p:spPr>
        <p:txBody>
          <a:bodyPr>
            <a:noAutofit/>
          </a:bodyPr>
          <a:lstStyle/>
          <a:p>
            <a:pPr algn="just"/>
            <a:r>
              <a:rPr lang="en-US" dirty="0"/>
              <a:t>In sequential circuits, the memory element is another crucial component that holds the history of circuit operation.</a:t>
            </a:r>
          </a:p>
          <a:p>
            <a:pPr algn="just"/>
            <a:r>
              <a:rPr lang="en-US" dirty="0"/>
              <a:t> Generally, </a:t>
            </a:r>
            <a:r>
              <a:rPr lang="en-US" b="1" dirty="0">
                <a:solidFill>
                  <a:srgbClr val="C00000"/>
                </a:solidFill>
              </a:rPr>
              <a:t>flip-flops are used as the memory element in sequential circuits.</a:t>
            </a:r>
          </a:p>
          <a:p>
            <a:pPr algn="just"/>
            <a:r>
              <a:rPr lang="en-US" dirty="0"/>
              <a:t>In sequential circuits, a feedback path is provided between the output and the input that transfers information from output end to the memory element and from memory element to the input end.</a:t>
            </a:r>
          </a:p>
          <a:p>
            <a:pPr algn="just"/>
            <a:r>
              <a:rPr lang="en-US" dirty="0"/>
              <a:t>All these components are interconnected together to design a sequential circuit that can perform complex operations and store state information in the memory element.</a:t>
            </a:r>
          </a:p>
        </p:txBody>
      </p:sp>
    </p:spTree>
    <p:extLst>
      <p:ext uri="{BB962C8B-B14F-4D97-AF65-F5344CB8AC3E}">
        <p14:creationId xmlns:p14="http://schemas.microsoft.com/office/powerpoint/2010/main" val="2610994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88894"/>
            <a:ext cx="10972800" cy="1143000"/>
          </a:xfrm>
        </p:spPr>
        <p:txBody>
          <a:bodyPr>
            <a:noAutofit/>
          </a:bodyPr>
          <a:lstStyle/>
          <a:p>
            <a:pPr algn="l"/>
            <a:r>
              <a:rPr lang="en-US" sz="3600" b="1" dirty="0">
                <a:solidFill>
                  <a:srgbClr val="C00000"/>
                </a:solidFill>
              </a:rPr>
              <a:t>Difference between Combinational and Sequential Circuits</a:t>
            </a:r>
            <a:endParaRPr lang="en-IN" sz="3600" b="1" dirty="0">
              <a:solidFill>
                <a:srgbClr val="C00000"/>
              </a:solidFill>
            </a:endParaRPr>
          </a:p>
        </p:txBody>
      </p:sp>
      <p:sp>
        <p:nvSpPr>
          <p:cNvPr id="3" name="Text Placeholder 2"/>
          <p:cNvSpPr>
            <a:spLocks noGrp="1"/>
          </p:cNvSpPr>
          <p:nvPr>
            <p:ph type="body" idx="1"/>
          </p:nvPr>
        </p:nvSpPr>
        <p:spPr>
          <a:xfrm>
            <a:off x="1847528" y="1059322"/>
            <a:ext cx="4040188" cy="639762"/>
          </a:xfrm>
        </p:spPr>
        <p:txBody>
          <a:bodyPr>
            <a:normAutofit/>
          </a:bodyPr>
          <a:lstStyle/>
          <a:p>
            <a:pPr algn="ctr"/>
            <a:r>
              <a:rPr lang="en-US" sz="2800" dirty="0">
                <a:solidFill>
                  <a:srgbClr val="0070C0"/>
                </a:solidFill>
              </a:rPr>
              <a:t>Combinational Circuit</a:t>
            </a:r>
            <a:endParaRPr lang="en-IN" sz="2800" dirty="0">
              <a:solidFill>
                <a:srgbClr val="0070C0"/>
              </a:solidFill>
            </a:endParaRPr>
          </a:p>
        </p:txBody>
      </p:sp>
      <p:sp>
        <p:nvSpPr>
          <p:cNvPr id="4" name="Content Placeholder 3"/>
          <p:cNvSpPr>
            <a:spLocks noGrp="1"/>
          </p:cNvSpPr>
          <p:nvPr>
            <p:ph sz="half" idx="2"/>
          </p:nvPr>
        </p:nvSpPr>
        <p:spPr>
          <a:xfrm>
            <a:off x="204937" y="1916832"/>
            <a:ext cx="5614020" cy="4608512"/>
          </a:xfrm>
        </p:spPr>
        <p:txBody>
          <a:bodyPr>
            <a:noAutofit/>
          </a:bodyPr>
          <a:lstStyle/>
          <a:p>
            <a:pPr algn="just" fontAlgn="base"/>
            <a:r>
              <a:rPr lang="en-US" sz="2800" dirty="0"/>
              <a:t>A circuit whose output depends only upon the present inputs.</a:t>
            </a:r>
          </a:p>
          <a:p>
            <a:pPr algn="just" fontAlgn="base"/>
            <a:r>
              <a:rPr lang="en-US" sz="2800" dirty="0"/>
              <a:t>These circuits do not have any memory element.</a:t>
            </a:r>
          </a:p>
          <a:p>
            <a:pPr algn="just" fontAlgn="base"/>
            <a:r>
              <a:rPr lang="en-US" sz="2800" dirty="0"/>
              <a:t>There is no feedback between input and output.</a:t>
            </a:r>
          </a:p>
          <a:p>
            <a:pPr algn="just" fontAlgn="base"/>
            <a:r>
              <a:rPr lang="en-US" sz="2800" dirty="0"/>
              <a:t>This is time independent.</a:t>
            </a:r>
          </a:p>
          <a:p>
            <a:pPr algn="just" fontAlgn="base"/>
            <a:r>
              <a:rPr lang="en-US" sz="2800" dirty="0"/>
              <a:t>It does not have clock signal.</a:t>
            </a:r>
          </a:p>
          <a:p>
            <a:pPr algn="just" fontAlgn="base"/>
            <a:r>
              <a:rPr lang="en-US" sz="2800" dirty="0"/>
              <a:t>Elementary building blocks: Logic gates.</a:t>
            </a:r>
          </a:p>
        </p:txBody>
      </p:sp>
      <p:sp>
        <p:nvSpPr>
          <p:cNvPr id="5" name="Text Placeholder 4"/>
          <p:cNvSpPr>
            <a:spLocks noGrp="1"/>
          </p:cNvSpPr>
          <p:nvPr>
            <p:ph type="body" sz="quarter" idx="3"/>
          </p:nvPr>
        </p:nvSpPr>
        <p:spPr>
          <a:xfrm>
            <a:off x="6781006" y="1059322"/>
            <a:ext cx="4041775" cy="639762"/>
          </a:xfrm>
        </p:spPr>
        <p:txBody>
          <a:bodyPr>
            <a:normAutofit/>
          </a:bodyPr>
          <a:lstStyle/>
          <a:p>
            <a:pPr algn="ctr"/>
            <a:r>
              <a:rPr lang="en-US" sz="2800" dirty="0">
                <a:solidFill>
                  <a:srgbClr val="0070C0"/>
                </a:solidFill>
              </a:rPr>
              <a:t>Sequential Circuit</a:t>
            </a:r>
            <a:endParaRPr lang="en-IN" sz="2800" dirty="0">
              <a:solidFill>
                <a:srgbClr val="0070C0"/>
              </a:solidFill>
            </a:endParaRPr>
          </a:p>
        </p:txBody>
      </p:sp>
      <p:sp>
        <p:nvSpPr>
          <p:cNvPr id="6" name="Content Placeholder 5"/>
          <p:cNvSpPr>
            <a:spLocks noGrp="1"/>
          </p:cNvSpPr>
          <p:nvPr>
            <p:ph sz="quarter" idx="4"/>
          </p:nvPr>
        </p:nvSpPr>
        <p:spPr>
          <a:xfrm>
            <a:off x="5912643" y="1699084"/>
            <a:ext cx="6074419" cy="4826260"/>
          </a:xfrm>
        </p:spPr>
        <p:txBody>
          <a:bodyPr>
            <a:noAutofit/>
          </a:bodyPr>
          <a:lstStyle/>
          <a:p>
            <a:pPr algn="just" fontAlgn="base"/>
            <a:r>
              <a:rPr lang="en-US" dirty="0"/>
              <a:t>A circuit output depends upon the present inputs as well as past history of the inputs.</a:t>
            </a:r>
          </a:p>
          <a:p>
            <a:pPr algn="just" fontAlgn="base"/>
            <a:endParaRPr lang="en-US" dirty="0"/>
          </a:p>
          <a:p>
            <a:pPr algn="just" fontAlgn="base"/>
            <a:r>
              <a:rPr lang="en-US" dirty="0"/>
              <a:t>These circuits have memory element.</a:t>
            </a:r>
          </a:p>
          <a:p>
            <a:pPr algn="just" fontAlgn="base"/>
            <a:endParaRPr lang="en-US" dirty="0"/>
          </a:p>
          <a:p>
            <a:pPr algn="just" fontAlgn="base"/>
            <a:r>
              <a:rPr lang="en-US" dirty="0"/>
              <a:t>There exists a feedback path between input and output.</a:t>
            </a:r>
          </a:p>
          <a:p>
            <a:pPr algn="just" fontAlgn="base"/>
            <a:r>
              <a:rPr lang="en-US" dirty="0"/>
              <a:t>This is time dependent.</a:t>
            </a:r>
          </a:p>
          <a:p>
            <a:pPr algn="just" fontAlgn="base"/>
            <a:r>
              <a:rPr lang="en-US" dirty="0"/>
              <a:t>It may or may not clock signal but most sequential circuit have a clock signal.</a:t>
            </a:r>
          </a:p>
          <a:p>
            <a:pPr algn="just" fontAlgn="base"/>
            <a:r>
              <a:rPr lang="en-US" dirty="0"/>
              <a:t>Elementary building blocks: Flip-flops</a:t>
            </a:r>
            <a:r>
              <a:rPr lang="en-US" sz="2000" dirty="0"/>
              <a:t>.</a:t>
            </a:r>
          </a:p>
        </p:txBody>
      </p:sp>
    </p:spTree>
    <p:extLst>
      <p:ext uri="{BB962C8B-B14F-4D97-AF65-F5344CB8AC3E}">
        <p14:creationId xmlns:p14="http://schemas.microsoft.com/office/powerpoint/2010/main" val="2664558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wipe(down)">
                                      <p:cBhvr>
                                        <p:cTn id="17" dur="500"/>
                                        <p:tgtEl>
                                          <p:spTgt spid="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4">
                                            <p:txEl>
                                              <p:pRg st="0" end="0"/>
                                            </p:txEl>
                                          </p:spTgt>
                                        </p:tgtEl>
                                        <p:attrNameLst>
                                          <p:attrName>style.visibility</p:attrName>
                                        </p:attrNameLst>
                                      </p:cBhvr>
                                      <p:to>
                                        <p:strVal val="visible"/>
                                      </p:to>
                                    </p:set>
                                    <p:anim calcmode="lin" valueType="num">
                                      <p:cBhvr additive="base">
                                        <p:cTn id="22"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6">
                                            <p:txEl>
                                              <p:pRg st="0" end="0"/>
                                            </p:txEl>
                                          </p:spTgt>
                                        </p:tgtEl>
                                        <p:attrNameLst>
                                          <p:attrName>style.visibility</p:attrName>
                                        </p:attrNameLst>
                                      </p:cBhvr>
                                      <p:to>
                                        <p:strVal val="visible"/>
                                      </p:to>
                                    </p:set>
                                    <p:anim calcmode="lin" valueType="num">
                                      <p:cBhvr additive="base">
                                        <p:cTn id="28"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4">
                                            <p:txEl>
                                              <p:pRg st="1" end="1"/>
                                            </p:txEl>
                                          </p:spTgt>
                                        </p:tgtEl>
                                        <p:attrNameLst>
                                          <p:attrName>style.visibility</p:attrName>
                                        </p:attrNameLst>
                                      </p:cBhvr>
                                      <p:to>
                                        <p:strVal val="visible"/>
                                      </p:to>
                                    </p:set>
                                    <p:anim calcmode="lin" valueType="num">
                                      <p:cBhvr additive="base">
                                        <p:cTn id="34"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6">
                                            <p:txEl>
                                              <p:pRg st="2" end="2"/>
                                            </p:txEl>
                                          </p:spTgt>
                                        </p:tgtEl>
                                        <p:attrNameLst>
                                          <p:attrName>style.visibility</p:attrName>
                                        </p:attrNameLst>
                                      </p:cBhvr>
                                      <p:to>
                                        <p:strVal val="visible"/>
                                      </p:to>
                                    </p:set>
                                    <p:anim calcmode="lin" valueType="num">
                                      <p:cBhvr additive="base">
                                        <p:cTn id="40"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4">
                                            <p:txEl>
                                              <p:pRg st="2" end="2"/>
                                            </p:txEl>
                                          </p:spTgt>
                                        </p:tgtEl>
                                        <p:attrNameLst>
                                          <p:attrName>style.visibility</p:attrName>
                                        </p:attrNameLst>
                                      </p:cBhvr>
                                      <p:to>
                                        <p:strVal val="visible"/>
                                      </p:to>
                                    </p:set>
                                    <p:anim calcmode="lin" valueType="num">
                                      <p:cBhvr additive="base">
                                        <p:cTn id="46"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6">
                                            <p:txEl>
                                              <p:pRg st="4" end="4"/>
                                            </p:txEl>
                                          </p:spTgt>
                                        </p:tgtEl>
                                        <p:attrNameLst>
                                          <p:attrName>style.visibility</p:attrName>
                                        </p:attrNameLst>
                                      </p:cBhvr>
                                      <p:to>
                                        <p:strVal val="visible"/>
                                      </p:to>
                                    </p:set>
                                    <p:anim calcmode="lin" valueType="num">
                                      <p:cBhvr additive="base">
                                        <p:cTn id="52"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53"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nodeType="clickEffect">
                                  <p:stCondLst>
                                    <p:cond delay="0"/>
                                  </p:stCondLst>
                                  <p:childTnLst>
                                    <p:set>
                                      <p:cBhvr>
                                        <p:cTn id="57" dur="1" fill="hold">
                                          <p:stCondLst>
                                            <p:cond delay="0"/>
                                          </p:stCondLst>
                                        </p:cTn>
                                        <p:tgtEl>
                                          <p:spTgt spid="4">
                                            <p:txEl>
                                              <p:pRg st="3" end="3"/>
                                            </p:txEl>
                                          </p:spTgt>
                                        </p:tgtEl>
                                        <p:attrNameLst>
                                          <p:attrName>style.visibility</p:attrName>
                                        </p:attrNameLst>
                                      </p:cBhvr>
                                      <p:to>
                                        <p:strVal val="visible"/>
                                      </p:to>
                                    </p:set>
                                    <p:anim calcmode="lin" valueType="num">
                                      <p:cBhvr additive="base">
                                        <p:cTn id="58"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59"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nodeType="clickEffect">
                                  <p:stCondLst>
                                    <p:cond delay="0"/>
                                  </p:stCondLst>
                                  <p:childTnLst>
                                    <p:set>
                                      <p:cBhvr>
                                        <p:cTn id="63" dur="1" fill="hold">
                                          <p:stCondLst>
                                            <p:cond delay="0"/>
                                          </p:stCondLst>
                                        </p:cTn>
                                        <p:tgtEl>
                                          <p:spTgt spid="6">
                                            <p:txEl>
                                              <p:pRg st="5" end="5"/>
                                            </p:txEl>
                                          </p:spTgt>
                                        </p:tgtEl>
                                        <p:attrNameLst>
                                          <p:attrName>style.visibility</p:attrName>
                                        </p:attrNameLst>
                                      </p:cBhvr>
                                      <p:to>
                                        <p:strVal val="visible"/>
                                      </p:to>
                                    </p:set>
                                    <p:anim calcmode="lin" valueType="num">
                                      <p:cBhvr additive="base">
                                        <p:cTn id="64"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65" dur="500" fill="hold"/>
                                        <p:tgtEl>
                                          <p:spTgt spid="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nodeType="clickEffect">
                                  <p:stCondLst>
                                    <p:cond delay="0"/>
                                  </p:stCondLst>
                                  <p:childTnLst>
                                    <p:set>
                                      <p:cBhvr>
                                        <p:cTn id="69" dur="1" fill="hold">
                                          <p:stCondLst>
                                            <p:cond delay="0"/>
                                          </p:stCondLst>
                                        </p:cTn>
                                        <p:tgtEl>
                                          <p:spTgt spid="4">
                                            <p:txEl>
                                              <p:pRg st="4" end="4"/>
                                            </p:txEl>
                                          </p:spTgt>
                                        </p:tgtEl>
                                        <p:attrNameLst>
                                          <p:attrName>style.visibility</p:attrName>
                                        </p:attrNameLst>
                                      </p:cBhvr>
                                      <p:to>
                                        <p:strVal val="visible"/>
                                      </p:to>
                                    </p:set>
                                    <p:anim calcmode="lin" valueType="num">
                                      <p:cBhvr additive="base">
                                        <p:cTn id="70"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71"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2" presetClass="entr" presetSubtype="4" fill="hold" nodeType="clickEffect">
                                  <p:stCondLst>
                                    <p:cond delay="0"/>
                                  </p:stCondLst>
                                  <p:childTnLst>
                                    <p:set>
                                      <p:cBhvr>
                                        <p:cTn id="75" dur="1" fill="hold">
                                          <p:stCondLst>
                                            <p:cond delay="0"/>
                                          </p:stCondLst>
                                        </p:cTn>
                                        <p:tgtEl>
                                          <p:spTgt spid="6">
                                            <p:txEl>
                                              <p:pRg st="6" end="6"/>
                                            </p:txEl>
                                          </p:spTgt>
                                        </p:tgtEl>
                                        <p:attrNameLst>
                                          <p:attrName>style.visibility</p:attrName>
                                        </p:attrNameLst>
                                      </p:cBhvr>
                                      <p:to>
                                        <p:strVal val="visible"/>
                                      </p:to>
                                    </p:set>
                                    <p:anim calcmode="lin" valueType="num">
                                      <p:cBhvr additive="base">
                                        <p:cTn id="76"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77" dur="500" fill="hold"/>
                                        <p:tgtEl>
                                          <p:spTgt spid="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 presetClass="entr" presetSubtype="4" fill="hold" nodeType="clickEffect">
                                  <p:stCondLst>
                                    <p:cond delay="0"/>
                                  </p:stCondLst>
                                  <p:childTnLst>
                                    <p:set>
                                      <p:cBhvr>
                                        <p:cTn id="81" dur="1" fill="hold">
                                          <p:stCondLst>
                                            <p:cond delay="0"/>
                                          </p:stCondLst>
                                        </p:cTn>
                                        <p:tgtEl>
                                          <p:spTgt spid="4">
                                            <p:txEl>
                                              <p:pRg st="5" end="5"/>
                                            </p:txEl>
                                          </p:spTgt>
                                        </p:tgtEl>
                                        <p:attrNameLst>
                                          <p:attrName>style.visibility</p:attrName>
                                        </p:attrNameLst>
                                      </p:cBhvr>
                                      <p:to>
                                        <p:strVal val="visible"/>
                                      </p:to>
                                    </p:set>
                                    <p:anim calcmode="lin" valueType="num">
                                      <p:cBhvr additive="base">
                                        <p:cTn id="82"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83"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2" presetClass="entr" presetSubtype="4" fill="hold" nodeType="clickEffect">
                                  <p:stCondLst>
                                    <p:cond delay="0"/>
                                  </p:stCondLst>
                                  <p:childTnLst>
                                    <p:set>
                                      <p:cBhvr>
                                        <p:cTn id="87" dur="1" fill="hold">
                                          <p:stCondLst>
                                            <p:cond delay="0"/>
                                          </p:stCondLst>
                                        </p:cTn>
                                        <p:tgtEl>
                                          <p:spTgt spid="6">
                                            <p:txEl>
                                              <p:pRg st="7" end="7"/>
                                            </p:txEl>
                                          </p:spTgt>
                                        </p:tgtEl>
                                        <p:attrNameLst>
                                          <p:attrName>style.visibility</p:attrName>
                                        </p:attrNameLst>
                                      </p:cBhvr>
                                      <p:to>
                                        <p:strVal val="visible"/>
                                      </p:to>
                                    </p:set>
                                    <p:anim calcmode="lin" valueType="num">
                                      <p:cBhvr additive="base">
                                        <p:cTn id="88" dur="500" fill="hold"/>
                                        <p:tgtEl>
                                          <p:spTgt spid="6">
                                            <p:txEl>
                                              <p:pRg st="7" end="7"/>
                                            </p:txEl>
                                          </p:spTgt>
                                        </p:tgtEl>
                                        <p:attrNameLst>
                                          <p:attrName>ppt_x</p:attrName>
                                        </p:attrNameLst>
                                      </p:cBhvr>
                                      <p:tavLst>
                                        <p:tav tm="0">
                                          <p:val>
                                            <p:strVal val="#ppt_x"/>
                                          </p:val>
                                        </p:tav>
                                        <p:tav tm="100000">
                                          <p:val>
                                            <p:strVal val="#ppt_x"/>
                                          </p:val>
                                        </p:tav>
                                      </p:tavLst>
                                    </p:anim>
                                    <p:anim calcmode="lin" valueType="num">
                                      <p:cBhvr additive="base">
                                        <p:cTn id="89" dur="500" fill="hold"/>
                                        <p:tgtEl>
                                          <p:spTgt spid="6">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3469A8C-2CD4-414B-8596-E0804CECEF83}"/>
              </a:ext>
            </a:extLst>
          </p:cNvPr>
          <p:cNvSpPr>
            <a:spLocks noGrp="1"/>
          </p:cNvSpPr>
          <p:nvPr>
            <p:ph type="body" idx="1"/>
          </p:nvPr>
        </p:nvSpPr>
        <p:spPr>
          <a:xfrm>
            <a:off x="540808" y="735310"/>
            <a:ext cx="5386917" cy="639762"/>
          </a:xfrm>
        </p:spPr>
        <p:txBody>
          <a:bodyPr>
            <a:normAutofit/>
          </a:bodyPr>
          <a:lstStyle/>
          <a:p>
            <a:r>
              <a:rPr lang="en-US" sz="3200" dirty="0">
                <a:solidFill>
                  <a:srgbClr val="0070C0"/>
                </a:solidFill>
              </a:rPr>
              <a:t>Combinational Circuit</a:t>
            </a:r>
            <a:endParaRPr lang="en-IN" sz="3200" dirty="0">
              <a:solidFill>
                <a:srgbClr val="0070C0"/>
              </a:solidFill>
            </a:endParaRPr>
          </a:p>
          <a:p>
            <a:endParaRPr lang="en-IN" sz="3200" dirty="0"/>
          </a:p>
        </p:txBody>
      </p:sp>
      <p:sp>
        <p:nvSpPr>
          <p:cNvPr id="4" name="Content Placeholder 3">
            <a:extLst>
              <a:ext uri="{FF2B5EF4-FFF2-40B4-BE49-F238E27FC236}">
                <a16:creationId xmlns:a16="http://schemas.microsoft.com/office/drawing/2014/main" id="{B6F13FF3-00EC-4F6E-98BB-68D9B6199998}"/>
              </a:ext>
            </a:extLst>
          </p:cNvPr>
          <p:cNvSpPr>
            <a:spLocks noGrp="1"/>
          </p:cNvSpPr>
          <p:nvPr>
            <p:ph sz="half" idx="2"/>
          </p:nvPr>
        </p:nvSpPr>
        <p:spPr>
          <a:xfrm>
            <a:off x="347787" y="908720"/>
            <a:ext cx="5386917" cy="4503390"/>
          </a:xfrm>
        </p:spPr>
        <p:txBody>
          <a:bodyPr>
            <a:normAutofit fontScale="77500" lnSpcReduction="20000"/>
          </a:bodyPr>
          <a:lstStyle/>
          <a:p>
            <a:pPr algn="just" fontAlgn="base">
              <a:lnSpc>
                <a:spcPct val="150000"/>
              </a:lnSpc>
            </a:pPr>
            <a:r>
              <a:rPr lang="en-US" sz="3200" dirty="0"/>
              <a:t>Used for arithmetic as well as Boolean operations.</a:t>
            </a:r>
          </a:p>
          <a:p>
            <a:pPr algn="just" fontAlgn="base">
              <a:lnSpc>
                <a:spcPct val="150000"/>
              </a:lnSpc>
            </a:pPr>
            <a:r>
              <a:rPr lang="en-US" sz="3200" dirty="0"/>
              <a:t>Speed is fast.</a:t>
            </a:r>
          </a:p>
          <a:p>
            <a:pPr algn="just" fontAlgn="base">
              <a:lnSpc>
                <a:spcPct val="150000"/>
              </a:lnSpc>
            </a:pPr>
            <a:r>
              <a:rPr lang="en-US" sz="3200" dirty="0"/>
              <a:t>It is designed easy.</a:t>
            </a:r>
          </a:p>
          <a:p>
            <a:pPr marL="0" indent="0" algn="just" fontAlgn="base">
              <a:lnSpc>
                <a:spcPct val="150000"/>
              </a:lnSpc>
              <a:buNone/>
            </a:pPr>
            <a:endParaRPr lang="en-US" sz="3200" dirty="0"/>
          </a:p>
          <a:p>
            <a:pPr algn="just" fontAlgn="base">
              <a:lnSpc>
                <a:spcPct val="150000"/>
              </a:lnSpc>
            </a:pPr>
            <a:r>
              <a:rPr lang="en-US" sz="3200" dirty="0"/>
              <a:t>It is easy to use and handle.</a:t>
            </a:r>
          </a:p>
          <a:p>
            <a:pPr algn="just" fontAlgn="base">
              <a:lnSpc>
                <a:spcPct val="150000"/>
              </a:lnSpc>
            </a:pPr>
            <a:r>
              <a:rPr lang="fr-FR" sz="3200" dirty="0" err="1"/>
              <a:t>Examples</a:t>
            </a:r>
            <a:r>
              <a:rPr lang="fr-FR" sz="3200" dirty="0"/>
              <a:t> - Encoder, Décoder, Multiplexer, De-multiplexer</a:t>
            </a:r>
            <a:r>
              <a:rPr lang="fr-FR" sz="2800" dirty="0"/>
              <a:t>.</a:t>
            </a:r>
          </a:p>
          <a:p>
            <a:pPr>
              <a:lnSpc>
                <a:spcPct val="150000"/>
              </a:lnSpc>
            </a:pPr>
            <a:endParaRPr lang="en-IN" sz="3200" dirty="0"/>
          </a:p>
        </p:txBody>
      </p:sp>
      <p:sp>
        <p:nvSpPr>
          <p:cNvPr id="5" name="Text Placeholder 4">
            <a:extLst>
              <a:ext uri="{FF2B5EF4-FFF2-40B4-BE49-F238E27FC236}">
                <a16:creationId xmlns:a16="http://schemas.microsoft.com/office/drawing/2014/main" id="{5F2760A9-6DE8-4913-85CC-51B9CFBB80E0}"/>
              </a:ext>
            </a:extLst>
          </p:cNvPr>
          <p:cNvSpPr>
            <a:spLocks noGrp="1"/>
          </p:cNvSpPr>
          <p:nvPr>
            <p:ph type="body" sz="quarter" idx="3"/>
          </p:nvPr>
        </p:nvSpPr>
        <p:spPr>
          <a:xfrm>
            <a:off x="5927725" y="806227"/>
            <a:ext cx="5389033" cy="639762"/>
          </a:xfrm>
        </p:spPr>
        <p:txBody>
          <a:bodyPr>
            <a:normAutofit/>
          </a:bodyPr>
          <a:lstStyle/>
          <a:p>
            <a:r>
              <a:rPr lang="en-US" sz="3200" dirty="0">
                <a:solidFill>
                  <a:srgbClr val="0070C0"/>
                </a:solidFill>
              </a:rPr>
              <a:t>Sequential Circuit</a:t>
            </a:r>
            <a:endParaRPr lang="en-IN" sz="3200" dirty="0">
              <a:solidFill>
                <a:srgbClr val="0070C0"/>
              </a:solidFill>
            </a:endParaRPr>
          </a:p>
          <a:p>
            <a:endParaRPr lang="en-IN" sz="3200" dirty="0"/>
          </a:p>
        </p:txBody>
      </p:sp>
      <p:sp>
        <p:nvSpPr>
          <p:cNvPr id="6" name="Content Placeholder 5">
            <a:extLst>
              <a:ext uri="{FF2B5EF4-FFF2-40B4-BE49-F238E27FC236}">
                <a16:creationId xmlns:a16="http://schemas.microsoft.com/office/drawing/2014/main" id="{92D2E243-B4EC-438F-8A24-CD07CC5FFEBB}"/>
              </a:ext>
            </a:extLst>
          </p:cNvPr>
          <p:cNvSpPr>
            <a:spLocks noGrp="1"/>
          </p:cNvSpPr>
          <p:nvPr>
            <p:ph sz="quarter" idx="4"/>
          </p:nvPr>
        </p:nvSpPr>
        <p:spPr>
          <a:xfrm>
            <a:off x="5950942" y="908720"/>
            <a:ext cx="5905698" cy="5566718"/>
          </a:xfrm>
        </p:spPr>
        <p:txBody>
          <a:bodyPr>
            <a:normAutofit fontScale="77500" lnSpcReduction="20000"/>
          </a:bodyPr>
          <a:lstStyle/>
          <a:p>
            <a:pPr algn="just" fontAlgn="base">
              <a:lnSpc>
                <a:spcPct val="150000"/>
              </a:lnSpc>
            </a:pPr>
            <a:r>
              <a:rPr lang="en-US" sz="3300" dirty="0"/>
              <a:t>Mainly used for storing data.</a:t>
            </a:r>
          </a:p>
          <a:p>
            <a:pPr marL="0" indent="0" algn="just" fontAlgn="base">
              <a:lnSpc>
                <a:spcPct val="150000"/>
              </a:lnSpc>
              <a:buNone/>
            </a:pPr>
            <a:endParaRPr lang="en-US" sz="3300" dirty="0"/>
          </a:p>
          <a:p>
            <a:pPr algn="just" fontAlgn="base">
              <a:lnSpc>
                <a:spcPct val="150000"/>
              </a:lnSpc>
            </a:pPr>
            <a:r>
              <a:rPr lang="en-US" sz="3300" dirty="0"/>
              <a:t>Speed is slow.</a:t>
            </a:r>
          </a:p>
          <a:p>
            <a:pPr algn="just" fontAlgn="base">
              <a:lnSpc>
                <a:spcPct val="150000"/>
              </a:lnSpc>
            </a:pPr>
            <a:r>
              <a:rPr lang="en-US" sz="3300" dirty="0"/>
              <a:t>It is designed tough as compared to combinational circuits.</a:t>
            </a:r>
          </a:p>
          <a:p>
            <a:pPr algn="just" fontAlgn="base">
              <a:lnSpc>
                <a:spcPct val="150000"/>
              </a:lnSpc>
            </a:pPr>
            <a:r>
              <a:rPr lang="en-US" sz="3300" dirty="0"/>
              <a:t>It is not easy to use and handle.</a:t>
            </a:r>
          </a:p>
          <a:p>
            <a:pPr algn="just" fontAlgn="base">
              <a:lnSpc>
                <a:spcPct val="150000"/>
              </a:lnSpc>
            </a:pPr>
            <a:r>
              <a:rPr lang="en-US" sz="3300" dirty="0"/>
              <a:t>Examples - Flip-flops, Counters, Shift registers.</a:t>
            </a:r>
          </a:p>
          <a:p>
            <a:pPr>
              <a:lnSpc>
                <a:spcPct val="150000"/>
              </a:lnSpc>
            </a:pPr>
            <a:endParaRPr lang="en-IN" sz="2800" dirty="0"/>
          </a:p>
        </p:txBody>
      </p:sp>
    </p:spTree>
    <p:extLst>
      <p:ext uri="{BB962C8B-B14F-4D97-AF65-F5344CB8AC3E}">
        <p14:creationId xmlns:p14="http://schemas.microsoft.com/office/powerpoint/2010/main" val="12790120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B0B92-4D74-461E-8C86-AB0DAC33DEC5}"/>
              </a:ext>
            </a:extLst>
          </p:cNvPr>
          <p:cNvSpPr>
            <a:spLocks noGrp="1"/>
          </p:cNvSpPr>
          <p:nvPr>
            <p:ph type="title"/>
          </p:nvPr>
        </p:nvSpPr>
        <p:spPr>
          <a:xfrm>
            <a:off x="609600" y="274638"/>
            <a:ext cx="10972800" cy="639762"/>
          </a:xfrm>
        </p:spPr>
        <p:txBody>
          <a:bodyPr>
            <a:normAutofit fontScale="90000"/>
          </a:bodyPr>
          <a:lstStyle/>
          <a:p>
            <a:pPr algn="l"/>
            <a:br>
              <a:rPr lang="en-IN" dirty="0">
                <a:solidFill>
                  <a:srgbClr val="C00000"/>
                </a:solidFill>
              </a:rPr>
            </a:br>
            <a:r>
              <a:rPr lang="en-IN" b="1" dirty="0">
                <a:solidFill>
                  <a:srgbClr val="C00000"/>
                </a:solidFill>
              </a:rPr>
              <a:t>Types of Sequential Circuits</a:t>
            </a:r>
            <a:br>
              <a:rPr lang="en-IN" b="1" dirty="0">
                <a:solidFill>
                  <a:srgbClr val="C00000"/>
                </a:solidFill>
              </a:rPr>
            </a:br>
            <a:endParaRPr lang="en-IN" b="1" dirty="0">
              <a:solidFill>
                <a:srgbClr val="C00000"/>
              </a:solidFill>
            </a:endParaRPr>
          </a:p>
        </p:txBody>
      </p:sp>
      <p:sp>
        <p:nvSpPr>
          <p:cNvPr id="6" name="Content Placeholder 5">
            <a:extLst>
              <a:ext uri="{FF2B5EF4-FFF2-40B4-BE49-F238E27FC236}">
                <a16:creationId xmlns:a16="http://schemas.microsoft.com/office/drawing/2014/main" id="{40BA4891-BC69-44B2-A81F-F102A5D49F17}"/>
              </a:ext>
            </a:extLst>
          </p:cNvPr>
          <p:cNvSpPr>
            <a:spLocks noGrp="1"/>
          </p:cNvSpPr>
          <p:nvPr>
            <p:ph sz="quarter" idx="4"/>
          </p:nvPr>
        </p:nvSpPr>
        <p:spPr>
          <a:xfrm>
            <a:off x="407368" y="1268760"/>
            <a:ext cx="10657184" cy="3951288"/>
          </a:xfrm>
        </p:spPr>
        <p:txBody>
          <a:bodyPr>
            <a:normAutofit/>
          </a:bodyPr>
          <a:lstStyle/>
          <a:p>
            <a:pPr marL="0" indent="0">
              <a:lnSpc>
                <a:spcPct val="150000"/>
              </a:lnSpc>
              <a:buNone/>
            </a:pPr>
            <a:r>
              <a:rPr lang="en-US" sz="2800" dirty="0"/>
              <a:t>Based on structure, operation, and applications, the sequential circuits are classified into the following two types −</a:t>
            </a:r>
          </a:p>
          <a:p>
            <a:pPr>
              <a:lnSpc>
                <a:spcPct val="150000"/>
              </a:lnSpc>
            </a:pPr>
            <a:r>
              <a:rPr lang="en-US" sz="2800" b="1" dirty="0">
                <a:solidFill>
                  <a:srgbClr val="7030A0"/>
                </a:solidFill>
              </a:rPr>
              <a:t>Synchronous Sequential Circuit</a:t>
            </a:r>
          </a:p>
          <a:p>
            <a:pPr>
              <a:lnSpc>
                <a:spcPct val="150000"/>
              </a:lnSpc>
            </a:pPr>
            <a:r>
              <a:rPr lang="en-US" sz="2800" b="1" dirty="0">
                <a:solidFill>
                  <a:srgbClr val="7030A0"/>
                </a:solidFill>
              </a:rPr>
              <a:t>Asynchronous Sequential Circuit</a:t>
            </a:r>
          </a:p>
          <a:p>
            <a:pPr>
              <a:lnSpc>
                <a:spcPct val="150000"/>
              </a:lnSpc>
            </a:pPr>
            <a:endParaRPr lang="en-US" sz="2800" b="1" dirty="0">
              <a:solidFill>
                <a:srgbClr val="7030A0"/>
              </a:solidFill>
            </a:endParaRPr>
          </a:p>
          <a:p>
            <a:endParaRPr lang="en-IN" sz="2800" dirty="0"/>
          </a:p>
        </p:txBody>
      </p:sp>
    </p:spTree>
    <p:extLst>
      <p:ext uri="{BB962C8B-B14F-4D97-AF65-F5344CB8AC3E}">
        <p14:creationId xmlns:p14="http://schemas.microsoft.com/office/powerpoint/2010/main" val="12843990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72BA4-84E8-4758-8B65-FC3A4DFA2C74}"/>
              </a:ext>
            </a:extLst>
          </p:cNvPr>
          <p:cNvSpPr>
            <a:spLocks noGrp="1"/>
          </p:cNvSpPr>
          <p:nvPr>
            <p:ph type="title"/>
          </p:nvPr>
        </p:nvSpPr>
        <p:spPr>
          <a:xfrm>
            <a:off x="609600" y="274638"/>
            <a:ext cx="10972800" cy="639762"/>
          </a:xfrm>
        </p:spPr>
        <p:txBody>
          <a:bodyPr>
            <a:normAutofit fontScale="90000"/>
          </a:bodyPr>
          <a:lstStyle/>
          <a:p>
            <a:pPr algn="l"/>
            <a:br>
              <a:rPr lang="en-IN" b="1" dirty="0">
                <a:solidFill>
                  <a:srgbClr val="C00000"/>
                </a:solidFill>
              </a:rPr>
            </a:br>
            <a:r>
              <a:rPr lang="en-IN" b="1" dirty="0">
                <a:solidFill>
                  <a:srgbClr val="C00000"/>
                </a:solidFill>
              </a:rPr>
              <a:t>Synchronous Sequential Circuit</a:t>
            </a:r>
            <a:br>
              <a:rPr lang="en-IN" dirty="0"/>
            </a:br>
            <a:endParaRPr lang="en-IN" dirty="0"/>
          </a:p>
        </p:txBody>
      </p:sp>
      <p:sp>
        <p:nvSpPr>
          <p:cNvPr id="7" name="Rectangle 6">
            <a:extLst>
              <a:ext uri="{FF2B5EF4-FFF2-40B4-BE49-F238E27FC236}">
                <a16:creationId xmlns:a16="http://schemas.microsoft.com/office/drawing/2014/main" id="{069BDE79-F551-4893-99E7-EACD7F7336F9}"/>
              </a:ext>
            </a:extLst>
          </p:cNvPr>
          <p:cNvSpPr/>
          <p:nvPr/>
        </p:nvSpPr>
        <p:spPr>
          <a:xfrm>
            <a:off x="191344" y="1111548"/>
            <a:ext cx="11593288" cy="5725606"/>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800" dirty="0">
                <a:solidFill>
                  <a:srgbClr val="000000"/>
                </a:solidFill>
                <a:latin typeface="Verdana" panose="020B0604030504040204" pitchFamily="34" charset="0"/>
              </a:rPr>
              <a:t>A synchronous sequential circuit is a type of sequential circuit </a:t>
            </a:r>
            <a:r>
              <a:rPr lang="en-US" sz="2800" b="1" dirty="0">
                <a:solidFill>
                  <a:srgbClr val="000000"/>
                </a:solidFill>
                <a:latin typeface="Verdana" panose="020B0604030504040204" pitchFamily="34" charset="0"/>
              </a:rPr>
              <a:t>in which all the memory elements are </a:t>
            </a:r>
            <a:r>
              <a:rPr lang="en-US" sz="2800" b="1" dirty="0">
                <a:solidFill>
                  <a:srgbClr val="7030A0"/>
                </a:solidFill>
                <a:latin typeface="Verdana" panose="020B0604030504040204" pitchFamily="34" charset="0"/>
              </a:rPr>
              <a:t>synchronized by a common clock signal. </a:t>
            </a:r>
          </a:p>
          <a:p>
            <a:pPr marL="342900" indent="-342900" algn="just">
              <a:lnSpc>
                <a:spcPct val="150000"/>
              </a:lnSpc>
              <a:buFont typeface="Arial" panose="020B0604020202020204" pitchFamily="34" charset="0"/>
              <a:buChar char="•"/>
            </a:pPr>
            <a:r>
              <a:rPr lang="en-US" sz="2800" dirty="0">
                <a:solidFill>
                  <a:srgbClr val="000000"/>
                </a:solidFill>
                <a:latin typeface="Verdana" panose="020B0604030504040204" pitchFamily="34" charset="0"/>
              </a:rPr>
              <a:t>Hence, synchronous sequential circuits take </a:t>
            </a:r>
            <a:r>
              <a:rPr lang="en-US" sz="2800" b="1" dirty="0">
                <a:solidFill>
                  <a:srgbClr val="C00000"/>
                </a:solidFill>
                <a:latin typeface="Verdana" panose="020B0604030504040204" pitchFamily="34" charset="0"/>
              </a:rPr>
              <a:t>a clock signal along with input signals.</a:t>
            </a:r>
          </a:p>
          <a:p>
            <a:pPr marL="342900" indent="-342900" algn="just">
              <a:lnSpc>
                <a:spcPct val="150000"/>
              </a:lnSpc>
              <a:buFont typeface="Arial" panose="020B0604020202020204" pitchFamily="34" charset="0"/>
              <a:buChar char="•"/>
            </a:pPr>
            <a:r>
              <a:rPr lang="en-US" sz="3600" dirty="0"/>
              <a:t>Synchronous sequential circuits that use clock pulses in the inputs of memory elements are called </a:t>
            </a:r>
            <a:r>
              <a:rPr lang="en-US" sz="3600" b="1" i="1" dirty="0">
                <a:solidFill>
                  <a:srgbClr val="C00000"/>
                </a:solidFill>
              </a:rPr>
              <a:t>clocked sequential circuits</a:t>
            </a:r>
            <a:r>
              <a:rPr lang="en-US" sz="3600" b="1" dirty="0">
                <a:solidFill>
                  <a:srgbClr val="C00000"/>
                </a:solidFill>
              </a:rPr>
              <a:t>.</a:t>
            </a:r>
            <a:endParaRPr lang="en-US" sz="3600" b="1" dirty="0">
              <a:solidFill>
                <a:srgbClr val="C00000"/>
              </a:solidFill>
              <a:latin typeface="Verdana" panose="020B0604030504040204" pitchFamily="34" charset="0"/>
            </a:endParaRPr>
          </a:p>
        </p:txBody>
      </p:sp>
    </p:spTree>
    <p:extLst>
      <p:ext uri="{BB962C8B-B14F-4D97-AF65-F5344CB8AC3E}">
        <p14:creationId xmlns:p14="http://schemas.microsoft.com/office/powerpoint/2010/main" val="34839948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CBDABD9-D44C-4E67-975F-5DF6001C7BB6}"/>
              </a:ext>
            </a:extLst>
          </p:cNvPr>
          <p:cNvPicPr>
            <a:picLocks noChangeAspect="1"/>
          </p:cNvPicPr>
          <p:nvPr/>
        </p:nvPicPr>
        <p:blipFill>
          <a:blip r:embed="rId2"/>
          <a:stretch>
            <a:fillRect/>
          </a:stretch>
        </p:blipFill>
        <p:spPr>
          <a:xfrm>
            <a:off x="1199456" y="1627898"/>
            <a:ext cx="9793088" cy="3096343"/>
          </a:xfrm>
          <a:prstGeom prst="rect">
            <a:avLst/>
          </a:prstGeom>
        </p:spPr>
      </p:pic>
      <p:sp>
        <p:nvSpPr>
          <p:cNvPr id="9" name="Rectangle 8">
            <a:extLst>
              <a:ext uri="{FF2B5EF4-FFF2-40B4-BE49-F238E27FC236}">
                <a16:creationId xmlns:a16="http://schemas.microsoft.com/office/drawing/2014/main" id="{CEDD0C8A-06D0-47FE-BA26-8C8F0FEFEC6E}"/>
              </a:ext>
            </a:extLst>
          </p:cNvPr>
          <p:cNvSpPr/>
          <p:nvPr/>
        </p:nvSpPr>
        <p:spPr>
          <a:xfrm>
            <a:off x="1703512" y="4727254"/>
            <a:ext cx="8051243" cy="523220"/>
          </a:xfrm>
          <a:prstGeom prst="rect">
            <a:avLst/>
          </a:prstGeom>
        </p:spPr>
        <p:txBody>
          <a:bodyPr wrap="none">
            <a:spAutoFit/>
          </a:bodyPr>
          <a:lstStyle/>
          <a:p>
            <a:r>
              <a:rPr lang="en-US" sz="2800" dirty="0"/>
              <a:t>Fig. Block diagram of a synchronous sequential circuit.</a:t>
            </a:r>
            <a:endParaRPr lang="en-IN" sz="2800" dirty="0"/>
          </a:p>
        </p:txBody>
      </p:sp>
      <p:sp>
        <p:nvSpPr>
          <p:cNvPr id="10" name="Rectangle 9">
            <a:extLst>
              <a:ext uri="{FF2B5EF4-FFF2-40B4-BE49-F238E27FC236}">
                <a16:creationId xmlns:a16="http://schemas.microsoft.com/office/drawing/2014/main" id="{BC5B2B22-3A04-490B-A9C0-1EC6493A1E61}"/>
              </a:ext>
            </a:extLst>
          </p:cNvPr>
          <p:cNvSpPr/>
          <p:nvPr/>
        </p:nvSpPr>
        <p:spPr>
          <a:xfrm>
            <a:off x="432867" y="5320957"/>
            <a:ext cx="11233248" cy="1313886"/>
          </a:xfrm>
          <a:prstGeom prst="rect">
            <a:avLst/>
          </a:prstGeom>
        </p:spPr>
        <p:txBody>
          <a:bodyPr wrap="square">
            <a:spAutoFit/>
          </a:bodyPr>
          <a:lstStyle/>
          <a:p>
            <a:pPr algn="just">
              <a:lnSpc>
                <a:spcPct val="150000"/>
              </a:lnSpc>
            </a:pPr>
            <a:r>
              <a:rPr lang="en-US" sz="2800" dirty="0">
                <a:solidFill>
                  <a:srgbClr val="000000"/>
                </a:solidFill>
                <a:latin typeface="Verdana" panose="020B0604030504040204" pitchFamily="34" charset="0"/>
              </a:rPr>
              <a:t>In this figure, it can be seen that the memory element of the sequential circuit is synchronized by a clock signal.</a:t>
            </a:r>
            <a:endParaRPr lang="en-IN" sz="2800" dirty="0"/>
          </a:p>
        </p:txBody>
      </p:sp>
      <p:sp>
        <p:nvSpPr>
          <p:cNvPr id="11" name="Rectangle 10">
            <a:extLst>
              <a:ext uri="{FF2B5EF4-FFF2-40B4-BE49-F238E27FC236}">
                <a16:creationId xmlns:a16="http://schemas.microsoft.com/office/drawing/2014/main" id="{F2557CC8-6CCE-4111-A92A-44E2B3214ED3}"/>
              </a:ext>
            </a:extLst>
          </p:cNvPr>
          <p:cNvSpPr/>
          <p:nvPr/>
        </p:nvSpPr>
        <p:spPr>
          <a:xfrm>
            <a:off x="432867" y="217377"/>
            <a:ext cx="11066586" cy="1125629"/>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400" dirty="0">
                <a:solidFill>
                  <a:srgbClr val="000000"/>
                </a:solidFill>
                <a:latin typeface="Verdana" panose="020B0604030504040204" pitchFamily="34" charset="0"/>
              </a:rPr>
              <a:t>In synchronous sequential circuits, the duration of the output pulse is equivalent to the duration of the clock pulse applied. </a:t>
            </a:r>
          </a:p>
        </p:txBody>
      </p:sp>
    </p:spTree>
    <p:extLst>
      <p:ext uri="{BB962C8B-B14F-4D97-AF65-F5344CB8AC3E}">
        <p14:creationId xmlns:p14="http://schemas.microsoft.com/office/powerpoint/2010/main" val="35121312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CC1564B-BFF3-4C1B-B451-0EF105EA67C8}"/>
              </a:ext>
            </a:extLst>
          </p:cNvPr>
          <p:cNvSpPr/>
          <p:nvPr/>
        </p:nvSpPr>
        <p:spPr>
          <a:xfrm>
            <a:off x="263352" y="332656"/>
            <a:ext cx="11521280" cy="5880777"/>
          </a:xfrm>
          <a:prstGeom prst="rect">
            <a:avLst/>
          </a:prstGeom>
        </p:spPr>
        <p:txBody>
          <a:bodyPr wrap="square">
            <a:spAutoFit/>
          </a:bodyPr>
          <a:lstStyle/>
          <a:p>
            <a:pPr marL="342900" indent="-342900">
              <a:lnSpc>
                <a:spcPct val="200000"/>
              </a:lnSpc>
              <a:buFont typeface="Arial" panose="020B0604020202020204" pitchFamily="34" charset="0"/>
              <a:buChar char="•"/>
            </a:pPr>
            <a:r>
              <a:rPr lang="en-US" sz="2400" dirty="0">
                <a:solidFill>
                  <a:srgbClr val="000000"/>
                </a:solidFill>
                <a:latin typeface="Verdana" panose="020B0604030504040204" pitchFamily="34" charset="0"/>
              </a:rPr>
              <a:t>The </a:t>
            </a:r>
            <a:r>
              <a:rPr lang="en-US" sz="2400" b="1" dirty="0">
                <a:solidFill>
                  <a:srgbClr val="C00000"/>
                </a:solidFill>
                <a:latin typeface="Verdana" panose="020B0604030504040204" pitchFamily="34" charset="0"/>
              </a:rPr>
              <a:t>major disadvantage </a:t>
            </a:r>
            <a:r>
              <a:rPr lang="en-US" sz="2400" dirty="0">
                <a:solidFill>
                  <a:srgbClr val="000000"/>
                </a:solidFill>
                <a:latin typeface="Verdana" panose="020B0604030504040204" pitchFamily="34" charset="0"/>
              </a:rPr>
              <a:t>of the synchronous sequential circuits is that </a:t>
            </a:r>
            <a:r>
              <a:rPr lang="en-US" sz="2400" b="1" dirty="0">
                <a:solidFill>
                  <a:srgbClr val="7030A0"/>
                </a:solidFill>
                <a:latin typeface="Verdana" panose="020B0604030504040204" pitchFamily="34" charset="0"/>
              </a:rPr>
              <a:t>their operation is quite slow. </a:t>
            </a:r>
          </a:p>
          <a:p>
            <a:pPr marL="342900" indent="-342900">
              <a:lnSpc>
                <a:spcPct val="200000"/>
              </a:lnSpc>
              <a:buFont typeface="Arial" panose="020B0604020202020204" pitchFamily="34" charset="0"/>
              <a:buChar char="•"/>
            </a:pPr>
            <a:r>
              <a:rPr lang="en-US" sz="2400" dirty="0">
                <a:solidFill>
                  <a:srgbClr val="000000"/>
                </a:solidFill>
                <a:latin typeface="Verdana" panose="020B0604030504040204" pitchFamily="34" charset="0"/>
              </a:rPr>
              <a:t>This is because, </a:t>
            </a:r>
            <a:r>
              <a:rPr lang="en-US" sz="2400" b="1" dirty="0">
                <a:solidFill>
                  <a:srgbClr val="000000"/>
                </a:solidFill>
                <a:latin typeface="Verdana" panose="020B0604030504040204" pitchFamily="34" charset="0"/>
              </a:rPr>
              <a:t>every time the circuit has to wait for a clock pulse for the operation to take place. </a:t>
            </a:r>
          </a:p>
          <a:p>
            <a:pPr marL="342900" indent="-342900">
              <a:lnSpc>
                <a:spcPct val="200000"/>
              </a:lnSpc>
              <a:buFont typeface="Arial" panose="020B0604020202020204" pitchFamily="34" charset="0"/>
              <a:buChar char="•"/>
            </a:pPr>
            <a:r>
              <a:rPr lang="en-US" sz="2400" dirty="0">
                <a:solidFill>
                  <a:srgbClr val="000000"/>
                </a:solidFill>
                <a:latin typeface="Verdana" panose="020B0604030504040204" pitchFamily="34" charset="0"/>
              </a:rPr>
              <a:t>However, the </a:t>
            </a:r>
            <a:r>
              <a:rPr lang="en-US" sz="2400" b="1" dirty="0">
                <a:solidFill>
                  <a:srgbClr val="C00000"/>
                </a:solidFill>
                <a:latin typeface="Verdana" panose="020B0604030504040204" pitchFamily="34" charset="0"/>
              </a:rPr>
              <a:t>most significant advantage </a:t>
            </a:r>
            <a:r>
              <a:rPr lang="en-US" sz="2400" dirty="0">
                <a:solidFill>
                  <a:srgbClr val="000000"/>
                </a:solidFill>
                <a:latin typeface="Verdana" panose="020B0604030504040204" pitchFamily="34" charset="0"/>
              </a:rPr>
              <a:t>of synchronous sequential circuits is that they have </a:t>
            </a:r>
            <a:r>
              <a:rPr lang="en-US" sz="2400" b="1" dirty="0">
                <a:solidFill>
                  <a:srgbClr val="7030A0"/>
                </a:solidFill>
                <a:latin typeface="Verdana" panose="020B0604030504040204" pitchFamily="34" charset="0"/>
              </a:rPr>
              <a:t>a reliable and predictable operation</a:t>
            </a:r>
            <a:r>
              <a:rPr lang="en-US" sz="2400" dirty="0">
                <a:solidFill>
                  <a:srgbClr val="000000"/>
                </a:solidFill>
                <a:latin typeface="Verdana" panose="020B0604030504040204" pitchFamily="34" charset="0"/>
              </a:rPr>
              <a:t>.</a:t>
            </a:r>
          </a:p>
          <a:p>
            <a:pPr marL="342900" indent="-342900">
              <a:lnSpc>
                <a:spcPct val="200000"/>
              </a:lnSpc>
              <a:buFont typeface="Arial" panose="020B0604020202020204" pitchFamily="34" charset="0"/>
              <a:buChar char="•"/>
            </a:pPr>
            <a:r>
              <a:rPr lang="en-US" sz="2400" b="1" dirty="0">
                <a:solidFill>
                  <a:srgbClr val="C00000"/>
                </a:solidFill>
                <a:latin typeface="Verdana" panose="020B0604030504040204" pitchFamily="34" charset="0"/>
              </a:rPr>
              <a:t>Examples</a:t>
            </a:r>
            <a:r>
              <a:rPr lang="en-US" sz="2400" dirty="0">
                <a:solidFill>
                  <a:srgbClr val="000000"/>
                </a:solidFill>
                <a:latin typeface="Verdana" panose="020B0604030504040204" pitchFamily="34" charset="0"/>
              </a:rPr>
              <a:t> of synchronous sequential circuits include counters, registers, memory units, control units, etc.</a:t>
            </a:r>
            <a:endParaRPr lang="en-US" sz="2400" b="0" i="0" dirty="0">
              <a:solidFill>
                <a:srgbClr val="000000"/>
              </a:solidFill>
              <a:effectLst/>
              <a:latin typeface="Verdana" panose="020B0604030504040204" pitchFamily="34" charset="0"/>
            </a:endParaRPr>
          </a:p>
        </p:txBody>
      </p:sp>
    </p:spTree>
    <p:extLst>
      <p:ext uri="{BB962C8B-B14F-4D97-AF65-F5344CB8AC3E}">
        <p14:creationId xmlns:p14="http://schemas.microsoft.com/office/powerpoint/2010/main" val="744610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711A0-F699-4AA6-897C-8F82F36C5676}"/>
              </a:ext>
            </a:extLst>
          </p:cNvPr>
          <p:cNvSpPr>
            <a:spLocks noGrp="1"/>
          </p:cNvSpPr>
          <p:nvPr>
            <p:ph type="title"/>
          </p:nvPr>
        </p:nvSpPr>
        <p:spPr>
          <a:xfrm>
            <a:off x="609600" y="274638"/>
            <a:ext cx="10972800" cy="457199"/>
          </a:xfrm>
        </p:spPr>
        <p:txBody>
          <a:bodyPr>
            <a:normAutofit fontScale="90000"/>
          </a:bodyPr>
          <a:lstStyle/>
          <a:p>
            <a:pPr algn="l"/>
            <a:br>
              <a:rPr lang="en-IN" b="1" dirty="0">
                <a:solidFill>
                  <a:srgbClr val="C00000"/>
                </a:solidFill>
              </a:rPr>
            </a:br>
            <a:r>
              <a:rPr lang="en-IN" b="1" dirty="0" err="1">
                <a:solidFill>
                  <a:srgbClr val="C00000"/>
                </a:solidFill>
              </a:rPr>
              <a:t>Asynchrnous</a:t>
            </a:r>
            <a:r>
              <a:rPr lang="en-IN" b="1" dirty="0">
                <a:solidFill>
                  <a:srgbClr val="C00000"/>
                </a:solidFill>
              </a:rPr>
              <a:t> Sequential Circuit</a:t>
            </a:r>
            <a:br>
              <a:rPr lang="en-IN" b="1" dirty="0">
                <a:solidFill>
                  <a:srgbClr val="C00000"/>
                </a:solidFill>
              </a:rPr>
            </a:br>
            <a:endParaRPr lang="en-IN" b="1" dirty="0">
              <a:solidFill>
                <a:srgbClr val="C00000"/>
              </a:solidFill>
            </a:endParaRPr>
          </a:p>
        </p:txBody>
      </p:sp>
      <p:sp>
        <p:nvSpPr>
          <p:cNvPr id="7" name="Rectangle 6">
            <a:extLst>
              <a:ext uri="{FF2B5EF4-FFF2-40B4-BE49-F238E27FC236}">
                <a16:creationId xmlns:a16="http://schemas.microsoft.com/office/drawing/2014/main" id="{1A4D2164-C83D-42BF-A3ED-16982B0360E0}"/>
              </a:ext>
            </a:extLst>
          </p:cNvPr>
          <p:cNvSpPr/>
          <p:nvPr/>
        </p:nvSpPr>
        <p:spPr>
          <a:xfrm>
            <a:off x="371364" y="792161"/>
            <a:ext cx="11449272" cy="4424737"/>
          </a:xfrm>
          <a:prstGeom prst="rect">
            <a:avLst/>
          </a:prstGeom>
        </p:spPr>
        <p:txBody>
          <a:bodyPr wrap="square">
            <a:spAutoFit/>
          </a:bodyPr>
          <a:lstStyle/>
          <a:p>
            <a:pPr marL="457200" indent="-457200" algn="just">
              <a:lnSpc>
                <a:spcPct val="150000"/>
              </a:lnSpc>
              <a:buFont typeface="Arial" panose="020B0604020202020204" pitchFamily="34" charset="0"/>
              <a:buChar char="•"/>
            </a:pPr>
            <a:r>
              <a:rPr lang="en-US" sz="3200" dirty="0">
                <a:solidFill>
                  <a:srgbClr val="000000"/>
                </a:solidFill>
                <a:latin typeface="Verdana" panose="020B0604030504040204" pitchFamily="34" charset="0"/>
              </a:rPr>
              <a:t>A type of sequential circuit whose operation does </a:t>
            </a:r>
            <a:r>
              <a:rPr lang="en-US" sz="3200" b="1" dirty="0">
                <a:solidFill>
                  <a:srgbClr val="7030A0"/>
                </a:solidFill>
                <a:latin typeface="Verdana" panose="020B0604030504040204" pitchFamily="34" charset="0"/>
              </a:rPr>
              <a:t>not depend on the clock signals </a:t>
            </a:r>
            <a:r>
              <a:rPr lang="en-US" sz="3200" dirty="0">
                <a:solidFill>
                  <a:srgbClr val="000000"/>
                </a:solidFill>
                <a:latin typeface="Verdana" panose="020B0604030504040204" pitchFamily="34" charset="0"/>
              </a:rPr>
              <a:t>is known as an </a:t>
            </a:r>
            <a:r>
              <a:rPr lang="en-US" sz="3200" b="1" dirty="0">
                <a:solidFill>
                  <a:srgbClr val="000000"/>
                </a:solidFill>
                <a:latin typeface="inherit"/>
              </a:rPr>
              <a:t>asynchronous sequential circuit</a:t>
            </a:r>
            <a:r>
              <a:rPr lang="en-US" sz="3200" dirty="0">
                <a:solidFill>
                  <a:srgbClr val="000000"/>
                </a:solidFill>
                <a:latin typeface="Verdana" panose="020B0604030504040204" pitchFamily="34" charset="0"/>
              </a:rPr>
              <a:t>. </a:t>
            </a:r>
          </a:p>
          <a:p>
            <a:pPr marL="457200" indent="-457200" algn="just">
              <a:lnSpc>
                <a:spcPct val="150000"/>
              </a:lnSpc>
              <a:buFont typeface="Arial" panose="020B0604020202020204" pitchFamily="34" charset="0"/>
              <a:buChar char="•"/>
            </a:pPr>
            <a:r>
              <a:rPr lang="en-US" sz="3200" dirty="0">
                <a:solidFill>
                  <a:srgbClr val="000000"/>
                </a:solidFill>
                <a:latin typeface="Verdana" panose="020B0604030504040204" pitchFamily="34" charset="0"/>
              </a:rPr>
              <a:t>The main components of the asynchronous sequential circuits include un-clocked flip flops and combinational logic circuits.</a:t>
            </a:r>
            <a:endParaRPr lang="en-US" sz="3200" b="0" i="0" dirty="0">
              <a:solidFill>
                <a:srgbClr val="000000"/>
              </a:solidFill>
              <a:effectLst/>
              <a:latin typeface="Verdana" panose="020B0604030504040204" pitchFamily="34" charset="0"/>
            </a:endParaRPr>
          </a:p>
        </p:txBody>
      </p:sp>
    </p:spTree>
    <p:extLst>
      <p:ext uri="{BB962C8B-B14F-4D97-AF65-F5344CB8AC3E}">
        <p14:creationId xmlns:p14="http://schemas.microsoft.com/office/powerpoint/2010/main" val="16215307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D519349-811C-4ED5-9712-72FE99AFBECC}"/>
              </a:ext>
            </a:extLst>
          </p:cNvPr>
          <p:cNvPicPr>
            <a:picLocks noChangeAspect="1"/>
          </p:cNvPicPr>
          <p:nvPr/>
        </p:nvPicPr>
        <p:blipFill>
          <a:blip r:embed="rId2"/>
          <a:stretch>
            <a:fillRect/>
          </a:stretch>
        </p:blipFill>
        <p:spPr>
          <a:xfrm>
            <a:off x="3071664" y="404664"/>
            <a:ext cx="6722236" cy="3024336"/>
          </a:xfrm>
          <a:prstGeom prst="rect">
            <a:avLst/>
          </a:prstGeom>
        </p:spPr>
      </p:pic>
      <p:sp>
        <p:nvSpPr>
          <p:cNvPr id="8" name="Rectangle 7">
            <a:extLst>
              <a:ext uri="{FF2B5EF4-FFF2-40B4-BE49-F238E27FC236}">
                <a16:creationId xmlns:a16="http://schemas.microsoft.com/office/drawing/2014/main" id="{37E0F3A6-C179-4CE6-BC4E-65342A439D39}"/>
              </a:ext>
            </a:extLst>
          </p:cNvPr>
          <p:cNvSpPr/>
          <p:nvPr/>
        </p:nvSpPr>
        <p:spPr>
          <a:xfrm>
            <a:off x="2279576" y="3573016"/>
            <a:ext cx="8856984" cy="369332"/>
          </a:xfrm>
          <a:prstGeom prst="rect">
            <a:avLst/>
          </a:prstGeom>
        </p:spPr>
        <p:txBody>
          <a:bodyPr wrap="square">
            <a:spAutoFit/>
          </a:bodyPr>
          <a:lstStyle/>
          <a:p>
            <a:r>
              <a:rPr lang="en-US" b="1" dirty="0">
                <a:solidFill>
                  <a:srgbClr val="000000"/>
                </a:solidFill>
                <a:latin typeface="Verdana" panose="020B0604030504040204" pitchFamily="34" charset="0"/>
              </a:rPr>
              <a:t>Fig. Block diagram of an asynchronous sequential circuit</a:t>
            </a:r>
            <a:endParaRPr lang="en-IN" dirty="0"/>
          </a:p>
        </p:txBody>
      </p:sp>
    </p:spTree>
    <p:extLst>
      <p:ext uri="{BB962C8B-B14F-4D97-AF65-F5344CB8AC3E}">
        <p14:creationId xmlns:p14="http://schemas.microsoft.com/office/powerpoint/2010/main" val="29999419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48D264D2-AE91-4FFC-933D-175952B76900}"/>
              </a:ext>
            </a:extLst>
          </p:cNvPr>
          <p:cNvSpPr>
            <a:spLocks noGrp="1"/>
          </p:cNvSpPr>
          <p:nvPr>
            <p:ph sz="quarter" idx="4"/>
          </p:nvPr>
        </p:nvSpPr>
        <p:spPr>
          <a:xfrm>
            <a:off x="263352" y="332656"/>
            <a:ext cx="11593288" cy="6120680"/>
          </a:xfrm>
        </p:spPr>
        <p:txBody>
          <a:bodyPr>
            <a:normAutofit/>
          </a:bodyPr>
          <a:lstStyle/>
          <a:p>
            <a:pPr algn="just">
              <a:lnSpc>
                <a:spcPct val="150000"/>
              </a:lnSpc>
            </a:pPr>
            <a:r>
              <a:rPr lang="en-US" sz="2800" dirty="0"/>
              <a:t>From this diagram, it is clear that an </a:t>
            </a:r>
            <a:r>
              <a:rPr lang="en-US" sz="2800" b="1" dirty="0">
                <a:solidFill>
                  <a:srgbClr val="7030A0"/>
                </a:solidFill>
              </a:rPr>
              <a:t>asynchronous sequential circuit is similar to a combinational logic circuit with a feedback mechanism.</a:t>
            </a:r>
          </a:p>
          <a:p>
            <a:pPr algn="just">
              <a:lnSpc>
                <a:spcPct val="150000"/>
              </a:lnSpc>
            </a:pPr>
            <a:r>
              <a:rPr lang="en-US" sz="2800" dirty="0"/>
              <a:t>Asynchronous sequential circuits are mainly </a:t>
            </a:r>
            <a:r>
              <a:rPr lang="en-US" sz="2800" b="1" dirty="0">
                <a:solidFill>
                  <a:srgbClr val="C00000"/>
                </a:solidFill>
              </a:rPr>
              <a:t>used in applications where the clock signals are not available.</a:t>
            </a:r>
          </a:p>
          <a:p>
            <a:pPr algn="just">
              <a:lnSpc>
                <a:spcPct val="150000"/>
              </a:lnSpc>
            </a:pPr>
            <a:r>
              <a:rPr lang="en-US" sz="2800" dirty="0"/>
              <a:t>Asynchronous sequential circuits are </a:t>
            </a:r>
            <a:r>
              <a:rPr lang="en-US" sz="2800" b="1" dirty="0">
                <a:solidFill>
                  <a:srgbClr val="00B050"/>
                </a:solidFill>
              </a:rPr>
              <a:t>relatively difficult to design and sometimes they produce </a:t>
            </a:r>
            <a:r>
              <a:rPr lang="en-US" sz="2800" b="1" dirty="0">
                <a:solidFill>
                  <a:srgbClr val="7030A0"/>
                </a:solidFill>
              </a:rPr>
              <a:t>uncertain output.</a:t>
            </a:r>
          </a:p>
          <a:p>
            <a:pPr algn="just">
              <a:lnSpc>
                <a:spcPct val="150000"/>
              </a:lnSpc>
            </a:pPr>
            <a:r>
              <a:rPr lang="en-US" sz="2800" dirty="0"/>
              <a:t>The </a:t>
            </a:r>
            <a:r>
              <a:rPr lang="en-US" sz="2800" b="1" dirty="0"/>
              <a:t>ripple counter</a:t>
            </a:r>
            <a:r>
              <a:rPr lang="en-US" sz="2800" dirty="0"/>
              <a:t> is a common example of asynchronous sequential circuit.</a:t>
            </a:r>
          </a:p>
          <a:p>
            <a:pPr algn="just">
              <a:lnSpc>
                <a:spcPct val="150000"/>
              </a:lnSpc>
            </a:pPr>
            <a:endParaRPr lang="en-IN" sz="2800" dirty="0"/>
          </a:p>
        </p:txBody>
      </p:sp>
    </p:spTree>
    <p:extLst>
      <p:ext uri="{BB962C8B-B14F-4D97-AF65-F5344CB8AC3E}">
        <p14:creationId xmlns:p14="http://schemas.microsoft.com/office/powerpoint/2010/main" val="42339151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056" y="71921"/>
            <a:ext cx="10972800" cy="1143000"/>
          </a:xfrm>
        </p:spPr>
        <p:txBody>
          <a:bodyPr>
            <a:noAutofit/>
          </a:bodyPr>
          <a:lstStyle/>
          <a:p>
            <a:r>
              <a:rPr lang="en-US" sz="3600" dirty="0">
                <a:solidFill>
                  <a:srgbClr val="C00000"/>
                </a:solidFill>
              </a:rPr>
              <a:t>Difference between Synchronous and Asynchronous Sequential Circuits</a:t>
            </a:r>
            <a:endParaRPr lang="en-IN" sz="3600" dirty="0">
              <a:solidFill>
                <a:srgbClr val="C00000"/>
              </a:solidFill>
            </a:endParaRPr>
          </a:p>
        </p:txBody>
      </p:sp>
      <p:sp>
        <p:nvSpPr>
          <p:cNvPr id="3" name="Text Placeholder 2"/>
          <p:cNvSpPr>
            <a:spLocks noGrp="1"/>
          </p:cNvSpPr>
          <p:nvPr>
            <p:ph type="body" idx="1"/>
          </p:nvPr>
        </p:nvSpPr>
        <p:spPr>
          <a:xfrm>
            <a:off x="1127448" y="895040"/>
            <a:ext cx="4040188" cy="639762"/>
          </a:xfrm>
        </p:spPr>
        <p:txBody>
          <a:bodyPr>
            <a:normAutofit fontScale="92500"/>
          </a:bodyPr>
          <a:lstStyle/>
          <a:p>
            <a:pPr algn="ctr"/>
            <a:r>
              <a:rPr lang="en-US" dirty="0">
                <a:solidFill>
                  <a:srgbClr val="0070C0"/>
                </a:solidFill>
              </a:rPr>
              <a:t>Synchronous Sequential Circuit</a:t>
            </a:r>
            <a:endParaRPr lang="en-IN" dirty="0">
              <a:solidFill>
                <a:srgbClr val="0070C0"/>
              </a:solidFill>
            </a:endParaRPr>
          </a:p>
        </p:txBody>
      </p:sp>
      <p:sp>
        <p:nvSpPr>
          <p:cNvPr id="4" name="Content Placeholder 3"/>
          <p:cNvSpPr>
            <a:spLocks noGrp="1"/>
          </p:cNvSpPr>
          <p:nvPr>
            <p:ph sz="half" idx="2"/>
          </p:nvPr>
        </p:nvSpPr>
        <p:spPr>
          <a:xfrm>
            <a:off x="466056" y="1534802"/>
            <a:ext cx="5542012" cy="3951288"/>
          </a:xfrm>
        </p:spPr>
        <p:txBody>
          <a:bodyPr>
            <a:normAutofit/>
          </a:bodyPr>
          <a:lstStyle/>
          <a:p>
            <a:pPr algn="just"/>
            <a:r>
              <a:rPr lang="en-US" dirty="0"/>
              <a:t>A sequential circuit whose output behavior depends on the input at a discrete-time is called synchronous sequential circuits. </a:t>
            </a:r>
            <a:endParaRPr lang="en-IN" dirty="0">
              <a:solidFill>
                <a:srgbClr val="002060"/>
              </a:solidFill>
            </a:endParaRPr>
          </a:p>
        </p:txBody>
      </p:sp>
      <p:sp>
        <p:nvSpPr>
          <p:cNvPr id="5" name="Text Placeholder 4"/>
          <p:cNvSpPr>
            <a:spLocks noGrp="1"/>
          </p:cNvSpPr>
          <p:nvPr>
            <p:ph type="body" sz="quarter" idx="3"/>
          </p:nvPr>
        </p:nvSpPr>
        <p:spPr>
          <a:xfrm>
            <a:off x="6672064" y="900223"/>
            <a:ext cx="4041775" cy="639762"/>
          </a:xfrm>
        </p:spPr>
        <p:txBody>
          <a:bodyPr>
            <a:normAutofit fontScale="92500"/>
          </a:bodyPr>
          <a:lstStyle/>
          <a:p>
            <a:pPr algn="ctr"/>
            <a:r>
              <a:rPr lang="en-US" dirty="0">
                <a:solidFill>
                  <a:srgbClr val="0070C0"/>
                </a:solidFill>
              </a:rPr>
              <a:t>Asynchronous Sequential Circuit</a:t>
            </a:r>
            <a:endParaRPr lang="en-IN" dirty="0">
              <a:solidFill>
                <a:srgbClr val="0070C0"/>
              </a:solidFill>
            </a:endParaRPr>
          </a:p>
        </p:txBody>
      </p:sp>
      <p:sp>
        <p:nvSpPr>
          <p:cNvPr id="6" name="Content Placeholder 5"/>
          <p:cNvSpPr>
            <a:spLocks noGrp="1"/>
          </p:cNvSpPr>
          <p:nvPr>
            <p:ph sz="quarter" idx="4"/>
          </p:nvPr>
        </p:nvSpPr>
        <p:spPr>
          <a:xfrm>
            <a:off x="6169026" y="1772816"/>
            <a:ext cx="4041775" cy="3951288"/>
          </a:xfrm>
        </p:spPr>
        <p:txBody>
          <a:bodyPr>
            <a:normAutofit/>
          </a:bodyPr>
          <a:lstStyle/>
          <a:p>
            <a:pPr algn="just"/>
            <a:r>
              <a:rPr lang="en-US" sz="2000" dirty="0"/>
              <a:t>The sequential circuit whose output depends on the sequence in which the input changes are called asynchronous sequential circuits.</a:t>
            </a:r>
            <a:endParaRPr lang="en-IN" sz="20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7409" y="3359360"/>
            <a:ext cx="4379416" cy="3165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2064" y="3510446"/>
            <a:ext cx="3876675" cy="3165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67391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wipe(down)">
                                      <p:cBhvr>
                                        <p:cTn id="17" dur="500"/>
                                        <p:tgtEl>
                                          <p:spTgt spid="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4">
                                            <p:txEl>
                                              <p:pRg st="0" end="0"/>
                                            </p:txEl>
                                          </p:spTgt>
                                        </p:tgtEl>
                                        <p:attrNameLst>
                                          <p:attrName>style.visibility</p:attrName>
                                        </p:attrNameLst>
                                      </p:cBhvr>
                                      <p:to>
                                        <p:strVal val="visible"/>
                                      </p:to>
                                    </p:set>
                                    <p:anim calcmode="lin" valueType="num">
                                      <p:cBhvr additive="base">
                                        <p:cTn id="22"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nodeType="clickEffect">
                                  <p:stCondLst>
                                    <p:cond delay="0"/>
                                  </p:stCondLst>
                                  <p:childTnLst>
                                    <p:set>
                                      <p:cBhvr>
                                        <p:cTn id="27" dur="1" fill="hold">
                                          <p:stCondLst>
                                            <p:cond delay="0"/>
                                          </p:stCondLst>
                                        </p:cTn>
                                        <p:tgtEl>
                                          <p:spTgt spid="2050"/>
                                        </p:tgtEl>
                                        <p:attrNameLst>
                                          <p:attrName>style.visibility</p:attrName>
                                        </p:attrNameLst>
                                      </p:cBhvr>
                                      <p:to>
                                        <p:strVal val="visible"/>
                                      </p:to>
                                    </p:set>
                                    <p:animEffect transition="in" filter="barn(inVertical)">
                                      <p:cBhvr>
                                        <p:cTn id="28" dur="500"/>
                                        <p:tgtEl>
                                          <p:spTgt spid="2050"/>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6">
                                            <p:txEl>
                                              <p:pRg st="0" end="0"/>
                                            </p:txEl>
                                          </p:spTgt>
                                        </p:tgtEl>
                                        <p:attrNameLst>
                                          <p:attrName>style.visibility</p:attrName>
                                        </p:attrNameLst>
                                      </p:cBhvr>
                                      <p:to>
                                        <p:strVal val="visible"/>
                                      </p:to>
                                    </p:set>
                                    <p:anim calcmode="lin" valueType="num">
                                      <p:cBhvr additive="base">
                                        <p:cTn id="33"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nodeType="clickEffect">
                                  <p:stCondLst>
                                    <p:cond delay="0"/>
                                  </p:stCondLst>
                                  <p:childTnLst>
                                    <p:set>
                                      <p:cBhvr>
                                        <p:cTn id="38" dur="1" fill="hold">
                                          <p:stCondLst>
                                            <p:cond delay="0"/>
                                          </p:stCondLst>
                                        </p:cTn>
                                        <p:tgtEl>
                                          <p:spTgt spid="2051"/>
                                        </p:tgtEl>
                                        <p:attrNameLst>
                                          <p:attrName>style.visibility</p:attrName>
                                        </p:attrNameLst>
                                      </p:cBhvr>
                                      <p:to>
                                        <p:strVal val="visible"/>
                                      </p:to>
                                    </p:set>
                                    <p:animEffect transition="in" filter="barn(inVertical)">
                                      <p:cBhvr>
                                        <p:cTn id="39" dur="500"/>
                                        <p:tgtEl>
                                          <p:spTgt spid="20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86270" y="332656"/>
            <a:ext cx="5612432" cy="5904656"/>
          </a:xfrm>
        </p:spPr>
        <p:txBody>
          <a:bodyPr>
            <a:noAutofit/>
          </a:bodyPr>
          <a:lstStyle/>
          <a:p>
            <a:pPr algn="just"/>
            <a:r>
              <a:rPr lang="en-US" sz="2400" dirty="0"/>
              <a:t>Synchronous sequential circuits are digital circuits governed by clock signals.</a:t>
            </a:r>
          </a:p>
          <a:p>
            <a:pPr algn="just"/>
            <a:endParaRPr lang="en-US" sz="1800" dirty="0"/>
          </a:p>
          <a:p>
            <a:pPr algn="just"/>
            <a:r>
              <a:rPr lang="en-US" sz="2400" dirty="0"/>
              <a:t>Output behavior depends on the input at discrete time.</a:t>
            </a:r>
          </a:p>
          <a:p>
            <a:pPr algn="just"/>
            <a:r>
              <a:rPr lang="en-US" sz="2400" dirty="0"/>
              <a:t>In synchronous sequential circuits memory elements are used like clocked flip flop.</a:t>
            </a:r>
          </a:p>
          <a:p>
            <a:pPr algn="just"/>
            <a:endParaRPr lang="en-US" sz="1800" dirty="0"/>
          </a:p>
          <a:p>
            <a:pPr algn="just"/>
            <a:r>
              <a:rPr lang="en-US" sz="2400" dirty="0"/>
              <a:t>Synchronous sequential circuits are easier to describe, analyze and design.</a:t>
            </a:r>
          </a:p>
          <a:p>
            <a:pPr algn="just"/>
            <a:r>
              <a:rPr lang="en-US" sz="2400" dirty="0"/>
              <a:t>Due to the presence of clock pulse the operating speed of synchronous sequential circuits is low.</a:t>
            </a:r>
          </a:p>
          <a:p>
            <a:pPr algn="just"/>
            <a:r>
              <a:rPr lang="en-US" sz="2400" dirty="0"/>
              <a:t>In these circuits change in state occurs in response to clock pulse.</a:t>
            </a:r>
            <a:endParaRPr lang="en-IN" sz="2400" dirty="0"/>
          </a:p>
        </p:txBody>
      </p:sp>
      <p:sp>
        <p:nvSpPr>
          <p:cNvPr id="4" name="Content Placeholder 3"/>
          <p:cNvSpPr>
            <a:spLocks noGrp="1"/>
          </p:cNvSpPr>
          <p:nvPr>
            <p:ph sz="half" idx="2"/>
          </p:nvPr>
        </p:nvSpPr>
        <p:spPr>
          <a:xfrm>
            <a:off x="6166273" y="188640"/>
            <a:ext cx="5756448" cy="5904656"/>
          </a:xfrm>
        </p:spPr>
        <p:txBody>
          <a:bodyPr>
            <a:noAutofit/>
          </a:bodyPr>
          <a:lstStyle/>
          <a:p>
            <a:pPr algn="just"/>
            <a:r>
              <a:rPr lang="en-US" sz="2400" dirty="0"/>
              <a:t>Asynchronous sequential circuits are digital circuits that are not driven by clock. They can be called as </a:t>
            </a:r>
            <a:r>
              <a:rPr lang="en-US" sz="2400" i="1" dirty="0">
                <a:solidFill>
                  <a:srgbClr val="002060"/>
                </a:solidFill>
              </a:rPr>
              <a:t>self-timed circuits</a:t>
            </a:r>
            <a:r>
              <a:rPr lang="en-US" sz="2400" i="1" dirty="0"/>
              <a:t>.</a:t>
            </a:r>
          </a:p>
          <a:p>
            <a:pPr algn="just"/>
            <a:r>
              <a:rPr lang="en-US" sz="2400" dirty="0"/>
              <a:t>Output depends on the sequence in which the input changes.</a:t>
            </a:r>
          </a:p>
          <a:p>
            <a:pPr algn="just"/>
            <a:r>
              <a:rPr lang="en-US" sz="2400" dirty="0"/>
              <a:t>In asynchronous sequential circuits un-clocked memory elements are used like un-clocked flip flop or time delay elements.</a:t>
            </a:r>
          </a:p>
          <a:p>
            <a:pPr algn="just"/>
            <a:r>
              <a:rPr lang="en-US" sz="2400" dirty="0"/>
              <a:t>Asynchronous sequential circuits are more difficult to describe, analyze and design.</a:t>
            </a:r>
          </a:p>
          <a:p>
            <a:pPr algn="just"/>
            <a:r>
              <a:rPr lang="en-US" sz="2400" dirty="0"/>
              <a:t>Because of absence of clock pulse, it can be operate faster than synchronous sequential circuits.</a:t>
            </a:r>
          </a:p>
          <a:p>
            <a:pPr algn="just"/>
            <a:r>
              <a:rPr lang="en-US" sz="2400" dirty="0"/>
              <a:t>In these circuits state change occurs whenever input variable change.</a:t>
            </a:r>
            <a:endParaRPr lang="en-IN" sz="2400" dirty="0"/>
          </a:p>
        </p:txBody>
      </p:sp>
    </p:spTree>
    <p:extLst>
      <p:ext uri="{BB962C8B-B14F-4D97-AF65-F5344CB8AC3E}">
        <p14:creationId xmlns:p14="http://schemas.microsoft.com/office/powerpoint/2010/main" val="553787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 calcmode="lin" valueType="num">
                                      <p:cBhvr additive="base">
                                        <p:cTn id="13"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anim calcmode="lin" valueType="num">
                                      <p:cBhvr additive="base">
                                        <p:cTn id="25"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
                                            <p:txEl>
                                              <p:pRg st="2" end="2"/>
                                            </p:txEl>
                                          </p:spTgt>
                                        </p:tgtEl>
                                        <p:attrNameLst>
                                          <p:attrName>style.visibility</p:attrName>
                                        </p:attrNameLst>
                                      </p:cBhvr>
                                      <p:to>
                                        <p:strVal val="visible"/>
                                      </p:to>
                                    </p:set>
                                    <p:anim calcmode="lin" valueType="num">
                                      <p:cBhvr additive="base">
                                        <p:cTn id="3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anim calcmode="lin" valueType="num">
                                      <p:cBhvr additive="base">
                                        <p:cTn id="4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4">
                                            <p:txEl>
                                              <p:pRg st="3" end="3"/>
                                            </p:txEl>
                                          </p:spTgt>
                                        </p:tgtEl>
                                        <p:attrNameLst>
                                          <p:attrName>style.visibility</p:attrName>
                                        </p:attrNameLst>
                                      </p:cBhvr>
                                      <p:to>
                                        <p:strVal val="visible"/>
                                      </p:to>
                                    </p:set>
                                    <p:anim calcmode="lin" valueType="num">
                                      <p:cBhvr additive="base">
                                        <p:cTn id="4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6" end="6"/>
                                            </p:txEl>
                                          </p:spTgt>
                                        </p:tgtEl>
                                        <p:attrNameLst>
                                          <p:attrName>style.visibility</p:attrName>
                                        </p:attrNameLst>
                                      </p:cBhvr>
                                      <p:to>
                                        <p:strVal val="visible"/>
                                      </p:to>
                                    </p:set>
                                    <p:anim calcmode="lin" valueType="num">
                                      <p:cBhvr additive="base">
                                        <p:cTn id="5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4">
                                            <p:txEl>
                                              <p:pRg st="4" end="4"/>
                                            </p:txEl>
                                          </p:spTgt>
                                        </p:tgtEl>
                                        <p:attrNameLst>
                                          <p:attrName>style.visibility</p:attrName>
                                        </p:attrNameLst>
                                      </p:cBhvr>
                                      <p:to>
                                        <p:strVal val="visible"/>
                                      </p:to>
                                    </p:set>
                                    <p:anim calcmode="lin" valueType="num">
                                      <p:cBhvr additive="base">
                                        <p:cTn id="61"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3">
                                            <p:txEl>
                                              <p:pRg st="7" end="7"/>
                                            </p:txEl>
                                          </p:spTgt>
                                        </p:tgtEl>
                                        <p:attrNameLst>
                                          <p:attrName>style.visibility</p:attrName>
                                        </p:attrNameLst>
                                      </p:cBhvr>
                                      <p:to>
                                        <p:strVal val="visible"/>
                                      </p:to>
                                    </p:set>
                                    <p:anim calcmode="lin" valueType="num">
                                      <p:cBhvr additive="base">
                                        <p:cTn id="6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4">
                                            <p:txEl>
                                              <p:pRg st="5" end="5"/>
                                            </p:txEl>
                                          </p:spTgt>
                                        </p:tgtEl>
                                        <p:attrNameLst>
                                          <p:attrName>style.visibility</p:attrName>
                                        </p:attrNameLst>
                                      </p:cBhvr>
                                      <p:to>
                                        <p:strVal val="visible"/>
                                      </p:to>
                                    </p:set>
                                    <p:anim calcmode="lin" valueType="num">
                                      <p:cBhvr additive="base">
                                        <p:cTn id="73"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BC455-E309-4DB6-9159-97E64FCAD309}"/>
              </a:ext>
            </a:extLst>
          </p:cNvPr>
          <p:cNvSpPr>
            <a:spLocks noGrp="1"/>
          </p:cNvSpPr>
          <p:nvPr>
            <p:ph type="title"/>
          </p:nvPr>
        </p:nvSpPr>
        <p:spPr>
          <a:xfrm>
            <a:off x="119336" y="260648"/>
            <a:ext cx="10972800" cy="634082"/>
          </a:xfrm>
        </p:spPr>
        <p:txBody>
          <a:bodyPr>
            <a:normAutofit fontScale="90000"/>
          </a:bodyPr>
          <a:lstStyle/>
          <a:p>
            <a:pPr algn="l"/>
            <a:r>
              <a:rPr lang="en-IN" dirty="0">
                <a:solidFill>
                  <a:srgbClr val="C00000"/>
                </a:solidFill>
              </a:rPr>
              <a:t>Storage elements</a:t>
            </a:r>
          </a:p>
        </p:txBody>
      </p:sp>
      <p:sp>
        <p:nvSpPr>
          <p:cNvPr id="4" name="Content Placeholder 3">
            <a:extLst>
              <a:ext uri="{FF2B5EF4-FFF2-40B4-BE49-F238E27FC236}">
                <a16:creationId xmlns:a16="http://schemas.microsoft.com/office/drawing/2014/main" id="{9B484616-C7FD-4426-89C4-8042D1579AA6}"/>
              </a:ext>
            </a:extLst>
          </p:cNvPr>
          <p:cNvSpPr>
            <a:spLocks noGrp="1"/>
          </p:cNvSpPr>
          <p:nvPr>
            <p:ph sz="half" idx="2"/>
          </p:nvPr>
        </p:nvSpPr>
        <p:spPr>
          <a:xfrm>
            <a:off x="362363" y="894730"/>
            <a:ext cx="10873208" cy="4495229"/>
          </a:xfrm>
        </p:spPr>
        <p:txBody>
          <a:bodyPr>
            <a:normAutofit/>
          </a:bodyPr>
          <a:lstStyle/>
          <a:p>
            <a:pPr algn="just">
              <a:lnSpc>
                <a:spcPct val="150000"/>
              </a:lnSpc>
            </a:pPr>
            <a:r>
              <a:rPr lang="en-US" sz="3200" dirty="0"/>
              <a:t>Storage elements in digital electronics are circuits, primarily latches and flip-flops, that maintain a binary state (0 or 1) until a new input or clock signal directs them to change.</a:t>
            </a:r>
          </a:p>
          <a:p>
            <a:pPr>
              <a:lnSpc>
                <a:spcPct val="150000"/>
              </a:lnSpc>
            </a:pPr>
            <a:r>
              <a:rPr lang="en-US" sz="3200" dirty="0"/>
              <a:t>Latches are </a:t>
            </a:r>
            <a:r>
              <a:rPr lang="en-US" sz="3200" b="1" dirty="0">
                <a:solidFill>
                  <a:srgbClr val="C00000"/>
                </a:solidFill>
              </a:rPr>
              <a:t>level-sensitive,</a:t>
            </a:r>
            <a:r>
              <a:rPr lang="en-US" sz="3200" dirty="0"/>
              <a:t> changing their state when the input level meets certain criteria.</a:t>
            </a:r>
          </a:p>
          <a:p>
            <a:endParaRPr lang="en-US" sz="2400" dirty="0"/>
          </a:p>
          <a:p>
            <a:endParaRPr lang="en-IN" sz="2400" dirty="0"/>
          </a:p>
        </p:txBody>
      </p:sp>
      <p:sp>
        <p:nvSpPr>
          <p:cNvPr id="5" name="Rectangle 1">
            <a:extLst>
              <a:ext uri="{FF2B5EF4-FFF2-40B4-BE49-F238E27FC236}">
                <a16:creationId xmlns:a16="http://schemas.microsoft.com/office/drawing/2014/main" id="{B154AE9B-EB69-489F-8814-1B0305590039}"/>
              </a:ext>
            </a:extLst>
          </p:cNvPr>
          <p:cNvSpPr>
            <a:spLocks noChangeArrowheads="1"/>
          </p:cNvSpPr>
          <p:nvPr/>
        </p:nvSpPr>
        <p:spPr bwMode="auto">
          <a:xfrm rot="10800000" flipH="1" flipV="1">
            <a:off x="362363" y="4919960"/>
            <a:ext cx="11467274" cy="202514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88872" rIns="0" bIns="179331"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Arial" panose="020B0604020202020204" pitchFamily="34" charset="0"/>
              <a:buChar char="•"/>
            </a:pPr>
            <a:r>
              <a:rPr lang="en-US" altLang="en-US" sz="3200" dirty="0">
                <a:solidFill>
                  <a:srgbClr val="001D35"/>
                </a:solidFill>
                <a:latin typeface="Google Sans"/>
              </a:rPr>
              <a:t>Flip-Flops are </a:t>
            </a:r>
            <a:r>
              <a:rPr lang="en-US" altLang="en-US" sz="3200" b="1" dirty="0">
                <a:solidFill>
                  <a:srgbClr val="7030A0"/>
                </a:solidFill>
                <a:latin typeface="Google Sans"/>
              </a:rPr>
              <a:t>edge-triggered</a:t>
            </a:r>
            <a:r>
              <a:rPr lang="en-US" altLang="en-US" sz="3200" dirty="0">
                <a:solidFill>
                  <a:srgbClr val="001D35"/>
                </a:solidFill>
                <a:latin typeface="Google Sans"/>
              </a:rPr>
              <a:t> means </a:t>
            </a:r>
            <a:r>
              <a:rPr kumimoji="0" lang="en-US" altLang="en-US" sz="3200" b="0" i="0" u="none" strike="noStrike" cap="none" normalizeH="0" baseline="0" dirty="0">
                <a:ln>
                  <a:noFill/>
                </a:ln>
                <a:solidFill>
                  <a:srgbClr val="001D35"/>
                </a:solidFill>
                <a:effectLst/>
                <a:latin typeface="Google Sans"/>
              </a:rPr>
              <a:t> flip-flop's state changes only at the exact moment a clock pulse transitions (e.g., from low to high).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162270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41FA-8998-48CA-8162-158F18BAE1EE}"/>
              </a:ext>
            </a:extLst>
          </p:cNvPr>
          <p:cNvSpPr>
            <a:spLocks noGrp="1"/>
          </p:cNvSpPr>
          <p:nvPr>
            <p:ph type="title"/>
          </p:nvPr>
        </p:nvSpPr>
        <p:spPr>
          <a:xfrm>
            <a:off x="191344" y="0"/>
            <a:ext cx="10972800" cy="850106"/>
          </a:xfrm>
        </p:spPr>
        <p:txBody>
          <a:bodyPr>
            <a:normAutofit fontScale="90000"/>
          </a:bodyPr>
          <a:lstStyle/>
          <a:p>
            <a:pPr algn="l"/>
            <a:br>
              <a:rPr lang="en-IN" sz="4900" b="1" dirty="0">
                <a:solidFill>
                  <a:srgbClr val="C00000"/>
                </a:solidFill>
              </a:rPr>
            </a:br>
            <a:r>
              <a:rPr lang="en-IN" sz="4900" b="1" dirty="0">
                <a:solidFill>
                  <a:srgbClr val="C00000"/>
                </a:solidFill>
              </a:rPr>
              <a:t>What is a Latch?</a:t>
            </a:r>
            <a:br>
              <a:rPr lang="en-IN" dirty="0"/>
            </a:br>
            <a:endParaRPr lang="en-IN" dirty="0"/>
          </a:p>
        </p:txBody>
      </p:sp>
      <p:sp>
        <p:nvSpPr>
          <p:cNvPr id="3" name="Content Placeholder 2">
            <a:extLst>
              <a:ext uri="{FF2B5EF4-FFF2-40B4-BE49-F238E27FC236}">
                <a16:creationId xmlns:a16="http://schemas.microsoft.com/office/drawing/2014/main" id="{4583E7F8-2CA1-4D32-8249-29ED67C2C49F}"/>
              </a:ext>
            </a:extLst>
          </p:cNvPr>
          <p:cNvSpPr>
            <a:spLocks noGrp="1"/>
          </p:cNvSpPr>
          <p:nvPr>
            <p:ph idx="1"/>
          </p:nvPr>
        </p:nvSpPr>
        <p:spPr>
          <a:xfrm>
            <a:off x="329841" y="860425"/>
            <a:ext cx="11532318" cy="5808935"/>
          </a:xfrm>
        </p:spPr>
        <p:txBody>
          <a:bodyPr>
            <a:normAutofit fontScale="92500"/>
          </a:bodyPr>
          <a:lstStyle/>
          <a:p>
            <a:pPr>
              <a:lnSpc>
                <a:spcPct val="150000"/>
              </a:lnSpc>
            </a:pPr>
            <a:r>
              <a:rPr lang="en-US" sz="2800" dirty="0"/>
              <a:t>A latch is an asynchronous sequential circuit whose output changes immediately with the change in the applied input.</a:t>
            </a:r>
          </a:p>
          <a:p>
            <a:pPr>
              <a:lnSpc>
                <a:spcPct val="150000"/>
              </a:lnSpc>
            </a:pPr>
            <a:r>
              <a:rPr lang="en-US" sz="2800" dirty="0"/>
              <a:t>It can store 1-bit information. </a:t>
            </a:r>
          </a:p>
          <a:p>
            <a:pPr>
              <a:lnSpc>
                <a:spcPct val="150000"/>
              </a:lnSpc>
            </a:pPr>
            <a:r>
              <a:rPr lang="en-US" sz="2800" dirty="0"/>
              <a:t>It is used as the fundamental memory element in digital circuits.</a:t>
            </a:r>
          </a:p>
          <a:p>
            <a:pPr>
              <a:lnSpc>
                <a:spcPct val="150000"/>
              </a:lnSpc>
            </a:pPr>
            <a:r>
              <a:rPr lang="en-US" sz="2800" dirty="0"/>
              <a:t>A latch can have two stable states namely, </a:t>
            </a:r>
            <a:r>
              <a:rPr lang="en-US" sz="2800" b="1" dirty="0"/>
              <a:t>set</a:t>
            </a:r>
            <a:r>
              <a:rPr lang="en-US" sz="2800" dirty="0"/>
              <a:t> and </a:t>
            </a:r>
            <a:r>
              <a:rPr lang="en-US" sz="2800" b="1" dirty="0"/>
              <a:t>reset</a:t>
            </a:r>
            <a:r>
              <a:rPr lang="en-US" sz="2800" dirty="0"/>
              <a:t>. </a:t>
            </a:r>
          </a:p>
          <a:p>
            <a:pPr>
              <a:lnSpc>
                <a:spcPct val="150000"/>
              </a:lnSpc>
            </a:pPr>
            <a:r>
              <a:rPr lang="en-US" sz="2800" dirty="0"/>
              <a:t>The </a:t>
            </a:r>
            <a:r>
              <a:rPr lang="en-US" sz="2800" b="1" dirty="0"/>
              <a:t>set state is denoted by the logic 1 </a:t>
            </a:r>
            <a:r>
              <a:rPr lang="en-US" sz="2800" dirty="0"/>
              <a:t>and the </a:t>
            </a:r>
            <a:r>
              <a:rPr lang="en-US" sz="2800" b="1" dirty="0">
                <a:solidFill>
                  <a:srgbClr val="7030A0"/>
                </a:solidFill>
              </a:rPr>
              <a:t>reset state is represented by the logic 0.</a:t>
            </a:r>
          </a:p>
          <a:p>
            <a:pPr>
              <a:lnSpc>
                <a:spcPct val="150000"/>
              </a:lnSpc>
            </a:pPr>
            <a:r>
              <a:rPr lang="en-US" sz="2800" dirty="0"/>
              <a:t> Due to these two stable states, a latch is also known as a </a:t>
            </a:r>
            <a:r>
              <a:rPr lang="en-US" sz="2800" b="1" dirty="0" err="1"/>
              <a:t>bistable-multivibrator</a:t>
            </a:r>
            <a:r>
              <a:rPr lang="en-US" sz="2800" dirty="0"/>
              <a:t>. </a:t>
            </a:r>
            <a:endParaRPr lang="en-IN" sz="2800" dirty="0"/>
          </a:p>
        </p:txBody>
      </p:sp>
    </p:spTree>
    <p:extLst>
      <p:ext uri="{BB962C8B-B14F-4D97-AF65-F5344CB8AC3E}">
        <p14:creationId xmlns:p14="http://schemas.microsoft.com/office/powerpoint/2010/main" val="18184991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94A377-7614-4E3B-AE6B-00F5E2C6FDF8}"/>
              </a:ext>
            </a:extLst>
          </p:cNvPr>
          <p:cNvSpPr>
            <a:spLocks noGrp="1"/>
          </p:cNvSpPr>
          <p:nvPr>
            <p:ph idx="1"/>
          </p:nvPr>
        </p:nvSpPr>
        <p:spPr>
          <a:xfrm>
            <a:off x="335360" y="332656"/>
            <a:ext cx="11593288" cy="4525963"/>
          </a:xfrm>
        </p:spPr>
        <p:txBody>
          <a:bodyPr/>
          <a:lstStyle/>
          <a:p>
            <a:pPr algn="just"/>
            <a:r>
              <a:rPr lang="en-US" dirty="0"/>
              <a:t>It does not have a clock signal for synchronization. That is why they are called asynchronous sequential circuits.</a:t>
            </a:r>
          </a:p>
          <a:p>
            <a:pPr algn="just"/>
            <a:r>
              <a:rPr lang="en-US" dirty="0"/>
              <a:t>The latch has two useful states.</a:t>
            </a:r>
          </a:p>
          <a:p>
            <a:pPr lvl="1" algn="just"/>
            <a:r>
              <a:rPr lang="en-US" dirty="0"/>
              <a:t>When output </a:t>
            </a:r>
            <a:r>
              <a:rPr lang="en-US" i="1" dirty="0">
                <a:solidFill>
                  <a:srgbClr val="002060"/>
                </a:solidFill>
              </a:rPr>
              <a:t>Q </a:t>
            </a:r>
            <a:r>
              <a:rPr lang="en-US" dirty="0">
                <a:solidFill>
                  <a:srgbClr val="002060"/>
                </a:solidFill>
              </a:rPr>
              <a:t>= 1</a:t>
            </a:r>
            <a:r>
              <a:rPr lang="en-US" dirty="0"/>
              <a:t> and </a:t>
            </a:r>
            <a:r>
              <a:rPr lang="en-US" i="1" dirty="0">
                <a:solidFill>
                  <a:srgbClr val="002060"/>
                </a:solidFill>
              </a:rPr>
              <a:t>Q’</a:t>
            </a:r>
            <a:r>
              <a:rPr lang="en-US" dirty="0">
                <a:solidFill>
                  <a:srgbClr val="002060"/>
                </a:solidFill>
              </a:rPr>
              <a:t> = 0</a:t>
            </a:r>
            <a:r>
              <a:rPr lang="en-US" dirty="0"/>
              <a:t>, the latch is said to be in the </a:t>
            </a:r>
            <a:r>
              <a:rPr lang="en-US" i="1" dirty="0">
                <a:solidFill>
                  <a:srgbClr val="002060"/>
                </a:solidFill>
              </a:rPr>
              <a:t>set state</a:t>
            </a:r>
            <a:r>
              <a:rPr lang="en-US" dirty="0"/>
              <a:t>.</a:t>
            </a:r>
          </a:p>
          <a:p>
            <a:pPr lvl="1" algn="just"/>
            <a:r>
              <a:rPr lang="en-US" dirty="0"/>
              <a:t>When </a:t>
            </a:r>
            <a:r>
              <a:rPr lang="en-US" i="1" dirty="0">
                <a:solidFill>
                  <a:srgbClr val="002060"/>
                </a:solidFill>
              </a:rPr>
              <a:t>Q </a:t>
            </a:r>
            <a:r>
              <a:rPr lang="en-US" dirty="0">
                <a:solidFill>
                  <a:srgbClr val="002060"/>
                </a:solidFill>
              </a:rPr>
              <a:t>= 0</a:t>
            </a:r>
            <a:r>
              <a:rPr lang="en-US" dirty="0"/>
              <a:t> and </a:t>
            </a:r>
            <a:r>
              <a:rPr lang="en-US" i="1" dirty="0">
                <a:solidFill>
                  <a:srgbClr val="002060"/>
                </a:solidFill>
              </a:rPr>
              <a:t>Q’</a:t>
            </a:r>
            <a:r>
              <a:rPr lang="en-US" dirty="0">
                <a:solidFill>
                  <a:srgbClr val="002060"/>
                </a:solidFill>
              </a:rPr>
              <a:t> = 1</a:t>
            </a:r>
            <a:r>
              <a:rPr lang="en-US" dirty="0"/>
              <a:t>, it is in the </a:t>
            </a:r>
            <a:r>
              <a:rPr lang="en-US" i="1" dirty="0">
                <a:solidFill>
                  <a:srgbClr val="002060"/>
                </a:solidFill>
              </a:rPr>
              <a:t>reset state</a:t>
            </a:r>
            <a:r>
              <a:rPr lang="en-US" dirty="0"/>
              <a:t>.</a:t>
            </a:r>
          </a:p>
          <a:p>
            <a:pPr algn="just"/>
            <a:r>
              <a:rPr lang="en-US" dirty="0"/>
              <a:t>Outputs </a:t>
            </a:r>
            <a:r>
              <a:rPr lang="en-US" i="1" dirty="0"/>
              <a:t>Q </a:t>
            </a:r>
            <a:r>
              <a:rPr lang="en-US" dirty="0"/>
              <a:t>and </a:t>
            </a:r>
            <a:r>
              <a:rPr lang="en-US" i="1" dirty="0"/>
              <a:t>Q’</a:t>
            </a:r>
            <a:r>
              <a:rPr lang="en-US" dirty="0"/>
              <a:t> are normally the complement of each other.</a:t>
            </a:r>
            <a:endParaRPr lang="en-IN" dirty="0"/>
          </a:p>
          <a:p>
            <a:endParaRPr lang="en-IN" dirty="0"/>
          </a:p>
        </p:txBody>
      </p:sp>
    </p:spTree>
    <p:extLst>
      <p:ext uri="{BB962C8B-B14F-4D97-AF65-F5344CB8AC3E}">
        <p14:creationId xmlns:p14="http://schemas.microsoft.com/office/powerpoint/2010/main" val="6701359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8EAFF-70B5-486F-9A38-08C3A74FD5FB}"/>
              </a:ext>
            </a:extLst>
          </p:cNvPr>
          <p:cNvSpPr>
            <a:spLocks noGrp="1"/>
          </p:cNvSpPr>
          <p:nvPr>
            <p:ph type="title"/>
          </p:nvPr>
        </p:nvSpPr>
        <p:spPr>
          <a:xfrm>
            <a:off x="191344" y="188640"/>
            <a:ext cx="10972800" cy="706090"/>
          </a:xfrm>
        </p:spPr>
        <p:txBody>
          <a:bodyPr>
            <a:normAutofit fontScale="90000"/>
          </a:bodyPr>
          <a:lstStyle/>
          <a:p>
            <a:pPr algn="l"/>
            <a:br>
              <a:rPr lang="en-IN" sz="4900" b="1" dirty="0">
                <a:solidFill>
                  <a:srgbClr val="C00000"/>
                </a:solidFill>
              </a:rPr>
            </a:br>
            <a:r>
              <a:rPr lang="en-IN" sz="4900" b="1" dirty="0">
                <a:solidFill>
                  <a:srgbClr val="C00000"/>
                </a:solidFill>
              </a:rPr>
              <a:t>Types of Latches</a:t>
            </a:r>
            <a:br>
              <a:rPr lang="en-IN" dirty="0"/>
            </a:br>
            <a:endParaRPr lang="en-IN" dirty="0"/>
          </a:p>
        </p:txBody>
      </p:sp>
      <p:sp>
        <p:nvSpPr>
          <p:cNvPr id="3" name="Content Placeholder 2">
            <a:extLst>
              <a:ext uri="{FF2B5EF4-FFF2-40B4-BE49-F238E27FC236}">
                <a16:creationId xmlns:a16="http://schemas.microsoft.com/office/drawing/2014/main" id="{523FBC04-F13E-40A7-86A0-7258B076EBDF}"/>
              </a:ext>
            </a:extLst>
          </p:cNvPr>
          <p:cNvSpPr>
            <a:spLocks noGrp="1"/>
          </p:cNvSpPr>
          <p:nvPr>
            <p:ph idx="1"/>
          </p:nvPr>
        </p:nvSpPr>
        <p:spPr>
          <a:xfrm>
            <a:off x="479376" y="1166018"/>
            <a:ext cx="10972800" cy="5359326"/>
          </a:xfrm>
        </p:spPr>
        <p:txBody>
          <a:bodyPr>
            <a:normAutofit lnSpcReduction="10000"/>
          </a:bodyPr>
          <a:lstStyle/>
          <a:p>
            <a:pPr marL="0" indent="0">
              <a:buNone/>
            </a:pPr>
            <a:r>
              <a:rPr lang="en-US" dirty="0"/>
              <a:t>Latches are divided into the following types  in digital circuits;</a:t>
            </a:r>
          </a:p>
          <a:p>
            <a:pPr>
              <a:lnSpc>
                <a:spcPct val="200000"/>
              </a:lnSpc>
              <a:buFont typeface="Wingdings" panose="05000000000000000000" pitchFamily="2" charset="2"/>
              <a:buChar char="§"/>
            </a:pPr>
            <a:r>
              <a:rPr lang="en-US" sz="3600" dirty="0">
                <a:solidFill>
                  <a:srgbClr val="7030A0"/>
                </a:solidFill>
              </a:rPr>
              <a:t>SR Latch</a:t>
            </a:r>
          </a:p>
          <a:p>
            <a:pPr>
              <a:lnSpc>
                <a:spcPct val="200000"/>
              </a:lnSpc>
              <a:buFont typeface="Wingdings" panose="05000000000000000000" pitchFamily="2" charset="2"/>
              <a:buChar char="§"/>
            </a:pPr>
            <a:r>
              <a:rPr lang="en-US" sz="3600" dirty="0">
                <a:solidFill>
                  <a:srgbClr val="7030A0"/>
                </a:solidFill>
              </a:rPr>
              <a:t>JK Latch</a:t>
            </a:r>
          </a:p>
          <a:p>
            <a:pPr>
              <a:lnSpc>
                <a:spcPct val="200000"/>
              </a:lnSpc>
              <a:buFont typeface="Wingdings" panose="05000000000000000000" pitchFamily="2" charset="2"/>
              <a:buChar char="§"/>
            </a:pPr>
            <a:r>
              <a:rPr lang="en-US" sz="3600" dirty="0">
                <a:solidFill>
                  <a:srgbClr val="7030A0"/>
                </a:solidFill>
              </a:rPr>
              <a:t>D Latch</a:t>
            </a:r>
          </a:p>
          <a:p>
            <a:pPr>
              <a:lnSpc>
                <a:spcPct val="200000"/>
              </a:lnSpc>
              <a:buFont typeface="Wingdings" panose="05000000000000000000" pitchFamily="2" charset="2"/>
              <a:buChar char="§"/>
            </a:pPr>
            <a:r>
              <a:rPr lang="en-US" sz="3600" dirty="0">
                <a:solidFill>
                  <a:srgbClr val="7030A0"/>
                </a:solidFill>
              </a:rPr>
              <a:t>T Latch</a:t>
            </a:r>
          </a:p>
          <a:p>
            <a:endParaRPr lang="en-IN" dirty="0"/>
          </a:p>
        </p:txBody>
      </p:sp>
    </p:spTree>
    <p:extLst>
      <p:ext uri="{BB962C8B-B14F-4D97-AF65-F5344CB8AC3E}">
        <p14:creationId xmlns:p14="http://schemas.microsoft.com/office/powerpoint/2010/main" val="37201110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7CF98-BB6A-4816-8ABE-655A27E7923E}"/>
              </a:ext>
            </a:extLst>
          </p:cNvPr>
          <p:cNvSpPr>
            <a:spLocks noGrp="1"/>
          </p:cNvSpPr>
          <p:nvPr>
            <p:ph type="title"/>
          </p:nvPr>
        </p:nvSpPr>
        <p:spPr>
          <a:xfrm>
            <a:off x="321568" y="260648"/>
            <a:ext cx="10972800" cy="850106"/>
          </a:xfrm>
        </p:spPr>
        <p:txBody>
          <a:bodyPr>
            <a:normAutofit fontScale="90000"/>
          </a:bodyPr>
          <a:lstStyle/>
          <a:p>
            <a:pPr algn="l"/>
            <a:br>
              <a:rPr lang="en-IN" b="1" dirty="0">
                <a:solidFill>
                  <a:srgbClr val="C00000"/>
                </a:solidFill>
              </a:rPr>
            </a:br>
            <a:r>
              <a:rPr lang="en-IN" b="1" dirty="0">
                <a:solidFill>
                  <a:srgbClr val="C00000"/>
                </a:solidFill>
              </a:rPr>
              <a:t>SR Latch</a:t>
            </a:r>
            <a:br>
              <a:rPr lang="en-IN" b="1" dirty="0">
                <a:solidFill>
                  <a:srgbClr val="C00000"/>
                </a:solidFill>
              </a:rPr>
            </a:br>
            <a:endParaRPr lang="en-IN" b="1" dirty="0">
              <a:solidFill>
                <a:srgbClr val="C00000"/>
              </a:solidFill>
            </a:endParaRPr>
          </a:p>
        </p:txBody>
      </p:sp>
      <p:pic>
        <p:nvPicPr>
          <p:cNvPr id="4" name="Picture 3">
            <a:extLst>
              <a:ext uri="{FF2B5EF4-FFF2-40B4-BE49-F238E27FC236}">
                <a16:creationId xmlns:a16="http://schemas.microsoft.com/office/drawing/2014/main" id="{F766CB26-89C4-48D4-A0B6-37CB30289605}"/>
              </a:ext>
            </a:extLst>
          </p:cNvPr>
          <p:cNvPicPr>
            <a:picLocks noChangeAspect="1"/>
          </p:cNvPicPr>
          <p:nvPr/>
        </p:nvPicPr>
        <p:blipFill>
          <a:blip r:embed="rId2"/>
          <a:stretch>
            <a:fillRect/>
          </a:stretch>
        </p:blipFill>
        <p:spPr>
          <a:xfrm>
            <a:off x="695400" y="3438923"/>
            <a:ext cx="4896544" cy="2798389"/>
          </a:xfrm>
          <a:prstGeom prst="rect">
            <a:avLst/>
          </a:prstGeom>
        </p:spPr>
      </p:pic>
      <p:sp>
        <p:nvSpPr>
          <p:cNvPr id="5" name="Rectangle 4">
            <a:extLst>
              <a:ext uri="{FF2B5EF4-FFF2-40B4-BE49-F238E27FC236}">
                <a16:creationId xmlns:a16="http://schemas.microsoft.com/office/drawing/2014/main" id="{FA9E6F8D-AE9C-428A-A6F1-25BDC4073594}"/>
              </a:ext>
            </a:extLst>
          </p:cNvPr>
          <p:cNvSpPr/>
          <p:nvPr/>
        </p:nvSpPr>
        <p:spPr>
          <a:xfrm>
            <a:off x="321568" y="1110754"/>
            <a:ext cx="11247040" cy="2308324"/>
          </a:xfrm>
          <a:prstGeom prst="rect">
            <a:avLst/>
          </a:prstGeom>
        </p:spPr>
        <p:txBody>
          <a:bodyPr wrap="square">
            <a:spAutoFit/>
          </a:bodyPr>
          <a:lstStyle/>
          <a:p>
            <a:pPr marL="342900" indent="-342900">
              <a:buFont typeface="Arial" panose="020B0604020202020204" pitchFamily="34" charset="0"/>
              <a:buChar char="•"/>
            </a:pPr>
            <a:r>
              <a:rPr lang="en-US" sz="2400" dirty="0">
                <a:solidFill>
                  <a:srgbClr val="000000"/>
                </a:solidFill>
                <a:latin typeface="Verdana" panose="020B0604030504040204" pitchFamily="34" charset="0"/>
              </a:rPr>
              <a:t>The SR latch is a type of latch which has two input lines designated as S and R. </a:t>
            </a:r>
          </a:p>
          <a:p>
            <a:pPr marL="342900" indent="-342900">
              <a:buFont typeface="Arial" panose="020B0604020202020204" pitchFamily="34" charset="0"/>
              <a:buChar char="•"/>
            </a:pPr>
            <a:r>
              <a:rPr lang="en-US" sz="2400" dirty="0">
                <a:solidFill>
                  <a:srgbClr val="000000"/>
                </a:solidFill>
                <a:latin typeface="Verdana" panose="020B0604030504040204" pitchFamily="34" charset="0"/>
              </a:rPr>
              <a:t>Where, </a:t>
            </a:r>
            <a:r>
              <a:rPr lang="en-US" sz="2400" b="1" dirty="0">
                <a:solidFill>
                  <a:srgbClr val="7030A0"/>
                </a:solidFill>
                <a:latin typeface="Verdana" panose="020B0604030504040204" pitchFamily="34" charset="0"/>
              </a:rPr>
              <a:t>S</a:t>
            </a:r>
            <a:r>
              <a:rPr lang="en-US" sz="2400" dirty="0">
                <a:solidFill>
                  <a:srgbClr val="000000"/>
                </a:solidFill>
                <a:latin typeface="Verdana" panose="020B0604030504040204" pitchFamily="34" charset="0"/>
              </a:rPr>
              <a:t> represents the </a:t>
            </a:r>
            <a:r>
              <a:rPr lang="en-US" sz="2400" b="1" dirty="0">
                <a:solidFill>
                  <a:srgbClr val="7030A0"/>
                </a:solidFill>
                <a:latin typeface="Verdana" panose="020B0604030504040204" pitchFamily="34" charset="0"/>
              </a:rPr>
              <a:t>Set </a:t>
            </a:r>
            <a:r>
              <a:rPr lang="en-US" sz="2400" dirty="0">
                <a:solidFill>
                  <a:srgbClr val="000000"/>
                </a:solidFill>
                <a:latin typeface="Verdana" panose="020B0604030504040204" pitchFamily="34" charset="0"/>
              </a:rPr>
              <a:t>input and </a:t>
            </a:r>
            <a:r>
              <a:rPr lang="en-US" sz="2400" b="1" dirty="0">
                <a:solidFill>
                  <a:srgbClr val="7030A0"/>
                </a:solidFill>
                <a:latin typeface="Verdana" panose="020B0604030504040204" pitchFamily="34" charset="0"/>
              </a:rPr>
              <a:t>R </a:t>
            </a:r>
            <a:r>
              <a:rPr lang="en-US" sz="2400" dirty="0">
                <a:solidFill>
                  <a:srgbClr val="000000"/>
                </a:solidFill>
                <a:latin typeface="Verdana" panose="020B0604030504040204" pitchFamily="34" charset="0"/>
              </a:rPr>
              <a:t>represents the </a:t>
            </a:r>
            <a:r>
              <a:rPr lang="en-US" sz="2400" b="1" dirty="0">
                <a:solidFill>
                  <a:srgbClr val="7030A0"/>
                </a:solidFill>
                <a:latin typeface="Verdana" panose="020B0604030504040204" pitchFamily="34" charset="0"/>
              </a:rPr>
              <a:t>Reset input</a:t>
            </a:r>
            <a:r>
              <a:rPr lang="en-US" sz="2400" dirty="0">
                <a:solidFill>
                  <a:srgbClr val="000000"/>
                </a:solidFill>
                <a:latin typeface="Verdana" panose="020B0604030504040204" pitchFamily="34" charset="0"/>
              </a:rPr>
              <a:t>. Thus, it is also known as </a:t>
            </a:r>
            <a:r>
              <a:rPr lang="en-US" sz="2400" b="1" dirty="0">
                <a:solidFill>
                  <a:srgbClr val="000000"/>
                </a:solidFill>
                <a:latin typeface="inherit"/>
              </a:rPr>
              <a:t>Set-Reset Latch</a:t>
            </a:r>
            <a:r>
              <a:rPr lang="en-US" sz="2400" dirty="0">
                <a:solidFill>
                  <a:srgbClr val="000000"/>
                </a:solidFill>
                <a:latin typeface="Verdana" panose="020B0604030504040204" pitchFamily="34" charset="0"/>
              </a:rPr>
              <a:t>.</a:t>
            </a:r>
          </a:p>
          <a:p>
            <a:pPr marL="342900" indent="-342900">
              <a:buFont typeface="Arial" panose="020B0604020202020204" pitchFamily="34" charset="0"/>
              <a:buChar char="•"/>
            </a:pPr>
            <a:r>
              <a:rPr lang="en-US" sz="2400" dirty="0">
                <a:solidFill>
                  <a:srgbClr val="000000"/>
                </a:solidFill>
                <a:latin typeface="Verdana" panose="020B0604030504040204" pitchFamily="34" charset="0"/>
              </a:rPr>
              <a:t>The SR latch has two stable states namely Set state (S) and Reset state (R). </a:t>
            </a:r>
            <a:endParaRPr lang="en-US" sz="2400" b="0" i="0" dirty="0">
              <a:solidFill>
                <a:srgbClr val="000000"/>
              </a:solidFill>
              <a:effectLst/>
              <a:latin typeface="Verdana" panose="020B0604030504040204" pitchFamily="34" charset="0"/>
            </a:endParaRPr>
          </a:p>
        </p:txBody>
      </p:sp>
      <p:sp>
        <p:nvSpPr>
          <p:cNvPr id="6" name="Rectangle 5">
            <a:extLst>
              <a:ext uri="{FF2B5EF4-FFF2-40B4-BE49-F238E27FC236}">
                <a16:creationId xmlns:a16="http://schemas.microsoft.com/office/drawing/2014/main" id="{56554FE0-FA7F-4DC2-BD1F-FB909D9CDD7F}"/>
              </a:ext>
            </a:extLst>
          </p:cNvPr>
          <p:cNvSpPr/>
          <p:nvPr/>
        </p:nvSpPr>
        <p:spPr>
          <a:xfrm>
            <a:off x="1334939" y="6228020"/>
            <a:ext cx="4570482" cy="369332"/>
          </a:xfrm>
          <a:prstGeom prst="rect">
            <a:avLst/>
          </a:prstGeom>
        </p:spPr>
        <p:txBody>
          <a:bodyPr wrap="none">
            <a:spAutoFit/>
          </a:bodyPr>
          <a:lstStyle/>
          <a:p>
            <a:r>
              <a:rPr lang="en-US" b="1" dirty="0">
                <a:solidFill>
                  <a:srgbClr val="000000"/>
                </a:solidFill>
                <a:latin typeface="Verdana" panose="020B0604030504040204" pitchFamily="34" charset="0"/>
              </a:rPr>
              <a:t>Fig. Block diagram of the SR latch</a:t>
            </a:r>
            <a:endParaRPr lang="en-IN" b="1" dirty="0"/>
          </a:p>
        </p:txBody>
      </p:sp>
      <p:sp>
        <p:nvSpPr>
          <p:cNvPr id="7" name="Rectangle 6">
            <a:extLst>
              <a:ext uri="{FF2B5EF4-FFF2-40B4-BE49-F238E27FC236}">
                <a16:creationId xmlns:a16="http://schemas.microsoft.com/office/drawing/2014/main" id="{20875AA6-2F98-4D5A-BF28-9BCD68B695F1}"/>
              </a:ext>
            </a:extLst>
          </p:cNvPr>
          <p:cNvSpPr/>
          <p:nvPr/>
        </p:nvSpPr>
        <p:spPr>
          <a:xfrm>
            <a:off x="5836368" y="3257550"/>
            <a:ext cx="6096000" cy="1754326"/>
          </a:xfrm>
          <a:prstGeom prst="rect">
            <a:avLst/>
          </a:prstGeom>
        </p:spPr>
        <p:txBody>
          <a:bodyPr>
            <a:spAutoFit/>
          </a:bodyPr>
          <a:lstStyle/>
          <a:p>
            <a:r>
              <a:rPr lang="en-US" sz="3600" dirty="0">
                <a:solidFill>
                  <a:srgbClr val="273239"/>
                </a:solidFill>
                <a:latin typeface="Nunito"/>
              </a:rPr>
              <a:t>The S input sets the output (Q) to 1, while the R input resets the output(Q) to 0.</a:t>
            </a:r>
            <a:endParaRPr lang="en-IN" sz="3600" dirty="0"/>
          </a:p>
        </p:txBody>
      </p:sp>
      <p:sp>
        <p:nvSpPr>
          <p:cNvPr id="8" name="TextBox 7">
            <a:extLst>
              <a:ext uri="{FF2B5EF4-FFF2-40B4-BE49-F238E27FC236}">
                <a16:creationId xmlns:a16="http://schemas.microsoft.com/office/drawing/2014/main" id="{C0CC9DAA-96D4-4FE6-A011-FA28EE343572}"/>
              </a:ext>
            </a:extLst>
          </p:cNvPr>
          <p:cNvSpPr txBox="1"/>
          <p:nvPr/>
        </p:nvSpPr>
        <p:spPr>
          <a:xfrm>
            <a:off x="6286581" y="5208637"/>
            <a:ext cx="4824536" cy="1077218"/>
          </a:xfrm>
          <a:prstGeom prst="rect">
            <a:avLst/>
          </a:prstGeom>
          <a:noFill/>
        </p:spPr>
        <p:txBody>
          <a:bodyPr wrap="square" rtlCol="0">
            <a:spAutoFit/>
          </a:bodyPr>
          <a:lstStyle/>
          <a:p>
            <a:r>
              <a:rPr lang="en-US" sz="3200" b="1" i="1" dirty="0">
                <a:solidFill>
                  <a:srgbClr val="7030A0"/>
                </a:solidFill>
              </a:rPr>
              <a:t>When S = 1, Q = 1, Set</a:t>
            </a:r>
          </a:p>
          <a:p>
            <a:r>
              <a:rPr lang="en-US" sz="3200" b="1" i="1" dirty="0">
                <a:solidFill>
                  <a:srgbClr val="7030A0"/>
                </a:solidFill>
              </a:rPr>
              <a:t>When R=1, Q=0, Reset</a:t>
            </a:r>
            <a:endParaRPr lang="en-IN" sz="3200" b="1" i="1" dirty="0">
              <a:solidFill>
                <a:srgbClr val="7030A0"/>
              </a:solidFill>
            </a:endParaRPr>
          </a:p>
        </p:txBody>
      </p:sp>
    </p:spTree>
    <p:extLst>
      <p:ext uri="{BB962C8B-B14F-4D97-AF65-F5344CB8AC3E}">
        <p14:creationId xmlns:p14="http://schemas.microsoft.com/office/powerpoint/2010/main" val="23651585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i="1" dirty="0">
                <a:solidFill>
                  <a:srgbClr val="0070C0"/>
                </a:solidFill>
              </a:rPr>
              <a:t>SR </a:t>
            </a:r>
            <a:r>
              <a:rPr lang="en-IN" dirty="0">
                <a:solidFill>
                  <a:srgbClr val="0070C0"/>
                </a:solidFill>
              </a:rPr>
              <a:t>Latch</a:t>
            </a:r>
            <a:endParaRPr lang="en-IN" dirty="0"/>
          </a:p>
        </p:txBody>
      </p:sp>
      <p:sp>
        <p:nvSpPr>
          <p:cNvPr id="3" name="Content Placeholder 2"/>
          <p:cNvSpPr>
            <a:spLocks noGrp="1"/>
          </p:cNvSpPr>
          <p:nvPr>
            <p:ph idx="1"/>
          </p:nvPr>
        </p:nvSpPr>
        <p:spPr>
          <a:xfrm>
            <a:off x="407368" y="1268761"/>
            <a:ext cx="11305256" cy="4525963"/>
          </a:xfrm>
        </p:spPr>
        <p:txBody>
          <a:bodyPr/>
          <a:lstStyle/>
          <a:p>
            <a:pPr algn="just"/>
            <a:r>
              <a:rPr lang="en-US" dirty="0"/>
              <a:t>The </a:t>
            </a:r>
            <a:r>
              <a:rPr lang="en-US" i="1" dirty="0"/>
              <a:t>SR </a:t>
            </a:r>
            <a:r>
              <a:rPr lang="en-US" dirty="0"/>
              <a:t>latch is a circuit with two cross-coupled NOR gates or two cross-coupled NAND gates, and two inputs labeled </a:t>
            </a:r>
            <a:r>
              <a:rPr lang="en-US" i="1" dirty="0">
                <a:solidFill>
                  <a:srgbClr val="002060"/>
                </a:solidFill>
              </a:rPr>
              <a:t>S</a:t>
            </a:r>
            <a:r>
              <a:rPr lang="en-US" i="1" dirty="0"/>
              <a:t> </a:t>
            </a:r>
            <a:r>
              <a:rPr lang="en-US" dirty="0"/>
              <a:t>for set and </a:t>
            </a:r>
            <a:r>
              <a:rPr lang="en-US" i="1" dirty="0">
                <a:solidFill>
                  <a:srgbClr val="002060"/>
                </a:solidFill>
              </a:rPr>
              <a:t>R</a:t>
            </a:r>
            <a:r>
              <a:rPr lang="en-US" i="1" dirty="0"/>
              <a:t> </a:t>
            </a:r>
            <a:r>
              <a:rPr lang="en-US" dirty="0"/>
              <a:t>for reset.</a:t>
            </a:r>
          </a:p>
          <a:p>
            <a:endParaRPr lang="en-IN" dirty="0"/>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7649" y="3621758"/>
            <a:ext cx="2813245" cy="18789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33034" y="3621758"/>
            <a:ext cx="2419350" cy="189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7076388" y="5723964"/>
            <a:ext cx="2620013" cy="369332"/>
          </a:xfrm>
          <a:prstGeom prst="rect">
            <a:avLst/>
          </a:prstGeom>
        </p:spPr>
        <p:txBody>
          <a:bodyPr wrap="none">
            <a:spAutoFit/>
          </a:bodyPr>
          <a:lstStyle/>
          <a:p>
            <a:r>
              <a:rPr lang="en-US" b="1" i="1" dirty="0"/>
              <a:t>SR </a:t>
            </a:r>
            <a:r>
              <a:rPr lang="en-US" b="1" dirty="0"/>
              <a:t>latch with NAND gates</a:t>
            </a:r>
            <a:endParaRPr lang="en-IN" dirty="0"/>
          </a:p>
        </p:txBody>
      </p:sp>
      <p:sp>
        <p:nvSpPr>
          <p:cNvPr id="7" name="Rectangle 6"/>
          <p:cNvSpPr/>
          <p:nvPr/>
        </p:nvSpPr>
        <p:spPr>
          <a:xfrm>
            <a:off x="3071665" y="5723964"/>
            <a:ext cx="2467727" cy="369332"/>
          </a:xfrm>
          <a:prstGeom prst="rect">
            <a:avLst/>
          </a:prstGeom>
        </p:spPr>
        <p:txBody>
          <a:bodyPr wrap="none">
            <a:spAutoFit/>
          </a:bodyPr>
          <a:lstStyle/>
          <a:p>
            <a:r>
              <a:rPr lang="en-US" b="1" i="1" dirty="0"/>
              <a:t>SR </a:t>
            </a:r>
            <a:r>
              <a:rPr lang="en-US" b="1" dirty="0"/>
              <a:t>latch with NOR gates</a:t>
            </a:r>
            <a:endParaRPr lang="en-IN" dirty="0"/>
          </a:p>
        </p:txBody>
      </p:sp>
    </p:spTree>
    <p:extLst>
      <p:ext uri="{BB962C8B-B14F-4D97-AF65-F5344CB8AC3E}">
        <p14:creationId xmlns:p14="http://schemas.microsoft.com/office/powerpoint/2010/main" val="3671733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barn(inVertical)">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arn(inVertical)">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rrowheads="1"/>
          </p:cNvSpPr>
          <p:nvPr>
            <p:ph type="title"/>
          </p:nvPr>
        </p:nvSpPr>
        <p:spPr/>
        <p:txBody>
          <a:bodyPr/>
          <a:lstStyle/>
          <a:p>
            <a:r>
              <a:rPr lang="en-US" i="1" dirty="0">
                <a:solidFill>
                  <a:srgbClr val="002060"/>
                </a:solidFill>
              </a:rPr>
              <a:t>SR </a:t>
            </a:r>
            <a:r>
              <a:rPr lang="en-US" dirty="0">
                <a:solidFill>
                  <a:srgbClr val="002060"/>
                </a:solidFill>
              </a:rPr>
              <a:t>latch with NOR gates</a:t>
            </a:r>
            <a:endParaRPr lang="en-US" altLang="zh-CN" dirty="0">
              <a:solidFill>
                <a:srgbClr val="002060"/>
              </a:solidFill>
            </a:endParaRPr>
          </a:p>
        </p:txBody>
      </p:sp>
      <p:sp>
        <p:nvSpPr>
          <p:cNvPr id="20487" name="Line 4"/>
          <p:cNvSpPr>
            <a:spLocks noChangeShapeType="1"/>
          </p:cNvSpPr>
          <p:nvPr/>
        </p:nvSpPr>
        <p:spPr bwMode="auto">
          <a:xfrm>
            <a:off x="4400550" y="4232275"/>
            <a:ext cx="1588"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20519" name="Text Box 42"/>
          <p:cNvSpPr txBox="1">
            <a:spLocks noChangeArrowheads="1"/>
          </p:cNvSpPr>
          <p:nvPr/>
        </p:nvSpPr>
        <p:spPr bwMode="auto">
          <a:xfrm>
            <a:off x="6672065" y="2132857"/>
            <a:ext cx="713657"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zh-CN" altLang="en-US" sz="2800" dirty="0">
                <a:latin typeface="+mj-lt"/>
              </a:rPr>
              <a:t>0</a:t>
            </a:r>
            <a:r>
              <a:rPr lang="en-US" altLang="zh-CN" sz="2800" dirty="0">
                <a:latin typeface="+mj-lt"/>
              </a:rPr>
              <a:t>  </a:t>
            </a:r>
            <a:r>
              <a:rPr lang="zh-CN" altLang="en-US" sz="2800" dirty="0">
                <a:latin typeface="+mj-lt"/>
              </a:rPr>
              <a:t>0</a:t>
            </a:r>
            <a:endParaRPr lang="en-US" altLang="zh-CN" sz="2800" dirty="0">
              <a:latin typeface="+mj-lt"/>
            </a:endParaRPr>
          </a:p>
          <a:p>
            <a:endParaRPr lang="zh-CN" altLang="en-US" sz="2800" dirty="0">
              <a:latin typeface="+mj-lt"/>
            </a:endParaRPr>
          </a:p>
          <a:p>
            <a:r>
              <a:rPr lang="zh-CN" altLang="en-US" sz="2800" dirty="0">
                <a:latin typeface="+mj-lt"/>
              </a:rPr>
              <a:t>0  1</a:t>
            </a:r>
          </a:p>
          <a:p>
            <a:r>
              <a:rPr lang="zh-CN" altLang="en-US" sz="2800" dirty="0">
                <a:latin typeface="+mj-lt"/>
              </a:rPr>
              <a:t>1  0</a:t>
            </a:r>
          </a:p>
          <a:p>
            <a:r>
              <a:rPr lang="zh-CN" altLang="en-US" sz="2800" dirty="0">
                <a:latin typeface="+mj-lt"/>
              </a:rPr>
              <a:t>1  1</a:t>
            </a:r>
          </a:p>
        </p:txBody>
      </p:sp>
      <mc:AlternateContent xmlns:mc="http://schemas.openxmlformats.org/markup-compatibility/2006" xmlns:a14="http://schemas.microsoft.com/office/drawing/2010/main">
        <mc:Choice Requires="a14">
          <p:sp>
            <p:nvSpPr>
              <p:cNvPr id="20520" name="Text Box 43"/>
              <p:cNvSpPr txBox="1">
                <a:spLocks noChangeArrowheads="1"/>
              </p:cNvSpPr>
              <p:nvPr/>
            </p:nvSpPr>
            <p:spPr bwMode="auto">
              <a:xfrm>
                <a:off x="6556290" y="1486908"/>
                <a:ext cx="1915974" cy="57394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pPr/>
                <a14:m>
                  <m:oMathPara xmlns:m="http://schemas.openxmlformats.org/officeDocument/2006/math">
                    <m:oMathParaPr>
                      <m:jc m:val="centerGroup"/>
                    </m:oMathParaPr>
                    <m:oMath xmlns:m="http://schemas.openxmlformats.org/officeDocument/2006/math">
                      <m:r>
                        <a:rPr lang="en-US" altLang="zh-CN" sz="2800" i="1" dirty="0">
                          <a:latin typeface="Cambria Math"/>
                        </a:rPr>
                        <m:t>𝑆</m:t>
                      </m:r>
                      <m:r>
                        <a:rPr lang="en-US" altLang="zh-CN" sz="2800" i="1" dirty="0">
                          <a:latin typeface="Cambria Math"/>
                        </a:rPr>
                        <m:t>  </m:t>
                      </m:r>
                      <m:r>
                        <a:rPr lang="en-US" altLang="zh-CN" sz="2800" i="1" dirty="0">
                          <a:latin typeface="Cambria Math"/>
                        </a:rPr>
                        <m:t>𝑅</m:t>
                      </m:r>
                      <m:r>
                        <a:rPr lang="en-US" altLang="zh-CN" sz="2800" i="1" dirty="0">
                          <a:latin typeface="Cambria Math"/>
                        </a:rPr>
                        <m:t>    </m:t>
                      </m:r>
                      <m:r>
                        <a:rPr lang="en-US" altLang="zh-CN" sz="2800" i="1" dirty="0">
                          <a:latin typeface="Cambria Math"/>
                        </a:rPr>
                        <m:t>𝑄</m:t>
                      </m:r>
                      <m:r>
                        <a:rPr lang="en-US" altLang="zh-CN" sz="2800" i="1" dirty="0">
                          <a:latin typeface="Cambria Math"/>
                        </a:rPr>
                        <m:t>   </m:t>
                      </m:r>
                      <m:bar>
                        <m:barPr>
                          <m:pos m:val="top"/>
                          <m:ctrlPr>
                            <a:rPr lang="en-US" altLang="zh-CN" sz="2800" i="1">
                              <a:latin typeface="Cambria Math" panose="02040503050406030204" pitchFamily="18" charset="0"/>
                            </a:rPr>
                          </m:ctrlPr>
                        </m:barPr>
                        <m:e>
                          <m:r>
                            <a:rPr lang="en-US" altLang="zh-CN" sz="2800" i="1">
                              <a:latin typeface="Cambria Math"/>
                            </a:rPr>
                            <m:t>𝑄</m:t>
                          </m:r>
                        </m:e>
                      </m:bar>
                    </m:oMath>
                  </m:oMathPara>
                </a14:m>
                <a:endParaRPr lang="en-US" altLang="zh-CN" sz="2800" i="1" dirty="0">
                  <a:latin typeface="+mj-lt"/>
                </a:endParaRPr>
              </a:p>
            </p:txBody>
          </p:sp>
        </mc:Choice>
        <mc:Fallback xmlns="">
          <p:sp>
            <p:nvSpPr>
              <p:cNvPr id="20520" name="Text Box 43"/>
              <p:cNvSpPr txBox="1">
                <a:spLocks noRot="1" noChangeAspect="1" noMove="1" noResize="1" noEditPoints="1" noAdjustHandles="1" noChangeArrowheads="1" noChangeShapeType="1" noTextEdit="1"/>
              </p:cNvSpPr>
              <p:nvPr/>
            </p:nvSpPr>
            <p:spPr bwMode="auto">
              <a:xfrm>
                <a:off x="6556290" y="1486908"/>
                <a:ext cx="1915974" cy="573940"/>
              </a:xfrm>
              <a:prstGeom prst="rect">
                <a:avLst/>
              </a:prstGeom>
              <a:blipFill>
                <a:blip r:embed="rId3"/>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N">
                    <a:noFill/>
                  </a:rPr>
                  <a:t> </a:t>
                </a:r>
              </a:p>
            </p:txBody>
          </p:sp>
        </mc:Fallback>
      </mc:AlternateContent>
      <p:sp>
        <p:nvSpPr>
          <p:cNvPr id="20521" name="Line 44"/>
          <p:cNvSpPr>
            <a:spLocks noChangeShapeType="1"/>
          </p:cNvSpPr>
          <p:nvPr/>
        </p:nvSpPr>
        <p:spPr bwMode="auto">
          <a:xfrm>
            <a:off x="6456040" y="2060848"/>
            <a:ext cx="2286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0522" name="Line 45"/>
          <p:cNvSpPr>
            <a:spLocks noChangeShapeType="1"/>
          </p:cNvSpPr>
          <p:nvPr/>
        </p:nvSpPr>
        <p:spPr bwMode="auto">
          <a:xfrm>
            <a:off x="7514278" y="1700808"/>
            <a:ext cx="21883" cy="253305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96654" name="Text Box 46"/>
          <p:cNvSpPr txBox="1">
            <a:spLocks noChangeArrowheads="1"/>
          </p:cNvSpPr>
          <p:nvPr/>
        </p:nvSpPr>
        <p:spPr bwMode="auto">
          <a:xfrm>
            <a:off x="2495600" y="3140968"/>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zh-CN" altLang="en-US" sz="2800" dirty="0">
                <a:solidFill>
                  <a:schemeClr val="hlink"/>
                </a:solidFill>
                <a:latin typeface="+mj-lt"/>
              </a:rPr>
              <a:t>0</a:t>
            </a:r>
          </a:p>
        </p:txBody>
      </p:sp>
      <p:sp>
        <p:nvSpPr>
          <p:cNvPr id="196655" name="Text Box 47"/>
          <p:cNvSpPr txBox="1">
            <a:spLocks noChangeArrowheads="1"/>
          </p:cNvSpPr>
          <p:nvPr/>
        </p:nvSpPr>
        <p:spPr bwMode="auto">
          <a:xfrm>
            <a:off x="2495600" y="1844824"/>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zh-CN" altLang="en-US" sz="2800" dirty="0">
                <a:solidFill>
                  <a:schemeClr val="hlink"/>
                </a:solidFill>
                <a:latin typeface="+mj-lt"/>
              </a:rPr>
              <a:t>1</a:t>
            </a:r>
          </a:p>
        </p:txBody>
      </p:sp>
      <p:sp>
        <p:nvSpPr>
          <p:cNvPr id="196656" name="Text Box 48"/>
          <p:cNvSpPr txBox="1">
            <a:spLocks noChangeArrowheads="1"/>
          </p:cNvSpPr>
          <p:nvPr/>
        </p:nvSpPr>
        <p:spPr bwMode="auto">
          <a:xfrm>
            <a:off x="5656584" y="1988840"/>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endParaRPr lang="zh-CN" altLang="en-US" sz="2800" dirty="0">
              <a:solidFill>
                <a:schemeClr val="hlink"/>
              </a:solidFill>
              <a:latin typeface="+mj-lt"/>
            </a:endParaRPr>
          </a:p>
        </p:txBody>
      </p:sp>
      <p:sp>
        <p:nvSpPr>
          <p:cNvPr id="196657" name="Text Box 49"/>
          <p:cNvSpPr txBox="1">
            <a:spLocks noChangeArrowheads="1"/>
          </p:cNvSpPr>
          <p:nvPr/>
        </p:nvSpPr>
        <p:spPr bwMode="auto">
          <a:xfrm>
            <a:off x="5656584" y="2996952"/>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endParaRPr lang="zh-CN" altLang="en-US" sz="2800" dirty="0">
              <a:solidFill>
                <a:schemeClr val="hlink"/>
              </a:solidFill>
              <a:latin typeface="+mj-lt"/>
            </a:endParaRPr>
          </a:p>
        </p:txBody>
      </p:sp>
      <p:sp>
        <p:nvSpPr>
          <p:cNvPr id="196658" name="Text Box 50"/>
          <p:cNvSpPr txBox="1">
            <a:spLocks noChangeArrowheads="1"/>
          </p:cNvSpPr>
          <p:nvPr/>
        </p:nvSpPr>
        <p:spPr bwMode="auto">
          <a:xfrm>
            <a:off x="7608168" y="2996952"/>
            <a:ext cx="2209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r>
              <a:rPr lang="zh-CN" altLang="en-US" sz="2800" dirty="0">
                <a:solidFill>
                  <a:schemeClr val="hlink"/>
                </a:solidFill>
                <a:latin typeface="+mj-lt"/>
              </a:rPr>
              <a:t>   </a:t>
            </a:r>
            <a:r>
              <a:rPr lang="en-US" altLang="zh-CN" sz="2800" dirty="0">
                <a:solidFill>
                  <a:schemeClr val="hlink"/>
                </a:solidFill>
                <a:latin typeface="+mj-lt"/>
              </a:rPr>
              <a:t>1</a:t>
            </a:r>
            <a:r>
              <a:rPr lang="zh-CN" altLang="en-US" sz="2800" dirty="0">
                <a:solidFill>
                  <a:schemeClr val="hlink"/>
                </a:solidFill>
                <a:latin typeface="+mj-lt"/>
              </a:rPr>
              <a:t>   </a:t>
            </a:r>
            <a:r>
              <a:rPr lang="en-US" altLang="zh-CN" sz="2800" i="1" dirty="0">
                <a:solidFill>
                  <a:srgbClr val="C00000"/>
                </a:solidFill>
                <a:latin typeface="+mj-lt"/>
              </a:rPr>
              <a:t>Reset</a:t>
            </a:r>
          </a:p>
        </p:txBody>
      </p:sp>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7649" y="1921000"/>
            <a:ext cx="2581275" cy="172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95600" y="4709120"/>
            <a:ext cx="276225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3318298" y="3789040"/>
            <a:ext cx="2491003" cy="584775"/>
          </a:xfrm>
          <a:prstGeom prst="rect">
            <a:avLst/>
          </a:prstGeom>
        </p:spPr>
        <p:txBody>
          <a:bodyPr wrap="none">
            <a:spAutoFit/>
          </a:bodyPr>
          <a:lstStyle/>
          <a:p>
            <a:r>
              <a:rPr lang="en-IN" sz="3200" dirty="0"/>
              <a:t>Logic diagram</a:t>
            </a:r>
          </a:p>
        </p:txBody>
      </p:sp>
      <p:sp>
        <p:nvSpPr>
          <p:cNvPr id="3" name="Rectangle 2"/>
          <p:cNvSpPr/>
          <p:nvPr/>
        </p:nvSpPr>
        <p:spPr>
          <a:xfrm>
            <a:off x="6795072" y="4499828"/>
            <a:ext cx="2582566" cy="584775"/>
          </a:xfrm>
          <a:prstGeom prst="rect">
            <a:avLst/>
          </a:prstGeom>
        </p:spPr>
        <p:txBody>
          <a:bodyPr wrap="none">
            <a:spAutoFit/>
          </a:bodyPr>
          <a:lstStyle/>
          <a:p>
            <a:r>
              <a:rPr lang="en-IN" sz="3200" dirty="0"/>
              <a:t>Function table</a:t>
            </a:r>
          </a:p>
        </p:txBody>
      </p:sp>
    </p:spTree>
    <p:extLst>
      <p:ext uri="{BB962C8B-B14F-4D97-AF65-F5344CB8AC3E}">
        <p14:creationId xmlns:p14="http://schemas.microsoft.com/office/powerpoint/2010/main" val="86057137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9665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96655">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96656">
                                            <p:txEl>
                                              <p:pRg st="0" end="0"/>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96657">
                                            <p:txEl>
                                              <p:pRg st="0" end="0"/>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9665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54" grpId="0" build="p" autoUpdateAnimBg="0"/>
      <p:bldP spid="196655" grpId="0" build="p" autoUpdateAnimBg="0"/>
      <p:bldP spid="196656" grpId="0" build="p" autoUpdateAnimBg="0"/>
      <p:bldP spid="196657" grpId="0" build="p" autoUpdateAnimBg="0"/>
      <p:bldP spid="196658" grpId="0" build="p"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rrowheads="1"/>
          </p:cNvSpPr>
          <p:nvPr>
            <p:ph type="title"/>
          </p:nvPr>
        </p:nvSpPr>
        <p:spPr/>
        <p:txBody>
          <a:bodyPr/>
          <a:lstStyle/>
          <a:p>
            <a:r>
              <a:rPr lang="en-US" i="1" dirty="0">
                <a:solidFill>
                  <a:srgbClr val="002060"/>
                </a:solidFill>
              </a:rPr>
              <a:t>SR </a:t>
            </a:r>
            <a:r>
              <a:rPr lang="en-US" dirty="0">
                <a:solidFill>
                  <a:srgbClr val="002060"/>
                </a:solidFill>
              </a:rPr>
              <a:t>latch with NOR gates</a:t>
            </a:r>
            <a:endParaRPr lang="en-US" altLang="zh-CN" dirty="0">
              <a:solidFill>
                <a:srgbClr val="002060"/>
              </a:solidFill>
            </a:endParaRPr>
          </a:p>
        </p:txBody>
      </p:sp>
      <p:sp>
        <p:nvSpPr>
          <p:cNvPr id="20487" name="Line 4"/>
          <p:cNvSpPr>
            <a:spLocks noChangeShapeType="1"/>
          </p:cNvSpPr>
          <p:nvPr/>
        </p:nvSpPr>
        <p:spPr bwMode="auto">
          <a:xfrm>
            <a:off x="4400550" y="4232275"/>
            <a:ext cx="1588"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20519" name="Text Box 42"/>
          <p:cNvSpPr txBox="1">
            <a:spLocks noChangeArrowheads="1"/>
          </p:cNvSpPr>
          <p:nvPr/>
        </p:nvSpPr>
        <p:spPr bwMode="auto">
          <a:xfrm>
            <a:off x="6672065" y="2132857"/>
            <a:ext cx="713657"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zh-CN" altLang="en-US" sz="2800" dirty="0">
                <a:latin typeface="+mj-lt"/>
              </a:rPr>
              <a:t>0</a:t>
            </a:r>
            <a:r>
              <a:rPr lang="en-US" altLang="zh-CN" sz="2800" dirty="0">
                <a:latin typeface="+mj-lt"/>
              </a:rPr>
              <a:t>  </a:t>
            </a:r>
            <a:r>
              <a:rPr lang="zh-CN" altLang="en-US" sz="2800" dirty="0">
                <a:latin typeface="+mj-lt"/>
              </a:rPr>
              <a:t>0</a:t>
            </a:r>
            <a:endParaRPr lang="en-US" altLang="zh-CN" sz="2800" dirty="0">
              <a:latin typeface="+mj-lt"/>
            </a:endParaRPr>
          </a:p>
          <a:p>
            <a:endParaRPr lang="zh-CN" altLang="en-US" sz="2800" dirty="0">
              <a:latin typeface="+mj-lt"/>
            </a:endParaRPr>
          </a:p>
          <a:p>
            <a:r>
              <a:rPr lang="zh-CN" altLang="en-US" sz="2800" dirty="0">
                <a:latin typeface="+mj-lt"/>
              </a:rPr>
              <a:t>0  1</a:t>
            </a:r>
          </a:p>
          <a:p>
            <a:r>
              <a:rPr lang="zh-CN" altLang="en-US" sz="2800" dirty="0">
                <a:latin typeface="+mj-lt"/>
              </a:rPr>
              <a:t>1  0</a:t>
            </a:r>
          </a:p>
          <a:p>
            <a:r>
              <a:rPr lang="zh-CN" altLang="en-US" sz="2800" dirty="0">
                <a:latin typeface="+mj-lt"/>
              </a:rPr>
              <a:t>1  1</a:t>
            </a:r>
          </a:p>
        </p:txBody>
      </p:sp>
      <mc:AlternateContent xmlns:mc="http://schemas.openxmlformats.org/markup-compatibility/2006" xmlns:a14="http://schemas.microsoft.com/office/drawing/2010/main">
        <mc:Choice Requires="a14">
          <p:sp>
            <p:nvSpPr>
              <p:cNvPr id="20520" name="Text Box 43"/>
              <p:cNvSpPr txBox="1">
                <a:spLocks noChangeArrowheads="1"/>
              </p:cNvSpPr>
              <p:nvPr/>
            </p:nvSpPr>
            <p:spPr bwMode="auto">
              <a:xfrm>
                <a:off x="6556290" y="1486908"/>
                <a:ext cx="1915974" cy="57394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pPr/>
                <a14:m>
                  <m:oMathPara xmlns:m="http://schemas.openxmlformats.org/officeDocument/2006/math">
                    <m:oMathParaPr>
                      <m:jc m:val="centerGroup"/>
                    </m:oMathParaPr>
                    <m:oMath xmlns:m="http://schemas.openxmlformats.org/officeDocument/2006/math">
                      <m:r>
                        <a:rPr lang="en-US" altLang="zh-CN" sz="2800" i="1" dirty="0">
                          <a:latin typeface="Cambria Math"/>
                        </a:rPr>
                        <m:t>𝑆</m:t>
                      </m:r>
                      <m:r>
                        <a:rPr lang="en-US" altLang="zh-CN" sz="2800" i="1" dirty="0">
                          <a:latin typeface="Cambria Math"/>
                        </a:rPr>
                        <m:t>  </m:t>
                      </m:r>
                      <m:r>
                        <a:rPr lang="en-US" altLang="zh-CN" sz="2800" i="1" dirty="0">
                          <a:latin typeface="Cambria Math"/>
                        </a:rPr>
                        <m:t>𝑅</m:t>
                      </m:r>
                      <m:r>
                        <a:rPr lang="en-US" altLang="zh-CN" sz="2800" i="1" dirty="0">
                          <a:latin typeface="Cambria Math"/>
                        </a:rPr>
                        <m:t>    </m:t>
                      </m:r>
                      <m:r>
                        <a:rPr lang="en-US" altLang="zh-CN" sz="2800" i="1" dirty="0">
                          <a:latin typeface="Cambria Math"/>
                        </a:rPr>
                        <m:t>𝑄</m:t>
                      </m:r>
                      <m:r>
                        <a:rPr lang="en-US" altLang="zh-CN" sz="2800" i="1" dirty="0">
                          <a:latin typeface="Cambria Math"/>
                        </a:rPr>
                        <m:t>   </m:t>
                      </m:r>
                      <m:bar>
                        <m:barPr>
                          <m:pos m:val="top"/>
                          <m:ctrlPr>
                            <a:rPr lang="en-US" altLang="zh-CN" sz="2800" i="1">
                              <a:latin typeface="Cambria Math" panose="02040503050406030204" pitchFamily="18" charset="0"/>
                            </a:rPr>
                          </m:ctrlPr>
                        </m:barPr>
                        <m:e>
                          <m:r>
                            <a:rPr lang="en-US" altLang="zh-CN" sz="2800" i="1">
                              <a:latin typeface="Cambria Math"/>
                            </a:rPr>
                            <m:t>𝑄</m:t>
                          </m:r>
                        </m:e>
                      </m:bar>
                    </m:oMath>
                  </m:oMathPara>
                </a14:m>
                <a:endParaRPr lang="en-US" altLang="zh-CN" sz="2800" i="1" dirty="0">
                  <a:latin typeface="+mj-lt"/>
                </a:endParaRPr>
              </a:p>
            </p:txBody>
          </p:sp>
        </mc:Choice>
        <mc:Fallback xmlns="">
          <p:sp>
            <p:nvSpPr>
              <p:cNvPr id="20520" name="Text Box 43"/>
              <p:cNvSpPr txBox="1">
                <a:spLocks noRot="1" noChangeAspect="1" noMove="1" noResize="1" noEditPoints="1" noAdjustHandles="1" noChangeArrowheads="1" noChangeShapeType="1" noTextEdit="1"/>
              </p:cNvSpPr>
              <p:nvPr/>
            </p:nvSpPr>
            <p:spPr bwMode="auto">
              <a:xfrm>
                <a:off x="6556290" y="1486908"/>
                <a:ext cx="1915974" cy="573940"/>
              </a:xfrm>
              <a:prstGeom prst="rect">
                <a:avLst/>
              </a:prstGeom>
              <a:blipFill>
                <a:blip r:embed="rId3"/>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N">
                    <a:noFill/>
                  </a:rPr>
                  <a:t> </a:t>
                </a:r>
              </a:p>
            </p:txBody>
          </p:sp>
        </mc:Fallback>
      </mc:AlternateContent>
      <p:sp>
        <p:nvSpPr>
          <p:cNvPr id="20521" name="Line 44"/>
          <p:cNvSpPr>
            <a:spLocks noChangeShapeType="1"/>
          </p:cNvSpPr>
          <p:nvPr/>
        </p:nvSpPr>
        <p:spPr bwMode="auto">
          <a:xfrm>
            <a:off x="6456040" y="2060848"/>
            <a:ext cx="2286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0522" name="Line 45"/>
          <p:cNvSpPr>
            <a:spLocks noChangeShapeType="1"/>
          </p:cNvSpPr>
          <p:nvPr/>
        </p:nvSpPr>
        <p:spPr bwMode="auto">
          <a:xfrm>
            <a:off x="7514278" y="1700808"/>
            <a:ext cx="21883" cy="253305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96654" name="Text Box 46"/>
          <p:cNvSpPr txBox="1">
            <a:spLocks noChangeArrowheads="1"/>
          </p:cNvSpPr>
          <p:nvPr/>
        </p:nvSpPr>
        <p:spPr bwMode="auto">
          <a:xfrm>
            <a:off x="2495600" y="3140968"/>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zh-CN" altLang="en-US" sz="2800" dirty="0">
                <a:solidFill>
                  <a:schemeClr val="hlink"/>
                </a:solidFill>
                <a:latin typeface="+mj-lt"/>
              </a:rPr>
              <a:t>0</a:t>
            </a:r>
          </a:p>
        </p:txBody>
      </p:sp>
      <p:sp>
        <p:nvSpPr>
          <p:cNvPr id="196655" name="Text Box 47"/>
          <p:cNvSpPr txBox="1">
            <a:spLocks noChangeArrowheads="1"/>
          </p:cNvSpPr>
          <p:nvPr/>
        </p:nvSpPr>
        <p:spPr bwMode="auto">
          <a:xfrm>
            <a:off x="2495600" y="1844824"/>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endParaRPr lang="zh-CN" altLang="en-US" sz="2800" dirty="0">
              <a:solidFill>
                <a:schemeClr val="hlink"/>
              </a:solidFill>
              <a:latin typeface="+mj-lt"/>
            </a:endParaRPr>
          </a:p>
        </p:txBody>
      </p:sp>
      <p:sp>
        <p:nvSpPr>
          <p:cNvPr id="196656" name="Text Box 48"/>
          <p:cNvSpPr txBox="1">
            <a:spLocks noChangeArrowheads="1"/>
          </p:cNvSpPr>
          <p:nvPr/>
        </p:nvSpPr>
        <p:spPr bwMode="auto">
          <a:xfrm>
            <a:off x="5656584" y="1988840"/>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accent3">
                    <a:lumMod val="60000"/>
                    <a:lumOff val="40000"/>
                  </a:schemeClr>
                </a:solidFill>
                <a:latin typeface="+mj-lt"/>
              </a:rPr>
              <a:t>0</a:t>
            </a:r>
            <a:endParaRPr lang="zh-CN" altLang="en-US" sz="2800" dirty="0">
              <a:solidFill>
                <a:schemeClr val="accent3">
                  <a:lumMod val="60000"/>
                  <a:lumOff val="40000"/>
                </a:schemeClr>
              </a:solidFill>
              <a:latin typeface="+mj-lt"/>
            </a:endParaRPr>
          </a:p>
        </p:txBody>
      </p:sp>
      <p:sp>
        <p:nvSpPr>
          <p:cNvPr id="196657" name="Text Box 49"/>
          <p:cNvSpPr txBox="1">
            <a:spLocks noChangeArrowheads="1"/>
          </p:cNvSpPr>
          <p:nvPr/>
        </p:nvSpPr>
        <p:spPr bwMode="auto">
          <a:xfrm>
            <a:off x="5656584" y="2996952"/>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endParaRPr lang="zh-CN" altLang="en-US" sz="2800" dirty="0">
              <a:solidFill>
                <a:schemeClr val="hlink"/>
              </a:solidFill>
              <a:latin typeface="+mj-lt"/>
            </a:endParaRPr>
          </a:p>
        </p:txBody>
      </p:sp>
      <p:sp>
        <p:nvSpPr>
          <p:cNvPr id="196658" name="Text Box 50"/>
          <p:cNvSpPr txBox="1">
            <a:spLocks noChangeArrowheads="1"/>
          </p:cNvSpPr>
          <p:nvPr/>
        </p:nvSpPr>
        <p:spPr bwMode="auto">
          <a:xfrm>
            <a:off x="7608168" y="2996952"/>
            <a:ext cx="18722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r>
              <a:rPr lang="zh-CN" altLang="en-US" sz="2800" dirty="0">
                <a:solidFill>
                  <a:schemeClr val="hlink"/>
                </a:solidFill>
                <a:latin typeface="+mj-lt"/>
              </a:rPr>
              <a:t>   </a:t>
            </a:r>
            <a:r>
              <a:rPr lang="en-US" altLang="zh-CN" sz="2800" dirty="0">
                <a:solidFill>
                  <a:schemeClr val="hlink"/>
                </a:solidFill>
                <a:latin typeface="+mj-lt"/>
              </a:rPr>
              <a:t>1</a:t>
            </a:r>
            <a:r>
              <a:rPr lang="zh-CN" altLang="en-US" sz="2800" dirty="0">
                <a:solidFill>
                  <a:schemeClr val="hlink"/>
                </a:solidFill>
                <a:latin typeface="+mj-lt"/>
              </a:rPr>
              <a:t>   </a:t>
            </a:r>
            <a:r>
              <a:rPr lang="en-US" altLang="zh-CN" sz="2800" i="1" dirty="0">
                <a:solidFill>
                  <a:srgbClr val="C00000"/>
                </a:solidFill>
                <a:latin typeface="+mj-lt"/>
              </a:rPr>
              <a:t>Reset</a:t>
            </a:r>
          </a:p>
        </p:txBody>
      </p:sp>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7649" y="1921000"/>
            <a:ext cx="2581275" cy="172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71464" y="4725144"/>
            <a:ext cx="3986386" cy="1958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Text Box 50"/>
          <p:cNvSpPr txBox="1">
            <a:spLocks noChangeArrowheads="1"/>
          </p:cNvSpPr>
          <p:nvPr/>
        </p:nvSpPr>
        <p:spPr bwMode="auto">
          <a:xfrm>
            <a:off x="7608168" y="2113692"/>
            <a:ext cx="25922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r>
              <a:rPr lang="zh-CN" altLang="en-US" sz="2800" dirty="0">
                <a:solidFill>
                  <a:schemeClr val="hlink"/>
                </a:solidFill>
                <a:latin typeface="+mj-lt"/>
              </a:rPr>
              <a:t>   </a:t>
            </a:r>
            <a:r>
              <a:rPr lang="en-US" altLang="zh-CN" sz="2800" dirty="0">
                <a:solidFill>
                  <a:schemeClr val="hlink"/>
                </a:solidFill>
                <a:latin typeface="+mj-lt"/>
              </a:rPr>
              <a:t>1</a:t>
            </a:r>
            <a:r>
              <a:rPr lang="zh-CN" altLang="en-US" sz="2800" dirty="0">
                <a:solidFill>
                  <a:schemeClr val="hlink"/>
                </a:solidFill>
                <a:latin typeface="+mj-lt"/>
              </a:rPr>
              <a:t>   </a:t>
            </a:r>
            <a:r>
              <a:rPr lang="en-US" altLang="zh-CN" sz="2800" i="1" dirty="0">
                <a:solidFill>
                  <a:srgbClr val="C00000"/>
                </a:solidFill>
                <a:latin typeface="+mj-lt"/>
              </a:rPr>
              <a:t>No change</a:t>
            </a:r>
          </a:p>
        </p:txBody>
      </p:sp>
      <p:sp>
        <p:nvSpPr>
          <p:cNvPr id="2" name="Rectangle 1"/>
          <p:cNvSpPr/>
          <p:nvPr/>
        </p:nvSpPr>
        <p:spPr>
          <a:xfrm>
            <a:off x="6795072" y="4499828"/>
            <a:ext cx="2582566" cy="584775"/>
          </a:xfrm>
          <a:prstGeom prst="rect">
            <a:avLst/>
          </a:prstGeom>
        </p:spPr>
        <p:txBody>
          <a:bodyPr wrap="none">
            <a:spAutoFit/>
          </a:bodyPr>
          <a:lstStyle/>
          <a:p>
            <a:r>
              <a:rPr lang="en-IN" sz="3200" dirty="0"/>
              <a:t>Function table</a:t>
            </a:r>
          </a:p>
        </p:txBody>
      </p:sp>
      <p:sp>
        <p:nvSpPr>
          <p:cNvPr id="17" name="Rectangle 16"/>
          <p:cNvSpPr/>
          <p:nvPr/>
        </p:nvSpPr>
        <p:spPr>
          <a:xfrm>
            <a:off x="3318298" y="3789040"/>
            <a:ext cx="2195473" cy="523220"/>
          </a:xfrm>
          <a:prstGeom prst="rect">
            <a:avLst/>
          </a:prstGeom>
        </p:spPr>
        <p:txBody>
          <a:bodyPr wrap="none">
            <a:spAutoFit/>
          </a:bodyPr>
          <a:lstStyle/>
          <a:p>
            <a:r>
              <a:rPr lang="en-IN" sz="2800" dirty="0"/>
              <a:t>Logic diagram</a:t>
            </a:r>
          </a:p>
        </p:txBody>
      </p:sp>
      <p:sp>
        <p:nvSpPr>
          <p:cNvPr id="19" name="Text Box 48"/>
          <p:cNvSpPr txBox="1">
            <a:spLocks noChangeArrowheads="1"/>
          </p:cNvSpPr>
          <p:nvPr/>
        </p:nvSpPr>
        <p:spPr bwMode="auto">
          <a:xfrm>
            <a:off x="5663952" y="1988840"/>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endParaRPr lang="zh-CN" altLang="en-US" sz="2800" dirty="0">
              <a:solidFill>
                <a:schemeClr val="hlink"/>
              </a:solidFill>
              <a:latin typeface="+mj-lt"/>
            </a:endParaRPr>
          </a:p>
        </p:txBody>
      </p:sp>
    </p:spTree>
    <p:extLst>
      <p:ext uri="{BB962C8B-B14F-4D97-AF65-F5344CB8AC3E}">
        <p14:creationId xmlns:p14="http://schemas.microsoft.com/office/powerpoint/2010/main" val="200371623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9665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96655">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96656">
                                            <p:txEl>
                                              <p:pRg st="0" end="0"/>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96657">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9">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54" grpId="0" build="p" autoUpdateAnimBg="0"/>
      <p:bldP spid="196655" grpId="0" build="p" autoUpdateAnimBg="0"/>
      <p:bldP spid="196656" grpId="0" build="p" autoUpdateAnimBg="0"/>
      <p:bldP spid="196657" grpId="0" build="p" autoUpdateAnimBg="0"/>
      <p:bldP spid="15" grpId="0"/>
      <p:bldP spid="19" grpId="0" build="p"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rrowheads="1"/>
          </p:cNvSpPr>
          <p:nvPr>
            <p:ph type="title"/>
          </p:nvPr>
        </p:nvSpPr>
        <p:spPr/>
        <p:txBody>
          <a:bodyPr/>
          <a:lstStyle/>
          <a:p>
            <a:r>
              <a:rPr lang="en-US" i="1" dirty="0">
                <a:solidFill>
                  <a:srgbClr val="002060"/>
                </a:solidFill>
              </a:rPr>
              <a:t>SR </a:t>
            </a:r>
            <a:r>
              <a:rPr lang="en-US" dirty="0">
                <a:solidFill>
                  <a:srgbClr val="002060"/>
                </a:solidFill>
              </a:rPr>
              <a:t>latch with NOR gates</a:t>
            </a:r>
            <a:endParaRPr lang="en-US" altLang="zh-CN" dirty="0">
              <a:solidFill>
                <a:srgbClr val="002060"/>
              </a:solidFill>
            </a:endParaRPr>
          </a:p>
        </p:txBody>
      </p:sp>
      <p:sp>
        <p:nvSpPr>
          <p:cNvPr id="20487" name="Line 4"/>
          <p:cNvSpPr>
            <a:spLocks noChangeShapeType="1"/>
          </p:cNvSpPr>
          <p:nvPr/>
        </p:nvSpPr>
        <p:spPr bwMode="auto">
          <a:xfrm>
            <a:off x="4400550" y="4232275"/>
            <a:ext cx="1588"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20519" name="Text Box 42"/>
          <p:cNvSpPr txBox="1">
            <a:spLocks noChangeArrowheads="1"/>
          </p:cNvSpPr>
          <p:nvPr/>
        </p:nvSpPr>
        <p:spPr bwMode="auto">
          <a:xfrm>
            <a:off x="6672065" y="2132857"/>
            <a:ext cx="713657"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zh-CN" altLang="en-US" sz="2800" dirty="0">
                <a:latin typeface="+mj-lt"/>
              </a:rPr>
              <a:t>0</a:t>
            </a:r>
            <a:r>
              <a:rPr lang="en-US" altLang="zh-CN" sz="2800" dirty="0">
                <a:latin typeface="+mj-lt"/>
              </a:rPr>
              <a:t>  </a:t>
            </a:r>
            <a:r>
              <a:rPr lang="zh-CN" altLang="en-US" sz="2800" dirty="0">
                <a:latin typeface="+mj-lt"/>
              </a:rPr>
              <a:t>0</a:t>
            </a:r>
            <a:endParaRPr lang="en-US" altLang="zh-CN" sz="2800" dirty="0">
              <a:latin typeface="+mj-lt"/>
            </a:endParaRPr>
          </a:p>
          <a:p>
            <a:endParaRPr lang="zh-CN" altLang="en-US" sz="2800" dirty="0">
              <a:latin typeface="+mj-lt"/>
            </a:endParaRPr>
          </a:p>
          <a:p>
            <a:r>
              <a:rPr lang="zh-CN" altLang="en-US" sz="2800" dirty="0">
                <a:latin typeface="+mj-lt"/>
              </a:rPr>
              <a:t>0  1</a:t>
            </a:r>
          </a:p>
          <a:p>
            <a:r>
              <a:rPr lang="zh-CN" altLang="en-US" sz="2800" dirty="0">
                <a:latin typeface="+mj-lt"/>
              </a:rPr>
              <a:t>1  0</a:t>
            </a:r>
          </a:p>
          <a:p>
            <a:r>
              <a:rPr lang="zh-CN" altLang="en-US" sz="2800" dirty="0">
                <a:latin typeface="+mj-lt"/>
              </a:rPr>
              <a:t>1  1</a:t>
            </a:r>
          </a:p>
        </p:txBody>
      </p:sp>
      <mc:AlternateContent xmlns:mc="http://schemas.openxmlformats.org/markup-compatibility/2006" xmlns:a14="http://schemas.microsoft.com/office/drawing/2010/main">
        <mc:Choice Requires="a14">
          <p:sp>
            <p:nvSpPr>
              <p:cNvPr id="20520" name="Text Box 43"/>
              <p:cNvSpPr txBox="1">
                <a:spLocks noChangeArrowheads="1"/>
              </p:cNvSpPr>
              <p:nvPr/>
            </p:nvSpPr>
            <p:spPr bwMode="auto">
              <a:xfrm>
                <a:off x="6556290" y="1486908"/>
                <a:ext cx="1915974" cy="57394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pPr/>
                <a14:m>
                  <m:oMathPara xmlns:m="http://schemas.openxmlformats.org/officeDocument/2006/math">
                    <m:oMathParaPr>
                      <m:jc m:val="centerGroup"/>
                    </m:oMathParaPr>
                    <m:oMath xmlns:m="http://schemas.openxmlformats.org/officeDocument/2006/math">
                      <m:r>
                        <a:rPr lang="en-US" altLang="zh-CN" sz="2800" i="1" dirty="0">
                          <a:latin typeface="Cambria Math"/>
                        </a:rPr>
                        <m:t>𝑆</m:t>
                      </m:r>
                      <m:r>
                        <a:rPr lang="en-US" altLang="zh-CN" sz="2800" i="1" dirty="0">
                          <a:latin typeface="Cambria Math"/>
                        </a:rPr>
                        <m:t>  </m:t>
                      </m:r>
                      <m:r>
                        <a:rPr lang="en-US" altLang="zh-CN" sz="2800" i="1" dirty="0">
                          <a:latin typeface="Cambria Math"/>
                        </a:rPr>
                        <m:t>𝑅</m:t>
                      </m:r>
                      <m:r>
                        <a:rPr lang="en-US" altLang="zh-CN" sz="2800" i="1" dirty="0">
                          <a:latin typeface="Cambria Math"/>
                        </a:rPr>
                        <m:t>    </m:t>
                      </m:r>
                      <m:r>
                        <a:rPr lang="en-US" altLang="zh-CN" sz="2800" i="1" dirty="0">
                          <a:latin typeface="Cambria Math"/>
                        </a:rPr>
                        <m:t>𝑄</m:t>
                      </m:r>
                      <m:r>
                        <a:rPr lang="en-US" altLang="zh-CN" sz="2800" i="1" dirty="0">
                          <a:latin typeface="Cambria Math"/>
                        </a:rPr>
                        <m:t>   </m:t>
                      </m:r>
                      <m:bar>
                        <m:barPr>
                          <m:pos m:val="top"/>
                          <m:ctrlPr>
                            <a:rPr lang="en-US" altLang="zh-CN" sz="2800" i="1">
                              <a:latin typeface="Cambria Math" panose="02040503050406030204" pitchFamily="18" charset="0"/>
                            </a:rPr>
                          </m:ctrlPr>
                        </m:barPr>
                        <m:e>
                          <m:r>
                            <a:rPr lang="en-US" altLang="zh-CN" sz="2800" i="1">
                              <a:latin typeface="Cambria Math"/>
                            </a:rPr>
                            <m:t>𝑄</m:t>
                          </m:r>
                        </m:e>
                      </m:bar>
                    </m:oMath>
                  </m:oMathPara>
                </a14:m>
                <a:endParaRPr lang="en-US" altLang="zh-CN" sz="2800" i="1" dirty="0">
                  <a:latin typeface="+mj-lt"/>
                </a:endParaRPr>
              </a:p>
            </p:txBody>
          </p:sp>
        </mc:Choice>
        <mc:Fallback xmlns="">
          <p:sp>
            <p:nvSpPr>
              <p:cNvPr id="20520" name="Text Box 43"/>
              <p:cNvSpPr txBox="1">
                <a:spLocks noRot="1" noChangeAspect="1" noMove="1" noResize="1" noEditPoints="1" noAdjustHandles="1" noChangeArrowheads="1" noChangeShapeType="1" noTextEdit="1"/>
              </p:cNvSpPr>
              <p:nvPr/>
            </p:nvSpPr>
            <p:spPr bwMode="auto">
              <a:xfrm>
                <a:off x="6556290" y="1486908"/>
                <a:ext cx="1915974" cy="573940"/>
              </a:xfrm>
              <a:prstGeom prst="rect">
                <a:avLst/>
              </a:prstGeom>
              <a:blipFill>
                <a:blip r:embed="rId3"/>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N">
                    <a:noFill/>
                  </a:rPr>
                  <a:t> </a:t>
                </a:r>
              </a:p>
            </p:txBody>
          </p:sp>
        </mc:Fallback>
      </mc:AlternateContent>
      <p:sp>
        <p:nvSpPr>
          <p:cNvPr id="20521" name="Line 44"/>
          <p:cNvSpPr>
            <a:spLocks noChangeShapeType="1"/>
          </p:cNvSpPr>
          <p:nvPr/>
        </p:nvSpPr>
        <p:spPr bwMode="auto">
          <a:xfrm>
            <a:off x="6456040" y="2060848"/>
            <a:ext cx="2286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0522" name="Line 45"/>
          <p:cNvSpPr>
            <a:spLocks noChangeShapeType="1"/>
          </p:cNvSpPr>
          <p:nvPr/>
        </p:nvSpPr>
        <p:spPr bwMode="auto">
          <a:xfrm>
            <a:off x="7514278" y="1700808"/>
            <a:ext cx="21883" cy="253305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96654" name="Text Box 46"/>
          <p:cNvSpPr txBox="1">
            <a:spLocks noChangeArrowheads="1"/>
          </p:cNvSpPr>
          <p:nvPr/>
        </p:nvSpPr>
        <p:spPr bwMode="auto">
          <a:xfrm>
            <a:off x="2495600" y="3140968"/>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endParaRPr lang="zh-CN" altLang="en-US" sz="2800" dirty="0">
              <a:solidFill>
                <a:schemeClr val="hlink"/>
              </a:solidFill>
              <a:latin typeface="+mj-lt"/>
            </a:endParaRPr>
          </a:p>
        </p:txBody>
      </p:sp>
      <p:sp>
        <p:nvSpPr>
          <p:cNvPr id="196655" name="Text Box 47"/>
          <p:cNvSpPr txBox="1">
            <a:spLocks noChangeArrowheads="1"/>
          </p:cNvSpPr>
          <p:nvPr/>
        </p:nvSpPr>
        <p:spPr bwMode="auto">
          <a:xfrm>
            <a:off x="2495600" y="1844824"/>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endParaRPr lang="zh-CN" altLang="en-US" sz="2800" dirty="0">
              <a:solidFill>
                <a:schemeClr val="hlink"/>
              </a:solidFill>
              <a:latin typeface="+mj-lt"/>
            </a:endParaRPr>
          </a:p>
        </p:txBody>
      </p:sp>
      <p:sp>
        <p:nvSpPr>
          <p:cNvPr id="196656" name="Text Box 48"/>
          <p:cNvSpPr txBox="1">
            <a:spLocks noChangeArrowheads="1"/>
          </p:cNvSpPr>
          <p:nvPr/>
        </p:nvSpPr>
        <p:spPr bwMode="auto">
          <a:xfrm>
            <a:off x="5656584" y="1988840"/>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endParaRPr lang="zh-CN" altLang="en-US" sz="2800" dirty="0">
              <a:solidFill>
                <a:schemeClr val="hlink"/>
              </a:solidFill>
              <a:latin typeface="+mj-lt"/>
            </a:endParaRPr>
          </a:p>
        </p:txBody>
      </p:sp>
      <p:sp>
        <p:nvSpPr>
          <p:cNvPr id="196657" name="Text Box 49"/>
          <p:cNvSpPr txBox="1">
            <a:spLocks noChangeArrowheads="1"/>
          </p:cNvSpPr>
          <p:nvPr/>
        </p:nvSpPr>
        <p:spPr bwMode="auto">
          <a:xfrm>
            <a:off x="5656584" y="2996952"/>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endParaRPr lang="zh-CN" altLang="en-US" sz="2800" dirty="0">
              <a:solidFill>
                <a:schemeClr val="hlink"/>
              </a:solidFill>
              <a:latin typeface="+mj-lt"/>
            </a:endParaRPr>
          </a:p>
        </p:txBody>
      </p:sp>
      <p:sp>
        <p:nvSpPr>
          <p:cNvPr id="196658" name="Text Box 50"/>
          <p:cNvSpPr txBox="1">
            <a:spLocks noChangeArrowheads="1"/>
          </p:cNvSpPr>
          <p:nvPr/>
        </p:nvSpPr>
        <p:spPr bwMode="auto">
          <a:xfrm>
            <a:off x="7608168" y="2996952"/>
            <a:ext cx="18722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r>
              <a:rPr lang="zh-CN" altLang="en-US" sz="2800" dirty="0">
                <a:solidFill>
                  <a:schemeClr val="hlink"/>
                </a:solidFill>
                <a:latin typeface="+mj-lt"/>
              </a:rPr>
              <a:t>   </a:t>
            </a:r>
            <a:r>
              <a:rPr lang="en-US" altLang="zh-CN" sz="2800" dirty="0">
                <a:solidFill>
                  <a:schemeClr val="hlink"/>
                </a:solidFill>
                <a:latin typeface="+mj-lt"/>
              </a:rPr>
              <a:t>1</a:t>
            </a:r>
            <a:r>
              <a:rPr lang="zh-CN" altLang="en-US" sz="2800" dirty="0">
                <a:solidFill>
                  <a:schemeClr val="hlink"/>
                </a:solidFill>
                <a:latin typeface="+mj-lt"/>
              </a:rPr>
              <a:t>   </a:t>
            </a:r>
            <a:r>
              <a:rPr lang="en-US" altLang="zh-CN" sz="2800" i="1" dirty="0">
                <a:solidFill>
                  <a:srgbClr val="C00000"/>
                </a:solidFill>
                <a:latin typeface="+mj-lt"/>
              </a:rPr>
              <a:t>Reset</a:t>
            </a:r>
          </a:p>
        </p:txBody>
      </p:sp>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7649" y="1921000"/>
            <a:ext cx="2581275" cy="172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43472" y="4709120"/>
            <a:ext cx="3914378" cy="1874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Text Box 50"/>
          <p:cNvSpPr txBox="1">
            <a:spLocks noChangeArrowheads="1"/>
          </p:cNvSpPr>
          <p:nvPr/>
        </p:nvSpPr>
        <p:spPr bwMode="auto">
          <a:xfrm>
            <a:off x="7608168" y="2113692"/>
            <a:ext cx="25922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r>
              <a:rPr lang="zh-CN" altLang="en-US" sz="2800" dirty="0">
                <a:solidFill>
                  <a:schemeClr val="hlink"/>
                </a:solidFill>
                <a:latin typeface="+mj-lt"/>
              </a:rPr>
              <a:t>   </a:t>
            </a:r>
            <a:r>
              <a:rPr lang="en-US" altLang="zh-CN" sz="2800" dirty="0">
                <a:solidFill>
                  <a:schemeClr val="hlink"/>
                </a:solidFill>
                <a:latin typeface="+mj-lt"/>
              </a:rPr>
              <a:t>1</a:t>
            </a:r>
            <a:r>
              <a:rPr lang="zh-CN" altLang="en-US" sz="2800" dirty="0">
                <a:solidFill>
                  <a:schemeClr val="hlink"/>
                </a:solidFill>
                <a:latin typeface="+mj-lt"/>
              </a:rPr>
              <a:t>   </a:t>
            </a:r>
            <a:r>
              <a:rPr lang="en-US" altLang="zh-CN" sz="2800" i="1" dirty="0">
                <a:solidFill>
                  <a:srgbClr val="C00000"/>
                </a:solidFill>
                <a:latin typeface="+mj-lt"/>
              </a:rPr>
              <a:t>No change</a:t>
            </a:r>
          </a:p>
        </p:txBody>
      </p:sp>
      <p:sp>
        <p:nvSpPr>
          <p:cNvPr id="16" name="Text Box 50"/>
          <p:cNvSpPr txBox="1">
            <a:spLocks noChangeArrowheads="1"/>
          </p:cNvSpPr>
          <p:nvPr/>
        </p:nvSpPr>
        <p:spPr bwMode="auto">
          <a:xfrm>
            <a:off x="7608168" y="3409836"/>
            <a:ext cx="18722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r>
              <a:rPr lang="zh-CN" altLang="en-US" sz="2800" dirty="0">
                <a:solidFill>
                  <a:schemeClr val="hlink"/>
                </a:solidFill>
                <a:latin typeface="+mj-lt"/>
              </a:rPr>
              <a:t>   </a:t>
            </a:r>
            <a:r>
              <a:rPr lang="en-US" altLang="zh-CN" sz="2800" dirty="0">
                <a:solidFill>
                  <a:schemeClr val="hlink"/>
                </a:solidFill>
                <a:latin typeface="+mj-lt"/>
              </a:rPr>
              <a:t>0</a:t>
            </a:r>
            <a:r>
              <a:rPr lang="zh-CN" altLang="en-US" sz="2800" dirty="0">
                <a:solidFill>
                  <a:schemeClr val="hlink"/>
                </a:solidFill>
                <a:latin typeface="+mj-lt"/>
              </a:rPr>
              <a:t>   </a:t>
            </a:r>
            <a:r>
              <a:rPr lang="en-US" altLang="zh-CN" sz="2800" i="1" dirty="0">
                <a:solidFill>
                  <a:srgbClr val="C00000"/>
                </a:solidFill>
                <a:latin typeface="+mj-lt"/>
              </a:rPr>
              <a:t>Set</a:t>
            </a:r>
          </a:p>
        </p:txBody>
      </p:sp>
      <p:sp>
        <p:nvSpPr>
          <p:cNvPr id="2" name="Rectangle 1"/>
          <p:cNvSpPr/>
          <p:nvPr/>
        </p:nvSpPr>
        <p:spPr>
          <a:xfrm>
            <a:off x="6795072" y="4499828"/>
            <a:ext cx="2582566" cy="584775"/>
          </a:xfrm>
          <a:prstGeom prst="rect">
            <a:avLst/>
          </a:prstGeom>
        </p:spPr>
        <p:txBody>
          <a:bodyPr wrap="none">
            <a:spAutoFit/>
          </a:bodyPr>
          <a:lstStyle/>
          <a:p>
            <a:r>
              <a:rPr lang="en-IN" sz="3200" dirty="0"/>
              <a:t>Function table</a:t>
            </a:r>
          </a:p>
        </p:txBody>
      </p:sp>
      <p:sp>
        <p:nvSpPr>
          <p:cNvPr id="18" name="Rectangle 17"/>
          <p:cNvSpPr/>
          <p:nvPr/>
        </p:nvSpPr>
        <p:spPr>
          <a:xfrm>
            <a:off x="3318298" y="3789040"/>
            <a:ext cx="2491003" cy="584775"/>
          </a:xfrm>
          <a:prstGeom prst="rect">
            <a:avLst/>
          </a:prstGeom>
        </p:spPr>
        <p:txBody>
          <a:bodyPr wrap="none">
            <a:spAutoFit/>
          </a:bodyPr>
          <a:lstStyle/>
          <a:p>
            <a:r>
              <a:rPr lang="en-IN" sz="3200" dirty="0"/>
              <a:t>Logic diagram</a:t>
            </a:r>
          </a:p>
        </p:txBody>
      </p:sp>
    </p:spTree>
    <p:extLst>
      <p:ext uri="{BB962C8B-B14F-4D97-AF65-F5344CB8AC3E}">
        <p14:creationId xmlns:p14="http://schemas.microsoft.com/office/powerpoint/2010/main" val="372841823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9665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96655">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96657">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665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54" grpId="0" build="p" autoUpdateAnimBg="0"/>
      <p:bldP spid="196655" grpId="0" build="p" autoUpdateAnimBg="0"/>
      <p:bldP spid="196656" grpId="0"/>
      <p:bldP spid="196657" grpId="0" build="p" autoUpdateAnimBg="0"/>
      <p:bldP spid="1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rrowheads="1"/>
          </p:cNvSpPr>
          <p:nvPr>
            <p:ph type="title"/>
          </p:nvPr>
        </p:nvSpPr>
        <p:spPr/>
        <p:txBody>
          <a:bodyPr/>
          <a:lstStyle/>
          <a:p>
            <a:r>
              <a:rPr lang="en-US" i="1" dirty="0">
                <a:solidFill>
                  <a:srgbClr val="002060"/>
                </a:solidFill>
              </a:rPr>
              <a:t>SR </a:t>
            </a:r>
            <a:r>
              <a:rPr lang="en-US" dirty="0">
                <a:solidFill>
                  <a:srgbClr val="002060"/>
                </a:solidFill>
              </a:rPr>
              <a:t>latch with NOR gates</a:t>
            </a:r>
            <a:endParaRPr lang="en-US" altLang="zh-CN" dirty="0">
              <a:solidFill>
                <a:srgbClr val="002060"/>
              </a:solidFill>
            </a:endParaRPr>
          </a:p>
        </p:txBody>
      </p:sp>
      <p:sp>
        <p:nvSpPr>
          <p:cNvPr id="20487" name="Line 4"/>
          <p:cNvSpPr>
            <a:spLocks noChangeShapeType="1"/>
          </p:cNvSpPr>
          <p:nvPr/>
        </p:nvSpPr>
        <p:spPr bwMode="auto">
          <a:xfrm>
            <a:off x="4400550" y="4232275"/>
            <a:ext cx="1588"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20519" name="Text Box 42"/>
          <p:cNvSpPr txBox="1">
            <a:spLocks noChangeArrowheads="1"/>
          </p:cNvSpPr>
          <p:nvPr/>
        </p:nvSpPr>
        <p:spPr bwMode="auto">
          <a:xfrm>
            <a:off x="6672065" y="2132857"/>
            <a:ext cx="713657"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zh-CN" altLang="en-US" sz="2800" dirty="0">
                <a:latin typeface="+mj-lt"/>
              </a:rPr>
              <a:t>0</a:t>
            </a:r>
            <a:r>
              <a:rPr lang="en-US" altLang="zh-CN" sz="2800" dirty="0">
                <a:latin typeface="+mj-lt"/>
              </a:rPr>
              <a:t>  </a:t>
            </a:r>
            <a:r>
              <a:rPr lang="zh-CN" altLang="en-US" sz="2800" dirty="0">
                <a:latin typeface="+mj-lt"/>
              </a:rPr>
              <a:t>0</a:t>
            </a:r>
            <a:endParaRPr lang="en-US" altLang="zh-CN" sz="2800" dirty="0">
              <a:latin typeface="+mj-lt"/>
            </a:endParaRPr>
          </a:p>
          <a:p>
            <a:endParaRPr lang="zh-CN" altLang="en-US" sz="2800" dirty="0">
              <a:latin typeface="+mj-lt"/>
            </a:endParaRPr>
          </a:p>
          <a:p>
            <a:r>
              <a:rPr lang="zh-CN" altLang="en-US" sz="2800" dirty="0">
                <a:latin typeface="+mj-lt"/>
              </a:rPr>
              <a:t>0  1</a:t>
            </a:r>
          </a:p>
          <a:p>
            <a:r>
              <a:rPr lang="zh-CN" altLang="en-US" sz="2800" dirty="0">
                <a:latin typeface="+mj-lt"/>
              </a:rPr>
              <a:t>1  0</a:t>
            </a:r>
          </a:p>
          <a:p>
            <a:r>
              <a:rPr lang="zh-CN" altLang="en-US" sz="2800" dirty="0">
                <a:latin typeface="+mj-lt"/>
              </a:rPr>
              <a:t>1  1</a:t>
            </a:r>
          </a:p>
        </p:txBody>
      </p:sp>
      <mc:AlternateContent xmlns:mc="http://schemas.openxmlformats.org/markup-compatibility/2006" xmlns:a14="http://schemas.microsoft.com/office/drawing/2010/main">
        <mc:Choice Requires="a14">
          <p:sp>
            <p:nvSpPr>
              <p:cNvPr id="20520" name="Text Box 43"/>
              <p:cNvSpPr txBox="1">
                <a:spLocks noChangeArrowheads="1"/>
              </p:cNvSpPr>
              <p:nvPr/>
            </p:nvSpPr>
            <p:spPr bwMode="auto">
              <a:xfrm>
                <a:off x="6556290" y="1486908"/>
                <a:ext cx="1915974" cy="57394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pPr/>
                <a14:m>
                  <m:oMathPara xmlns:m="http://schemas.openxmlformats.org/officeDocument/2006/math">
                    <m:oMathParaPr>
                      <m:jc m:val="centerGroup"/>
                    </m:oMathParaPr>
                    <m:oMath xmlns:m="http://schemas.openxmlformats.org/officeDocument/2006/math">
                      <m:r>
                        <a:rPr lang="en-US" altLang="zh-CN" sz="2800" i="1" dirty="0">
                          <a:latin typeface="Cambria Math"/>
                        </a:rPr>
                        <m:t>𝑆</m:t>
                      </m:r>
                      <m:r>
                        <a:rPr lang="en-US" altLang="zh-CN" sz="2800" i="1" dirty="0">
                          <a:latin typeface="Cambria Math"/>
                        </a:rPr>
                        <m:t>  </m:t>
                      </m:r>
                      <m:r>
                        <a:rPr lang="en-US" altLang="zh-CN" sz="2800" i="1" dirty="0">
                          <a:latin typeface="Cambria Math"/>
                        </a:rPr>
                        <m:t>𝑅</m:t>
                      </m:r>
                      <m:r>
                        <a:rPr lang="en-US" altLang="zh-CN" sz="2800" i="1" dirty="0">
                          <a:latin typeface="Cambria Math"/>
                        </a:rPr>
                        <m:t>    </m:t>
                      </m:r>
                      <m:r>
                        <a:rPr lang="en-US" altLang="zh-CN" sz="2800" i="1" dirty="0">
                          <a:latin typeface="Cambria Math"/>
                        </a:rPr>
                        <m:t>𝑄</m:t>
                      </m:r>
                      <m:r>
                        <a:rPr lang="en-US" altLang="zh-CN" sz="2800" i="1" dirty="0">
                          <a:latin typeface="Cambria Math"/>
                        </a:rPr>
                        <m:t>   </m:t>
                      </m:r>
                      <m:bar>
                        <m:barPr>
                          <m:pos m:val="top"/>
                          <m:ctrlPr>
                            <a:rPr lang="en-US" altLang="zh-CN" sz="2800" i="1">
                              <a:latin typeface="Cambria Math" panose="02040503050406030204" pitchFamily="18" charset="0"/>
                            </a:rPr>
                          </m:ctrlPr>
                        </m:barPr>
                        <m:e>
                          <m:r>
                            <a:rPr lang="en-US" altLang="zh-CN" sz="2800" i="1">
                              <a:latin typeface="Cambria Math"/>
                            </a:rPr>
                            <m:t>𝑄</m:t>
                          </m:r>
                        </m:e>
                      </m:bar>
                    </m:oMath>
                  </m:oMathPara>
                </a14:m>
                <a:endParaRPr lang="en-US" altLang="zh-CN" sz="2800" i="1" dirty="0">
                  <a:latin typeface="+mj-lt"/>
                </a:endParaRPr>
              </a:p>
            </p:txBody>
          </p:sp>
        </mc:Choice>
        <mc:Fallback xmlns="">
          <p:sp>
            <p:nvSpPr>
              <p:cNvPr id="20520" name="Text Box 43"/>
              <p:cNvSpPr txBox="1">
                <a:spLocks noRot="1" noChangeAspect="1" noMove="1" noResize="1" noEditPoints="1" noAdjustHandles="1" noChangeArrowheads="1" noChangeShapeType="1" noTextEdit="1"/>
              </p:cNvSpPr>
              <p:nvPr/>
            </p:nvSpPr>
            <p:spPr bwMode="auto">
              <a:xfrm>
                <a:off x="6556290" y="1486908"/>
                <a:ext cx="1915974" cy="573940"/>
              </a:xfrm>
              <a:prstGeom prst="rect">
                <a:avLst/>
              </a:prstGeom>
              <a:blipFill>
                <a:blip r:embed="rId3"/>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N">
                    <a:noFill/>
                  </a:rPr>
                  <a:t> </a:t>
                </a:r>
              </a:p>
            </p:txBody>
          </p:sp>
        </mc:Fallback>
      </mc:AlternateContent>
      <p:sp>
        <p:nvSpPr>
          <p:cNvPr id="20521" name="Line 44"/>
          <p:cNvSpPr>
            <a:spLocks noChangeShapeType="1"/>
          </p:cNvSpPr>
          <p:nvPr/>
        </p:nvSpPr>
        <p:spPr bwMode="auto">
          <a:xfrm>
            <a:off x="6456040" y="2060848"/>
            <a:ext cx="2286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0522" name="Line 45"/>
          <p:cNvSpPr>
            <a:spLocks noChangeShapeType="1"/>
          </p:cNvSpPr>
          <p:nvPr/>
        </p:nvSpPr>
        <p:spPr bwMode="auto">
          <a:xfrm>
            <a:off x="7514278" y="1700808"/>
            <a:ext cx="21883" cy="253305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96654" name="Text Box 46"/>
          <p:cNvSpPr txBox="1">
            <a:spLocks noChangeArrowheads="1"/>
          </p:cNvSpPr>
          <p:nvPr/>
        </p:nvSpPr>
        <p:spPr bwMode="auto">
          <a:xfrm>
            <a:off x="2495600" y="3140968"/>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endParaRPr lang="zh-CN" altLang="en-US" sz="2800" dirty="0">
              <a:solidFill>
                <a:schemeClr val="hlink"/>
              </a:solidFill>
              <a:latin typeface="+mj-lt"/>
            </a:endParaRPr>
          </a:p>
        </p:txBody>
      </p:sp>
      <p:sp>
        <p:nvSpPr>
          <p:cNvPr id="196655" name="Text Box 47"/>
          <p:cNvSpPr txBox="1">
            <a:spLocks noChangeArrowheads="1"/>
          </p:cNvSpPr>
          <p:nvPr/>
        </p:nvSpPr>
        <p:spPr bwMode="auto">
          <a:xfrm>
            <a:off x="2495600" y="1844824"/>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endParaRPr lang="zh-CN" altLang="en-US" sz="2800" dirty="0">
              <a:solidFill>
                <a:schemeClr val="hlink"/>
              </a:solidFill>
              <a:latin typeface="+mj-lt"/>
            </a:endParaRPr>
          </a:p>
        </p:txBody>
      </p:sp>
      <p:sp>
        <p:nvSpPr>
          <p:cNvPr id="196656" name="Text Box 48"/>
          <p:cNvSpPr txBox="1">
            <a:spLocks noChangeArrowheads="1"/>
          </p:cNvSpPr>
          <p:nvPr/>
        </p:nvSpPr>
        <p:spPr bwMode="auto">
          <a:xfrm>
            <a:off x="5656584" y="1988840"/>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accent3">
                    <a:lumMod val="60000"/>
                    <a:lumOff val="40000"/>
                  </a:schemeClr>
                </a:solidFill>
                <a:latin typeface="+mj-lt"/>
              </a:rPr>
              <a:t>1</a:t>
            </a:r>
            <a:endParaRPr lang="zh-CN" altLang="en-US" sz="2800" dirty="0">
              <a:solidFill>
                <a:schemeClr val="accent3">
                  <a:lumMod val="60000"/>
                  <a:lumOff val="40000"/>
                </a:schemeClr>
              </a:solidFill>
              <a:latin typeface="+mj-lt"/>
            </a:endParaRPr>
          </a:p>
        </p:txBody>
      </p:sp>
      <p:sp>
        <p:nvSpPr>
          <p:cNvPr id="196657" name="Text Box 49"/>
          <p:cNvSpPr txBox="1">
            <a:spLocks noChangeArrowheads="1"/>
          </p:cNvSpPr>
          <p:nvPr/>
        </p:nvSpPr>
        <p:spPr bwMode="auto">
          <a:xfrm>
            <a:off x="5656584" y="2996952"/>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endParaRPr lang="zh-CN" altLang="en-US" sz="2800" dirty="0">
              <a:solidFill>
                <a:schemeClr val="hlink"/>
              </a:solidFill>
              <a:latin typeface="+mj-lt"/>
            </a:endParaRPr>
          </a:p>
        </p:txBody>
      </p:sp>
      <p:sp>
        <p:nvSpPr>
          <p:cNvPr id="196658" name="Text Box 50"/>
          <p:cNvSpPr txBox="1">
            <a:spLocks noChangeArrowheads="1"/>
          </p:cNvSpPr>
          <p:nvPr/>
        </p:nvSpPr>
        <p:spPr bwMode="auto">
          <a:xfrm>
            <a:off x="7608168" y="2996952"/>
            <a:ext cx="18722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r>
              <a:rPr lang="zh-CN" altLang="en-US" sz="2800" dirty="0">
                <a:solidFill>
                  <a:schemeClr val="hlink"/>
                </a:solidFill>
                <a:latin typeface="+mj-lt"/>
              </a:rPr>
              <a:t>   </a:t>
            </a:r>
            <a:r>
              <a:rPr lang="en-US" altLang="zh-CN" sz="2800" dirty="0">
                <a:solidFill>
                  <a:schemeClr val="hlink"/>
                </a:solidFill>
                <a:latin typeface="+mj-lt"/>
              </a:rPr>
              <a:t>1</a:t>
            </a:r>
            <a:r>
              <a:rPr lang="zh-CN" altLang="en-US" sz="2800" dirty="0">
                <a:solidFill>
                  <a:schemeClr val="hlink"/>
                </a:solidFill>
                <a:latin typeface="+mj-lt"/>
              </a:rPr>
              <a:t>   </a:t>
            </a:r>
            <a:r>
              <a:rPr lang="en-US" altLang="zh-CN" sz="2800" i="1" dirty="0">
                <a:solidFill>
                  <a:srgbClr val="C00000"/>
                </a:solidFill>
                <a:latin typeface="+mj-lt"/>
              </a:rPr>
              <a:t>Reset</a:t>
            </a:r>
          </a:p>
        </p:txBody>
      </p:sp>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7649" y="1921000"/>
            <a:ext cx="2581275" cy="172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99456" y="4709120"/>
            <a:ext cx="4058394" cy="1874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Text Box 50"/>
          <p:cNvSpPr txBox="1">
            <a:spLocks noChangeArrowheads="1"/>
          </p:cNvSpPr>
          <p:nvPr/>
        </p:nvSpPr>
        <p:spPr bwMode="auto">
          <a:xfrm>
            <a:off x="7608168" y="2113692"/>
            <a:ext cx="25922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r>
              <a:rPr lang="zh-CN" altLang="en-US" sz="2800" dirty="0">
                <a:solidFill>
                  <a:schemeClr val="hlink"/>
                </a:solidFill>
                <a:latin typeface="+mj-lt"/>
              </a:rPr>
              <a:t>   </a:t>
            </a:r>
            <a:r>
              <a:rPr lang="en-US" altLang="zh-CN" sz="2800" dirty="0">
                <a:solidFill>
                  <a:schemeClr val="hlink"/>
                </a:solidFill>
                <a:latin typeface="+mj-lt"/>
              </a:rPr>
              <a:t>1</a:t>
            </a:r>
            <a:r>
              <a:rPr lang="zh-CN" altLang="en-US" sz="2800" dirty="0">
                <a:solidFill>
                  <a:schemeClr val="hlink"/>
                </a:solidFill>
                <a:latin typeface="+mj-lt"/>
              </a:rPr>
              <a:t>   </a:t>
            </a:r>
            <a:r>
              <a:rPr lang="en-US" altLang="zh-CN" sz="2800" i="1" dirty="0">
                <a:solidFill>
                  <a:srgbClr val="C00000"/>
                </a:solidFill>
                <a:latin typeface="+mj-lt"/>
              </a:rPr>
              <a:t>No change</a:t>
            </a:r>
          </a:p>
        </p:txBody>
      </p:sp>
      <p:sp>
        <p:nvSpPr>
          <p:cNvPr id="16" name="Text Box 50"/>
          <p:cNvSpPr txBox="1">
            <a:spLocks noChangeArrowheads="1"/>
          </p:cNvSpPr>
          <p:nvPr/>
        </p:nvSpPr>
        <p:spPr bwMode="auto">
          <a:xfrm>
            <a:off x="7608168" y="3409836"/>
            <a:ext cx="18722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r>
              <a:rPr lang="zh-CN" altLang="en-US" sz="2800" dirty="0">
                <a:solidFill>
                  <a:schemeClr val="hlink"/>
                </a:solidFill>
                <a:latin typeface="+mj-lt"/>
              </a:rPr>
              <a:t>   </a:t>
            </a:r>
            <a:r>
              <a:rPr lang="en-US" altLang="zh-CN" sz="2800" dirty="0">
                <a:solidFill>
                  <a:schemeClr val="hlink"/>
                </a:solidFill>
                <a:latin typeface="+mj-lt"/>
              </a:rPr>
              <a:t>0</a:t>
            </a:r>
            <a:r>
              <a:rPr lang="zh-CN" altLang="en-US" sz="2800" dirty="0">
                <a:solidFill>
                  <a:schemeClr val="hlink"/>
                </a:solidFill>
                <a:latin typeface="+mj-lt"/>
              </a:rPr>
              <a:t>   </a:t>
            </a:r>
            <a:r>
              <a:rPr lang="en-US" altLang="zh-CN" sz="2800" i="1" dirty="0">
                <a:solidFill>
                  <a:srgbClr val="C00000"/>
                </a:solidFill>
                <a:latin typeface="+mj-lt"/>
              </a:rPr>
              <a:t>Set</a:t>
            </a:r>
          </a:p>
        </p:txBody>
      </p:sp>
      <p:sp>
        <p:nvSpPr>
          <p:cNvPr id="17" name="Text Box 50"/>
          <p:cNvSpPr txBox="1">
            <a:spLocks noChangeArrowheads="1"/>
          </p:cNvSpPr>
          <p:nvPr/>
        </p:nvSpPr>
        <p:spPr bwMode="auto">
          <a:xfrm>
            <a:off x="7608168" y="2545740"/>
            <a:ext cx="25922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r>
              <a:rPr lang="zh-CN" altLang="en-US" sz="2800" dirty="0">
                <a:solidFill>
                  <a:schemeClr val="hlink"/>
                </a:solidFill>
                <a:latin typeface="+mj-lt"/>
              </a:rPr>
              <a:t>   </a:t>
            </a:r>
            <a:r>
              <a:rPr lang="en-US" altLang="zh-CN" sz="2800" dirty="0">
                <a:solidFill>
                  <a:schemeClr val="hlink"/>
                </a:solidFill>
                <a:latin typeface="+mj-lt"/>
              </a:rPr>
              <a:t>0</a:t>
            </a:r>
            <a:r>
              <a:rPr lang="zh-CN" altLang="en-US" sz="2800" dirty="0">
                <a:solidFill>
                  <a:schemeClr val="hlink"/>
                </a:solidFill>
                <a:latin typeface="+mj-lt"/>
              </a:rPr>
              <a:t>   </a:t>
            </a:r>
            <a:r>
              <a:rPr lang="en-US" altLang="zh-CN" sz="2800" i="1" dirty="0">
                <a:solidFill>
                  <a:srgbClr val="C00000"/>
                </a:solidFill>
                <a:latin typeface="+mj-lt"/>
              </a:rPr>
              <a:t>No change</a:t>
            </a:r>
          </a:p>
        </p:txBody>
      </p:sp>
      <p:sp>
        <p:nvSpPr>
          <p:cNvPr id="2" name="Rectangle 1"/>
          <p:cNvSpPr/>
          <p:nvPr/>
        </p:nvSpPr>
        <p:spPr>
          <a:xfrm>
            <a:off x="6795072" y="4499828"/>
            <a:ext cx="2582566" cy="584775"/>
          </a:xfrm>
          <a:prstGeom prst="rect">
            <a:avLst/>
          </a:prstGeom>
        </p:spPr>
        <p:txBody>
          <a:bodyPr wrap="none">
            <a:spAutoFit/>
          </a:bodyPr>
          <a:lstStyle/>
          <a:p>
            <a:r>
              <a:rPr lang="en-IN" sz="3200" dirty="0"/>
              <a:t>Function table</a:t>
            </a:r>
          </a:p>
        </p:txBody>
      </p:sp>
      <p:sp>
        <p:nvSpPr>
          <p:cNvPr id="19" name="Rectangle 18"/>
          <p:cNvSpPr/>
          <p:nvPr/>
        </p:nvSpPr>
        <p:spPr>
          <a:xfrm>
            <a:off x="3318298" y="3789040"/>
            <a:ext cx="2491003" cy="584775"/>
          </a:xfrm>
          <a:prstGeom prst="rect">
            <a:avLst/>
          </a:prstGeom>
        </p:spPr>
        <p:txBody>
          <a:bodyPr wrap="none">
            <a:spAutoFit/>
          </a:bodyPr>
          <a:lstStyle/>
          <a:p>
            <a:r>
              <a:rPr lang="en-IN" sz="3200" dirty="0"/>
              <a:t>Logic diagram</a:t>
            </a:r>
          </a:p>
        </p:txBody>
      </p:sp>
      <p:sp>
        <p:nvSpPr>
          <p:cNvPr id="20" name="Text Box 48"/>
          <p:cNvSpPr txBox="1">
            <a:spLocks noChangeArrowheads="1"/>
          </p:cNvSpPr>
          <p:nvPr/>
        </p:nvSpPr>
        <p:spPr bwMode="auto">
          <a:xfrm>
            <a:off x="5663952" y="1988840"/>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endParaRPr lang="zh-CN" altLang="en-US" sz="2800" dirty="0">
              <a:solidFill>
                <a:schemeClr val="hlink"/>
              </a:solidFill>
              <a:latin typeface="+mj-lt"/>
            </a:endParaRPr>
          </a:p>
        </p:txBody>
      </p:sp>
    </p:spTree>
    <p:extLst>
      <p:ext uri="{BB962C8B-B14F-4D97-AF65-F5344CB8AC3E}">
        <p14:creationId xmlns:p14="http://schemas.microsoft.com/office/powerpoint/2010/main" val="80696221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9665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9665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665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665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54" grpId="0" build="p" autoUpdateAnimBg="0"/>
      <p:bldP spid="196655" grpId="0" build="p" autoUpdateAnimBg="0"/>
      <p:bldP spid="196656" grpId="0"/>
      <p:bldP spid="196657" grpId="0"/>
      <p:bldP spid="17" grpId="0"/>
      <p:bldP spid="2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rrowheads="1"/>
          </p:cNvSpPr>
          <p:nvPr>
            <p:ph type="title"/>
          </p:nvPr>
        </p:nvSpPr>
        <p:spPr/>
        <p:txBody>
          <a:bodyPr/>
          <a:lstStyle/>
          <a:p>
            <a:r>
              <a:rPr lang="en-US" i="1" dirty="0">
                <a:solidFill>
                  <a:srgbClr val="002060"/>
                </a:solidFill>
              </a:rPr>
              <a:t>SR </a:t>
            </a:r>
            <a:r>
              <a:rPr lang="en-US" dirty="0">
                <a:solidFill>
                  <a:srgbClr val="002060"/>
                </a:solidFill>
              </a:rPr>
              <a:t>latch with NOR gates</a:t>
            </a:r>
            <a:endParaRPr lang="en-US" altLang="zh-CN" dirty="0">
              <a:solidFill>
                <a:srgbClr val="002060"/>
              </a:solidFill>
            </a:endParaRPr>
          </a:p>
        </p:txBody>
      </p:sp>
      <p:sp>
        <p:nvSpPr>
          <p:cNvPr id="20487" name="Line 4"/>
          <p:cNvSpPr>
            <a:spLocks noChangeShapeType="1"/>
          </p:cNvSpPr>
          <p:nvPr/>
        </p:nvSpPr>
        <p:spPr bwMode="auto">
          <a:xfrm>
            <a:off x="4400550" y="4232275"/>
            <a:ext cx="1588"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20519" name="Text Box 42"/>
          <p:cNvSpPr txBox="1">
            <a:spLocks noChangeArrowheads="1"/>
          </p:cNvSpPr>
          <p:nvPr/>
        </p:nvSpPr>
        <p:spPr bwMode="auto">
          <a:xfrm>
            <a:off x="6672065" y="2132857"/>
            <a:ext cx="713657"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zh-CN" altLang="en-US" sz="2800" dirty="0">
                <a:latin typeface="+mj-lt"/>
              </a:rPr>
              <a:t>0</a:t>
            </a:r>
            <a:r>
              <a:rPr lang="en-US" altLang="zh-CN" sz="2800" dirty="0">
                <a:latin typeface="+mj-lt"/>
              </a:rPr>
              <a:t>  </a:t>
            </a:r>
            <a:r>
              <a:rPr lang="zh-CN" altLang="en-US" sz="2800" dirty="0">
                <a:latin typeface="+mj-lt"/>
              </a:rPr>
              <a:t>0</a:t>
            </a:r>
            <a:endParaRPr lang="en-US" altLang="zh-CN" sz="2800" dirty="0">
              <a:latin typeface="+mj-lt"/>
            </a:endParaRPr>
          </a:p>
          <a:p>
            <a:endParaRPr lang="zh-CN" altLang="en-US" sz="2800" dirty="0">
              <a:latin typeface="+mj-lt"/>
            </a:endParaRPr>
          </a:p>
          <a:p>
            <a:r>
              <a:rPr lang="zh-CN" altLang="en-US" sz="2800" dirty="0">
                <a:latin typeface="+mj-lt"/>
              </a:rPr>
              <a:t>0  1</a:t>
            </a:r>
          </a:p>
          <a:p>
            <a:r>
              <a:rPr lang="zh-CN" altLang="en-US" sz="2800" dirty="0">
                <a:latin typeface="+mj-lt"/>
              </a:rPr>
              <a:t>1  0</a:t>
            </a:r>
          </a:p>
          <a:p>
            <a:r>
              <a:rPr lang="zh-CN" altLang="en-US" sz="2800" dirty="0">
                <a:latin typeface="+mj-lt"/>
              </a:rPr>
              <a:t>1  1</a:t>
            </a:r>
          </a:p>
        </p:txBody>
      </p:sp>
      <mc:AlternateContent xmlns:mc="http://schemas.openxmlformats.org/markup-compatibility/2006" xmlns:a14="http://schemas.microsoft.com/office/drawing/2010/main">
        <mc:Choice Requires="a14">
          <p:sp>
            <p:nvSpPr>
              <p:cNvPr id="20520" name="Text Box 43"/>
              <p:cNvSpPr txBox="1">
                <a:spLocks noChangeArrowheads="1"/>
              </p:cNvSpPr>
              <p:nvPr/>
            </p:nvSpPr>
            <p:spPr bwMode="auto">
              <a:xfrm>
                <a:off x="6556290" y="1486908"/>
                <a:ext cx="1915974" cy="57394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pPr/>
                <a14:m>
                  <m:oMathPara xmlns:m="http://schemas.openxmlformats.org/officeDocument/2006/math">
                    <m:oMathParaPr>
                      <m:jc m:val="centerGroup"/>
                    </m:oMathParaPr>
                    <m:oMath xmlns:m="http://schemas.openxmlformats.org/officeDocument/2006/math">
                      <m:r>
                        <a:rPr lang="en-US" altLang="zh-CN" sz="2800" i="1" dirty="0">
                          <a:latin typeface="Cambria Math"/>
                        </a:rPr>
                        <m:t>𝑆</m:t>
                      </m:r>
                      <m:r>
                        <a:rPr lang="en-US" altLang="zh-CN" sz="2800" i="1" dirty="0">
                          <a:latin typeface="Cambria Math"/>
                        </a:rPr>
                        <m:t>  </m:t>
                      </m:r>
                      <m:r>
                        <a:rPr lang="en-US" altLang="zh-CN" sz="2800" i="1" dirty="0">
                          <a:latin typeface="Cambria Math"/>
                        </a:rPr>
                        <m:t>𝑅</m:t>
                      </m:r>
                      <m:r>
                        <a:rPr lang="en-US" altLang="zh-CN" sz="2800" i="1" dirty="0">
                          <a:latin typeface="Cambria Math"/>
                        </a:rPr>
                        <m:t>    </m:t>
                      </m:r>
                      <m:r>
                        <a:rPr lang="en-US" altLang="zh-CN" sz="2800" i="1" dirty="0">
                          <a:latin typeface="Cambria Math"/>
                        </a:rPr>
                        <m:t>𝑄</m:t>
                      </m:r>
                      <m:r>
                        <a:rPr lang="en-US" altLang="zh-CN" sz="2800" i="1" dirty="0">
                          <a:latin typeface="Cambria Math"/>
                        </a:rPr>
                        <m:t>   </m:t>
                      </m:r>
                      <m:bar>
                        <m:barPr>
                          <m:pos m:val="top"/>
                          <m:ctrlPr>
                            <a:rPr lang="en-US" altLang="zh-CN" sz="2800" i="1">
                              <a:latin typeface="Cambria Math" panose="02040503050406030204" pitchFamily="18" charset="0"/>
                            </a:rPr>
                          </m:ctrlPr>
                        </m:barPr>
                        <m:e>
                          <m:r>
                            <a:rPr lang="en-US" altLang="zh-CN" sz="2800" i="1">
                              <a:latin typeface="Cambria Math"/>
                            </a:rPr>
                            <m:t>𝑄</m:t>
                          </m:r>
                        </m:e>
                      </m:bar>
                    </m:oMath>
                  </m:oMathPara>
                </a14:m>
                <a:endParaRPr lang="en-US" altLang="zh-CN" sz="2800" i="1" dirty="0">
                  <a:latin typeface="+mj-lt"/>
                </a:endParaRPr>
              </a:p>
            </p:txBody>
          </p:sp>
        </mc:Choice>
        <mc:Fallback xmlns="">
          <p:sp>
            <p:nvSpPr>
              <p:cNvPr id="20520" name="Text Box 43"/>
              <p:cNvSpPr txBox="1">
                <a:spLocks noRot="1" noChangeAspect="1" noMove="1" noResize="1" noEditPoints="1" noAdjustHandles="1" noChangeArrowheads="1" noChangeShapeType="1" noTextEdit="1"/>
              </p:cNvSpPr>
              <p:nvPr/>
            </p:nvSpPr>
            <p:spPr bwMode="auto">
              <a:xfrm>
                <a:off x="6556290" y="1486908"/>
                <a:ext cx="1915974" cy="573940"/>
              </a:xfrm>
              <a:prstGeom prst="rect">
                <a:avLst/>
              </a:prstGeom>
              <a:blipFill>
                <a:blip r:embed="rId3"/>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N">
                    <a:noFill/>
                  </a:rPr>
                  <a:t> </a:t>
                </a:r>
              </a:p>
            </p:txBody>
          </p:sp>
        </mc:Fallback>
      </mc:AlternateContent>
      <p:sp>
        <p:nvSpPr>
          <p:cNvPr id="20521" name="Line 44"/>
          <p:cNvSpPr>
            <a:spLocks noChangeShapeType="1"/>
          </p:cNvSpPr>
          <p:nvPr/>
        </p:nvSpPr>
        <p:spPr bwMode="auto">
          <a:xfrm>
            <a:off x="6456040" y="2060848"/>
            <a:ext cx="2286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0522" name="Line 45"/>
          <p:cNvSpPr>
            <a:spLocks noChangeShapeType="1"/>
          </p:cNvSpPr>
          <p:nvPr/>
        </p:nvSpPr>
        <p:spPr bwMode="auto">
          <a:xfrm>
            <a:off x="7514278" y="1700808"/>
            <a:ext cx="21883" cy="253305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96654" name="Text Box 46"/>
          <p:cNvSpPr txBox="1">
            <a:spLocks noChangeArrowheads="1"/>
          </p:cNvSpPr>
          <p:nvPr/>
        </p:nvSpPr>
        <p:spPr bwMode="auto">
          <a:xfrm>
            <a:off x="2495600" y="3140968"/>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endParaRPr lang="zh-CN" altLang="en-US" sz="2800" dirty="0">
              <a:solidFill>
                <a:schemeClr val="hlink"/>
              </a:solidFill>
              <a:latin typeface="+mj-lt"/>
            </a:endParaRPr>
          </a:p>
        </p:txBody>
      </p:sp>
      <p:sp>
        <p:nvSpPr>
          <p:cNvPr id="196655" name="Text Box 47"/>
          <p:cNvSpPr txBox="1">
            <a:spLocks noChangeArrowheads="1"/>
          </p:cNvSpPr>
          <p:nvPr/>
        </p:nvSpPr>
        <p:spPr bwMode="auto">
          <a:xfrm>
            <a:off x="2495600" y="1844824"/>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endParaRPr lang="zh-CN" altLang="en-US" sz="2800" dirty="0">
              <a:solidFill>
                <a:schemeClr val="hlink"/>
              </a:solidFill>
              <a:latin typeface="+mj-lt"/>
            </a:endParaRPr>
          </a:p>
        </p:txBody>
      </p:sp>
      <p:sp>
        <p:nvSpPr>
          <p:cNvPr id="196656" name="Text Box 48"/>
          <p:cNvSpPr txBox="1">
            <a:spLocks noChangeArrowheads="1"/>
          </p:cNvSpPr>
          <p:nvPr/>
        </p:nvSpPr>
        <p:spPr bwMode="auto">
          <a:xfrm>
            <a:off x="5656584" y="1988840"/>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endParaRPr lang="zh-CN" altLang="en-US" sz="2800" dirty="0">
              <a:solidFill>
                <a:schemeClr val="hlink"/>
              </a:solidFill>
              <a:latin typeface="+mj-lt"/>
            </a:endParaRPr>
          </a:p>
        </p:txBody>
      </p:sp>
      <p:sp>
        <p:nvSpPr>
          <p:cNvPr id="196657" name="Text Box 49"/>
          <p:cNvSpPr txBox="1">
            <a:spLocks noChangeArrowheads="1"/>
          </p:cNvSpPr>
          <p:nvPr/>
        </p:nvSpPr>
        <p:spPr bwMode="auto">
          <a:xfrm>
            <a:off x="5656584" y="2996952"/>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endParaRPr lang="zh-CN" altLang="en-US" sz="2800" dirty="0">
              <a:solidFill>
                <a:schemeClr val="hlink"/>
              </a:solidFill>
              <a:latin typeface="+mj-lt"/>
            </a:endParaRPr>
          </a:p>
        </p:txBody>
      </p:sp>
      <p:sp>
        <p:nvSpPr>
          <p:cNvPr id="196658" name="Text Box 50"/>
          <p:cNvSpPr txBox="1">
            <a:spLocks noChangeArrowheads="1"/>
          </p:cNvSpPr>
          <p:nvPr/>
        </p:nvSpPr>
        <p:spPr bwMode="auto">
          <a:xfrm>
            <a:off x="7608168" y="2996952"/>
            <a:ext cx="18722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r>
              <a:rPr lang="zh-CN" altLang="en-US" sz="2800" dirty="0">
                <a:solidFill>
                  <a:schemeClr val="hlink"/>
                </a:solidFill>
                <a:latin typeface="+mj-lt"/>
              </a:rPr>
              <a:t>   </a:t>
            </a:r>
            <a:r>
              <a:rPr lang="en-US" altLang="zh-CN" sz="2800" dirty="0">
                <a:solidFill>
                  <a:schemeClr val="hlink"/>
                </a:solidFill>
                <a:latin typeface="+mj-lt"/>
              </a:rPr>
              <a:t>1</a:t>
            </a:r>
            <a:r>
              <a:rPr lang="zh-CN" altLang="en-US" sz="2800" dirty="0">
                <a:solidFill>
                  <a:schemeClr val="hlink"/>
                </a:solidFill>
                <a:latin typeface="+mj-lt"/>
              </a:rPr>
              <a:t>   </a:t>
            </a:r>
            <a:r>
              <a:rPr lang="en-US" altLang="zh-CN" sz="2800" i="1" dirty="0">
                <a:solidFill>
                  <a:srgbClr val="C00000"/>
                </a:solidFill>
                <a:latin typeface="+mj-lt"/>
              </a:rPr>
              <a:t>Reset</a:t>
            </a:r>
          </a:p>
        </p:txBody>
      </p:sp>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7649" y="1921000"/>
            <a:ext cx="2581275" cy="172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6876" y="4983162"/>
            <a:ext cx="276225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Text Box 50"/>
          <p:cNvSpPr txBox="1">
            <a:spLocks noChangeArrowheads="1"/>
          </p:cNvSpPr>
          <p:nvPr/>
        </p:nvSpPr>
        <p:spPr bwMode="auto">
          <a:xfrm>
            <a:off x="7608168" y="2113692"/>
            <a:ext cx="25922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r>
              <a:rPr lang="zh-CN" altLang="en-US" sz="2800" dirty="0">
                <a:solidFill>
                  <a:schemeClr val="hlink"/>
                </a:solidFill>
                <a:latin typeface="+mj-lt"/>
              </a:rPr>
              <a:t>   </a:t>
            </a:r>
            <a:r>
              <a:rPr lang="en-US" altLang="zh-CN" sz="2800" dirty="0">
                <a:solidFill>
                  <a:schemeClr val="hlink"/>
                </a:solidFill>
                <a:latin typeface="+mj-lt"/>
              </a:rPr>
              <a:t>1</a:t>
            </a:r>
            <a:r>
              <a:rPr lang="zh-CN" altLang="en-US" sz="2800" dirty="0">
                <a:solidFill>
                  <a:schemeClr val="hlink"/>
                </a:solidFill>
                <a:latin typeface="+mj-lt"/>
              </a:rPr>
              <a:t>   </a:t>
            </a:r>
            <a:r>
              <a:rPr lang="en-US" altLang="zh-CN" sz="2800" i="1" dirty="0">
                <a:solidFill>
                  <a:srgbClr val="C00000"/>
                </a:solidFill>
                <a:latin typeface="+mj-lt"/>
              </a:rPr>
              <a:t>No change</a:t>
            </a:r>
          </a:p>
        </p:txBody>
      </p:sp>
      <p:sp>
        <p:nvSpPr>
          <p:cNvPr id="16" name="Text Box 50"/>
          <p:cNvSpPr txBox="1">
            <a:spLocks noChangeArrowheads="1"/>
          </p:cNvSpPr>
          <p:nvPr/>
        </p:nvSpPr>
        <p:spPr bwMode="auto">
          <a:xfrm>
            <a:off x="7608168" y="3409836"/>
            <a:ext cx="18722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r>
              <a:rPr lang="zh-CN" altLang="en-US" sz="2800" dirty="0">
                <a:solidFill>
                  <a:schemeClr val="hlink"/>
                </a:solidFill>
                <a:latin typeface="+mj-lt"/>
              </a:rPr>
              <a:t>   </a:t>
            </a:r>
            <a:r>
              <a:rPr lang="en-US" altLang="zh-CN" sz="2800" dirty="0">
                <a:solidFill>
                  <a:schemeClr val="hlink"/>
                </a:solidFill>
                <a:latin typeface="+mj-lt"/>
              </a:rPr>
              <a:t>0</a:t>
            </a:r>
            <a:r>
              <a:rPr lang="zh-CN" altLang="en-US" sz="2800" dirty="0">
                <a:solidFill>
                  <a:schemeClr val="hlink"/>
                </a:solidFill>
                <a:latin typeface="+mj-lt"/>
              </a:rPr>
              <a:t>   </a:t>
            </a:r>
            <a:r>
              <a:rPr lang="en-US" altLang="zh-CN" sz="2800" i="1" dirty="0">
                <a:solidFill>
                  <a:srgbClr val="C00000"/>
                </a:solidFill>
                <a:latin typeface="+mj-lt"/>
              </a:rPr>
              <a:t>Set</a:t>
            </a:r>
          </a:p>
        </p:txBody>
      </p:sp>
      <p:sp>
        <p:nvSpPr>
          <p:cNvPr id="17" name="Text Box 50"/>
          <p:cNvSpPr txBox="1">
            <a:spLocks noChangeArrowheads="1"/>
          </p:cNvSpPr>
          <p:nvPr/>
        </p:nvSpPr>
        <p:spPr bwMode="auto">
          <a:xfrm>
            <a:off x="7608168" y="2545740"/>
            <a:ext cx="25922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r>
              <a:rPr lang="zh-CN" altLang="en-US" sz="2800" dirty="0">
                <a:solidFill>
                  <a:schemeClr val="hlink"/>
                </a:solidFill>
                <a:latin typeface="+mj-lt"/>
              </a:rPr>
              <a:t>   </a:t>
            </a:r>
            <a:r>
              <a:rPr lang="en-US" altLang="zh-CN" sz="2800" dirty="0">
                <a:solidFill>
                  <a:schemeClr val="hlink"/>
                </a:solidFill>
                <a:latin typeface="+mj-lt"/>
              </a:rPr>
              <a:t>0</a:t>
            </a:r>
            <a:r>
              <a:rPr lang="zh-CN" altLang="en-US" sz="2800" dirty="0">
                <a:solidFill>
                  <a:schemeClr val="hlink"/>
                </a:solidFill>
                <a:latin typeface="+mj-lt"/>
              </a:rPr>
              <a:t>   </a:t>
            </a:r>
            <a:r>
              <a:rPr lang="en-US" altLang="zh-CN" sz="2800" i="1" dirty="0">
                <a:solidFill>
                  <a:srgbClr val="C00000"/>
                </a:solidFill>
                <a:latin typeface="+mj-lt"/>
              </a:rPr>
              <a:t>No change</a:t>
            </a:r>
          </a:p>
        </p:txBody>
      </p:sp>
      <p:sp>
        <p:nvSpPr>
          <p:cNvPr id="18" name="Text Box 50"/>
          <p:cNvSpPr txBox="1">
            <a:spLocks noChangeArrowheads="1"/>
          </p:cNvSpPr>
          <p:nvPr/>
        </p:nvSpPr>
        <p:spPr bwMode="auto">
          <a:xfrm>
            <a:off x="7608168" y="3841884"/>
            <a:ext cx="3974232"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r>
              <a:rPr lang="zh-CN" altLang="en-US" sz="2800" dirty="0">
                <a:solidFill>
                  <a:schemeClr val="hlink"/>
                </a:solidFill>
                <a:latin typeface="+mj-lt"/>
              </a:rPr>
              <a:t>   </a:t>
            </a:r>
            <a:r>
              <a:rPr lang="en-US" altLang="zh-CN" sz="2800" dirty="0">
                <a:solidFill>
                  <a:schemeClr val="hlink"/>
                </a:solidFill>
                <a:latin typeface="+mj-lt"/>
              </a:rPr>
              <a:t>0</a:t>
            </a:r>
            <a:r>
              <a:rPr lang="zh-CN" altLang="en-US" sz="2800" dirty="0">
                <a:solidFill>
                  <a:schemeClr val="hlink"/>
                </a:solidFill>
                <a:latin typeface="+mj-lt"/>
              </a:rPr>
              <a:t>   </a:t>
            </a:r>
            <a:r>
              <a:rPr lang="en-IN" sz="2800" i="1" dirty="0">
                <a:solidFill>
                  <a:srgbClr val="C00000"/>
                </a:solidFill>
              </a:rPr>
              <a:t>Indeterminate or               </a:t>
            </a:r>
            <a:r>
              <a:rPr lang="en-IN" dirty="0"/>
              <a:t>undefined</a:t>
            </a:r>
            <a:endParaRPr lang="en-US" altLang="zh-CN" sz="2800" i="1" dirty="0">
              <a:solidFill>
                <a:srgbClr val="C00000"/>
              </a:solidFill>
              <a:latin typeface="+mj-lt"/>
            </a:endParaRPr>
          </a:p>
        </p:txBody>
      </p:sp>
      <p:sp>
        <p:nvSpPr>
          <p:cNvPr id="2" name="Rectangle 1"/>
          <p:cNvSpPr/>
          <p:nvPr/>
        </p:nvSpPr>
        <p:spPr>
          <a:xfrm>
            <a:off x="7777683" y="5192365"/>
            <a:ext cx="3070845" cy="584775"/>
          </a:xfrm>
          <a:prstGeom prst="rect">
            <a:avLst/>
          </a:prstGeom>
        </p:spPr>
        <p:txBody>
          <a:bodyPr wrap="square">
            <a:spAutoFit/>
          </a:bodyPr>
          <a:lstStyle/>
          <a:p>
            <a:r>
              <a:rPr lang="en-IN" sz="3200" dirty="0"/>
              <a:t>Function table</a:t>
            </a:r>
          </a:p>
        </p:txBody>
      </p:sp>
      <p:sp>
        <p:nvSpPr>
          <p:cNvPr id="20" name="Rectangle 19"/>
          <p:cNvSpPr/>
          <p:nvPr/>
        </p:nvSpPr>
        <p:spPr>
          <a:xfrm>
            <a:off x="2475596" y="3837140"/>
            <a:ext cx="2773644" cy="646331"/>
          </a:xfrm>
          <a:prstGeom prst="rect">
            <a:avLst/>
          </a:prstGeom>
        </p:spPr>
        <p:txBody>
          <a:bodyPr wrap="none">
            <a:spAutoFit/>
          </a:bodyPr>
          <a:lstStyle/>
          <a:p>
            <a:r>
              <a:rPr lang="en-IN" sz="3600" dirty="0"/>
              <a:t>Logic diagram</a:t>
            </a:r>
          </a:p>
        </p:txBody>
      </p:sp>
    </p:spTree>
    <p:extLst>
      <p:ext uri="{BB962C8B-B14F-4D97-AF65-F5344CB8AC3E}">
        <p14:creationId xmlns:p14="http://schemas.microsoft.com/office/powerpoint/2010/main" val="122016532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9665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9665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665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665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54" grpId="0" build="p" autoUpdateAnimBg="0"/>
      <p:bldP spid="196655" grpId="0" build="p" autoUpdateAnimBg="0"/>
      <p:bldP spid="196656" grpId="0"/>
      <p:bldP spid="196657" grpId="0"/>
      <p:bldP spid="1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rrowheads="1"/>
          </p:cNvSpPr>
          <p:nvPr>
            <p:ph type="title"/>
          </p:nvPr>
        </p:nvSpPr>
        <p:spPr/>
        <p:txBody>
          <a:bodyPr/>
          <a:lstStyle/>
          <a:p>
            <a:r>
              <a:rPr lang="en-US" i="1" dirty="0">
                <a:solidFill>
                  <a:srgbClr val="002060"/>
                </a:solidFill>
              </a:rPr>
              <a:t>SR </a:t>
            </a:r>
            <a:r>
              <a:rPr lang="en-US" dirty="0">
                <a:solidFill>
                  <a:srgbClr val="002060"/>
                </a:solidFill>
              </a:rPr>
              <a:t>latch with NAND gates</a:t>
            </a:r>
            <a:endParaRPr lang="en-US" altLang="zh-CN" dirty="0">
              <a:solidFill>
                <a:srgbClr val="002060"/>
              </a:solidFill>
            </a:endParaRPr>
          </a:p>
        </p:txBody>
      </p:sp>
      <p:sp>
        <p:nvSpPr>
          <p:cNvPr id="20487" name="Line 4"/>
          <p:cNvSpPr>
            <a:spLocks noChangeShapeType="1"/>
          </p:cNvSpPr>
          <p:nvPr/>
        </p:nvSpPr>
        <p:spPr bwMode="auto">
          <a:xfrm>
            <a:off x="4400550" y="4232275"/>
            <a:ext cx="1588"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20519" name="Text Box 42"/>
          <p:cNvSpPr txBox="1">
            <a:spLocks noChangeArrowheads="1"/>
          </p:cNvSpPr>
          <p:nvPr/>
        </p:nvSpPr>
        <p:spPr bwMode="auto">
          <a:xfrm>
            <a:off x="6672065" y="2132856"/>
            <a:ext cx="713657"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zh-CN" altLang="en-US" sz="2800" dirty="0">
                <a:latin typeface="+mj-lt"/>
              </a:rPr>
              <a:t>0</a:t>
            </a:r>
            <a:r>
              <a:rPr lang="en-US" altLang="zh-CN" sz="2800" dirty="0">
                <a:latin typeface="+mj-lt"/>
              </a:rPr>
              <a:t>  </a:t>
            </a:r>
            <a:r>
              <a:rPr lang="zh-CN" altLang="en-US" sz="2800" dirty="0">
                <a:latin typeface="+mj-lt"/>
              </a:rPr>
              <a:t>0</a:t>
            </a:r>
            <a:endParaRPr lang="en-US" altLang="zh-CN" sz="2800" dirty="0">
              <a:latin typeface="+mj-lt"/>
            </a:endParaRPr>
          </a:p>
          <a:p>
            <a:r>
              <a:rPr lang="zh-CN" altLang="en-US" sz="2800" dirty="0">
                <a:latin typeface="+mj-lt"/>
              </a:rPr>
              <a:t>0  1</a:t>
            </a:r>
          </a:p>
          <a:p>
            <a:r>
              <a:rPr lang="zh-CN" altLang="en-US" sz="2800" dirty="0">
                <a:latin typeface="+mj-lt"/>
              </a:rPr>
              <a:t>1  0</a:t>
            </a:r>
          </a:p>
          <a:p>
            <a:r>
              <a:rPr lang="zh-CN" altLang="en-US" sz="2800" dirty="0">
                <a:latin typeface="+mj-lt"/>
              </a:rPr>
              <a:t>1  1</a:t>
            </a:r>
          </a:p>
        </p:txBody>
      </p:sp>
      <mc:AlternateContent xmlns:mc="http://schemas.openxmlformats.org/markup-compatibility/2006" xmlns:a14="http://schemas.microsoft.com/office/drawing/2010/main">
        <mc:Choice Requires="a14">
          <p:sp>
            <p:nvSpPr>
              <p:cNvPr id="20520" name="Text Box 43"/>
              <p:cNvSpPr txBox="1">
                <a:spLocks noChangeArrowheads="1"/>
              </p:cNvSpPr>
              <p:nvPr/>
            </p:nvSpPr>
            <p:spPr bwMode="auto">
              <a:xfrm>
                <a:off x="6556290" y="1486908"/>
                <a:ext cx="1915974" cy="57394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pPr/>
                <a14:m>
                  <m:oMathPara xmlns:m="http://schemas.openxmlformats.org/officeDocument/2006/math">
                    <m:oMathParaPr>
                      <m:jc m:val="centerGroup"/>
                    </m:oMathParaPr>
                    <m:oMath xmlns:m="http://schemas.openxmlformats.org/officeDocument/2006/math">
                      <m:r>
                        <a:rPr lang="en-US" altLang="zh-CN" sz="2800" i="1" dirty="0">
                          <a:latin typeface="Cambria Math"/>
                        </a:rPr>
                        <m:t>𝑆</m:t>
                      </m:r>
                      <m:r>
                        <a:rPr lang="en-US" altLang="zh-CN" sz="2800" i="1" dirty="0">
                          <a:latin typeface="Cambria Math"/>
                        </a:rPr>
                        <m:t>  </m:t>
                      </m:r>
                      <m:r>
                        <a:rPr lang="en-US" altLang="zh-CN" sz="2800" i="1" dirty="0">
                          <a:latin typeface="Cambria Math"/>
                        </a:rPr>
                        <m:t>𝑅</m:t>
                      </m:r>
                      <m:r>
                        <a:rPr lang="en-US" altLang="zh-CN" sz="2800" i="1" dirty="0">
                          <a:latin typeface="Cambria Math"/>
                        </a:rPr>
                        <m:t>    </m:t>
                      </m:r>
                      <m:r>
                        <a:rPr lang="en-US" altLang="zh-CN" sz="2800" i="1" dirty="0">
                          <a:latin typeface="Cambria Math"/>
                        </a:rPr>
                        <m:t>𝑄</m:t>
                      </m:r>
                      <m:r>
                        <a:rPr lang="en-US" altLang="zh-CN" sz="2800" i="1" dirty="0">
                          <a:latin typeface="Cambria Math"/>
                        </a:rPr>
                        <m:t>   </m:t>
                      </m:r>
                      <m:bar>
                        <m:barPr>
                          <m:pos m:val="top"/>
                          <m:ctrlPr>
                            <a:rPr lang="en-US" altLang="zh-CN" sz="2800" i="1">
                              <a:latin typeface="Cambria Math" panose="02040503050406030204" pitchFamily="18" charset="0"/>
                            </a:rPr>
                          </m:ctrlPr>
                        </m:barPr>
                        <m:e>
                          <m:r>
                            <a:rPr lang="en-US" altLang="zh-CN" sz="2800" i="1">
                              <a:latin typeface="Cambria Math"/>
                            </a:rPr>
                            <m:t>𝑄</m:t>
                          </m:r>
                        </m:e>
                      </m:bar>
                    </m:oMath>
                  </m:oMathPara>
                </a14:m>
                <a:endParaRPr lang="en-US" altLang="zh-CN" sz="2800" i="1" dirty="0">
                  <a:latin typeface="+mj-lt"/>
                </a:endParaRPr>
              </a:p>
            </p:txBody>
          </p:sp>
        </mc:Choice>
        <mc:Fallback xmlns="">
          <p:sp>
            <p:nvSpPr>
              <p:cNvPr id="20520" name="Text Box 43"/>
              <p:cNvSpPr txBox="1">
                <a:spLocks noRot="1" noChangeAspect="1" noMove="1" noResize="1" noEditPoints="1" noAdjustHandles="1" noChangeArrowheads="1" noChangeShapeType="1" noTextEdit="1"/>
              </p:cNvSpPr>
              <p:nvPr/>
            </p:nvSpPr>
            <p:spPr bwMode="auto">
              <a:xfrm>
                <a:off x="6556290" y="1486908"/>
                <a:ext cx="1915974" cy="573940"/>
              </a:xfrm>
              <a:prstGeom prst="rect">
                <a:avLst/>
              </a:prstGeom>
              <a:blipFill>
                <a:blip r:embed="rId3"/>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N">
                    <a:noFill/>
                  </a:rPr>
                  <a:t> </a:t>
                </a:r>
              </a:p>
            </p:txBody>
          </p:sp>
        </mc:Fallback>
      </mc:AlternateContent>
      <p:sp>
        <p:nvSpPr>
          <p:cNvPr id="20521" name="Line 44"/>
          <p:cNvSpPr>
            <a:spLocks noChangeShapeType="1"/>
          </p:cNvSpPr>
          <p:nvPr/>
        </p:nvSpPr>
        <p:spPr bwMode="auto">
          <a:xfrm>
            <a:off x="6456040" y="2060848"/>
            <a:ext cx="2286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0522" name="Line 45"/>
          <p:cNvSpPr>
            <a:spLocks noChangeShapeType="1"/>
          </p:cNvSpPr>
          <p:nvPr/>
        </p:nvSpPr>
        <p:spPr bwMode="auto">
          <a:xfrm>
            <a:off x="7514278" y="1700808"/>
            <a:ext cx="21883" cy="253305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96654" name="Text Box 46"/>
          <p:cNvSpPr txBox="1">
            <a:spLocks noChangeArrowheads="1"/>
          </p:cNvSpPr>
          <p:nvPr/>
        </p:nvSpPr>
        <p:spPr bwMode="auto">
          <a:xfrm>
            <a:off x="2560240" y="3265820"/>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endParaRPr lang="zh-CN" altLang="en-US" sz="2800" dirty="0">
              <a:solidFill>
                <a:schemeClr val="hlink"/>
              </a:solidFill>
              <a:latin typeface="+mj-lt"/>
            </a:endParaRPr>
          </a:p>
        </p:txBody>
      </p:sp>
      <p:sp>
        <p:nvSpPr>
          <p:cNvPr id="196655" name="Text Box 47"/>
          <p:cNvSpPr txBox="1">
            <a:spLocks noChangeArrowheads="1"/>
          </p:cNvSpPr>
          <p:nvPr/>
        </p:nvSpPr>
        <p:spPr bwMode="auto">
          <a:xfrm>
            <a:off x="2560240" y="1609636"/>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endParaRPr lang="zh-CN" altLang="en-US" sz="2800" dirty="0">
              <a:solidFill>
                <a:schemeClr val="hlink"/>
              </a:solidFill>
              <a:latin typeface="+mj-lt"/>
            </a:endParaRPr>
          </a:p>
        </p:txBody>
      </p:sp>
      <p:sp>
        <p:nvSpPr>
          <p:cNvPr id="196656" name="Text Box 48"/>
          <p:cNvSpPr txBox="1">
            <a:spLocks noChangeArrowheads="1"/>
          </p:cNvSpPr>
          <p:nvPr/>
        </p:nvSpPr>
        <p:spPr bwMode="auto">
          <a:xfrm>
            <a:off x="5512568" y="1825660"/>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endParaRPr lang="zh-CN" altLang="en-US" sz="2800" dirty="0">
              <a:solidFill>
                <a:schemeClr val="hlink"/>
              </a:solidFill>
              <a:latin typeface="+mj-lt"/>
            </a:endParaRPr>
          </a:p>
        </p:txBody>
      </p:sp>
      <p:sp>
        <p:nvSpPr>
          <p:cNvPr id="196657" name="Text Box 49"/>
          <p:cNvSpPr txBox="1">
            <a:spLocks noChangeArrowheads="1"/>
          </p:cNvSpPr>
          <p:nvPr/>
        </p:nvSpPr>
        <p:spPr bwMode="auto">
          <a:xfrm>
            <a:off x="5512568" y="3068960"/>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endParaRPr lang="zh-CN" altLang="en-US" sz="2800" dirty="0">
              <a:solidFill>
                <a:schemeClr val="hlink"/>
              </a:solidFill>
              <a:latin typeface="+mj-lt"/>
            </a:endParaRPr>
          </a:p>
        </p:txBody>
      </p:sp>
      <p:sp>
        <p:nvSpPr>
          <p:cNvPr id="196658" name="Text Box 50"/>
          <p:cNvSpPr txBox="1">
            <a:spLocks noChangeArrowheads="1"/>
          </p:cNvSpPr>
          <p:nvPr/>
        </p:nvSpPr>
        <p:spPr bwMode="auto">
          <a:xfrm>
            <a:off x="7608168" y="2564904"/>
            <a:ext cx="2209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r>
              <a:rPr lang="zh-CN" altLang="en-US" sz="2800" dirty="0">
                <a:solidFill>
                  <a:schemeClr val="hlink"/>
                </a:solidFill>
                <a:latin typeface="+mj-lt"/>
              </a:rPr>
              <a:t>   </a:t>
            </a:r>
            <a:r>
              <a:rPr lang="en-US" altLang="zh-CN" sz="2800" dirty="0">
                <a:solidFill>
                  <a:schemeClr val="hlink"/>
                </a:solidFill>
                <a:latin typeface="+mj-lt"/>
              </a:rPr>
              <a:t>0</a:t>
            </a:r>
            <a:r>
              <a:rPr lang="zh-CN" altLang="en-US" sz="2800" dirty="0">
                <a:solidFill>
                  <a:schemeClr val="hlink"/>
                </a:solidFill>
                <a:latin typeface="+mj-lt"/>
              </a:rPr>
              <a:t>   </a:t>
            </a:r>
            <a:r>
              <a:rPr lang="en-US" altLang="zh-CN" sz="2800" i="1" dirty="0">
                <a:solidFill>
                  <a:srgbClr val="C00000"/>
                </a:solidFill>
                <a:latin typeface="+mj-lt"/>
              </a:rPr>
              <a:t>Set</a:t>
            </a:r>
          </a:p>
        </p:txBody>
      </p:sp>
      <p:pic>
        <p:nvPicPr>
          <p:cNvPr id="16"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1084" y="4581128"/>
            <a:ext cx="3542331" cy="200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6795072" y="4437112"/>
            <a:ext cx="2582566" cy="584775"/>
          </a:xfrm>
          <a:prstGeom prst="rect">
            <a:avLst/>
          </a:prstGeom>
        </p:spPr>
        <p:txBody>
          <a:bodyPr wrap="none">
            <a:spAutoFit/>
          </a:bodyPr>
          <a:lstStyle/>
          <a:p>
            <a:r>
              <a:rPr lang="en-IN" sz="3200" dirty="0"/>
              <a:t>Function table</a:t>
            </a:r>
          </a:p>
        </p:txBody>
      </p:sp>
      <p:sp>
        <p:nvSpPr>
          <p:cNvPr id="17" name="Rectangle 16"/>
          <p:cNvSpPr/>
          <p:nvPr/>
        </p:nvSpPr>
        <p:spPr>
          <a:xfrm>
            <a:off x="3106332" y="3861919"/>
            <a:ext cx="2773644" cy="646331"/>
          </a:xfrm>
          <a:prstGeom prst="rect">
            <a:avLst/>
          </a:prstGeom>
        </p:spPr>
        <p:txBody>
          <a:bodyPr wrap="none">
            <a:spAutoFit/>
          </a:bodyPr>
          <a:lstStyle/>
          <a:p>
            <a:r>
              <a:rPr lang="en-IN" sz="3600" dirty="0"/>
              <a:t>Logic diagram</a:t>
            </a:r>
          </a:p>
        </p:txBody>
      </p:sp>
      <p:pic>
        <p:nvPicPr>
          <p:cNvPr id="18"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99656" y="1772817"/>
            <a:ext cx="2419350" cy="189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8403952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66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665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665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665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66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54" grpId="0"/>
      <p:bldP spid="196655" grpId="0"/>
      <p:bldP spid="196656" grpId="0"/>
      <p:bldP spid="196657" grpId="0"/>
      <p:bldP spid="19665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rrowheads="1"/>
          </p:cNvSpPr>
          <p:nvPr>
            <p:ph type="title"/>
          </p:nvPr>
        </p:nvSpPr>
        <p:spPr/>
        <p:txBody>
          <a:bodyPr/>
          <a:lstStyle/>
          <a:p>
            <a:r>
              <a:rPr lang="en-US" i="1" dirty="0">
                <a:solidFill>
                  <a:srgbClr val="002060"/>
                </a:solidFill>
              </a:rPr>
              <a:t>SR </a:t>
            </a:r>
            <a:r>
              <a:rPr lang="en-US" dirty="0">
                <a:solidFill>
                  <a:srgbClr val="002060"/>
                </a:solidFill>
              </a:rPr>
              <a:t>latch with NAND gates</a:t>
            </a:r>
            <a:endParaRPr lang="en-US" altLang="zh-CN" dirty="0">
              <a:solidFill>
                <a:srgbClr val="002060"/>
              </a:solidFill>
            </a:endParaRPr>
          </a:p>
        </p:txBody>
      </p:sp>
      <p:sp>
        <p:nvSpPr>
          <p:cNvPr id="20487" name="Line 4"/>
          <p:cNvSpPr>
            <a:spLocks noChangeShapeType="1"/>
          </p:cNvSpPr>
          <p:nvPr/>
        </p:nvSpPr>
        <p:spPr bwMode="auto">
          <a:xfrm>
            <a:off x="4400550" y="4232275"/>
            <a:ext cx="1588"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20519" name="Text Box 42"/>
          <p:cNvSpPr txBox="1">
            <a:spLocks noChangeArrowheads="1"/>
          </p:cNvSpPr>
          <p:nvPr/>
        </p:nvSpPr>
        <p:spPr bwMode="auto">
          <a:xfrm>
            <a:off x="6672065" y="2132856"/>
            <a:ext cx="713657"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zh-CN" altLang="en-US" sz="2800" dirty="0">
                <a:latin typeface="+mj-lt"/>
              </a:rPr>
              <a:t>0</a:t>
            </a:r>
            <a:r>
              <a:rPr lang="en-US" altLang="zh-CN" sz="2800" dirty="0">
                <a:latin typeface="+mj-lt"/>
              </a:rPr>
              <a:t>  </a:t>
            </a:r>
            <a:r>
              <a:rPr lang="zh-CN" altLang="en-US" sz="2800" dirty="0">
                <a:latin typeface="+mj-lt"/>
              </a:rPr>
              <a:t>0</a:t>
            </a:r>
            <a:endParaRPr lang="en-US" altLang="zh-CN" sz="2800" dirty="0">
              <a:latin typeface="+mj-lt"/>
            </a:endParaRPr>
          </a:p>
          <a:p>
            <a:r>
              <a:rPr lang="zh-CN" altLang="en-US" sz="2800" dirty="0">
                <a:latin typeface="+mj-lt"/>
              </a:rPr>
              <a:t>0  1</a:t>
            </a:r>
          </a:p>
          <a:p>
            <a:r>
              <a:rPr lang="zh-CN" altLang="en-US" sz="2800" dirty="0">
                <a:latin typeface="+mj-lt"/>
              </a:rPr>
              <a:t>1  0</a:t>
            </a:r>
          </a:p>
          <a:p>
            <a:r>
              <a:rPr lang="zh-CN" altLang="en-US" sz="2800" dirty="0">
                <a:latin typeface="+mj-lt"/>
              </a:rPr>
              <a:t>1  1</a:t>
            </a:r>
          </a:p>
        </p:txBody>
      </p:sp>
      <mc:AlternateContent xmlns:mc="http://schemas.openxmlformats.org/markup-compatibility/2006" xmlns:a14="http://schemas.microsoft.com/office/drawing/2010/main">
        <mc:Choice Requires="a14">
          <p:sp>
            <p:nvSpPr>
              <p:cNvPr id="20520" name="Text Box 43"/>
              <p:cNvSpPr txBox="1">
                <a:spLocks noChangeArrowheads="1"/>
              </p:cNvSpPr>
              <p:nvPr/>
            </p:nvSpPr>
            <p:spPr bwMode="auto">
              <a:xfrm>
                <a:off x="6556290" y="1486908"/>
                <a:ext cx="1915974" cy="57394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pPr/>
                <a14:m>
                  <m:oMathPara xmlns:m="http://schemas.openxmlformats.org/officeDocument/2006/math">
                    <m:oMathParaPr>
                      <m:jc m:val="centerGroup"/>
                    </m:oMathParaPr>
                    <m:oMath xmlns:m="http://schemas.openxmlformats.org/officeDocument/2006/math">
                      <m:r>
                        <a:rPr lang="en-US" altLang="zh-CN" sz="2800" i="1" dirty="0">
                          <a:latin typeface="Cambria Math"/>
                        </a:rPr>
                        <m:t>𝑆</m:t>
                      </m:r>
                      <m:r>
                        <a:rPr lang="en-US" altLang="zh-CN" sz="2800" i="1" dirty="0">
                          <a:latin typeface="Cambria Math"/>
                        </a:rPr>
                        <m:t>  </m:t>
                      </m:r>
                      <m:r>
                        <a:rPr lang="en-US" altLang="zh-CN" sz="2800" i="1" dirty="0">
                          <a:latin typeface="Cambria Math"/>
                        </a:rPr>
                        <m:t>𝑅</m:t>
                      </m:r>
                      <m:r>
                        <a:rPr lang="en-US" altLang="zh-CN" sz="2800" i="1" dirty="0">
                          <a:latin typeface="Cambria Math"/>
                        </a:rPr>
                        <m:t>    </m:t>
                      </m:r>
                      <m:r>
                        <a:rPr lang="en-US" altLang="zh-CN" sz="2800" i="1" dirty="0">
                          <a:latin typeface="Cambria Math"/>
                        </a:rPr>
                        <m:t>𝑄</m:t>
                      </m:r>
                      <m:r>
                        <a:rPr lang="en-US" altLang="zh-CN" sz="2800" i="1" dirty="0">
                          <a:latin typeface="Cambria Math"/>
                        </a:rPr>
                        <m:t>   </m:t>
                      </m:r>
                      <m:bar>
                        <m:barPr>
                          <m:pos m:val="top"/>
                          <m:ctrlPr>
                            <a:rPr lang="en-US" altLang="zh-CN" sz="2800" i="1">
                              <a:latin typeface="Cambria Math" panose="02040503050406030204" pitchFamily="18" charset="0"/>
                            </a:rPr>
                          </m:ctrlPr>
                        </m:barPr>
                        <m:e>
                          <m:r>
                            <a:rPr lang="en-US" altLang="zh-CN" sz="2800" i="1">
                              <a:latin typeface="Cambria Math"/>
                            </a:rPr>
                            <m:t>𝑄</m:t>
                          </m:r>
                        </m:e>
                      </m:bar>
                    </m:oMath>
                  </m:oMathPara>
                </a14:m>
                <a:endParaRPr lang="en-US" altLang="zh-CN" sz="2800" i="1" dirty="0">
                  <a:latin typeface="+mj-lt"/>
                </a:endParaRPr>
              </a:p>
            </p:txBody>
          </p:sp>
        </mc:Choice>
        <mc:Fallback xmlns="">
          <p:sp>
            <p:nvSpPr>
              <p:cNvPr id="20520" name="Text Box 43"/>
              <p:cNvSpPr txBox="1">
                <a:spLocks noRot="1" noChangeAspect="1" noMove="1" noResize="1" noEditPoints="1" noAdjustHandles="1" noChangeArrowheads="1" noChangeShapeType="1" noTextEdit="1"/>
              </p:cNvSpPr>
              <p:nvPr/>
            </p:nvSpPr>
            <p:spPr bwMode="auto">
              <a:xfrm>
                <a:off x="6556290" y="1486908"/>
                <a:ext cx="1915974" cy="573940"/>
              </a:xfrm>
              <a:prstGeom prst="rect">
                <a:avLst/>
              </a:prstGeom>
              <a:blipFill>
                <a:blip r:embed="rId3"/>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N">
                    <a:noFill/>
                  </a:rPr>
                  <a:t> </a:t>
                </a:r>
              </a:p>
            </p:txBody>
          </p:sp>
        </mc:Fallback>
      </mc:AlternateContent>
      <p:sp>
        <p:nvSpPr>
          <p:cNvPr id="20521" name="Line 44"/>
          <p:cNvSpPr>
            <a:spLocks noChangeShapeType="1"/>
          </p:cNvSpPr>
          <p:nvPr/>
        </p:nvSpPr>
        <p:spPr bwMode="auto">
          <a:xfrm>
            <a:off x="6456040" y="2060848"/>
            <a:ext cx="2286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0522" name="Line 45"/>
          <p:cNvSpPr>
            <a:spLocks noChangeShapeType="1"/>
          </p:cNvSpPr>
          <p:nvPr/>
        </p:nvSpPr>
        <p:spPr bwMode="auto">
          <a:xfrm>
            <a:off x="7514278" y="1700808"/>
            <a:ext cx="21883" cy="253305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96654" name="Text Box 46"/>
          <p:cNvSpPr txBox="1">
            <a:spLocks noChangeArrowheads="1"/>
          </p:cNvSpPr>
          <p:nvPr/>
        </p:nvSpPr>
        <p:spPr bwMode="auto">
          <a:xfrm>
            <a:off x="2560240" y="3265820"/>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endParaRPr lang="zh-CN" altLang="en-US" sz="2800" dirty="0">
              <a:solidFill>
                <a:schemeClr val="hlink"/>
              </a:solidFill>
              <a:latin typeface="+mj-lt"/>
            </a:endParaRPr>
          </a:p>
        </p:txBody>
      </p:sp>
      <p:sp>
        <p:nvSpPr>
          <p:cNvPr id="196655" name="Text Box 47"/>
          <p:cNvSpPr txBox="1">
            <a:spLocks noChangeArrowheads="1"/>
          </p:cNvSpPr>
          <p:nvPr/>
        </p:nvSpPr>
        <p:spPr bwMode="auto">
          <a:xfrm>
            <a:off x="2560240" y="1609636"/>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endParaRPr lang="zh-CN" altLang="en-US" sz="2800" dirty="0">
              <a:solidFill>
                <a:schemeClr val="hlink"/>
              </a:solidFill>
              <a:latin typeface="+mj-lt"/>
            </a:endParaRPr>
          </a:p>
        </p:txBody>
      </p:sp>
      <p:sp>
        <p:nvSpPr>
          <p:cNvPr id="196656" name="Text Box 48"/>
          <p:cNvSpPr txBox="1">
            <a:spLocks noChangeArrowheads="1"/>
          </p:cNvSpPr>
          <p:nvPr/>
        </p:nvSpPr>
        <p:spPr bwMode="auto">
          <a:xfrm>
            <a:off x="5512568" y="1825660"/>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accent3">
                    <a:lumMod val="60000"/>
                    <a:lumOff val="40000"/>
                  </a:schemeClr>
                </a:solidFill>
                <a:latin typeface="+mj-lt"/>
              </a:rPr>
              <a:t>1</a:t>
            </a:r>
            <a:endParaRPr lang="zh-CN" altLang="en-US" sz="2800" dirty="0">
              <a:solidFill>
                <a:schemeClr val="accent3">
                  <a:lumMod val="60000"/>
                  <a:lumOff val="40000"/>
                </a:schemeClr>
              </a:solidFill>
              <a:latin typeface="+mj-lt"/>
            </a:endParaRPr>
          </a:p>
        </p:txBody>
      </p:sp>
      <p:sp>
        <p:nvSpPr>
          <p:cNvPr id="196657" name="Text Box 49"/>
          <p:cNvSpPr txBox="1">
            <a:spLocks noChangeArrowheads="1"/>
          </p:cNvSpPr>
          <p:nvPr/>
        </p:nvSpPr>
        <p:spPr bwMode="auto">
          <a:xfrm>
            <a:off x="5512568" y="3068960"/>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endParaRPr lang="zh-CN" altLang="en-US" sz="2800" dirty="0">
              <a:solidFill>
                <a:schemeClr val="hlink"/>
              </a:solidFill>
              <a:latin typeface="+mj-lt"/>
            </a:endParaRPr>
          </a:p>
        </p:txBody>
      </p:sp>
      <p:sp>
        <p:nvSpPr>
          <p:cNvPr id="196658" name="Text Box 50"/>
          <p:cNvSpPr txBox="1">
            <a:spLocks noChangeArrowheads="1"/>
          </p:cNvSpPr>
          <p:nvPr/>
        </p:nvSpPr>
        <p:spPr bwMode="auto">
          <a:xfrm>
            <a:off x="7608168" y="2564904"/>
            <a:ext cx="2209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r>
              <a:rPr lang="zh-CN" altLang="en-US" sz="2800" dirty="0">
                <a:solidFill>
                  <a:schemeClr val="hlink"/>
                </a:solidFill>
                <a:latin typeface="+mj-lt"/>
              </a:rPr>
              <a:t>   </a:t>
            </a:r>
            <a:r>
              <a:rPr lang="en-US" altLang="zh-CN" sz="2800" dirty="0">
                <a:solidFill>
                  <a:schemeClr val="hlink"/>
                </a:solidFill>
                <a:latin typeface="+mj-lt"/>
              </a:rPr>
              <a:t>0</a:t>
            </a:r>
            <a:r>
              <a:rPr lang="zh-CN" altLang="en-US" sz="2800" dirty="0">
                <a:solidFill>
                  <a:schemeClr val="hlink"/>
                </a:solidFill>
                <a:latin typeface="+mj-lt"/>
              </a:rPr>
              <a:t>   </a:t>
            </a:r>
            <a:r>
              <a:rPr lang="en-US" altLang="zh-CN" sz="2800" i="1" dirty="0">
                <a:solidFill>
                  <a:srgbClr val="C00000"/>
                </a:solidFill>
                <a:latin typeface="+mj-lt"/>
              </a:rPr>
              <a:t>Set</a:t>
            </a:r>
          </a:p>
        </p:txBody>
      </p:sp>
      <p:pic>
        <p:nvPicPr>
          <p:cNvPr id="16"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17069" y="4560912"/>
            <a:ext cx="3693715" cy="20176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Text Box 50"/>
          <p:cNvSpPr txBox="1">
            <a:spLocks noChangeArrowheads="1"/>
          </p:cNvSpPr>
          <p:nvPr/>
        </p:nvSpPr>
        <p:spPr bwMode="auto">
          <a:xfrm>
            <a:off x="7608168" y="3409836"/>
            <a:ext cx="25922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r>
              <a:rPr lang="zh-CN" altLang="en-US" sz="2800" dirty="0">
                <a:solidFill>
                  <a:schemeClr val="hlink"/>
                </a:solidFill>
                <a:latin typeface="+mj-lt"/>
              </a:rPr>
              <a:t>   </a:t>
            </a:r>
            <a:r>
              <a:rPr lang="en-US" altLang="zh-CN" sz="2800" dirty="0">
                <a:solidFill>
                  <a:schemeClr val="hlink"/>
                </a:solidFill>
                <a:latin typeface="+mj-lt"/>
              </a:rPr>
              <a:t>0</a:t>
            </a:r>
            <a:r>
              <a:rPr lang="zh-CN" altLang="en-US" sz="2800" dirty="0">
                <a:solidFill>
                  <a:schemeClr val="hlink"/>
                </a:solidFill>
                <a:latin typeface="+mj-lt"/>
              </a:rPr>
              <a:t>   </a:t>
            </a:r>
            <a:r>
              <a:rPr lang="en-US" altLang="zh-CN" sz="2800" i="1" dirty="0">
                <a:solidFill>
                  <a:srgbClr val="C00000"/>
                </a:solidFill>
                <a:latin typeface="+mj-lt"/>
              </a:rPr>
              <a:t>No change</a:t>
            </a:r>
          </a:p>
        </p:txBody>
      </p:sp>
      <p:sp>
        <p:nvSpPr>
          <p:cNvPr id="2" name="Rectangle 1"/>
          <p:cNvSpPr/>
          <p:nvPr/>
        </p:nvSpPr>
        <p:spPr>
          <a:xfrm>
            <a:off x="6795072" y="4437112"/>
            <a:ext cx="2582566" cy="584775"/>
          </a:xfrm>
          <a:prstGeom prst="rect">
            <a:avLst/>
          </a:prstGeom>
        </p:spPr>
        <p:txBody>
          <a:bodyPr wrap="none">
            <a:spAutoFit/>
          </a:bodyPr>
          <a:lstStyle/>
          <a:p>
            <a:r>
              <a:rPr lang="en-IN" sz="3200" dirty="0"/>
              <a:t>Function table</a:t>
            </a:r>
          </a:p>
        </p:txBody>
      </p:sp>
      <p:sp>
        <p:nvSpPr>
          <p:cNvPr id="18" name="Rectangle 17"/>
          <p:cNvSpPr/>
          <p:nvPr/>
        </p:nvSpPr>
        <p:spPr>
          <a:xfrm>
            <a:off x="3318298" y="3861048"/>
            <a:ext cx="2491003" cy="584775"/>
          </a:xfrm>
          <a:prstGeom prst="rect">
            <a:avLst/>
          </a:prstGeom>
        </p:spPr>
        <p:txBody>
          <a:bodyPr wrap="none">
            <a:spAutoFit/>
          </a:bodyPr>
          <a:lstStyle/>
          <a:p>
            <a:r>
              <a:rPr lang="en-IN" sz="3200" dirty="0"/>
              <a:t>Logic diagram</a:t>
            </a:r>
          </a:p>
        </p:txBody>
      </p:sp>
      <p:sp>
        <p:nvSpPr>
          <p:cNvPr id="19" name="Text Box 48"/>
          <p:cNvSpPr txBox="1">
            <a:spLocks noChangeArrowheads="1"/>
          </p:cNvSpPr>
          <p:nvPr/>
        </p:nvSpPr>
        <p:spPr bwMode="auto">
          <a:xfrm>
            <a:off x="5519936" y="1825660"/>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endParaRPr lang="zh-CN" altLang="en-US" sz="2800" dirty="0">
              <a:solidFill>
                <a:schemeClr val="hlink"/>
              </a:solidFill>
              <a:latin typeface="+mj-lt"/>
            </a:endParaRPr>
          </a:p>
        </p:txBody>
      </p:sp>
      <p:pic>
        <p:nvPicPr>
          <p:cNvPr id="2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99656" y="1772817"/>
            <a:ext cx="2419350" cy="189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7041278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66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665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665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665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54" grpId="0"/>
      <p:bldP spid="196655" grpId="0"/>
      <p:bldP spid="196656" grpId="0"/>
      <p:bldP spid="196657" grpId="0"/>
      <p:bldP spid="17" grpId="0"/>
      <p:bldP spid="1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rrowheads="1"/>
          </p:cNvSpPr>
          <p:nvPr>
            <p:ph type="title"/>
          </p:nvPr>
        </p:nvSpPr>
        <p:spPr/>
        <p:txBody>
          <a:bodyPr/>
          <a:lstStyle/>
          <a:p>
            <a:r>
              <a:rPr lang="en-US" i="1" dirty="0">
                <a:solidFill>
                  <a:srgbClr val="002060"/>
                </a:solidFill>
              </a:rPr>
              <a:t>SR </a:t>
            </a:r>
            <a:r>
              <a:rPr lang="en-US" dirty="0">
                <a:solidFill>
                  <a:srgbClr val="002060"/>
                </a:solidFill>
              </a:rPr>
              <a:t>latch with NAND gates</a:t>
            </a:r>
            <a:endParaRPr lang="en-US" altLang="zh-CN" dirty="0">
              <a:solidFill>
                <a:srgbClr val="002060"/>
              </a:solidFill>
            </a:endParaRPr>
          </a:p>
        </p:txBody>
      </p:sp>
      <p:sp>
        <p:nvSpPr>
          <p:cNvPr id="20487" name="Line 4"/>
          <p:cNvSpPr>
            <a:spLocks noChangeShapeType="1"/>
          </p:cNvSpPr>
          <p:nvPr/>
        </p:nvSpPr>
        <p:spPr bwMode="auto">
          <a:xfrm>
            <a:off x="4400550" y="4232275"/>
            <a:ext cx="1588"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20519" name="Text Box 42"/>
          <p:cNvSpPr txBox="1">
            <a:spLocks noChangeArrowheads="1"/>
          </p:cNvSpPr>
          <p:nvPr/>
        </p:nvSpPr>
        <p:spPr bwMode="auto">
          <a:xfrm>
            <a:off x="6672065" y="2132856"/>
            <a:ext cx="713657"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zh-CN" altLang="en-US" sz="2800" dirty="0">
                <a:latin typeface="+mj-lt"/>
              </a:rPr>
              <a:t>0</a:t>
            </a:r>
            <a:r>
              <a:rPr lang="en-US" altLang="zh-CN" sz="2800" dirty="0">
                <a:latin typeface="+mj-lt"/>
              </a:rPr>
              <a:t>  </a:t>
            </a:r>
            <a:r>
              <a:rPr lang="zh-CN" altLang="en-US" sz="2800" dirty="0">
                <a:latin typeface="+mj-lt"/>
              </a:rPr>
              <a:t>0</a:t>
            </a:r>
            <a:endParaRPr lang="en-US" altLang="zh-CN" sz="2800" dirty="0">
              <a:latin typeface="+mj-lt"/>
            </a:endParaRPr>
          </a:p>
          <a:p>
            <a:r>
              <a:rPr lang="zh-CN" altLang="en-US" sz="2800" dirty="0">
                <a:latin typeface="+mj-lt"/>
              </a:rPr>
              <a:t>0  1</a:t>
            </a:r>
          </a:p>
          <a:p>
            <a:r>
              <a:rPr lang="zh-CN" altLang="en-US" sz="2800" dirty="0">
                <a:latin typeface="+mj-lt"/>
              </a:rPr>
              <a:t>1  0</a:t>
            </a:r>
          </a:p>
          <a:p>
            <a:r>
              <a:rPr lang="zh-CN" altLang="en-US" sz="2800" dirty="0">
                <a:latin typeface="+mj-lt"/>
              </a:rPr>
              <a:t>1  1</a:t>
            </a:r>
          </a:p>
        </p:txBody>
      </p:sp>
      <mc:AlternateContent xmlns:mc="http://schemas.openxmlformats.org/markup-compatibility/2006" xmlns:a14="http://schemas.microsoft.com/office/drawing/2010/main">
        <mc:Choice Requires="a14">
          <p:sp>
            <p:nvSpPr>
              <p:cNvPr id="20520" name="Text Box 43"/>
              <p:cNvSpPr txBox="1">
                <a:spLocks noChangeArrowheads="1"/>
              </p:cNvSpPr>
              <p:nvPr/>
            </p:nvSpPr>
            <p:spPr bwMode="auto">
              <a:xfrm>
                <a:off x="6556290" y="1486908"/>
                <a:ext cx="1915974" cy="57394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pPr/>
                <a14:m>
                  <m:oMathPara xmlns:m="http://schemas.openxmlformats.org/officeDocument/2006/math">
                    <m:oMathParaPr>
                      <m:jc m:val="centerGroup"/>
                    </m:oMathParaPr>
                    <m:oMath xmlns:m="http://schemas.openxmlformats.org/officeDocument/2006/math">
                      <m:r>
                        <a:rPr lang="en-US" altLang="zh-CN" sz="2800" i="1" dirty="0">
                          <a:latin typeface="Cambria Math"/>
                        </a:rPr>
                        <m:t>𝑆</m:t>
                      </m:r>
                      <m:r>
                        <a:rPr lang="en-US" altLang="zh-CN" sz="2800" i="1" dirty="0">
                          <a:latin typeface="Cambria Math"/>
                        </a:rPr>
                        <m:t>  </m:t>
                      </m:r>
                      <m:r>
                        <a:rPr lang="en-US" altLang="zh-CN" sz="2800" i="1" dirty="0">
                          <a:latin typeface="Cambria Math"/>
                        </a:rPr>
                        <m:t>𝑅</m:t>
                      </m:r>
                      <m:r>
                        <a:rPr lang="en-US" altLang="zh-CN" sz="2800" i="1" dirty="0">
                          <a:latin typeface="Cambria Math"/>
                        </a:rPr>
                        <m:t>    </m:t>
                      </m:r>
                      <m:r>
                        <a:rPr lang="en-US" altLang="zh-CN" sz="2800" i="1" dirty="0">
                          <a:latin typeface="Cambria Math"/>
                        </a:rPr>
                        <m:t>𝑄</m:t>
                      </m:r>
                      <m:r>
                        <a:rPr lang="en-US" altLang="zh-CN" sz="2800" i="1" dirty="0">
                          <a:latin typeface="Cambria Math"/>
                        </a:rPr>
                        <m:t>   </m:t>
                      </m:r>
                      <m:bar>
                        <m:barPr>
                          <m:pos m:val="top"/>
                          <m:ctrlPr>
                            <a:rPr lang="en-US" altLang="zh-CN" sz="2800" i="1">
                              <a:latin typeface="Cambria Math" panose="02040503050406030204" pitchFamily="18" charset="0"/>
                            </a:rPr>
                          </m:ctrlPr>
                        </m:barPr>
                        <m:e>
                          <m:r>
                            <a:rPr lang="en-US" altLang="zh-CN" sz="2800" i="1">
                              <a:latin typeface="Cambria Math"/>
                            </a:rPr>
                            <m:t>𝑄</m:t>
                          </m:r>
                        </m:e>
                      </m:bar>
                    </m:oMath>
                  </m:oMathPara>
                </a14:m>
                <a:endParaRPr lang="en-US" altLang="zh-CN" sz="2800" i="1" dirty="0">
                  <a:latin typeface="+mj-lt"/>
                </a:endParaRPr>
              </a:p>
            </p:txBody>
          </p:sp>
        </mc:Choice>
        <mc:Fallback xmlns="">
          <p:sp>
            <p:nvSpPr>
              <p:cNvPr id="20520" name="Text Box 43"/>
              <p:cNvSpPr txBox="1">
                <a:spLocks noRot="1" noChangeAspect="1" noMove="1" noResize="1" noEditPoints="1" noAdjustHandles="1" noChangeArrowheads="1" noChangeShapeType="1" noTextEdit="1"/>
              </p:cNvSpPr>
              <p:nvPr/>
            </p:nvSpPr>
            <p:spPr bwMode="auto">
              <a:xfrm>
                <a:off x="6556290" y="1486908"/>
                <a:ext cx="1915974" cy="573940"/>
              </a:xfrm>
              <a:prstGeom prst="rect">
                <a:avLst/>
              </a:prstGeom>
              <a:blipFill>
                <a:blip r:embed="rId3"/>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N">
                    <a:noFill/>
                  </a:rPr>
                  <a:t> </a:t>
                </a:r>
              </a:p>
            </p:txBody>
          </p:sp>
        </mc:Fallback>
      </mc:AlternateContent>
      <p:sp>
        <p:nvSpPr>
          <p:cNvPr id="20521" name="Line 44"/>
          <p:cNvSpPr>
            <a:spLocks noChangeShapeType="1"/>
          </p:cNvSpPr>
          <p:nvPr/>
        </p:nvSpPr>
        <p:spPr bwMode="auto">
          <a:xfrm>
            <a:off x="6456040" y="2060848"/>
            <a:ext cx="2286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0522" name="Line 45"/>
          <p:cNvSpPr>
            <a:spLocks noChangeShapeType="1"/>
          </p:cNvSpPr>
          <p:nvPr/>
        </p:nvSpPr>
        <p:spPr bwMode="auto">
          <a:xfrm>
            <a:off x="7514278" y="1700808"/>
            <a:ext cx="21883" cy="253305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96654" name="Text Box 46"/>
          <p:cNvSpPr txBox="1">
            <a:spLocks noChangeArrowheads="1"/>
          </p:cNvSpPr>
          <p:nvPr/>
        </p:nvSpPr>
        <p:spPr bwMode="auto">
          <a:xfrm>
            <a:off x="2560240" y="3265820"/>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endParaRPr lang="zh-CN" altLang="en-US" sz="2800" dirty="0">
              <a:solidFill>
                <a:schemeClr val="hlink"/>
              </a:solidFill>
              <a:latin typeface="+mj-lt"/>
            </a:endParaRPr>
          </a:p>
        </p:txBody>
      </p:sp>
      <p:sp>
        <p:nvSpPr>
          <p:cNvPr id="196655" name="Text Box 47"/>
          <p:cNvSpPr txBox="1">
            <a:spLocks noChangeArrowheads="1"/>
          </p:cNvSpPr>
          <p:nvPr/>
        </p:nvSpPr>
        <p:spPr bwMode="auto">
          <a:xfrm>
            <a:off x="2560240" y="1609636"/>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endParaRPr lang="zh-CN" altLang="en-US" sz="2800" dirty="0">
              <a:solidFill>
                <a:schemeClr val="hlink"/>
              </a:solidFill>
              <a:latin typeface="+mj-lt"/>
            </a:endParaRPr>
          </a:p>
        </p:txBody>
      </p:sp>
      <p:sp>
        <p:nvSpPr>
          <p:cNvPr id="196656" name="Text Box 48"/>
          <p:cNvSpPr txBox="1">
            <a:spLocks noChangeArrowheads="1"/>
          </p:cNvSpPr>
          <p:nvPr/>
        </p:nvSpPr>
        <p:spPr bwMode="auto">
          <a:xfrm>
            <a:off x="5512568" y="1825660"/>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endParaRPr lang="zh-CN" altLang="en-US" sz="2800" dirty="0">
              <a:solidFill>
                <a:schemeClr val="hlink"/>
              </a:solidFill>
              <a:latin typeface="+mj-lt"/>
            </a:endParaRPr>
          </a:p>
        </p:txBody>
      </p:sp>
      <p:sp>
        <p:nvSpPr>
          <p:cNvPr id="196657" name="Text Box 49"/>
          <p:cNvSpPr txBox="1">
            <a:spLocks noChangeArrowheads="1"/>
          </p:cNvSpPr>
          <p:nvPr/>
        </p:nvSpPr>
        <p:spPr bwMode="auto">
          <a:xfrm>
            <a:off x="5512568" y="3068960"/>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endParaRPr lang="zh-CN" altLang="en-US" sz="2800" dirty="0">
              <a:solidFill>
                <a:schemeClr val="hlink"/>
              </a:solidFill>
              <a:latin typeface="+mj-lt"/>
            </a:endParaRPr>
          </a:p>
        </p:txBody>
      </p:sp>
      <p:sp>
        <p:nvSpPr>
          <p:cNvPr id="196658" name="Text Box 50"/>
          <p:cNvSpPr txBox="1">
            <a:spLocks noChangeArrowheads="1"/>
          </p:cNvSpPr>
          <p:nvPr/>
        </p:nvSpPr>
        <p:spPr bwMode="auto">
          <a:xfrm>
            <a:off x="7608168" y="2564904"/>
            <a:ext cx="2209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r>
              <a:rPr lang="zh-CN" altLang="en-US" sz="2800" dirty="0">
                <a:solidFill>
                  <a:schemeClr val="hlink"/>
                </a:solidFill>
                <a:latin typeface="+mj-lt"/>
              </a:rPr>
              <a:t>   </a:t>
            </a:r>
            <a:r>
              <a:rPr lang="en-US" altLang="zh-CN" sz="2800" dirty="0">
                <a:solidFill>
                  <a:schemeClr val="hlink"/>
                </a:solidFill>
                <a:latin typeface="+mj-lt"/>
              </a:rPr>
              <a:t>0</a:t>
            </a:r>
            <a:r>
              <a:rPr lang="zh-CN" altLang="en-US" sz="2800" dirty="0">
                <a:solidFill>
                  <a:schemeClr val="hlink"/>
                </a:solidFill>
                <a:latin typeface="+mj-lt"/>
              </a:rPr>
              <a:t>   </a:t>
            </a:r>
            <a:r>
              <a:rPr lang="en-US" altLang="zh-CN" sz="2800" i="1" dirty="0">
                <a:solidFill>
                  <a:srgbClr val="C00000"/>
                </a:solidFill>
                <a:latin typeface="+mj-lt"/>
              </a:rPr>
              <a:t>Set</a:t>
            </a:r>
          </a:p>
        </p:txBody>
      </p:sp>
      <p:pic>
        <p:nvPicPr>
          <p:cNvPr id="16"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3473" y="4560912"/>
            <a:ext cx="3767312" cy="20176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Text Box 50"/>
          <p:cNvSpPr txBox="1">
            <a:spLocks noChangeArrowheads="1"/>
          </p:cNvSpPr>
          <p:nvPr/>
        </p:nvSpPr>
        <p:spPr bwMode="auto">
          <a:xfrm>
            <a:off x="7608168" y="3409836"/>
            <a:ext cx="25922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r>
              <a:rPr lang="zh-CN" altLang="en-US" sz="2800" dirty="0">
                <a:solidFill>
                  <a:schemeClr val="hlink"/>
                </a:solidFill>
                <a:latin typeface="+mj-lt"/>
              </a:rPr>
              <a:t>   </a:t>
            </a:r>
            <a:r>
              <a:rPr lang="en-US" altLang="zh-CN" sz="2800" dirty="0">
                <a:solidFill>
                  <a:schemeClr val="hlink"/>
                </a:solidFill>
                <a:latin typeface="+mj-lt"/>
              </a:rPr>
              <a:t>0</a:t>
            </a:r>
            <a:r>
              <a:rPr lang="zh-CN" altLang="en-US" sz="2800" dirty="0">
                <a:solidFill>
                  <a:schemeClr val="hlink"/>
                </a:solidFill>
                <a:latin typeface="+mj-lt"/>
              </a:rPr>
              <a:t>   </a:t>
            </a:r>
            <a:r>
              <a:rPr lang="en-US" altLang="zh-CN" sz="2800" i="1" dirty="0">
                <a:solidFill>
                  <a:srgbClr val="C00000"/>
                </a:solidFill>
                <a:latin typeface="+mj-lt"/>
              </a:rPr>
              <a:t>No change</a:t>
            </a:r>
          </a:p>
        </p:txBody>
      </p:sp>
      <p:sp>
        <p:nvSpPr>
          <p:cNvPr id="18" name="Text Box 50"/>
          <p:cNvSpPr txBox="1">
            <a:spLocks noChangeArrowheads="1"/>
          </p:cNvSpPr>
          <p:nvPr/>
        </p:nvSpPr>
        <p:spPr bwMode="auto">
          <a:xfrm>
            <a:off x="7608168" y="2977788"/>
            <a:ext cx="2209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r>
              <a:rPr lang="zh-CN" altLang="en-US" sz="2800" dirty="0">
                <a:solidFill>
                  <a:schemeClr val="hlink"/>
                </a:solidFill>
                <a:latin typeface="+mj-lt"/>
              </a:rPr>
              <a:t>   </a:t>
            </a:r>
            <a:r>
              <a:rPr lang="en-US" altLang="zh-CN" sz="2800" dirty="0">
                <a:solidFill>
                  <a:schemeClr val="hlink"/>
                </a:solidFill>
                <a:latin typeface="+mj-lt"/>
              </a:rPr>
              <a:t>1</a:t>
            </a:r>
            <a:r>
              <a:rPr lang="zh-CN" altLang="en-US" sz="2800" dirty="0">
                <a:solidFill>
                  <a:schemeClr val="hlink"/>
                </a:solidFill>
                <a:latin typeface="+mj-lt"/>
              </a:rPr>
              <a:t>   </a:t>
            </a:r>
            <a:r>
              <a:rPr lang="en-US" altLang="zh-CN" sz="2800" i="1" dirty="0">
                <a:solidFill>
                  <a:srgbClr val="C00000"/>
                </a:solidFill>
                <a:latin typeface="+mj-lt"/>
              </a:rPr>
              <a:t>Reset</a:t>
            </a:r>
          </a:p>
        </p:txBody>
      </p:sp>
      <p:sp>
        <p:nvSpPr>
          <p:cNvPr id="2" name="Rectangle 1"/>
          <p:cNvSpPr/>
          <p:nvPr/>
        </p:nvSpPr>
        <p:spPr>
          <a:xfrm>
            <a:off x="6795072" y="4437112"/>
            <a:ext cx="2278637" cy="523220"/>
          </a:xfrm>
          <a:prstGeom prst="rect">
            <a:avLst/>
          </a:prstGeom>
        </p:spPr>
        <p:txBody>
          <a:bodyPr wrap="none">
            <a:spAutoFit/>
          </a:bodyPr>
          <a:lstStyle/>
          <a:p>
            <a:r>
              <a:rPr lang="en-IN" sz="2800" dirty="0"/>
              <a:t>Function table</a:t>
            </a:r>
          </a:p>
        </p:txBody>
      </p:sp>
      <p:sp>
        <p:nvSpPr>
          <p:cNvPr id="19" name="Rectangle 18"/>
          <p:cNvSpPr/>
          <p:nvPr/>
        </p:nvSpPr>
        <p:spPr>
          <a:xfrm>
            <a:off x="3318298" y="3861048"/>
            <a:ext cx="2195473" cy="523220"/>
          </a:xfrm>
          <a:prstGeom prst="rect">
            <a:avLst/>
          </a:prstGeom>
        </p:spPr>
        <p:txBody>
          <a:bodyPr wrap="none">
            <a:spAutoFit/>
          </a:bodyPr>
          <a:lstStyle/>
          <a:p>
            <a:r>
              <a:rPr lang="en-IN" sz="2800" dirty="0"/>
              <a:t>Logic diagram</a:t>
            </a:r>
          </a:p>
        </p:txBody>
      </p:sp>
      <p:pic>
        <p:nvPicPr>
          <p:cNvPr id="2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99656" y="1772817"/>
            <a:ext cx="2419350" cy="189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9407273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66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665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665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665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54" grpId="0"/>
      <p:bldP spid="196655" grpId="0"/>
      <p:bldP spid="196656" grpId="0"/>
      <p:bldP spid="196657" grpId="0"/>
      <p:bldP spid="1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rrowheads="1"/>
          </p:cNvSpPr>
          <p:nvPr>
            <p:ph type="title"/>
          </p:nvPr>
        </p:nvSpPr>
        <p:spPr/>
        <p:txBody>
          <a:bodyPr/>
          <a:lstStyle/>
          <a:p>
            <a:r>
              <a:rPr lang="en-US" i="1" dirty="0">
                <a:solidFill>
                  <a:srgbClr val="002060"/>
                </a:solidFill>
              </a:rPr>
              <a:t>SR </a:t>
            </a:r>
            <a:r>
              <a:rPr lang="en-US" dirty="0">
                <a:solidFill>
                  <a:srgbClr val="002060"/>
                </a:solidFill>
              </a:rPr>
              <a:t>latch with NAND gates</a:t>
            </a:r>
            <a:endParaRPr lang="en-US" altLang="zh-CN" dirty="0">
              <a:solidFill>
                <a:srgbClr val="002060"/>
              </a:solidFill>
            </a:endParaRPr>
          </a:p>
        </p:txBody>
      </p:sp>
      <p:sp>
        <p:nvSpPr>
          <p:cNvPr id="20487" name="Line 4"/>
          <p:cNvSpPr>
            <a:spLocks noChangeShapeType="1"/>
          </p:cNvSpPr>
          <p:nvPr/>
        </p:nvSpPr>
        <p:spPr bwMode="auto">
          <a:xfrm>
            <a:off x="4400550" y="4232275"/>
            <a:ext cx="1588"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20519" name="Text Box 42"/>
          <p:cNvSpPr txBox="1">
            <a:spLocks noChangeArrowheads="1"/>
          </p:cNvSpPr>
          <p:nvPr/>
        </p:nvSpPr>
        <p:spPr bwMode="auto">
          <a:xfrm>
            <a:off x="6672065" y="2132856"/>
            <a:ext cx="713657"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zh-CN" altLang="en-US" sz="2800" dirty="0">
                <a:latin typeface="+mj-lt"/>
              </a:rPr>
              <a:t>0</a:t>
            </a:r>
            <a:r>
              <a:rPr lang="en-US" altLang="zh-CN" sz="2800" dirty="0">
                <a:latin typeface="+mj-lt"/>
              </a:rPr>
              <a:t>  </a:t>
            </a:r>
            <a:r>
              <a:rPr lang="zh-CN" altLang="en-US" sz="2800" dirty="0">
                <a:latin typeface="+mj-lt"/>
              </a:rPr>
              <a:t>0</a:t>
            </a:r>
            <a:endParaRPr lang="en-US" altLang="zh-CN" sz="2800" dirty="0">
              <a:latin typeface="+mj-lt"/>
            </a:endParaRPr>
          </a:p>
          <a:p>
            <a:r>
              <a:rPr lang="zh-CN" altLang="en-US" sz="2800" dirty="0">
                <a:latin typeface="+mj-lt"/>
              </a:rPr>
              <a:t>0  1</a:t>
            </a:r>
          </a:p>
          <a:p>
            <a:r>
              <a:rPr lang="zh-CN" altLang="en-US" sz="2800" dirty="0">
                <a:latin typeface="+mj-lt"/>
              </a:rPr>
              <a:t>1  0</a:t>
            </a:r>
          </a:p>
          <a:p>
            <a:r>
              <a:rPr lang="zh-CN" altLang="en-US" sz="2800" dirty="0">
                <a:latin typeface="+mj-lt"/>
              </a:rPr>
              <a:t>1  1</a:t>
            </a:r>
          </a:p>
        </p:txBody>
      </p:sp>
      <mc:AlternateContent xmlns:mc="http://schemas.openxmlformats.org/markup-compatibility/2006" xmlns:a14="http://schemas.microsoft.com/office/drawing/2010/main">
        <mc:Choice Requires="a14">
          <p:sp>
            <p:nvSpPr>
              <p:cNvPr id="20520" name="Text Box 43"/>
              <p:cNvSpPr txBox="1">
                <a:spLocks noChangeArrowheads="1"/>
              </p:cNvSpPr>
              <p:nvPr/>
            </p:nvSpPr>
            <p:spPr bwMode="auto">
              <a:xfrm>
                <a:off x="6556290" y="1486908"/>
                <a:ext cx="1915974" cy="57394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pPr/>
                <a14:m>
                  <m:oMathPara xmlns:m="http://schemas.openxmlformats.org/officeDocument/2006/math">
                    <m:oMathParaPr>
                      <m:jc m:val="centerGroup"/>
                    </m:oMathParaPr>
                    <m:oMath xmlns:m="http://schemas.openxmlformats.org/officeDocument/2006/math">
                      <m:r>
                        <a:rPr lang="en-US" altLang="zh-CN" sz="2800" i="1" dirty="0">
                          <a:latin typeface="Cambria Math"/>
                        </a:rPr>
                        <m:t>𝑆</m:t>
                      </m:r>
                      <m:r>
                        <a:rPr lang="en-US" altLang="zh-CN" sz="2800" i="1" dirty="0">
                          <a:latin typeface="Cambria Math"/>
                        </a:rPr>
                        <m:t>  </m:t>
                      </m:r>
                      <m:r>
                        <a:rPr lang="en-US" altLang="zh-CN" sz="2800" i="1" dirty="0">
                          <a:latin typeface="Cambria Math"/>
                        </a:rPr>
                        <m:t>𝑅</m:t>
                      </m:r>
                      <m:r>
                        <a:rPr lang="en-US" altLang="zh-CN" sz="2800" i="1" dirty="0">
                          <a:latin typeface="Cambria Math"/>
                        </a:rPr>
                        <m:t>    </m:t>
                      </m:r>
                      <m:r>
                        <a:rPr lang="en-US" altLang="zh-CN" sz="2800" i="1" dirty="0">
                          <a:latin typeface="Cambria Math"/>
                        </a:rPr>
                        <m:t>𝑄</m:t>
                      </m:r>
                      <m:r>
                        <a:rPr lang="en-US" altLang="zh-CN" sz="2800" i="1" dirty="0">
                          <a:latin typeface="Cambria Math"/>
                        </a:rPr>
                        <m:t>   </m:t>
                      </m:r>
                      <m:bar>
                        <m:barPr>
                          <m:pos m:val="top"/>
                          <m:ctrlPr>
                            <a:rPr lang="en-US" altLang="zh-CN" sz="2800" i="1">
                              <a:latin typeface="Cambria Math" panose="02040503050406030204" pitchFamily="18" charset="0"/>
                            </a:rPr>
                          </m:ctrlPr>
                        </m:barPr>
                        <m:e>
                          <m:r>
                            <a:rPr lang="en-US" altLang="zh-CN" sz="2800" i="1">
                              <a:latin typeface="Cambria Math"/>
                            </a:rPr>
                            <m:t>𝑄</m:t>
                          </m:r>
                        </m:e>
                      </m:bar>
                    </m:oMath>
                  </m:oMathPara>
                </a14:m>
                <a:endParaRPr lang="en-US" altLang="zh-CN" sz="2800" i="1" dirty="0">
                  <a:latin typeface="+mj-lt"/>
                </a:endParaRPr>
              </a:p>
            </p:txBody>
          </p:sp>
        </mc:Choice>
        <mc:Fallback xmlns="">
          <p:sp>
            <p:nvSpPr>
              <p:cNvPr id="20520" name="Text Box 43"/>
              <p:cNvSpPr txBox="1">
                <a:spLocks noRot="1" noChangeAspect="1" noMove="1" noResize="1" noEditPoints="1" noAdjustHandles="1" noChangeArrowheads="1" noChangeShapeType="1" noTextEdit="1"/>
              </p:cNvSpPr>
              <p:nvPr/>
            </p:nvSpPr>
            <p:spPr bwMode="auto">
              <a:xfrm>
                <a:off x="6556290" y="1486908"/>
                <a:ext cx="1915974" cy="573940"/>
              </a:xfrm>
              <a:prstGeom prst="rect">
                <a:avLst/>
              </a:prstGeom>
              <a:blipFill>
                <a:blip r:embed="rId3"/>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N">
                    <a:noFill/>
                  </a:rPr>
                  <a:t> </a:t>
                </a:r>
              </a:p>
            </p:txBody>
          </p:sp>
        </mc:Fallback>
      </mc:AlternateContent>
      <p:sp>
        <p:nvSpPr>
          <p:cNvPr id="20521" name="Line 44"/>
          <p:cNvSpPr>
            <a:spLocks noChangeShapeType="1"/>
          </p:cNvSpPr>
          <p:nvPr/>
        </p:nvSpPr>
        <p:spPr bwMode="auto">
          <a:xfrm>
            <a:off x="6456040" y="2060848"/>
            <a:ext cx="2286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0522" name="Line 45"/>
          <p:cNvSpPr>
            <a:spLocks noChangeShapeType="1"/>
          </p:cNvSpPr>
          <p:nvPr/>
        </p:nvSpPr>
        <p:spPr bwMode="auto">
          <a:xfrm>
            <a:off x="7514278" y="1700808"/>
            <a:ext cx="21883" cy="253305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96654" name="Text Box 46"/>
          <p:cNvSpPr txBox="1">
            <a:spLocks noChangeArrowheads="1"/>
          </p:cNvSpPr>
          <p:nvPr/>
        </p:nvSpPr>
        <p:spPr bwMode="auto">
          <a:xfrm>
            <a:off x="2560240" y="3265820"/>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endParaRPr lang="zh-CN" altLang="en-US" sz="2800" dirty="0">
              <a:solidFill>
                <a:schemeClr val="hlink"/>
              </a:solidFill>
              <a:latin typeface="+mj-lt"/>
            </a:endParaRPr>
          </a:p>
        </p:txBody>
      </p:sp>
      <p:sp>
        <p:nvSpPr>
          <p:cNvPr id="196655" name="Text Box 47"/>
          <p:cNvSpPr txBox="1">
            <a:spLocks noChangeArrowheads="1"/>
          </p:cNvSpPr>
          <p:nvPr/>
        </p:nvSpPr>
        <p:spPr bwMode="auto">
          <a:xfrm>
            <a:off x="2560240" y="1609636"/>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endParaRPr lang="zh-CN" altLang="en-US" sz="2800" dirty="0">
              <a:solidFill>
                <a:schemeClr val="hlink"/>
              </a:solidFill>
              <a:latin typeface="+mj-lt"/>
            </a:endParaRPr>
          </a:p>
        </p:txBody>
      </p:sp>
      <p:sp>
        <p:nvSpPr>
          <p:cNvPr id="196656" name="Text Box 48"/>
          <p:cNvSpPr txBox="1">
            <a:spLocks noChangeArrowheads="1"/>
          </p:cNvSpPr>
          <p:nvPr/>
        </p:nvSpPr>
        <p:spPr bwMode="auto">
          <a:xfrm>
            <a:off x="5512568" y="1825660"/>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accent3">
                    <a:lumMod val="60000"/>
                    <a:lumOff val="40000"/>
                  </a:schemeClr>
                </a:solidFill>
                <a:latin typeface="+mj-lt"/>
              </a:rPr>
              <a:t>0</a:t>
            </a:r>
            <a:endParaRPr lang="zh-CN" altLang="en-US" sz="2800" dirty="0">
              <a:solidFill>
                <a:schemeClr val="accent3">
                  <a:lumMod val="60000"/>
                  <a:lumOff val="40000"/>
                </a:schemeClr>
              </a:solidFill>
              <a:latin typeface="+mj-lt"/>
            </a:endParaRPr>
          </a:p>
        </p:txBody>
      </p:sp>
      <p:sp>
        <p:nvSpPr>
          <p:cNvPr id="196657" name="Text Box 49"/>
          <p:cNvSpPr txBox="1">
            <a:spLocks noChangeArrowheads="1"/>
          </p:cNvSpPr>
          <p:nvPr/>
        </p:nvSpPr>
        <p:spPr bwMode="auto">
          <a:xfrm>
            <a:off x="5512568" y="3068960"/>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endParaRPr lang="zh-CN" altLang="en-US" sz="2800" dirty="0">
              <a:solidFill>
                <a:schemeClr val="hlink"/>
              </a:solidFill>
              <a:latin typeface="+mj-lt"/>
            </a:endParaRPr>
          </a:p>
        </p:txBody>
      </p:sp>
      <p:sp>
        <p:nvSpPr>
          <p:cNvPr id="196658" name="Text Box 50"/>
          <p:cNvSpPr txBox="1">
            <a:spLocks noChangeArrowheads="1"/>
          </p:cNvSpPr>
          <p:nvPr/>
        </p:nvSpPr>
        <p:spPr bwMode="auto">
          <a:xfrm>
            <a:off x="7608168" y="2564904"/>
            <a:ext cx="2209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r>
              <a:rPr lang="zh-CN" altLang="en-US" sz="2800" dirty="0">
                <a:solidFill>
                  <a:schemeClr val="hlink"/>
                </a:solidFill>
                <a:latin typeface="+mj-lt"/>
              </a:rPr>
              <a:t>   </a:t>
            </a:r>
            <a:r>
              <a:rPr lang="en-US" altLang="zh-CN" sz="2800" dirty="0">
                <a:solidFill>
                  <a:schemeClr val="hlink"/>
                </a:solidFill>
                <a:latin typeface="+mj-lt"/>
              </a:rPr>
              <a:t>0</a:t>
            </a:r>
            <a:r>
              <a:rPr lang="zh-CN" altLang="en-US" sz="2800" dirty="0">
                <a:solidFill>
                  <a:schemeClr val="hlink"/>
                </a:solidFill>
                <a:latin typeface="+mj-lt"/>
              </a:rPr>
              <a:t>   </a:t>
            </a:r>
            <a:r>
              <a:rPr lang="en-US" altLang="zh-CN" sz="2800" i="1" dirty="0">
                <a:solidFill>
                  <a:srgbClr val="C00000"/>
                </a:solidFill>
                <a:latin typeface="+mj-lt"/>
              </a:rPr>
              <a:t>Set</a:t>
            </a:r>
          </a:p>
        </p:txBody>
      </p:sp>
      <p:pic>
        <p:nvPicPr>
          <p:cNvPr id="16"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1085" y="4560912"/>
            <a:ext cx="3549699" cy="202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Text Box 50"/>
          <p:cNvSpPr txBox="1">
            <a:spLocks noChangeArrowheads="1"/>
          </p:cNvSpPr>
          <p:nvPr/>
        </p:nvSpPr>
        <p:spPr bwMode="auto">
          <a:xfrm>
            <a:off x="7608168" y="3409836"/>
            <a:ext cx="25922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r>
              <a:rPr lang="zh-CN" altLang="en-US" sz="2800" dirty="0">
                <a:solidFill>
                  <a:schemeClr val="hlink"/>
                </a:solidFill>
                <a:latin typeface="+mj-lt"/>
              </a:rPr>
              <a:t>   </a:t>
            </a:r>
            <a:r>
              <a:rPr lang="en-US" altLang="zh-CN" sz="2800" dirty="0">
                <a:solidFill>
                  <a:schemeClr val="hlink"/>
                </a:solidFill>
                <a:latin typeface="+mj-lt"/>
              </a:rPr>
              <a:t>0</a:t>
            </a:r>
            <a:r>
              <a:rPr lang="zh-CN" altLang="en-US" sz="2800" dirty="0">
                <a:solidFill>
                  <a:schemeClr val="hlink"/>
                </a:solidFill>
                <a:latin typeface="+mj-lt"/>
              </a:rPr>
              <a:t>   </a:t>
            </a:r>
            <a:r>
              <a:rPr lang="en-US" altLang="zh-CN" sz="2800" i="1" dirty="0">
                <a:solidFill>
                  <a:srgbClr val="C00000"/>
                </a:solidFill>
                <a:latin typeface="+mj-lt"/>
              </a:rPr>
              <a:t>No change</a:t>
            </a:r>
          </a:p>
        </p:txBody>
      </p:sp>
      <p:sp>
        <p:nvSpPr>
          <p:cNvPr id="18" name="Text Box 50"/>
          <p:cNvSpPr txBox="1">
            <a:spLocks noChangeArrowheads="1"/>
          </p:cNvSpPr>
          <p:nvPr/>
        </p:nvSpPr>
        <p:spPr bwMode="auto">
          <a:xfrm>
            <a:off x="7608168" y="2977788"/>
            <a:ext cx="2209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r>
              <a:rPr lang="zh-CN" altLang="en-US" sz="2800" dirty="0">
                <a:solidFill>
                  <a:schemeClr val="hlink"/>
                </a:solidFill>
                <a:latin typeface="+mj-lt"/>
              </a:rPr>
              <a:t>   </a:t>
            </a:r>
            <a:r>
              <a:rPr lang="en-US" altLang="zh-CN" sz="2800" dirty="0">
                <a:solidFill>
                  <a:schemeClr val="hlink"/>
                </a:solidFill>
                <a:latin typeface="+mj-lt"/>
              </a:rPr>
              <a:t>1</a:t>
            </a:r>
            <a:r>
              <a:rPr lang="zh-CN" altLang="en-US" sz="2800" dirty="0">
                <a:solidFill>
                  <a:schemeClr val="hlink"/>
                </a:solidFill>
                <a:latin typeface="+mj-lt"/>
              </a:rPr>
              <a:t>   </a:t>
            </a:r>
            <a:r>
              <a:rPr lang="en-US" altLang="zh-CN" sz="2800" i="1" dirty="0">
                <a:solidFill>
                  <a:srgbClr val="C00000"/>
                </a:solidFill>
                <a:latin typeface="+mj-lt"/>
              </a:rPr>
              <a:t>Reset</a:t>
            </a:r>
          </a:p>
        </p:txBody>
      </p:sp>
      <p:sp>
        <p:nvSpPr>
          <p:cNvPr id="19" name="Text Box 50"/>
          <p:cNvSpPr txBox="1">
            <a:spLocks noChangeArrowheads="1"/>
          </p:cNvSpPr>
          <p:nvPr/>
        </p:nvSpPr>
        <p:spPr bwMode="auto">
          <a:xfrm>
            <a:off x="7608168" y="3789040"/>
            <a:ext cx="25922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r>
              <a:rPr lang="zh-CN" altLang="en-US" sz="2800" dirty="0">
                <a:solidFill>
                  <a:schemeClr val="hlink"/>
                </a:solidFill>
                <a:latin typeface="+mj-lt"/>
              </a:rPr>
              <a:t>   </a:t>
            </a:r>
            <a:r>
              <a:rPr lang="en-US" altLang="zh-CN" sz="2800" dirty="0">
                <a:solidFill>
                  <a:schemeClr val="hlink"/>
                </a:solidFill>
                <a:latin typeface="+mj-lt"/>
              </a:rPr>
              <a:t>1</a:t>
            </a:r>
            <a:r>
              <a:rPr lang="zh-CN" altLang="en-US" sz="2800" dirty="0">
                <a:solidFill>
                  <a:schemeClr val="hlink"/>
                </a:solidFill>
                <a:latin typeface="+mj-lt"/>
              </a:rPr>
              <a:t>   </a:t>
            </a:r>
            <a:r>
              <a:rPr lang="en-US" altLang="zh-CN" sz="2800" i="1" dirty="0">
                <a:solidFill>
                  <a:srgbClr val="C00000"/>
                </a:solidFill>
                <a:latin typeface="+mj-lt"/>
              </a:rPr>
              <a:t>No change</a:t>
            </a:r>
          </a:p>
        </p:txBody>
      </p:sp>
      <p:pic>
        <p:nvPicPr>
          <p:cNvPr id="2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99656" y="1772817"/>
            <a:ext cx="2419350" cy="189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 name="Rectangle 20"/>
          <p:cNvSpPr/>
          <p:nvPr/>
        </p:nvSpPr>
        <p:spPr>
          <a:xfrm>
            <a:off x="3318298" y="3861048"/>
            <a:ext cx="1481559" cy="369332"/>
          </a:xfrm>
          <a:prstGeom prst="rect">
            <a:avLst/>
          </a:prstGeom>
        </p:spPr>
        <p:txBody>
          <a:bodyPr wrap="none">
            <a:spAutoFit/>
          </a:bodyPr>
          <a:lstStyle/>
          <a:p>
            <a:r>
              <a:rPr lang="en-IN" dirty="0"/>
              <a:t>Logic diagram</a:t>
            </a:r>
          </a:p>
        </p:txBody>
      </p:sp>
      <p:sp>
        <p:nvSpPr>
          <p:cNvPr id="22" name="Rectangle 21"/>
          <p:cNvSpPr/>
          <p:nvPr/>
        </p:nvSpPr>
        <p:spPr>
          <a:xfrm>
            <a:off x="6795072" y="4437112"/>
            <a:ext cx="1533177" cy="369332"/>
          </a:xfrm>
          <a:prstGeom prst="rect">
            <a:avLst/>
          </a:prstGeom>
        </p:spPr>
        <p:txBody>
          <a:bodyPr wrap="none">
            <a:spAutoFit/>
          </a:bodyPr>
          <a:lstStyle/>
          <a:p>
            <a:r>
              <a:rPr lang="en-IN" dirty="0"/>
              <a:t>Function table</a:t>
            </a:r>
          </a:p>
        </p:txBody>
      </p:sp>
      <p:sp>
        <p:nvSpPr>
          <p:cNvPr id="23" name="Text Box 48"/>
          <p:cNvSpPr txBox="1">
            <a:spLocks noChangeArrowheads="1"/>
          </p:cNvSpPr>
          <p:nvPr/>
        </p:nvSpPr>
        <p:spPr bwMode="auto">
          <a:xfrm>
            <a:off x="5519936" y="1825660"/>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endParaRPr lang="zh-CN" altLang="en-US" sz="2800" dirty="0">
              <a:solidFill>
                <a:schemeClr val="hlink"/>
              </a:solidFill>
              <a:latin typeface="+mj-lt"/>
            </a:endParaRPr>
          </a:p>
        </p:txBody>
      </p:sp>
    </p:spTree>
    <p:extLst>
      <p:ext uri="{BB962C8B-B14F-4D97-AF65-F5344CB8AC3E}">
        <p14:creationId xmlns:p14="http://schemas.microsoft.com/office/powerpoint/2010/main" val="167117446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66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665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665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665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54" grpId="0"/>
      <p:bldP spid="196655" grpId="0"/>
      <p:bldP spid="196656" grpId="0"/>
      <p:bldP spid="196657" grpId="0"/>
      <p:bldP spid="19" grpId="0"/>
      <p:bldP spid="2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rrowheads="1"/>
          </p:cNvSpPr>
          <p:nvPr>
            <p:ph type="title"/>
          </p:nvPr>
        </p:nvSpPr>
        <p:spPr/>
        <p:txBody>
          <a:bodyPr/>
          <a:lstStyle/>
          <a:p>
            <a:r>
              <a:rPr lang="en-US" i="1" dirty="0">
                <a:solidFill>
                  <a:srgbClr val="002060"/>
                </a:solidFill>
              </a:rPr>
              <a:t>SR </a:t>
            </a:r>
            <a:r>
              <a:rPr lang="en-US" dirty="0">
                <a:solidFill>
                  <a:srgbClr val="002060"/>
                </a:solidFill>
              </a:rPr>
              <a:t>latch with NAND gates</a:t>
            </a:r>
            <a:endParaRPr lang="en-US" altLang="zh-CN" dirty="0">
              <a:solidFill>
                <a:srgbClr val="002060"/>
              </a:solidFill>
            </a:endParaRPr>
          </a:p>
        </p:txBody>
      </p:sp>
      <p:sp>
        <p:nvSpPr>
          <p:cNvPr id="20487" name="Line 4"/>
          <p:cNvSpPr>
            <a:spLocks noChangeShapeType="1"/>
          </p:cNvSpPr>
          <p:nvPr/>
        </p:nvSpPr>
        <p:spPr bwMode="auto">
          <a:xfrm>
            <a:off x="4400550" y="4232275"/>
            <a:ext cx="1588"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20519" name="Text Box 42"/>
          <p:cNvSpPr txBox="1">
            <a:spLocks noChangeArrowheads="1"/>
          </p:cNvSpPr>
          <p:nvPr/>
        </p:nvSpPr>
        <p:spPr bwMode="auto">
          <a:xfrm>
            <a:off x="6672065" y="2132856"/>
            <a:ext cx="713657"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zh-CN" altLang="en-US" sz="2800" dirty="0">
                <a:latin typeface="+mj-lt"/>
              </a:rPr>
              <a:t>0</a:t>
            </a:r>
            <a:r>
              <a:rPr lang="en-US" altLang="zh-CN" sz="2800" dirty="0">
                <a:latin typeface="+mj-lt"/>
              </a:rPr>
              <a:t>  </a:t>
            </a:r>
            <a:r>
              <a:rPr lang="zh-CN" altLang="en-US" sz="2800" dirty="0">
                <a:latin typeface="+mj-lt"/>
              </a:rPr>
              <a:t>0</a:t>
            </a:r>
            <a:endParaRPr lang="en-US" altLang="zh-CN" sz="2800" dirty="0">
              <a:latin typeface="+mj-lt"/>
            </a:endParaRPr>
          </a:p>
          <a:p>
            <a:r>
              <a:rPr lang="zh-CN" altLang="en-US" sz="2800" dirty="0">
                <a:latin typeface="+mj-lt"/>
              </a:rPr>
              <a:t>0  1</a:t>
            </a:r>
          </a:p>
          <a:p>
            <a:r>
              <a:rPr lang="zh-CN" altLang="en-US" sz="2800" dirty="0">
                <a:latin typeface="+mj-lt"/>
              </a:rPr>
              <a:t>1  0</a:t>
            </a:r>
          </a:p>
          <a:p>
            <a:r>
              <a:rPr lang="zh-CN" altLang="en-US" sz="2800" dirty="0">
                <a:latin typeface="+mj-lt"/>
              </a:rPr>
              <a:t>1  1</a:t>
            </a:r>
          </a:p>
        </p:txBody>
      </p:sp>
      <mc:AlternateContent xmlns:mc="http://schemas.openxmlformats.org/markup-compatibility/2006" xmlns:a14="http://schemas.microsoft.com/office/drawing/2010/main">
        <mc:Choice Requires="a14">
          <p:sp>
            <p:nvSpPr>
              <p:cNvPr id="20520" name="Text Box 43"/>
              <p:cNvSpPr txBox="1">
                <a:spLocks noChangeArrowheads="1"/>
              </p:cNvSpPr>
              <p:nvPr/>
            </p:nvSpPr>
            <p:spPr bwMode="auto">
              <a:xfrm>
                <a:off x="6556290" y="1486908"/>
                <a:ext cx="1915974" cy="57394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pPr/>
                <a14:m>
                  <m:oMathPara xmlns:m="http://schemas.openxmlformats.org/officeDocument/2006/math">
                    <m:oMathParaPr>
                      <m:jc m:val="centerGroup"/>
                    </m:oMathParaPr>
                    <m:oMath xmlns:m="http://schemas.openxmlformats.org/officeDocument/2006/math">
                      <m:r>
                        <a:rPr lang="en-US" altLang="zh-CN" sz="2800" i="1" dirty="0">
                          <a:latin typeface="Cambria Math"/>
                        </a:rPr>
                        <m:t>𝑆</m:t>
                      </m:r>
                      <m:r>
                        <a:rPr lang="en-US" altLang="zh-CN" sz="2800" i="1" dirty="0">
                          <a:latin typeface="Cambria Math"/>
                        </a:rPr>
                        <m:t>  </m:t>
                      </m:r>
                      <m:r>
                        <a:rPr lang="en-US" altLang="zh-CN" sz="2800" i="1" dirty="0">
                          <a:latin typeface="Cambria Math"/>
                        </a:rPr>
                        <m:t>𝑅</m:t>
                      </m:r>
                      <m:r>
                        <a:rPr lang="en-US" altLang="zh-CN" sz="2800" i="1" dirty="0">
                          <a:latin typeface="Cambria Math"/>
                        </a:rPr>
                        <m:t>    </m:t>
                      </m:r>
                      <m:r>
                        <a:rPr lang="en-US" altLang="zh-CN" sz="2800" i="1" dirty="0">
                          <a:latin typeface="Cambria Math"/>
                        </a:rPr>
                        <m:t>𝑄</m:t>
                      </m:r>
                      <m:r>
                        <a:rPr lang="en-US" altLang="zh-CN" sz="2800" i="1" dirty="0">
                          <a:latin typeface="Cambria Math"/>
                        </a:rPr>
                        <m:t>   </m:t>
                      </m:r>
                      <m:bar>
                        <m:barPr>
                          <m:pos m:val="top"/>
                          <m:ctrlPr>
                            <a:rPr lang="en-US" altLang="zh-CN" sz="2800" i="1">
                              <a:latin typeface="Cambria Math" panose="02040503050406030204" pitchFamily="18" charset="0"/>
                            </a:rPr>
                          </m:ctrlPr>
                        </m:barPr>
                        <m:e>
                          <m:r>
                            <a:rPr lang="en-US" altLang="zh-CN" sz="2800" i="1">
                              <a:latin typeface="Cambria Math"/>
                            </a:rPr>
                            <m:t>𝑄</m:t>
                          </m:r>
                        </m:e>
                      </m:bar>
                    </m:oMath>
                  </m:oMathPara>
                </a14:m>
                <a:endParaRPr lang="en-US" altLang="zh-CN" sz="2800" i="1" dirty="0">
                  <a:latin typeface="+mj-lt"/>
                </a:endParaRPr>
              </a:p>
            </p:txBody>
          </p:sp>
        </mc:Choice>
        <mc:Fallback xmlns="">
          <p:sp>
            <p:nvSpPr>
              <p:cNvPr id="20520" name="Text Box 43"/>
              <p:cNvSpPr txBox="1">
                <a:spLocks noRot="1" noChangeAspect="1" noMove="1" noResize="1" noEditPoints="1" noAdjustHandles="1" noChangeArrowheads="1" noChangeShapeType="1" noTextEdit="1"/>
              </p:cNvSpPr>
              <p:nvPr/>
            </p:nvSpPr>
            <p:spPr bwMode="auto">
              <a:xfrm>
                <a:off x="6556290" y="1486908"/>
                <a:ext cx="1915974" cy="573940"/>
              </a:xfrm>
              <a:prstGeom prst="rect">
                <a:avLst/>
              </a:prstGeom>
              <a:blipFill>
                <a:blip r:embed="rId3"/>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N">
                    <a:noFill/>
                  </a:rPr>
                  <a:t> </a:t>
                </a:r>
              </a:p>
            </p:txBody>
          </p:sp>
        </mc:Fallback>
      </mc:AlternateContent>
      <p:sp>
        <p:nvSpPr>
          <p:cNvPr id="20521" name="Line 44"/>
          <p:cNvSpPr>
            <a:spLocks noChangeShapeType="1"/>
          </p:cNvSpPr>
          <p:nvPr/>
        </p:nvSpPr>
        <p:spPr bwMode="auto">
          <a:xfrm>
            <a:off x="6456040" y="2060848"/>
            <a:ext cx="2286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0522" name="Line 45"/>
          <p:cNvSpPr>
            <a:spLocks noChangeShapeType="1"/>
          </p:cNvSpPr>
          <p:nvPr/>
        </p:nvSpPr>
        <p:spPr bwMode="auto">
          <a:xfrm>
            <a:off x="7514278" y="1700808"/>
            <a:ext cx="21883" cy="253305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96654" name="Text Box 46"/>
          <p:cNvSpPr txBox="1">
            <a:spLocks noChangeArrowheads="1"/>
          </p:cNvSpPr>
          <p:nvPr/>
        </p:nvSpPr>
        <p:spPr bwMode="auto">
          <a:xfrm>
            <a:off x="2560240" y="3265820"/>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endParaRPr lang="zh-CN" altLang="en-US" sz="2800" dirty="0">
              <a:solidFill>
                <a:schemeClr val="hlink"/>
              </a:solidFill>
              <a:latin typeface="+mj-lt"/>
            </a:endParaRPr>
          </a:p>
        </p:txBody>
      </p:sp>
      <p:sp>
        <p:nvSpPr>
          <p:cNvPr id="196655" name="Text Box 47"/>
          <p:cNvSpPr txBox="1">
            <a:spLocks noChangeArrowheads="1"/>
          </p:cNvSpPr>
          <p:nvPr/>
        </p:nvSpPr>
        <p:spPr bwMode="auto">
          <a:xfrm>
            <a:off x="2560240" y="1609636"/>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endParaRPr lang="zh-CN" altLang="en-US" sz="2800" dirty="0">
              <a:solidFill>
                <a:schemeClr val="hlink"/>
              </a:solidFill>
              <a:latin typeface="+mj-lt"/>
            </a:endParaRPr>
          </a:p>
        </p:txBody>
      </p:sp>
      <p:sp>
        <p:nvSpPr>
          <p:cNvPr id="196656" name="Text Box 48"/>
          <p:cNvSpPr txBox="1">
            <a:spLocks noChangeArrowheads="1"/>
          </p:cNvSpPr>
          <p:nvPr/>
        </p:nvSpPr>
        <p:spPr bwMode="auto">
          <a:xfrm>
            <a:off x="5512568" y="1825660"/>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endParaRPr lang="zh-CN" altLang="en-US" sz="2800" dirty="0">
              <a:solidFill>
                <a:schemeClr val="hlink"/>
              </a:solidFill>
              <a:latin typeface="+mj-lt"/>
            </a:endParaRPr>
          </a:p>
        </p:txBody>
      </p:sp>
      <p:sp>
        <p:nvSpPr>
          <p:cNvPr id="196657" name="Text Box 49"/>
          <p:cNvSpPr txBox="1">
            <a:spLocks noChangeArrowheads="1"/>
          </p:cNvSpPr>
          <p:nvPr/>
        </p:nvSpPr>
        <p:spPr bwMode="auto">
          <a:xfrm>
            <a:off x="5512568" y="3068960"/>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endParaRPr lang="zh-CN" altLang="en-US" sz="2800" dirty="0">
              <a:solidFill>
                <a:schemeClr val="hlink"/>
              </a:solidFill>
              <a:latin typeface="+mj-lt"/>
            </a:endParaRPr>
          </a:p>
        </p:txBody>
      </p:sp>
      <p:sp>
        <p:nvSpPr>
          <p:cNvPr id="196658" name="Text Box 50"/>
          <p:cNvSpPr txBox="1">
            <a:spLocks noChangeArrowheads="1"/>
          </p:cNvSpPr>
          <p:nvPr/>
        </p:nvSpPr>
        <p:spPr bwMode="auto">
          <a:xfrm>
            <a:off x="7608168" y="2564904"/>
            <a:ext cx="2209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r>
              <a:rPr lang="zh-CN" altLang="en-US" sz="2800" dirty="0">
                <a:solidFill>
                  <a:schemeClr val="hlink"/>
                </a:solidFill>
                <a:latin typeface="+mj-lt"/>
              </a:rPr>
              <a:t>   </a:t>
            </a:r>
            <a:r>
              <a:rPr lang="en-US" altLang="zh-CN" sz="2800" dirty="0">
                <a:solidFill>
                  <a:schemeClr val="hlink"/>
                </a:solidFill>
                <a:latin typeface="+mj-lt"/>
              </a:rPr>
              <a:t>0</a:t>
            </a:r>
            <a:r>
              <a:rPr lang="zh-CN" altLang="en-US" sz="2800" dirty="0">
                <a:solidFill>
                  <a:schemeClr val="hlink"/>
                </a:solidFill>
                <a:latin typeface="+mj-lt"/>
              </a:rPr>
              <a:t>   </a:t>
            </a:r>
            <a:r>
              <a:rPr lang="en-US" altLang="zh-CN" sz="2800" i="1" dirty="0">
                <a:solidFill>
                  <a:srgbClr val="C00000"/>
                </a:solidFill>
                <a:latin typeface="+mj-lt"/>
              </a:rPr>
              <a:t>Set</a:t>
            </a:r>
          </a:p>
        </p:txBody>
      </p:sp>
      <p:pic>
        <p:nvPicPr>
          <p:cNvPr id="16"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1757" y="4445823"/>
            <a:ext cx="3767312" cy="2297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Text Box 50"/>
          <p:cNvSpPr txBox="1">
            <a:spLocks noChangeArrowheads="1"/>
          </p:cNvSpPr>
          <p:nvPr/>
        </p:nvSpPr>
        <p:spPr bwMode="auto">
          <a:xfrm>
            <a:off x="7608168" y="3409836"/>
            <a:ext cx="25922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r>
              <a:rPr lang="zh-CN" altLang="en-US" sz="2800" dirty="0">
                <a:solidFill>
                  <a:schemeClr val="hlink"/>
                </a:solidFill>
                <a:latin typeface="+mj-lt"/>
              </a:rPr>
              <a:t>   </a:t>
            </a:r>
            <a:r>
              <a:rPr lang="en-US" altLang="zh-CN" sz="2800" dirty="0">
                <a:solidFill>
                  <a:schemeClr val="hlink"/>
                </a:solidFill>
                <a:latin typeface="+mj-lt"/>
              </a:rPr>
              <a:t>0</a:t>
            </a:r>
            <a:r>
              <a:rPr lang="zh-CN" altLang="en-US" sz="2800" dirty="0">
                <a:solidFill>
                  <a:schemeClr val="hlink"/>
                </a:solidFill>
                <a:latin typeface="+mj-lt"/>
              </a:rPr>
              <a:t>   </a:t>
            </a:r>
            <a:r>
              <a:rPr lang="en-US" altLang="zh-CN" sz="2800" i="1" dirty="0">
                <a:solidFill>
                  <a:srgbClr val="C00000"/>
                </a:solidFill>
                <a:latin typeface="+mj-lt"/>
              </a:rPr>
              <a:t>No change</a:t>
            </a:r>
          </a:p>
        </p:txBody>
      </p:sp>
      <p:sp>
        <p:nvSpPr>
          <p:cNvPr id="18" name="Text Box 50"/>
          <p:cNvSpPr txBox="1">
            <a:spLocks noChangeArrowheads="1"/>
          </p:cNvSpPr>
          <p:nvPr/>
        </p:nvSpPr>
        <p:spPr bwMode="auto">
          <a:xfrm>
            <a:off x="7608168" y="2977788"/>
            <a:ext cx="2209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r>
              <a:rPr lang="zh-CN" altLang="en-US" sz="2800" dirty="0">
                <a:solidFill>
                  <a:schemeClr val="hlink"/>
                </a:solidFill>
                <a:latin typeface="+mj-lt"/>
              </a:rPr>
              <a:t>   </a:t>
            </a:r>
            <a:r>
              <a:rPr lang="en-US" altLang="zh-CN" sz="2800" dirty="0">
                <a:solidFill>
                  <a:schemeClr val="hlink"/>
                </a:solidFill>
                <a:latin typeface="+mj-lt"/>
              </a:rPr>
              <a:t>1</a:t>
            </a:r>
            <a:r>
              <a:rPr lang="zh-CN" altLang="en-US" sz="2800" dirty="0">
                <a:solidFill>
                  <a:schemeClr val="hlink"/>
                </a:solidFill>
                <a:latin typeface="+mj-lt"/>
              </a:rPr>
              <a:t>   </a:t>
            </a:r>
            <a:r>
              <a:rPr lang="en-US" altLang="zh-CN" sz="2800" i="1" dirty="0">
                <a:solidFill>
                  <a:srgbClr val="C00000"/>
                </a:solidFill>
                <a:latin typeface="+mj-lt"/>
              </a:rPr>
              <a:t>Reset</a:t>
            </a:r>
          </a:p>
        </p:txBody>
      </p:sp>
      <p:sp>
        <p:nvSpPr>
          <p:cNvPr id="19" name="Text Box 50"/>
          <p:cNvSpPr txBox="1">
            <a:spLocks noChangeArrowheads="1"/>
          </p:cNvSpPr>
          <p:nvPr/>
        </p:nvSpPr>
        <p:spPr bwMode="auto">
          <a:xfrm>
            <a:off x="7608168" y="3789040"/>
            <a:ext cx="25922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r>
              <a:rPr lang="zh-CN" altLang="en-US" sz="2800" dirty="0">
                <a:solidFill>
                  <a:schemeClr val="hlink"/>
                </a:solidFill>
                <a:latin typeface="+mj-lt"/>
              </a:rPr>
              <a:t>   </a:t>
            </a:r>
            <a:r>
              <a:rPr lang="en-US" altLang="zh-CN" sz="2800" dirty="0">
                <a:solidFill>
                  <a:schemeClr val="hlink"/>
                </a:solidFill>
                <a:latin typeface="+mj-lt"/>
              </a:rPr>
              <a:t>1</a:t>
            </a:r>
            <a:r>
              <a:rPr lang="zh-CN" altLang="en-US" sz="2800" dirty="0">
                <a:solidFill>
                  <a:schemeClr val="hlink"/>
                </a:solidFill>
                <a:latin typeface="+mj-lt"/>
              </a:rPr>
              <a:t>   </a:t>
            </a:r>
            <a:r>
              <a:rPr lang="en-US" altLang="zh-CN" sz="2800" i="1" dirty="0">
                <a:solidFill>
                  <a:srgbClr val="C00000"/>
                </a:solidFill>
                <a:latin typeface="+mj-lt"/>
              </a:rPr>
              <a:t>No change</a:t>
            </a:r>
          </a:p>
        </p:txBody>
      </p:sp>
      <p:sp>
        <p:nvSpPr>
          <p:cNvPr id="20" name="Text Box 50"/>
          <p:cNvSpPr txBox="1">
            <a:spLocks noChangeArrowheads="1"/>
          </p:cNvSpPr>
          <p:nvPr/>
        </p:nvSpPr>
        <p:spPr bwMode="auto">
          <a:xfrm>
            <a:off x="7608168" y="2132856"/>
            <a:ext cx="324036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r>
              <a:rPr lang="zh-CN" altLang="en-US" sz="2800" dirty="0">
                <a:solidFill>
                  <a:schemeClr val="hlink"/>
                </a:solidFill>
                <a:latin typeface="+mj-lt"/>
              </a:rPr>
              <a:t>   </a:t>
            </a:r>
            <a:r>
              <a:rPr lang="en-US" altLang="zh-CN" sz="2800" dirty="0">
                <a:solidFill>
                  <a:schemeClr val="hlink"/>
                </a:solidFill>
                <a:latin typeface="+mj-lt"/>
              </a:rPr>
              <a:t>1</a:t>
            </a:r>
            <a:r>
              <a:rPr lang="zh-CN" altLang="en-US" sz="2800" dirty="0">
                <a:solidFill>
                  <a:schemeClr val="hlink"/>
                </a:solidFill>
                <a:latin typeface="+mj-lt"/>
              </a:rPr>
              <a:t>   </a:t>
            </a:r>
            <a:r>
              <a:rPr lang="en-IN" sz="2800" i="1" dirty="0">
                <a:solidFill>
                  <a:srgbClr val="C00000"/>
                </a:solidFill>
              </a:rPr>
              <a:t>Indeterminate</a:t>
            </a:r>
            <a:endParaRPr lang="en-US" altLang="zh-CN" sz="2800" i="1" dirty="0">
              <a:solidFill>
                <a:srgbClr val="C00000"/>
              </a:solidFill>
            </a:endParaRPr>
          </a:p>
        </p:txBody>
      </p:sp>
      <p:sp>
        <p:nvSpPr>
          <p:cNvPr id="2" name="Rectangle 1"/>
          <p:cNvSpPr/>
          <p:nvPr/>
        </p:nvSpPr>
        <p:spPr>
          <a:xfrm>
            <a:off x="6795072" y="4437112"/>
            <a:ext cx="2582566" cy="584775"/>
          </a:xfrm>
          <a:prstGeom prst="rect">
            <a:avLst/>
          </a:prstGeom>
        </p:spPr>
        <p:txBody>
          <a:bodyPr wrap="none">
            <a:spAutoFit/>
          </a:bodyPr>
          <a:lstStyle/>
          <a:p>
            <a:r>
              <a:rPr lang="en-IN" sz="3200" dirty="0"/>
              <a:t>Function table</a:t>
            </a:r>
          </a:p>
        </p:txBody>
      </p:sp>
      <p:sp>
        <p:nvSpPr>
          <p:cNvPr id="21" name="Rectangle 20"/>
          <p:cNvSpPr/>
          <p:nvPr/>
        </p:nvSpPr>
        <p:spPr>
          <a:xfrm>
            <a:off x="3318298" y="3861048"/>
            <a:ext cx="2491003" cy="584775"/>
          </a:xfrm>
          <a:prstGeom prst="rect">
            <a:avLst/>
          </a:prstGeom>
        </p:spPr>
        <p:txBody>
          <a:bodyPr wrap="none">
            <a:spAutoFit/>
          </a:bodyPr>
          <a:lstStyle/>
          <a:p>
            <a:r>
              <a:rPr lang="en-IN" sz="3200" dirty="0"/>
              <a:t>Logic diagram</a:t>
            </a:r>
          </a:p>
        </p:txBody>
      </p:sp>
      <p:pic>
        <p:nvPicPr>
          <p:cNvPr id="22"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99656" y="1772817"/>
            <a:ext cx="2419350" cy="189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8013097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66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665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665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665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54" grpId="0"/>
      <p:bldP spid="196655" grpId="0"/>
      <p:bldP spid="196656" grpId="0"/>
      <p:bldP spid="196657" grpId="0"/>
      <p:bldP spid="2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553" y="188640"/>
            <a:ext cx="5368256" cy="2664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8969" y="3573017"/>
            <a:ext cx="5368256" cy="2333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12224" y="188640"/>
            <a:ext cx="2905125" cy="2528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87977" y="2789635"/>
            <a:ext cx="2952750" cy="2702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2927648" y="3055723"/>
            <a:ext cx="2719399" cy="400110"/>
          </a:xfrm>
          <a:prstGeom prst="rect">
            <a:avLst/>
          </a:prstGeom>
        </p:spPr>
        <p:txBody>
          <a:bodyPr wrap="none">
            <a:spAutoFit/>
          </a:bodyPr>
          <a:lstStyle/>
          <a:p>
            <a:r>
              <a:rPr lang="en-US" sz="2000" b="1" i="1" dirty="0">
                <a:solidFill>
                  <a:srgbClr val="002060"/>
                </a:solidFill>
              </a:rPr>
              <a:t>SR </a:t>
            </a:r>
            <a:r>
              <a:rPr lang="en-US" sz="2000" b="1" dirty="0">
                <a:solidFill>
                  <a:srgbClr val="002060"/>
                </a:solidFill>
              </a:rPr>
              <a:t>latch with NOR gates</a:t>
            </a:r>
            <a:endParaRPr lang="en-IN" sz="2000" dirty="0">
              <a:solidFill>
                <a:srgbClr val="002060"/>
              </a:solidFill>
            </a:endParaRPr>
          </a:p>
        </p:txBody>
      </p:sp>
      <p:sp>
        <p:nvSpPr>
          <p:cNvPr id="8" name="Rectangle 7"/>
          <p:cNvSpPr/>
          <p:nvPr/>
        </p:nvSpPr>
        <p:spPr>
          <a:xfrm>
            <a:off x="3303824" y="6226613"/>
            <a:ext cx="2887714" cy="400110"/>
          </a:xfrm>
          <a:prstGeom prst="rect">
            <a:avLst/>
          </a:prstGeom>
        </p:spPr>
        <p:txBody>
          <a:bodyPr wrap="none">
            <a:spAutoFit/>
          </a:bodyPr>
          <a:lstStyle/>
          <a:p>
            <a:r>
              <a:rPr lang="en-US" sz="2000" b="1" i="1" dirty="0">
                <a:solidFill>
                  <a:srgbClr val="002060"/>
                </a:solidFill>
              </a:rPr>
              <a:t>SR </a:t>
            </a:r>
            <a:r>
              <a:rPr lang="en-US" sz="2000" b="1" dirty="0">
                <a:solidFill>
                  <a:srgbClr val="002060"/>
                </a:solidFill>
              </a:rPr>
              <a:t>latch with NAND gates</a:t>
            </a:r>
            <a:endParaRPr lang="en-IN" sz="2000" dirty="0">
              <a:solidFill>
                <a:srgbClr val="002060"/>
              </a:solidFill>
            </a:endParaRPr>
          </a:p>
        </p:txBody>
      </p:sp>
      <p:sp>
        <p:nvSpPr>
          <p:cNvPr id="11" name="TextBox 10">
            <a:extLst>
              <a:ext uri="{FF2B5EF4-FFF2-40B4-BE49-F238E27FC236}">
                <a16:creationId xmlns:a16="http://schemas.microsoft.com/office/drawing/2014/main" id="{B78FA122-39EE-43B3-965E-B50729068F46}"/>
              </a:ext>
            </a:extLst>
          </p:cNvPr>
          <p:cNvSpPr txBox="1"/>
          <p:nvPr/>
        </p:nvSpPr>
        <p:spPr>
          <a:xfrm>
            <a:off x="7347225" y="5689644"/>
            <a:ext cx="4824536" cy="1200329"/>
          </a:xfrm>
          <a:prstGeom prst="rect">
            <a:avLst/>
          </a:prstGeom>
          <a:noFill/>
        </p:spPr>
        <p:txBody>
          <a:bodyPr wrap="square" rtlCol="0">
            <a:spAutoFit/>
          </a:bodyPr>
          <a:lstStyle/>
          <a:p>
            <a:r>
              <a:rPr lang="en-US" sz="2400" i="1" dirty="0">
                <a:solidFill>
                  <a:srgbClr val="C00000"/>
                </a:solidFill>
              </a:rPr>
              <a:t>Actual case in SR latch</a:t>
            </a:r>
          </a:p>
          <a:p>
            <a:r>
              <a:rPr lang="en-US" sz="2400" b="1" i="1" dirty="0">
                <a:solidFill>
                  <a:srgbClr val="C00000"/>
                </a:solidFill>
                <a:highlight>
                  <a:srgbClr val="FFFF00"/>
                </a:highlight>
              </a:rPr>
              <a:t>When S = 1, Q = 1, Set</a:t>
            </a:r>
          </a:p>
          <a:p>
            <a:r>
              <a:rPr lang="en-US" sz="2400" b="1" i="1" dirty="0">
                <a:solidFill>
                  <a:srgbClr val="C00000"/>
                </a:solidFill>
                <a:highlight>
                  <a:srgbClr val="FFFF00"/>
                </a:highlight>
              </a:rPr>
              <a:t>When R=1, Q=0, Reset</a:t>
            </a:r>
            <a:endParaRPr lang="en-IN" sz="2400" b="1" i="1" dirty="0">
              <a:solidFill>
                <a:srgbClr val="C00000"/>
              </a:solidFill>
              <a:highlight>
                <a:srgbClr val="FFFF00"/>
              </a:highlight>
            </a:endParaRPr>
          </a:p>
        </p:txBody>
      </p:sp>
    </p:spTree>
    <p:extLst>
      <p:ext uri="{BB962C8B-B14F-4D97-AF65-F5344CB8AC3E}">
        <p14:creationId xmlns:p14="http://schemas.microsoft.com/office/powerpoint/2010/main" val="951956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barn(inVertical)">
                                      <p:cBhvr>
                                        <p:cTn id="7" dur="500"/>
                                        <p:tgtEl>
                                          <p:spTgt spid="102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029"/>
                                        </p:tgtEl>
                                        <p:attrNameLst>
                                          <p:attrName>style.visibility</p:attrName>
                                        </p:attrNameLst>
                                      </p:cBhvr>
                                      <p:to>
                                        <p:strVal val="visible"/>
                                      </p:to>
                                    </p:set>
                                    <p:animEffect transition="in" filter="barn(inVertical)">
                                      <p:cBhvr>
                                        <p:cTn id="12" dur="500"/>
                                        <p:tgtEl>
                                          <p:spTgt spid="1029"/>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1027"/>
                                        </p:tgtEl>
                                        <p:attrNameLst>
                                          <p:attrName>style.visibility</p:attrName>
                                        </p:attrNameLst>
                                      </p:cBhvr>
                                      <p:to>
                                        <p:strVal val="visible"/>
                                      </p:to>
                                    </p:set>
                                    <p:animEffect transition="in" filter="barn(inVertical)">
                                      <p:cBhvr>
                                        <p:cTn id="21" dur="500"/>
                                        <p:tgtEl>
                                          <p:spTgt spid="1027"/>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nodeType="clickEffect">
                                  <p:stCondLst>
                                    <p:cond delay="0"/>
                                  </p:stCondLst>
                                  <p:childTnLst>
                                    <p:set>
                                      <p:cBhvr>
                                        <p:cTn id="25" dur="1" fill="hold">
                                          <p:stCondLst>
                                            <p:cond delay="0"/>
                                          </p:stCondLst>
                                        </p:cTn>
                                        <p:tgtEl>
                                          <p:spTgt spid="1030"/>
                                        </p:tgtEl>
                                        <p:attrNameLst>
                                          <p:attrName>style.visibility</p:attrName>
                                        </p:attrNameLst>
                                      </p:cBhvr>
                                      <p:to>
                                        <p:strVal val="visible"/>
                                      </p:to>
                                    </p:set>
                                    <p:animEffect transition="in" filter="barn(inVertical)">
                                      <p:cBhvr>
                                        <p:cTn id="26" dur="500"/>
                                        <p:tgtEl>
                                          <p:spTgt spid="1030"/>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1344" y="548680"/>
            <a:ext cx="11305256" cy="5001419"/>
          </a:xfrm>
        </p:spPr>
        <p:txBody>
          <a:bodyPr>
            <a:normAutofit/>
          </a:bodyPr>
          <a:lstStyle/>
          <a:p>
            <a:pPr algn="just"/>
            <a:r>
              <a:rPr lang="en-US" dirty="0"/>
              <a:t>In comparing the NAND with the NOR latch, note that the input signals for the NAND require the complement of those values used for the NOR latch.</a:t>
            </a:r>
          </a:p>
          <a:p>
            <a:pPr algn="just"/>
            <a:r>
              <a:rPr lang="en-US" dirty="0"/>
              <a:t>Because the NAND latch requires a 0 signal to change its state, it is sometimes referred to as an </a:t>
            </a:r>
            <a:r>
              <a:rPr lang="en-US" i="1" dirty="0"/>
              <a:t>S’R’</a:t>
            </a:r>
            <a:r>
              <a:rPr lang="en-US" dirty="0"/>
              <a:t> latch.</a:t>
            </a:r>
          </a:p>
          <a:p>
            <a:pPr algn="just"/>
            <a:r>
              <a:rPr lang="en-US" i="1" dirty="0">
                <a:solidFill>
                  <a:srgbClr val="002060"/>
                </a:solidFill>
              </a:rPr>
              <a:t>SR </a:t>
            </a:r>
            <a:r>
              <a:rPr lang="en-US" dirty="0">
                <a:solidFill>
                  <a:srgbClr val="002060"/>
                </a:solidFill>
              </a:rPr>
              <a:t>latch with NOR gates</a:t>
            </a:r>
            <a:r>
              <a:rPr lang="en-US" dirty="0"/>
              <a:t> is called </a:t>
            </a:r>
            <a:r>
              <a:rPr lang="en-US" i="1" dirty="0">
                <a:solidFill>
                  <a:srgbClr val="C00000"/>
                </a:solidFill>
              </a:rPr>
              <a:t>Active-high SR Latch</a:t>
            </a:r>
            <a:r>
              <a:rPr lang="en-US" dirty="0"/>
              <a:t> because which is SET when </a:t>
            </a:r>
            <a:r>
              <a:rPr lang="en-US" i="1" dirty="0"/>
              <a:t>S</a:t>
            </a:r>
            <a:r>
              <a:rPr lang="en-US" dirty="0"/>
              <a:t> = 1(HIGH).</a:t>
            </a:r>
          </a:p>
          <a:p>
            <a:pPr algn="just"/>
            <a:r>
              <a:rPr lang="en-US" i="1" dirty="0">
                <a:solidFill>
                  <a:srgbClr val="002060"/>
                </a:solidFill>
              </a:rPr>
              <a:t>SR </a:t>
            </a:r>
            <a:r>
              <a:rPr lang="en-US" dirty="0">
                <a:solidFill>
                  <a:srgbClr val="002060"/>
                </a:solidFill>
              </a:rPr>
              <a:t>latch with NAND gates</a:t>
            </a:r>
            <a:r>
              <a:rPr lang="en-US" dirty="0"/>
              <a:t> is called </a:t>
            </a:r>
            <a:r>
              <a:rPr lang="en-US" i="1" dirty="0">
                <a:solidFill>
                  <a:srgbClr val="C00000"/>
                </a:solidFill>
              </a:rPr>
              <a:t>Active-low SR Latch</a:t>
            </a:r>
            <a:r>
              <a:rPr lang="en-US" dirty="0"/>
              <a:t> because which is SET when </a:t>
            </a:r>
            <a:r>
              <a:rPr lang="en-US" i="1" dirty="0"/>
              <a:t>S</a:t>
            </a:r>
            <a:r>
              <a:rPr lang="en-US" dirty="0"/>
              <a:t> = 0(LOW).</a:t>
            </a:r>
          </a:p>
          <a:p>
            <a:pPr algn="just"/>
            <a:endParaRPr lang="en-US" dirty="0"/>
          </a:p>
          <a:p>
            <a:pPr algn="just"/>
            <a:endParaRPr lang="en-US" dirty="0"/>
          </a:p>
        </p:txBody>
      </p:sp>
      <p:sp>
        <p:nvSpPr>
          <p:cNvPr id="4" name="TextBox 3">
            <a:extLst>
              <a:ext uri="{FF2B5EF4-FFF2-40B4-BE49-F238E27FC236}">
                <a16:creationId xmlns:a16="http://schemas.microsoft.com/office/drawing/2014/main" id="{07E3BFF5-1D3A-4BA6-A8D2-A9FF7D7E8AA1}"/>
              </a:ext>
            </a:extLst>
          </p:cNvPr>
          <p:cNvSpPr txBox="1"/>
          <p:nvPr/>
        </p:nvSpPr>
        <p:spPr>
          <a:xfrm>
            <a:off x="5528320" y="5373216"/>
            <a:ext cx="4824536" cy="1200329"/>
          </a:xfrm>
          <a:prstGeom prst="rect">
            <a:avLst/>
          </a:prstGeom>
          <a:noFill/>
        </p:spPr>
        <p:txBody>
          <a:bodyPr wrap="square" rtlCol="0">
            <a:spAutoFit/>
          </a:bodyPr>
          <a:lstStyle/>
          <a:p>
            <a:r>
              <a:rPr lang="en-US" sz="2400" i="1" dirty="0">
                <a:solidFill>
                  <a:srgbClr val="C00000"/>
                </a:solidFill>
              </a:rPr>
              <a:t>Opposite in SR  NAND latch</a:t>
            </a:r>
          </a:p>
          <a:p>
            <a:r>
              <a:rPr lang="en-US" sz="2400" b="1" i="1" dirty="0">
                <a:solidFill>
                  <a:srgbClr val="C00000"/>
                </a:solidFill>
                <a:highlight>
                  <a:srgbClr val="FFFF00"/>
                </a:highlight>
              </a:rPr>
              <a:t>When S = 0, Q = 1, Set</a:t>
            </a:r>
          </a:p>
          <a:p>
            <a:r>
              <a:rPr lang="en-US" sz="2400" b="1" i="1" dirty="0">
                <a:solidFill>
                  <a:srgbClr val="C00000"/>
                </a:solidFill>
                <a:highlight>
                  <a:srgbClr val="FFFF00"/>
                </a:highlight>
              </a:rPr>
              <a:t>When R=0, Q=0, Reset</a:t>
            </a:r>
            <a:endParaRPr lang="en-IN" sz="2400" b="1" i="1" dirty="0">
              <a:solidFill>
                <a:srgbClr val="C00000"/>
              </a:solidFill>
              <a:highlight>
                <a:srgbClr val="FFFF00"/>
              </a:highlight>
            </a:endParaRPr>
          </a:p>
        </p:txBody>
      </p:sp>
      <p:sp>
        <p:nvSpPr>
          <p:cNvPr id="5" name="TextBox 4">
            <a:extLst>
              <a:ext uri="{FF2B5EF4-FFF2-40B4-BE49-F238E27FC236}">
                <a16:creationId xmlns:a16="http://schemas.microsoft.com/office/drawing/2014/main" id="{FDA87C0F-A66C-403A-BF2B-D81C5B10756D}"/>
              </a:ext>
            </a:extLst>
          </p:cNvPr>
          <p:cNvSpPr txBox="1"/>
          <p:nvPr/>
        </p:nvSpPr>
        <p:spPr>
          <a:xfrm>
            <a:off x="703784" y="5637610"/>
            <a:ext cx="4824536" cy="1200329"/>
          </a:xfrm>
          <a:prstGeom prst="rect">
            <a:avLst/>
          </a:prstGeom>
          <a:noFill/>
        </p:spPr>
        <p:txBody>
          <a:bodyPr wrap="square" rtlCol="0">
            <a:spAutoFit/>
          </a:bodyPr>
          <a:lstStyle/>
          <a:p>
            <a:r>
              <a:rPr lang="en-US" sz="2400" i="1" dirty="0">
                <a:solidFill>
                  <a:srgbClr val="C00000"/>
                </a:solidFill>
              </a:rPr>
              <a:t>Actual case in SR latch</a:t>
            </a:r>
          </a:p>
          <a:p>
            <a:r>
              <a:rPr lang="en-US" sz="2400" b="1" i="1" dirty="0">
                <a:solidFill>
                  <a:srgbClr val="C00000"/>
                </a:solidFill>
                <a:highlight>
                  <a:srgbClr val="FFFF00"/>
                </a:highlight>
              </a:rPr>
              <a:t>When S = 1, Q = 1, Set</a:t>
            </a:r>
          </a:p>
          <a:p>
            <a:r>
              <a:rPr lang="en-US" sz="2400" b="1" i="1" dirty="0">
                <a:solidFill>
                  <a:srgbClr val="C00000"/>
                </a:solidFill>
                <a:highlight>
                  <a:srgbClr val="FFFF00"/>
                </a:highlight>
              </a:rPr>
              <a:t>When R=1, Q=0, Reset</a:t>
            </a:r>
            <a:endParaRPr lang="en-IN" sz="2400" b="1" i="1" dirty="0">
              <a:solidFill>
                <a:srgbClr val="C00000"/>
              </a:solidFill>
              <a:highlight>
                <a:srgbClr val="FFFF00"/>
              </a:highlight>
            </a:endParaRPr>
          </a:p>
        </p:txBody>
      </p:sp>
    </p:spTree>
    <p:extLst>
      <p:ext uri="{BB962C8B-B14F-4D97-AF65-F5344CB8AC3E}">
        <p14:creationId xmlns:p14="http://schemas.microsoft.com/office/powerpoint/2010/main" val="2853083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solidFill>
                  <a:srgbClr val="0070C0"/>
                </a:solidFill>
              </a:rPr>
              <a:t>SR </a:t>
            </a:r>
            <a:r>
              <a:rPr lang="en-US" dirty="0">
                <a:solidFill>
                  <a:srgbClr val="0070C0"/>
                </a:solidFill>
              </a:rPr>
              <a:t>latch with control input</a:t>
            </a:r>
            <a:endParaRPr lang="en-IN" dirty="0">
              <a:solidFill>
                <a:srgbClr val="0070C0"/>
              </a:solidFill>
            </a:endParaRPr>
          </a:p>
        </p:txBody>
      </p:sp>
      <p:sp>
        <p:nvSpPr>
          <p:cNvPr id="3" name="Content Placeholder 2"/>
          <p:cNvSpPr>
            <a:spLocks noGrp="1"/>
          </p:cNvSpPr>
          <p:nvPr>
            <p:ph idx="1"/>
          </p:nvPr>
        </p:nvSpPr>
        <p:spPr/>
        <p:txBody>
          <a:bodyPr/>
          <a:lstStyle/>
          <a:p>
            <a:pPr algn="just"/>
            <a:r>
              <a:rPr lang="en-US" sz="3000" dirty="0"/>
              <a:t>The operation of the basic </a:t>
            </a:r>
            <a:r>
              <a:rPr lang="en-US" sz="3000" i="1" dirty="0"/>
              <a:t>SR </a:t>
            </a:r>
            <a:r>
              <a:rPr lang="en-US" sz="3000" dirty="0"/>
              <a:t>latch can be modified by providing an additional input signal that determines (controls) </a:t>
            </a:r>
            <a:r>
              <a:rPr lang="en-US" sz="3000" i="1" dirty="0"/>
              <a:t>when </a:t>
            </a:r>
            <a:r>
              <a:rPr lang="en-US" sz="3000" dirty="0"/>
              <a:t>the state of the latch can be changed by determining whether </a:t>
            </a:r>
            <a:r>
              <a:rPr lang="en-US" sz="3000" i="1" dirty="0"/>
              <a:t>S </a:t>
            </a:r>
            <a:r>
              <a:rPr lang="en-US" sz="3000" dirty="0"/>
              <a:t>and </a:t>
            </a:r>
            <a:r>
              <a:rPr lang="en-US" sz="3000" i="1" dirty="0"/>
              <a:t>R </a:t>
            </a:r>
            <a:r>
              <a:rPr lang="en-US" sz="3000" dirty="0"/>
              <a:t>(or </a:t>
            </a:r>
            <a:r>
              <a:rPr lang="en-US" sz="3000" i="1" dirty="0"/>
              <a:t>S’ </a:t>
            </a:r>
            <a:r>
              <a:rPr lang="en-US" sz="3000" dirty="0"/>
              <a:t>and </a:t>
            </a:r>
            <a:r>
              <a:rPr lang="en-US" sz="3000" i="1" dirty="0"/>
              <a:t>R’</a:t>
            </a:r>
            <a:r>
              <a:rPr lang="en-US" sz="3000" dirty="0"/>
              <a:t>) can affect the circuit. </a:t>
            </a:r>
          </a:p>
          <a:p>
            <a:pPr algn="just"/>
            <a:r>
              <a:rPr lang="en-US" sz="3000" dirty="0"/>
              <a:t>An </a:t>
            </a:r>
            <a:r>
              <a:rPr lang="en-US" sz="3000" i="1" dirty="0"/>
              <a:t>SR </a:t>
            </a:r>
            <a:r>
              <a:rPr lang="en-US" sz="3000" dirty="0"/>
              <a:t>latch with a control input is shown in Fig.</a:t>
            </a:r>
          </a:p>
          <a:p>
            <a:endParaRPr lang="en-IN" dirty="0"/>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790156" y="4587828"/>
            <a:ext cx="4609524" cy="2009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61969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barn(inVertical)">
                                      <p:cBhvr>
                                        <p:cTn id="2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7408" y="764704"/>
            <a:ext cx="10657184" cy="4713387"/>
          </a:xfrm>
        </p:spPr>
        <p:txBody>
          <a:bodyPr>
            <a:normAutofit lnSpcReduction="10000"/>
          </a:bodyPr>
          <a:lstStyle/>
          <a:p>
            <a:pPr algn="just"/>
            <a:r>
              <a:rPr lang="en-US" dirty="0"/>
              <a:t>It consists of the basic </a:t>
            </a:r>
            <a:r>
              <a:rPr lang="en-US" i="1" dirty="0"/>
              <a:t>SR </a:t>
            </a:r>
            <a:r>
              <a:rPr lang="en-US" dirty="0"/>
              <a:t>latch and two additional NAND gates.</a:t>
            </a:r>
          </a:p>
          <a:p>
            <a:pPr algn="just"/>
            <a:r>
              <a:rPr lang="en-US" dirty="0"/>
              <a:t>The control input </a:t>
            </a:r>
            <a:r>
              <a:rPr lang="en-US" i="1" dirty="0"/>
              <a:t>En </a:t>
            </a:r>
            <a:r>
              <a:rPr lang="en-US" dirty="0"/>
              <a:t>acts as an </a:t>
            </a:r>
            <a:r>
              <a:rPr lang="en-US" i="1" dirty="0"/>
              <a:t>enable </a:t>
            </a:r>
            <a:r>
              <a:rPr lang="en-US" dirty="0"/>
              <a:t>signal for the other two inputs.</a:t>
            </a:r>
          </a:p>
          <a:p>
            <a:pPr algn="just"/>
            <a:r>
              <a:rPr lang="en-US" dirty="0">
                <a:solidFill>
                  <a:srgbClr val="002060"/>
                </a:solidFill>
              </a:rPr>
              <a:t>The outputs of the NAND gates stay at the logic-1 level as long as the enable signal remains at 0.</a:t>
            </a:r>
          </a:p>
          <a:p>
            <a:pPr algn="just"/>
            <a:r>
              <a:rPr lang="en-US" dirty="0"/>
              <a:t>This is the quiescent condition for the </a:t>
            </a:r>
            <a:r>
              <a:rPr lang="en-US" i="1" dirty="0"/>
              <a:t>SR </a:t>
            </a:r>
            <a:r>
              <a:rPr lang="en-US" dirty="0"/>
              <a:t>latch.</a:t>
            </a:r>
          </a:p>
          <a:p>
            <a:pPr algn="just"/>
            <a:r>
              <a:rPr lang="en-US" dirty="0"/>
              <a:t>When the enable input goes to 1, information from the </a:t>
            </a:r>
            <a:r>
              <a:rPr lang="en-US" i="1" dirty="0"/>
              <a:t>S </a:t>
            </a:r>
            <a:r>
              <a:rPr lang="en-US" dirty="0"/>
              <a:t>or </a:t>
            </a:r>
            <a:r>
              <a:rPr lang="en-US" i="1" dirty="0"/>
              <a:t>R </a:t>
            </a:r>
            <a:r>
              <a:rPr lang="en-US" dirty="0"/>
              <a:t>input is allowed to affect the latch.</a:t>
            </a:r>
            <a:endParaRPr lang="en-IN" dirty="0"/>
          </a:p>
        </p:txBody>
      </p:sp>
    </p:spTree>
    <p:extLst>
      <p:ext uri="{BB962C8B-B14F-4D97-AF65-F5344CB8AC3E}">
        <p14:creationId xmlns:p14="http://schemas.microsoft.com/office/powerpoint/2010/main" val="4021380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rrowheads="1"/>
          </p:cNvSpPr>
          <p:nvPr>
            <p:ph type="title"/>
          </p:nvPr>
        </p:nvSpPr>
        <p:spPr/>
        <p:txBody>
          <a:bodyPr/>
          <a:lstStyle/>
          <a:p>
            <a:r>
              <a:rPr lang="en-US" i="1" dirty="0">
                <a:solidFill>
                  <a:srgbClr val="002060"/>
                </a:solidFill>
              </a:rPr>
              <a:t>SR </a:t>
            </a:r>
            <a:r>
              <a:rPr lang="en-US" dirty="0">
                <a:solidFill>
                  <a:srgbClr val="002060"/>
                </a:solidFill>
              </a:rPr>
              <a:t>latch with control input</a:t>
            </a:r>
            <a:endParaRPr lang="en-US" altLang="zh-CN" dirty="0">
              <a:solidFill>
                <a:srgbClr val="002060"/>
              </a:solidFill>
            </a:endParaRPr>
          </a:p>
        </p:txBody>
      </p:sp>
      <p:sp>
        <p:nvSpPr>
          <p:cNvPr id="20487" name="Line 4"/>
          <p:cNvSpPr>
            <a:spLocks noChangeShapeType="1"/>
          </p:cNvSpPr>
          <p:nvPr/>
        </p:nvSpPr>
        <p:spPr bwMode="auto">
          <a:xfrm>
            <a:off x="4400550" y="4232275"/>
            <a:ext cx="1588"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20519" name="Text Box 42"/>
          <p:cNvSpPr txBox="1">
            <a:spLocks noChangeArrowheads="1"/>
          </p:cNvSpPr>
          <p:nvPr/>
        </p:nvSpPr>
        <p:spPr bwMode="auto">
          <a:xfrm>
            <a:off x="6318448" y="4005065"/>
            <a:ext cx="1145705"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latin typeface="+mj-lt"/>
              </a:rPr>
              <a:t>0  X  </a:t>
            </a:r>
            <a:r>
              <a:rPr lang="en-US" altLang="zh-CN" sz="2800" dirty="0" err="1">
                <a:latin typeface="+mj-lt"/>
              </a:rPr>
              <a:t>X</a:t>
            </a:r>
            <a:endParaRPr lang="en-US" altLang="zh-CN" sz="2800" dirty="0">
              <a:latin typeface="+mj-lt"/>
            </a:endParaRPr>
          </a:p>
          <a:p>
            <a:r>
              <a:rPr lang="en-US" altLang="zh-CN" sz="2800" dirty="0">
                <a:latin typeface="+mj-lt"/>
              </a:rPr>
              <a:t>1  0  0</a:t>
            </a:r>
          </a:p>
          <a:p>
            <a:r>
              <a:rPr lang="en-US" altLang="zh-CN" sz="2800" dirty="0">
                <a:latin typeface="+mj-lt"/>
              </a:rPr>
              <a:t>1  </a:t>
            </a:r>
            <a:r>
              <a:rPr lang="zh-CN" altLang="en-US" sz="2800" dirty="0">
                <a:latin typeface="+mj-lt"/>
              </a:rPr>
              <a:t>0  1</a:t>
            </a:r>
          </a:p>
          <a:p>
            <a:r>
              <a:rPr lang="en-US" altLang="zh-CN" sz="2800" dirty="0">
                <a:latin typeface="+mj-lt"/>
              </a:rPr>
              <a:t>1  </a:t>
            </a:r>
            <a:r>
              <a:rPr lang="zh-CN" altLang="en-US" sz="2800" dirty="0">
                <a:latin typeface="+mj-lt"/>
              </a:rPr>
              <a:t>1  0</a:t>
            </a:r>
          </a:p>
          <a:p>
            <a:r>
              <a:rPr lang="en-US" altLang="zh-CN" sz="2800" dirty="0">
                <a:latin typeface="+mj-lt"/>
              </a:rPr>
              <a:t>1  </a:t>
            </a:r>
            <a:r>
              <a:rPr lang="zh-CN" altLang="en-US" sz="2800" dirty="0">
                <a:latin typeface="+mj-lt"/>
              </a:rPr>
              <a:t>1  1</a:t>
            </a:r>
          </a:p>
        </p:txBody>
      </p:sp>
      <mc:AlternateContent xmlns:mc="http://schemas.openxmlformats.org/markup-compatibility/2006" xmlns:a14="http://schemas.microsoft.com/office/drawing/2010/main">
        <mc:Choice Requires="a14">
          <p:sp>
            <p:nvSpPr>
              <p:cNvPr id="20520" name="Text Box 43"/>
              <p:cNvSpPr txBox="1">
                <a:spLocks noChangeArrowheads="1"/>
              </p:cNvSpPr>
              <p:nvPr/>
            </p:nvSpPr>
            <p:spPr bwMode="auto">
              <a:xfrm>
                <a:off x="6223122" y="3499862"/>
                <a:ext cx="2177134" cy="50520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pPr/>
                <a14:m>
                  <m:oMathPara xmlns:m="http://schemas.openxmlformats.org/officeDocument/2006/math">
                    <m:oMathParaPr>
                      <m:jc m:val="centerGroup"/>
                    </m:oMathParaPr>
                    <m:oMath xmlns:m="http://schemas.openxmlformats.org/officeDocument/2006/math">
                      <m:r>
                        <a:rPr lang="en-US" altLang="zh-CN" sz="2400" i="1" dirty="0">
                          <a:latin typeface="Cambria Math"/>
                        </a:rPr>
                        <m:t>𝐸𝑛</m:t>
                      </m:r>
                      <m:r>
                        <a:rPr lang="en-US" altLang="zh-CN" sz="2400" i="1" dirty="0">
                          <a:latin typeface="Cambria Math"/>
                        </a:rPr>
                        <m:t>  </m:t>
                      </m:r>
                      <m:r>
                        <a:rPr lang="en-US" altLang="zh-CN" sz="2400" i="1" dirty="0">
                          <a:latin typeface="Cambria Math"/>
                        </a:rPr>
                        <m:t>𝑆</m:t>
                      </m:r>
                      <m:r>
                        <a:rPr lang="en-US" altLang="zh-CN" sz="2400" i="1" dirty="0">
                          <a:latin typeface="Cambria Math"/>
                        </a:rPr>
                        <m:t>  </m:t>
                      </m:r>
                      <m:r>
                        <a:rPr lang="en-US" altLang="zh-CN" sz="2400" i="1" dirty="0">
                          <a:latin typeface="Cambria Math"/>
                        </a:rPr>
                        <m:t>𝑅</m:t>
                      </m:r>
                      <m:r>
                        <a:rPr lang="en-US" altLang="zh-CN" sz="2400" i="1" dirty="0">
                          <a:latin typeface="Cambria Math"/>
                        </a:rPr>
                        <m:t>    </m:t>
                      </m:r>
                      <m:r>
                        <a:rPr lang="en-US" altLang="zh-CN" sz="2400" i="1" dirty="0">
                          <a:latin typeface="Cambria Math"/>
                        </a:rPr>
                        <m:t>𝑄</m:t>
                      </m:r>
                      <m:r>
                        <a:rPr lang="en-US" altLang="zh-CN" sz="2400" i="1" dirty="0">
                          <a:latin typeface="Cambria Math"/>
                        </a:rPr>
                        <m:t>   </m:t>
                      </m:r>
                      <m:bar>
                        <m:barPr>
                          <m:pos m:val="top"/>
                          <m:ctrlPr>
                            <a:rPr lang="en-US" altLang="zh-CN" sz="2400" i="1">
                              <a:latin typeface="Cambria Math" panose="02040503050406030204" pitchFamily="18" charset="0"/>
                            </a:rPr>
                          </m:ctrlPr>
                        </m:barPr>
                        <m:e>
                          <m:r>
                            <a:rPr lang="en-US" altLang="zh-CN" sz="2400" i="1">
                              <a:latin typeface="Cambria Math"/>
                            </a:rPr>
                            <m:t>𝑄</m:t>
                          </m:r>
                        </m:e>
                      </m:bar>
                    </m:oMath>
                  </m:oMathPara>
                </a14:m>
                <a:endParaRPr lang="en-US" altLang="zh-CN" sz="2400" i="1" dirty="0">
                  <a:latin typeface="+mj-lt"/>
                </a:endParaRPr>
              </a:p>
            </p:txBody>
          </p:sp>
        </mc:Choice>
        <mc:Fallback xmlns="">
          <p:sp>
            <p:nvSpPr>
              <p:cNvPr id="20520" name="Text Box 43"/>
              <p:cNvSpPr txBox="1">
                <a:spLocks noRot="1" noChangeAspect="1" noMove="1" noResize="1" noEditPoints="1" noAdjustHandles="1" noChangeArrowheads="1" noChangeShapeType="1" noTextEdit="1"/>
              </p:cNvSpPr>
              <p:nvPr/>
            </p:nvSpPr>
            <p:spPr bwMode="auto">
              <a:xfrm>
                <a:off x="6223122" y="3499862"/>
                <a:ext cx="2177134" cy="505203"/>
              </a:xfrm>
              <a:prstGeom prst="rect">
                <a:avLst/>
              </a:prstGeom>
              <a:blipFill>
                <a:blip r:embed="rId3"/>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N">
                    <a:noFill/>
                  </a:rPr>
                  <a:t> </a:t>
                </a:r>
              </a:p>
            </p:txBody>
          </p:sp>
        </mc:Fallback>
      </mc:AlternateContent>
      <p:sp>
        <p:nvSpPr>
          <p:cNvPr id="20521" name="Line 44"/>
          <p:cNvSpPr>
            <a:spLocks noChangeShapeType="1"/>
          </p:cNvSpPr>
          <p:nvPr/>
        </p:nvSpPr>
        <p:spPr bwMode="auto">
          <a:xfrm>
            <a:off x="6186264" y="4005064"/>
            <a:ext cx="2286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0522" name="Line 45"/>
          <p:cNvSpPr>
            <a:spLocks noChangeShapeType="1"/>
          </p:cNvSpPr>
          <p:nvPr/>
        </p:nvSpPr>
        <p:spPr bwMode="auto">
          <a:xfrm>
            <a:off x="7514278" y="3632250"/>
            <a:ext cx="21883" cy="253305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 name="Rectangle 1"/>
          <p:cNvSpPr/>
          <p:nvPr/>
        </p:nvSpPr>
        <p:spPr>
          <a:xfrm>
            <a:off x="6795072" y="6300028"/>
            <a:ext cx="1533177" cy="369332"/>
          </a:xfrm>
          <a:prstGeom prst="rect">
            <a:avLst/>
          </a:prstGeom>
        </p:spPr>
        <p:txBody>
          <a:bodyPr wrap="none">
            <a:spAutoFit/>
          </a:bodyPr>
          <a:lstStyle/>
          <a:p>
            <a:r>
              <a:rPr lang="en-IN" dirty="0"/>
              <a:t>Function table</a:t>
            </a:r>
          </a:p>
        </p:txBody>
      </p:sp>
      <p:sp>
        <p:nvSpPr>
          <p:cNvPr id="17" name="Rectangle 16"/>
          <p:cNvSpPr/>
          <p:nvPr/>
        </p:nvSpPr>
        <p:spPr>
          <a:xfrm>
            <a:off x="3894362" y="3789040"/>
            <a:ext cx="1481559" cy="369332"/>
          </a:xfrm>
          <a:prstGeom prst="rect">
            <a:avLst/>
          </a:prstGeom>
        </p:spPr>
        <p:txBody>
          <a:bodyPr wrap="none">
            <a:spAutoFit/>
          </a:bodyPr>
          <a:lstStyle/>
          <a:p>
            <a:r>
              <a:rPr lang="en-IN" dirty="0"/>
              <a:t>Logic diagram</a:t>
            </a:r>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4012" y="1556793"/>
            <a:ext cx="4610100" cy="2009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464153" y="3212976"/>
            <a:ext cx="1548373" cy="400110"/>
          </a:xfrm>
          <a:prstGeom prst="rect">
            <a:avLst/>
          </a:prstGeom>
        </p:spPr>
        <p:txBody>
          <a:bodyPr wrap="none">
            <a:spAutoFit/>
          </a:bodyPr>
          <a:lstStyle/>
          <a:p>
            <a:r>
              <a:rPr lang="en-IN" sz="2000" dirty="0">
                <a:latin typeface="Cambria Math" pitchFamily="18" charset="0"/>
                <a:ea typeface="Cambria Math" pitchFamily="18" charset="0"/>
              </a:rPr>
              <a:t>Next state of</a:t>
            </a:r>
          </a:p>
        </p:txBody>
      </p:sp>
      <p:sp>
        <p:nvSpPr>
          <p:cNvPr id="19" name="Text Box 47"/>
          <p:cNvSpPr txBox="1">
            <a:spLocks noChangeArrowheads="1"/>
          </p:cNvSpPr>
          <p:nvPr/>
        </p:nvSpPr>
        <p:spPr bwMode="auto">
          <a:xfrm>
            <a:off x="2128192" y="2257708"/>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rgbClr val="C00000"/>
                </a:solidFill>
                <a:latin typeface="+mj-lt"/>
              </a:rPr>
              <a:t>0</a:t>
            </a:r>
            <a:endParaRPr lang="zh-CN" altLang="en-US" sz="2800" dirty="0">
              <a:solidFill>
                <a:srgbClr val="C00000"/>
              </a:solidFill>
              <a:latin typeface="+mj-lt"/>
            </a:endParaRPr>
          </a:p>
        </p:txBody>
      </p:sp>
      <p:sp>
        <p:nvSpPr>
          <p:cNvPr id="20" name="Text Box 48"/>
          <p:cNvSpPr txBox="1">
            <a:spLocks noChangeArrowheads="1"/>
          </p:cNvSpPr>
          <p:nvPr/>
        </p:nvSpPr>
        <p:spPr bwMode="auto">
          <a:xfrm>
            <a:off x="4439816" y="1340768"/>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accent3">
                    <a:lumMod val="60000"/>
                    <a:lumOff val="40000"/>
                  </a:schemeClr>
                </a:solidFill>
                <a:latin typeface="+mj-lt"/>
              </a:rPr>
              <a:t>1</a:t>
            </a:r>
            <a:endParaRPr lang="zh-CN" altLang="en-US" sz="2800" dirty="0">
              <a:solidFill>
                <a:schemeClr val="accent3">
                  <a:lumMod val="60000"/>
                  <a:lumOff val="40000"/>
                </a:schemeClr>
              </a:solidFill>
              <a:latin typeface="+mj-lt"/>
            </a:endParaRPr>
          </a:p>
        </p:txBody>
      </p:sp>
      <p:sp>
        <p:nvSpPr>
          <p:cNvPr id="21" name="Text Box 48"/>
          <p:cNvSpPr txBox="1">
            <a:spLocks noChangeArrowheads="1"/>
          </p:cNvSpPr>
          <p:nvPr/>
        </p:nvSpPr>
        <p:spPr bwMode="auto">
          <a:xfrm>
            <a:off x="4439816" y="3193812"/>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accent3">
                    <a:lumMod val="60000"/>
                    <a:lumOff val="40000"/>
                  </a:schemeClr>
                </a:solidFill>
                <a:latin typeface="+mj-lt"/>
              </a:rPr>
              <a:t>1</a:t>
            </a:r>
            <a:endParaRPr lang="zh-CN" altLang="en-US" sz="2800" dirty="0">
              <a:solidFill>
                <a:schemeClr val="accent3">
                  <a:lumMod val="60000"/>
                  <a:lumOff val="40000"/>
                </a:schemeClr>
              </a:solidFill>
              <a:latin typeface="+mj-lt"/>
            </a:endParaRPr>
          </a:p>
        </p:txBody>
      </p:sp>
      <p:pic>
        <p:nvPicPr>
          <p:cNvPr id="205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7430" y="4581129"/>
            <a:ext cx="2838450" cy="164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Text Box 50"/>
          <p:cNvSpPr txBox="1">
            <a:spLocks noChangeArrowheads="1"/>
          </p:cNvSpPr>
          <p:nvPr/>
        </p:nvSpPr>
        <p:spPr bwMode="auto">
          <a:xfrm>
            <a:off x="7536160" y="4005064"/>
            <a:ext cx="28803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i="1" dirty="0">
                <a:solidFill>
                  <a:schemeClr val="hlink"/>
                </a:solidFill>
                <a:latin typeface="+mj-lt"/>
              </a:rPr>
              <a:t>Q</a:t>
            </a:r>
            <a:r>
              <a:rPr lang="zh-CN" altLang="en-US" sz="2800" i="1" dirty="0">
                <a:solidFill>
                  <a:schemeClr val="hlink"/>
                </a:solidFill>
                <a:latin typeface="+mj-lt"/>
              </a:rPr>
              <a:t>   </a:t>
            </a:r>
            <a:r>
              <a:rPr lang="en-US" altLang="zh-CN" sz="2800" i="1" dirty="0">
                <a:solidFill>
                  <a:schemeClr val="hlink"/>
                </a:solidFill>
                <a:latin typeface="+mj-lt"/>
              </a:rPr>
              <a:t>Q’</a:t>
            </a:r>
            <a:r>
              <a:rPr lang="zh-CN" altLang="en-US" sz="2800" i="1" dirty="0">
                <a:solidFill>
                  <a:schemeClr val="hlink"/>
                </a:solidFill>
                <a:latin typeface="+mj-lt"/>
              </a:rPr>
              <a:t>  </a:t>
            </a:r>
            <a:r>
              <a:rPr lang="en-US" altLang="zh-CN" sz="2800" i="1" dirty="0">
                <a:solidFill>
                  <a:srgbClr val="C00000"/>
                </a:solidFill>
                <a:latin typeface="+mj-lt"/>
              </a:rPr>
              <a:t>No change</a:t>
            </a:r>
          </a:p>
        </p:txBody>
      </p:sp>
    </p:spTree>
    <p:extLst>
      <p:ext uri="{BB962C8B-B14F-4D97-AF65-F5344CB8AC3E}">
        <p14:creationId xmlns:p14="http://schemas.microsoft.com/office/powerpoint/2010/main" val="148391117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P spid="2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rrowheads="1"/>
          </p:cNvSpPr>
          <p:nvPr>
            <p:ph type="title"/>
          </p:nvPr>
        </p:nvSpPr>
        <p:spPr/>
        <p:txBody>
          <a:bodyPr/>
          <a:lstStyle/>
          <a:p>
            <a:r>
              <a:rPr lang="en-US" i="1" dirty="0">
                <a:solidFill>
                  <a:srgbClr val="002060"/>
                </a:solidFill>
              </a:rPr>
              <a:t>SR </a:t>
            </a:r>
            <a:r>
              <a:rPr lang="en-US" dirty="0">
                <a:solidFill>
                  <a:srgbClr val="002060"/>
                </a:solidFill>
              </a:rPr>
              <a:t>latch with control input</a:t>
            </a:r>
            <a:endParaRPr lang="en-US" altLang="zh-CN" dirty="0">
              <a:solidFill>
                <a:srgbClr val="002060"/>
              </a:solidFill>
            </a:endParaRPr>
          </a:p>
        </p:txBody>
      </p:sp>
      <p:sp>
        <p:nvSpPr>
          <p:cNvPr id="20487" name="Line 4"/>
          <p:cNvSpPr>
            <a:spLocks noChangeShapeType="1"/>
          </p:cNvSpPr>
          <p:nvPr/>
        </p:nvSpPr>
        <p:spPr bwMode="auto">
          <a:xfrm>
            <a:off x="4400550" y="4232275"/>
            <a:ext cx="1588"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20519" name="Text Box 42"/>
          <p:cNvSpPr txBox="1">
            <a:spLocks noChangeArrowheads="1"/>
          </p:cNvSpPr>
          <p:nvPr/>
        </p:nvSpPr>
        <p:spPr bwMode="auto">
          <a:xfrm>
            <a:off x="6318448" y="4005065"/>
            <a:ext cx="1145705"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latin typeface="+mj-lt"/>
              </a:rPr>
              <a:t>0  X  </a:t>
            </a:r>
            <a:r>
              <a:rPr lang="en-US" altLang="zh-CN" sz="2800" dirty="0" err="1">
                <a:latin typeface="+mj-lt"/>
              </a:rPr>
              <a:t>X</a:t>
            </a:r>
            <a:endParaRPr lang="en-US" altLang="zh-CN" sz="2800" dirty="0">
              <a:latin typeface="+mj-lt"/>
            </a:endParaRPr>
          </a:p>
          <a:p>
            <a:r>
              <a:rPr lang="en-US" altLang="zh-CN" sz="2800" dirty="0">
                <a:latin typeface="+mj-lt"/>
              </a:rPr>
              <a:t>1  0  0</a:t>
            </a:r>
          </a:p>
          <a:p>
            <a:r>
              <a:rPr lang="en-US" altLang="zh-CN" sz="2800" dirty="0">
                <a:latin typeface="+mj-lt"/>
              </a:rPr>
              <a:t>1  </a:t>
            </a:r>
            <a:r>
              <a:rPr lang="zh-CN" altLang="en-US" sz="2800" dirty="0">
                <a:latin typeface="+mj-lt"/>
              </a:rPr>
              <a:t>0  1</a:t>
            </a:r>
          </a:p>
          <a:p>
            <a:r>
              <a:rPr lang="en-US" altLang="zh-CN" sz="2800" dirty="0">
                <a:latin typeface="+mj-lt"/>
              </a:rPr>
              <a:t>1  </a:t>
            </a:r>
            <a:r>
              <a:rPr lang="zh-CN" altLang="en-US" sz="2800" dirty="0">
                <a:latin typeface="+mj-lt"/>
              </a:rPr>
              <a:t>1  0</a:t>
            </a:r>
          </a:p>
          <a:p>
            <a:r>
              <a:rPr lang="en-US" altLang="zh-CN" sz="2800" dirty="0">
                <a:latin typeface="+mj-lt"/>
              </a:rPr>
              <a:t>1  </a:t>
            </a:r>
            <a:r>
              <a:rPr lang="zh-CN" altLang="en-US" sz="2800" dirty="0">
                <a:latin typeface="+mj-lt"/>
              </a:rPr>
              <a:t>1  1</a:t>
            </a:r>
          </a:p>
        </p:txBody>
      </p:sp>
      <mc:AlternateContent xmlns:mc="http://schemas.openxmlformats.org/markup-compatibility/2006" xmlns:a14="http://schemas.microsoft.com/office/drawing/2010/main">
        <mc:Choice Requires="a14">
          <p:sp>
            <p:nvSpPr>
              <p:cNvPr id="20520" name="Text Box 43"/>
              <p:cNvSpPr txBox="1">
                <a:spLocks noChangeArrowheads="1"/>
              </p:cNvSpPr>
              <p:nvPr/>
            </p:nvSpPr>
            <p:spPr bwMode="auto">
              <a:xfrm>
                <a:off x="6223122" y="3499862"/>
                <a:ext cx="2177134" cy="50520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pPr/>
                <a14:m>
                  <m:oMathPara xmlns:m="http://schemas.openxmlformats.org/officeDocument/2006/math">
                    <m:oMathParaPr>
                      <m:jc m:val="centerGroup"/>
                    </m:oMathParaPr>
                    <m:oMath xmlns:m="http://schemas.openxmlformats.org/officeDocument/2006/math">
                      <m:r>
                        <a:rPr lang="en-US" altLang="zh-CN" sz="2400" i="1" dirty="0">
                          <a:latin typeface="Cambria Math"/>
                        </a:rPr>
                        <m:t>𝐸𝑛</m:t>
                      </m:r>
                      <m:r>
                        <a:rPr lang="en-US" altLang="zh-CN" sz="2400" i="1" dirty="0">
                          <a:latin typeface="Cambria Math"/>
                        </a:rPr>
                        <m:t>  </m:t>
                      </m:r>
                      <m:r>
                        <a:rPr lang="en-US" altLang="zh-CN" sz="2400" i="1" dirty="0">
                          <a:latin typeface="Cambria Math"/>
                        </a:rPr>
                        <m:t>𝑆</m:t>
                      </m:r>
                      <m:r>
                        <a:rPr lang="en-US" altLang="zh-CN" sz="2400" i="1" dirty="0">
                          <a:latin typeface="Cambria Math"/>
                        </a:rPr>
                        <m:t>  </m:t>
                      </m:r>
                      <m:r>
                        <a:rPr lang="en-US" altLang="zh-CN" sz="2400" i="1" dirty="0">
                          <a:latin typeface="Cambria Math"/>
                        </a:rPr>
                        <m:t>𝑅</m:t>
                      </m:r>
                      <m:r>
                        <a:rPr lang="en-US" altLang="zh-CN" sz="2400" i="1" dirty="0">
                          <a:latin typeface="Cambria Math"/>
                        </a:rPr>
                        <m:t>    </m:t>
                      </m:r>
                      <m:r>
                        <a:rPr lang="en-US" altLang="zh-CN" sz="2400" i="1" dirty="0">
                          <a:latin typeface="Cambria Math"/>
                        </a:rPr>
                        <m:t>𝑄</m:t>
                      </m:r>
                      <m:r>
                        <a:rPr lang="en-US" altLang="zh-CN" sz="2400" i="1" dirty="0">
                          <a:latin typeface="Cambria Math"/>
                        </a:rPr>
                        <m:t>   </m:t>
                      </m:r>
                      <m:bar>
                        <m:barPr>
                          <m:pos m:val="top"/>
                          <m:ctrlPr>
                            <a:rPr lang="en-US" altLang="zh-CN" sz="2400" i="1">
                              <a:latin typeface="Cambria Math" panose="02040503050406030204" pitchFamily="18" charset="0"/>
                            </a:rPr>
                          </m:ctrlPr>
                        </m:barPr>
                        <m:e>
                          <m:r>
                            <a:rPr lang="en-US" altLang="zh-CN" sz="2400" i="1">
                              <a:latin typeface="Cambria Math"/>
                            </a:rPr>
                            <m:t>𝑄</m:t>
                          </m:r>
                        </m:e>
                      </m:bar>
                    </m:oMath>
                  </m:oMathPara>
                </a14:m>
                <a:endParaRPr lang="en-US" altLang="zh-CN" sz="2400" i="1" dirty="0">
                  <a:latin typeface="+mj-lt"/>
                </a:endParaRPr>
              </a:p>
            </p:txBody>
          </p:sp>
        </mc:Choice>
        <mc:Fallback xmlns="">
          <p:sp>
            <p:nvSpPr>
              <p:cNvPr id="20520" name="Text Box 43"/>
              <p:cNvSpPr txBox="1">
                <a:spLocks noRot="1" noChangeAspect="1" noMove="1" noResize="1" noEditPoints="1" noAdjustHandles="1" noChangeArrowheads="1" noChangeShapeType="1" noTextEdit="1"/>
              </p:cNvSpPr>
              <p:nvPr/>
            </p:nvSpPr>
            <p:spPr bwMode="auto">
              <a:xfrm>
                <a:off x="6223122" y="3499862"/>
                <a:ext cx="2177134" cy="505203"/>
              </a:xfrm>
              <a:prstGeom prst="rect">
                <a:avLst/>
              </a:prstGeom>
              <a:blipFill>
                <a:blip r:embed="rId3"/>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N">
                    <a:noFill/>
                  </a:rPr>
                  <a:t> </a:t>
                </a:r>
              </a:p>
            </p:txBody>
          </p:sp>
        </mc:Fallback>
      </mc:AlternateContent>
      <p:sp>
        <p:nvSpPr>
          <p:cNvPr id="20521" name="Line 44"/>
          <p:cNvSpPr>
            <a:spLocks noChangeShapeType="1"/>
          </p:cNvSpPr>
          <p:nvPr/>
        </p:nvSpPr>
        <p:spPr bwMode="auto">
          <a:xfrm>
            <a:off x="6186264" y="4005064"/>
            <a:ext cx="2286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0522" name="Line 45"/>
          <p:cNvSpPr>
            <a:spLocks noChangeShapeType="1"/>
          </p:cNvSpPr>
          <p:nvPr/>
        </p:nvSpPr>
        <p:spPr bwMode="auto">
          <a:xfrm>
            <a:off x="7514278" y="3632250"/>
            <a:ext cx="21883" cy="253305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96654" name="Text Box 46"/>
          <p:cNvSpPr txBox="1">
            <a:spLocks noChangeArrowheads="1"/>
          </p:cNvSpPr>
          <p:nvPr/>
        </p:nvSpPr>
        <p:spPr bwMode="auto">
          <a:xfrm>
            <a:off x="2135560" y="3140968"/>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endParaRPr lang="zh-CN" altLang="en-US" sz="2800" dirty="0">
              <a:solidFill>
                <a:schemeClr val="hlink"/>
              </a:solidFill>
              <a:latin typeface="+mj-lt"/>
            </a:endParaRPr>
          </a:p>
        </p:txBody>
      </p:sp>
      <p:sp>
        <p:nvSpPr>
          <p:cNvPr id="196655" name="Text Box 47"/>
          <p:cNvSpPr txBox="1">
            <a:spLocks noChangeArrowheads="1"/>
          </p:cNvSpPr>
          <p:nvPr/>
        </p:nvSpPr>
        <p:spPr bwMode="auto">
          <a:xfrm>
            <a:off x="2128192" y="1412776"/>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endParaRPr lang="zh-CN" altLang="en-US" sz="2800" dirty="0">
              <a:solidFill>
                <a:schemeClr val="hlink"/>
              </a:solidFill>
              <a:latin typeface="+mj-lt"/>
            </a:endParaRPr>
          </a:p>
        </p:txBody>
      </p:sp>
      <p:sp>
        <p:nvSpPr>
          <p:cNvPr id="2" name="Rectangle 1"/>
          <p:cNvSpPr/>
          <p:nvPr/>
        </p:nvSpPr>
        <p:spPr>
          <a:xfrm>
            <a:off x="6795072" y="6300028"/>
            <a:ext cx="1533177" cy="369332"/>
          </a:xfrm>
          <a:prstGeom prst="rect">
            <a:avLst/>
          </a:prstGeom>
        </p:spPr>
        <p:txBody>
          <a:bodyPr wrap="none">
            <a:spAutoFit/>
          </a:bodyPr>
          <a:lstStyle/>
          <a:p>
            <a:r>
              <a:rPr lang="en-IN" dirty="0"/>
              <a:t>Function table</a:t>
            </a:r>
          </a:p>
        </p:txBody>
      </p:sp>
      <p:sp>
        <p:nvSpPr>
          <p:cNvPr id="17" name="Rectangle 16"/>
          <p:cNvSpPr/>
          <p:nvPr/>
        </p:nvSpPr>
        <p:spPr>
          <a:xfrm>
            <a:off x="3894362" y="3789040"/>
            <a:ext cx="1481559" cy="369332"/>
          </a:xfrm>
          <a:prstGeom prst="rect">
            <a:avLst/>
          </a:prstGeom>
        </p:spPr>
        <p:txBody>
          <a:bodyPr wrap="none">
            <a:spAutoFit/>
          </a:bodyPr>
          <a:lstStyle/>
          <a:p>
            <a:r>
              <a:rPr lang="en-IN" dirty="0"/>
              <a:t>Logic diagram</a:t>
            </a:r>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4012" y="1556793"/>
            <a:ext cx="4610100" cy="2009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464153" y="3212976"/>
            <a:ext cx="1548373" cy="400110"/>
          </a:xfrm>
          <a:prstGeom prst="rect">
            <a:avLst/>
          </a:prstGeom>
        </p:spPr>
        <p:txBody>
          <a:bodyPr wrap="none">
            <a:spAutoFit/>
          </a:bodyPr>
          <a:lstStyle/>
          <a:p>
            <a:r>
              <a:rPr lang="en-IN" sz="2000" dirty="0">
                <a:latin typeface="Cambria Math" pitchFamily="18" charset="0"/>
                <a:ea typeface="Cambria Math" pitchFamily="18" charset="0"/>
              </a:rPr>
              <a:t>Next state of</a:t>
            </a:r>
          </a:p>
        </p:txBody>
      </p:sp>
      <p:sp>
        <p:nvSpPr>
          <p:cNvPr id="19" name="Text Box 47"/>
          <p:cNvSpPr txBox="1">
            <a:spLocks noChangeArrowheads="1"/>
          </p:cNvSpPr>
          <p:nvPr/>
        </p:nvSpPr>
        <p:spPr bwMode="auto">
          <a:xfrm>
            <a:off x="2128192" y="2257708"/>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rgbClr val="C00000"/>
                </a:solidFill>
                <a:latin typeface="+mj-lt"/>
              </a:rPr>
              <a:t>1</a:t>
            </a:r>
            <a:endParaRPr lang="zh-CN" altLang="en-US" sz="2800" dirty="0">
              <a:solidFill>
                <a:srgbClr val="C00000"/>
              </a:solidFill>
              <a:latin typeface="+mj-lt"/>
            </a:endParaRPr>
          </a:p>
        </p:txBody>
      </p:sp>
      <p:sp>
        <p:nvSpPr>
          <p:cNvPr id="20" name="Text Box 48"/>
          <p:cNvSpPr txBox="1">
            <a:spLocks noChangeArrowheads="1"/>
          </p:cNvSpPr>
          <p:nvPr/>
        </p:nvSpPr>
        <p:spPr bwMode="auto">
          <a:xfrm>
            <a:off x="4439816" y="1340768"/>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accent3">
                    <a:lumMod val="60000"/>
                    <a:lumOff val="40000"/>
                  </a:schemeClr>
                </a:solidFill>
                <a:latin typeface="+mj-lt"/>
              </a:rPr>
              <a:t>1</a:t>
            </a:r>
            <a:endParaRPr lang="zh-CN" altLang="en-US" sz="2800" dirty="0">
              <a:solidFill>
                <a:schemeClr val="accent3">
                  <a:lumMod val="60000"/>
                  <a:lumOff val="40000"/>
                </a:schemeClr>
              </a:solidFill>
              <a:latin typeface="+mj-lt"/>
            </a:endParaRPr>
          </a:p>
        </p:txBody>
      </p:sp>
      <p:sp>
        <p:nvSpPr>
          <p:cNvPr id="21" name="Text Box 48"/>
          <p:cNvSpPr txBox="1">
            <a:spLocks noChangeArrowheads="1"/>
          </p:cNvSpPr>
          <p:nvPr/>
        </p:nvSpPr>
        <p:spPr bwMode="auto">
          <a:xfrm>
            <a:off x="4439816" y="3193812"/>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accent3">
                    <a:lumMod val="60000"/>
                    <a:lumOff val="40000"/>
                  </a:schemeClr>
                </a:solidFill>
                <a:latin typeface="+mj-lt"/>
              </a:rPr>
              <a:t>1</a:t>
            </a:r>
            <a:endParaRPr lang="zh-CN" altLang="en-US" sz="2800" dirty="0">
              <a:solidFill>
                <a:schemeClr val="accent3">
                  <a:lumMod val="60000"/>
                  <a:lumOff val="40000"/>
                </a:schemeClr>
              </a:solidFill>
              <a:latin typeface="+mj-lt"/>
            </a:endParaRPr>
          </a:p>
        </p:txBody>
      </p:sp>
      <p:pic>
        <p:nvPicPr>
          <p:cNvPr id="205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7430" y="4581129"/>
            <a:ext cx="2838450" cy="164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Text Box 50"/>
          <p:cNvSpPr txBox="1">
            <a:spLocks noChangeArrowheads="1"/>
          </p:cNvSpPr>
          <p:nvPr/>
        </p:nvSpPr>
        <p:spPr bwMode="auto">
          <a:xfrm>
            <a:off x="7536160" y="4005064"/>
            <a:ext cx="28803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i="1" dirty="0">
                <a:solidFill>
                  <a:schemeClr val="hlink"/>
                </a:solidFill>
                <a:latin typeface="+mj-lt"/>
              </a:rPr>
              <a:t>Q</a:t>
            </a:r>
            <a:r>
              <a:rPr lang="zh-CN" altLang="en-US" sz="2800" i="1" dirty="0">
                <a:solidFill>
                  <a:schemeClr val="hlink"/>
                </a:solidFill>
                <a:latin typeface="+mj-lt"/>
              </a:rPr>
              <a:t>   </a:t>
            </a:r>
            <a:r>
              <a:rPr lang="en-US" altLang="zh-CN" sz="2800" i="1" dirty="0">
                <a:solidFill>
                  <a:schemeClr val="hlink"/>
                </a:solidFill>
                <a:latin typeface="+mj-lt"/>
              </a:rPr>
              <a:t>Q’</a:t>
            </a:r>
            <a:r>
              <a:rPr lang="zh-CN" altLang="en-US" sz="2800" i="1" dirty="0">
                <a:solidFill>
                  <a:schemeClr val="hlink"/>
                </a:solidFill>
                <a:latin typeface="+mj-lt"/>
              </a:rPr>
              <a:t>  </a:t>
            </a:r>
            <a:r>
              <a:rPr lang="en-US" altLang="zh-CN" sz="2800" i="1" dirty="0">
                <a:solidFill>
                  <a:srgbClr val="C00000"/>
                </a:solidFill>
                <a:latin typeface="+mj-lt"/>
              </a:rPr>
              <a:t>No change</a:t>
            </a:r>
          </a:p>
        </p:txBody>
      </p:sp>
      <p:sp>
        <p:nvSpPr>
          <p:cNvPr id="23" name="Text Box 50"/>
          <p:cNvSpPr txBox="1">
            <a:spLocks noChangeArrowheads="1"/>
          </p:cNvSpPr>
          <p:nvPr/>
        </p:nvSpPr>
        <p:spPr bwMode="auto">
          <a:xfrm>
            <a:off x="7536160" y="4437112"/>
            <a:ext cx="28803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i="1" dirty="0">
                <a:solidFill>
                  <a:schemeClr val="hlink"/>
                </a:solidFill>
                <a:latin typeface="+mj-lt"/>
              </a:rPr>
              <a:t>Q</a:t>
            </a:r>
            <a:r>
              <a:rPr lang="zh-CN" altLang="en-US" sz="2800" i="1" dirty="0">
                <a:solidFill>
                  <a:schemeClr val="hlink"/>
                </a:solidFill>
                <a:latin typeface="+mj-lt"/>
              </a:rPr>
              <a:t>   </a:t>
            </a:r>
            <a:r>
              <a:rPr lang="en-US" altLang="zh-CN" sz="2800" i="1" dirty="0">
                <a:solidFill>
                  <a:schemeClr val="hlink"/>
                </a:solidFill>
                <a:latin typeface="+mj-lt"/>
              </a:rPr>
              <a:t>Q’</a:t>
            </a:r>
            <a:r>
              <a:rPr lang="zh-CN" altLang="en-US" sz="2800" i="1" dirty="0">
                <a:solidFill>
                  <a:schemeClr val="hlink"/>
                </a:solidFill>
                <a:latin typeface="+mj-lt"/>
              </a:rPr>
              <a:t>  </a:t>
            </a:r>
            <a:r>
              <a:rPr lang="en-US" altLang="zh-CN" sz="2800" i="1" dirty="0">
                <a:solidFill>
                  <a:srgbClr val="C00000"/>
                </a:solidFill>
                <a:latin typeface="+mj-lt"/>
              </a:rPr>
              <a:t>No change</a:t>
            </a:r>
          </a:p>
        </p:txBody>
      </p:sp>
    </p:spTree>
    <p:extLst>
      <p:ext uri="{BB962C8B-B14F-4D97-AF65-F5344CB8AC3E}">
        <p14:creationId xmlns:p14="http://schemas.microsoft.com/office/powerpoint/2010/main" val="400336522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665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665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54" grpId="0"/>
      <p:bldP spid="196655" grpId="0"/>
      <p:bldP spid="19" grpId="0"/>
      <p:bldP spid="20" grpId="0"/>
      <p:bldP spid="21" grpId="0"/>
      <p:bldP spid="2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rrowheads="1"/>
          </p:cNvSpPr>
          <p:nvPr>
            <p:ph type="title"/>
          </p:nvPr>
        </p:nvSpPr>
        <p:spPr/>
        <p:txBody>
          <a:bodyPr/>
          <a:lstStyle/>
          <a:p>
            <a:r>
              <a:rPr lang="en-US" i="1" dirty="0">
                <a:solidFill>
                  <a:srgbClr val="002060"/>
                </a:solidFill>
              </a:rPr>
              <a:t>SR </a:t>
            </a:r>
            <a:r>
              <a:rPr lang="en-US" dirty="0">
                <a:solidFill>
                  <a:srgbClr val="002060"/>
                </a:solidFill>
              </a:rPr>
              <a:t>latch with control input</a:t>
            </a:r>
            <a:endParaRPr lang="en-US" altLang="zh-CN" dirty="0">
              <a:solidFill>
                <a:srgbClr val="002060"/>
              </a:solidFill>
            </a:endParaRPr>
          </a:p>
        </p:txBody>
      </p:sp>
      <p:sp>
        <p:nvSpPr>
          <p:cNvPr id="20487" name="Line 4"/>
          <p:cNvSpPr>
            <a:spLocks noChangeShapeType="1"/>
          </p:cNvSpPr>
          <p:nvPr/>
        </p:nvSpPr>
        <p:spPr bwMode="auto">
          <a:xfrm>
            <a:off x="4400550" y="4232275"/>
            <a:ext cx="1588"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20519" name="Text Box 42"/>
          <p:cNvSpPr txBox="1">
            <a:spLocks noChangeArrowheads="1"/>
          </p:cNvSpPr>
          <p:nvPr/>
        </p:nvSpPr>
        <p:spPr bwMode="auto">
          <a:xfrm>
            <a:off x="6318448" y="4005065"/>
            <a:ext cx="1145705"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latin typeface="+mj-lt"/>
              </a:rPr>
              <a:t>0  X  </a:t>
            </a:r>
            <a:r>
              <a:rPr lang="en-US" altLang="zh-CN" sz="2800" dirty="0" err="1">
                <a:latin typeface="+mj-lt"/>
              </a:rPr>
              <a:t>X</a:t>
            </a:r>
            <a:endParaRPr lang="en-US" altLang="zh-CN" sz="2800" dirty="0">
              <a:latin typeface="+mj-lt"/>
            </a:endParaRPr>
          </a:p>
          <a:p>
            <a:r>
              <a:rPr lang="en-US" altLang="zh-CN" sz="2800" dirty="0">
                <a:latin typeface="+mj-lt"/>
              </a:rPr>
              <a:t>1  0  0</a:t>
            </a:r>
          </a:p>
          <a:p>
            <a:r>
              <a:rPr lang="en-US" altLang="zh-CN" sz="2800" dirty="0">
                <a:latin typeface="+mj-lt"/>
              </a:rPr>
              <a:t>1  </a:t>
            </a:r>
            <a:r>
              <a:rPr lang="zh-CN" altLang="en-US" sz="2800" dirty="0">
                <a:latin typeface="+mj-lt"/>
              </a:rPr>
              <a:t>0  1</a:t>
            </a:r>
          </a:p>
          <a:p>
            <a:r>
              <a:rPr lang="en-US" altLang="zh-CN" sz="2800" dirty="0">
                <a:latin typeface="+mj-lt"/>
              </a:rPr>
              <a:t>1  </a:t>
            </a:r>
            <a:r>
              <a:rPr lang="zh-CN" altLang="en-US" sz="2800" dirty="0">
                <a:latin typeface="+mj-lt"/>
              </a:rPr>
              <a:t>1  0</a:t>
            </a:r>
          </a:p>
          <a:p>
            <a:r>
              <a:rPr lang="en-US" altLang="zh-CN" sz="2800" dirty="0">
                <a:latin typeface="+mj-lt"/>
              </a:rPr>
              <a:t>1  </a:t>
            </a:r>
            <a:r>
              <a:rPr lang="zh-CN" altLang="en-US" sz="2800" dirty="0">
                <a:latin typeface="+mj-lt"/>
              </a:rPr>
              <a:t>1  1</a:t>
            </a:r>
          </a:p>
        </p:txBody>
      </p:sp>
      <mc:AlternateContent xmlns:mc="http://schemas.openxmlformats.org/markup-compatibility/2006" xmlns:a14="http://schemas.microsoft.com/office/drawing/2010/main">
        <mc:Choice Requires="a14">
          <p:sp>
            <p:nvSpPr>
              <p:cNvPr id="20520" name="Text Box 43"/>
              <p:cNvSpPr txBox="1">
                <a:spLocks noChangeArrowheads="1"/>
              </p:cNvSpPr>
              <p:nvPr/>
            </p:nvSpPr>
            <p:spPr bwMode="auto">
              <a:xfrm>
                <a:off x="6223122" y="3499862"/>
                <a:ext cx="2177134" cy="50520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pPr/>
                <a14:m>
                  <m:oMathPara xmlns:m="http://schemas.openxmlformats.org/officeDocument/2006/math">
                    <m:oMathParaPr>
                      <m:jc m:val="centerGroup"/>
                    </m:oMathParaPr>
                    <m:oMath xmlns:m="http://schemas.openxmlformats.org/officeDocument/2006/math">
                      <m:r>
                        <a:rPr lang="en-US" altLang="zh-CN" sz="2400" i="1" dirty="0">
                          <a:latin typeface="Cambria Math"/>
                        </a:rPr>
                        <m:t>𝐸𝑛</m:t>
                      </m:r>
                      <m:r>
                        <a:rPr lang="en-US" altLang="zh-CN" sz="2400" i="1" dirty="0">
                          <a:latin typeface="Cambria Math"/>
                        </a:rPr>
                        <m:t>  </m:t>
                      </m:r>
                      <m:r>
                        <a:rPr lang="en-US" altLang="zh-CN" sz="2400" i="1" dirty="0">
                          <a:latin typeface="Cambria Math"/>
                        </a:rPr>
                        <m:t>𝑆</m:t>
                      </m:r>
                      <m:r>
                        <a:rPr lang="en-US" altLang="zh-CN" sz="2400" i="1" dirty="0">
                          <a:latin typeface="Cambria Math"/>
                        </a:rPr>
                        <m:t>  </m:t>
                      </m:r>
                      <m:r>
                        <a:rPr lang="en-US" altLang="zh-CN" sz="2400" i="1" dirty="0">
                          <a:latin typeface="Cambria Math"/>
                        </a:rPr>
                        <m:t>𝑅</m:t>
                      </m:r>
                      <m:r>
                        <a:rPr lang="en-US" altLang="zh-CN" sz="2400" i="1" dirty="0">
                          <a:latin typeface="Cambria Math"/>
                        </a:rPr>
                        <m:t>    </m:t>
                      </m:r>
                      <m:r>
                        <a:rPr lang="en-US" altLang="zh-CN" sz="2400" i="1" dirty="0">
                          <a:latin typeface="Cambria Math"/>
                        </a:rPr>
                        <m:t>𝑄</m:t>
                      </m:r>
                      <m:r>
                        <a:rPr lang="en-US" altLang="zh-CN" sz="2400" i="1" dirty="0">
                          <a:latin typeface="Cambria Math"/>
                        </a:rPr>
                        <m:t>   </m:t>
                      </m:r>
                      <m:bar>
                        <m:barPr>
                          <m:pos m:val="top"/>
                          <m:ctrlPr>
                            <a:rPr lang="en-US" altLang="zh-CN" sz="2400" i="1">
                              <a:latin typeface="Cambria Math" panose="02040503050406030204" pitchFamily="18" charset="0"/>
                            </a:rPr>
                          </m:ctrlPr>
                        </m:barPr>
                        <m:e>
                          <m:r>
                            <a:rPr lang="en-US" altLang="zh-CN" sz="2400" i="1">
                              <a:latin typeface="Cambria Math"/>
                            </a:rPr>
                            <m:t>𝑄</m:t>
                          </m:r>
                        </m:e>
                      </m:bar>
                    </m:oMath>
                  </m:oMathPara>
                </a14:m>
                <a:endParaRPr lang="en-US" altLang="zh-CN" sz="2400" i="1" dirty="0">
                  <a:latin typeface="+mj-lt"/>
                </a:endParaRPr>
              </a:p>
            </p:txBody>
          </p:sp>
        </mc:Choice>
        <mc:Fallback xmlns="">
          <p:sp>
            <p:nvSpPr>
              <p:cNvPr id="20520" name="Text Box 43"/>
              <p:cNvSpPr txBox="1">
                <a:spLocks noRot="1" noChangeAspect="1" noMove="1" noResize="1" noEditPoints="1" noAdjustHandles="1" noChangeArrowheads="1" noChangeShapeType="1" noTextEdit="1"/>
              </p:cNvSpPr>
              <p:nvPr/>
            </p:nvSpPr>
            <p:spPr bwMode="auto">
              <a:xfrm>
                <a:off x="6223122" y="3499862"/>
                <a:ext cx="2177134" cy="505203"/>
              </a:xfrm>
              <a:prstGeom prst="rect">
                <a:avLst/>
              </a:prstGeom>
              <a:blipFill>
                <a:blip r:embed="rId3"/>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N">
                    <a:noFill/>
                  </a:rPr>
                  <a:t> </a:t>
                </a:r>
              </a:p>
            </p:txBody>
          </p:sp>
        </mc:Fallback>
      </mc:AlternateContent>
      <p:sp>
        <p:nvSpPr>
          <p:cNvPr id="20521" name="Line 44"/>
          <p:cNvSpPr>
            <a:spLocks noChangeShapeType="1"/>
          </p:cNvSpPr>
          <p:nvPr/>
        </p:nvSpPr>
        <p:spPr bwMode="auto">
          <a:xfrm>
            <a:off x="6186264" y="4005064"/>
            <a:ext cx="2286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0522" name="Line 45"/>
          <p:cNvSpPr>
            <a:spLocks noChangeShapeType="1"/>
          </p:cNvSpPr>
          <p:nvPr/>
        </p:nvSpPr>
        <p:spPr bwMode="auto">
          <a:xfrm>
            <a:off x="7514278" y="3632250"/>
            <a:ext cx="21883" cy="253305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96654" name="Text Box 46"/>
          <p:cNvSpPr txBox="1">
            <a:spLocks noChangeArrowheads="1"/>
          </p:cNvSpPr>
          <p:nvPr/>
        </p:nvSpPr>
        <p:spPr bwMode="auto">
          <a:xfrm>
            <a:off x="2135560" y="3140968"/>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endParaRPr lang="zh-CN" altLang="en-US" sz="2800" dirty="0">
              <a:solidFill>
                <a:schemeClr val="hlink"/>
              </a:solidFill>
              <a:latin typeface="+mj-lt"/>
            </a:endParaRPr>
          </a:p>
        </p:txBody>
      </p:sp>
      <p:sp>
        <p:nvSpPr>
          <p:cNvPr id="196655" name="Text Box 47"/>
          <p:cNvSpPr txBox="1">
            <a:spLocks noChangeArrowheads="1"/>
          </p:cNvSpPr>
          <p:nvPr/>
        </p:nvSpPr>
        <p:spPr bwMode="auto">
          <a:xfrm>
            <a:off x="2128192" y="1412776"/>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endParaRPr lang="zh-CN" altLang="en-US" sz="2800" dirty="0">
              <a:solidFill>
                <a:schemeClr val="hlink"/>
              </a:solidFill>
              <a:latin typeface="+mj-lt"/>
            </a:endParaRPr>
          </a:p>
        </p:txBody>
      </p:sp>
      <p:sp>
        <p:nvSpPr>
          <p:cNvPr id="196656" name="Text Box 48"/>
          <p:cNvSpPr txBox="1">
            <a:spLocks noChangeArrowheads="1"/>
          </p:cNvSpPr>
          <p:nvPr/>
        </p:nvSpPr>
        <p:spPr bwMode="auto">
          <a:xfrm>
            <a:off x="7168752" y="1681644"/>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endParaRPr lang="zh-CN" altLang="en-US" sz="2800" dirty="0">
              <a:solidFill>
                <a:schemeClr val="hlink"/>
              </a:solidFill>
              <a:latin typeface="+mj-lt"/>
            </a:endParaRPr>
          </a:p>
        </p:txBody>
      </p:sp>
      <p:sp>
        <p:nvSpPr>
          <p:cNvPr id="196657" name="Text Box 49"/>
          <p:cNvSpPr txBox="1">
            <a:spLocks noChangeArrowheads="1"/>
          </p:cNvSpPr>
          <p:nvPr/>
        </p:nvSpPr>
        <p:spPr bwMode="auto">
          <a:xfrm>
            <a:off x="7176120" y="2852936"/>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endParaRPr lang="zh-CN" altLang="en-US" sz="2800" dirty="0">
              <a:solidFill>
                <a:schemeClr val="hlink"/>
              </a:solidFill>
              <a:latin typeface="+mj-lt"/>
            </a:endParaRPr>
          </a:p>
        </p:txBody>
      </p:sp>
      <p:sp>
        <p:nvSpPr>
          <p:cNvPr id="196658" name="Text Box 50"/>
          <p:cNvSpPr txBox="1">
            <a:spLocks noChangeArrowheads="1"/>
          </p:cNvSpPr>
          <p:nvPr/>
        </p:nvSpPr>
        <p:spPr bwMode="auto">
          <a:xfrm>
            <a:off x="7630616" y="4869160"/>
            <a:ext cx="2209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r>
              <a:rPr lang="zh-CN" altLang="en-US" sz="2800" dirty="0">
                <a:solidFill>
                  <a:schemeClr val="hlink"/>
                </a:solidFill>
                <a:latin typeface="+mj-lt"/>
              </a:rPr>
              <a:t>   </a:t>
            </a:r>
            <a:r>
              <a:rPr lang="en-US" altLang="zh-CN" sz="2800" dirty="0">
                <a:solidFill>
                  <a:schemeClr val="hlink"/>
                </a:solidFill>
                <a:latin typeface="+mj-lt"/>
              </a:rPr>
              <a:t>1</a:t>
            </a:r>
            <a:r>
              <a:rPr lang="zh-CN" altLang="en-US" sz="2800" dirty="0">
                <a:solidFill>
                  <a:schemeClr val="hlink"/>
                </a:solidFill>
                <a:latin typeface="+mj-lt"/>
              </a:rPr>
              <a:t>   </a:t>
            </a:r>
            <a:r>
              <a:rPr lang="en-US" altLang="zh-CN" sz="2800" i="1" dirty="0">
                <a:solidFill>
                  <a:srgbClr val="C00000"/>
                </a:solidFill>
                <a:latin typeface="+mj-lt"/>
              </a:rPr>
              <a:t>Reset</a:t>
            </a:r>
          </a:p>
        </p:txBody>
      </p:sp>
      <p:sp>
        <p:nvSpPr>
          <p:cNvPr id="2" name="Rectangle 1"/>
          <p:cNvSpPr/>
          <p:nvPr/>
        </p:nvSpPr>
        <p:spPr>
          <a:xfrm>
            <a:off x="6795072" y="6300028"/>
            <a:ext cx="1533177" cy="369332"/>
          </a:xfrm>
          <a:prstGeom prst="rect">
            <a:avLst/>
          </a:prstGeom>
        </p:spPr>
        <p:txBody>
          <a:bodyPr wrap="none">
            <a:spAutoFit/>
          </a:bodyPr>
          <a:lstStyle/>
          <a:p>
            <a:r>
              <a:rPr lang="en-IN" dirty="0"/>
              <a:t>Function table</a:t>
            </a:r>
          </a:p>
        </p:txBody>
      </p:sp>
      <p:sp>
        <p:nvSpPr>
          <p:cNvPr id="17" name="Rectangle 16"/>
          <p:cNvSpPr/>
          <p:nvPr/>
        </p:nvSpPr>
        <p:spPr>
          <a:xfrm>
            <a:off x="3894362" y="3789040"/>
            <a:ext cx="1481559" cy="369332"/>
          </a:xfrm>
          <a:prstGeom prst="rect">
            <a:avLst/>
          </a:prstGeom>
        </p:spPr>
        <p:txBody>
          <a:bodyPr wrap="none">
            <a:spAutoFit/>
          </a:bodyPr>
          <a:lstStyle/>
          <a:p>
            <a:r>
              <a:rPr lang="en-IN" dirty="0"/>
              <a:t>Logic diagram</a:t>
            </a:r>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4012" y="1556793"/>
            <a:ext cx="4610100" cy="2009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464153" y="3212976"/>
            <a:ext cx="1548373" cy="400110"/>
          </a:xfrm>
          <a:prstGeom prst="rect">
            <a:avLst/>
          </a:prstGeom>
        </p:spPr>
        <p:txBody>
          <a:bodyPr wrap="none">
            <a:spAutoFit/>
          </a:bodyPr>
          <a:lstStyle/>
          <a:p>
            <a:r>
              <a:rPr lang="en-IN" sz="2000" dirty="0">
                <a:latin typeface="Cambria Math" pitchFamily="18" charset="0"/>
                <a:ea typeface="Cambria Math" pitchFamily="18" charset="0"/>
              </a:rPr>
              <a:t>Next state of</a:t>
            </a:r>
          </a:p>
        </p:txBody>
      </p:sp>
      <p:sp>
        <p:nvSpPr>
          <p:cNvPr id="19" name="Text Box 47"/>
          <p:cNvSpPr txBox="1">
            <a:spLocks noChangeArrowheads="1"/>
          </p:cNvSpPr>
          <p:nvPr/>
        </p:nvSpPr>
        <p:spPr bwMode="auto">
          <a:xfrm>
            <a:off x="2128192" y="2257708"/>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rgbClr val="C00000"/>
                </a:solidFill>
                <a:latin typeface="+mj-lt"/>
              </a:rPr>
              <a:t>1</a:t>
            </a:r>
            <a:endParaRPr lang="zh-CN" altLang="en-US" sz="2800" dirty="0">
              <a:solidFill>
                <a:srgbClr val="C00000"/>
              </a:solidFill>
              <a:latin typeface="+mj-lt"/>
            </a:endParaRPr>
          </a:p>
        </p:txBody>
      </p:sp>
      <p:sp>
        <p:nvSpPr>
          <p:cNvPr id="20" name="Text Box 48"/>
          <p:cNvSpPr txBox="1">
            <a:spLocks noChangeArrowheads="1"/>
          </p:cNvSpPr>
          <p:nvPr/>
        </p:nvSpPr>
        <p:spPr bwMode="auto">
          <a:xfrm>
            <a:off x="4439816" y="1340768"/>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accent3">
                    <a:lumMod val="60000"/>
                    <a:lumOff val="40000"/>
                  </a:schemeClr>
                </a:solidFill>
                <a:latin typeface="+mj-lt"/>
              </a:rPr>
              <a:t>1</a:t>
            </a:r>
            <a:endParaRPr lang="zh-CN" altLang="en-US" sz="2800" dirty="0">
              <a:solidFill>
                <a:schemeClr val="accent3">
                  <a:lumMod val="60000"/>
                  <a:lumOff val="40000"/>
                </a:schemeClr>
              </a:solidFill>
              <a:latin typeface="+mj-lt"/>
            </a:endParaRPr>
          </a:p>
        </p:txBody>
      </p:sp>
      <p:sp>
        <p:nvSpPr>
          <p:cNvPr id="21" name="Text Box 48"/>
          <p:cNvSpPr txBox="1">
            <a:spLocks noChangeArrowheads="1"/>
          </p:cNvSpPr>
          <p:nvPr/>
        </p:nvSpPr>
        <p:spPr bwMode="auto">
          <a:xfrm>
            <a:off x="4439816" y="3193812"/>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accent3">
                    <a:lumMod val="60000"/>
                    <a:lumOff val="40000"/>
                  </a:schemeClr>
                </a:solidFill>
                <a:latin typeface="+mj-lt"/>
              </a:rPr>
              <a:t>0</a:t>
            </a:r>
            <a:endParaRPr lang="zh-CN" altLang="en-US" sz="2800" dirty="0">
              <a:solidFill>
                <a:schemeClr val="accent3">
                  <a:lumMod val="60000"/>
                  <a:lumOff val="40000"/>
                </a:schemeClr>
              </a:solidFill>
              <a:latin typeface="+mj-lt"/>
            </a:endParaRPr>
          </a:p>
        </p:txBody>
      </p:sp>
      <p:pic>
        <p:nvPicPr>
          <p:cNvPr id="205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7430" y="4581129"/>
            <a:ext cx="2838450" cy="164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Text Box 50"/>
          <p:cNvSpPr txBox="1">
            <a:spLocks noChangeArrowheads="1"/>
          </p:cNvSpPr>
          <p:nvPr/>
        </p:nvSpPr>
        <p:spPr bwMode="auto">
          <a:xfrm>
            <a:off x="7536160" y="4005064"/>
            <a:ext cx="28803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i="1" dirty="0">
                <a:solidFill>
                  <a:schemeClr val="hlink"/>
                </a:solidFill>
                <a:latin typeface="+mj-lt"/>
              </a:rPr>
              <a:t>Q</a:t>
            </a:r>
            <a:r>
              <a:rPr lang="zh-CN" altLang="en-US" sz="2800" i="1" dirty="0">
                <a:solidFill>
                  <a:schemeClr val="hlink"/>
                </a:solidFill>
                <a:latin typeface="+mj-lt"/>
              </a:rPr>
              <a:t>   </a:t>
            </a:r>
            <a:r>
              <a:rPr lang="en-US" altLang="zh-CN" sz="2800" i="1" dirty="0">
                <a:solidFill>
                  <a:schemeClr val="hlink"/>
                </a:solidFill>
                <a:latin typeface="+mj-lt"/>
              </a:rPr>
              <a:t>Q’</a:t>
            </a:r>
            <a:r>
              <a:rPr lang="zh-CN" altLang="en-US" sz="2800" i="1" dirty="0">
                <a:solidFill>
                  <a:schemeClr val="hlink"/>
                </a:solidFill>
                <a:latin typeface="+mj-lt"/>
              </a:rPr>
              <a:t>  </a:t>
            </a:r>
            <a:r>
              <a:rPr lang="en-US" altLang="zh-CN" sz="2800" i="1" dirty="0">
                <a:solidFill>
                  <a:srgbClr val="C00000"/>
                </a:solidFill>
                <a:latin typeface="+mj-lt"/>
              </a:rPr>
              <a:t>No change</a:t>
            </a:r>
          </a:p>
        </p:txBody>
      </p:sp>
      <p:sp>
        <p:nvSpPr>
          <p:cNvPr id="23" name="Text Box 50"/>
          <p:cNvSpPr txBox="1">
            <a:spLocks noChangeArrowheads="1"/>
          </p:cNvSpPr>
          <p:nvPr/>
        </p:nvSpPr>
        <p:spPr bwMode="auto">
          <a:xfrm>
            <a:off x="7536160" y="4437112"/>
            <a:ext cx="28803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i="1" dirty="0">
                <a:solidFill>
                  <a:schemeClr val="hlink"/>
                </a:solidFill>
                <a:latin typeface="+mj-lt"/>
              </a:rPr>
              <a:t>Q</a:t>
            </a:r>
            <a:r>
              <a:rPr lang="zh-CN" altLang="en-US" sz="2800" i="1" dirty="0">
                <a:solidFill>
                  <a:schemeClr val="hlink"/>
                </a:solidFill>
                <a:latin typeface="+mj-lt"/>
              </a:rPr>
              <a:t>   </a:t>
            </a:r>
            <a:r>
              <a:rPr lang="en-US" altLang="zh-CN" sz="2800" i="1" dirty="0">
                <a:solidFill>
                  <a:schemeClr val="hlink"/>
                </a:solidFill>
                <a:latin typeface="+mj-lt"/>
              </a:rPr>
              <a:t>Q’</a:t>
            </a:r>
            <a:r>
              <a:rPr lang="zh-CN" altLang="en-US" sz="2800" i="1" dirty="0">
                <a:solidFill>
                  <a:schemeClr val="hlink"/>
                </a:solidFill>
                <a:latin typeface="+mj-lt"/>
              </a:rPr>
              <a:t>  </a:t>
            </a:r>
            <a:r>
              <a:rPr lang="en-US" altLang="zh-CN" sz="2800" i="1" dirty="0">
                <a:solidFill>
                  <a:srgbClr val="C00000"/>
                </a:solidFill>
                <a:latin typeface="+mj-lt"/>
              </a:rPr>
              <a:t>No change</a:t>
            </a:r>
          </a:p>
        </p:txBody>
      </p:sp>
    </p:spTree>
    <p:extLst>
      <p:ext uri="{BB962C8B-B14F-4D97-AF65-F5344CB8AC3E}">
        <p14:creationId xmlns:p14="http://schemas.microsoft.com/office/powerpoint/2010/main" val="60151180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66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665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665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665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66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54" grpId="0"/>
      <p:bldP spid="196655" grpId="0"/>
      <p:bldP spid="196656" grpId="0"/>
      <p:bldP spid="196657" grpId="0"/>
      <p:bldP spid="196658" grpId="0"/>
      <p:bldP spid="20" grpId="0"/>
      <p:bldP spid="21"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rrowheads="1"/>
          </p:cNvSpPr>
          <p:nvPr>
            <p:ph type="title"/>
          </p:nvPr>
        </p:nvSpPr>
        <p:spPr/>
        <p:txBody>
          <a:bodyPr/>
          <a:lstStyle/>
          <a:p>
            <a:r>
              <a:rPr lang="en-US" i="1" dirty="0">
                <a:solidFill>
                  <a:srgbClr val="002060"/>
                </a:solidFill>
              </a:rPr>
              <a:t>SR </a:t>
            </a:r>
            <a:r>
              <a:rPr lang="en-US" dirty="0">
                <a:solidFill>
                  <a:srgbClr val="002060"/>
                </a:solidFill>
              </a:rPr>
              <a:t>latch with control input</a:t>
            </a:r>
            <a:endParaRPr lang="en-US" altLang="zh-CN" dirty="0">
              <a:solidFill>
                <a:srgbClr val="002060"/>
              </a:solidFill>
            </a:endParaRPr>
          </a:p>
        </p:txBody>
      </p:sp>
      <p:sp>
        <p:nvSpPr>
          <p:cNvPr id="20487" name="Line 4"/>
          <p:cNvSpPr>
            <a:spLocks noChangeShapeType="1"/>
          </p:cNvSpPr>
          <p:nvPr/>
        </p:nvSpPr>
        <p:spPr bwMode="auto">
          <a:xfrm>
            <a:off x="4400550" y="4232275"/>
            <a:ext cx="1588"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20519" name="Text Box 42"/>
          <p:cNvSpPr txBox="1">
            <a:spLocks noChangeArrowheads="1"/>
          </p:cNvSpPr>
          <p:nvPr/>
        </p:nvSpPr>
        <p:spPr bwMode="auto">
          <a:xfrm>
            <a:off x="6318448" y="4005065"/>
            <a:ext cx="1145705"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latin typeface="+mj-lt"/>
              </a:rPr>
              <a:t>0  X  </a:t>
            </a:r>
            <a:r>
              <a:rPr lang="en-US" altLang="zh-CN" sz="2800" dirty="0" err="1">
                <a:latin typeface="+mj-lt"/>
              </a:rPr>
              <a:t>X</a:t>
            </a:r>
            <a:endParaRPr lang="en-US" altLang="zh-CN" sz="2800" dirty="0">
              <a:latin typeface="+mj-lt"/>
            </a:endParaRPr>
          </a:p>
          <a:p>
            <a:r>
              <a:rPr lang="en-US" altLang="zh-CN" sz="2800" dirty="0">
                <a:latin typeface="+mj-lt"/>
              </a:rPr>
              <a:t>1  0  0</a:t>
            </a:r>
          </a:p>
          <a:p>
            <a:r>
              <a:rPr lang="en-US" altLang="zh-CN" sz="2800" dirty="0">
                <a:latin typeface="+mj-lt"/>
              </a:rPr>
              <a:t>1  </a:t>
            </a:r>
            <a:r>
              <a:rPr lang="zh-CN" altLang="en-US" sz="2800" dirty="0">
                <a:latin typeface="+mj-lt"/>
              </a:rPr>
              <a:t>0  1</a:t>
            </a:r>
          </a:p>
          <a:p>
            <a:r>
              <a:rPr lang="en-US" altLang="zh-CN" sz="2800" dirty="0">
                <a:latin typeface="+mj-lt"/>
              </a:rPr>
              <a:t>1  </a:t>
            </a:r>
            <a:r>
              <a:rPr lang="zh-CN" altLang="en-US" sz="2800" dirty="0">
                <a:latin typeface="+mj-lt"/>
              </a:rPr>
              <a:t>1  0</a:t>
            </a:r>
          </a:p>
          <a:p>
            <a:r>
              <a:rPr lang="en-US" altLang="zh-CN" sz="2800" dirty="0">
                <a:latin typeface="+mj-lt"/>
              </a:rPr>
              <a:t>1  </a:t>
            </a:r>
            <a:r>
              <a:rPr lang="zh-CN" altLang="en-US" sz="2800" dirty="0">
                <a:latin typeface="+mj-lt"/>
              </a:rPr>
              <a:t>1  1</a:t>
            </a:r>
          </a:p>
        </p:txBody>
      </p:sp>
      <mc:AlternateContent xmlns:mc="http://schemas.openxmlformats.org/markup-compatibility/2006" xmlns:a14="http://schemas.microsoft.com/office/drawing/2010/main">
        <mc:Choice Requires="a14">
          <p:sp>
            <p:nvSpPr>
              <p:cNvPr id="20520" name="Text Box 43"/>
              <p:cNvSpPr txBox="1">
                <a:spLocks noChangeArrowheads="1"/>
              </p:cNvSpPr>
              <p:nvPr/>
            </p:nvSpPr>
            <p:spPr bwMode="auto">
              <a:xfrm>
                <a:off x="6223122" y="3499862"/>
                <a:ext cx="2177134" cy="50520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pPr/>
                <a14:m>
                  <m:oMathPara xmlns:m="http://schemas.openxmlformats.org/officeDocument/2006/math">
                    <m:oMathParaPr>
                      <m:jc m:val="centerGroup"/>
                    </m:oMathParaPr>
                    <m:oMath xmlns:m="http://schemas.openxmlformats.org/officeDocument/2006/math">
                      <m:r>
                        <a:rPr lang="en-US" altLang="zh-CN" sz="2400" i="1" dirty="0">
                          <a:latin typeface="Cambria Math"/>
                        </a:rPr>
                        <m:t>𝐸𝑛</m:t>
                      </m:r>
                      <m:r>
                        <a:rPr lang="en-US" altLang="zh-CN" sz="2400" i="1" dirty="0">
                          <a:latin typeface="Cambria Math"/>
                        </a:rPr>
                        <m:t>  </m:t>
                      </m:r>
                      <m:r>
                        <a:rPr lang="en-US" altLang="zh-CN" sz="2400" i="1" dirty="0">
                          <a:latin typeface="Cambria Math"/>
                        </a:rPr>
                        <m:t>𝑆</m:t>
                      </m:r>
                      <m:r>
                        <a:rPr lang="en-US" altLang="zh-CN" sz="2400" i="1" dirty="0">
                          <a:latin typeface="Cambria Math"/>
                        </a:rPr>
                        <m:t>  </m:t>
                      </m:r>
                      <m:r>
                        <a:rPr lang="en-US" altLang="zh-CN" sz="2400" i="1" dirty="0">
                          <a:latin typeface="Cambria Math"/>
                        </a:rPr>
                        <m:t>𝑅</m:t>
                      </m:r>
                      <m:r>
                        <a:rPr lang="en-US" altLang="zh-CN" sz="2400" i="1" dirty="0">
                          <a:latin typeface="Cambria Math"/>
                        </a:rPr>
                        <m:t>    </m:t>
                      </m:r>
                      <m:r>
                        <a:rPr lang="en-US" altLang="zh-CN" sz="2400" i="1" dirty="0">
                          <a:latin typeface="Cambria Math"/>
                        </a:rPr>
                        <m:t>𝑄</m:t>
                      </m:r>
                      <m:r>
                        <a:rPr lang="en-US" altLang="zh-CN" sz="2400" i="1" dirty="0">
                          <a:latin typeface="Cambria Math"/>
                        </a:rPr>
                        <m:t>   </m:t>
                      </m:r>
                      <m:bar>
                        <m:barPr>
                          <m:pos m:val="top"/>
                          <m:ctrlPr>
                            <a:rPr lang="en-US" altLang="zh-CN" sz="2400" i="1">
                              <a:latin typeface="Cambria Math" panose="02040503050406030204" pitchFamily="18" charset="0"/>
                            </a:rPr>
                          </m:ctrlPr>
                        </m:barPr>
                        <m:e>
                          <m:r>
                            <a:rPr lang="en-US" altLang="zh-CN" sz="2400" i="1">
                              <a:latin typeface="Cambria Math"/>
                            </a:rPr>
                            <m:t>𝑄</m:t>
                          </m:r>
                        </m:e>
                      </m:bar>
                    </m:oMath>
                  </m:oMathPara>
                </a14:m>
                <a:endParaRPr lang="en-US" altLang="zh-CN" sz="2400" i="1" dirty="0">
                  <a:latin typeface="+mj-lt"/>
                </a:endParaRPr>
              </a:p>
            </p:txBody>
          </p:sp>
        </mc:Choice>
        <mc:Fallback xmlns="">
          <p:sp>
            <p:nvSpPr>
              <p:cNvPr id="20520" name="Text Box 43"/>
              <p:cNvSpPr txBox="1">
                <a:spLocks noRot="1" noChangeAspect="1" noMove="1" noResize="1" noEditPoints="1" noAdjustHandles="1" noChangeArrowheads="1" noChangeShapeType="1" noTextEdit="1"/>
              </p:cNvSpPr>
              <p:nvPr/>
            </p:nvSpPr>
            <p:spPr bwMode="auto">
              <a:xfrm>
                <a:off x="6223122" y="3499862"/>
                <a:ext cx="2177134" cy="505203"/>
              </a:xfrm>
              <a:prstGeom prst="rect">
                <a:avLst/>
              </a:prstGeom>
              <a:blipFill>
                <a:blip r:embed="rId3"/>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N">
                    <a:noFill/>
                  </a:rPr>
                  <a:t> </a:t>
                </a:r>
              </a:p>
            </p:txBody>
          </p:sp>
        </mc:Fallback>
      </mc:AlternateContent>
      <p:sp>
        <p:nvSpPr>
          <p:cNvPr id="20521" name="Line 44"/>
          <p:cNvSpPr>
            <a:spLocks noChangeShapeType="1"/>
          </p:cNvSpPr>
          <p:nvPr/>
        </p:nvSpPr>
        <p:spPr bwMode="auto">
          <a:xfrm>
            <a:off x="6186264" y="4005064"/>
            <a:ext cx="2286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0522" name="Line 45"/>
          <p:cNvSpPr>
            <a:spLocks noChangeShapeType="1"/>
          </p:cNvSpPr>
          <p:nvPr/>
        </p:nvSpPr>
        <p:spPr bwMode="auto">
          <a:xfrm>
            <a:off x="7514278" y="3632250"/>
            <a:ext cx="21883" cy="253305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96654" name="Text Box 46"/>
          <p:cNvSpPr txBox="1">
            <a:spLocks noChangeArrowheads="1"/>
          </p:cNvSpPr>
          <p:nvPr/>
        </p:nvSpPr>
        <p:spPr bwMode="auto">
          <a:xfrm>
            <a:off x="2135560" y="3140968"/>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endParaRPr lang="zh-CN" altLang="en-US" sz="2800" dirty="0">
              <a:solidFill>
                <a:schemeClr val="hlink"/>
              </a:solidFill>
              <a:latin typeface="+mj-lt"/>
            </a:endParaRPr>
          </a:p>
        </p:txBody>
      </p:sp>
      <p:sp>
        <p:nvSpPr>
          <p:cNvPr id="196655" name="Text Box 47"/>
          <p:cNvSpPr txBox="1">
            <a:spLocks noChangeArrowheads="1"/>
          </p:cNvSpPr>
          <p:nvPr/>
        </p:nvSpPr>
        <p:spPr bwMode="auto">
          <a:xfrm>
            <a:off x="2128192" y="1412776"/>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endParaRPr lang="zh-CN" altLang="en-US" sz="2800" dirty="0">
              <a:solidFill>
                <a:schemeClr val="hlink"/>
              </a:solidFill>
              <a:latin typeface="+mj-lt"/>
            </a:endParaRPr>
          </a:p>
        </p:txBody>
      </p:sp>
      <p:sp>
        <p:nvSpPr>
          <p:cNvPr id="196656" name="Text Box 48"/>
          <p:cNvSpPr txBox="1">
            <a:spLocks noChangeArrowheads="1"/>
          </p:cNvSpPr>
          <p:nvPr/>
        </p:nvSpPr>
        <p:spPr bwMode="auto">
          <a:xfrm>
            <a:off x="7168752" y="1681644"/>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endParaRPr lang="zh-CN" altLang="en-US" sz="2800" dirty="0">
              <a:solidFill>
                <a:schemeClr val="hlink"/>
              </a:solidFill>
              <a:latin typeface="+mj-lt"/>
            </a:endParaRPr>
          </a:p>
        </p:txBody>
      </p:sp>
      <p:sp>
        <p:nvSpPr>
          <p:cNvPr id="196657" name="Text Box 49"/>
          <p:cNvSpPr txBox="1">
            <a:spLocks noChangeArrowheads="1"/>
          </p:cNvSpPr>
          <p:nvPr/>
        </p:nvSpPr>
        <p:spPr bwMode="auto">
          <a:xfrm>
            <a:off x="7176120" y="2852936"/>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endParaRPr lang="zh-CN" altLang="en-US" sz="2800" dirty="0">
              <a:solidFill>
                <a:schemeClr val="hlink"/>
              </a:solidFill>
              <a:latin typeface="+mj-lt"/>
            </a:endParaRPr>
          </a:p>
        </p:txBody>
      </p:sp>
      <p:sp>
        <p:nvSpPr>
          <p:cNvPr id="196658" name="Text Box 50"/>
          <p:cNvSpPr txBox="1">
            <a:spLocks noChangeArrowheads="1"/>
          </p:cNvSpPr>
          <p:nvPr/>
        </p:nvSpPr>
        <p:spPr bwMode="auto">
          <a:xfrm>
            <a:off x="7630616" y="4869160"/>
            <a:ext cx="2209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r>
              <a:rPr lang="zh-CN" altLang="en-US" sz="2800" dirty="0">
                <a:solidFill>
                  <a:schemeClr val="hlink"/>
                </a:solidFill>
                <a:latin typeface="+mj-lt"/>
              </a:rPr>
              <a:t>   </a:t>
            </a:r>
            <a:r>
              <a:rPr lang="en-US" altLang="zh-CN" sz="2800" dirty="0">
                <a:solidFill>
                  <a:schemeClr val="hlink"/>
                </a:solidFill>
                <a:latin typeface="+mj-lt"/>
              </a:rPr>
              <a:t>1</a:t>
            </a:r>
            <a:r>
              <a:rPr lang="zh-CN" altLang="en-US" sz="2800" dirty="0">
                <a:solidFill>
                  <a:schemeClr val="hlink"/>
                </a:solidFill>
                <a:latin typeface="+mj-lt"/>
              </a:rPr>
              <a:t>   </a:t>
            </a:r>
            <a:r>
              <a:rPr lang="en-US" altLang="zh-CN" sz="2800" i="1" dirty="0">
                <a:solidFill>
                  <a:srgbClr val="C00000"/>
                </a:solidFill>
                <a:latin typeface="+mj-lt"/>
              </a:rPr>
              <a:t>Reset</a:t>
            </a:r>
          </a:p>
        </p:txBody>
      </p:sp>
      <p:sp>
        <p:nvSpPr>
          <p:cNvPr id="2" name="Rectangle 1"/>
          <p:cNvSpPr/>
          <p:nvPr/>
        </p:nvSpPr>
        <p:spPr>
          <a:xfrm>
            <a:off x="6795072" y="6300028"/>
            <a:ext cx="1533177" cy="369332"/>
          </a:xfrm>
          <a:prstGeom prst="rect">
            <a:avLst/>
          </a:prstGeom>
        </p:spPr>
        <p:txBody>
          <a:bodyPr wrap="none">
            <a:spAutoFit/>
          </a:bodyPr>
          <a:lstStyle/>
          <a:p>
            <a:r>
              <a:rPr lang="en-IN" dirty="0"/>
              <a:t>Function table</a:t>
            </a:r>
          </a:p>
        </p:txBody>
      </p:sp>
      <p:sp>
        <p:nvSpPr>
          <p:cNvPr id="17" name="Rectangle 16"/>
          <p:cNvSpPr/>
          <p:nvPr/>
        </p:nvSpPr>
        <p:spPr>
          <a:xfrm>
            <a:off x="3894362" y="3789040"/>
            <a:ext cx="1481559" cy="369332"/>
          </a:xfrm>
          <a:prstGeom prst="rect">
            <a:avLst/>
          </a:prstGeom>
        </p:spPr>
        <p:txBody>
          <a:bodyPr wrap="none">
            <a:spAutoFit/>
          </a:bodyPr>
          <a:lstStyle/>
          <a:p>
            <a:r>
              <a:rPr lang="en-IN" dirty="0"/>
              <a:t>Logic diagram</a:t>
            </a:r>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4012" y="1556793"/>
            <a:ext cx="4610100" cy="2009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464153" y="3212976"/>
            <a:ext cx="1548373" cy="400110"/>
          </a:xfrm>
          <a:prstGeom prst="rect">
            <a:avLst/>
          </a:prstGeom>
        </p:spPr>
        <p:txBody>
          <a:bodyPr wrap="none">
            <a:spAutoFit/>
          </a:bodyPr>
          <a:lstStyle/>
          <a:p>
            <a:r>
              <a:rPr lang="en-IN" sz="2000" dirty="0">
                <a:latin typeface="Cambria Math" pitchFamily="18" charset="0"/>
                <a:ea typeface="Cambria Math" pitchFamily="18" charset="0"/>
              </a:rPr>
              <a:t>Next state of</a:t>
            </a:r>
          </a:p>
        </p:txBody>
      </p:sp>
      <p:sp>
        <p:nvSpPr>
          <p:cNvPr id="19" name="Text Box 47"/>
          <p:cNvSpPr txBox="1">
            <a:spLocks noChangeArrowheads="1"/>
          </p:cNvSpPr>
          <p:nvPr/>
        </p:nvSpPr>
        <p:spPr bwMode="auto">
          <a:xfrm>
            <a:off x="2128192" y="2257708"/>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rgbClr val="C00000"/>
                </a:solidFill>
                <a:latin typeface="+mj-lt"/>
              </a:rPr>
              <a:t>1</a:t>
            </a:r>
            <a:endParaRPr lang="zh-CN" altLang="en-US" sz="2800" dirty="0">
              <a:solidFill>
                <a:srgbClr val="C00000"/>
              </a:solidFill>
              <a:latin typeface="+mj-lt"/>
            </a:endParaRPr>
          </a:p>
        </p:txBody>
      </p:sp>
      <p:sp>
        <p:nvSpPr>
          <p:cNvPr id="20" name="Text Box 48"/>
          <p:cNvSpPr txBox="1">
            <a:spLocks noChangeArrowheads="1"/>
          </p:cNvSpPr>
          <p:nvPr/>
        </p:nvSpPr>
        <p:spPr bwMode="auto">
          <a:xfrm>
            <a:off x="4439816" y="1340768"/>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accent3">
                    <a:lumMod val="60000"/>
                    <a:lumOff val="40000"/>
                  </a:schemeClr>
                </a:solidFill>
                <a:latin typeface="+mj-lt"/>
              </a:rPr>
              <a:t>0</a:t>
            </a:r>
            <a:endParaRPr lang="zh-CN" altLang="en-US" sz="2800" dirty="0">
              <a:solidFill>
                <a:schemeClr val="accent3">
                  <a:lumMod val="60000"/>
                  <a:lumOff val="40000"/>
                </a:schemeClr>
              </a:solidFill>
              <a:latin typeface="+mj-lt"/>
            </a:endParaRPr>
          </a:p>
        </p:txBody>
      </p:sp>
      <p:sp>
        <p:nvSpPr>
          <p:cNvPr id="21" name="Text Box 48"/>
          <p:cNvSpPr txBox="1">
            <a:spLocks noChangeArrowheads="1"/>
          </p:cNvSpPr>
          <p:nvPr/>
        </p:nvSpPr>
        <p:spPr bwMode="auto">
          <a:xfrm>
            <a:off x="4439816" y="3193812"/>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accent3">
                    <a:lumMod val="60000"/>
                    <a:lumOff val="40000"/>
                  </a:schemeClr>
                </a:solidFill>
                <a:latin typeface="+mj-lt"/>
              </a:rPr>
              <a:t>1</a:t>
            </a:r>
            <a:endParaRPr lang="zh-CN" altLang="en-US" sz="2800" dirty="0">
              <a:solidFill>
                <a:schemeClr val="accent3">
                  <a:lumMod val="60000"/>
                  <a:lumOff val="40000"/>
                </a:schemeClr>
              </a:solidFill>
              <a:latin typeface="+mj-lt"/>
            </a:endParaRPr>
          </a:p>
        </p:txBody>
      </p:sp>
      <p:pic>
        <p:nvPicPr>
          <p:cNvPr id="205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7430" y="4581129"/>
            <a:ext cx="2838450" cy="164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Text Box 50"/>
          <p:cNvSpPr txBox="1">
            <a:spLocks noChangeArrowheads="1"/>
          </p:cNvSpPr>
          <p:nvPr/>
        </p:nvSpPr>
        <p:spPr bwMode="auto">
          <a:xfrm>
            <a:off x="7536160" y="4005064"/>
            <a:ext cx="28803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i="1" dirty="0">
                <a:solidFill>
                  <a:schemeClr val="hlink"/>
                </a:solidFill>
                <a:latin typeface="+mj-lt"/>
              </a:rPr>
              <a:t>Q</a:t>
            </a:r>
            <a:r>
              <a:rPr lang="zh-CN" altLang="en-US" sz="2800" i="1" dirty="0">
                <a:solidFill>
                  <a:schemeClr val="hlink"/>
                </a:solidFill>
                <a:latin typeface="+mj-lt"/>
              </a:rPr>
              <a:t>   </a:t>
            </a:r>
            <a:r>
              <a:rPr lang="en-US" altLang="zh-CN" sz="2800" i="1" dirty="0">
                <a:solidFill>
                  <a:schemeClr val="hlink"/>
                </a:solidFill>
                <a:latin typeface="+mj-lt"/>
              </a:rPr>
              <a:t>Q’</a:t>
            </a:r>
            <a:r>
              <a:rPr lang="zh-CN" altLang="en-US" sz="2800" i="1" dirty="0">
                <a:solidFill>
                  <a:schemeClr val="hlink"/>
                </a:solidFill>
                <a:latin typeface="+mj-lt"/>
              </a:rPr>
              <a:t>  </a:t>
            </a:r>
            <a:r>
              <a:rPr lang="en-US" altLang="zh-CN" sz="2800" i="1" dirty="0">
                <a:solidFill>
                  <a:srgbClr val="C00000"/>
                </a:solidFill>
                <a:latin typeface="+mj-lt"/>
              </a:rPr>
              <a:t>No change</a:t>
            </a:r>
          </a:p>
        </p:txBody>
      </p:sp>
      <p:sp>
        <p:nvSpPr>
          <p:cNvPr id="23" name="Text Box 50"/>
          <p:cNvSpPr txBox="1">
            <a:spLocks noChangeArrowheads="1"/>
          </p:cNvSpPr>
          <p:nvPr/>
        </p:nvSpPr>
        <p:spPr bwMode="auto">
          <a:xfrm>
            <a:off x="7536160" y="4437112"/>
            <a:ext cx="28803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i="1" dirty="0">
                <a:solidFill>
                  <a:schemeClr val="hlink"/>
                </a:solidFill>
                <a:latin typeface="+mj-lt"/>
              </a:rPr>
              <a:t>Q</a:t>
            </a:r>
            <a:r>
              <a:rPr lang="zh-CN" altLang="en-US" sz="2800" i="1" dirty="0">
                <a:solidFill>
                  <a:schemeClr val="hlink"/>
                </a:solidFill>
                <a:latin typeface="+mj-lt"/>
              </a:rPr>
              <a:t>   </a:t>
            </a:r>
            <a:r>
              <a:rPr lang="en-US" altLang="zh-CN" sz="2800" i="1" dirty="0">
                <a:solidFill>
                  <a:schemeClr val="hlink"/>
                </a:solidFill>
                <a:latin typeface="+mj-lt"/>
              </a:rPr>
              <a:t>Q’</a:t>
            </a:r>
            <a:r>
              <a:rPr lang="zh-CN" altLang="en-US" sz="2800" i="1" dirty="0">
                <a:solidFill>
                  <a:schemeClr val="hlink"/>
                </a:solidFill>
                <a:latin typeface="+mj-lt"/>
              </a:rPr>
              <a:t>  </a:t>
            </a:r>
            <a:r>
              <a:rPr lang="en-US" altLang="zh-CN" sz="2800" i="1" dirty="0">
                <a:solidFill>
                  <a:srgbClr val="C00000"/>
                </a:solidFill>
                <a:latin typeface="+mj-lt"/>
              </a:rPr>
              <a:t>No change</a:t>
            </a:r>
          </a:p>
        </p:txBody>
      </p:sp>
      <p:sp>
        <p:nvSpPr>
          <p:cNvPr id="25" name="Text Box 50"/>
          <p:cNvSpPr txBox="1">
            <a:spLocks noChangeArrowheads="1"/>
          </p:cNvSpPr>
          <p:nvPr/>
        </p:nvSpPr>
        <p:spPr bwMode="auto">
          <a:xfrm>
            <a:off x="7608168" y="5282044"/>
            <a:ext cx="2209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r>
              <a:rPr lang="zh-CN" altLang="en-US" sz="2800" dirty="0">
                <a:solidFill>
                  <a:schemeClr val="hlink"/>
                </a:solidFill>
                <a:latin typeface="+mj-lt"/>
              </a:rPr>
              <a:t>   </a:t>
            </a:r>
            <a:r>
              <a:rPr lang="en-US" altLang="zh-CN" sz="2800" dirty="0">
                <a:solidFill>
                  <a:schemeClr val="hlink"/>
                </a:solidFill>
                <a:latin typeface="+mj-lt"/>
              </a:rPr>
              <a:t>0</a:t>
            </a:r>
            <a:r>
              <a:rPr lang="zh-CN" altLang="en-US" sz="2800" dirty="0">
                <a:solidFill>
                  <a:schemeClr val="hlink"/>
                </a:solidFill>
                <a:latin typeface="+mj-lt"/>
              </a:rPr>
              <a:t>   </a:t>
            </a:r>
            <a:r>
              <a:rPr lang="en-US" altLang="zh-CN" sz="2800" i="1" dirty="0">
                <a:solidFill>
                  <a:srgbClr val="C00000"/>
                </a:solidFill>
                <a:latin typeface="+mj-lt"/>
              </a:rPr>
              <a:t>Set</a:t>
            </a:r>
          </a:p>
        </p:txBody>
      </p:sp>
    </p:spTree>
    <p:extLst>
      <p:ext uri="{BB962C8B-B14F-4D97-AF65-F5344CB8AC3E}">
        <p14:creationId xmlns:p14="http://schemas.microsoft.com/office/powerpoint/2010/main" val="296352946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66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665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665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665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54" grpId="0"/>
      <p:bldP spid="196655" grpId="0"/>
      <p:bldP spid="196656" grpId="0"/>
      <p:bldP spid="196657" grpId="0"/>
      <p:bldP spid="20" grpId="0"/>
      <p:bldP spid="21" grpId="0"/>
      <p:bldP spid="2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rrowheads="1"/>
          </p:cNvSpPr>
          <p:nvPr>
            <p:ph type="title"/>
          </p:nvPr>
        </p:nvSpPr>
        <p:spPr/>
        <p:txBody>
          <a:bodyPr/>
          <a:lstStyle/>
          <a:p>
            <a:r>
              <a:rPr lang="en-US" i="1" dirty="0">
                <a:solidFill>
                  <a:srgbClr val="002060"/>
                </a:solidFill>
              </a:rPr>
              <a:t>SR </a:t>
            </a:r>
            <a:r>
              <a:rPr lang="en-US" dirty="0">
                <a:solidFill>
                  <a:srgbClr val="002060"/>
                </a:solidFill>
              </a:rPr>
              <a:t>latch with control input</a:t>
            </a:r>
            <a:endParaRPr lang="en-US" altLang="zh-CN" dirty="0">
              <a:solidFill>
                <a:srgbClr val="002060"/>
              </a:solidFill>
            </a:endParaRPr>
          </a:p>
        </p:txBody>
      </p:sp>
      <p:sp>
        <p:nvSpPr>
          <p:cNvPr id="20487" name="Line 4"/>
          <p:cNvSpPr>
            <a:spLocks noChangeShapeType="1"/>
          </p:cNvSpPr>
          <p:nvPr/>
        </p:nvSpPr>
        <p:spPr bwMode="auto">
          <a:xfrm>
            <a:off x="4400550" y="4232275"/>
            <a:ext cx="1588"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20519" name="Text Box 42"/>
          <p:cNvSpPr txBox="1">
            <a:spLocks noChangeArrowheads="1"/>
          </p:cNvSpPr>
          <p:nvPr/>
        </p:nvSpPr>
        <p:spPr bwMode="auto">
          <a:xfrm>
            <a:off x="6318448" y="4005065"/>
            <a:ext cx="1145705"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latin typeface="+mj-lt"/>
              </a:rPr>
              <a:t>0  X  </a:t>
            </a:r>
            <a:r>
              <a:rPr lang="en-US" altLang="zh-CN" sz="2800" dirty="0" err="1">
                <a:latin typeface="+mj-lt"/>
              </a:rPr>
              <a:t>X</a:t>
            </a:r>
            <a:endParaRPr lang="en-US" altLang="zh-CN" sz="2800" dirty="0">
              <a:latin typeface="+mj-lt"/>
            </a:endParaRPr>
          </a:p>
          <a:p>
            <a:r>
              <a:rPr lang="en-US" altLang="zh-CN" sz="2800" dirty="0">
                <a:latin typeface="+mj-lt"/>
              </a:rPr>
              <a:t>1  0  0</a:t>
            </a:r>
          </a:p>
          <a:p>
            <a:r>
              <a:rPr lang="en-US" altLang="zh-CN" sz="2800" dirty="0">
                <a:latin typeface="+mj-lt"/>
              </a:rPr>
              <a:t>1  </a:t>
            </a:r>
            <a:r>
              <a:rPr lang="zh-CN" altLang="en-US" sz="2800" dirty="0">
                <a:latin typeface="+mj-lt"/>
              </a:rPr>
              <a:t>0  1</a:t>
            </a:r>
          </a:p>
          <a:p>
            <a:r>
              <a:rPr lang="en-US" altLang="zh-CN" sz="2800" dirty="0">
                <a:latin typeface="+mj-lt"/>
              </a:rPr>
              <a:t>1  </a:t>
            </a:r>
            <a:r>
              <a:rPr lang="zh-CN" altLang="en-US" sz="2800" dirty="0">
                <a:latin typeface="+mj-lt"/>
              </a:rPr>
              <a:t>1  0</a:t>
            </a:r>
          </a:p>
          <a:p>
            <a:r>
              <a:rPr lang="en-US" altLang="zh-CN" sz="2800" dirty="0">
                <a:latin typeface="+mj-lt"/>
              </a:rPr>
              <a:t>1  </a:t>
            </a:r>
            <a:r>
              <a:rPr lang="zh-CN" altLang="en-US" sz="2800" dirty="0">
                <a:latin typeface="+mj-lt"/>
              </a:rPr>
              <a:t>1  1</a:t>
            </a:r>
          </a:p>
        </p:txBody>
      </p:sp>
      <mc:AlternateContent xmlns:mc="http://schemas.openxmlformats.org/markup-compatibility/2006" xmlns:a14="http://schemas.microsoft.com/office/drawing/2010/main">
        <mc:Choice Requires="a14">
          <p:sp>
            <p:nvSpPr>
              <p:cNvPr id="20520" name="Text Box 43"/>
              <p:cNvSpPr txBox="1">
                <a:spLocks noChangeArrowheads="1"/>
              </p:cNvSpPr>
              <p:nvPr/>
            </p:nvSpPr>
            <p:spPr bwMode="auto">
              <a:xfrm>
                <a:off x="6223122" y="3499862"/>
                <a:ext cx="2177134" cy="50520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pPr/>
                <a14:m>
                  <m:oMathPara xmlns:m="http://schemas.openxmlformats.org/officeDocument/2006/math">
                    <m:oMathParaPr>
                      <m:jc m:val="centerGroup"/>
                    </m:oMathParaPr>
                    <m:oMath xmlns:m="http://schemas.openxmlformats.org/officeDocument/2006/math">
                      <m:r>
                        <a:rPr lang="en-US" altLang="zh-CN" sz="2400" i="1" dirty="0">
                          <a:latin typeface="Cambria Math"/>
                        </a:rPr>
                        <m:t>𝐸𝑛</m:t>
                      </m:r>
                      <m:r>
                        <a:rPr lang="en-US" altLang="zh-CN" sz="2400" i="1" dirty="0">
                          <a:latin typeface="Cambria Math"/>
                        </a:rPr>
                        <m:t>  </m:t>
                      </m:r>
                      <m:r>
                        <a:rPr lang="en-US" altLang="zh-CN" sz="2400" i="1" dirty="0">
                          <a:latin typeface="Cambria Math"/>
                        </a:rPr>
                        <m:t>𝑆</m:t>
                      </m:r>
                      <m:r>
                        <a:rPr lang="en-US" altLang="zh-CN" sz="2400" i="1" dirty="0">
                          <a:latin typeface="Cambria Math"/>
                        </a:rPr>
                        <m:t>  </m:t>
                      </m:r>
                      <m:r>
                        <a:rPr lang="en-US" altLang="zh-CN" sz="2400" i="1" dirty="0">
                          <a:latin typeface="Cambria Math"/>
                        </a:rPr>
                        <m:t>𝑅</m:t>
                      </m:r>
                      <m:r>
                        <a:rPr lang="en-US" altLang="zh-CN" sz="2400" i="1" dirty="0">
                          <a:latin typeface="Cambria Math"/>
                        </a:rPr>
                        <m:t>    </m:t>
                      </m:r>
                      <m:r>
                        <a:rPr lang="en-US" altLang="zh-CN" sz="2400" i="1" dirty="0">
                          <a:latin typeface="Cambria Math"/>
                        </a:rPr>
                        <m:t>𝑄</m:t>
                      </m:r>
                      <m:r>
                        <a:rPr lang="en-US" altLang="zh-CN" sz="2400" i="1" dirty="0">
                          <a:latin typeface="Cambria Math"/>
                        </a:rPr>
                        <m:t>   </m:t>
                      </m:r>
                      <m:bar>
                        <m:barPr>
                          <m:pos m:val="top"/>
                          <m:ctrlPr>
                            <a:rPr lang="en-US" altLang="zh-CN" sz="2400" i="1">
                              <a:latin typeface="Cambria Math" panose="02040503050406030204" pitchFamily="18" charset="0"/>
                            </a:rPr>
                          </m:ctrlPr>
                        </m:barPr>
                        <m:e>
                          <m:r>
                            <a:rPr lang="en-US" altLang="zh-CN" sz="2400" i="1">
                              <a:latin typeface="Cambria Math"/>
                            </a:rPr>
                            <m:t>𝑄</m:t>
                          </m:r>
                        </m:e>
                      </m:bar>
                    </m:oMath>
                  </m:oMathPara>
                </a14:m>
                <a:endParaRPr lang="en-US" altLang="zh-CN" sz="2400" i="1" dirty="0">
                  <a:latin typeface="+mj-lt"/>
                </a:endParaRPr>
              </a:p>
            </p:txBody>
          </p:sp>
        </mc:Choice>
        <mc:Fallback xmlns="">
          <p:sp>
            <p:nvSpPr>
              <p:cNvPr id="20520" name="Text Box 43"/>
              <p:cNvSpPr txBox="1">
                <a:spLocks noRot="1" noChangeAspect="1" noMove="1" noResize="1" noEditPoints="1" noAdjustHandles="1" noChangeArrowheads="1" noChangeShapeType="1" noTextEdit="1"/>
              </p:cNvSpPr>
              <p:nvPr/>
            </p:nvSpPr>
            <p:spPr bwMode="auto">
              <a:xfrm>
                <a:off x="6223122" y="3499862"/>
                <a:ext cx="2177134" cy="505203"/>
              </a:xfrm>
              <a:prstGeom prst="rect">
                <a:avLst/>
              </a:prstGeom>
              <a:blipFill>
                <a:blip r:embed="rId3"/>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N">
                    <a:noFill/>
                  </a:rPr>
                  <a:t> </a:t>
                </a:r>
              </a:p>
            </p:txBody>
          </p:sp>
        </mc:Fallback>
      </mc:AlternateContent>
      <p:sp>
        <p:nvSpPr>
          <p:cNvPr id="20521" name="Line 44"/>
          <p:cNvSpPr>
            <a:spLocks noChangeShapeType="1"/>
          </p:cNvSpPr>
          <p:nvPr/>
        </p:nvSpPr>
        <p:spPr bwMode="auto">
          <a:xfrm>
            <a:off x="6186264" y="4005064"/>
            <a:ext cx="2286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0522" name="Line 45"/>
          <p:cNvSpPr>
            <a:spLocks noChangeShapeType="1"/>
          </p:cNvSpPr>
          <p:nvPr/>
        </p:nvSpPr>
        <p:spPr bwMode="auto">
          <a:xfrm>
            <a:off x="7514278" y="3632250"/>
            <a:ext cx="21883" cy="253305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96654" name="Text Box 46"/>
          <p:cNvSpPr txBox="1">
            <a:spLocks noChangeArrowheads="1"/>
          </p:cNvSpPr>
          <p:nvPr/>
        </p:nvSpPr>
        <p:spPr bwMode="auto">
          <a:xfrm>
            <a:off x="2135560" y="3140968"/>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endParaRPr lang="zh-CN" altLang="en-US" sz="2800" dirty="0">
              <a:solidFill>
                <a:schemeClr val="hlink"/>
              </a:solidFill>
              <a:latin typeface="+mj-lt"/>
            </a:endParaRPr>
          </a:p>
        </p:txBody>
      </p:sp>
      <p:sp>
        <p:nvSpPr>
          <p:cNvPr id="196655" name="Text Box 47"/>
          <p:cNvSpPr txBox="1">
            <a:spLocks noChangeArrowheads="1"/>
          </p:cNvSpPr>
          <p:nvPr/>
        </p:nvSpPr>
        <p:spPr bwMode="auto">
          <a:xfrm>
            <a:off x="2128192" y="1412776"/>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endParaRPr lang="zh-CN" altLang="en-US" sz="2800" dirty="0">
              <a:solidFill>
                <a:schemeClr val="hlink"/>
              </a:solidFill>
              <a:latin typeface="+mj-lt"/>
            </a:endParaRPr>
          </a:p>
        </p:txBody>
      </p:sp>
      <p:sp>
        <p:nvSpPr>
          <p:cNvPr id="196656" name="Text Box 48"/>
          <p:cNvSpPr txBox="1">
            <a:spLocks noChangeArrowheads="1"/>
          </p:cNvSpPr>
          <p:nvPr/>
        </p:nvSpPr>
        <p:spPr bwMode="auto">
          <a:xfrm>
            <a:off x="7168752" y="1681644"/>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endParaRPr lang="zh-CN" altLang="en-US" sz="2800" dirty="0">
              <a:solidFill>
                <a:schemeClr val="hlink"/>
              </a:solidFill>
              <a:latin typeface="+mj-lt"/>
            </a:endParaRPr>
          </a:p>
        </p:txBody>
      </p:sp>
      <p:sp>
        <p:nvSpPr>
          <p:cNvPr id="196657" name="Text Box 49"/>
          <p:cNvSpPr txBox="1">
            <a:spLocks noChangeArrowheads="1"/>
          </p:cNvSpPr>
          <p:nvPr/>
        </p:nvSpPr>
        <p:spPr bwMode="auto">
          <a:xfrm>
            <a:off x="7176120" y="2852936"/>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endParaRPr lang="zh-CN" altLang="en-US" sz="2800" dirty="0">
              <a:solidFill>
                <a:schemeClr val="hlink"/>
              </a:solidFill>
              <a:latin typeface="+mj-lt"/>
            </a:endParaRPr>
          </a:p>
        </p:txBody>
      </p:sp>
      <p:sp>
        <p:nvSpPr>
          <p:cNvPr id="196658" name="Text Box 50"/>
          <p:cNvSpPr txBox="1">
            <a:spLocks noChangeArrowheads="1"/>
          </p:cNvSpPr>
          <p:nvPr/>
        </p:nvSpPr>
        <p:spPr bwMode="auto">
          <a:xfrm>
            <a:off x="7630616" y="4869160"/>
            <a:ext cx="2209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r>
              <a:rPr lang="zh-CN" altLang="en-US" sz="2800" dirty="0">
                <a:solidFill>
                  <a:schemeClr val="hlink"/>
                </a:solidFill>
                <a:latin typeface="+mj-lt"/>
              </a:rPr>
              <a:t>   </a:t>
            </a:r>
            <a:r>
              <a:rPr lang="en-US" altLang="zh-CN" sz="2800" dirty="0">
                <a:solidFill>
                  <a:schemeClr val="hlink"/>
                </a:solidFill>
                <a:latin typeface="+mj-lt"/>
              </a:rPr>
              <a:t>1</a:t>
            </a:r>
            <a:r>
              <a:rPr lang="zh-CN" altLang="en-US" sz="2800" dirty="0">
                <a:solidFill>
                  <a:schemeClr val="hlink"/>
                </a:solidFill>
                <a:latin typeface="+mj-lt"/>
              </a:rPr>
              <a:t>   </a:t>
            </a:r>
            <a:r>
              <a:rPr lang="en-US" altLang="zh-CN" sz="2800" i="1" dirty="0">
                <a:solidFill>
                  <a:srgbClr val="C00000"/>
                </a:solidFill>
                <a:latin typeface="+mj-lt"/>
              </a:rPr>
              <a:t>Reset</a:t>
            </a:r>
          </a:p>
        </p:txBody>
      </p:sp>
      <p:sp>
        <p:nvSpPr>
          <p:cNvPr id="2" name="Rectangle 1"/>
          <p:cNvSpPr/>
          <p:nvPr/>
        </p:nvSpPr>
        <p:spPr>
          <a:xfrm>
            <a:off x="6795072" y="6300028"/>
            <a:ext cx="1533177" cy="369332"/>
          </a:xfrm>
          <a:prstGeom prst="rect">
            <a:avLst/>
          </a:prstGeom>
        </p:spPr>
        <p:txBody>
          <a:bodyPr wrap="none">
            <a:spAutoFit/>
          </a:bodyPr>
          <a:lstStyle/>
          <a:p>
            <a:r>
              <a:rPr lang="en-IN" dirty="0"/>
              <a:t>Function table</a:t>
            </a:r>
          </a:p>
        </p:txBody>
      </p:sp>
      <p:sp>
        <p:nvSpPr>
          <p:cNvPr id="17" name="Rectangle 16"/>
          <p:cNvSpPr/>
          <p:nvPr/>
        </p:nvSpPr>
        <p:spPr>
          <a:xfrm>
            <a:off x="3894362" y="3789040"/>
            <a:ext cx="1481559" cy="369332"/>
          </a:xfrm>
          <a:prstGeom prst="rect">
            <a:avLst/>
          </a:prstGeom>
        </p:spPr>
        <p:txBody>
          <a:bodyPr wrap="none">
            <a:spAutoFit/>
          </a:bodyPr>
          <a:lstStyle/>
          <a:p>
            <a:r>
              <a:rPr lang="en-IN" dirty="0"/>
              <a:t>Logic diagram</a:t>
            </a:r>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4012" y="1556793"/>
            <a:ext cx="4610100" cy="2009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464153" y="3212976"/>
            <a:ext cx="1548373" cy="400110"/>
          </a:xfrm>
          <a:prstGeom prst="rect">
            <a:avLst/>
          </a:prstGeom>
        </p:spPr>
        <p:txBody>
          <a:bodyPr wrap="none">
            <a:spAutoFit/>
          </a:bodyPr>
          <a:lstStyle/>
          <a:p>
            <a:r>
              <a:rPr lang="en-IN" sz="2000" dirty="0">
                <a:latin typeface="Cambria Math" pitchFamily="18" charset="0"/>
                <a:ea typeface="Cambria Math" pitchFamily="18" charset="0"/>
              </a:rPr>
              <a:t>Next state of</a:t>
            </a:r>
          </a:p>
        </p:txBody>
      </p:sp>
      <p:sp>
        <p:nvSpPr>
          <p:cNvPr id="19" name="Text Box 47"/>
          <p:cNvSpPr txBox="1">
            <a:spLocks noChangeArrowheads="1"/>
          </p:cNvSpPr>
          <p:nvPr/>
        </p:nvSpPr>
        <p:spPr bwMode="auto">
          <a:xfrm>
            <a:off x="2128192" y="2257708"/>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rgbClr val="C00000"/>
                </a:solidFill>
                <a:latin typeface="+mj-lt"/>
              </a:rPr>
              <a:t>1</a:t>
            </a:r>
            <a:endParaRPr lang="zh-CN" altLang="en-US" sz="2800" dirty="0">
              <a:solidFill>
                <a:srgbClr val="C00000"/>
              </a:solidFill>
              <a:latin typeface="+mj-lt"/>
            </a:endParaRPr>
          </a:p>
        </p:txBody>
      </p:sp>
      <p:sp>
        <p:nvSpPr>
          <p:cNvPr id="20" name="Text Box 48"/>
          <p:cNvSpPr txBox="1">
            <a:spLocks noChangeArrowheads="1"/>
          </p:cNvSpPr>
          <p:nvPr/>
        </p:nvSpPr>
        <p:spPr bwMode="auto">
          <a:xfrm>
            <a:off x="4439816" y="1340768"/>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accent3">
                    <a:lumMod val="60000"/>
                    <a:lumOff val="40000"/>
                  </a:schemeClr>
                </a:solidFill>
                <a:latin typeface="+mj-lt"/>
              </a:rPr>
              <a:t>0</a:t>
            </a:r>
            <a:endParaRPr lang="zh-CN" altLang="en-US" sz="2800" dirty="0">
              <a:solidFill>
                <a:schemeClr val="accent3">
                  <a:lumMod val="60000"/>
                  <a:lumOff val="40000"/>
                </a:schemeClr>
              </a:solidFill>
              <a:latin typeface="+mj-lt"/>
            </a:endParaRPr>
          </a:p>
        </p:txBody>
      </p:sp>
      <p:sp>
        <p:nvSpPr>
          <p:cNvPr id="21" name="Text Box 48"/>
          <p:cNvSpPr txBox="1">
            <a:spLocks noChangeArrowheads="1"/>
          </p:cNvSpPr>
          <p:nvPr/>
        </p:nvSpPr>
        <p:spPr bwMode="auto">
          <a:xfrm>
            <a:off x="4439816" y="3193812"/>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accent3">
                    <a:lumMod val="60000"/>
                    <a:lumOff val="40000"/>
                  </a:schemeClr>
                </a:solidFill>
                <a:latin typeface="+mj-lt"/>
              </a:rPr>
              <a:t>0</a:t>
            </a:r>
            <a:endParaRPr lang="zh-CN" altLang="en-US" sz="2800" dirty="0">
              <a:solidFill>
                <a:schemeClr val="accent3">
                  <a:lumMod val="60000"/>
                  <a:lumOff val="40000"/>
                </a:schemeClr>
              </a:solidFill>
              <a:latin typeface="+mj-lt"/>
            </a:endParaRPr>
          </a:p>
        </p:txBody>
      </p:sp>
      <p:pic>
        <p:nvPicPr>
          <p:cNvPr id="205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7430" y="4581129"/>
            <a:ext cx="2838450" cy="164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Text Box 50"/>
          <p:cNvSpPr txBox="1">
            <a:spLocks noChangeArrowheads="1"/>
          </p:cNvSpPr>
          <p:nvPr/>
        </p:nvSpPr>
        <p:spPr bwMode="auto">
          <a:xfrm>
            <a:off x="7536160" y="4005064"/>
            <a:ext cx="28803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i="1" dirty="0">
                <a:solidFill>
                  <a:schemeClr val="hlink"/>
                </a:solidFill>
                <a:latin typeface="+mj-lt"/>
              </a:rPr>
              <a:t>Q</a:t>
            </a:r>
            <a:r>
              <a:rPr lang="zh-CN" altLang="en-US" sz="2800" i="1" dirty="0">
                <a:solidFill>
                  <a:schemeClr val="hlink"/>
                </a:solidFill>
                <a:latin typeface="+mj-lt"/>
              </a:rPr>
              <a:t>   </a:t>
            </a:r>
            <a:r>
              <a:rPr lang="en-US" altLang="zh-CN" sz="2800" i="1" dirty="0">
                <a:solidFill>
                  <a:schemeClr val="hlink"/>
                </a:solidFill>
                <a:latin typeface="+mj-lt"/>
              </a:rPr>
              <a:t>Q’</a:t>
            </a:r>
            <a:r>
              <a:rPr lang="zh-CN" altLang="en-US" sz="2800" i="1" dirty="0">
                <a:solidFill>
                  <a:schemeClr val="hlink"/>
                </a:solidFill>
                <a:latin typeface="+mj-lt"/>
              </a:rPr>
              <a:t>  </a:t>
            </a:r>
            <a:r>
              <a:rPr lang="en-US" altLang="zh-CN" sz="2800" i="1" dirty="0">
                <a:solidFill>
                  <a:srgbClr val="C00000"/>
                </a:solidFill>
                <a:latin typeface="+mj-lt"/>
              </a:rPr>
              <a:t>No change</a:t>
            </a:r>
          </a:p>
        </p:txBody>
      </p:sp>
      <p:sp>
        <p:nvSpPr>
          <p:cNvPr id="23" name="Text Box 50"/>
          <p:cNvSpPr txBox="1">
            <a:spLocks noChangeArrowheads="1"/>
          </p:cNvSpPr>
          <p:nvPr/>
        </p:nvSpPr>
        <p:spPr bwMode="auto">
          <a:xfrm>
            <a:off x="7536160" y="4437112"/>
            <a:ext cx="28803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i="1" dirty="0">
                <a:solidFill>
                  <a:schemeClr val="hlink"/>
                </a:solidFill>
                <a:latin typeface="+mj-lt"/>
              </a:rPr>
              <a:t>Q</a:t>
            </a:r>
            <a:r>
              <a:rPr lang="zh-CN" altLang="en-US" sz="2800" i="1" dirty="0">
                <a:solidFill>
                  <a:schemeClr val="hlink"/>
                </a:solidFill>
                <a:latin typeface="+mj-lt"/>
              </a:rPr>
              <a:t>   </a:t>
            </a:r>
            <a:r>
              <a:rPr lang="en-US" altLang="zh-CN" sz="2800" i="1" dirty="0">
                <a:solidFill>
                  <a:schemeClr val="hlink"/>
                </a:solidFill>
                <a:latin typeface="+mj-lt"/>
              </a:rPr>
              <a:t>Q’</a:t>
            </a:r>
            <a:r>
              <a:rPr lang="zh-CN" altLang="en-US" sz="2800" i="1" dirty="0">
                <a:solidFill>
                  <a:schemeClr val="hlink"/>
                </a:solidFill>
                <a:latin typeface="+mj-lt"/>
              </a:rPr>
              <a:t>  </a:t>
            </a:r>
            <a:r>
              <a:rPr lang="en-US" altLang="zh-CN" sz="2800" i="1" dirty="0">
                <a:solidFill>
                  <a:srgbClr val="C00000"/>
                </a:solidFill>
                <a:latin typeface="+mj-lt"/>
              </a:rPr>
              <a:t>No change</a:t>
            </a:r>
          </a:p>
        </p:txBody>
      </p:sp>
      <p:sp>
        <p:nvSpPr>
          <p:cNvPr id="25" name="Text Box 50"/>
          <p:cNvSpPr txBox="1">
            <a:spLocks noChangeArrowheads="1"/>
          </p:cNvSpPr>
          <p:nvPr/>
        </p:nvSpPr>
        <p:spPr bwMode="auto">
          <a:xfrm>
            <a:off x="7608168" y="5282044"/>
            <a:ext cx="2209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r>
              <a:rPr lang="zh-CN" altLang="en-US" sz="2800" dirty="0">
                <a:solidFill>
                  <a:schemeClr val="hlink"/>
                </a:solidFill>
                <a:latin typeface="+mj-lt"/>
              </a:rPr>
              <a:t>   </a:t>
            </a:r>
            <a:r>
              <a:rPr lang="en-US" altLang="zh-CN" sz="2800" dirty="0">
                <a:solidFill>
                  <a:schemeClr val="hlink"/>
                </a:solidFill>
                <a:latin typeface="+mj-lt"/>
              </a:rPr>
              <a:t>0</a:t>
            </a:r>
            <a:r>
              <a:rPr lang="zh-CN" altLang="en-US" sz="2800" dirty="0">
                <a:solidFill>
                  <a:schemeClr val="hlink"/>
                </a:solidFill>
                <a:latin typeface="+mj-lt"/>
              </a:rPr>
              <a:t>   </a:t>
            </a:r>
            <a:r>
              <a:rPr lang="en-US" altLang="zh-CN" sz="2800" i="1" dirty="0">
                <a:solidFill>
                  <a:srgbClr val="C00000"/>
                </a:solidFill>
                <a:latin typeface="+mj-lt"/>
              </a:rPr>
              <a:t>Set</a:t>
            </a:r>
          </a:p>
        </p:txBody>
      </p:sp>
      <p:sp>
        <p:nvSpPr>
          <p:cNvPr id="24" name="Text Box 50"/>
          <p:cNvSpPr txBox="1">
            <a:spLocks noChangeArrowheads="1"/>
          </p:cNvSpPr>
          <p:nvPr/>
        </p:nvSpPr>
        <p:spPr bwMode="auto">
          <a:xfrm>
            <a:off x="7608168" y="5714092"/>
            <a:ext cx="324036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r>
              <a:rPr lang="zh-CN" altLang="en-US" sz="2800" dirty="0">
                <a:solidFill>
                  <a:schemeClr val="hlink"/>
                </a:solidFill>
                <a:latin typeface="+mj-lt"/>
              </a:rPr>
              <a:t>   </a:t>
            </a:r>
            <a:r>
              <a:rPr lang="en-US" altLang="zh-CN" sz="2800" dirty="0">
                <a:solidFill>
                  <a:schemeClr val="hlink"/>
                </a:solidFill>
                <a:latin typeface="+mj-lt"/>
              </a:rPr>
              <a:t>1</a:t>
            </a:r>
            <a:r>
              <a:rPr lang="zh-CN" altLang="en-US" sz="2800" dirty="0">
                <a:solidFill>
                  <a:schemeClr val="hlink"/>
                </a:solidFill>
                <a:latin typeface="+mj-lt"/>
              </a:rPr>
              <a:t>   </a:t>
            </a:r>
            <a:r>
              <a:rPr lang="en-IN" sz="2800" i="1" dirty="0">
                <a:solidFill>
                  <a:srgbClr val="C00000"/>
                </a:solidFill>
              </a:rPr>
              <a:t>Indeterminate</a:t>
            </a:r>
            <a:endParaRPr lang="en-US" altLang="zh-CN" sz="2800" i="1" dirty="0">
              <a:solidFill>
                <a:srgbClr val="C00000"/>
              </a:solidFill>
            </a:endParaRPr>
          </a:p>
        </p:txBody>
      </p:sp>
    </p:spTree>
    <p:extLst>
      <p:ext uri="{BB962C8B-B14F-4D97-AF65-F5344CB8AC3E}">
        <p14:creationId xmlns:p14="http://schemas.microsoft.com/office/powerpoint/2010/main" val="85355296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66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665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665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665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54" grpId="0"/>
      <p:bldP spid="196655" grpId="0"/>
      <p:bldP spid="196656" grpId="0"/>
      <p:bldP spid="196657" grpId="0"/>
      <p:bldP spid="20" grpId="0"/>
      <p:bldP spid="21" grpId="0"/>
      <p:bldP spid="2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1464" y="1124744"/>
            <a:ext cx="2952328"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48176" y="822365"/>
            <a:ext cx="4848225" cy="2505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11625" y="3212976"/>
            <a:ext cx="3209925"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4738898" y="5733257"/>
            <a:ext cx="3559949" cy="461665"/>
          </a:xfrm>
          <a:prstGeom prst="rect">
            <a:avLst/>
          </a:prstGeom>
        </p:spPr>
        <p:txBody>
          <a:bodyPr wrap="none">
            <a:spAutoFit/>
          </a:bodyPr>
          <a:lstStyle/>
          <a:p>
            <a:r>
              <a:rPr lang="en-US" sz="2400" b="1" i="1" dirty="0">
                <a:solidFill>
                  <a:srgbClr val="002060"/>
                </a:solidFill>
              </a:rPr>
              <a:t>SR </a:t>
            </a:r>
            <a:r>
              <a:rPr lang="en-US" sz="2400" b="1" dirty="0">
                <a:solidFill>
                  <a:srgbClr val="002060"/>
                </a:solidFill>
              </a:rPr>
              <a:t>latch with control input</a:t>
            </a:r>
            <a:endParaRPr lang="en-IN" sz="2400" b="1" dirty="0">
              <a:solidFill>
                <a:srgbClr val="002060"/>
              </a:solidFill>
            </a:endParaRPr>
          </a:p>
        </p:txBody>
      </p:sp>
    </p:spTree>
    <p:extLst>
      <p:ext uri="{BB962C8B-B14F-4D97-AF65-F5344CB8AC3E}">
        <p14:creationId xmlns:p14="http://schemas.microsoft.com/office/powerpoint/2010/main" val="2568765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barn(inVertical)">
                                      <p:cBhvr>
                                        <p:cTn id="7" dur="500"/>
                                        <p:tgtEl>
                                          <p:spTgt spid="205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052"/>
                                        </p:tgtEl>
                                        <p:attrNameLst>
                                          <p:attrName>style.visibility</p:attrName>
                                        </p:attrNameLst>
                                      </p:cBhvr>
                                      <p:to>
                                        <p:strVal val="visible"/>
                                      </p:to>
                                    </p:set>
                                    <p:animEffect transition="in" filter="barn(inVertical)">
                                      <p:cBhvr>
                                        <p:cTn id="12" dur="500"/>
                                        <p:tgtEl>
                                          <p:spTgt spid="205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2053"/>
                                        </p:tgtEl>
                                        <p:attrNameLst>
                                          <p:attrName>style.visibility</p:attrName>
                                        </p:attrNameLst>
                                      </p:cBhvr>
                                      <p:to>
                                        <p:strVal val="visible"/>
                                      </p:to>
                                    </p:set>
                                    <p:animEffect transition="in" filter="barn(inVertical)">
                                      <p:cBhvr>
                                        <p:cTn id="17" dur="500"/>
                                        <p:tgtEl>
                                          <p:spTgt spid="2053"/>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i="1" dirty="0">
                <a:solidFill>
                  <a:srgbClr val="0070C0"/>
                </a:solidFill>
              </a:rPr>
              <a:t>D </a:t>
            </a:r>
            <a:r>
              <a:rPr lang="en-IN" dirty="0">
                <a:solidFill>
                  <a:srgbClr val="0070C0"/>
                </a:solidFill>
              </a:rPr>
              <a:t>Latch (Transparent Latch)</a:t>
            </a:r>
          </a:p>
        </p:txBody>
      </p:sp>
      <p:sp>
        <p:nvSpPr>
          <p:cNvPr id="3" name="Content Placeholder 2"/>
          <p:cNvSpPr>
            <a:spLocks noGrp="1"/>
          </p:cNvSpPr>
          <p:nvPr>
            <p:ph idx="1"/>
          </p:nvPr>
        </p:nvSpPr>
        <p:spPr/>
        <p:txBody>
          <a:bodyPr>
            <a:normAutofit/>
          </a:bodyPr>
          <a:lstStyle/>
          <a:p>
            <a:pPr algn="just"/>
            <a:r>
              <a:rPr lang="en-US" sz="3000" dirty="0"/>
              <a:t>One way to eliminate the undesirable condition of the indeterminate state in the </a:t>
            </a:r>
            <a:r>
              <a:rPr lang="en-US" sz="3000" i="1" dirty="0"/>
              <a:t>SR </a:t>
            </a:r>
            <a:r>
              <a:rPr lang="en-US" sz="3000" dirty="0"/>
              <a:t>latch is to ensure that inputs </a:t>
            </a:r>
            <a:r>
              <a:rPr lang="en-US" sz="3000" i="1" dirty="0"/>
              <a:t>S </a:t>
            </a:r>
            <a:r>
              <a:rPr lang="en-US" sz="3000" dirty="0"/>
              <a:t>and </a:t>
            </a:r>
            <a:r>
              <a:rPr lang="en-US" sz="3000" i="1" dirty="0"/>
              <a:t>R </a:t>
            </a:r>
            <a:r>
              <a:rPr lang="en-US" sz="3000" dirty="0"/>
              <a:t>are never equal to 1 at the same time.</a:t>
            </a:r>
          </a:p>
          <a:p>
            <a:pPr algn="just"/>
            <a:r>
              <a:rPr lang="en-US" sz="3000" dirty="0"/>
              <a:t>This is done in the </a:t>
            </a:r>
            <a:r>
              <a:rPr lang="en-US" sz="3000" i="1" dirty="0"/>
              <a:t>D </a:t>
            </a:r>
            <a:r>
              <a:rPr lang="en-US" sz="3000" dirty="0"/>
              <a:t>latch, shown in Fig.</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3725" y="4251920"/>
            <a:ext cx="5924550"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35396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3074"/>
                                        </p:tgtEl>
                                        <p:attrNameLst>
                                          <p:attrName>style.visibility</p:attrName>
                                        </p:attrNameLst>
                                      </p:cBhvr>
                                      <p:to>
                                        <p:strVal val="visible"/>
                                      </p:to>
                                    </p:set>
                                    <p:animEffect transition="in" filter="barn(inVertical)">
                                      <p:cBhvr>
                                        <p:cTn id="24" dur="5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836713"/>
            <a:ext cx="8229600" cy="5289451"/>
          </a:xfrm>
        </p:spPr>
        <p:txBody>
          <a:bodyPr>
            <a:normAutofit fontScale="85000" lnSpcReduction="20000"/>
          </a:bodyPr>
          <a:lstStyle/>
          <a:p>
            <a:pPr algn="just"/>
            <a:r>
              <a:rPr lang="en-US" sz="3500" dirty="0"/>
              <a:t>This latch has only two inputs: </a:t>
            </a:r>
            <a:r>
              <a:rPr lang="en-US" sz="3500" i="1" dirty="0"/>
              <a:t>D </a:t>
            </a:r>
            <a:r>
              <a:rPr lang="en-US" sz="3500" dirty="0"/>
              <a:t>(data) and </a:t>
            </a:r>
            <a:r>
              <a:rPr lang="en-US" sz="3500" i="1" dirty="0"/>
              <a:t>En </a:t>
            </a:r>
            <a:r>
              <a:rPr lang="en-US" sz="3500" dirty="0"/>
              <a:t>(enable).</a:t>
            </a:r>
          </a:p>
          <a:p>
            <a:pPr algn="just"/>
            <a:r>
              <a:rPr lang="en-US" sz="3500" dirty="0"/>
              <a:t>The </a:t>
            </a:r>
            <a:r>
              <a:rPr lang="en-US" sz="3500" i="1" dirty="0"/>
              <a:t>D </a:t>
            </a:r>
            <a:r>
              <a:rPr lang="en-US" sz="3500" dirty="0"/>
              <a:t>input goes directly to the </a:t>
            </a:r>
            <a:r>
              <a:rPr lang="en-US" sz="3500" i="1" dirty="0"/>
              <a:t>S </a:t>
            </a:r>
            <a:r>
              <a:rPr lang="en-US" sz="3500" dirty="0"/>
              <a:t>input, and its complement is applied to the </a:t>
            </a:r>
            <a:r>
              <a:rPr lang="en-US" sz="3500" i="1" dirty="0"/>
              <a:t>R </a:t>
            </a:r>
            <a:r>
              <a:rPr lang="en-US" sz="3500" dirty="0"/>
              <a:t>input.</a:t>
            </a:r>
          </a:p>
          <a:p>
            <a:pPr algn="just"/>
            <a:r>
              <a:rPr lang="en-US" sz="3500" dirty="0"/>
              <a:t>As long as the enable input is at 0, the cross-coupled </a:t>
            </a:r>
            <a:r>
              <a:rPr lang="en-US" sz="3500" i="1" dirty="0"/>
              <a:t>SR </a:t>
            </a:r>
            <a:r>
              <a:rPr lang="en-US" sz="3500" dirty="0"/>
              <a:t>latch has both inputs at the 1 level and the circuit cannot change state regardless of the value of </a:t>
            </a:r>
            <a:r>
              <a:rPr lang="en-US" sz="3500" i="1" dirty="0"/>
              <a:t>D </a:t>
            </a:r>
            <a:r>
              <a:rPr lang="en-US" sz="3500" dirty="0"/>
              <a:t>.</a:t>
            </a:r>
          </a:p>
          <a:p>
            <a:pPr algn="just"/>
            <a:r>
              <a:rPr lang="en-US" sz="3500" dirty="0"/>
              <a:t>The </a:t>
            </a:r>
            <a:r>
              <a:rPr lang="en-US" sz="3500" i="1" dirty="0"/>
              <a:t>D </a:t>
            </a:r>
            <a:r>
              <a:rPr lang="en-US" sz="3500" dirty="0"/>
              <a:t>input is sampled when </a:t>
            </a:r>
            <a:r>
              <a:rPr lang="en-US" sz="3500" i="1" dirty="0">
                <a:solidFill>
                  <a:srgbClr val="002060"/>
                </a:solidFill>
              </a:rPr>
              <a:t>En </a:t>
            </a:r>
            <a:r>
              <a:rPr lang="en-US" sz="3500" dirty="0">
                <a:solidFill>
                  <a:srgbClr val="002060"/>
                </a:solidFill>
              </a:rPr>
              <a:t>= 1</a:t>
            </a:r>
            <a:r>
              <a:rPr lang="en-US" sz="3500" dirty="0"/>
              <a:t>.</a:t>
            </a:r>
          </a:p>
          <a:p>
            <a:pPr lvl="1" algn="just"/>
            <a:r>
              <a:rPr lang="en-US" sz="3300" dirty="0"/>
              <a:t>If </a:t>
            </a:r>
            <a:r>
              <a:rPr lang="en-US" sz="3300" i="1" dirty="0">
                <a:solidFill>
                  <a:srgbClr val="002060"/>
                </a:solidFill>
              </a:rPr>
              <a:t>D </a:t>
            </a:r>
            <a:r>
              <a:rPr lang="en-US" sz="3300" dirty="0">
                <a:solidFill>
                  <a:srgbClr val="002060"/>
                </a:solidFill>
              </a:rPr>
              <a:t>= 1</a:t>
            </a:r>
            <a:r>
              <a:rPr lang="en-US" sz="3300" dirty="0"/>
              <a:t>, the </a:t>
            </a:r>
            <a:r>
              <a:rPr lang="en-US" sz="3300" i="1" dirty="0"/>
              <a:t>Q </a:t>
            </a:r>
            <a:r>
              <a:rPr lang="en-US" sz="3300" dirty="0"/>
              <a:t>output goes to 1, placing the circuit in the </a:t>
            </a:r>
            <a:r>
              <a:rPr lang="en-US" sz="3300" dirty="0">
                <a:solidFill>
                  <a:srgbClr val="002060"/>
                </a:solidFill>
              </a:rPr>
              <a:t>set state</a:t>
            </a:r>
            <a:r>
              <a:rPr lang="en-US" sz="3300" dirty="0"/>
              <a:t>.</a:t>
            </a:r>
          </a:p>
          <a:p>
            <a:pPr lvl="1" algn="just"/>
            <a:r>
              <a:rPr lang="en-US" sz="3300" dirty="0"/>
              <a:t>If </a:t>
            </a:r>
            <a:r>
              <a:rPr lang="en-US" sz="3300" i="1" dirty="0">
                <a:solidFill>
                  <a:srgbClr val="002060"/>
                </a:solidFill>
              </a:rPr>
              <a:t>D </a:t>
            </a:r>
            <a:r>
              <a:rPr lang="en-US" sz="3300" dirty="0">
                <a:solidFill>
                  <a:srgbClr val="002060"/>
                </a:solidFill>
              </a:rPr>
              <a:t>= 0</a:t>
            </a:r>
            <a:r>
              <a:rPr lang="en-US" sz="3300" dirty="0"/>
              <a:t>, output </a:t>
            </a:r>
            <a:r>
              <a:rPr lang="en-US" sz="3300" i="1" dirty="0"/>
              <a:t>Q </a:t>
            </a:r>
            <a:r>
              <a:rPr lang="en-US" sz="3300" dirty="0"/>
              <a:t>goes to 0, placing the circuit in the </a:t>
            </a:r>
            <a:r>
              <a:rPr lang="en-US" sz="3300" dirty="0">
                <a:solidFill>
                  <a:srgbClr val="002060"/>
                </a:solidFill>
              </a:rPr>
              <a:t>reset </a:t>
            </a:r>
            <a:r>
              <a:rPr lang="en-IN" sz="3300" dirty="0">
                <a:solidFill>
                  <a:srgbClr val="002060"/>
                </a:solidFill>
              </a:rPr>
              <a:t>state</a:t>
            </a:r>
            <a:r>
              <a:rPr lang="en-IN" sz="3300" dirty="0"/>
              <a:t>.</a:t>
            </a:r>
          </a:p>
          <a:p>
            <a:pPr marL="0" indent="0">
              <a:buNone/>
            </a:pPr>
            <a:endParaRPr lang="en-IN" dirty="0"/>
          </a:p>
        </p:txBody>
      </p:sp>
    </p:spTree>
    <p:extLst>
      <p:ext uri="{BB962C8B-B14F-4D97-AF65-F5344CB8AC3E}">
        <p14:creationId xmlns:p14="http://schemas.microsoft.com/office/powerpoint/2010/main" val="2100238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rrowheads="1"/>
          </p:cNvSpPr>
          <p:nvPr>
            <p:ph type="title"/>
          </p:nvPr>
        </p:nvSpPr>
        <p:spPr/>
        <p:txBody>
          <a:bodyPr/>
          <a:lstStyle/>
          <a:p>
            <a:r>
              <a:rPr lang="en-IN" i="1" dirty="0">
                <a:solidFill>
                  <a:srgbClr val="0070C0"/>
                </a:solidFill>
              </a:rPr>
              <a:t>D </a:t>
            </a:r>
            <a:r>
              <a:rPr lang="en-IN" dirty="0">
                <a:solidFill>
                  <a:srgbClr val="0070C0"/>
                </a:solidFill>
              </a:rPr>
              <a:t>Latch</a:t>
            </a:r>
            <a:endParaRPr lang="en-US" altLang="zh-CN" dirty="0">
              <a:solidFill>
                <a:srgbClr val="002060"/>
              </a:solidFill>
            </a:endParaRPr>
          </a:p>
        </p:txBody>
      </p:sp>
      <p:sp>
        <p:nvSpPr>
          <p:cNvPr id="20487" name="Line 4"/>
          <p:cNvSpPr>
            <a:spLocks noChangeShapeType="1"/>
          </p:cNvSpPr>
          <p:nvPr/>
        </p:nvSpPr>
        <p:spPr bwMode="auto">
          <a:xfrm>
            <a:off x="4400550" y="4232275"/>
            <a:ext cx="1588"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20519" name="Text Box 42"/>
          <p:cNvSpPr txBox="1">
            <a:spLocks noChangeArrowheads="1"/>
          </p:cNvSpPr>
          <p:nvPr/>
        </p:nvSpPr>
        <p:spPr bwMode="auto">
          <a:xfrm>
            <a:off x="6678488" y="4564286"/>
            <a:ext cx="785665"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latin typeface="+mj-lt"/>
              </a:rPr>
              <a:t>0  X</a:t>
            </a:r>
          </a:p>
          <a:p>
            <a:r>
              <a:rPr lang="en-US" altLang="zh-CN" sz="2800" dirty="0">
                <a:latin typeface="+mj-lt"/>
              </a:rPr>
              <a:t>1  0</a:t>
            </a:r>
          </a:p>
          <a:p>
            <a:r>
              <a:rPr lang="en-US" altLang="zh-CN" sz="2800" dirty="0">
                <a:latin typeface="+mj-lt"/>
              </a:rPr>
              <a:t>1  1</a:t>
            </a:r>
            <a:endParaRPr lang="zh-CN" altLang="en-US" sz="2800" dirty="0">
              <a:latin typeface="+mj-lt"/>
            </a:endParaRPr>
          </a:p>
        </p:txBody>
      </p:sp>
      <mc:AlternateContent xmlns:mc="http://schemas.openxmlformats.org/markup-compatibility/2006" xmlns:a14="http://schemas.microsoft.com/office/drawing/2010/main">
        <mc:Choice Requires="a14">
          <p:sp>
            <p:nvSpPr>
              <p:cNvPr id="20520" name="Text Box 43"/>
              <p:cNvSpPr txBox="1">
                <a:spLocks noChangeArrowheads="1"/>
              </p:cNvSpPr>
              <p:nvPr/>
            </p:nvSpPr>
            <p:spPr bwMode="auto">
              <a:xfrm>
                <a:off x="6528049" y="4003918"/>
                <a:ext cx="1957907" cy="50520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pPr/>
                <a14:m>
                  <m:oMathPara xmlns:m="http://schemas.openxmlformats.org/officeDocument/2006/math">
                    <m:oMathParaPr>
                      <m:jc m:val="centerGroup"/>
                    </m:oMathParaPr>
                    <m:oMath xmlns:m="http://schemas.openxmlformats.org/officeDocument/2006/math">
                      <m:r>
                        <a:rPr lang="en-US" altLang="zh-CN" sz="2400" i="1" dirty="0">
                          <a:latin typeface="Cambria Math"/>
                        </a:rPr>
                        <m:t>𝐸𝑛</m:t>
                      </m:r>
                      <m:r>
                        <a:rPr lang="en-US" altLang="zh-CN" sz="2400" i="1" dirty="0">
                          <a:latin typeface="Cambria Math"/>
                        </a:rPr>
                        <m:t>  </m:t>
                      </m:r>
                      <m:r>
                        <a:rPr lang="en-US" altLang="zh-CN" sz="2400" i="1" dirty="0">
                          <a:latin typeface="Cambria Math"/>
                        </a:rPr>
                        <m:t>𝐷</m:t>
                      </m:r>
                      <m:r>
                        <a:rPr lang="en-US" altLang="zh-CN" sz="2400" i="1" dirty="0">
                          <a:latin typeface="Cambria Math"/>
                        </a:rPr>
                        <m:t>     </m:t>
                      </m:r>
                      <m:r>
                        <a:rPr lang="en-US" altLang="zh-CN" sz="2400" i="1" dirty="0">
                          <a:latin typeface="Cambria Math"/>
                        </a:rPr>
                        <m:t>𝑄</m:t>
                      </m:r>
                      <m:r>
                        <a:rPr lang="en-US" altLang="zh-CN" sz="2400" i="1" dirty="0">
                          <a:latin typeface="Cambria Math"/>
                        </a:rPr>
                        <m:t>   </m:t>
                      </m:r>
                      <m:bar>
                        <m:barPr>
                          <m:pos m:val="top"/>
                          <m:ctrlPr>
                            <a:rPr lang="en-US" altLang="zh-CN" sz="2400" i="1">
                              <a:latin typeface="Cambria Math" panose="02040503050406030204" pitchFamily="18" charset="0"/>
                            </a:rPr>
                          </m:ctrlPr>
                        </m:barPr>
                        <m:e>
                          <m:r>
                            <a:rPr lang="en-US" altLang="zh-CN" sz="2400" i="1">
                              <a:latin typeface="Cambria Math"/>
                            </a:rPr>
                            <m:t>𝑄</m:t>
                          </m:r>
                        </m:e>
                      </m:bar>
                    </m:oMath>
                  </m:oMathPara>
                </a14:m>
                <a:endParaRPr lang="en-US" altLang="zh-CN" sz="2400" i="1" dirty="0">
                  <a:latin typeface="+mj-lt"/>
                </a:endParaRPr>
              </a:p>
            </p:txBody>
          </p:sp>
        </mc:Choice>
        <mc:Fallback xmlns="">
          <p:sp>
            <p:nvSpPr>
              <p:cNvPr id="20520" name="Text Box 43"/>
              <p:cNvSpPr txBox="1">
                <a:spLocks noRot="1" noChangeAspect="1" noMove="1" noResize="1" noEditPoints="1" noAdjustHandles="1" noChangeArrowheads="1" noChangeShapeType="1" noTextEdit="1"/>
              </p:cNvSpPr>
              <p:nvPr/>
            </p:nvSpPr>
            <p:spPr bwMode="auto">
              <a:xfrm>
                <a:off x="6528049" y="4003918"/>
                <a:ext cx="1957907" cy="505203"/>
              </a:xfrm>
              <a:prstGeom prst="rect">
                <a:avLst/>
              </a:prstGeom>
              <a:blipFill>
                <a:blip r:embed="rId3"/>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N">
                    <a:noFill/>
                  </a:rPr>
                  <a:t> </a:t>
                </a:r>
              </a:p>
            </p:txBody>
          </p:sp>
        </mc:Fallback>
      </mc:AlternateContent>
      <p:sp>
        <p:nvSpPr>
          <p:cNvPr id="20521" name="Line 44"/>
          <p:cNvSpPr>
            <a:spLocks noChangeShapeType="1"/>
          </p:cNvSpPr>
          <p:nvPr/>
        </p:nvSpPr>
        <p:spPr bwMode="auto">
          <a:xfrm>
            <a:off x="6672064" y="4509120"/>
            <a:ext cx="192596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0522" name="Line 45"/>
          <p:cNvSpPr>
            <a:spLocks noChangeShapeType="1"/>
          </p:cNvSpPr>
          <p:nvPr/>
        </p:nvSpPr>
        <p:spPr bwMode="auto">
          <a:xfrm>
            <a:off x="7525218" y="3933057"/>
            <a:ext cx="10942" cy="188498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 name="Rectangle 1"/>
          <p:cNvSpPr/>
          <p:nvPr/>
        </p:nvSpPr>
        <p:spPr>
          <a:xfrm>
            <a:off x="6795072" y="5939988"/>
            <a:ext cx="1533177" cy="369332"/>
          </a:xfrm>
          <a:prstGeom prst="rect">
            <a:avLst/>
          </a:prstGeom>
        </p:spPr>
        <p:txBody>
          <a:bodyPr wrap="none">
            <a:spAutoFit/>
          </a:bodyPr>
          <a:lstStyle/>
          <a:p>
            <a:r>
              <a:rPr lang="en-IN" dirty="0"/>
              <a:t>Function table</a:t>
            </a:r>
          </a:p>
        </p:txBody>
      </p:sp>
      <p:sp>
        <p:nvSpPr>
          <p:cNvPr id="17" name="Rectangle 16"/>
          <p:cNvSpPr/>
          <p:nvPr/>
        </p:nvSpPr>
        <p:spPr>
          <a:xfrm>
            <a:off x="4902474" y="3851756"/>
            <a:ext cx="1481559" cy="369332"/>
          </a:xfrm>
          <a:prstGeom prst="rect">
            <a:avLst/>
          </a:prstGeom>
        </p:spPr>
        <p:txBody>
          <a:bodyPr wrap="none">
            <a:spAutoFit/>
          </a:bodyPr>
          <a:lstStyle/>
          <a:p>
            <a:r>
              <a:rPr lang="en-IN" dirty="0"/>
              <a:t>Logic diagram</a:t>
            </a:r>
          </a:p>
        </p:txBody>
      </p:sp>
      <p:sp>
        <p:nvSpPr>
          <p:cNvPr id="3" name="Rectangle 2"/>
          <p:cNvSpPr/>
          <p:nvPr/>
        </p:nvSpPr>
        <p:spPr>
          <a:xfrm>
            <a:off x="7536161" y="3717032"/>
            <a:ext cx="1548373" cy="400110"/>
          </a:xfrm>
          <a:prstGeom prst="rect">
            <a:avLst/>
          </a:prstGeom>
        </p:spPr>
        <p:txBody>
          <a:bodyPr wrap="none">
            <a:spAutoFit/>
          </a:bodyPr>
          <a:lstStyle/>
          <a:p>
            <a:r>
              <a:rPr lang="en-IN" sz="2000" dirty="0">
                <a:latin typeface="Cambria Math" pitchFamily="18" charset="0"/>
                <a:ea typeface="Cambria Math" pitchFamily="18" charset="0"/>
              </a:rPr>
              <a:t>Next state of</a:t>
            </a:r>
          </a:p>
        </p:txBody>
      </p:sp>
      <p:sp>
        <p:nvSpPr>
          <p:cNvPr id="19" name="Text Box 47"/>
          <p:cNvSpPr txBox="1">
            <a:spLocks noChangeArrowheads="1"/>
          </p:cNvSpPr>
          <p:nvPr/>
        </p:nvSpPr>
        <p:spPr bwMode="auto">
          <a:xfrm>
            <a:off x="2776264" y="2204864"/>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rgbClr val="C00000"/>
                </a:solidFill>
                <a:latin typeface="+mj-lt"/>
              </a:rPr>
              <a:t>0</a:t>
            </a:r>
            <a:endParaRPr lang="zh-CN" altLang="en-US" sz="2800" dirty="0">
              <a:solidFill>
                <a:srgbClr val="C00000"/>
              </a:solidFill>
              <a:latin typeface="+mj-lt"/>
            </a:endParaRPr>
          </a:p>
        </p:txBody>
      </p:sp>
      <p:sp>
        <p:nvSpPr>
          <p:cNvPr id="22" name="Text Box 50"/>
          <p:cNvSpPr txBox="1">
            <a:spLocks noChangeArrowheads="1"/>
          </p:cNvSpPr>
          <p:nvPr/>
        </p:nvSpPr>
        <p:spPr bwMode="auto">
          <a:xfrm>
            <a:off x="7536160" y="4561964"/>
            <a:ext cx="28803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i="1" dirty="0">
                <a:solidFill>
                  <a:schemeClr val="hlink"/>
                </a:solidFill>
                <a:latin typeface="+mj-lt"/>
              </a:rPr>
              <a:t>Q</a:t>
            </a:r>
            <a:r>
              <a:rPr lang="zh-CN" altLang="en-US" sz="2800" i="1" dirty="0">
                <a:solidFill>
                  <a:schemeClr val="hlink"/>
                </a:solidFill>
                <a:latin typeface="+mj-lt"/>
              </a:rPr>
              <a:t>   </a:t>
            </a:r>
            <a:r>
              <a:rPr lang="en-US" altLang="zh-CN" sz="2800" i="1" dirty="0">
                <a:solidFill>
                  <a:schemeClr val="hlink"/>
                </a:solidFill>
                <a:latin typeface="+mj-lt"/>
              </a:rPr>
              <a:t>Q’</a:t>
            </a:r>
            <a:r>
              <a:rPr lang="zh-CN" altLang="en-US" sz="2800" i="1" dirty="0">
                <a:solidFill>
                  <a:schemeClr val="hlink"/>
                </a:solidFill>
                <a:latin typeface="+mj-lt"/>
              </a:rPr>
              <a:t>  </a:t>
            </a:r>
            <a:r>
              <a:rPr lang="en-US" altLang="zh-CN" sz="2800" i="1" dirty="0">
                <a:solidFill>
                  <a:srgbClr val="C00000"/>
                </a:solidFill>
                <a:latin typeface="+mj-lt"/>
              </a:rPr>
              <a:t>No change</a:t>
            </a:r>
          </a:p>
        </p:txBody>
      </p:sp>
      <p:pic>
        <p:nvPicPr>
          <p:cNvPr id="2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3778" y="1556792"/>
            <a:ext cx="5924550"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2"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95600" y="4251920"/>
            <a:ext cx="3086100"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2273742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rrowheads="1"/>
          </p:cNvSpPr>
          <p:nvPr>
            <p:ph type="title"/>
          </p:nvPr>
        </p:nvSpPr>
        <p:spPr/>
        <p:txBody>
          <a:bodyPr/>
          <a:lstStyle/>
          <a:p>
            <a:r>
              <a:rPr lang="en-IN" i="1" dirty="0">
                <a:solidFill>
                  <a:srgbClr val="0070C0"/>
                </a:solidFill>
              </a:rPr>
              <a:t>D </a:t>
            </a:r>
            <a:r>
              <a:rPr lang="en-IN" dirty="0">
                <a:solidFill>
                  <a:srgbClr val="0070C0"/>
                </a:solidFill>
              </a:rPr>
              <a:t>Latch</a:t>
            </a:r>
            <a:endParaRPr lang="en-US" altLang="zh-CN" dirty="0">
              <a:solidFill>
                <a:srgbClr val="002060"/>
              </a:solidFill>
            </a:endParaRPr>
          </a:p>
        </p:txBody>
      </p:sp>
      <p:sp>
        <p:nvSpPr>
          <p:cNvPr id="20487" name="Line 4"/>
          <p:cNvSpPr>
            <a:spLocks noChangeShapeType="1"/>
          </p:cNvSpPr>
          <p:nvPr/>
        </p:nvSpPr>
        <p:spPr bwMode="auto">
          <a:xfrm>
            <a:off x="4400550" y="4232275"/>
            <a:ext cx="1588"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20519" name="Text Box 42"/>
          <p:cNvSpPr txBox="1">
            <a:spLocks noChangeArrowheads="1"/>
          </p:cNvSpPr>
          <p:nvPr/>
        </p:nvSpPr>
        <p:spPr bwMode="auto">
          <a:xfrm>
            <a:off x="6678488" y="4564286"/>
            <a:ext cx="785665"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latin typeface="+mj-lt"/>
              </a:rPr>
              <a:t>0  X</a:t>
            </a:r>
          </a:p>
          <a:p>
            <a:r>
              <a:rPr lang="en-US" altLang="zh-CN" sz="2800" dirty="0">
                <a:latin typeface="+mj-lt"/>
              </a:rPr>
              <a:t>1  0</a:t>
            </a:r>
          </a:p>
          <a:p>
            <a:r>
              <a:rPr lang="en-US" altLang="zh-CN" sz="2800" dirty="0">
                <a:latin typeface="+mj-lt"/>
              </a:rPr>
              <a:t>1  1</a:t>
            </a:r>
            <a:endParaRPr lang="zh-CN" altLang="en-US" sz="2800" dirty="0">
              <a:latin typeface="+mj-lt"/>
            </a:endParaRPr>
          </a:p>
        </p:txBody>
      </p:sp>
      <mc:AlternateContent xmlns:mc="http://schemas.openxmlformats.org/markup-compatibility/2006" xmlns:a14="http://schemas.microsoft.com/office/drawing/2010/main">
        <mc:Choice Requires="a14">
          <p:sp>
            <p:nvSpPr>
              <p:cNvPr id="20520" name="Text Box 43"/>
              <p:cNvSpPr txBox="1">
                <a:spLocks noChangeArrowheads="1"/>
              </p:cNvSpPr>
              <p:nvPr/>
            </p:nvSpPr>
            <p:spPr bwMode="auto">
              <a:xfrm>
                <a:off x="6528049" y="4003918"/>
                <a:ext cx="1957907" cy="50520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pPr/>
                <a14:m>
                  <m:oMathPara xmlns:m="http://schemas.openxmlformats.org/officeDocument/2006/math">
                    <m:oMathParaPr>
                      <m:jc m:val="centerGroup"/>
                    </m:oMathParaPr>
                    <m:oMath xmlns:m="http://schemas.openxmlformats.org/officeDocument/2006/math">
                      <m:r>
                        <a:rPr lang="en-US" altLang="zh-CN" sz="2400" i="1" dirty="0">
                          <a:latin typeface="Cambria Math"/>
                        </a:rPr>
                        <m:t>𝐸𝑛</m:t>
                      </m:r>
                      <m:r>
                        <a:rPr lang="en-US" altLang="zh-CN" sz="2400" i="1" dirty="0">
                          <a:latin typeface="Cambria Math"/>
                        </a:rPr>
                        <m:t>  </m:t>
                      </m:r>
                      <m:r>
                        <a:rPr lang="en-US" altLang="zh-CN" sz="2400" i="1" dirty="0">
                          <a:latin typeface="Cambria Math"/>
                        </a:rPr>
                        <m:t>𝐷</m:t>
                      </m:r>
                      <m:r>
                        <a:rPr lang="en-US" altLang="zh-CN" sz="2400" i="1" dirty="0">
                          <a:latin typeface="Cambria Math"/>
                        </a:rPr>
                        <m:t>     </m:t>
                      </m:r>
                      <m:r>
                        <a:rPr lang="en-US" altLang="zh-CN" sz="2400" i="1" dirty="0">
                          <a:latin typeface="Cambria Math"/>
                        </a:rPr>
                        <m:t>𝑄</m:t>
                      </m:r>
                      <m:r>
                        <a:rPr lang="en-US" altLang="zh-CN" sz="2400" i="1" dirty="0">
                          <a:latin typeface="Cambria Math"/>
                        </a:rPr>
                        <m:t>   </m:t>
                      </m:r>
                      <m:bar>
                        <m:barPr>
                          <m:pos m:val="top"/>
                          <m:ctrlPr>
                            <a:rPr lang="en-US" altLang="zh-CN" sz="2400" i="1">
                              <a:latin typeface="Cambria Math" panose="02040503050406030204" pitchFamily="18" charset="0"/>
                            </a:rPr>
                          </m:ctrlPr>
                        </m:barPr>
                        <m:e>
                          <m:r>
                            <a:rPr lang="en-US" altLang="zh-CN" sz="2400" i="1">
                              <a:latin typeface="Cambria Math"/>
                            </a:rPr>
                            <m:t>𝑄</m:t>
                          </m:r>
                        </m:e>
                      </m:bar>
                    </m:oMath>
                  </m:oMathPara>
                </a14:m>
                <a:endParaRPr lang="en-US" altLang="zh-CN" sz="2400" i="1" dirty="0">
                  <a:latin typeface="+mj-lt"/>
                </a:endParaRPr>
              </a:p>
            </p:txBody>
          </p:sp>
        </mc:Choice>
        <mc:Fallback xmlns="">
          <p:sp>
            <p:nvSpPr>
              <p:cNvPr id="20520" name="Text Box 43"/>
              <p:cNvSpPr txBox="1">
                <a:spLocks noRot="1" noChangeAspect="1" noMove="1" noResize="1" noEditPoints="1" noAdjustHandles="1" noChangeArrowheads="1" noChangeShapeType="1" noTextEdit="1"/>
              </p:cNvSpPr>
              <p:nvPr/>
            </p:nvSpPr>
            <p:spPr bwMode="auto">
              <a:xfrm>
                <a:off x="6528049" y="4003918"/>
                <a:ext cx="1957907" cy="505203"/>
              </a:xfrm>
              <a:prstGeom prst="rect">
                <a:avLst/>
              </a:prstGeom>
              <a:blipFill>
                <a:blip r:embed="rId3"/>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N">
                    <a:noFill/>
                  </a:rPr>
                  <a:t> </a:t>
                </a:r>
              </a:p>
            </p:txBody>
          </p:sp>
        </mc:Fallback>
      </mc:AlternateContent>
      <p:sp>
        <p:nvSpPr>
          <p:cNvPr id="20521" name="Line 44"/>
          <p:cNvSpPr>
            <a:spLocks noChangeShapeType="1"/>
          </p:cNvSpPr>
          <p:nvPr/>
        </p:nvSpPr>
        <p:spPr bwMode="auto">
          <a:xfrm>
            <a:off x="6672064" y="4509120"/>
            <a:ext cx="192596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0522" name="Line 45"/>
          <p:cNvSpPr>
            <a:spLocks noChangeShapeType="1"/>
          </p:cNvSpPr>
          <p:nvPr/>
        </p:nvSpPr>
        <p:spPr bwMode="auto">
          <a:xfrm>
            <a:off x="7525218" y="3933057"/>
            <a:ext cx="10942" cy="188498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96655" name="Text Box 47"/>
          <p:cNvSpPr txBox="1">
            <a:spLocks noChangeArrowheads="1"/>
          </p:cNvSpPr>
          <p:nvPr/>
        </p:nvSpPr>
        <p:spPr bwMode="auto">
          <a:xfrm>
            <a:off x="2783632" y="1465620"/>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endParaRPr lang="zh-CN" altLang="en-US" sz="2800" dirty="0">
              <a:solidFill>
                <a:schemeClr val="hlink"/>
              </a:solidFill>
              <a:latin typeface="+mj-lt"/>
            </a:endParaRPr>
          </a:p>
        </p:txBody>
      </p:sp>
      <p:sp>
        <p:nvSpPr>
          <p:cNvPr id="196656" name="Text Box 48"/>
          <p:cNvSpPr txBox="1">
            <a:spLocks noChangeArrowheads="1"/>
          </p:cNvSpPr>
          <p:nvPr/>
        </p:nvSpPr>
        <p:spPr bwMode="auto">
          <a:xfrm>
            <a:off x="9040960" y="1681644"/>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endParaRPr lang="zh-CN" altLang="en-US" sz="2800" dirty="0">
              <a:solidFill>
                <a:schemeClr val="hlink"/>
              </a:solidFill>
              <a:latin typeface="+mj-lt"/>
            </a:endParaRPr>
          </a:p>
        </p:txBody>
      </p:sp>
      <p:sp>
        <p:nvSpPr>
          <p:cNvPr id="196657" name="Text Box 49"/>
          <p:cNvSpPr txBox="1">
            <a:spLocks noChangeArrowheads="1"/>
          </p:cNvSpPr>
          <p:nvPr/>
        </p:nvSpPr>
        <p:spPr bwMode="auto">
          <a:xfrm>
            <a:off x="9048328" y="2833772"/>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endParaRPr lang="zh-CN" altLang="en-US" sz="2800" dirty="0">
              <a:solidFill>
                <a:schemeClr val="hlink"/>
              </a:solidFill>
              <a:latin typeface="+mj-lt"/>
            </a:endParaRPr>
          </a:p>
        </p:txBody>
      </p:sp>
      <p:sp>
        <p:nvSpPr>
          <p:cNvPr id="196658" name="Text Box 50"/>
          <p:cNvSpPr txBox="1">
            <a:spLocks noChangeArrowheads="1"/>
          </p:cNvSpPr>
          <p:nvPr/>
        </p:nvSpPr>
        <p:spPr bwMode="auto">
          <a:xfrm>
            <a:off x="7608168" y="4994012"/>
            <a:ext cx="2209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r>
              <a:rPr lang="zh-CN" altLang="en-US" sz="2800" dirty="0">
                <a:solidFill>
                  <a:schemeClr val="hlink"/>
                </a:solidFill>
                <a:latin typeface="+mj-lt"/>
              </a:rPr>
              <a:t>   </a:t>
            </a:r>
            <a:r>
              <a:rPr lang="en-US" altLang="zh-CN" sz="2800" dirty="0">
                <a:solidFill>
                  <a:schemeClr val="hlink"/>
                </a:solidFill>
                <a:latin typeface="+mj-lt"/>
              </a:rPr>
              <a:t>1</a:t>
            </a:r>
            <a:r>
              <a:rPr lang="zh-CN" altLang="en-US" sz="2800" dirty="0">
                <a:solidFill>
                  <a:schemeClr val="hlink"/>
                </a:solidFill>
                <a:latin typeface="+mj-lt"/>
              </a:rPr>
              <a:t>   </a:t>
            </a:r>
            <a:r>
              <a:rPr lang="en-US" altLang="zh-CN" sz="2800" i="1" dirty="0">
                <a:solidFill>
                  <a:srgbClr val="C00000"/>
                </a:solidFill>
                <a:latin typeface="+mj-lt"/>
              </a:rPr>
              <a:t>Reset</a:t>
            </a:r>
          </a:p>
        </p:txBody>
      </p:sp>
      <p:sp>
        <p:nvSpPr>
          <p:cNvPr id="2" name="Rectangle 1"/>
          <p:cNvSpPr/>
          <p:nvPr/>
        </p:nvSpPr>
        <p:spPr>
          <a:xfrm>
            <a:off x="6795072" y="5939988"/>
            <a:ext cx="1533177" cy="369332"/>
          </a:xfrm>
          <a:prstGeom prst="rect">
            <a:avLst/>
          </a:prstGeom>
        </p:spPr>
        <p:txBody>
          <a:bodyPr wrap="none">
            <a:spAutoFit/>
          </a:bodyPr>
          <a:lstStyle/>
          <a:p>
            <a:r>
              <a:rPr lang="en-IN" dirty="0"/>
              <a:t>Function table</a:t>
            </a:r>
          </a:p>
        </p:txBody>
      </p:sp>
      <p:sp>
        <p:nvSpPr>
          <p:cNvPr id="17" name="Rectangle 16"/>
          <p:cNvSpPr/>
          <p:nvPr/>
        </p:nvSpPr>
        <p:spPr>
          <a:xfrm>
            <a:off x="4902474" y="3851756"/>
            <a:ext cx="1481559" cy="369332"/>
          </a:xfrm>
          <a:prstGeom prst="rect">
            <a:avLst/>
          </a:prstGeom>
        </p:spPr>
        <p:txBody>
          <a:bodyPr wrap="none">
            <a:spAutoFit/>
          </a:bodyPr>
          <a:lstStyle/>
          <a:p>
            <a:r>
              <a:rPr lang="en-IN" dirty="0"/>
              <a:t>Logic diagram</a:t>
            </a:r>
          </a:p>
        </p:txBody>
      </p:sp>
      <p:sp>
        <p:nvSpPr>
          <p:cNvPr id="3" name="Rectangle 2"/>
          <p:cNvSpPr/>
          <p:nvPr/>
        </p:nvSpPr>
        <p:spPr>
          <a:xfrm>
            <a:off x="7536161" y="3717032"/>
            <a:ext cx="1548373" cy="400110"/>
          </a:xfrm>
          <a:prstGeom prst="rect">
            <a:avLst/>
          </a:prstGeom>
        </p:spPr>
        <p:txBody>
          <a:bodyPr wrap="none">
            <a:spAutoFit/>
          </a:bodyPr>
          <a:lstStyle/>
          <a:p>
            <a:r>
              <a:rPr lang="en-IN" sz="2000" dirty="0">
                <a:latin typeface="Cambria Math" pitchFamily="18" charset="0"/>
                <a:ea typeface="Cambria Math" pitchFamily="18" charset="0"/>
              </a:rPr>
              <a:t>Next state of</a:t>
            </a:r>
          </a:p>
        </p:txBody>
      </p:sp>
      <p:sp>
        <p:nvSpPr>
          <p:cNvPr id="19" name="Text Box 47"/>
          <p:cNvSpPr txBox="1">
            <a:spLocks noChangeArrowheads="1"/>
          </p:cNvSpPr>
          <p:nvPr/>
        </p:nvSpPr>
        <p:spPr bwMode="auto">
          <a:xfrm>
            <a:off x="2776264" y="2204864"/>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rgbClr val="C00000"/>
                </a:solidFill>
                <a:latin typeface="+mj-lt"/>
              </a:rPr>
              <a:t>1</a:t>
            </a:r>
            <a:endParaRPr lang="zh-CN" altLang="en-US" sz="2800" dirty="0">
              <a:solidFill>
                <a:srgbClr val="C00000"/>
              </a:solidFill>
              <a:latin typeface="+mj-lt"/>
            </a:endParaRPr>
          </a:p>
        </p:txBody>
      </p:sp>
      <p:sp>
        <p:nvSpPr>
          <p:cNvPr id="20" name="Text Box 48"/>
          <p:cNvSpPr txBox="1">
            <a:spLocks noChangeArrowheads="1"/>
          </p:cNvSpPr>
          <p:nvPr/>
        </p:nvSpPr>
        <p:spPr bwMode="auto">
          <a:xfrm>
            <a:off x="5015880" y="1124744"/>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accent3">
                    <a:lumMod val="60000"/>
                    <a:lumOff val="40000"/>
                  </a:schemeClr>
                </a:solidFill>
                <a:latin typeface="+mj-lt"/>
              </a:rPr>
              <a:t>0</a:t>
            </a:r>
            <a:endParaRPr lang="zh-CN" altLang="en-US" sz="2800" dirty="0">
              <a:solidFill>
                <a:schemeClr val="accent3">
                  <a:lumMod val="60000"/>
                  <a:lumOff val="40000"/>
                </a:schemeClr>
              </a:solidFill>
              <a:latin typeface="+mj-lt"/>
            </a:endParaRPr>
          </a:p>
        </p:txBody>
      </p:sp>
      <p:sp>
        <p:nvSpPr>
          <p:cNvPr id="21" name="Text Box 48"/>
          <p:cNvSpPr txBox="1">
            <a:spLocks noChangeArrowheads="1"/>
          </p:cNvSpPr>
          <p:nvPr/>
        </p:nvSpPr>
        <p:spPr bwMode="auto">
          <a:xfrm>
            <a:off x="5087888" y="3481844"/>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accent3">
                    <a:lumMod val="60000"/>
                    <a:lumOff val="40000"/>
                  </a:schemeClr>
                </a:solidFill>
                <a:latin typeface="+mj-lt"/>
              </a:rPr>
              <a:t>1</a:t>
            </a:r>
            <a:endParaRPr lang="zh-CN" altLang="en-US" sz="2800" dirty="0">
              <a:solidFill>
                <a:schemeClr val="accent3">
                  <a:lumMod val="60000"/>
                  <a:lumOff val="40000"/>
                </a:schemeClr>
              </a:solidFill>
              <a:latin typeface="+mj-lt"/>
            </a:endParaRPr>
          </a:p>
        </p:txBody>
      </p:sp>
      <p:sp>
        <p:nvSpPr>
          <p:cNvPr id="22" name="Text Box 50"/>
          <p:cNvSpPr txBox="1">
            <a:spLocks noChangeArrowheads="1"/>
          </p:cNvSpPr>
          <p:nvPr/>
        </p:nvSpPr>
        <p:spPr bwMode="auto">
          <a:xfrm>
            <a:off x="7536160" y="4561964"/>
            <a:ext cx="28803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i="1" dirty="0">
                <a:solidFill>
                  <a:schemeClr val="hlink"/>
                </a:solidFill>
                <a:latin typeface="+mj-lt"/>
              </a:rPr>
              <a:t>Q</a:t>
            </a:r>
            <a:r>
              <a:rPr lang="zh-CN" altLang="en-US" sz="2800" i="1" dirty="0">
                <a:solidFill>
                  <a:schemeClr val="hlink"/>
                </a:solidFill>
                <a:latin typeface="+mj-lt"/>
              </a:rPr>
              <a:t>   </a:t>
            </a:r>
            <a:r>
              <a:rPr lang="en-US" altLang="zh-CN" sz="2800" i="1" dirty="0">
                <a:solidFill>
                  <a:schemeClr val="hlink"/>
                </a:solidFill>
                <a:latin typeface="+mj-lt"/>
              </a:rPr>
              <a:t>Q’</a:t>
            </a:r>
            <a:r>
              <a:rPr lang="zh-CN" altLang="en-US" sz="2800" i="1" dirty="0">
                <a:solidFill>
                  <a:schemeClr val="hlink"/>
                </a:solidFill>
                <a:latin typeface="+mj-lt"/>
              </a:rPr>
              <a:t>  </a:t>
            </a:r>
            <a:r>
              <a:rPr lang="en-US" altLang="zh-CN" sz="2800" i="1" dirty="0">
                <a:solidFill>
                  <a:srgbClr val="C00000"/>
                </a:solidFill>
                <a:latin typeface="+mj-lt"/>
              </a:rPr>
              <a:t>No change</a:t>
            </a:r>
          </a:p>
        </p:txBody>
      </p:sp>
      <p:pic>
        <p:nvPicPr>
          <p:cNvPr id="2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3778" y="1556792"/>
            <a:ext cx="5924550"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95600" y="4251920"/>
            <a:ext cx="3086100"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572614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665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665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665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66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55" grpId="0"/>
      <p:bldP spid="196656" grpId="0"/>
      <p:bldP spid="196657" grpId="0"/>
      <p:bldP spid="196658" grpId="0"/>
      <p:bldP spid="19" grpId="0"/>
      <p:bldP spid="20" grpId="0"/>
      <p:bldP spid="21"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rrowheads="1"/>
          </p:cNvSpPr>
          <p:nvPr>
            <p:ph type="title"/>
          </p:nvPr>
        </p:nvSpPr>
        <p:spPr/>
        <p:txBody>
          <a:bodyPr/>
          <a:lstStyle/>
          <a:p>
            <a:r>
              <a:rPr lang="en-IN" i="1" dirty="0">
                <a:solidFill>
                  <a:srgbClr val="0070C0"/>
                </a:solidFill>
              </a:rPr>
              <a:t>D </a:t>
            </a:r>
            <a:r>
              <a:rPr lang="en-IN" dirty="0">
                <a:solidFill>
                  <a:srgbClr val="0070C0"/>
                </a:solidFill>
              </a:rPr>
              <a:t>Latch</a:t>
            </a:r>
            <a:endParaRPr lang="en-US" altLang="zh-CN" dirty="0">
              <a:solidFill>
                <a:srgbClr val="002060"/>
              </a:solidFill>
            </a:endParaRPr>
          </a:p>
        </p:txBody>
      </p:sp>
      <p:sp>
        <p:nvSpPr>
          <p:cNvPr id="20487" name="Line 4"/>
          <p:cNvSpPr>
            <a:spLocks noChangeShapeType="1"/>
          </p:cNvSpPr>
          <p:nvPr/>
        </p:nvSpPr>
        <p:spPr bwMode="auto">
          <a:xfrm>
            <a:off x="4400550" y="4232275"/>
            <a:ext cx="1588"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20519" name="Text Box 42"/>
          <p:cNvSpPr txBox="1">
            <a:spLocks noChangeArrowheads="1"/>
          </p:cNvSpPr>
          <p:nvPr/>
        </p:nvSpPr>
        <p:spPr bwMode="auto">
          <a:xfrm>
            <a:off x="6678488" y="4564286"/>
            <a:ext cx="785665"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latin typeface="+mj-lt"/>
              </a:rPr>
              <a:t>0  X</a:t>
            </a:r>
          </a:p>
          <a:p>
            <a:r>
              <a:rPr lang="en-US" altLang="zh-CN" sz="2800" dirty="0">
                <a:latin typeface="+mj-lt"/>
              </a:rPr>
              <a:t>1  0</a:t>
            </a:r>
          </a:p>
          <a:p>
            <a:r>
              <a:rPr lang="en-US" altLang="zh-CN" sz="2800" dirty="0">
                <a:latin typeface="+mj-lt"/>
              </a:rPr>
              <a:t>1  1</a:t>
            </a:r>
            <a:endParaRPr lang="zh-CN" altLang="en-US" sz="2800" dirty="0">
              <a:latin typeface="+mj-lt"/>
            </a:endParaRPr>
          </a:p>
        </p:txBody>
      </p:sp>
      <mc:AlternateContent xmlns:mc="http://schemas.openxmlformats.org/markup-compatibility/2006" xmlns:a14="http://schemas.microsoft.com/office/drawing/2010/main">
        <mc:Choice Requires="a14">
          <p:sp>
            <p:nvSpPr>
              <p:cNvPr id="20520" name="Text Box 43"/>
              <p:cNvSpPr txBox="1">
                <a:spLocks noChangeArrowheads="1"/>
              </p:cNvSpPr>
              <p:nvPr/>
            </p:nvSpPr>
            <p:spPr bwMode="auto">
              <a:xfrm>
                <a:off x="6528049" y="4003918"/>
                <a:ext cx="1957907" cy="50520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pPr/>
                <a14:m>
                  <m:oMathPara xmlns:m="http://schemas.openxmlformats.org/officeDocument/2006/math">
                    <m:oMathParaPr>
                      <m:jc m:val="centerGroup"/>
                    </m:oMathParaPr>
                    <m:oMath xmlns:m="http://schemas.openxmlformats.org/officeDocument/2006/math">
                      <m:r>
                        <a:rPr lang="en-US" altLang="zh-CN" sz="2400" i="1" dirty="0">
                          <a:latin typeface="Cambria Math"/>
                        </a:rPr>
                        <m:t>𝐸𝑛</m:t>
                      </m:r>
                      <m:r>
                        <a:rPr lang="en-US" altLang="zh-CN" sz="2400" i="1" dirty="0">
                          <a:latin typeface="Cambria Math"/>
                        </a:rPr>
                        <m:t>  </m:t>
                      </m:r>
                      <m:r>
                        <a:rPr lang="en-US" altLang="zh-CN" sz="2400" i="1" dirty="0">
                          <a:latin typeface="Cambria Math"/>
                        </a:rPr>
                        <m:t>𝐷</m:t>
                      </m:r>
                      <m:r>
                        <a:rPr lang="en-US" altLang="zh-CN" sz="2400" i="1" dirty="0">
                          <a:latin typeface="Cambria Math"/>
                        </a:rPr>
                        <m:t>     </m:t>
                      </m:r>
                      <m:r>
                        <a:rPr lang="en-US" altLang="zh-CN" sz="2400" i="1" dirty="0">
                          <a:latin typeface="Cambria Math"/>
                        </a:rPr>
                        <m:t>𝑄</m:t>
                      </m:r>
                      <m:r>
                        <a:rPr lang="en-US" altLang="zh-CN" sz="2400" i="1" dirty="0">
                          <a:latin typeface="Cambria Math"/>
                        </a:rPr>
                        <m:t>   </m:t>
                      </m:r>
                      <m:bar>
                        <m:barPr>
                          <m:pos m:val="top"/>
                          <m:ctrlPr>
                            <a:rPr lang="en-US" altLang="zh-CN" sz="2400" i="1">
                              <a:latin typeface="Cambria Math" panose="02040503050406030204" pitchFamily="18" charset="0"/>
                            </a:rPr>
                          </m:ctrlPr>
                        </m:barPr>
                        <m:e>
                          <m:r>
                            <a:rPr lang="en-US" altLang="zh-CN" sz="2400" i="1">
                              <a:latin typeface="Cambria Math"/>
                            </a:rPr>
                            <m:t>𝑄</m:t>
                          </m:r>
                        </m:e>
                      </m:bar>
                    </m:oMath>
                  </m:oMathPara>
                </a14:m>
                <a:endParaRPr lang="en-US" altLang="zh-CN" sz="2400" i="1" dirty="0">
                  <a:latin typeface="+mj-lt"/>
                </a:endParaRPr>
              </a:p>
            </p:txBody>
          </p:sp>
        </mc:Choice>
        <mc:Fallback xmlns="">
          <p:sp>
            <p:nvSpPr>
              <p:cNvPr id="20520" name="Text Box 43"/>
              <p:cNvSpPr txBox="1">
                <a:spLocks noRot="1" noChangeAspect="1" noMove="1" noResize="1" noEditPoints="1" noAdjustHandles="1" noChangeArrowheads="1" noChangeShapeType="1" noTextEdit="1"/>
              </p:cNvSpPr>
              <p:nvPr/>
            </p:nvSpPr>
            <p:spPr bwMode="auto">
              <a:xfrm>
                <a:off x="6528049" y="4003918"/>
                <a:ext cx="1957907" cy="505203"/>
              </a:xfrm>
              <a:prstGeom prst="rect">
                <a:avLst/>
              </a:prstGeom>
              <a:blipFill>
                <a:blip r:embed="rId3"/>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N">
                    <a:noFill/>
                  </a:rPr>
                  <a:t> </a:t>
                </a:r>
              </a:p>
            </p:txBody>
          </p:sp>
        </mc:Fallback>
      </mc:AlternateContent>
      <p:sp>
        <p:nvSpPr>
          <p:cNvPr id="20521" name="Line 44"/>
          <p:cNvSpPr>
            <a:spLocks noChangeShapeType="1"/>
          </p:cNvSpPr>
          <p:nvPr/>
        </p:nvSpPr>
        <p:spPr bwMode="auto">
          <a:xfrm>
            <a:off x="6672064" y="4509120"/>
            <a:ext cx="192596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0522" name="Line 45"/>
          <p:cNvSpPr>
            <a:spLocks noChangeShapeType="1"/>
          </p:cNvSpPr>
          <p:nvPr/>
        </p:nvSpPr>
        <p:spPr bwMode="auto">
          <a:xfrm>
            <a:off x="7525218" y="3933057"/>
            <a:ext cx="10942" cy="188498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96655" name="Text Box 47"/>
          <p:cNvSpPr txBox="1">
            <a:spLocks noChangeArrowheads="1"/>
          </p:cNvSpPr>
          <p:nvPr/>
        </p:nvSpPr>
        <p:spPr bwMode="auto">
          <a:xfrm>
            <a:off x="2783632" y="1465620"/>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endParaRPr lang="zh-CN" altLang="en-US" sz="2800" dirty="0">
              <a:solidFill>
                <a:schemeClr val="hlink"/>
              </a:solidFill>
              <a:latin typeface="+mj-lt"/>
            </a:endParaRPr>
          </a:p>
        </p:txBody>
      </p:sp>
      <p:sp>
        <p:nvSpPr>
          <p:cNvPr id="196656" name="Text Box 48"/>
          <p:cNvSpPr txBox="1">
            <a:spLocks noChangeArrowheads="1"/>
          </p:cNvSpPr>
          <p:nvPr/>
        </p:nvSpPr>
        <p:spPr bwMode="auto">
          <a:xfrm>
            <a:off x="9040960" y="1681644"/>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endParaRPr lang="zh-CN" altLang="en-US" sz="2800" dirty="0">
              <a:solidFill>
                <a:schemeClr val="hlink"/>
              </a:solidFill>
              <a:latin typeface="+mj-lt"/>
            </a:endParaRPr>
          </a:p>
        </p:txBody>
      </p:sp>
      <p:sp>
        <p:nvSpPr>
          <p:cNvPr id="196657" name="Text Box 49"/>
          <p:cNvSpPr txBox="1">
            <a:spLocks noChangeArrowheads="1"/>
          </p:cNvSpPr>
          <p:nvPr/>
        </p:nvSpPr>
        <p:spPr bwMode="auto">
          <a:xfrm>
            <a:off x="9048328" y="2833772"/>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endParaRPr lang="zh-CN" altLang="en-US" sz="2800" dirty="0">
              <a:solidFill>
                <a:schemeClr val="hlink"/>
              </a:solidFill>
              <a:latin typeface="+mj-lt"/>
            </a:endParaRPr>
          </a:p>
        </p:txBody>
      </p:sp>
      <p:sp>
        <p:nvSpPr>
          <p:cNvPr id="196658" name="Text Box 50"/>
          <p:cNvSpPr txBox="1">
            <a:spLocks noChangeArrowheads="1"/>
          </p:cNvSpPr>
          <p:nvPr/>
        </p:nvSpPr>
        <p:spPr bwMode="auto">
          <a:xfrm>
            <a:off x="7608168" y="4994012"/>
            <a:ext cx="2209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r>
              <a:rPr lang="zh-CN" altLang="en-US" sz="2800" dirty="0">
                <a:solidFill>
                  <a:schemeClr val="hlink"/>
                </a:solidFill>
                <a:latin typeface="+mj-lt"/>
              </a:rPr>
              <a:t>   </a:t>
            </a:r>
            <a:r>
              <a:rPr lang="en-US" altLang="zh-CN" sz="2800" dirty="0">
                <a:solidFill>
                  <a:schemeClr val="hlink"/>
                </a:solidFill>
                <a:latin typeface="+mj-lt"/>
              </a:rPr>
              <a:t>1</a:t>
            </a:r>
            <a:r>
              <a:rPr lang="zh-CN" altLang="en-US" sz="2800" dirty="0">
                <a:solidFill>
                  <a:schemeClr val="hlink"/>
                </a:solidFill>
                <a:latin typeface="+mj-lt"/>
              </a:rPr>
              <a:t>   </a:t>
            </a:r>
            <a:r>
              <a:rPr lang="en-US" altLang="zh-CN" sz="2800" i="1" dirty="0">
                <a:solidFill>
                  <a:srgbClr val="C00000"/>
                </a:solidFill>
                <a:latin typeface="+mj-lt"/>
              </a:rPr>
              <a:t>Reset</a:t>
            </a:r>
          </a:p>
        </p:txBody>
      </p:sp>
      <p:sp>
        <p:nvSpPr>
          <p:cNvPr id="2" name="Rectangle 1"/>
          <p:cNvSpPr/>
          <p:nvPr/>
        </p:nvSpPr>
        <p:spPr>
          <a:xfrm>
            <a:off x="6795072" y="5939988"/>
            <a:ext cx="1533177" cy="369332"/>
          </a:xfrm>
          <a:prstGeom prst="rect">
            <a:avLst/>
          </a:prstGeom>
        </p:spPr>
        <p:txBody>
          <a:bodyPr wrap="none">
            <a:spAutoFit/>
          </a:bodyPr>
          <a:lstStyle/>
          <a:p>
            <a:r>
              <a:rPr lang="en-IN" dirty="0"/>
              <a:t>Function table</a:t>
            </a:r>
          </a:p>
        </p:txBody>
      </p:sp>
      <p:sp>
        <p:nvSpPr>
          <p:cNvPr id="17" name="Rectangle 16"/>
          <p:cNvSpPr/>
          <p:nvPr/>
        </p:nvSpPr>
        <p:spPr>
          <a:xfrm>
            <a:off x="4902474" y="3861048"/>
            <a:ext cx="1481559" cy="369332"/>
          </a:xfrm>
          <a:prstGeom prst="rect">
            <a:avLst/>
          </a:prstGeom>
        </p:spPr>
        <p:txBody>
          <a:bodyPr wrap="none">
            <a:spAutoFit/>
          </a:bodyPr>
          <a:lstStyle/>
          <a:p>
            <a:r>
              <a:rPr lang="en-IN" dirty="0"/>
              <a:t>Logic diagram</a:t>
            </a:r>
          </a:p>
        </p:txBody>
      </p:sp>
      <p:sp>
        <p:nvSpPr>
          <p:cNvPr id="3" name="Rectangle 2"/>
          <p:cNvSpPr/>
          <p:nvPr/>
        </p:nvSpPr>
        <p:spPr>
          <a:xfrm>
            <a:off x="7536161" y="3717032"/>
            <a:ext cx="1548373" cy="400110"/>
          </a:xfrm>
          <a:prstGeom prst="rect">
            <a:avLst/>
          </a:prstGeom>
        </p:spPr>
        <p:txBody>
          <a:bodyPr wrap="none">
            <a:spAutoFit/>
          </a:bodyPr>
          <a:lstStyle/>
          <a:p>
            <a:r>
              <a:rPr lang="en-IN" sz="2000" dirty="0">
                <a:latin typeface="Cambria Math" pitchFamily="18" charset="0"/>
                <a:ea typeface="Cambria Math" pitchFamily="18" charset="0"/>
              </a:rPr>
              <a:t>Next state of</a:t>
            </a:r>
          </a:p>
        </p:txBody>
      </p:sp>
      <p:sp>
        <p:nvSpPr>
          <p:cNvPr id="19" name="Text Box 47"/>
          <p:cNvSpPr txBox="1">
            <a:spLocks noChangeArrowheads="1"/>
          </p:cNvSpPr>
          <p:nvPr/>
        </p:nvSpPr>
        <p:spPr bwMode="auto">
          <a:xfrm>
            <a:off x="2776264" y="2204864"/>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rgbClr val="C00000"/>
                </a:solidFill>
                <a:latin typeface="+mj-lt"/>
              </a:rPr>
              <a:t>1</a:t>
            </a:r>
            <a:endParaRPr lang="zh-CN" altLang="en-US" sz="2800" dirty="0">
              <a:solidFill>
                <a:srgbClr val="C00000"/>
              </a:solidFill>
              <a:latin typeface="+mj-lt"/>
            </a:endParaRPr>
          </a:p>
        </p:txBody>
      </p:sp>
      <p:sp>
        <p:nvSpPr>
          <p:cNvPr id="20" name="Text Box 48"/>
          <p:cNvSpPr txBox="1">
            <a:spLocks noChangeArrowheads="1"/>
          </p:cNvSpPr>
          <p:nvPr/>
        </p:nvSpPr>
        <p:spPr bwMode="auto">
          <a:xfrm>
            <a:off x="5015880" y="1124744"/>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accent3">
                    <a:lumMod val="60000"/>
                    <a:lumOff val="40000"/>
                  </a:schemeClr>
                </a:solidFill>
                <a:latin typeface="+mj-lt"/>
              </a:rPr>
              <a:t>1</a:t>
            </a:r>
            <a:endParaRPr lang="zh-CN" altLang="en-US" sz="2800" dirty="0">
              <a:solidFill>
                <a:schemeClr val="accent3">
                  <a:lumMod val="60000"/>
                  <a:lumOff val="40000"/>
                </a:schemeClr>
              </a:solidFill>
              <a:latin typeface="+mj-lt"/>
            </a:endParaRPr>
          </a:p>
        </p:txBody>
      </p:sp>
      <p:sp>
        <p:nvSpPr>
          <p:cNvPr id="21" name="Text Box 48"/>
          <p:cNvSpPr txBox="1">
            <a:spLocks noChangeArrowheads="1"/>
          </p:cNvSpPr>
          <p:nvPr/>
        </p:nvSpPr>
        <p:spPr bwMode="auto">
          <a:xfrm>
            <a:off x="5087888" y="3481844"/>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accent3">
                    <a:lumMod val="60000"/>
                    <a:lumOff val="40000"/>
                  </a:schemeClr>
                </a:solidFill>
                <a:latin typeface="+mj-lt"/>
              </a:rPr>
              <a:t>0</a:t>
            </a:r>
            <a:endParaRPr lang="zh-CN" altLang="en-US" sz="2800" dirty="0">
              <a:solidFill>
                <a:schemeClr val="accent3">
                  <a:lumMod val="60000"/>
                  <a:lumOff val="40000"/>
                </a:schemeClr>
              </a:solidFill>
              <a:latin typeface="+mj-lt"/>
            </a:endParaRPr>
          </a:p>
        </p:txBody>
      </p:sp>
      <p:sp>
        <p:nvSpPr>
          <p:cNvPr id="22" name="Text Box 50"/>
          <p:cNvSpPr txBox="1">
            <a:spLocks noChangeArrowheads="1"/>
          </p:cNvSpPr>
          <p:nvPr/>
        </p:nvSpPr>
        <p:spPr bwMode="auto">
          <a:xfrm>
            <a:off x="7536160" y="4561964"/>
            <a:ext cx="28803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i="1" dirty="0">
                <a:solidFill>
                  <a:schemeClr val="hlink"/>
                </a:solidFill>
                <a:latin typeface="+mj-lt"/>
              </a:rPr>
              <a:t>Q</a:t>
            </a:r>
            <a:r>
              <a:rPr lang="zh-CN" altLang="en-US" sz="2800" i="1" dirty="0">
                <a:solidFill>
                  <a:schemeClr val="hlink"/>
                </a:solidFill>
                <a:latin typeface="+mj-lt"/>
              </a:rPr>
              <a:t>   </a:t>
            </a:r>
            <a:r>
              <a:rPr lang="en-US" altLang="zh-CN" sz="2800" i="1" dirty="0">
                <a:solidFill>
                  <a:schemeClr val="hlink"/>
                </a:solidFill>
                <a:latin typeface="+mj-lt"/>
              </a:rPr>
              <a:t>Q’</a:t>
            </a:r>
            <a:r>
              <a:rPr lang="zh-CN" altLang="en-US" sz="2800" i="1" dirty="0">
                <a:solidFill>
                  <a:schemeClr val="hlink"/>
                </a:solidFill>
                <a:latin typeface="+mj-lt"/>
              </a:rPr>
              <a:t>  </a:t>
            </a:r>
            <a:r>
              <a:rPr lang="en-US" altLang="zh-CN" sz="2800" i="1" dirty="0">
                <a:solidFill>
                  <a:srgbClr val="C00000"/>
                </a:solidFill>
                <a:latin typeface="+mj-lt"/>
              </a:rPr>
              <a:t>No change</a:t>
            </a:r>
          </a:p>
        </p:txBody>
      </p:sp>
      <p:pic>
        <p:nvPicPr>
          <p:cNvPr id="2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3778" y="1556792"/>
            <a:ext cx="5924550"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95600" y="4251920"/>
            <a:ext cx="3086100"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 name="Text Box 50"/>
          <p:cNvSpPr txBox="1">
            <a:spLocks noChangeArrowheads="1"/>
          </p:cNvSpPr>
          <p:nvPr/>
        </p:nvSpPr>
        <p:spPr bwMode="auto">
          <a:xfrm>
            <a:off x="7608168" y="5426060"/>
            <a:ext cx="22098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r>
              <a:rPr lang="zh-CN" altLang="en-US" sz="2800" dirty="0">
                <a:solidFill>
                  <a:schemeClr val="hlink"/>
                </a:solidFill>
                <a:latin typeface="+mj-lt"/>
              </a:rPr>
              <a:t>   </a:t>
            </a:r>
            <a:r>
              <a:rPr lang="en-US" altLang="zh-CN" sz="2800" dirty="0">
                <a:solidFill>
                  <a:schemeClr val="hlink"/>
                </a:solidFill>
                <a:latin typeface="+mj-lt"/>
              </a:rPr>
              <a:t>0</a:t>
            </a:r>
            <a:r>
              <a:rPr lang="zh-CN" altLang="en-US" sz="2800" dirty="0">
                <a:solidFill>
                  <a:schemeClr val="hlink"/>
                </a:solidFill>
                <a:latin typeface="+mj-lt"/>
              </a:rPr>
              <a:t>   </a:t>
            </a:r>
            <a:r>
              <a:rPr lang="en-US" altLang="zh-CN" sz="2800" i="1" dirty="0">
                <a:solidFill>
                  <a:srgbClr val="C00000"/>
                </a:solidFill>
                <a:latin typeface="+mj-lt"/>
              </a:rPr>
              <a:t>Set</a:t>
            </a:r>
          </a:p>
        </p:txBody>
      </p:sp>
    </p:spTree>
    <p:extLst>
      <p:ext uri="{BB962C8B-B14F-4D97-AF65-F5344CB8AC3E}">
        <p14:creationId xmlns:p14="http://schemas.microsoft.com/office/powerpoint/2010/main" val="354038100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66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665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665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55" grpId="0"/>
      <p:bldP spid="196656" grpId="0"/>
      <p:bldP spid="196657" grpId="0"/>
      <p:bldP spid="20" grpId="0"/>
      <p:bldP spid="21" grpId="0"/>
      <p:bldP spid="2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7809" y="1157858"/>
            <a:ext cx="5876925" cy="2343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7609" y="3750916"/>
            <a:ext cx="2619375" cy="1838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5672006" y="5631632"/>
            <a:ext cx="1069011" cy="461665"/>
          </a:xfrm>
          <a:prstGeom prst="rect">
            <a:avLst/>
          </a:prstGeom>
        </p:spPr>
        <p:txBody>
          <a:bodyPr wrap="none">
            <a:spAutoFit/>
          </a:bodyPr>
          <a:lstStyle/>
          <a:p>
            <a:r>
              <a:rPr lang="en-IN" sz="2400" b="1" i="1" dirty="0">
                <a:solidFill>
                  <a:srgbClr val="002060"/>
                </a:solidFill>
              </a:rPr>
              <a:t>D </a:t>
            </a:r>
            <a:r>
              <a:rPr lang="en-IN" sz="2400" b="1" dirty="0">
                <a:solidFill>
                  <a:srgbClr val="002060"/>
                </a:solidFill>
              </a:rPr>
              <a:t>latch</a:t>
            </a:r>
            <a:endParaRPr lang="en-IN" sz="2400" dirty="0">
              <a:solidFill>
                <a:srgbClr val="002060"/>
              </a:solidFill>
            </a:endParaRP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80110" y="1497336"/>
            <a:ext cx="1971675" cy="157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87682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barn(inVertical)">
                                      <p:cBhvr>
                                        <p:cTn id="7" dur="500"/>
                                        <p:tgtEl>
                                          <p:spTgt spid="102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098"/>
                                        </p:tgtEl>
                                        <p:attrNameLst>
                                          <p:attrName>style.visibility</p:attrName>
                                        </p:attrNameLst>
                                      </p:cBhvr>
                                      <p:to>
                                        <p:strVal val="visible"/>
                                      </p:to>
                                    </p:set>
                                    <p:animEffect transition="in" filter="barn(inVertical)">
                                      <p:cBhvr>
                                        <p:cTn id="12" dur="500"/>
                                        <p:tgtEl>
                                          <p:spTgt spid="409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4100"/>
                                        </p:tgtEl>
                                        <p:attrNameLst>
                                          <p:attrName>style.visibility</p:attrName>
                                        </p:attrNameLst>
                                      </p:cBhvr>
                                      <p:to>
                                        <p:strVal val="visible"/>
                                      </p:to>
                                    </p:set>
                                    <p:animEffect transition="in" filter="barn(inVertical)">
                                      <p:cBhvr>
                                        <p:cTn id="17" dur="500"/>
                                        <p:tgtEl>
                                          <p:spTgt spid="4100"/>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3392" y="692697"/>
            <a:ext cx="11089232" cy="5433467"/>
          </a:xfrm>
        </p:spPr>
        <p:txBody>
          <a:bodyPr>
            <a:noAutofit/>
          </a:bodyPr>
          <a:lstStyle/>
          <a:p>
            <a:pPr algn="just"/>
            <a:r>
              <a:rPr lang="en-US" sz="2800" dirty="0"/>
              <a:t>The </a:t>
            </a:r>
            <a:r>
              <a:rPr lang="en-US" sz="2800" i="1" dirty="0"/>
              <a:t>D </a:t>
            </a:r>
            <a:r>
              <a:rPr lang="en-US" sz="2800" dirty="0"/>
              <a:t>latch receives that designation from its ability to hold </a:t>
            </a:r>
            <a:r>
              <a:rPr lang="en-US" sz="2800" i="1" dirty="0"/>
              <a:t>data </a:t>
            </a:r>
            <a:r>
              <a:rPr lang="en-US" sz="2800" dirty="0"/>
              <a:t>in its internal storage.</a:t>
            </a:r>
          </a:p>
          <a:p>
            <a:pPr algn="just"/>
            <a:r>
              <a:rPr lang="en-US" sz="2800" dirty="0"/>
              <a:t>It is suited for use as a temporary storage for binary information between a unit and its environment.</a:t>
            </a:r>
          </a:p>
          <a:p>
            <a:pPr algn="just"/>
            <a:r>
              <a:rPr lang="en-US" sz="2800" dirty="0"/>
              <a:t>The binary information present at the data input of the </a:t>
            </a:r>
            <a:r>
              <a:rPr lang="en-US" sz="2800" i="1" dirty="0"/>
              <a:t>D </a:t>
            </a:r>
            <a:r>
              <a:rPr lang="en-US" sz="2800" dirty="0"/>
              <a:t>latch is transferred to the </a:t>
            </a:r>
            <a:r>
              <a:rPr lang="en-US" sz="2800" i="1" dirty="0"/>
              <a:t>Q </a:t>
            </a:r>
            <a:r>
              <a:rPr lang="en-US" sz="2800" dirty="0"/>
              <a:t>output when the enable input is asserted. The output follows changes in the data input as long as the enable input is asserted.</a:t>
            </a:r>
          </a:p>
          <a:p>
            <a:pPr algn="just"/>
            <a:r>
              <a:rPr lang="en-US" sz="2800" dirty="0"/>
              <a:t>This situation provides a path from input </a:t>
            </a:r>
            <a:r>
              <a:rPr lang="en-US" sz="2800" i="1" dirty="0"/>
              <a:t>D </a:t>
            </a:r>
            <a:r>
              <a:rPr lang="en-US" sz="2800" dirty="0"/>
              <a:t>to the output, and for this reason, the circuit is often called a </a:t>
            </a:r>
            <a:r>
              <a:rPr lang="en-US" sz="2800" i="1" dirty="0">
                <a:solidFill>
                  <a:srgbClr val="002060"/>
                </a:solidFill>
              </a:rPr>
              <a:t>transparent </a:t>
            </a:r>
            <a:r>
              <a:rPr lang="en-IN" sz="2800" dirty="0">
                <a:solidFill>
                  <a:srgbClr val="002060"/>
                </a:solidFill>
              </a:rPr>
              <a:t>latch</a:t>
            </a:r>
            <a:r>
              <a:rPr lang="en-IN" sz="2800" dirty="0"/>
              <a:t>.</a:t>
            </a:r>
          </a:p>
        </p:txBody>
      </p:sp>
    </p:spTree>
    <p:extLst>
      <p:ext uri="{BB962C8B-B14F-4D97-AF65-F5344CB8AC3E}">
        <p14:creationId xmlns:p14="http://schemas.microsoft.com/office/powerpoint/2010/main" val="3285847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rgbClr val="C00000"/>
                </a:solidFill>
              </a:rPr>
              <a:t>FLIP-FLOPS</a:t>
            </a:r>
          </a:p>
        </p:txBody>
      </p:sp>
      <p:sp>
        <p:nvSpPr>
          <p:cNvPr id="3" name="Content Placeholder 2"/>
          <p:cNvSpPr>
            <a:spLocks noGrp="1"/>
          </p:cNvSpPr>
          <p:nvPr>
            <p:ph idx="1"/>
          </p:nvPr>
        </p:nvSpPr>
        <p:spPr/>
        <p:txBody>
          <a:bodyPr/>
          <a:lstStyle/>
          <a:p>
            <a:pPr algn="just"/>
            <a:r>
              <a:rPr lang="en-US" dirty="0"/>
              <a:t>The storage elements (memory) used in clocked sequential circuits are called </a:t>
            </a:r>
            <a:r>
              <a:rPr lang="en-US" i="1" dirty="0">
                <a:solidFill>
                  <a:srgbClr val="C00000"/>
                </a:solidFill>
              </a:rPr>
              <a:t>flip-flops</a:t>
            </a:r>
            <a:r>
              <a:rPr lang="en-US" i="1" dirty="0"/>
              <a:t>.</a:t>
            </a:r>
          </a:p>
          <a:p>
            <a:pPr algn="just"/>
            <a:r>
              <a:rPr lang="en-US" dirty="0"/>
              <a:t>A flip-flop is a binary storage device capable of storing one bit of information.</a:t>
            </a:r>
          </a:p>
          <a:p>
            <a:pPr algn="just"/>
            <a:r>
              <a:rPr lang="en-US" dirty="0"/>
              <a:t>In a stable state, the output of a flip-flop is either 0 or 1.</a:t>
            </a:r>
          </a:p>
          <a:p>
            <a:pPr algn="just"/>
            <a:r>
              <a:rPr lang="en-US" dirty="0"/>
              <a:t>A sequential circuit may use many flip-flops to store as many bits as necessary.</a:t>
            </a:r>
            <a:endParaRPr lang="en-IN" dirty="0"/>
          </a:p>
        </p:txBody>
      </p:sp>
    </p:spTree>
    <p:extLst>
      <p:ext uri="{BB962C8B-B14F-4D97-AF65-F5344CB8AC3E}">
        <p14:creationId xmlns:p14="http://schemas.microsoft.com/office/powerpoint/2010/main" val="2302857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06090"/>
          </a:xfrm>
        </p:spPr>
        <p:txBody>
          <a:bodyPr>
            <a:normAutofit/>
          </a:bodyPr>
          <a:lstStyle/>
          <a:p>
            <a:r>
              <a:rPr lang="en-US" sz="3600" dirty="0">
                <a:solidFill>
                  <a:srgbClr val="C00000"/>
                </a:solidFill>
              </a:rPr>
              <a:t>Difference between Flip-flop and Latch</a:t>
            </a:r>
            <a:endParaRPr lang="en-IN" sz="3600" dirty="0">
              <a:solidFill>
                <a:srgbClr val="C00000"/>
              </a:solidFill>
            </a:endParaRPr>
          </a:p>
        </p:txBody>
      </p:sp>
      <p:sp>
        <p:nvSpPr>
          <p:cNvPr id="3" name="Text Placeholder 2"/>
          <p:cNvSpPr>
            <a:spLocks noGrp="1"/>
          </p:cNvSpPr>
          <p:nvPr>
            <p:ph type="body" idx="1"/>
          </p:nvPr>
        </p:nvSpPr>
        <p:spPr>
          <a:xfrm>
            <a:off x="1981200" y="908720"/>
            <a:ext cx="4040188" cy="432048"/>
          </a:xfrm>
        </p:spPr>
        <p:txBody>
          <a:bodyPr>
            <a:normAutofit lnSpcReduction="10000"/>
          </a:bodyPr>
          <a:lstStyle/>
          <a:p>
            <a:pPr algn="ctr"/>
            <a:r>
              <a:rPr lang="en-US" dirty="0">
                <a:solidFill>
                  <a:srgbClr val="002060"/>
                </a:solidFill>
              </a:rPr>
              <a:t>Flip-flop</a:t>
            </a:r>
            <a:endParaRPr lang="en-IN" dirty="0">
              <a:solidFill>
                <a:srgbClr val="002060"/>
              </a:solidFill>
            </a:endParaRPr>
          </a:p>
        </p:txBody>
      </p:sp>
      <p:sp>
        <p:nvSpPr>
          <p:cNvPr id="4" name="Content Placeholder 3"/>
          <p:cNvSpPr>
            <a:spLocks noGrp="1"/>
          </p:cNvSpPr>
          <p:nvPr>
            <p:ph sz="half" idx="2"/>
          </p:nvPr>
        </p:nvSpPr>
        <p:spPr>
          <a:xfrm>
            <a:off x="1981200" y="1296144"/>
            <a:ext cx="4040188" cy="5373216"/>
          </a:xfrm>
        </p:spPr>
        <p:txBody>
          <a:bodyPr>
            <a:noAutofit/>
          </a:bodyPr>
          <a:lstStyle/>
          <a:p>
            <a:pPr algn="just"/>
            <a:r>
              <a:rPr lang="en-US" sz="2000" dirty="0"/>
              <a:t>Flip-flop is a </a:t>
            </a:r>
            <a:r>
              <a:rPr lang="en-US" sz="2000" dirty="0" err="1"/>
              <a:t>bistable</a:t>
            </a:r>
            <a:r>
              <a:rPr lang="en-US" sz="2000" dirty="0"/>
              <a:t> device i.e., it has two stable states that are represented as 0 and 1.</a:t>
            </a:r>
          </a:p>
          <a:p>
            <a:pPr algn="just"/>
            <a:r>
              <a:rPr lang="en-US" sz="2000" dirty="0"/>
              <a:t>It checks the inputs but changes the output only at times defined by the clock signal.</a:t>
            </a:r>
          </a:p>
          <a:p>
            <a:pPr algn="just"/>
            <a:r>
              <a:rPr lang="en-US" sz="2000" dirty="0"/>
              <a:t>It </a:t>
            </a:r>
            <a:r>
              <a:rPr lang="en-US" sz="2000"/>
              <a:t>is an </a:t>
            </a:r>
            <a:r>
              <a:rPr lang="en-US" sz="2000" dirty="0"/>
              <a:t>edge triggered device.</a:t>
            </a:r>
          </a:p>
          <a:p>
            <a:pPr algn="just"/>
            <a:r>
              <a:rPr lang="en-US" sz="2000" dirty="0"/>
              <a:t>Flip-flops are designed with latches by adding an extra clock signal.</a:t>
            </a:r>
          </a:p>
          <a:p>
            <a:pPr algn="just"/>
            <a:r>
              <a:rPr lang="en-US" sz="2000" dirty="0"/>
              <a:t>Flip-flop always have a clock signal.</a:t>
            </a:r>
          </a:p>
          <a:p>
            <a:pPr algn="just"/>
            <a:r>
              <a:rPr lang="en-US" sz="2000" dirty="0"/>
              <a:t>A flip-flop can be clocked for all time.</a:t>
            </a:r>
          </a:p>
          <a:p>
            <a:pPr algn="just"/>
            <a:r>
              <a:rPr lang="en-US" sz="2000" dirty="0"/>
              <a:t>Flip-Flops are very slow and </a:t>
            </a:r>
            <a:r>
              <a:rPr lang="en-IN" sz="2000" dirty="0"/>
              <a:t>consume more power.</a:t>
            </a:r>
          </a:p>
        </p:txBody>
      </p:sp>
      <p:sp>
        <p:nvSpPr>
          <p:cNvPr id="5" name="Text Placeholder 4"/>
          <p:cNvSpPr>
            <a:spLocks noGrp="1"/>
          </p:cNvSpPr>
          <p:nvPr>
            <p:ph type="body" sz="quarter" idx="3"/>
          </p:nvPr>
        </p:nvSpPr>
        <p:spPr>
          <a:xfrm>
            <a:off x="6169026" y="908720"/>
            <a:ext cx="4041775" cy="432048"/>
          </a:xfrm>
        </p:spPr>
        <p:txBody>
          <a:bodyPr>
            <a:normAutofit lnSpcReduction="10000"/>
          </a:bodyPr>
          <a:lstStyle/>
          <a:p>
            <a:pPr algn="ctr"/>
            <a:r>
              <a:rPr lang="en-US" dirty="0">
                <a:solidFill>
                  <a:srgbClr val="002060"/>
                </a:solidFill>
              </a:rPr>
              <a:t>Latch</a:t>
            </a:r>
            <a:endParaRPr lang="en-IN" dirty="0">
              <a:solidFill>
                <a:srgbClr val="002060"/>
              </a:solidFill>
            </a:endParaRPr>
          </a:p>
        </p:txBody>
      </p:sp>
      <p:sp>
        <p:nvSpPr>
          <p:cNvPr id="6" name="Content Placeholder 5"/>
          <p:cNvSpPr>
            <a:spLocks noGrp="1"/>
          </p:cNvSpPr>
          <p:nvPr>
            <p:ph sz="quarter" idx="4"/>
          </p:nvPr>
        </p:nvSpPr>
        <p:spPr>
          <a:xfrm>
            <a:off x="6169026" y="1368152"/>
            <a:ext cx="4041775" cy="5301208"/>
          </a:xfrm>
        </p:spPr>
        <p:txBody>
          <a:bodyPr>
            <a:noAutofit/>
          </a:bodyPr>
          <a:lstStyle/>
          <a:p>
            <a:pPr algn="just"/>
            <a:r>
              <a:rPr lang="en-US" sz="2000" dirty="0"/>
              <a:t>Latch is also a </a:t>
            </a:r>
            <a:r>
              <a:rPr lang="en-US" sz="2000" dirty="0" err="1"/>
              <a:t>bistable</a:t>
            </a:r>
            <a:r>
              <a:rPr lang="en-US" sz="2000" dirty="0"/>
              <a:t> device whose states are also represented as 0 and 1.</a:t>
            </a:r>
          </a:p>
          <a:p>
            <a:pPr algn="just"/>
            <a:r>
              <a:rPr lang="en-US" sz="2000" dirty="0"/>
              <a:t>It checks the inputs continuously and responds to the changes in inputs immediately.</a:t>
            </a:r>
          </a:p>
          <a:p>
            <a:pPr algn="just"/>
            <a:r>
              <a:rPr lang="en-US" sz="2000" dirty="0"/>
              <a:t>It is a level triggered device.</a:t>
            </a:r>
          </a:p>
          <a:p>
            <a:pPr algn="just"/>
            <a:r>
              <a:rPr lang="en-US" sz="2000" dirty="0"/>
              <a:t>The structure of latch is built with logic gates.</a:t>
            </a:r>
          </a:p>
          <a:p>
            <a:pPr algn="just"/>
            <a:endParaRPr lang="en-US" sz="1200" dirty="0"/>
          </a:p>
          <a:p>
            <a:pPr algn="just"/>
            <a:r>
              <a:rPr lang="en-US" sz="2000" dirty="0"/>
              <a:t>Latch doesn’t have a clock signal.</a:t>
            </a:r>
          </a:p>
          <a:p>
            <a:pPr algn="just"/>
            <a:endParaRPr lang="en-US" sz="1600" dirty="0"/>
          </a:p>
          <a:p>
            <a:pPr algn="just"/>
            <a:r>
              <a:rPr lang="en-US" sz="2000" dirty="0"/>
              <a:t>A latch may be clock less or clocked.</a:t>
            </a:r>
          </a:p>
          <a:p>
            <a:pPr algn="just"/>
            <a:r>
              <a:rPr lang="en-IN" sz="2000" dirty="0"/>
              <a:t>Latches are very fast and consume less power.</a:t>
            </a:r>
          </a:p>
        </p:txBody>
      </p:sp>
    </p:spTree>
    <p:extLst>
      <p:ext uri="{BB962C8B-B14F-4D97-AF65-F5344CB8AC3E}">
        <p14:creationId xmlns:p14="http://schemas.microsoft.com/office/powerpoint/2010/main" val="4156085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 calcmode="lin" valueType="num">
                                      <p:cBhvr additive="base">
                                        <p:cTn id="18"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4">
                                            <p:txEl>
                                              <p:pRg st="0" end="0"/>
                                            </p:txEl>
                                          </p:spTgt>
                                        </p:tgtEl>
                                        <p:attrNameLst>
                                          <p:attrName>style.visibility</p:attrName>
                                        </p:attrNameLst>
                                      </p:cBhvr>
                                      <p:to>
                                        <p:strVal val="visible"/>
                                      </p:to>
                                    </p:set>
                                    <p:anim calcmode="lin" valueType="num">
                                      <p:cBhvr additive="base">
                                        <p:cTn id="24"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6">
                                            <p:txEl>
                                              <p:pRg st="0" end="0"/>
                                            </p:txEl>
                                          </p:spTgt>
                                        </p:tgtEl>
                                        <p:attrNameLst>
                                          <p:attrName>style.visibility</p:attrName>
                                        </p:attrNameLst>
                                      </p:cBhvr>
                                      <p:to>
                                        <p:strVal val="visible"/>
                                      </p:to>
                                    </p:set>
                                    <p:anim calcmode="lin" valueType="num">
                                      <p:cBhvr additive="base">
                                        <p:cTn id="30"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4">
                                            <p:txEl>
                                              <p:pRg st="1" end="1"/>
                                            </p:txEl>
                                          </p:spTgt>
                                        </p:tgtEl>
                                        <p:attrNameLst>
                                          <p:attrName>style.visibility</p:attrName>
                                        </p:attrNameLst>
                                      </p:cBhvr>
                                      <p:to>
                                        <p:strVal val="visible"/>
                                      </p:to>
                                    </p:set>
                                    <p:anim calcmode="lin" valueType="num">
                                      <p:cBhvr additive="base">
                                        <p:cTn id="36"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6">
                                            <p:txEl>
                                              <p:pRg st="1" end="1"/>
                                            </p:txEl>
                                          </p:spTgt>
                                        </p:tgtEl>
                                        <p:attrNameLst>
                                          <p:attrName>style.visibility</p:attrName>
                                        </p:attrNameLst>
                                      </p:cBhvr>
                                      <p:to>
                                        <p:strVal val="visible"/>
                                      </p:to>
                                    </p:set>
                                    <p:anim calcmode="lin" valueType="num">
                                      <p:cBhvr additive="base">
                                        <p:cTn id="42"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4">
                                            <p:txEl>
                                              <p:pRg st="2" end="2"/>
                                            </p:txEl>
                                          </p:spTgt>
                                        </p:tgtEl>
                                        <p:attrNameLst>
                                          <p:attrName>style.visibility</p:attrName>
                                        </p:attrNameLst>
                                      </p:cBhvr>
                                      <p:to>
                                        <p:strVal val="visible"/>
                                      </p:to>
                                    </p:set>
                                    <p:anim calcmode="lin" valueType="num">
                                      <p:cBhvr additive="base">
                                        <p:cTn id="48"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nodeType="clickEffect">
                                  <p:stCondLst>
                                    <p:cond delay="0"/>
                                  </p:stCondLst>
                                  <p:childTnLst>
                                    <p:set>
                                      <p:cBhvr>
                                        <p:cTn id="53" dur="1" fill="hold">
                                          <p:stCondLst>
                                            <p:cond delay="0"/>
                                          </p:stCondLst>
                                        </p:cTn>
                                        <p:tgtEl>
                                          <p:spTgt spid="6">
                                            <p:txEl>
                                              <p:pRg st="2" end="2"/>
                                            </p:txEl>
                                          </p:spTgt>
                                        </p:tgtEl>
                                        <p:attrNameLst>
                                          <p:attrName>style.visibility</p:attrName>
                                        </p:attrNameLst>
                                      </p:cBhvr>
                                      <p:to>
                                        <p:strVal val="visible"/>
                                      </p:to>
                                    </p:set>
                                    <p:anim calcmode="lin" valueType="num">
                                      <p:cBhvr additive="base">
                                        <p:cTn id="54"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nodeType="clickEffect">
                                  <p:stCondLst>
                                    <p:cond delay="0"/>
                                  </p:stCondLst>
                                  <p:childTnLst>
                                    <p:set>
                                      <p:cBhvr>
                                        <p:cTn id="59" dur="1" fill="hold">
                                          <p:stCondLst>
                                            <p:cond delay="0"/>
                                          </p:stCondLst>
                                        </p:cTn>
                                        <p:tgtEl>
                                          <p:spTgt spid="4">
                                            <p:txEl>
                                              <p:pRg st="3" end="3"/>
                                            </p:txEl>
                                          </p:spTgt>
                                        </p:tgtEl>
                                        <p:attrNameLst>
                                          <p:attrName>style.visibility</p:attrName>
                                        </p:attrNameLst>
                                      </p:cBhvr>
                                      <p:to>
                                        <p:strVal val="visible"/>
                                      </p:to>
                                    </p:set>
                                    <p:anim calcmode="lin" valueType="num">
                                      <p:cBhvr additive="base">
                                        <p:cTn id="60"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61"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nodeType="clickEffect">
                                  <p:stCondLst>
                                    <p:cond delay="0"/>
                                  </p:stCondLst>
                                  <p:childTnLst>
                                    <p:set>
                                      <p:cBhvr>
                                        <p:cTn id="65" dur="1" fill="hold">
                                          <p:stCondLst>
                                            <p:cond delay="0"/>
                                          </p:stCondLst>
                                        </p:cTn>
                                        <p:tgtEl>
                                          <p:spTgt spid="6">
                                            <p:txEl>
                                              <p:pRg st="3" end="3"/>
                                            </p:txEl>
                                          </p:spTgt>
                                        </p:tgtEl>
                                        <p:attrNameLst>
                                          <p:attrName>style.visibility</p:attrName>
                                        </p:attrNameLst>
                                      </p:cBhvr>
                                      <p:to>
                                        <p:strVal val="visible"/>
                                      </p:to>
                                    </p:set>
                                    <p:anim calcmode="lin" valueType="num">
                                      <p:cBhvr additive="base">
                                        <p:cTn id="66"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67"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nodeType="clickEffect">
                                  <p:stCondLst>
                                    <p:cond delay="0"/>
                                  </p:stCondLst>
                                  <p:childTnLst>
                                    <p:set>
                                      <p:cBhvr>
                                        <p:cTn id="71" dur="1" fill="hold">
                                          <p:stCondLst>
                                            <p:cond delay="0"/>
                                          </p:stCondLst>
                                        </p:cTn>
                                        <p:tgtEl>
                                          <p:spTgt spid="4">
                                            <p:txEl>
                                              <p:pRg st="4" end="4"/>
                                            </p:txEl>
                                          </p:spTgt>
                                        </p:tgtEl>
                                        <p:attrNameLst>
                                          <p:attrName>style.visibility</p:attrName>
                                        </p:attrNameLst>
                                      </p:cBhvr>
                                      <p:to>
                                        <p:strVal val="visible"/>
                                      </p:to>
                                    </p:set>
                                    <p:anim calcmode="lin" valueType="num">
                                      <p:cBhvr additive="base">
                                        <p:cTn id="72"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73"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2" presetClass="entr" presetSubtype="4" fill="hold" nodeType="clickEffect">
                                  <p:stCondLst>
                                    <p:cond delay="0"/>
                                  </p:stCondLst>
                                  <p:childTnLst>
                                    <p:set>
                                      <p:cBhvr>
                                        <p:cTn id="77" dur="1" fill="hold">
                                          <p:stCondLst>
                                            <p:cond delay="0"/>
                                          </p:stCondLst>
                                        </p:cTn>
                                        <p:tgtEl>
                                          <p:spTgt spid="6">
                                            <p:txEl>
                                              <p:pRg st="5" end="5"/>
                                            </p:txEl>
                                          </p:spTgt>
                                        </p:tgtEl>
                                        <p:attrNameLst>
                                          <p:attrName>style.visibility</p:attrName>
                                        </p:attrNameLst>
                                      </p:cBhvr>
                                      <p:to>
                                        <p:strVal val="visible"/>
                                      </p:to>
                                    </p:set>
                                    <p:anim calcmode="lin" valueType="num">
                                      <p:cBhvr additive="base">
                                        <p:cTn id="78"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79" dur="500" fill="hold"/>
                                        <p:tgtEl>
                                          <p:spTgt spid="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2" presetClass="entr" presetSubtype="4" fill="hold" nodeType="clickEffect">
                                  <p:stCondLst>
                                    <p:cond delay="0"/>
                                  </p:stCondLst>
                                  <p:childTnLst>
                                    <p:set>
                                      <p:cBhvr>
                                        <p:cTn id="83" dur="1" fill="hold">
                                          <p:stCondLst>
                                            <p:cond delay="0"/>
                                          </p:stCondLst>
                                        </p:cTn>
                                        <p:tgtEl>
                                          <p:spTgt spid="4">
                                            <p:txEl>
                                              <p:pRg st="5" end="5"/>
                                            </p:txEl>
                                          </p:spTgt>
                                        </p:tgtEl>
                                        <p:attrNameLst>
                                          <p:attrName>style.visibility</p:attrName>
                                        </p:attrNameLst>
                                      </p:cBhvr>
                                      <p:to>
                                        <p:strVal val="visible"/>
                                      </p:to>
                                    </p:set>
                                    <p:anim calcmode="lin" valueType="num">
                                      <p:cBhvr additive="base">
                                        <p:cTn id="84"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85"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2" presetClass="entr" presetSubtype="4" fill="hold" nodeType="clickEffect">
                                  <p:stCondLst>
                                    <p:cond delay="0"/>
                                  </p:stCondLst>
                                  <p:childTnLst>
                                    <p:set>
                                      <p:cBhvr>
                                        <p:cTn id="89" dur="1" fill="hold">
                                          <p:stCondLst>
                                            <p:cond delay="0"/>
                                          </p:stCondLst>
                                        </p:cTn>
                                        <p:tgtEl>
                                          <p:spTgt spid="6">
                                            <p:txEl>
                                              <p:pRg st="7" end="7"/>
                                            </p:txEl>
                                          </p:spTgt>
                                        </p:tgtEl>
                                        <p:attrNameLst>
                                          <p:attrName>style.visibility</p:attrName>
                                        </p:attrNameLst>
                                      </p:cBhvr>
                                      <p:to>
                                        <p:strVal val="visible"/>
                                      </p:to>
                                    </p:set>
                                    <p:anim calcmode="lin" valueType="num">
                                      <p:cBhvr additive="base">
                                        <p:cTn id="90" dur="500" fill="hold"/>
                                        <p:tgtEl>
                                          <p:spTgt spid="6">
                                            <p:txEl>
                                              <p:pRg st="7" end="7"/>
                                            </p:txEl>
                                          </p:spTgt>
                                        </p:tgtEl>
                                        <p:attrNameLst>
                                          <p:attrName>ppt_x</p:attrName>
                                        </p:attrNameLst>
                                      </p:cBhvr>
                                      <p:tavLst>
                                        <p:tav tm="0">
                                          <p:val>
                                            <p:strVal val="#ppt_x"/>
                                          </p:val>
                                        </p:tav>
                                        <p:tav tm="100000">
                                          <p:val>
                                            <p:strVal val="#ppt_x"/>
                                          </p:val>
                                        </p:tav>
                                      </p:tavLst>
                                    </p:anim>
                                    <p:anim calcmode="lin" valueType="num">
                                      <p:cBhvr additive="base">
                                        <p:cTn id="91" dur="500" fill="hold"/>
                                        <p:tgtEl>
                                          <p:spTgt spid="6">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4" presetID="2" presetClass="entr" presetSubtype="4" fill="hold" nodeType="clickEffect">
                                  <p:stCondLst>
                                    <p:cond delay="0"/>
                                  </p:stCondLst>
                                  <p:childTnLst>
                                    <p:set>
                                      <p:cBhvr>
                                        <p:cTn id="95" dur="1" fill="hold">
                                          <p:stCondLst>
                                            <p:cond delay="0"/>
                                          </p:stCondLst>
                                        </p:cTn>
                                        <p:tgtEl>
                                          <p:spTgt spid="4">
                                            <p:txEl>
                                              <p:pRg st="6" end="6"/>
                                            </p:txEl>
                                          </p:spTgt>
                                        </p:tgtEl>
                                        <p:attrNameLst>
                                          <p:attrName>style.visibility</p:attrName>
                                        </p:attrNameLst>
                                      </p:cBhvr>
                                      <p:to>
                                        <p:strVal val="visible"/>
                                      </p:to>
                                    </p:set>
                                    <p:anim calcmode="lin" valueType="num">
                                      <p:cBhvr additive="base">
                                        <p:cTn id="96"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97"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2" presetClass="entr" presetSubtype="4" fill="hold" nodeType="clickEffect">
                                  <p:stCondLst>
                                    <p:cond delay="0"/>
                                  </p:stCondLst>
                                  <p:childTnLst>
                                    <p:set>
                                      <p:cBhvr>
                                        <p:cTn id="101" dur="1" fill="hold">
                                          <p:stCondLst>
                                            <p:cond delay="0"/>
                                          </p:stCondLst>
                                        </p:cTn>
                                        <p:tgtEl>
                                          <p:spTgt spid="6">
                                            <p:txEl>
                                              <p:pRg st="8" end="8"/>
                                            </p:txEl>
                                          </p:spTgt>
                                        </p:tgtEl>
                                        <p:attrNameLst>
                                          <p:attrName>style.visibility</p:attrName>
                                        </p:attrNameLst>
                                      </p:cBhvr>
                                      <p:to>
                                        <p:strVal val="visible"/>
                                      </p:to>
                                    </p:set>
                                    <p:anim calcmode="lin" valueType="num">
                                      <p:cBhvr additive="base">
                                        <p:cTn id="102" dur="500" fill="hold"/>
                                        <p:tgtEl>
                                          <p:spTgt spid="6">
                                            <p:txEl>
                                              <p:pRg st="8" end="8"/>
                                            </p:txEl>
                                          </p:spTgt>
                                        </p:tgtEl>
                                        <p:attrNameLst>
                                          <p:attrName>ppt_x</p:attrName>
                                        </p:attrNameLst>
                                      </p:cBhvr>
                                      <p:tavLst>
                                        <p:tav tm="0">
                                          <p:val>
                                            <p:strVal val="#ppt_x"/>
                                          </p:val>
                                        </p:tav>
                                        <p:tav tm="100000">
                                          <p:val>
                                            <p:strVal val="#ppt_x"/>
                                          </p:val>
                                        </p:tav>
                                      </p:tavLst>
                                    </p:anim>
                                    <p:anim calcmode="lin" valueType="num">
                                      <p:cBhvr additive="base">
                                        <p:cTn id="103" dur="500" fill="hold"/>
                                        <p:tgtEl>
                                          <p:spTgt spid="6">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002060"/>
                </a:solidFill>
              </a:rPr>
              <a:t>Clock response in latch and flip-flop</a:t>
            </a:r>
            <a:endParaRPr lang="en-IN" dirty="0">
              <a:solidFill>
                <a:srgbClr val="002060"/>
              </a:solidFill>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9697" y="1412776"/>
            <a:ext cx="5439241" cy="3231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93379" y="4869160"/>
            <a:ext cx="3571875" cy="1352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4868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7170"/>
                                        </p:tgtEl>
                                        <p:attrNameLst>
                                          <p:attrName>style.visibility</p:attrName>
                                        </p:attrNameLst>
                                      </p:cBhvr>
                                      <p:to>
                                        <p:strVal val="visible"/>
                                      </p:to>
                                    </p:set>
                                    <p:animEffect transition="in" filter="barn(inVertical)">
                                      <p:cBhvr>
                                        <p:cTn id="12" dur="500"/>
                                        <p:tgtEl>
                                          <p:spTgt spid="7170"/>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7171"/>
                                        </p:tgtEl>
                                        <p:attrNameLst>
                                          <p:attrName>style.visibility</p:attrName>
                                        </p:attrNameLst>
                                      </p:cBhvr>
                                      <p:to>
                                        <p:strVal val="visible"/>
                                      </p:to>
                                    </p:set>
                                    <p:animEffect transition="in" filter="barn(inVertical)">
                                      <p:cBhvr>
                                        <p:cTn id="17" dur="500"/>
                                        <p:tgtEl>
                                          <p:spTgt spid="7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i="1" dirty="0">
                <a:solidFill>
                  <a:srgbClr val="0070C0"/>
                </a:solidFill>
              </a:rPr>
              <a:t>SR</a:t>
            </a:r>
            <a:r>
              <a:rPr lang="en-IN" dirty="0">
                <a:solidFill>
                  <a:srgbClr val="0070C0"/>
                </a:solidFill>
              </a:rPr>
              <a:t> Flip-Flop</a:t>
            </a:r>
          </a:p>
        </p:txBody>
      </p:sp>
      <p:pic>
        <p:nvPicPr>
          <p:cNvPr id="819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42706" y="1628800"/>
            <a:ext cx="4857750" cy="2476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1" y="4221088"/>
            <a:ext cx="2714625" cy="1885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40150" y="1733550"/>
            <a:ext cx="1971675" cy="169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03495" y="4035837"/>
            <a:ext cx="2867025" cy="203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90867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050"/>
                                        </p:tgtEl>
                                        <p:attrNameLst>
                                          <p:attrName>style.visibility</p:attrName>
                                        </p:attrNameLst>
                                      </p:cBhvr>
                                      <p:to>
                                        <p:strVal val="visible"/>
                                      </p:to>
                                    </p:set>
                                    <p:animEffect transition="in" filter="barn(inVertical)">
                                      <p:cBhvr>
                                        <p:cTn id="12" dur="500"/>
                                        <p:tgtEl>
                                          <p:spTgt spid="2050"/>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8196"/>
                                        </p:tgtEl>
                                        <p:attrNameLst>
                                          <p:attrName>style.visibility</p:attrName>
                                        </p:attrNameLst>
                                      </p:cBhvr>
                                      <p:to>
                                        <p:strVal val="visible"/>
                                      </p:to>
                                    </p:set>
                                    <p:animEffect transition="in" filter="barn(inVertical)">
                                      <p:cBhvr>
                                        <p:cTn id="17" dur="500"/>
                                        <p:tgtEl>
                                          <p:spTgt spid="8196"/>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2051"/>
                                        </p:tgtEl>
                                        <p:attrNameLst>
                                          <p:attrName>style.visibility</p:attrName>
                                        </p:attrNameLst>
                                      </p:cBhvr>
                                      <p:to>
                                        <p:strVal val="visible"/>
                                      </p:to>
                                    </p:set>
                                    <p:animEffect transition="in" filter="barn(inVertical)">
                                      <p:cBhvr>
                                        <p:cTn id="22" dur="500"/>
                                        <p:tgtEl>
                                          <p:spTgt spid="2051"/>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8198"/>
                                        </p:tgtEl>
                                        <p:attrNameLst>
                                          <p:attrName>style.visibility</p:attrName>
                                        </p:attrNameLst>
                                      </p:cBhvr>
                                      <p:to>
                                        <p:strVal val="visible"/>
                                      </p:to>
                                    </p:set>
                                    <p:animEffect transition="in" filter="barn(inVertical)">
                                      <p:cBhvr>
                                        <p:cTn id="27" dur="500"/>
                                        <p:tgtEl>
                                          <p:spTgt spid="81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i="1" dirty="0">
                <a:solidFill>
                  <a:srgbClr val="0070C0"/>
                </a:solidFill>
              </a:rPr>
              <a:t>D</a:t>
            </a:r>
            <a:r>
              <a:rPr lang="en-IN" dirty="0">
                <a:solidFill>
                  <a:srgbClr val="0070C0"/>
                </a:solidFill>
              </a:rPr>
              <a:t> Flip-Flop</a:t>
            </a:r>
          </a:p>
        </p:txBody>
      </p:sp>
      <p:pic>
        <p:nvPicPr>
          <p:cNvPr id="922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1680" y="4769322"/>
            <a:ext cx="1666875" cy="132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3552" y="1988841"/>
            <a:ext cx="2000250" cy="157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66382" y="1556793"/>
            <a:ext cx="5934075" cy="2371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94806" y="4290303"/>
            <a:ext cx="2305050" cy="174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2942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074"/>
                                        </p:tgtEl>
                                        <p:attrNameLst>
                                          <p:attrName>style.visibility</p:attrName>
                                        </p:attrNameLst>
                                      </p:cBhvr>
                                      <p:to>
                                        <p:strVal val="visible"/>
                                      </p:to>
                                    </p:set>
                                    <p:animEffect transition="in" filter="barn(inVertical)">
                                      <p:cBhvr>
                                        <p:cTn id="12" dur="500"/>
                                        <p:tgtEl>
                                          <p:spTgt spid="3074"/>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075"/>
                                        </p:tgtEl>
                                        <p:attrNameLst>
                                          <p:attrName>style.visibility</p:attrName>
                                        </p:attrNameLst>
                                      </p:cBhvr>
                                      <p:to>
                                        <p:strVal val="visible"/>
                                      </p:to>
                                    </p:set>
                                    <p:animEffect transition="in" filter="barn(inVertical)">
                                      <p:cBhvr>
                                        <p:cTn id="17" dur="500"/>
                                        <p:tgtEl>
                                          <p:spTgt spid="3075"/>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076"/>
                                        </p:tgtEl>
                                        <p:attrNameLst>
                                          <p:attrName>style.visibility</p:attrName>
                                        </p:attrNameLst>
                                      </p:cBhvr>
                                      <p:to>
                                        <p:strVal val="visible"/>
                                      </p:to>
                                    </p:set>
                                    <p:animEffect transition="in" filter="barn(inVertical)">
                                      <p:cBhvr>
                                        <p:cTn id="22" dur="500"/>
                                        <p:tgtEl>
                                          <p:spTgt spid="3076"/>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9221"/>
                                        </p:tgtEl>
                                        <p:attrNameLst>
                                          <p:attrName>style.visibility</p:attrName>
                                        </p:attrNameLst>
                                      </p:cBhvr>
                                      <p:to>
                                        <p:strVal val="visible"/>
                                      </p:to>
                                    </p:set>
                                    <p:animEffect transition="in" filter="barn(inVertical)">
                                      <p:cBhvr>
                                        <p:cTn id="27" dur="500"/>
                                        <p:tgtEl>
                                          <p:spTgt spid="92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i="1" dirty="0">
                <a:solidFill>
                  <a:srgbClr val="0070C0"/>
                </a:solidFill>
              </a:rPr>
              <a:t>JK</a:t>
            </a:r>
            <a:r>
              <a:rPr lang="en-IN" dirty="0">
                <a:solidFill>
                  <a:srgbClr val="0070C0"/>
                </a:solidFill>
              </a:rPr>
              <a:t> Flip-Flop</a:t>
            </a:r>
            <a:endParaRPr lang="en-IN" dirty="0"/>
          </a:p>
        </p:txBody>
      </p:sp>
      <p:sp>
        <p:nvSpPr>
          <p:cNvPr id="3" name="Content Placeholder 2"/>
          <p:cNvSpPr>
            <a:spLocks noGrp="1"/>
          </p:cNvSpPr>
          <p:nvPr>
            <p:ph idx="1"/>
          </p:nvPr>
        </p:nvSpPr>
        <p:spPr>
          <a:xfrm>
            <a:off x="1981200" y="1268760"/>
            <a:ext cx="8229600" cy="4968552"/>
          </a:xfrm>
        </p:spPr>
        <p:txBody>
          <a:bodyPr>
            <a:normAutofit fontScale="92500"/>
          </a:bodyPr>
          <a:lstStyle/>
          <a:p>
            <a:pPr algn="just"/>
            <a:r>
              <a:rPr lang="en-US" dirty="0"/>
              <a:t>There are three operations that can be performed with a flip-flop: set it to 1, reset it to 0, or complement its output.</a:t>
            </a:r>
          </a:p>
          <a:p>
            <a:pPr algn="just"/>
            <a:r>
              <a:rPr lang="en-US" dirty="0"/>
              <a:t>With only a single input, the </a:t>
            </a:r>
            <a:r>
              <a:rPr lang="en-US" i="1" dirty="0"/>
              <a:t>D </a:t>
            </a:r>
            <a:r>
              <a:rPr lang="en-US" dirty="0"/>
              <a:t>flip-flop can set or reset the output, depending on the value of the </a:t>
            </a:r>
            <a:r>
              <a:rPr lang="en-US" i="1" dirty="0"/>
              <a:t>D </a:t>
            </a:r>
            <a:r>
              <a:rPr lang="en-US" dirty="0"/>
              <a:t>input immediately before the clock transition.</a:t>
            </a:r>
          </a:p>
          <a:p>
            <a:pPr algn="just"/>
            <a:r>
              <a:rPr lang="en-US" dirty="0"/>
              <a:t>Synchronized by a clock signal, the </a:t>
            </a:r>
            <a:r>
              <a:rPr lang="en-US" i="1" dirty="0"/>
              <a:t>JK </a:t>
            </a:r>
            <a:r>
              <a:rPr lang="en-US" dirty="0"/>
              <a:t>flip-flop has two inputs and performs all three operations.</a:t>
            </a:r>
          </a:p>
          <a:p>
            <a:pPr algn="just"/>
            <a:r>
              <a:rPr lang="en-US" dirty="0"/>
              <a:t>The circuit diagram of a </a:t>
            </a:r>
            <a:r>
              <a:rPr lang="en-US" i="1" dirty="0"/>
              <a:t>JK </a:t>
            </a:r>
            <a:r>
              <a:rPr lang="en-US" dirty="0"/>
              <a:t>flip-flop constructed with a </a:t>
            </a:r>
            <a:r>
              <a:rPr lang="en-US" i="1" dirty="0"/>
              <a:t>SR </a:t>
            </a:r>
            <a:r>
              <a:rPr lang="en-US" dirty="0"/>
              <a:t>flip-flop and gates is shown in Fig.</a:t>
            </a:r>
          </a:p>
          <a:p>
            <a:pPr marL="0" indent="0" algn="just">
              <a:buNone/>
            </a:pPr>
            <a:endParaRPr lang="en-US" dirty="0"/>
          </a:p>
        </p:txBody>
      </p:sp>
    </p:spTree>
    <p:extLst>
      <p:ext uri="{BB962C8B-B14F-4D97-AF65-F5344CB8AC3E}">
        <p14:creationId xmlns:p14="http://schemas.microsoft.com/office/powerpoint/2010/main" val="345322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2924945"/>
            <a:ext cx="8229600" cy="3201219"/>
          </a:xfrm>
        </p:spPr>
        <p:txBody>
          <a:bodyPr>
            <a:normAutofit lnSpcReduction="10000"/>
          </a:bodyPr>
          <a:lstStyle/>
          <a:p>
            <a:pPr algn="just"/>
            <a:r>
              <a:rPr lang="en-US" sz="3000" dirty="0"/>
              <a:t>The two-input NAND gates of the RS flip-flop is replaced by the two 3 inputs NAND gates with the third input of each gate connected to the outputs at Q and Ǭ.</a:t>
            </a:r>
          </a:p>
          <a:p>
            <a:pPr algn="just"/>
            <a:r>
              <a:rPr lang="en-US" sz="3000" dirty="0"/>
              <a:t>The </a:t>
            </a:r>
            <a:r>
              <a:rPr lang="en-US" sz="3000" i="1" dirty="0"/>
              <a:t>J </a:t>
            </a:r>
            <a:r>
              <a:rPr lang="en-US" sz="3000" dirty="0"/>
              <a:t>input sets the flip-flop to 1, the </a:t>
            </a:r>
            <a:r>
              <a:rPr lang="en-US" sz="3000" i="1" dirty="0"/>
              <a:t>K </a:t>
            </a:r>
            <a:r>
              <a:rPr lang="en-US" sz="3000" dirty="0"/>
              <a:t>input resets it to 0, and when both inputs are enabled, the output is complemented.</a:t>
            </a:r>
            <a:endParaRPr lang="en-IN" sz="3000" dirty="0"/>
          </a:p>
          <a:p>
            <a:pPr marL="0" indent="0">
              <a:buNone/>
            </a:pPr>
            <a:endParaRPr lang="en-IN" dirty="0"/>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935760" y="620688"/>
            <a:ext cx="4248472" cy="2185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09390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rrowheads="1"/>
          </p:cNvSpPr>
          <p:nvPr>
            <p:ph type="title"/>
          </p:nvPr>
        </p:nvSpPr>
        <p:spPr/>
        <p:txBody>
          <a:bodyPr/>
          <a:lstStyle/>
          <a:p>
            <a:r>
              <a:rPr lang="en-IN" i="1" dirty="0">
                <a:solidFill>
                  <a:srgbClr val="0070C0"/>
                </a:solidFill>
              </a:rPr>
              <a:t>JK</a:t>
            </a:r>
            <a:r>
              <a:rPr lang="en-IN" dirty="0">
                <a:solidFill>
                  <a:srgbClr val="0070C0"/>
                </a:solidFill>
              </a:rPr>
              <a:t> Flip-Flop</a:t>
            </a:r>
            <a:endParaRPr lang="en-US" altLang="zh-CN" dirty="0">
              <a:solidFill>
                <a:srgbClr val="002060"/>
              </a:solidFill>
            </a:endParaRPr>
          </a:p>
        </p:txBody>
      </p:sp>
      <p:sp>
        <p:nvSpPr>
          <p:cNvPr id="20487" name="Line 4"/>
          <p:cNvSpPr>
            <a:spLocks noChangeShapeType="1"/>
          </p:cNvSpPr>
          <p:nvPr/>
        </p:nvSpPr>
        <p:spPr bwMode="auto">
          <a:xfrm>
            <a:off x="4551934" y="3800227"/>
            <a:ext cx="1588"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20519" name="Text Box 42"/>
          <p:cNvSpPr txBox="1">
            <a:spLocks noChangeArrowheads="1"/>
          </p:cNvSpPr>
          <p:nvPr/>
        </p:nvSpPr>
        <p:spPr bwMode="auto">
          <a:xfrm>
            <a:off x="6174432" y="3200778"/>
            <a:ext cx="1145705"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400" dirty="0">
                <a:latin typeface="+mj-lt"/>
              </a:rPr>
              <a:t>0   X   </a:t>
            </a:r>
            <a:r>
              <a:rPr lang="en-US" altLang="zh-CN" sz="2400" dirty="0" err="1">
                <a:latin typeface="+mj-lt"/>
              </a:rPr>
              <a:t>X</a:t>
            </a:r>
            <a:endParaRPr lang="en-US" altLang="zh-CN" sz="2400" dirty="0">
              <a:latin typeface="+mj-lt"/>
            </a:endParaRPr>
          </a:p>
          <a:p>
            <a:r>
              <a:rPr lang="en-US" altLang="zh-CN" sz="2400" dirty="0">
                <a:latin typeface="+mj-lt"/>
              </a:rPr>
              <a:t>1   0   0</a:t>
            </a:r>
          </a:p>
          <a:p>
            <a:r>
              <a:rPr lang="en-US" altLang="zh-CN" sz="2400" dirty="0">
                <a:latin typeface="+mj-lt"/>
              </a:rPr>
              <a:t>1   </a:t>
            </a:r>
            <a:r>
              <a:rPr lang="zh-CN" altLang="en-US" sz="2400" dirty="0">
                <a:latin typeface="+mj-lt"/>
              </a:rPr>
              <a:t>0   1</a:t>
            </a:r>
          </a:p>
          <a:p>
            <a:endParaRPr lang="en-US" altLang="zh-CN" sz="2400" dirty="0">
              <a:latin typeface="+mj-lt"/>
            </a:endParaRPr>
          </a:p>
          <a:p>
            <a:r>
              <a:rPr lang="en-US" altLang="zh-CN" sz="2400" dirty="0">
                <a:latin typeface="+mj-lt"/>
              </a:rPr>
              <a:t>1   </a:t>
            </a:r>
            <a:r>
              <a:rPr lang="zh-CN" altLang="en-US" sz="2400" dirty="0">
                <a:latin typeface="+mj-lt"/>
              </a:rPr>
              <a:t>1   0</a:t>
            </a:r>
          </a:p>
          <a:p>
            <a:endParaRPr lang="en-US" altLang="zh-CN" sz="2400" dirty="0">
              <a:latin typeface="+mj-lt"/>
            </a:endParaRPr>
          </a:p>
          <a:p>
            <a:r>
              <a:rPr lang="en-US" altLang="zh-CN" sz="2400" dirty="0">
                <a:latin typeface="+mj-lt"/>
              </a:rPr>
              <a:t>1   </a:t>
            </a:r>
            <a:r>
              <a:rPr lang="zh-CN" altLang="en-US" sz="2400" dirty="0">
                <a:latin typeface="+mj-lt"/>
              </a:rPr>
              <a:t>1   1</a:t>
            </a:r>
            <a:endParaRPr lang="en-US" altLang="zh-CN" sz="2400" dirty="0">
              <a:latin typeface="+mj-lt"/>
            </a:endParaRPr>
          </a:p>
          <a:p>
            <a:endParaRPr lang="zh-CN" altLang="en-US" sz="2800" dirty="0">
              <a:latin typeface="+mj-lt"/>
            </a:endParaRPr>
          </a:p>
        </p:txBody>
      </p:sp>
      <mc:AlternateContent xmlns:mc="http://schemas.openxmlformats.org/markup-compatibility/2006" xmlns:a14="http://schemas.microsoft.com/office/drawing/2010/main">
        <mc:Choice Requires="a14">
          <p:sp>
            <p:nvSpPr>
              <p:cNvPr id="20520" name="Text Box 43"/>
              <p:cNvSpPr txBox="1">
                <a:spLocks noChangeArrowheads="1"/>
              </p:cNvSpPr>
              <p:nvPr/>
            </p:nvSpPr>
            <p:spPr bwMode="auto">
              <a:xfrm>
                <a:off x="5879977" y="2707774"/>
                <a:ext cx="3278077" cy="50520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pPr/>
                <a14:m>
                  <m:oMathPara xmlns:m="http://schemas.openxmlformats.org/officeDocument/2006/math">
                    <m:oMathParaPr>
                      <m:jc m:val="centerGroup"/>
                    </m:oMathParaPr>
                    <m:oMath xmlns:m="http://schemas.openxmlformats.org/officeDocument/2006/math">
                      <m:r>
                        <a:rPr lang="en-US" altLang="zh-CN" sz="2400" i="1" dirty="0">
                          <a:latin typeface="Cambria Math"/>
                        </a:rPr>
                        <m:t>𝐶𝑙𝑘</m:t>
                      </m:r>
                      <m:r>
                        <a:rPr lang="en-US" altLang="zh-CN" sz="2400" i="1" dirty="0">
                          <a:latin typeface="Cambria Math"/>
                        </a:rPr>
                        <m:t>   </m:t>
                      </m:r>
                      <m:r>
                        <a:rPr lang="en-US" altLang="zh-CN" sz="2400" i="1" dirty="0">
                          <a:latin typeface="Cambria Math"/>
                        </a:rPr>
                        <m:t>𝐽</m:t>
                      </m:r>
                      <m:r>
                        <a:rPr lang="en-US" altLang="zh-CN" sz="2400" i="1" dirty="0">
                          <a:latin typeface="Cambria Math"/>
                        </a:rPr>
                        <m:t>  </m:t>
                      </m:r>
                      <m:r>
                        <a:rPr lang="en-US" altLang="zh-CN" sz="2400" i="1" dirty="0">
                          <a:latin typeface="Cambria Math"/>
                        </a:rPr>
                        <m:t>𝐾</m:t>
                      </m:r>
                      <m:r>
                        <a:rPr lang="en-US" altLang="zh-CN" sz="2400" i="1" dirty="0">
                          <a:latin typeface="Cambria Math"/>
                        </a:rPr>
                        <m:t>    </m:t>
                      </m:r>
                      <m:r>
                        <a:rPr lang="en-US" altLang="zh-CN" sz="2400" i="1" dirty="0">
                          <a:latin typeface="Cambria Math"/>
                        </a:rPr>
                        <m:t>𝑄</m:t>
                      </m:r>
                      <m:r>
                        <a:rPr lang="en-US" altLang="zh-CN" sz="2400" i="1" dirty="0">
                          <a:latin typeface="Cambria Math"/>
                        </a:rPr>
                        <m:t>   </m:t>
                      </m:r>
                      <m:bar>
                        <m:barPr>
                          <m:pos m:val="top"/>
                          <m:ctrlPr>
                            <a:rPr lang="en-US" altLang="zh-CN" sz="2400" i="1">
                              <a:latin typeface="Cambria Math" panose="02040503050406030204" pitchFamily="18" charset="0"/>
                            </a:rPr>
                          </m:ctrlPr>
                        </m:barPr>
                        <m:e>
                          <m:r>
                            <a:rPr lang="en-US" altLang="zh-CN" sz="2400" i="1">
                              <a:latin typeface="Cambria Math"/>
                            </a:rPr>
                            <m:t>𝑄</m:t>
                          </m:r>
                        </m:e>
                      </m:bar>
                      <m:r>
                        <a:rPr lang="en-US" altLang="zh-CN" sz="2400" i="1">
                          <a:latin typeface="Cambria Math"/>
                        </a:rPr>
                        <m:t>     </m:t>
                      </m:r>
                      <m:r>
                        <a:rPr lang="en-US" altLang="zh-CN" sz="2400" i="1" dirty="0">
                          <a:latin typeface="Cambria Math"/>
                        </a:rPr>
                        <m:t>𝑄</m:t>
                      </m:r>
                      <m:r>
                        <a:rPr lang="en-US" altLang="zh-CN" sz="2400" i="1" dirty="0">
                          <a:latin typeface="Cambria Math"/>
                        </a:rPr>
                        <m:t>   </m:t>
                      </m:r>
                      <m:bar>
                        <m:barPr>
                          <m:pos m:val="top"/>
                          <m:ctrlPr>
                            <a:rPr lang="en-US" altLang="zh-CN" sz="2400" i="1">
                              <a:latin typeface="Cambria Math" panose="02040503050406030204" pitchFamily="18" charset="0"/>
                            </a:rPr>
                          </m:ctrlPr>
                        </m:barPr>
                        <m:e>
                          <m:r>
                            <a:rPr lang="en-US" altLang="zh-CN" sz="2400" i="1">
                              <a:latin typeface="Cambria Math"/>
                            </a:rPr>
                            <m:t>𝑄</m:t>
                          </m:r>
                        </m:e>
                      </m:bar>
                    </m:oMath>
                  </m:oMathPara>
                </a14:m>
                <a:endParaRPr lang="en-US" altLang="zh-CN" sz="2400" i="1" dirty="0">
                  <a:latin typeface="+mj-lt"/>
                </a:endParaRPr>
              </a:p>
            </p:txBody>
          </p:sp>
        </mc:Choice>
        <mc:Fallback xmlns="">
          <p:sp>
            <p:nvSpPr>
              <p:cNvPr id="20520" name="Text Box 43"/>
              <p:cNvSpPr txBox="1">
                <a:spLocks noRot="1" noChangeAspect="1" noMove="1" noResize="1" noEditPoints="1" noAdjustHandles="1" noChangeArrowheads="1" noChangeShapeType="1" noTextEdit="1"/>
              </p:cNvSpPr>
              <p:nvPr/>
            </p:nvSpPr>
            <p:spPr bwMode="auto">
              <a:xfrm>
                <a:off x="5879977" y="2707774"/>
                <a:ext cx="3278077" cy="505203"/>
              </a:xfrm>
              <a:prstGeom prst="rect">
                <a:avLst/>
              </a:prstGeom>
              <a:blipFill>
                <a:blip r:embed="rId3"/>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N">
                    <a:noFill/>
                  </a:rPr>
                  <a:t> </a:t>
                </a:r>
              </a:p>
            </p:txBody>
          </p:sp>
        </mc:Fallback>
      </mc:AlternateContent>
      <p:sp>
        <p:nvSpPr>
          <p:cNvPr id="20521" name="Line 44"/>
          <p:cNvSpPr>
            <a:spLocks noChangeShapeType="1"/>
          </p:cNvSpPr>
          <p:nvPr/>
        </p:nvSpPr>
        <p:spPr bwMode="auto">
          <a:xfrm>
            <a:off x="6096000" y="3212977"/>
            <a:ext cx="3312368" cy="11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0522" name="Line 45"/>
          <p:cNvSpPr>
            <a:spLocks noChangeShapeType="1"/>
          </p:cNvSpPr>
          <p:nvPr/>
        </p:nvSpPr>
        <p:spPr bwMode="auto">
          <a:xfrm>
            <a:off x="7332885" y="2707773"/>
            <a:ext cx="12750" cy="36015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 name="Rectangle 1"/>
          <p:cNvSpPr/>
          <p:nvPr/>
        </p:nvSpPr>
        <p:spPr>
          <a:xfrm>
            <a:off x="7104113" y="6300028"/>
            <a:ext cx="1533177" cy="369332"/>
          </a:xfrm>
          <a:prstGeom prst="rect">
            <a:avLst/>
          </a:prstGeom>
        </p:spPr>
        <p:txBody>
          <a:bodyPr wrap="none">
            <a:spAutoFit/>
          </a:bodyPr>
          <a:lstStyle/>
          <a:p>
            <a:r>
              <a:rPr lang="en-IN" dirty="0"/>
              <a:t>Function table</a:t>
            </a:r>
          </a:p>
        </p:txBody>
      </p:sp>
      <p:sp>
        <p:nvSpPr>
          <p:cNvPr id="17" name="Rectangle 16"/>
          <p:cNvSpPr/>
          <p:nvPr/>
        </p:nvSpPr>
        <p:spPr>
          <a:xfrm>
            <a:off x="3613698" y="3356992"/>
            <a:ext cx="1481559" cy="369332"/>
          </a:xfrm>
          <a:prstGeom prst="rect">
            <a:avLst/>
          </a:prstGeom>
        </p:spPr>
        <p:txBody>
          <a:bodyPr wrap="none">
            <a:spAutoFit/>
          </a:bodyPr>
          <a:lstStyle/>
          <a:p>
            <a:r>
              <a:rPr lang="en-IN" dirty="0"/>
              <a:t>Logic diagram</a:t>
            </a:r>
          </a:p>
        </p:txBody>
      </p:sp>
      <p:sp>
        <p:nvSpPr>
          <p:cNvPr id="3" name="Rectangle 2"/>
          <p:cNvSpPr/>
          <p:nvPr/>
        </p:nvSpPr>
        <p:spPr>
          <a:xfrm>
            <a:off x="8256241" y="2380818"/>
            <a:ext cx="1548373" cy="400110"/>
          </a:xfrm>
          <a:prstGeom prst="rect">
            <a:avLst/>
          </a:prstGeom>
        </p:spPr>
        <p:txBody>
          <a:bodyPr wrap="none">
            <a:spAutoFit/>
          </a:bodyPr>
          <a:lstStyle/>
          <a:p>
            <a:r>
              <a:rPr lang="en-IN" sz="2000" dirty="0">
                <a:latin typeface="Cambria Math" pitchFamily="18" charset="0"/>
                <a:ea typeface="Cambria Math" pitchFamily="18" charset="0"/>
              </a:rPr>
              <a:t>Next state of</a:t>
            </a:r>
          </a:p>
        </p:txBody>
      </p:sp>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77430" y="4581129"/>
            <a:ext cx="2838450" cy="164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Text Box 50"/>
          <p:cNvSpPr txBox="1">
            <a:spLocks noChangeArrowheads="1"/>
          </p:cNvSpPr>
          <p:nvPr/>
        </p:nvSpPr>
        <p:spPr bwMode="auto">
          <a:xfrm>
            <a:off x="8256240" y="3212977"/>
            <a:ext cx="24117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400" i="1" dirty="0">
                <a:solidFill>
                  <a:schemeClr val="hlink"/>
                </a:solidFill>
                <a:latin typeface="+mj-lt"/>
              </a:rPr>
              <a:t>Q</a:t>
            </a:r>
            <a:r>
              <a:rPr lang="zh-CN" altLang="en-US" sz="2400" i="1" dirty="0">
                <a:solidFill>
                  <a:schemeClr val="hlink"/>
                </a:solidFill>
                <a:latin typeface="+mj-lt"/>
              </a:rPr>
              <a:t>   </a:t>
            </a:r>
            <a:r>
              <a:rPr lang="en-US" altLang="zh-CN" sz="2400" i="1" dirty="0">
                <a:solidFill>
                  <a:schemeClr val="hlink"/>
                </a:solidFill>
                <a:latin typeface="+mj-lt"/>
              </a:rPr>
              <a:t>Q’</a:t>
            </a:r>
            <a:r>
              <a:rPr lang="zh-CN" altLang="en-US" sz="2400" i="1" dirty="0">
                <a:solidFill>
                  <a:schemeClr val="hlink"/>
                </a:solidFill>
                <a:latin typeface="+mj-lt"/>
              </a:rPr>
              <a:t>  </a:t>
            </a:r>
            <a:r>
              <a:rPr lang="en-US" altLang="zh-CN" sz="2400" i="1" dirty="0">
                <a:solidFill>
                  <a:srgbClr val="C00000"/>
                </a:solidFill>
                <a:latin typeface="+mj-lt"/>
              </a:rPr>
              <a:t>No change</a:t>
            </a:r>
          </a:p>
        </p:txBody>
      </p:sp>
      <p:pic>
        <p:nvPicPr>
          <p:cNvPr id="10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72236" y="1268760"/>
            <a:ext cx="3779749" cy="1944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 name="Text Box 48"/>
          <p:cNvSpPr txBox="1">
            <a:spLocks noChangeArrowheads="1"/>
          </p:cNvSpPr>
          <p:nvPr/>
        </p:nvSpPr>
        <p:spPr bwMode="auto">
          <a:xfrm>
            <a:off x="4000400" y="1321604"/>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accent3">
                    <a:lumMod val="60000"/>
                    <a:lumOff val="40000"/>
                  </a:schemeClr>
                </a:solidFill>
                <a:latin typeface="+mj-lt"/>
              </a:rPr>
              <a:t>1</a:t>
            </a:r>
            <a:endParaRPr lang="zh-CN" altLang="en-US" sz="2800" dirty="0">
              <a:solidFill>
                <a:schemeClr val="accent3">
                  <a:lumMod val="60000"/>
                  <a:lumOff val="40000"/>
                </a:schemeClr>
              </a:solidFill>
              <a:latin typeface="+mj-lt"/>
            </a:endParaRPr>
          </a:p>
        </p:txBody>
      </p:sp>
      <p:sp>
        <p:nvSpPr>
          <p:cNvPr id="28" name="Text Box 48"/>
          <p:cNvSpPr txBox="1">
            <a:spLocks noChangeArrowheads="1"/>
          </p:cNvSpPr>
          <p:nvPr/>
        </p:nvSpPr>
        <p:spPr bwMode="auto">
          <a:xfrm>
            <a:off x="4000400" y="2689756"/>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accent3">
                    <a:lumMod val="60000"/>
                    <a:lumOff val="40000"/>
                  </a:schemeClr>
                </a:solidFill>
                <a:latin typeface="+mj-lt"/>
              </a:rPr>
              <a:t>1</a:t>
            </a:r>
            <a:endParaRPr lang="zh-CN" altLang="en-US" sz="2800" dirty="0">
              <a:solidFill>
                <a:schemeClr val="accent3">
                  <a:lumMod val="60000"/>
                  <a:lumOff val="40000"/>
                </a:schemeClr>
              </a:solidFill>
              <a:latin typeface="+mj-lt"/>
            </a:endParaRPr>
          </a:p>
        </p:txBody>
      </p:sp>
      <p:sp>
        <p:nvSpPr>
          <p:cNvPr id="35" name="Text Box 47"/>
          <p:cNvSpPr txBox="1">
            <a:spLocks noChangeArrowheads="1"/>
          </p:cNvSpPr>
          <p:nvPr/>
        </p:nvSpPr>
        <p:spPr bwMode="auto">
          <a:xfrm>
            <a:off x="1912168" y="1969676"/>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rgbClr val="C00000"/>
                </a:solidFill>
                <a:latin typeface="+mj-lt"/>
              </a:rPr>
              <a:t>0</a:t>
            </a:r>
            <a:endParaRPr lang="zh-CN" altLang="en-US" sz="2800" dirty="0">
              <a:solidFill>
                <a:srgbClr val="C00000"/>
              </a:solidFill>
              <a:latin typeface="+mj-lt"/>
            </a:endParaRPr>
          </a:p>
        </p:txBody>
      </p:sp>
      <p:sp>
        <p:nvSpPr>
          <p:cNvPr id="37" name="Text Box 42"/>
          <p:cNvSpPr txBox="1">
            <a:spLocks noChangeArrowheads="1"/>
          </p:cNvSpPr>
          <p:nvPr/>
        </p:nvSpPr>
        <p:spPr bwMode="auto">
          <a:xfrm>
            <a:off x="7398568" y="3212976"/>
            <a:ext cx="785665"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endParaRPr lang="en-US" altLang="zh-CN" sz="2400" dirty="0">
              <a:solidFill>
                <a:schemeClr val="accent1">
                  <a:lumMod val="60000"/>
                  <a:lumOff val="40000"/>
                </a:schemeClr>
              </a:solidFill>
              <a:latin typeface="+mj-lt"/>
            </a:endParaRPr>
          </a:p>
          <a:p>
            <a:endParaRPr lang="en-US" altLang="zh-CN" sz="2400" dirty="0">
              <a:solidFill>
                <a:schemeClr val="accent1">
                  <a:lumMod val="60000"/>
                  <a:lumOff val="40000"/>
                </a:schemeClr>
              </a:solidFill>
              <a:latin typeface="+mj-lt"/>
            </a:endParaRPr>
          </a:p>
          <a:p>
            <a:r>
              <a:rPr lang="en-US" altLang="zh-CN" sz="2400" dirty="0">
                <a:solidFill>
                  <a:schemeClr val="accent1">
                    <a:lumMod val="60000"/>
                    <a:lumOff val="40000"/>
                  </a:schemeClr>
                </a:solidFill>
              </a:rPr>
              <a:t>0   1</a:t>
            </a:r>
          </a:p>
          <a:p>
            <a:r>
              <a:rPr lang="en-US" altLang="zh-CN" sz="2400" dirty="0">
                <a:solidFill>
                  <a:schemeClr val="accent1">
                    <a:lumMod val="60000"/>
                    <a:lumOff val="40000"/>
                  </a:schemeClr>
                </a:solidFill>
              </a:rPr>
              <a:t>1   0</a:t>
            </a:r>
          </a:p>
          <a:p>
            <a:r>
              <a:rPr lang="en-US" altLang="zh-CN" sz="2400" dirty="0">
                <a:solidFill>
                  <a:schemeClr val="accent1">
                    <a:lumMod val="60000"/>
                    <a:lumOff val="40000"/>
                  </a:schemeClr>
                </a:solidFill>
              </a:rPr>
              <a:t>0   1</a:t>
            </a:r>
          </a:p>
          <a:p>
            <a:r>
              <a:rPr lang="en-US" altLang="zh-CN" sz="2400" dirty="0">
                <a:solidFill>
                  <a:schemeClr val="accent1">
                    <a:lumMod val="60000"/>
                    <a:lumOff val="40000"/>
                  </a:schemeClr>
                </a:solidFill>
              </a:rPr>
              <a:t>1   0</a:t>
            </a:r>
          </a:p>
          <a:p>
            <a:r>
              <a:rPr lang="en-US" altLang="zh-CN" sz="2400" dirty="0">
                <a:solidFill>
                  <a:schemeClr val="accent1">
                    <a:lumMod val="60000"/>
                    <a:lumOff val="40000"/>
                  </a:schemeClr>
                </a:solidFill>
              </a:rPr>
              <a:t>0   1</a:t>
            </a:r>
          </a:p>
          <a:p>
            <a:r>
              <a:rPr lang="en-US" altLang="zh-CN" sz="2400" dirty="0">
                <a:solidFill>
                  <a:schemeClr val="accent1">
                    <a:lumMod val="60000"/>
                    <a:lumOff val="40000"/>
                  </a:schemeClr>
                </a:solidFill>
              </a:rPr>
              <a:t>1   0</a:t>
            </a:r>
          </a:p>
        </p:txBody>
      </p:sp>
      <p:sp>
        <p:nvSpPr>
          <p:cNvPr id="39" name="Line 45"/>
          <p:cNvSpPr>
            <a:spLocks noChangeShapeType="1"/>
          </p:cNvSpPr>
          <p:nvPr/>
        </p:nvSpPr>
        <p:spPr bwMode="auto">
          <a:xfrm>
            <a:off x="8196981" y="2708920"/>
            <a:ext cx="12750" cy="35283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Tree>
    <p:extLst>
      <p:ext uri="{BB962C8B-B14F-4D97-AF65-F5344CB8AC3E}">
        <p14:creationId xmlns:p14="http://schemas.microsoft.com/office/powerpoint/2010/main" val="29660997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7" grpId="0"/>
      <p:bldP spid="28" grpId="0"/>
      <p:bldP spid="35"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rrowheads="1"/>
          </p:cNvSpPr>
          <p:nvPr>
            <p:ph type="title"/>
          </p:nvPr>
        </p:nvSpPr>
        <p:spPr/>
        <p:txBody>
          <a:bodyPr/>
          <a:lstStyle/>
          <a:p>
            <a:r>
              <a:rPr lang="en-IN" i="1" dirty="0">
                <a:solidFill>
                  <a:srgbClr val="0070C0"/>
                </a:solidFill>
              </a:rPr>
              <a:t>JK</a:t>
            </a:r>
            <a:r>
              <a:rPr lang="en-IN" dirty="0">
                <a:solidFill>
                  <a:srgbClr val="0070C0"/>
                </a:solidFill>
              </a:rPr>
              <a:t> Flip-Flop</a:t>
            </a:r>
            <a:endParaRPr lang="en-US" altLang="zh-CN" dirty="0">
              <a:solidFill>
                <a:srgbClr val="002060"/>
              </a:solidFill>
            </a:endParaRPr>
          </a:p>
        </p:txBody>
      </p:sp>
      <p:sp>
        <p:nvSpPr>
          <p:cNvPr id="20487" name="Line 4"/>
          <p:cNvSpPr>
            <a:spLocks noChangeShapeType="1"/>
          </p:cNvSpPr>
          <p:nvPr/>
        </p:nvSpPr>
        <p:spPr bwMode="auto">
          <a:xfrm>
            <a:off x="4551934" y="3800227"/>
            <a:ext cx="1588"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20519" name="Text Box 42"/>
          <p:cNvSpPr txBox="1">
            <a:spLocks noChangeArrowheads="1"/>
          </p:cNvSpPr>
          <p:nvPr/>
        </p:nvSpPr>
        <p:spPr bwMode="auto">
          <a:xfrm>
            <a:off x="6174432" y="3200778"/>
            <a:ext cx="1145705"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400" dirty="0">
                <a:latin typeface="+mj-lt"/>
              </a:rPr>
              <a:t>0   X   </a:t>
            </a:r>
            <a:r>
              <a:rPr lang="en-US" altLang="zh-CN" sz="2400" dirty="0" err="1">
                <a:latin typeface="+mj-lt"/>
              </a:rPr>
              <a:t>X</a:t>
            </a:r>
            <a:endParaRPr lang="en-US" altLang="zh-CN" sz="2400" dirty="0">
              <a:latin typeface="+mj-lt"/>
            </a:endParaRPr>
          </a:p>
          <a:p>
            <a:r>
              <a:rPr lang="en-US" altLang="zh-CN" sz="2400" dirty="0">
                <a:latin typeface="+mj-lt"/>
              </a:rPr>
              <a:t>1   0   0</a:t>
            </a:r>
          </a:p>
          <a:p>
            <a:r>
              <a:rPr lang="en-US" altLang="zh-CN" sz="2400" dirty="0">
                <a:latin typeface="+mj-lt"/>
              </a:rPr>
              <a:t>1   </a:t>
            </a:r>
            <a:r>
              <a:rPr lang="zh-CN" altLang="en-US" sz="2400" dirty="0">
                <a:latin typeface="+mj-lt"/>
              </a:rPr>
              <a:t>0   1</a:t>
            </a:r>
          </a:p>
          <a:p>
            <a:endParaRPr lang="en-US" altLang="zh-CN" sz="2400" dirty="0">
              <a:latin typeface="+mj-lt"/>
            </a:endParaRPr>
          </a:p>
          <a:p>
            <a:r>
              <a:rPr lang="en-US" altLang="zh-CN" sz="2400" dirty="0">
                <a:latin typeface="+mj-lt"/>
              </a:rPr>
              <a:t>1   </a:t>
            </a:r>
            <a:r>
              <a:rPr lang="zh-CN" altLang="en-US" sz="2400" dirty="0">
                <a:latin typeface="+mj-lt"/>
              </a:rPr>
              <a:t>1   0</a:t>
            </a:r>
          </a:p>
          <a:p>
            <a:endParaRPr lang="en-US" altLang="zh-CN" sz="2400" dirty="0">
              <a:latin typeface="+mj-lt"/>
            </a:endParaRPr>
          </a:p>
          <a:p>
            <a:r>
              <a:rPr lang="en-US" altLang="zh-CN" sz="2400" dirty="0">
                <a:latin typeface="+mj-lt"/>
              </a:rPr>
              <a:t>1   </a:t>
            </a:r>
            <a:r>
              <a:rPr lang="zh-CN" altLang="en-US" sz="2400" dirty="0">
                <a:latin typeface="+mj-lt"/>
              </a:rPr>
              <a:t>1   1</a:t>
            </a:r>
            <a:endParaRPr lang="en-US" altLang="zh-CN" sz="2400" dirty="0">
              <a:latin typeface="+mj-lt"/>
            </a:endParaRPr>
          </a:p>
          <a:p>
            <a:endParaRPr lang="zh-CN" altLang="en-US" sz="2800" dirty="0">
              <a:latin typeface="+mj-lt"/>
            </a:endParaRPr>
          </a:p>
        </p:txBody>
      </p:sp>
      <p:sp>
        <p:nvSpPr>
          <p:cNvPr id="20521" name="Line 44"/>
          <p:cNvSpPr>
            <a:spLocks noChangeShapeType="1"/>
          </p:cNvSpPr>
          <p:nvPr/>
        </p:nvSpPr>
        <p:spPr bwMode="auto">
          <a:xfrm>
            <a:off x="6096000" y="3212977"/>
            <a:ext cx="3312368" cy="11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0522" name="Line 45"/>
          <p:cNvSpPr>
            <a:spLocks noChangeShapeType="1"/>
          </p:cNvSpPr>
          <p:nvPr/>
        </p:nvSpPr>
        <p:spPr bwMode="auto">
          <a:xfrm>
            <a:off x="7332885" y="2707773"/>
            <a:ext cx="12750" cy="36015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 name="Rectangle 1"/>
          <p:cNvSpPr/>
          <p:nvPr/>
        </p:nvSpPr>
        <p:spPr>
          <a:xfrm>
            <a:off x="7104113" y="6300028"/>
            <a:ext cx="1533177" cy="369332"/>
          </a:xfrm>
          <a:prstGeom prst="rect">
            <a:avLst/>
          </a:prstGeom>
        </p:spPr>
        <p:txBody>
          <a:bodyPr wrap="none">
            <a:spAutoFit/>
          </a:bodyPr>
          <a:lstStyle/>
          <a:p>
            <a:r>
              <a:rPr lang="en-IN" dirty="0"/>
              <a:t>Function table</a:t>
            </a:r>
          </a:p>
        </p:txBody>
      </p:sp>
      <p:sp>
        <p:nvSpPr>
          <p:cNvPr id="17" name="Rectangle 16"/>
          <p:cNvSpPr/>
          <p:nvPr/>
        </p:nvSpPr>
        <p:spPr>
          <a:xfrm>
            <a:off x="3613698" y="3356992"/>
            <a:ext cx="1481559" cy="369332"/>
          </a:xfrm>
          <a:prstGeom prst="rect">
            <a:avLst/>
          </a:prstGeom>
        </p:spPr>
        <p:txBody>
          <a:bodyPr wrap="none">
            <a:spAutoFit/>
          </a:bodyPr>
          <a:lstStyle/>
          <a:p>
            <a:r>
              <a:rPr lang="en-IN" dirty="0"/>
              <a:t>Logic diagram</a:t>
            </a:r>
          </a:p>
        </p:txBody>
      </p:sp>
      <p:sp>
        <p:nvSpPr>
          <p:cNvPr id="3" name="Rectangle 2"/>
          <p:cNvSpPr/>
          <p:nvPr/>
        </p:nvSpPr>
        <p:spPr>
          <a:xfrm>
            <a:off x="8256241" y="2380818"/>
            <a:ext cx="1548373" cy="400110"/>
          </a:xfrm>
          <a:prstGeom prst="rect">
            <a:avLst/>
          </a:prstGeom>
        </p:spPr>
        <p:txBody>
          <a:bodyPr wrap="none">
            <a:spAutoFit/>
          </a:bodyPr>
          <a:lstStyle/>
          <a:p>
            <a:r>
              <a:rPr lang="en-IN" sz="2000" dirty="0">
                <a:latin typeface="Cambria Math" pitchFamily="18" charset="0"/>
                <a:ea typeface="Cambria Math" pitchFamily="18" charset="0"/>
              </a:rPr>
              <a:t>Next state of</a:t>
            </a: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7430" y="4581129"/>
            <a:ext cx="2838450" cy="164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Text Box 50"/>
          <p:cNvSpPr txBox="1">
            <a:spLocks noChangeArrowheads="1"/>
          </p:cNvSpPr>
          <p:nvPr/>
        </p:nvSpPr>
        <p:spPr bwMode="auto">
          <a:xfrm>
            <a:off x="8256240" y="3212977"/>
            <a:ext cx="24117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400" i="1" dirty="0">
                <a:solidFill>
                  <a:schemeClr val="hlink"/>
                </a:solidFill>
                <a:latin typeface="+mj-lt"/>
              </a:rPr>
              <a:t>Q</a:t>
            </a:r>
            <a:r>
              <a:rPr lang="zh-CN" altLang="en-US" sz="2400" i="1" dirty="0">
                <a:solidFill>
                  <a:schemeClr val="hlink"/>
                </a:solidFill>
                <a:latin typeface="+mj-lt"/>
              </a:rPr>
              <a:t>   </a:t>
            </a:r>
            <a:r>
              <a:rPr lang="en-US" altLang="zh-CN" sz="2400" i="1" dirty="0">
                <a:solidFill>
                  <a:schemeClr val="hlink"/>
                </a:solidFill>
                <a:latin typeface="+mj-lt"/>
              </a:rPr>
              <a:t>Q’</a:t>
            </a:r>
            <a:r>
              <a:rPr lang="zh-CN" altLang="en-US" sz="2400" i="1" dirty="0">
                <a:solidFill>
                  <a:schemeClr val="hlink"/>
                </a:solidFill>
                <a:latin typeface="+mj-lt"/>
              </a:rPr>
              <a:t>  </a:t>
            </a:r>
            <a:r>
              <a:rPr lang="en-US" altLang="zh-CN" sz="2400" i="1" dirty="0">
                <a:solidFill>
                  <a:srgbClr val="C00000"/>
                </a:solidFill>
                <a:latin typeface="+mj-lt"/>
              </a:rPr>
              <a:t>No change</a:t>
            </a:r>
          </a:p>
        </p:txBody>
      </p:sp>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72236" y="1268760"/>
            <a:ext cx="3779749" cy="1944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 name="Text Box 48"/>
          <p:cNvSpPr txBox="1">
            <a:spLocks noChangeArrowheads="1"/>
          </p:cNvSpPr>
          <p:nvPr/>
        </p:nvSpPr>
        <p:spPr bwMode="auto">
          <a:xfrm>
            <a:off x="4000400" y="1321604"/>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accent3">
                    <a:lumMod val="60000"/>
                    <a:lumOff val="40000"/>
                  </a:schemeClr>
                </a:solidFill>
                <a:latin typeface="+mj-lt"/>
              </a:rPr>
              <a:t>1</a:t>
            </a:r>
            <a:endParaRPr lang="zh-CN" altLang="en-US" sz="2800" dirty="0">
              <a:solidFill>
                <a:schemeClr val="accent3">
                  <a:lumMod val="60000"/>
                  <a:lumOff val="40000"/>
                </a:schemeClr>
              </a:solidFill>
              <a:latin typeface="+mj-lt"/>
            </a:endParaRPr>
          </a:p>
        </p:txBody>
      </p:sp>
      <p:sp>
        <p:nvSpPr>
          <p:cNvPr id="28" name="Text Box 48"/>
          <p:cNvSpPr txBox="1">
            <a:spLocks noChangeArrowheads="1"/>
          </p:cNvSpPr>
          <p:nvPr/>
        </p:nvSpPr>
        <p:spPr bwMode="auto">
          <a:xfrm>
            <a:off x="4000400" y="2689756"/>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accent3">
                    <a:lumMod val="60000"/>
                    <a:lumOff val="40000"/>
                  </a:schemeClr>
                </a:solidFill>
                <a:latin typeface="+mj-lt"/>
              </a:rPr>
              <a:t>1</a:t>
            </a:r>
            <a:endParaRPr lang="zh-CN" altLang="en-US" sz="2800" dirty="0">
              <a:solidFill>
                <a:schemeClr val="accent3">
                  <a:lumMod val="60000"/>
                  <a:lumOff val="40000"/>
                </a:schemeClr>
              </a:solidFill>
              <a:latin typeface="+mj-lt"/>
            </a:endParaRPr>
          </a:p>
        </p:txBody>
      </p:sp>
      <p:sp>
        <p:nvSpPr>
          <p:cNvPr id="29" name="Text Box 47"/>
          <p:cNvSpPr txBox="1">
            <a:spLocks noChangeArrowheads="1"/>
          </p:cNvSpPr>
          <p:nvPr/>
        </p:nvSpPr>
        <p:spPr bwMode="auto">
          <a:xfrm>
            <a:off x="2207568" y="1465620"/>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endParaRPr lang="zh-CN" altLang="en-US" sz="2800" dirty="0">
              <a:solidFill>
                <a:schemeClr val="hlink"/>
              </a:solidFill>
              <a:latin typeface="+mj-lt"/>
            </a:endParaRPr>
          </a:p>
        </p:txBody>
      </p:sp>
      <p:sp>
        <p:nvSpPr>
          <p:cNvPr id="30" name="Text Box 46"/>
          <p:cNvSpPr txBox="1">
            <a:spLocks noChangeArrowheads="1"/>
          </p:cNvSpPr>
          <p:nvPr/>
        </p:nvSpPr>
        <p:spPr bwMode="auto">
          <a:xfrm>
            <a:off x="2200200" y="2492896"/>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endParaRPr lang="zh-CN" altLang="en-US" sz="2800" dirty="0">
              <a:solidFill>
                <a:schemeClr val="hlink"/>
              </a:solidFill>
              <a:latin typeface="+mj-lt"/>
            </a:endParaRPr>
          </a:p>
        </p:txBody>
      </p:sp>
      <p:sp>
        <p:nvSpPr>
          <p:cNvPr id="35" name="Text Box 47"/>
          <p:cNvSpPr txBox="1">
            <a:spLocks noChangeArrowheads="1"/>
          </p:cNvSpPr>
          <p:nvPr/>
        </p:nvSpPr>
        <p:spPr bwMode="auto">
          <a:xfrm>
            <a:off x="1912168" y="1969676"/>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rgbClr val="C00000"/>
                </a:solidFill>
                <a:latin typeface="+mj-lt"/>
              </a:rPr>
              <a:t>1</a:t>
            </a:r>
            <a:endParaRPr lang="zh-CN" altLang="en-US" sz="2800" dirty="0">
              <a:solidFill>
                <a:srgbClr val="C00000"/>
              </a:solidFill>
              <a:latin typeface="+mj-lt"/>
            </a:endParaRPr>
          </a:p>
        </p:txBody>
      </p:sp>
      <p:sp>
        <p:nvSpPr>
          <p:cNvPr id="37" name="Text Box 42"/>
          <p:cNvSpPr txBox="1">
            <a:spLocks noChangeArrowheads="1"/>
          </p:cNvSpPr>
          <p:nvPr/>
        </p:nvSpPr>
        <p:spPr bwMode="auto">
          <a:xfrm>
            <a:off x="7398568" y="3212976"/>
            <a:ext cx="785665"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endParaRPr lang="en-US" altLang="zh-CN" sz="2400" dirty="0">
              <a:solidFill>
                <a:schemeClr val="accent1">
                  <a:lumMod val="60000"/>
                  <a:lumOff val="40000"/>
                </a:schemeClr>
              </a:solidFill>
              <a:latin typeface="+mj-lt"/>
            </a:endParaRPr>
          </a:p>
          <a:p>
            <a:endParaRPr lang="en-US" altLang="zh-CN" sz="2400" dirty="0">
              <a:solidFill>
                <a:schemeClr val="accent1">
                  <a:lumMod val="60000"/>
                  <a:lumOff val="40000"/>
                </a:schemeClr>
              </a:solidFill>
              <a:latin typeface="+mj-lt"/>
            </a:endParaRPr>
          </a:p>
          <a:p>
            <a:r>
              <a:rPr lang="en-US" altLang="zh-CN" sz="2400" dirty="0">
                <a:solidFill>
                  <a:schemeClr val="accent1">
                    <a:lumMod val="60000"/>
                    <a:lumOff val="40000"/>
                  </a:schemeClr>
                </a:solidFill>
              </a:rPr>
              <a:t>0   1</a:t>
            </a:r>
          </a:p>
          <a:p>
            <a:r>
              <a:rPr lang="en-US" altLang="zh-CN" sz="2400" dirty="0">
                <a:solidFill>
                  <a:schemeClr val="accent1">
                    <a:lumMod val="60000"/>
                    <a:lumOff val="40000"/>
                  </a:schemeClr>
                </a:solidFill>
              </a:rPr>
              <a:t>1   0</a:t>
            </a:r>
          </a:p>
          <a:p>
            <a:r>
              <a:rPr lang="en-US" altLang="zh-CN" sz="2400" dirty="0">
                <a:solidFill>
                  <a:schemeClr val="accent1">
                    <a:lumMod val="60000"/>
                    <a:lumOff val="40000"/>
                  </a:schemeClr>
                </a:solidFill>
              </a:rPr>
              <a:t>0   1</a:t>
            </a:r>
          </a:p>
          <a:p>
            <a:r>
              <a:rPr lang="en-US" altLang="zh-CN" sz="2400" dirty="0">
                <a:solidFill>
                  <a:schemeClr val="accent1">
                    <a:lumMod val="60000"/>
                    <a:lumOff val="40000"/>
                  </a:schemeClr>
                </a:solidFill>
              </a:rPr>
              <a:t>1   0</a:t>
            </a:r>
          </a:p>
          <a:p>
            <a:r>
              <a:rPr lang="en-US" altLang="zh-CN" sz="2400" dirty="0">
                <a:solidFill>
                  <a:schemeClr val="accent1">
                    <a:lumMod val="60000"/>
                    <a:lumOff val="40000"/>
                  </a:schemeClr>
                </a:solidFill>
              </a:rPr>
              <a:t>0   1</a:t>
            </a:r>
          </a:p>
          <a:p>
            <a:r>
              <a:rPr lang="en-US" altLang="zh-CN" sz="2400" dirty="0">
                <a:solidFill>
                  <a:schemeClr val="accent1">
                    <a:lumMod val="60000"/>
                    <a:lumOff val="40000"/>
                  </a:schemeClr>
                </a:solidFill>
              </a:rPr>
              <a:t>1   0</a:t>
            </a:r>
          </a:p>
        </p:txBody>
      </p:sp>
      <p:sp>
        <p:nvSpPr>
          <p:cNvPr id="39" name="Line 45"/>
          <p:cNvSpPr>
            <a:spLocks noChangeShapeType="1"/>
          </p:cNvSpPr>
          <p:nvPr/>
        </p:nvSpPr>
        <p:spPr bwMode="auto">
          <a:xfrm>
            <a:off x="8196981" y="2708920"/>
            <a:ext cx="12750" cy="35283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32" name="Text Box 50"/>
          <p:cNvSpPr txBox="1">
            <a:spLocks noChangeArrowheads="1"/>
          </p:cNvSpPr>
          <p:nvPr/>
        </p:nvSpPr>
        <p:spPr bwMode="auto">
          <a:xfrm>
            <a:off x="8256240" y="3573017"/>
            <a:ext cx="24117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400" i="1" dirty="0">
                <a:solidFill>
                  <a:schemeClr val="hlink"/>
                </a:solidFill>
                <a:latin typeface="+mj-lt"/>
              </a:rPr>
              <a:t>Q</a:t>
            </a:r>
            <a:r>
              <a:rPr lang="zh-CN" altLang="en-US" sz="2400" i="1" dirty="0">
                <a:solidFill>
                  <a:schemeClr val="hlink"/>
                </a:solidFill>
                <a:latin typeface="+mj-lt"/>
              </a:rPr>
              <a:t>   </a:t>
            </a:r>
            <a:r>
              <a:rPr lang="en-US" altLang="zh-CN" sz="2400" i="1" dirty="0">
                <a:solidFill>
                  <a:schemeClr val="hlink"/>
                </a:solidFill>
                <a:latin typeface="+mj-lt"/>
              </a:rPr>
              <a:t>Q’</a:t>
            </a:r>
            <a:r>
              <a:rPr lang="zh-CN" altLang="en-US" sz="2400" i="1" dirty="0">
                <a:solidFill>
                  <a:schemeClr val="hlink"/>
                </a:solidFill>
                <a:latin typeface="+mj-lt"/>
              </a:rPr>
              <a:t>  </a:t>
            </a:r>
            <a:r>
              <a:rPr lang="en-US" altLang="zh-CN" sz="2400" i="1" dirty="0">
                <a:solidFill>
                  <a:srgbClr val="C00000"/>
                </a:solidFill>
                <a:latin typeface="+mj-lt"/>
              </a:rPr>
              <a:t>No change</a:t>
            </a:r>
          </a:p>
        </p:txBody>
      </p:sp>
      <mc:AlternateContent xmlns:mc="http://schemas.openxmlformats.org/markup-compatibility/2006" xmlns:a14="http://schemas.microsoft.com/office/drawing/2010/main">
        <mc:Choice Requires="a14">
          <p:sp>
            <p:nvSpPr>
              <p:cNvPr id="34" name="Text Box 43"/>
              <p:cNvSpPr txBox="1">
                <a:spLocks noChangeArrowheads="1"/>
              </p:cNvSpPr>
              <p:nvPr/>
            </p:nvSpPr>
            <p:spPr bwMode="auto">
              <a:xfrm>
                <a:off x="5879977" y="2707774"/>
                <a:ext cx="3278077" cy="50520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pPr/>
                <a14:m>
                  <m:oMathPara xmlns:m="http://schemas.openxmlformats.org/officeDocument/2006/math">
                    <m:oMathParaPr>
                      <m:jc m:val="centerGroup"/>
                    </m:oMathParaPr>
                    <m:oMath xmlns:m="http://schemas.openxmlformats.org/officeDocument/2006/math">
                      <m:r>
                        <a:rPr lang="en-US" altLang="zh-CN" sz="2400" i="1" dirty="0">
                          <a:latin typeface="Cambria Math"/>
                        </a:rPr>
                        <m:t>𝐶𝑙𝑘</m:t>
                      </m:r>
                      <m:r>
                        <a:rPr lang="en-US" altLang="zh-CN" sz="2400" i="1" dirty="0">
                          <a:latin typeface="Cambria Math"/>
                        </a:rPr>
                        <m:t>   </m:t>
                      </m:r>
                      <m:r>
                        <a:rPr lang="en-US" altLang="zh-CN" sz="2400" i="1" dirty="0">
                          <a:latin typeface="Cambria Math"/>
                        </a:rPr>
                        <m:t>𝐽</m:t>
                      </m:r>
                      <m:r>
                        <a:rPr lang="en-US" altLang="zh-CN" sz="2400" i="1" dirty="0">
                          <a:latin typeface="Cambria Math"/>
                        </a:rPr>
                        <m:t>  </m:t>
                      </m:r>
                      <m:r>
                        <a:rPr lang="en-US" altLang="zh-CN" sz="2400" i="1" dirty="0">
                          <a:latin typeface="Cambria Math"/>
                        </a:rPr>
                        <m:t>𝐾</m:t>
                      </m:r>
                      <m:r>
                        <a:rPr lang="en-US" altLang="zh-CN" sz="2400" i="1" dirty="0">
                          <a:latin typeface="Cambria Math"/>
                        </a:rPr>
                        <m:t>    </m:t>
                      </m:r>
                      <m:r>
                        <a:rPr lang="en-US" altLang="zh-CN" sz="2400" i="1" dirty="0">
                          <a:latin typeface="Cambria Math"/>
                        </a:rPr>
                        <m:t>𝑄</m:t>
                      </m:r>
                      <m:r>
                        <a:rPr lang="en-US" altLang="zh-CN" sz="2400" i="1" dirty="0">
                          <a:latin typeface="Cambria Math"/>
                        </a:rPr>
                        <m:t>   </m:t>
                      </m:r>
                      <m:bar>
                        <m:barPr>
                          <m:pos m:val="top"/>
                          <m:ctrlPr>
                            <a:rPr lang="en-US" altLang="zh-CN" sz="2400" i="1">
                              <a:latin typeface="Cambria Math" panose="02040503050406030204" pitchFamily="18" charset="0"/>
                            </a:rPr>
                          </m:ctrlPr>
                        </m:barPr>
                        <m:e>
                          <m:r>
                            <a:rPr lang="en-US" altLang="zh-CN" sz="2400" i="1">
                              <a:latin typeface="Cambria Math"/>
                            </a:rPr>
                            <m:t>𝑄</m:t>
                          </m:r>
                        </m:e>
                      </m:bar>
                      <m:r>
                        <a:rPr lang="en-US" altLang="zh-CN" sz="2400" i="1">
                          <a:latin typeface="Cambria Math"/>
                        </a:rPr>
                        <m:t>     </m:t>
                      </m:r>
                      <m:r>
                        <a:rPr lang="en-US" altLang="zh-CN" sz="2400" i="1" dirty="0">
                          <a:latin typeface="Cambria Math"/>
                        </a:rPr>
                        <m:t>𝑄</m:t>
                      </m:r>
                      <m:r>
                        <a:rPr lang="en-US" altLang="zh-CN" sz="2400" i="1" dirty="0">
                          <a:latin typeface="Cambria Math"/>
                        </a:rPr>
                        <m:t>   </m:t>
                      </m:r>
                      <m:bar>
                        <m:barPr>
                          <m:pos m:val="top"/>
                          <m:ctrlPr>
                            <a:rPr lang="en-US" altLang="zh-CN" sz="2400" i="1">
                              <a:latin typeface="Cambria Math" panose="02040503050406030204" pitchFamily="18" charset="0"/>
                            </a:rPr>
                          </m:ctrlPr>
                        </m:barPr>
                        <m:e>
                          <m:r>
                            <a:rPr lang="en-US" altLang="zh-CN" sz="2400" i="1">
                              <a:latin typeface="Cambria Math"/>
                            </a:rPr>
                            <m:t>𝑄</m:t>
                          </m:r>
                        </m:e>
                      </m:bar>
                    </m:oMath>
                  </m:oMathPara>
                </a14:m>
                <a:endParaRPr lang="en-US" altLang="zh-CN" sz="2400" i="1" dirty="0">
                  <a:latin typeface="+mj-lt"/>
                </a:endParaRPr>
              </a:p>
            </p:txBody>
          </p:sp>
        </mc:Choice>
        <mc:Fallback xmlns="">
          <p:sp>
            <p:nvSpPr>
              <p:cNvPr id="34" name="Text Box 43"/>
              <p:cNvSpPr txBox="1">
                <a:spLocks noRot="1" noChangeAspect="1" noMove="1" noResize="1" noEditPoints="1" noAdjustHandles="1" noChangeArrowheads="1" noChangeShapeType="1" noTextEdit="1"/>
              </p:cNvSpPr>
              <p:nvPr/>
            </p:nvSpPr>
            <p:spPr bwMode="auto">
              <a:xfrm>
                <a:off x="5879977" y="2707774"/>
                <a:ext cx="3278077" cy="505203"/>
              </a:xfrm>
              <a:prstGeom prst="rect">
                <a:avLst/>
              </a:prstGeom>
              <a:blipFill>
                <a:blip r:embed="rId5"/>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N">
                    <a:noFill/>
                  </a:rPr>
                  <a:t> </a:t>
                </a:r>
              </a:p>
            </p:txBody>
          </p:sp>
        </mc:Fallback>
      </mc:AlternateContent>
    </p:spTree>
    <p:extLst>
      <p:ext uri="{BB962C8B-B14F-4D97-AF65-F5344CB8AC3E}">
        <p14:creationId xmlns:p14="http://schemas.microsoft.com/office/powerpoint/2010/main" val="76888515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P spid="35" grpId="0"/>
      <p:bldP spid="32"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rrowheads="1"/>
          </p:cNvSpPr>
          <p:nvPr>
            <p:ph type="title"/>
          </p:nvPr>
        </p:nvSpPr>
        <p:spPr/>
        <p:txBody>
          <a:bodyPr/>
          <a:lstStyle/>
          <a:p>
            <a:r>
              <a:rPr lang="en-IN" i="1" dirty="0">
                <a:solidFill>
                  <a:srgbClr val="0070C0"/>
                </a:solidFill>
              </a:rPr>
              <a:t>JK</a:t>
            </a:r>
            <a:r>
              <a:rPr lang="en-IN" dirty="0">
                <a:solidFill>
                  <a:srgbClr val="0070C0"/>
                </a:solidFill>
              </a:rPr>
              <a:t> Flip-Flop</a:t>
            </a:r>
            <a:endParaRPr lang="en-US" altLang="zh-CN" dirty="0">
              <a:solidFill>
                <a:srgbClr val="002060"/>
              </a:solidFill>
            </a:endParaRPr>
          </a:p>
        </p:txBody>
      </p:sp>
      <p:sp>
        <p:nvSpPr>
          <p:cNvPr id="20487" name="Line 4"/>
          <p:cNvSpPr>
            <a:spLocks noChangeShapeType="1"/>
          </p:cNvSpPr>
          <p:nvPr/>
        </p:nvSpPr>
        <p:spPr bwMode="auto">
          <a:xfrm>
            <a:off x="4551934" y="3800227"/>
            <a:ext cx="1588"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20519" name="Text Box 42"/>
          <p:cNvSpPr txBox="1">
            <a:spLocks noChangeArrowheads="1"/>
          </p:cNvSpPr>
          <p:nvPr/>
        </p:nvSpPr>
        <p:spPr bwMode="auto">
          <a:xfrm>
            <a:off x="6174432" y="3200778"/>
            <a:ext cx="1145705"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400" dirty="0">
                <a:latin typeface="+mj-lt"/>
              </a:rPr>
              <a:t>0   X   </a:t>
            </a:r>
            <a:r>
              <a:rPr lang="en-US" altLang="zh-CN" sz="2400" dirty="0" err="1">
                <a:latin typeface="+mj-lt"/>
              </a:rPr>
              <a:t>X</a:t>
            </a:r>
            <a:endParaRPr lang="en-US" altLang="zh-CN" sz="2400" dirty="0">
              <a:latin typeface="+mj-lt"/>
            </a:endParaRPr>
          </a:p>
          <a:p>
            <a:r>
              <a:rPr lang="en-US" altLang="zh-CN" sz="2400" dirty="0">
                <a:latin typeface="+mj-lt"/>
              </a:rPr>
              <a:t>1   0   0</a:t>
            </a:r>
          </a:p>
          <a:p>
            <a:r>
              <a:rPr lang="en-US" altLang="zh-CN" sz="2400" dirty="0">
                <a:latin typeface="+mj-lt"/>
              </a:rPr>
              <a:t>1   </a:t>
            </a:r>
            <a:r>
              <a:rPr lang="zh-CN" altLang="en-US" sz="2400" dirty="0">
                <a:latin typeface="+mj-lt"/>
              </a:rPr>
              <a:t>0   1</a:t>
            </a:r>
          </a:p>
          <a:p>
            <a:endParaRPr lang="en-US" altLang="zh-CN" sz="2400" dirty="0">
              <a:latin typeface="+mj-lt"/>
            </a:endParaRPr>
          </a:p>
          <a:p>
            <a:r>
              <a:rPr lang="en-US" altLang="zh-CN" sz="2400" dirty="0">
                <a:latin typeface="+mj-lt"/>
              </a:rPr>
              <a:t>1   </a:t>
            </a:r>
            <a:r>
              <a:rPr lang="zh-CN" altLang="en-US" sz="2400" dirty="0">
                <a:latin typeface="+mj-lt"/>
              </a:rPr>
              <a:t>1   0</a:t>
            </a:r>
          </a:p>
          <a:p>
            <a:endParaRPr lang="en-US" altLang="zh-CN" sz="2400" dirty="0">
              <a:latin typeface="+mj-lt"/>
            </a:endParaRPr>
          </a:p>
          <a:p>
            <a:r>
              <a:rPr lang="en-US" altLang="zh-CN" sz="2400" dirty="0">
                <a:latin typeface="+mj-lt"/>
              </a:rPr>
              <a:t>1   </a:t>
            </a:r>
            <a:r>
              <a:rPr lang="zh-CN" altLang="en-US" sz="2400" dirty="0">
                <a:latin typeface="+mj-lt"/>
              </a:rPr>
              <a:t>1   1</a:t>
            </a:r>
            <a:endParaRPr lang="en-US" altLang="zh-CN" sz="2400" dirty="0">
              <a:latin typeface="+mj-lt"/>
            </a:endParaRPr>
          </a:p>
          <a:p>
            <a:endParaRPr lang="zh-CN" altLang="en-US" sz="2800" dirty="0">
              <a:latin typeface="+mj-lt"/>
            </a:endParaRPr>
          </a:p>
        </p:txBody>
      </p:sp>
      <p:sp>
        <p:nvSpPr>
          <p:cNvPr id="20521" name="Line 44"/>
          <p:cNvSpPr>
            <a:spLocks noChangeShapeType="1"/>
          </p:cNvSpPr>
          <p:nvPr/>
        </p:nvSpPr>
        <p:spPr bwMode="auto">
          <a:xfrm>
            <a:off x="6096000" y="3212977"/>
            <a:ext cx="3312368" cy="11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0522" name="Line 45"/>
          <p:cNvSpPr>
            <a:spLocks noChangeShapeType="1"/>
          </p:cNvSpPr>
          <p:nvPr/>
        </p:nvSpPr>
        <p:spPr bwMode="auto">
          <a:xfrm>
            <a:off x="7332885" y="2707773"/>
            <a:ext cx="12750" cy="36015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 name="Rectangle 1"/>
          <p:cNvSpPr/>
          <p:nvPr/>
        </p:nvSpPr>
        <p:spPr>
          <a:xfrm>
            <a:off x="7104113" y="6300028"/>
            <a:ext cx="1533177" cy="369332"/>
          </a:xfrm>
          <a:prstGeom prst="rect">
            <a:avLst/>
          </a:prstGeom>
        </p:spPr>
        <p:txBody>
          <a:bodyPr wrap="none">
            <a:spAutoFit/>
          </a:bodyPr>
          <a:lstStyle/>
          <a:p>
            <a:r>
              <a:rPr lang="en-IN" dirty="0"/>
              <a:t>Function table</a:t>
            </a:r>
          </a:p>
        </p:txBody>
      </p:sp>
      <p:sp>
        <p:nvSpPr>
          <p:cNvPr id="17" name="Rectangle 16"/>
          <p:cNvSpPr/>
          <p:nvPr/>
        </p:nvSpPr>
        <p:spPr>
          <a:xfrm>
            <a:off x="3613698" y="3356992"/>
            <a:ext cx="1481559" cy="369332"/>
          </a:xfrm>
          <a:prstGeom prst="rect">
            <a:avLst/>
          </a:prstGeom>
        </p:spPr>
        <p:txBody>
          <a:bodyPr wrap="none">
            <a:spAutoFit/>
          </a:bodyPr>
          <a:lstStyle/>
          <a:p>
            <a:r>
              <a:rPr lang="en-IN" dirty="0"/>
              <a:t>Logic diagram</a:t>
            </a:r>
          </a:p>
        </p:txBody>
      </p:sp>
      <p:sp>
        <p:nvSpPr>
          <p:cNvPr id="3" name="Rectangle 2"/>
          <p:cNvSpPr/>
          <p:nvPr/>
        </p:nvSpPr>
        <p:spPr>
          <a:xfrm>
            <a:off x="8256241" y="2380818"/>
            <a:ext cx="1548373" cy="400110"/>
          </a:xfrm>
          <a:prstGeom prst="rect">
            <a:avLst/>
          </a:prstGeom>
        </p:spPr>
        <p:txBody>
          <a:bodyPr wrap="none">
            <a:spAutoFit/>
          </a:bodyPr>
          <a:lstStyle/>
          <a:p>
            <a:r>
              <a:rPr lang="en-IN" sz="2000" dirty="0">
                <a:latin typeface="Cambria Math" pitchFamily="18" charset="0"/>
                <a:ea typeface="Cambria Math" pitchFamily="18" charset="0"/>
              </a:rPr>
              <a:t>Next state of</a:t>
            </a: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7430" y="4581129"/>
            <a:ext cx="2838450" cy="164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Text Box 50"/>
          <p:cNvSpPr txBox="1">
            <a:spLocks noChangeArrowheads="1"/>
          </p:cNvSpPr>
          <p:nvPr/>
        </p:nvSpPr>
        <p:spPr bwMode="auto">
          <a:xfrm>
            <a:off x="8256240" y="3212977"/>
            <a:ext cx="24117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400" i="1" dirty="0">
                <a:solidFill>
                  <a:schemeClr val="hlink"/>
                </a:solidFill>
                <a:latin typeface="+mj-lt"/>
              </a:rPr>
              <a:t>Q</a:t>
            </a:r>
            <a:r>
              <a:rPr lang="zh-CN" altLang="en-US" sz="2400" i="1" dirty="0">
                <a:solidFill>
                  <a:schemeClr val="hlink"/>
                </a:solidFill>
                <a:latin typeface="+mj-lt"/>
              </a:rPr>
              <a:t>   </a:t>
            </a:r>
            <a:r>
              <a:rPr lang="en-US" altLang="zh-CN" sz="2400" i="1" dirty="0">
                <a:solidFill>
                  <a:schemeClr val="hlink"/>
                </a:solidFill>
                <a:latin typeface="+mj-lt"/>
              </a:rPr>
              <a:t>Q’</a:t>
            </a:r>
            <a:r>
              <a:rPr lang="zh-CN" altLang="en-US" sz="2400" i="1" dirty="0">
                <a:solidFill>
                  <a:schemeClr val="hlink"/>
                </a:solidFill>
                <a:latin typeface="+mj-lt"/>
              </a:rPr>
              <a:t>  </a:t>
            </a:r>
            <a:r>
              <a:rPr lang="en-US" altLang="zh-CN" sz="2400" i="1" dirty="0">
                <a:solidFill>
                  <a:srgbClr val="C00000"/>
                </a:solidFill>
                <a:latin typeface="+mj-lt"/>
              </a:rPr>
              <a:t>No change</a:t>
            </a:r>
          </a:p>
        </p:txBody>
      </p:sp>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72236" y="1268760"/>
            <a:ext cx="3779749" cy="1944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 name="Text Box 48"/>
          <p:cNvSpPr txBox="1">
            <a:spLocks noChangeArrowheads="1"/>
          </p:cNvSpPr>
          <p:nvPr/>
        </p:nvSpPr>
        <p:spPr bwMode="auto">
          <a:xfrm>
            <a:off x="4000400" y="1321604"/>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accent3">
                    <a:lumMod val="60000"/>
                    <a:lumOff val="40000"/>
                  </a:schemeClr>
                </a:solidFill>
                <a:latin typeface="+mj-lt"/>
              </a:rPr>
              <a:t>1</a:t>
            </a:r>
            <a:endParaRPr lang="zh-CN" altLang="en-US" sz="2800" dirty="0">
              <a:solidFill>
                <a:schemeClr val="accent3">
                  <a:lumMod val="60000"/>
                  <a:lumOff val="40000"/>
                </a:schemeClr>
              </a:solidFill>
              <a:latin typeface="+mj-lt"/>
            </a:endParaRPr>
          </a:p>
        </p:txBody>
      </p:sp>
      <p:sp>
        <p:nvSpPr>
          <p:cNvPr id="28" name="Text Box 48"/>
          <p:cNvSpPr txBox="1">
            <a:spLocks noChangeArrowheads="1"/>
          </p:cNvSpPr>
          <p:nvPr/>
        </p:nvSpPr>
        <p:spPr bwMode="auto">
          <a:xfrm>
            <a:off x="4000400" y="2689756"/>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accent3">
                    <a:lumMod val="60000"/>
                    <a:lumOff val="40000"/>
                  </a:schemeClr>
                </a:solidFill>
                <a:latin typeface="+mj-lt"/>
              </a:rPr>
              <a:t>1</a:t>
            </a:r>
            <a:endParaRPr lang="zh-CN" altLang="en-US" sz="2800" dirty="0">
              <a:solidFill>
                <a:schemeClr val="accent3">
                  <a:lumMod val="60000"/>
                  <a:lumOff val="40000"/>
                </a:schemeClr>
              </a:solidFill>
              <a:latin typeface="+mj-lt"/>
            </a:endParaRPr>
          </a:p>
        </p:txBody>
      </p:sp>
      <p:sp>
        <p:nvSpPr>
          <p:cNvPr id="29" name="Text Box 47"/>
          <p:cNvSpPr txBox="1">
            <a:spLocks noChangeArrowheads="1"/>
          </p:cNvSpPr>
          <p:nvPr/>
        </p:nvSpPr>
        <p:spPr bwMode="auto">
          <a:xfrm>
            <a:off x="2207568" y="1465620"/>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endParaRPr lang="zh-CN" altLang="en-US" sz="2800" dirty="0">
              <a:solidFill>
                <a:schemeClr val="hlink"/>
              </a:solidFill>
              <a:latin typeface="+mj-lt"/>
            </a:endParaRPr>
          </a:p>
        </p:txBody>
      </p:sp>
      <p:sp>
        <p:nvSpPr>
          <p:cNvPr id="30" name="Text Box 46"/>
          <p:cNvSpPr txBox="1">
            <a:spLocks noChangeArrowheads="1"/>
          </p:cNvSpPr>
          <p:nvPr/>
        </p:nvSpPr>
        <p:spPr bwMode="auto">
          <a:xfrm>
            <a:off x="2200200" y="2492896"/>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endParaRPr lang="zh-CN" altLang="en-US" sz="2800" dirty="0">
              <a:solidFill>
                <a:schemeClr val="hlink"/>
              </a:solidFill>
              <a:latin typeface="+mj-lt"/>
            </a:endParaRPr>
          </a:p>
        </p:txBody>
      </p:sp>
      <p:sp>
        <p:nvSpPr>
          <p:cNvPr id="35" name="Text Box 47"/>
          <p:cNvSpPr txBox="1">
            <a:spLocks noChangeArrowheads="1"/>
          </p:cNvSpPr>
          <p:nvPr/>
        </p:nvSpPr>
        <p:spPr bwMode="auto">
          <a:xfrm>
            <a:off x="1912168" y="1969676"/>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rgbClr val="C00000"/>
                </a:solidFill>
                <a:latin typeface="+mj-lt"/>
              </a:rPr>
              <a:t>1</a:t>
            </a:r>
            <a:endParaRPr lang="zh-CN" altLang="en-US" sz="2800" dirty="0">
              <a:solidFill>
                <a:srgbClr val="C00000"/>
              </a:solidFill>
              <a:latin typeface="+mj-lt"/>
            </a:endParaRPr>
          </a:p>
        </p:txBody>
      </p:sp>
      <p:sp>
        <p:nvSpPr>
          <p:cNvPr id="37" name="Text Box 42"/>
          <p:cNvSpPr txBox="1">
            <a:spLocks noChangeArrowheads="1"/>
          </p:cNvSpPr>
          <p:nvPr/>
        </p:nvSpPr>
        <p:spPr bwMode="auto">
          <a:xfrm>
            <a:off x="7398568" y="3212976"/>
            <a:ext cx="785665"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endParaRPr lang="en-US" altLang="zh-CN" sz="2400" dirty="0">
              <a:solidFill>
                <a:schemeClr val="accent1">
                  <a:lumMod val="60000"/>
                  <a:lumOff val="40000"/>
                </a:schemeClr>
              </a:solidFill>
              <a:latin typeface="+mj-lt"/>
            </a:endParaRPr>
          </a:p>
          <a:p>
            <a:endParaRPr lang="en-US" altLang="zh-CN" sz="2400" dirty="0">
              <a:solidFill>
                <a:schemeClr val="accent1">
                  <a:lumMod val="60000"/>
                  <a:lumOff val="40000"/>
                </a:schemeClr>
              </a:solidFill>
              <a:latin typeface="+mj-lt"/>
            </a:endParaRPr>
          </a:p>
          <a:p>
            <a:r>
              <a:rPr lang="en-US" altLang="zh-CN" sz="2400" dirty="0">
                <a:solidFill>
                  <a:schemeClr val="accent1">
                    <a:lumMod val="60000"/>
                    <a:lumOff val="40000"/>
                  </a:schemeClr>
                </a:solidFill>
              </a:rPr>
              <a:t>0   1</a:t>
            </a:r>
          </a:p>
          <a:p>
            <a:r>
              <a:rPr lang="en-US" altLang="zh-CN" sz="2400" dirty="0">
                <a:solidFill>
                  <a:schemeClr val="accent1">
                    <a:lumMod val="60000"/>
                    <a:lumOff val="40000"/>
                  </a:schemeClr>
                </a:solidFill>
              </a:rPr>
              <a:t>1   0</a:t>
            </a:r>
          </a:p>
          <a:p>
            <a:r>
              <a:rPr lang="en-US" altLang="zh-CN" sz="2400" dirty="0">
                <a:solidFill>
                  <a:schemeClr val="accent1">
                    <a:lumMod val="60000"/>
                    <a:lumOff val="40000"/>
                  </a:schemeClr>
                </a:solidFill>
              </a:rPr>
              <a:t>0   1</a:t>
            </a:r>
          </a:p>
          <a:p>
            <a:r>
              <a:rPr lang="en-US" altLang="zh-CN" sz="2400" dirty="0">
                <a:solidFill>
                  <a:schemeClr val="accent1">
                    <a:lumMod val="60000"/>
                    <a:lumOff val="40000"/>
                  </a:schemeClr>
                </a:solidFill>
              </a:rPr>
              <a:t>1   0</a:t>
            </a:r>
          </a:p>
          <a:p>
            <a:r>
              <a:rPr lang="en-US" altLang="zh-CN" sz="2400" dirty="0">
                <a:solidFill>
                  <a:schemeClr val="accent1">
                    <a:lumMod val="60000"/>
                    <a:lumOff val="40000"/>
                  </a:schemeClr>
                </a:solidFill>
              </a:rPr>
              <a:t>0   1</a:t>
            </a:r>
          </a:p>
          <a:p>
            <a:r>
              <a:rPr lang="en-US" altLang="zh-CN" sz="2400" dirty="0">
                <a:solidFill>
                  <a:schemeClr val="accent1">
                    <a:lumMod val="60000"/>
                    <a:lumOff val="40000"/>
                  </a:schemeClr>
                </a:solidFill>
              </a:rPr>
              <a:t>1   0</a:t>
            </a:r>
          </a:p>
        </p:txBody>
      </p:sp>
      <p:sp>
        <p:nvSpPr>
          <p:cNvPr id="39" name="Line 45"/>
          <p:cNvSpPr>
            <a:spLocks noChangeShapeType="1"/>
          </p:cNvSpPr>
          <p:nvPr/>
        </p:nvSpPr>
        <p:spPr bwMode="auto">
          <a:xfrm>
            <a:off x="8196981" y="2708920"/>
            <a:ext cx="12750" cy="35283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32" name="Text Box 50"/>
          <p:cNvSpPr txBox="1">
            <a:spLocks noChangeArrowheads="1"/>
          </p:cNvSpPr>
          <p:nvPr/>
        </p:nvSpPr>
        <p:spPr bwMode="auto">
          <a:xfrm>
            <a:off x="8256240" y="3573017"/>
            <a:ext cx="24117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400" i="1" dirty="0">
                <a:solidFill>
                  <a:schemeClr val="hlink"/>
                </a:solidFill>
                <a:latin typeface="+mj-lt"/>
              </a:rPr>
              <a:t>Q</a:t>
            </a:r>
            <a:r>
              <a:rPr lang="zh-CN" altLang="en-US" sz="2400" i="1" dirty="0">
                <a:solidFill>
                  <a:schemeClr val="hlink"/>
                </a:solidFill>
                <a:latin typeface="+mj-lt"/>
              </a:rPr>
              <a:t>   </a:t>
            </a:r>
            <a:r>
              <a:rPr lang="en-US" altLang="zh-CN" sz="2400" i="1" dirty="0">
                <a:solidFill>
                  <a:schemeClr val="hlink"/>
                </a:solidFill>
                <a:latin typeface="+mj-lt"/>
              </a:rPr>
              <a:t>Q’</a:t>
            </a:r>
            <a:r>
              <a:rPr lang="zh-CN" altLang="en-US" sz="2400" i="1" dirty="0">
                <a:solidFill>
                  <a:schemeClr val="hlink"/>
                </a:solidFill>
                <a:latin typeface="+mj-lt"/>
              </a:rPr>
              <a:t>  </a:t>
            </a:r>
            <a:r>
              <a:rPr lang="en-US" altLang="zh-CN" sz="2400" i="1" dirty="0">
                <a:solidFill>
                  <a:srgbClr val="C00000"/>
                </a:solidFill>
                <a:latin typeface="+mj-lt"/>
              </a:rPr>
              <a:t>No change</a:t>
            </a:r>
          </a:p>
        </p:txBody>
      </p:sp>
      <p:sp>
        <p:nvSpPr>
          <p:cNvPr id="23" name="Text Box 48"/>
          <p:cNvSpPr txBox="1">
            <a:spLocks noChangeArrowheads="1"/>
          </p:cNvSpPr>
          <p:nvPr/>
        </p:nvSpPr>
        <p:spPr bwMode="auto">
          <a:xfrm>
            <a:off x="5944616" y="1556792"/>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accent1">
                    <a:lumMod val="60000"/>
                    <a:lumOff val="40000"/>
                  </a:schemeClr>
                </a:solidFill>
                <a:latin typeface="+mj-lt"/>
              </a:rPr>
              <a:t>0</a:t>
            </a:r>
            <a:endParaRPr lang="zh-CN" altLang="en-US" sz="2800" dirty="0">
              <a:solidFill>
                <a:schemeClr val="accent1">
                  <a:lumMod val="60000"/>
                  <a:lumOff val="40000"/>
                </a:schemeClr>
              </a:solidFill>
              <a:latin typeface="+mj-lt"/>
            </a:endParaRPr>
          </a:p>
        </p:txBody>
      </p:sp>
      <p:sp>
        <p:nvSpPr>
          <p:cNvPr id="24" name="Text Box 48"/>
          <p:cNvSpPr txBox="1">
            <a:spLocks noChangeArrowheads="1"/>
          </p:cNvSpPr>
          <p:nvPr/>
        </p:nvSpPr>
        <p:spPr bwMode="auto">
          <a:xfrm>
            <a:off x="5951984" y="2401724"/>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accent1">
                    <a:lumMod val="60000"/>
                    <a:lumOff val="40000"/>
                  </a:schemeClr>
                </a:solidFill>
                <a:latin typeface="+mj-lt"/>
              </a:rPr>
              <a:t>1</a:t>
            </a:r>
            <a:endParaRPr lang="zh-CN" altLang="en-US" sz="2800" dirty="0">
              <a:solidFill>
                <a:schemeClr val="accent1">
                  <a:lumMod val="60000"/>
                  <a:lumOff val="40000"/>
                </a:schemeClr>
              </a:solidFill>
              <a:latin typeface="+mj-lt"/>
            </a:endParaRPr>
          </a:p>
        </p:txBody>
      </p:sp>
      <p:sp>
        <p:nvSpPr>
          <p:cNvPr id="25" name="Text Box 47"/>
          <p:cNvSpPr txBox="1">
            <a:spLocks noChangeArrowheads="1"/>
          </p:cNvSpPr>
          <p:nvPr/>
        </p:nvSpPr>
        <p:spPr bwMode="auto">
          <a:xfrm>
            <a:off x="6240016" y="1556792"/>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endParaRPr lang="zh-CN" altLang="en-US" sz="2800" dirty="0">
              <a:solidFill>
                <a:schemeClr val="hlink"/>
              </a:solidFill>
              <a:latin typeface="+mj-lt"/>
            </a:endParaRPr>
          </a:p>
        </p:txBody>
      </p:sp>
      <p:sp>
        <p:nvSpPr>
          <p:cNvPr id="31" name="Text Box 47"/>
          <p:cNvSpPr txBox="1">
            <a:spLocks noChangeArrowheads="1"/>
          </p:cNvSpPr>
          <p:nvPr/>
        </p:nvSpPr>
        <p:spPr bwMode="auto">
          <a:xfrm>
            <a:off x="6240016" y="2401724"/>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endParaRPr lang="zh-CN" altLang="en-US" sz="2800" dirty="0">
              <a:solidFill>
                <a:schemeClr val="hlink"/>
              </a:solidFill>
              <a:latin typeface="+mj-lt"/>
            </a:endParaRPr>
          </a:p>
        </p:txBody>
      </p:sp>
      <p:sp>
        <p:nvSpPr>
          <p:cNvPr id="33" name="Text Box 50"/>
          <p:cNvSpPr txBox="1">
            <a:spLocks noChangeArrowheads="1"/>
          </p:cNvSpPr>
          <p:nvPr/>
        </p:nvSpPr>
        <p:spPr bwMode="auto">
          <a:xfrm>
            <a:off x="8292752" y="3933057"/>
            <a:ext cx="24117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400" dirty="0">
                <a:solidFill>
                  <a:schemeClr val="hlink"/>
                </a:solidFill>
                <a:latin typeface="+mj-lt"/>
              </a:rPr>
              <a:t>0</a:t>
            </a:r>
            <a:r>
              <a:rPr lang="zh-CN" altLang="en-US" sz="2400" dirty="0">
                <a:solidFill>
                  <a:schemeClr val="hlink"/>
                </a:solidFill>
                <a:latin typeface="+mj-lt"/>
              </a:rPr>
              <a:t>    </a:t>
            </a:r>
            <a:r>
              <a:rPr lang="en-US" altLang="zh-CN" sz="2400" dirty="0">
                <a:solidFill>
                  <a:schemeClr val="hlink"/>
                </a:solidFill>
                <a:latin typeface="+mj-lt"/>
              </a:rPr>
              <a:t>1</a:t>
            </a:r>
            <a:endParaRPr lang="en-US" altLang="zh-CN" sz="2400" i="1" dirty="0">
              <a:solidFill>
                <a:srgbClr val="C00000"/>
              </a:solidFill>
              <a:latin typeface="+mj-lt"/>
            </a:endParaRPr>
          </a:p>
        </p:txBody>
      </p:sp>
      <mc:AlternateContent xmlns:mc="http://schemas.openxmlformats.org/markup-compatibility/2006" xmlns:a14="http://schemas.microsoft.com/office/drawing/2010/main">
        <mc:Choice Requires="a14">
          <p:sp>
            <p:nvSpPr>
              <p:cNvPr id="34" name="Text Box 43"/>
              <p:cNvSpPr txBox="1">
                <a:spLocks noChangeArrowheads="1"/>
              </p:cNvSpPr>
              <p:nvPr/>
            </p:nvSpPr>
            <p:spPr bwMode="auto">
              <a:xfrm>
                <a:off x="5879977" y="2707774"/>
                <a:ext cx="3278077" cy="50520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pPr/>
                <a14:m>
                  <m:oMathPara xmlns:m="http://schemas.openxmlformats.org/officeDocument/2006/math">
                    <m:oMathParaPr>
                      <m:jc m:val="centerGroup"/>
                    </m:oMathParaPr>
                    <m:oMath xmlns:m="http://schemas.openxmlformats.org/officeDocument/2006/math">
                      <m:r>
                        <a:rPr lang="en-US" altLang="zh-CN" sz="2400" i="1" dirty="0">
                          <a:latin typeface="Cambria Math"/>
                        </a:rPr>
                        <m:t>𝐶𝑙𝑘</m:t>
                      </m:r>
                      <m:r>
                        <a:rPr lang="en-US" altLang="zh-CN" sz="2400" i="1" dirty="0">
                          <a:latin typeface="Cambria Math"/>
                        </a:rPr>
                        <m:t>   </m:t>
                      </m:r>
                      <m:r>
                        <a:rPr lang="en-US" altLang="zh-CN" sz="2400" i="1" dirty="0">
                          <a:latin typeface="Cambria Math"/>
                        </a:rPr>
                        <m:t>𝐽</m:t>
                      </m:r>
                      <m:r>
                        <a:rPr lang="en-US" altLang="zh-CN" sz="2400" i="1" dirty="0">
                          <a:latin typeface="Cambria Math"/>
                        </a:rPr>
                        <m:t>  </m:t>
                      </m:r>
                      <m:r>
                        <a:rPr lang="en-US" altLang="zh-CN" sz="2400" i="1" dirty="0">
                          <a:latin typeface="Cambria Math"/>
                        </a:rPr>
                        <m:t>𝐾</m:t>
                      </m:r>
                      <m:r>
                        <a:rPr lang="en-US" altLang="zh-CN" sz="2400" i="1" dirty="0">
                          <a:latin typeface="Cambria Math"/>
                        </a:rPr>
                        <m:t>    </m:t>
                      </m:r>
                      <m:r>
                        <a:rPr lang="en-US" altLang="zh-CN" sz="2400" i="1" dirty="0">
                          <a:latin typeface="Cambria Math"/>
                        </a:rPr>
                        <m:t>𝑄</m:t>
                      </m:r>
                      <m:r>
                        <a:rPr lang="en-US" altLang="zh-CN" sz="2400" i="1" dirty="0">
                          <a:latin typeface="Cambria Math"/>
                        </a:rPr>
                        <m:t>   </m:t>
                      </m:r>
                      <m:bar>
                        <m:barPr>
                          <m:pos m:val="top"/>
                          <m:ctrlPr>
                            <a:rPr lang="en-US" altLang="zh-CN" sz="2400" i="1">
                              <a:latin typeface="Cambria Math" panose="02040503050406030204" pitchFamily="18" charset="0"/>
                            </a:rPr>
                          </m:ctrlPr>
                        </m:barPr>
                        <m:e>
                          <m:r>
                            <a:rPr lang="en-US" altLang="zh-CN" sz="2400" i="1">
                              <a:latin typeface="Cambria Math"/>
                            </a:rPr>
                            <m:t>𝑄</m:t>
                          </m:r>
                        </m:e>
                      </m:bar>
                      <m:r>
                        <a:rPr lang="en-US" altLang="zh-CN" sz="2400" i="1">
                          <a:latin typeface="Cambria Math"/>
                        </a:rPr>
                        <m:t>     </m:t>
                      </m:r>
                      <m:r>
                        <a:rPr lang="en-US" altLang="zh-CN" sz="2400" i="1" dirty="0">
                          <a:latin typeface="Cambria Math"/>
                        </a:rPr>
                        <m:t>𝑄</m:t>
                      </m:r>
                      <m:r>
                        <a:rPr lang="en-US" altLang="zh-CN" sz="2400" i="1" dirty="0">
                          <a:latin typeface="Cambria Math"/>
                        </a:rPr>
                        <m:t>   </m:t>
                      </m:r>
                      <m:bar>
                        <m:barPr>
                          <m:pos m:val="top"/>
                          <m:ctrlPr>
                            <a:rPr lang="en-US" altLang="zh-CN" sz="2400" i="1">
                              <a:latin typeface="Cambria Math" panose="02040503050406030204" pitchFamily="18" charset="0"/>
                            </a:rPr>
                          </m:ctrlPr>
                        </m:barPr>
                        <m:e>
                          <m:r>
                            <a:rPr lang="en-US" altLang="zh-CN" sz="2400" i="1">
                              <a:latin typeface="Cambria Math"/>
                            </a:rPr>
                            <m:t>𝑄</m:t>
                          </m:r>
                        </m:e>
                      </m:bar>
                    </m:oMath>
                  </m:oMathPara>
                </a14:m>
                <a:endParaRPr lang="en-US" altLang="zh-CN" sz="2400" i="1" dirty="0">
                  <a:latin typeface="+mj-lt"/>
                </a:endParaRPr>
              </a:p>
            </p:txBody>
          </p:sp>
        </mc:Choice>
        <mc:Fallback xmlns="">
          <p:sp>
            <p:nvSpPr>
              <p:cNvPr id="34" name="Text Box 43"/>
              <p:cNvSpPr txBox="1">
                <a:spLocks noRot="1" noChangeAspect="1" noMove="1" noResize="1" noEditPoints="1" noAdjustHandles="1" noChangeArrowheads="1" noChangeShapeType="1" noTextEdit="1"/>
              </p:cNvSpPr>
              <p:nvPr/>
            </p:nvSpPr>
            <p:spPr bwMode="auto">
              <a:xfrm>
                <a:off x="5879977" y="2707774"/>
                <a:ext cx="3278077" cy="505203"/>
              </a:xfrm>
              <a:prstGeom prst="rect">
                <a:avLst/>
              </a:prstGeom>
              <a:blipFill>
                <a:blip r:embed="rId5"/>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N">
                    <a:noFill/>
                  </a:rPr>
                  <a:t> </a:t>
                </a:r>
              </a:p>
            </p:txBody>
          </p:sp>
        </mc:Fallback>
      </mc:AlternateContent>
    </p:spTree>
    <p:extLst>
      <p:ext uri="{BB962C8B-B14F-4D97-AF65-F5344CB8AC3E}">
        <p14:creationId xmlns:p14="http://schemas.microsoft.com/office/powerpoint/2010/main" val="254205761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29" grpId="0"/>
      <p:bldP spid="30" grpId="0"/>
      <p:bldP spid="25" grpId="0"/>
      <p:bldP spid="31" grpId="0"/>
      <p:bldP spid="33"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rrowheads="1"/>
          </p:cNvSpPr>
          <p:nvPr>
            <p:ph type="title"/>
          </p:nvPr>
        </p:nvSpPr>
        <p:spPr/>
        <p:txBody>
          <a:bodyPr/>
          <a:lstStyle/>
          <a:p>
            <a:r>
              <a:rPr lang="en-IN" i="1" dirty="0">
                <a:solidFill>
                  <a:srgbClr val="0070C0"/>
                </a:solidFill>
              </a:rPr>
              <a:t>JK</a:t>
            </a:r>
            <a:r>
              <a:rPr lang="en-IN" dirty="0">
                <a:solidFill>
                  <a:srgbClr val="0070C0"/>
                </a:solidFill>
              </a:rPr>
              <a:t> Flip-Flop</a:t>
            </a:r>
            <a:endParaRPr lang="en-US" altLang="zh-CN" dirty="0">
              <a:solidFill>
                <a:srgbClr val="002060"/>
              </a:solidFill>
            </a:endParaRPr>
          </a:p>
        </p:txBody>
      </p:sp>
      <p:sp>
        <p:nvSpPr>
          <p:cNvPr id="20487" name="Line 4"/>
          <p:cNvSpPr>
            <a:spLocks noChangeShapeType="1"/>
          </p:cNvSpPr>
          <p:nvPr/>
        </p:nvSpPr>
        <p:spPr bwMode="auto">
          <a:xfrm>
            <a:off x="4551934" y="3800227"/>
            <a:ext cx="1588"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20519" name="Text Box 42"/>
          <p:cNvSpPr txBox="1">
            <a:spLocks noChangeArrowheads="1"/>
          </p:cNvSpPr>
          <p:nvPr/>
        </p:nvSpPr>
        <p:spPr bwMode="auto">
          <a:xfrm>
            <a:off x="6174432" y="3200778"/>
            <a:ext cx="1145705"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400" dirty="0">
                <a:latin typeface="+mj-lt"/>
              </a:rPr>
              <a:t>0   X   </a:t>
            </a:r>
            <a:r>
              <a:rPr lang="en-US" altLang="zh-CN" sz="2400" dirty="0" err="1">
                <a:latin typeface="+mj-lt"/>
              </a:rPr>
              <a:t>X</a:t>
            </a:r>
            <a:endParaRPr lang="en-US" altLang="zh-CN" sz="2400" dirty="0">
              <a:latin typeface="+mj-lt"/>
            </a:endParaRPr>
          </a:p>
          <a:p>
            <a:r>
              <a:rPr lang="en-US" altLang="zh-CN" sz="2400" dirty="0">
                <a:latin typeface="+mj-lt"/>
              </a:rPr>
              <a:t>1   0   0</a:t>
            </a:r>
          </a:p>
          <a:p>
            <a:r>
              <a:rPr lang="en-US" altLang="zh-CN" sz="2400" dirty="0">
                <a:latin typeface="+mj-lt"/>
              </a:rPr>
              <a:t>1   </a:t>
            </a:r>
            <a:r>
              <a:rPr lang="zh-CN" altLang="en-US" sz="2400" dirty="0">
                <a:latin typeface="+mj-lt"/>
              </a:rPr>
              <a:t>0   1</a:t>
            </a:r>
          </a:p>
          <a:p>
            <a:endParaRPr lang="en-US" altLang="zh-CN" sz="2400" dirty="0">
              <a:latin typeface="+mj-lt"/>
            </a:endParaRPr>
          </a:p>
          <a:p>
            <a:r>
              <a:rPr lang="en-US" altLang="zh-CN" sz="2400" dirty="0">
                <a:latin typeface="+mj-lt"/>
              </a:rPr>
              <a:t>1   </a:t>
            </a:r>
            <a:r>
              <a:rPr lang="zh-CN" altLang="en-US" sz="2400" dirty="0">
                <a:latin typeface="+mj-lt"/>
              </a:rPr>
              <a:t>1   0</a:t>
            </a:r>
          </a:p>
          <a:p>
            <a:endParaRPr lang="en-US" altLang="zh-CN" sz="2400" dirty="0">
              <a:latin typeface="+mj-lt"/>
            </a:endParaRPr>
          </a:p>
          <a:p>
            <a:r>
              <a:rPr lang="en-US" altLang="zh-CN" sz="2400" dirty="0">
                <a:latin typeface="+mj-lt"/>
              </a:rPr>
              <a:t>1   </a:t>
            </a:r>
            <a:r>
              <a:rPr lang="zh-CN" altLang="en-US" sz="2400" dirty="0">
                <a:latin typeface="+mj-lt"/>
              </a:rPr>
              <a:t>1   1</a:t>
            </a:r>
            <a:endParaRPr lang="en-US" altLang="zh-CN" sz="2400" dirty="0">
              <a:latin typeface="+mj-lt"/>
            </a:endParaRPr>
          </a:p>
          <a:p>
            <a:endParaRPr lang="zh-CN" altLang="en-US" sz="2800" dirty="0">
              <a:latin typeface="+mj-lt"/>
            </a:endParaRPr>
          </a:p>
        </p:txBody>
      </p:sp>
      <p:sp>
        <p:nvSpPr>
          <p:cNvPr id="20521" name="Line 44"/>
          <p:cNvSpPr>
            <a:spLocks noChangeShapeType="1"/>
          </p:cNvSpPr>
          <p:nvPr/>
        </p:nvSpPr>
        <p:spPr bwMode="auto">
          <a:xfrm>
            <a:off x="6096000" y="3212977"/>
            <a:ext cx="3312368" cy="11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0522" name="Line 45"/>
          <p:cNvSpPr>
            <a:spLocks noChangeShapeType="1"/>
          </p:cNvSpPr>
          <p:nvPr/>
        </p:nvSpPr>
        <p:spPr bwMode="auto">
          <a:xfrm>
            <a:off x="7332885" y="2707773"/>
            <a:ext cx="12750" cy="36015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 name="Rectangle 1"/>
          <p:cNvSpPr/>
          <p:nvPr/>
        </p:nvSpPr>
        <p:spPr>
          <a:xfrm>
            <a:off x="7104113" y="6300028"/>
            <a:ext cx="1533177" cy="369332"/>
          </a:xfrm>
          <a:prstGeom prst="rect">
            <a:avLst/>
          </a:prstGeom>
        </p:spPr>
        <p:txBody>
          <a:bodyPr wrap="none">
            <a:spAutoFit/>
          </a:bodyPr>
          <a:lstStyle/>
          <a:p>
            <a:r>
              <a:rPr lang="en-IN" dirty="0"/>
              <a:t>Function table</a:t>
            </a:r>
          </a:p>
        </p:txBody>
      </p:sp>
      <p:sp>
        <p:nvSpPr>
          <p:cNvPr id="17" name="Rectangle 16"/>
          <p:cNvSpPr/>
          <p:nvPr/>
        </p:nvSpPr>
        <p:spPr>
          <a:xfrm>
            <a:off x="3613698" y="3356992"/>
            <a:ext cx="1481559" cy="369332"/>
          </a:xfrm>
          <a:prstGeom prst="rect">
            <a:avLst/>
          </a:prstGeom>
        </p:spPr>
        <p:txBody>
          <a:bodyPr wrap="none">
            <a:spAutoFit/>
          </a:bodyPr>
          <a:lstStyle/>
          <a:p>
            <a:r>
              <a:rPr lang="en-IN" dirty="0"/>
              <a:t>Logic diagram</a:t>
            </a:r>
          </a:p>
        </p:txBody>
      </p:sp>
      <p:sp>
        <p:nvSpPr>
          <p:cNvPr id="3" name="Rectangle 2"/>
          <p:cNvSpPr/>
          <p:nvPr/>
        </p:nvSpPr>
        <p:spPr>
          <a:xfrm>
            <a:off x="8256241" y="2380818"/>
            <a:ext cx="1548373" cy="400110"/>
          </a:xfrm>
          <a:prstGeom prst="rect">
            <a:avLst/>
          </a:prstGeom>
        </p:spPr>
        <p:txBody>
          <a:bodyPr wrap="none">
            <a:spAutoFit/>
          </a:bodyPr>
          <a:lstStyle/>
          <a:p>
            <a:r>
              <a:rPr lang="en-IN" sz="2000" dirty="0">
                <a:latin typeface="Cambria Math" pitchFamily="18" charset="0"/>
                <a:ea typeface="Cambria Math" pitchFamily="18" charset="0"/>
              </a:rPr>
              <a:t>Next state of</a:t>
            </a: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7430" y="4581129"/>
            <a:ext cx="2838450" cy="164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Text Box 50"/>
          <p:cNvSpPr txBox="1">
            <a:spLocks noChangeArrowheads="1"/>
          </p:cNvSpPr>
          <p:nvPr/>
        </p:nvSpPr>
        <p:spPr bwMode="auto">
          <a:xfrm>
            <a:off x="8256240" y="3212977"/>
            <a:ext cx="24117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400" i="1" dirty="0">
                <a:solidFill>
                  <a:schemeClr val="hlink"/>
                </a:solidFill>
                <a:latin typeface="+mj-lt"/>
              </a:rPr>
              <a:t>Q</a:t>
            </a:r>
            <a:r>
              <a:rPr lang="zh-CN" altLang="en-US" sz="2400" i="1" dirty="0">
                <a:solidFill>
                  <a:schemeClr val="hlink"/>
                </a:solidFill>
                <a:latin typeface="+mj-lt"/>
              </a:rPr>
              <a:t>   </a:t>
            </a:r>
            <a:r>
              <a:rPr lang="en-US" altLang="zh-CN" sz="2400" i="1" dirty="0">
                <a:solidFill>
                  <a:schemeClr val="hlink"/>
                </a:solidFill>
                <a:latin typeface="+mj-lt"/>
              </a:rPr>
              <a:t>Q’</a:t>
            </a:r>
            <a:r>
              <a:rPr lang="zh-CN" altLang="en-US" sz="2400" i="1" dirty="0">
                <a:solidFill>
                  <a:schemeClr val="hlink"/>
                </a:solidFill>
                <a:latin typeface="+mj-lt"/>
              </a:rPr>
              <a:t>  </a:t>
            </a:r>
            <a:r>
              <a:rPr lang="en-US" altLang="zh-CN" sz="2400" i="1" dirty="0">
                <a:solidFill>
                  <a:srgbClr val="C00000"/>
                </a:solidFill>
                <a:latin typeface="+mj-lt"/>
              </a:rPr>
              <a:t>No change</a:t>
            </a:r>
          </a:p>
        </p:txBody>
      </p:sp>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72236" y="1268760"/>
            <a:ext cx="3779749" cy="1944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 name="Text Box 48"/>
          <p:cNvSpPr txBox="1">
            <a:spLocks noChangeArrowheads="1"/>
          </p:cNvSpPr>
          <p:nvPr/>
        </p:nvSpPr>
        <p:spPr bwMode="auto">
          <a:xfrm>
            <a:off x="4000400" y="1321604"/>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accent3">
                    <a:lumMod val="60000"/>
                    <a:lumOff val="40000"/>
                  </a:schemeClr>
                </a:solidFill>
                <a:latin typeface="+mj-lt"/>
              </a:rPr>
              <a:t>1</a:t>
            </a:r>
            <a:endParaRPr lang="zh-CN" altLang="en-US" sz="2800" dirty="0">
              <a:solidFill>
                <a:schemeClr val="accent3">
                  <a:lumMod val="60000"/>
                  <a:lumOff val="40000"/>
                </a:schemeClr>
              </a:solidFill>
              <a:latin typeface="+mj-lt"/>
            </a:endParaRPr>
          </a:p>
        </p:txBody>
      </p:sp>
      <p:sp>
        <p:nvSpPr>
          <p:cNvPr id="28" name="Text Box 48"/>
          <p:cNvSpPr txBox="1">
            <a:spLocks noChangeArrowheads="1"/>
          </p:cNvSpPr>
          <p:nvPr/>
        </p:nvSpPr>
        <p:spPr bwMode="auto">
          <a:xfrm>
            <a:off x="4000400" y="2689756"/>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accent3">
                    <a:lumMod val="60000"/>
                    <a:lumOff val="40000"/>
                  </a:schemeClr>
                </a:solidFill>
                <a:latin typeface="+mj-lt"/>
              </a:rPr>
              <a:t>0</a:t>
            </a:r>
            <a:endParaRPr lang="zh-CN" altLang="en-US" sz="2800" dirty="0">
              <a:solidFill>
                <a:schemeClr val="accent3">
                  <a:lumMod val="60000"/>
                  <a:lumOff val="40000"/>
                </a:schemeClr>
              </a:solidFill>
              <a:latin typeface="+mj-lt"/>
            </a:endParaRPr>
          </a:p>
        </p:txBody>
      </p:sp>
      <p:sp>
        <p:nvSpPr>
          <p:cNvPr id="29" name="Text Box 47"/>
          <p:cNvSpPr txBox="1">
            <a:spLocks noChangeArrowheads="1"/>
          </p:cNvSpPr>
          <p:nvPr/>
        </p:nvSpPr>
        <p:spPr bwMode="auto">
          <a:xfrm>
            <a:off x="2207568" y="1465620"/>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endParaRPr lang="zh-CN" altLang="en-US" sz="2800" dirty="0">
              <a:solidFill>
                <a:schemeClr val="hlink"/>
              </a:solidFill>
              <a:latin typeface="+mj-lt"/>
            </a:endParaRPr>
          </a:p>
        </p:txBody>
      </p:sp>
      <p:sp>
        <p:nvSpPr>
          <p:cNvPr id="30" name="Text Box 46"/>
          <p:cNvSpPr txBox="1">
            <a:spLocks noChangeArrowheads="1"/>
          </p:cNvSpPr>
          <p:nvPr/>
        </p:nvSpPr>
        <p:spPr bwMode="auto">
          <a:xfrm>
            <a:off x="2200200" y="2492896"/>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endParaRPr lang="zh-CN" altLang="en-US" sz="2800" dirty="0">
              <a:solidFill>
                <a:schemeClr val="hlink"/>
              </a:solidFill>
              <a:latin typeface="+mj-lt"/>
            </a:endParaRPr>
          </a:p>
        </p:txBody>
      </p:sp>
      <p:sp>
        <p:nvSpPr>
          <p:cNvPr id="35" name="Text Box 47"/>
          <p:cNvSpPr txBox="1">
            <a:spLocks noChangeArrowheads="1"/>
          </p:cNvSpPr>
          <p:nvPr/>
        </p:nvSpPr>
        <p:spPr bwMode="auto">
          <a:xfrm>
            <a:off x="1912168" y="1969676"/>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rgbClr val="C00000"/>
                </a:solidFill>
                <a:latin typeface="+mj-lt"/>
              </a:rPr>
              <a:t>1</a:t>
            </a:r>
            <a:endParaRPr lang="zh-CN" altLang="en-US" sz="2800" dirty="0">
              <a:solidFill>
                <a:srgbClr val="C00000"/>
              </a:solidFill>
              <a:latin typeface="+mj-lt"/>
            </a:endParaRPr>
          </a:p>
        </p:txBody>
      </p:sp>
      <p:sp>
        <p:nvSpPr>
          <p:cNvPr id="37" name="Text Box 42"/>
          <p:cNvSpPr txBox="1">
            <a:spLocks noChangeArrowheads="1"/>
          </p:cNvSpPr>
          <p:nvPr/>
        </p:nvSpPr>
        <p:spPr bwMode="auto">
          <a:xfrm>
            <a:off x="7398568" y="3212976"/>
            <a:ext cx="785665"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endParaRPr lang="en-US" altLang="zh-CN" sz="2400" dirty="0">
              <a:solidFill>
                <a:schemeClr val="accent1">
                  <a:lumMod val="60000"/>
                  <a:lumOff val="40000"/>
                </a:schemeClr>
              </a:solidFill>
              <a:latin typeface="+mj-lt"/>
            </a:endParaRPr>
          </a:p>
          <a:p>
            <a:endParaRPr lang="en-US" altLang="zh-CN" sz="2400" dirty="0">
              <a:solidFill>
                <a:schemeClr val="accent1">
                  <a:lumMod val="60000"/>
                  <a:lumOff val="40000"/>
                </a:schemeClr>
              </a:solidFill>
              <a:latin typeface="+mj-lt"/>
            </a:endParaRPr>
          </a:p>
          <a:p>
            <a:r>
              <a:rPr lang="en-US" altLang="zh-CN" sz="2400" dirty="0">
                <a:solidFill>
                  <a:schemeClr val="accent1">
                    <a:lumMod val="60000"/>
                    <a:lumOff val="40000"/>
                  </a:schemeClr>
                </a:solidFill>
              </a:rPr>
              <a:t>0   1</a:t>
            </a:r>
          </a:p>
          <a:p>
            <a:r>
              <a:rPr lang="en-US" altLang="zh-CN" sz="2400" dirty="0">
                <a:solidFill>
                  <a:schemeClr val="accent1">
                    <a:lumMod val="60000"/>
                    <a:lumOff val="40000"/>
                  </a:schemeClr>
                </a:solidFill>
              </a:rPr>
              <a:t>1   0</a:t>
            </a:r>
          </a:p>
          <a:p>
            <a:r>
              <a:rPr lang="en-US" altLang="zh-CN" sz="2400" dirty="0">
                <a:solidFill>
                  <a:schemeClr val="accent1">
                    <a:lumMod val="60000"/>
                    <a:lumOff val="40000"/>
                  </a:schemeClr>
                </a:solidFill>
              </a:rPr>
              <a:t>0   1</a:t>
            </a:r>
          </a:p>
          <a:p>
            <a:r>
              <a:rPr lang="en-US" altLang="zh-CN" sz="2400" dirty="0">
                <a:solidFill>
                  <a:schemeClr val="accent1">
                    <a:lumMod val="60000"/>
                    <a:lumOff val="40000"/>
                  </a:schemeClr>
                </a:solidFill>
              </a:rPr>
              <a:t>1   0</a:t>
            </a:r>
          </a:p>
          <a:p>
            <a:r>
              <a:rPr lang="en-US" altLang="zh-CN" sz="2400" dirty="0">
                <a:solidFill>
                  <a:schemeClr val="accent1">
                    <a:lumMod val="60000"/>
                    <a:lumOff val="40000"/>
                  </a:schemeClr>
                </a:solidFill>
              </a:rPr>
              <a:t>0   1</a:t>
            </a:r>
          </a:p>
          <a:p>
            <a:r>
              <a:rPr lang="en-US" altLang="zh-CN" sz="2400" dirty="0">
                <a:solidFill>
                  <a:schemeClr val="accent1">
                    <a:lumMod val="60000"/>
                    <a:lumOff val="40000"/>
                  </a:schemeClr>
                </a:solidFill>
              </a:rPr>
              <a:t>1   0</a:t>
            </a:r>
          </a:p>
        </p:txBody>
      </p:sp>
      <p:sp>
        <p:nvSpPr>
          <p:cNvPr id="39" name="Line 45"/>
          <p:cNvSpPr>
            <a:spLocks noChangeShapeType="1"/>
          </p:cNvSpPr>
          <p:nvPr/>
        </p:nvSpPr>
        <p:spPr bwMode="auto">
          <a:xfrm>
            <a:off x="8196981" y="2708920"/>
            <a:ext cx="12750" cy="35283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32" name="Text Box 50"/>
          <p:cNvSpPr txBox="1">
            <a:spLocks noChangeArrowheads="1"/>
          </p:cNvSpPr>
          <p:nvPr/>
        </p:nvSpPr>
        <p:spPr bwMode="auto">
          <a:xfrm>
            <a:off x="8256240" y="3573017"/>
            <a:ext cx="24117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400" i="1" dirty="0">
                <a:solidFill>
                  <a:schemeClr val="hlink"/>
                </a:solidFill>
                <a:latin typeface="+mj-lt"/>
              </a:rPr>
              <a:t>Q</a:t>
            </a:r>
            <a:r>
              <a:rPr lang="zh-CN" altLang="en-US" sz="2400" i="1" dirty="0">
                <a:solidFill>
                  <a:schemeClr val="hlink"/>
                </a:solidFill>
                <a:latin typeface="+mj-lt"/>
              </a:rPr>
              <a:t>   </a:t>
            </a:r>
            <a:r>
              <a:rPr lang="en-US" altLang="zh-CN" sz="2400" i="1" dirty="0">
                <a:solidFill>
                  <a:schemeClr val="hlink"/>
                </a:solidFill>
                <a:latin typeface="+mj-lt"/>
              </a:rPr>
              <a:t>Q’</a:t>
            </a:r>
            <a:r>
              <a:rPr lang="zh-CN" altLang="en-US" sz="2400" i="1" dirty="0">
                <a:solidFill>
                  <a:schemeClr val="hlink"/>
                </a:solidFill>
                <a:latin typeface="+mj-lt"/>
              </a:rPr>
              <a:t>  </a:t>
            </a:r>
            <a:r>
              <a:rPr lang="en-US" altLang="zh-CN" sz="2400" i="1" dirty="0">
                <a:solidFill>
                  <a:srgbClr val="C00000"/>
                </a:solidFill>
                <a:latin typeface="+mj-lt"/>
              </a:rPr>
              <a:t>No change</a:t>
            </a:r>
          </a:p>
        </p:txBody>
      </p:sp>
      <p:sp>
        <p:nvSpPr>
          <p:cNvPr id="23" name="Text Box 48"/>
          <p:cNvSpPr txBox="1">
            <a:spLocks noChangeArrowheads="1"/>
          </p:cNvSpPr>
          <p:nvPr/>
        </p:nvSpPr>
        <p:spPr bwMode="auto">
          <a:xfrm>
            <a:off x="5944616" y="1556792"/>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accent1">
                    <a:lumMod val="60000"/>
                    <a:lumOff val="40000"/>
                  </a:schemeClr>
                </a:solidFill>
                <a:latin typeface="+mj-lt"/>
              </a:rPr>
              <a:t>1</a:t>
            </a:r>
            <a:endParaRPr lang="zh-CN" altLang="en-US" sz="2800" dirty="0">
              <a:solidFill>
                <a:schemeClr val="accent1">
                  <a:lumMod val="60000"/>
                  <a:lumOff val="40000"/>
                </a:schemeClr>
              </a:solidFill>
              <a:latin typeface="+mj-lt"/>
            </a:endParaRPr>
          </a:p>
        </p:txBody>
      </p:sp>
      <p:sp>
        <p:nvSpPr>
          <p:cNvPr id="24" name="Text Box 48"/>
          <p:cNvSpPr txBox="1">
            <a:spLocks noChangeArrowheads="1"/>
          </p:cNvSpPr>
          <p:nvPr/>
        </p:nvSpPr>
        <p:spPr bwMode="auto">
          <a:xfrm>
            <a:off x="5951984" y="2401724"/>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accent1">
                    <a:lumMod val="60000"/>
                    <a:lumOff val="40000"/>
                  </a:schemeClr>
                </a:solidFill>
                <a:latin typeface="+mj-lt"/>
              </a:rPr>
              <a:t>0</a:t>
            </a:r>
            <a:endParaRPr lang="zh-CN" altLang="en-US" sz="2800" dirty="0">
              <a:solidFill>
                <a:schemeClr val="accent1">
                  <a:lumMod val="60000"/>
                  <a:lumOff val="40000"/>
                </a:schemeClr>
              </a:solidFill>
              <a:latin typeface="+mj-lt"/>
            </a:endParaRPr>
          </a:p>
        </p:txBody>
      </p:sp>
      <p:sp>
        <p:nvSpPr>
          <p:cNvPr id="25" name="Text Box 47"/>
          <p:cNvSpPr txBox="1">
            <a:spLocks noChangeArrowheads="1"/>
          </p:cNvSpPr>
          <p:nvPr/>
        </p:nvSpPr>
        <p:spPr bwMode="auto">
          <a:xfrm>
            <a:off x="6240016" y="1556792"/>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endParaRPr lang="zh-CN" altLang="en-US" sz="2800" dirty="0">
              <a:solidFill>
                <a:schemeClr val="hlink"/>
              </a:solidFill>
              <a:latin typeface="+mj-lt"/>
            </a:endParaRPr>
          </a:p>
        </p:txBody>
      </p:sp>
      <p:sp>
        <p:nvSpPr>
          <p:cNvPr id="31" name="Text Box 47"/>
          <p:cNvSpPr txBox="1">
            <a:spLocks noChangeArrowheads="1"/>
          </p:cNvSpPr>
          <p:nvPr/>
        </p:nvSpPr>
        <p:spPr bwMode="auto">
          <a:xfrm>
            <a:off x="6240016" y="2401724"/>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endParaRPr lang="zh-CN" altLang="en-US" sz="2800" dirty="0">
              <a:solidFill>
                <a:schemeClr val="hlink"/>
              </a:solidFill>
              <a:latin typeface="+mj-lt"/>
            </a:endParaRPr>
          </a:p>
        </p:txBody>
      </p:sp>
      <p:sp>
        <p:nvSpPr>
          <p:cNvPr id="33" name="Text Box 50"/>
          <p:cNvSpPr txBox="1">
            <a:spLocks noChangeArrowheads="1"/>
          </p:cNvSpPr>
          <p:nvPr/>
        </p:nvSpPr>
        <p:spPr bwMode="auto">
          <a:xfrm>
            <a:off x="8292752" y="3933057"/>
            <a:ext cx="24117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400" dirty="0">
                <a:solidFill>
                  <a:schemeClr val="hlink"/>
                </a:solidFill>
                <a:latin typeface="+mj-lt"/>
              </a:rPr>
              <a:t>0</a:t>
            </a:r>
            <a:r>
              <a:rPr lang="zh-CN" altLang="en-US" sz="2400" dirty="0">
                <a:solidFill>
                  <a:schemeClr val="hlink"/>
                </a:solidFill>
                <a:latin typeface="+mj-lt"/>
              </a:rPr>
              <a:t>    </a:t>
            </a:r>
            <a:r>
              <a:rPr lang="en-US" altLang="zh-CN" sz="2400" dirty="0">
                <a:solidFill>
                  <a:schemeClr val="hlink"/>
                </a:solidFill>
                <a:latin typeface="+mj-lt"/>
              </a:rPr>
              <a:t>1</a:t>
            </a:r>
            <a:endParaRPr lang="en-US" altLang="zh-CN" sz="2400" i="1" dirty="0">
              <a:solidFill>
                <a:srgbClr val="C00000"/>
              </a:solidFill>
              <a:latin typeface="+mj-lt"/>
            </a:endParaRPr>
          </a:p>
        </p:txBody>
      </p:sp>
      <p:sp>
        <p:nvSpPr>
          <p:cNvPr id="34" name="Text Box 50"/>
          <p:cNvSpPr txBox="1">
            <a:spLocks noChangeArrowheads="1"/>
          </p:cNvSpPr>
          <p:nvPr/>
        </p:nvSpPr>
        <p:spPr bwMode="auto">
          <a:xfrm>
            <a:off x="8292752" y="4293097"/>
            <a:ext cx="24117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400" dirty="0">
                <a:solidFill>
                  <a:schemeClr val="hlink"/>
                </a:solidFill>
                <a:latin typeface="+mj-lt"/>
              </a:rPr>
              <a:t>0</a:t>
            </a:r>
            <a:r>
              <a:rPr lang="zh-CN" altLang="en-US" sz="2400" dirty="0">
                <a:solidFill>
                  <a:schemeClr val="hlink"/>
                </a:solidFill>
                <a:latin typeface="+mj-lt"/>
              </a:rPr>
              <a:t>    </a:t>
            </a:r>
            <a:r>
              <a:rPr lang="en-US" altLang="zh-CN" sz="2400" dirty="0">
                <a:solidFill>
                  <a:schemeClr val="hlink"/>
                </a:solidFill>
                <a:latin typeface="+mj-lt"/>
              </a:rPr>
              <a:t>1   </a:t>
            </a:r>
            <a:r>
              <a:rPr lang="en-US" altLang="zh-CN" sz="2400" i="1" dirty="0">
                <a:solidFill>
                  <a:srgbClr val="C00000"/>
                </a:solidFill>
                <a:latin typeface="+mj-lt"/>
              </a:rPr>
              <a:t>Reset</a:t>
            </a:r>
          </a:p>
        </p:txBody>
      </p:sp>
      <mc:AlternateContent xmlns:mc="http://schemas.openxmlformats.org/markup-compatibility/2006" xmlns:a14="http://schemas.microsoft.com/office/drawing/2010/main">
        <mc:Choice Requires="a14">
          <p:sp>
            <p:nvSpPr>
              <p:cNvPr id="36" name="Text Box 43"/>
              <p:cNvSpPr txBox="1">
                <a:spLocks noChangeArrowheads="1"/>
              </p:cNvSpPr>
              <p:nvPr/>
            </p:nvSpPr>
            <p:spPr bwMode="auto">
              <a:xfrm>
                <a:off x="5879977" y="2707774"/>
                <a:ext cx="3278077" cy="50520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pPr/>
                <a14:m>
                  <m:oMathPara xmlns:m="http://schemas.openxmlformats.org/officeDocument/2006/math">
                    <m:oMathParaPr>
                      <m:jc m:val="centerGroup"/>
                    </m:oMathParaPr>
                    <m:oMath xmlns:m="http://schemas.openxmlformats.org/officeDocument/2006/math">
                      <m:r>
                        <a:rPr lang="en-US" altLang="zh-CN" sz="2400" i="1" dirty="0">
                          <a:latin typeface="Cambria Math"/>
                        </a:rPr>
                        <m:t>𝐶𝑙𝑘</m:t>
                      </m:r>
                      <m:r>
                        <a:rPr lang="en-US" altLang="zh-CN" sz="2400" i="1" dirty="0">
                          <a:latin typeface="Cambria Math"/>
                        </a:rPr>
                        <m:t>   </m:t>
                      </m:r>
                      <m:r>
                        <a:rPr lang="en-US" altLang="zh-CN" sz="2400" i="1" dirty="0">
                          <a:latin typeface="Cambria Math"/>
                        </a:rPr>
                        <m:t>𝐽</m:t>
                      </m:r>
                      <m:r>
                        <a:rPr lang="en-US" altLang="zh-CN" sz="2400" i="1" dirty="0">
                          <a:latin typeface="Cambria Math"/>
                        </a:rPr>
                        <m:t>  </m:t>
                      </m:r>
                      <m:r>
                        <a:rPr lang="en-US" altLang="zh-CN" sz="2400" i="1" dirty="0">
                          <a:latin typeface="Cambria Math"/>
                        </a:rPr>
                        <m:t>𝐾</m:t>
                      </m:r>
                      <m:r>
                        <a:rPr lang="en-US" altLang="zh-CN" sz="2400" i="1" dirty="0">
                          <a:latin typeface="Cambria Math"/>
                        </a:rPr>
                        <m:t>    </m:t>
                      </m:r>
                      <m:r>
                        <a:rPr lang="en-US" altLang="zh-CN" sz="2400" i="1" dirty="0">
                          <a:latin typeface="Cambria Math"/>
                        </a:rPr>
                        <m:t>𝑄</m:t>
                      </m:r>
                      <m:r>
                        <a:rPr lang="en-US" altLang="zh-CN" sz="2400" i="1" dirty="0">
                          <a:latin typeface="Cambria Math"/>
                        </a:rPr>
                        <m:t>   </m:t>
                      </m:r>
                      <m:bar>
                        <m:barPr>
                          <m:pos m:val="top"/>
                          <m:ctrlPr>
                            <a:rPr lang="en-US" altLang="zh-CN" sz="2400" i="1">
                              <a:latin typeface="Cambria Math" panose="02040503050406030204" pitchFamily="18" charset="0"/>
                            </a:rPr>
                          </m:ctrlPr>
                        </m:barPr>
                        <m:e>
                          <m:r>
                            <a:rPr lang="en-US" altLang="zh-CN" sz="2400" i="1">
                              <a:latin typeface="Cambria Math"/>
                            </a:rPr>
                            <m:t>𝑄</m:t>
                          </m:r>
                        </m:e>
                      </m:bar>
                      <m:r>
                        <a:rPr lang="en-US" altLang="zh-CN" sz="2400" i="1">
                          <a:latin typeface="Cambria Math"/>
                        </a:rPr>
                        <m:t>     </m:t>
                      </m:r>
                      <m:r>
                        <a:rPr lang="en-US" altLang="zh-CN" sz="2400" i="1" dirty="0">
                          <a:latin typeface="Cambria Math"/>
                        </a:rPr>
                        <m:t>𝑄</m:t>
                      </m:r>
                      <m:r>
                        <a:rPr lang="en-US" altLang="zh-CN" sz="2400" i="1" dirty="0">
                          <a:latin typeface="Cambria Math"/>
                        </a:rPr>
                        <m:t>   </m:t>
                      </m:r>
                      <m:bar>
                        <m:barPr>
                          <m:pos m:val="top"/>
                          <m:ctrlPr>
                            <a:rPr lang="en-US" altLang="zh-CN" sz="2400" i="1">
                              <a:latin typeface="Cambria Math" panose="02040503050406030204" pitchFamily="18" charset="0"/>
                            </a:rPr>
                          </m:ctrlPr>
                        </m:barPr>
                        <m:e>
                          <m:r>
                            <a:rPr lang="en-US" altLang="zh-CN" sz="2400" i="1">
                              <a:latin typeface="Cambria Math"/>
                            </a:rPr>
                            <m:t>𝑄</m:t>
                          </m:r>
                        </m:e>
                      </m:bar>
                    </m:oMath>
                  </m:oMathPara>
                </a14:m>
                <a:endParaRPr lang="en-US" altLang="zh-CN" sz="2400" i="1" dirty="0">
                  <a:latin typeface="+mj-lt"/>
                </a:endParaRPr>
              </a:p>
            </p:txBody>
          </p:sp>
        </mc:Choice>
        <mc:Fallback xmlns="">
          <p:sp>
            <p:nvSpPr>
              <p:cNvPr id="36" name="Text Box 43"/>
              <p:cNvSpPr txBox="1">
                <a:spLocks noRot="1" noChangeAspect="1" noMove="1" noResize="1" noEditPoints="1" noAdjustHandles="1" noChangeArrowheads="1" noChangeShapeType="1" noTextEdit="1"/>
              </p:cNvSpPr>
              <p:nvPr/>
            </p:nvSpPr>
            <p:spPr bwMode="auto">
              <a:xfrm>
                <a:off x="5879977" y="2707774"/>
                <a:ext cx="3278077" cy="505203"/>
              </a:xfrm>
              <a:prstGeom prst="rect">
                <a:avLst/>
              </a:prstGeom>
              <a:blipFill>
                <a:blip r:embed="rId5"/>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N">
                    <a:noFill/>
                  </a:rPr>
                  <a:t> </a:t>
                </a:r>
              </a:p>
            </p:txBody>
          </p:sp>
        </mc:Fallback>
      </mc:AlternateContent>
    </p:spTree>
    <p:extLst>
      <p:ext uri="{BB962C8B-B14F-4D97-AF65-F5344CB8AC3E}">
        <p14:creationId xmlns:p14="http://schemas.microsoft.com/office/powerpoint/2010/main" val="60502211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25" grpId="0"/>
      <p:bldP spid="31" grpId="0"/>
      <p:bldP spid="34"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rrowheads="1"/>
          </p:cNvSpPr>
          <p:nvPr>
            <p:ph type="title"/>
          </p:nvPr>
        </p:nvSpPr>
        <p:spPr/>
        <p:txBody>
          <a:bodyPr/>
          <a:lstStyle/>
          <a:p>
            <a:r>
              <a:rPr lang="en-IN" i="1" dirty="0">
                <a:solidFill>
                  <a:srgbClr val="0070C0"/>
                </a:solidFill>
              </a:rPr>
              <a:t>JK</a:t>
            </a:r>
            <a:r>
              <a:rPr lang="en-IN" dirty="0">
                <a:solidFill>
                  <a:srgbClr val="0070C0"/>
                </a:solidFill>
              </a:rPr>
              <a:t> Flip-Flop</a:t>
            </a:r>
            <a:endParaRPr lang="en-US" altLang="zh-CN" dirty="0">
              <a:solidFill>
                <a:srgbClr val="002060"/>
              </a:solidFill>
            </a:endParaRPr>
          </a:p>
        </p:txBody>
      </p:sp>
      <p:sp>
        <p:nvSpPr>
          <p:cNvPr id="20487" name="Line 4"/>
          <p:cNvSpPr>
            <a:spLocks noChangeShapeType="1"/>
          </p:cNvSpPr>
          <p:nvPr/>
        </p:nvSpPr>
        <p:spPr bwMode="auto">
          <a:xfrm>
            <a:off x="4551934" y="3800227"/>
            <a:ext cx="1588"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20519" name="Text Box 42"/>
          <p:cNvSpPr txBox="1">
            <a:spLocks noChangeArrowheads="1"/>
          </p:cNvSpPr>
          <p:nvPr/>
        </p:nvSpPr>
        <p:spPr bwMode="auto">
          <a:xfrm>
            <a:off x="6174432" y="3200778"/>
            <a:ext cx="1145705"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400" dirty="0">
                <a:latin typeface="+mj-lt"/>
              </a:rPr>
              <a:t>0   X   </a:t>
            </a:r>
            <a:r>
              <a:rPr lang="en-US" altLang="zh-CN" sz="2400" dirty="0" err="1">
                <a:latin typeface="+mj-lt"/>
              </a:rPr>
              <a:t>X</a:t>
            </a:r>
            <a:endParaRPr lang="en-US" altLang="zh-CN" sz="2400" dirty="0">
              <a:latin typeface="+mj-lt"/>
            </a:endParaRPr>
          </a:p>
          <a:p>
            <a:r>
              <a:rPr lang="en-US" altLang="zh-CN" sz="2400" dirty="0">
                <a:latin typeface="+mj-lt"/>
              </a:rPr>
              <a:t>1   0   0</a:t>
            </a:r>
          </a:p>
          <a:p>
            <a:r>
              <a:rPr lang="en-US" altLang="zh-CN" sz="2400" dirty="0">
                <a:latin typeface="+mj-lt"/>
              </a:rPr>
              <a:t>1   </a:t>
            </a:r>
            <a:r>
              <a:rPr lang="zh-CN" altLang="en-US" sz="2400" dirty="0">
                <a:latin typeface="+mj-lt"/>
              </a:rPr>
              <a:t>0   1</a:t>
            </a:r>
          </a:p>
          <a:p>
            <a:endParaRPr lang="en-US" altLang="zh-CN" sz="2400" dirty="0">
              <a:latin typeface="+mj-lt"/>
            </a:endParaRPr>
          </a:p>
          <a:p>
            <a:r>
              <a:rPr lang="en-US" altLang="zh-CN" sz="2400" dirty="0">
                <a:latin typeface="+mj-lt"/>
              </a:rPr>
              <a:t>1   </a:t>
            </a:r>
            <a:r>
              <a:rPr lang="zh-CN" altLang="en-US" sz="2400" dirty="0">
                <a:latin typeface="+mj-lt"/>
              </a:rPr>
              <a:t>1   0</a:t>
            </a:r>
          </a:p>
          <a:p>
            <a:endParaRPr lang="en-US" altLang="zh-CN" sz="2400" dirty="0">
              <a:latin typeface="+mj-lt"/>
            </a:endParaRPr>
          </a:p>
          <a:p>
            <a:r>
              <a:rPr lang="en-US" altLang="zh-CN" sz="2400" dirty="0">
                <a:latin typeface="+mj-lt"/>
              </a:rPr>
              <a:t>1   </a:t>
            </a:r>
            <a:r>
              <a:rPr lang="zh-CN" altLang="en-US" sz="2400" dirty="0">
                <a:latin typeface="+mj-lt"/>
              </a:rPr>
              <a:t>1   1</a:t>
            </a:r>
            <a:endParaRPr lang="en-US" altLang="zh-CN" sz="2400" dirty="0">
              <a:latin typeface="+mj-lt"/>
            </a:endParaRPr>
          </a:p>
          <a:p>
            <a:endParaRPr lang="zh-CN" altLang="en-US" sz="2800" dirty="0">
              <a:latin typeface="+mj-lt"/>
            </a:endParaRPr>
          </a:p>
        </p:txBody>
      </p:sp>
      <p:sp>
        <p:nvSpPr>
          <p:cNvPr id="20521" name="Line 44"/>
          <p:cNvSpPr>
            <a:spLocks noChangeShapeType="1"/>
          </p:cNvSpPr>
          <p:nvPr/>
        </p:nvSpPr>
        <p:spPr bwMode="auto">
          <a:xfrm>
            <a:off x="6096000" y="3212977"/>
            <a:ext cx="3312368" cy="11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0522" name="Line 45"/>
          <p:cNvSpPr>
            <a:spLocks noChangeShapeType="1"/>
          </p:cNvSpPr>
          <p:nvPr/>
        </p:nvSpPr>
        <p:spPr bwMode="auto">
          <a:xfrm>
            <a:off x="7332885" y="2707773"/>
            <a:ext cx="12750" cy="36015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 name="Rectangle 1"/>
          <p:cNvSpPr/>
          <p:nvPr/>
        </p:nvSpPr>
        <p:spPr>
          <a:xfrm>
            <a:off x="7104113" y="6300028"/>
            <a:ext cx="1533177" cy="369332"/>
          </a:xfrm>
          <a:prstGeom prst="rect">
            <a:avLst/>
          </a:prstGeom>
        </p:spPr>
        <p:txBody>
          <a:bodyPr wrap="none">
            <a:spAutoFit/>
          </a:bodyPr>
          <a:lstStyle/>
          <a:p>
            <a:r>
              <a:rPr lang="en-IN" dirty="0"/>
              <a:t>Function table</a:t>
            </a:r>
          </a:p>
        </p:txBody>
      </p:sp>
      <p:sp>
        <p:nvSpPr>
          <p:cNvPr id="17" name="Rectangle 16"/>
          <p:cNvSpPr/>
          <p:nvPr/>
        </p:nvSpPr>
        <p:spPr>
          <a:xfrm>
            <a:off x="3613698" y="3356992"/>
            <a:ext cx="1481559" cy="369332"/>
          </a:xfrm>
          <a:prstGeom prst="rect">
            <a:avLst/>
          </a:prstGeom>
        </p:spPr>
        <p:txBody>
          <a:bodyPr wrap="none">
            <a:spAutoFit/>
          </a:bodyPr>
          <a:lstStyle/>
          <a:p>
            <a:r>
              <a:rPr lang="en-IN" dirty="0"/>
              <a:t>Logic diagram</a:t>
            </a:r>
          </a:p>
        </p:txBody>
      </p:sp>
      <p:sp>
        <p:nvSpPr>
          <p:cNvPr id="3" name="Rectangle 2"/>
          <p:cNvSpPr/>
          <p:nvPr/>
        </p:nvSpPr>
        <p:spPr>
          <a:xfrm>
            <a:off x="8256241" y="2380818"/>
            <a:ext cx="1548373" cy="400110"/>
          </a:xfrm>
          <a:prstGeom prst="rect">
            <a:avLst/>
          </a:prstGeom>
        </p:spPr>
        <p:txBody>
          <a:bodyPr wrap="none">
            <a:spAutoFit/>
          </a:bodyPr>
          <a:lstStyle/>
          <a:p>
            <a:r>
              <a:rPr lang="en-IN" sz="2000" dirty="0">
                <a:latin typeface="Cambria Math" pitchFamily="18" charset="0"/>
                <a:ea typeface="Cambria Math" pitchFamily="18" charset="0"/>
              </a:rPr>
              <a:t>Next state of</a:t>
            </a: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7430" y="4581129"/>
            <a:ext cx="2838450" cy="164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Text Box 50"/>
          <p:cNvSpPr txBox="1">
            <a:spLocks noChangeArrowheads="1"/>
          </p:cNvSpPr>
          <p:nvPr/>
        </p:nvSpPr>
        <p:spPr bwMode="auto">
          <a:xfrm>
            <a:off x="8256240" y="3212977"/>
            <a:ext cx="24117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400" i="1" dirty="0">
                <a:solidFill>
                  <a:schemeClr val="hlink"/>
                </a:solidFill>
                <a:latin typeface="+mj-lt"/>
              </a:rPr>
              <a:t>Q</a:t>
            </a:r>
            <a:r>
              <a:rPr lang="zh-CN" altLang="en-US" sz="2400" i="1" dirty="0">
                <a:solidFill>
                  <a:schemeClr val="hlink"/>
                </a:solidFill>
                <a:latin typeface="+mj-lt"/>
              </a:rPr>
              <a:t>   </a:t>
            </a:r>
            <a:r>
              <a:rPr lang="en-US" altLang="zh-CN" sz="2400" i="1" dirty="0">
                <a:solidFill>
                  <a:schemeClr val="hlink"/>
                </a:solidFill>
                <a:latin typeface="+mj-lt"/>
              </a:rPr>
              <a:t>Q’</a:t>
            </a:r>
            <a:r>
              <a:rPr lang="zh-CN" altLang="en-US" sz="2400" i="1" dirty="0">
                <a:solidFill>
                  <a:schemeClr val="hlink"/>
                </a:solidFill>
                <a:latin typeface="+mj-lt"/>
              </a:rPr>
              <a:t>  </a:t>
            </a:r>
            <a:r>
              <a:rPr lang="en-US" altLang="zh-CN" sz="2400" i="1" dirty="0">
                <a:solidFill>
                  <a:srgbClr val="C00000"/>
                </a:solidFill>
                <a:latin typeface="+mj-lt"/>
              </a:rPr>
              <a:t>No change</a:t>
            </a:r>
          </a:p>
        </p:txBody>
      </p:sp>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72236" y="1268760"/>
            <a:ext cx="3779749" cy="1944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 name="Text Box 48"/>
          <p:cNvSpPr txBox="1">
            <a:spLocks noChangeArrowheads="1"/>
          </p:cNvSpPr>
          <p:nvPr/>
        </p:nvSpPr>
        <p:spPr bwMode="auto">
          <a:xfrm>
            <a:off x="4000400" y="1321604"/>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accent3">
                    <a:lumMod val="60000"/>
                    <a:lumOff val="40000"/>
                  </a:schemeClr>
                </a:solidFill>
                <a:latin typeface="+mj-lt"/>
              </a:rPr>
              <a:t>0</a:t>
            </a:r>
            <a:endParaRPr lang="zh-CN" altLang="en-US" sz="2800" dirty="0">
              <a:solidFill>
                <a:schemeClr val="accent3">
                  <a:lumMod val="60000"/>
                  <a:lumOff val="40000"/>
                </a:schemeClr>
              </a:solidFill>
              <a:latin typeface="+mj-lt"/>
            </a:endParaRPr>
          </a:p>
        </p:txBody>
      </p:sp>
      <p:sp>
        <p:nvSpPr>
          <p:cNvPr id="28" name="Text Box 48"/>
          <p:cNvSpPr txBox="1">
            <a:spLocks noChangeArrowheads="1"/>
          </p:cNvSpPr>
          <p:nvPr/>
        </p:nvSpPr>
        <p:spPr bwMode="auto">
          <a:xfrm>
            <a:off x="4000400" y="2689756"/>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accent3">
                    <a:lumMod val="60000"/>
                    <a:lumOff val="40000"/>
                  </a:schemeClr>
                </a:solidFill>
                <a:latin typeface="+mj-lt"/>
              </a:rPr>
              <a:t>1</a:t>
            </a:r>
            <a:endParaRPr lang="zh-CN" altLang="en-US" sz="2800" dirty="0">
              <a:solidFill>
                <a:schemeClr val="accent3">
                  <a:lumMod val="60000"/>
                  <a:lumOff val="40000"/>
                </a:schemeClr>
              </a:solidFill>
              <a:latin typeface="+mj-lt"/>
            </a:endParaRPr>
          </a:p>
        </p:txBody>
      </p:sp>
      <p:sp>
        <p:nvSpPr>
          <p:cNvPr id="29" name="Text Box 47"/>
          <p:cNvSpPr txBox="1">
            <a:spLocks noChangeArrowheads="1"/>
          </p:cNvSpPr>
          <p:nvPr/>
        </p:nvSpPr>
        <p:spPr bwMode="auto">
          <a:xfrm>
            <a:off x="2207568" y="1465620"/>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endParaRPr lang="zh-CN" altLang="en-US" sz="2800" dirty="0">
              <a:solidFill>
                <a:schemeClr val="hlink"/>
              </a:solidFill>
              <a:latin typeface="+mj-lt"/>
            </a:endParaRPr>
          </a:p>
        </p:txBody>
      </p:sp>
      <p:sp>
        <p:nvSpPr>
          <p:cNvPr id="30" name="Text Box 46"/>
          <p:cNvSpPr txBox="1">
            <a:spLocks noChangeArrowheads="1"/>
          </p:cNvSpPr>
          <p:nvPr/>
        </p:nvSpPr>
        <p:spPr bwMode="auto">
          <a:xfrm>
            <a:off x="2200200" y="2492896"/>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endParaRPr lang="zh-CN" altLang="en-US" sz="2800" dirty="0">
              <a:solidFill>
                <a:schemeClr val="hlink"/>
              </a:solidFill>
              <a:latin typeface="+mj-lt"/>
            </a:endParaRPr>
          </a:p>
        </p:txBody>
      </p:sp>
      <p:sp>
        <p:nvSpPr>
          <p:cNvPr id="35" name="Text Box 47"/>
          <p:cNvSpPr txBox="1">
            <a:spLocks noChangeArrowheads="1"/>
          </p:cNvSpPr>
          <p:nvPr/>
        </p:nvSpPr>
        <p:spPr bwMode="auto">
          <a:xfrm>
            <a:off x="1912168" y="1969676"/>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rgbClr val="C00000"/>
                </a:solidFill>
                <a:latin typeface="+mj-lt"/>
              </a:rPr>
              <a:t>1</a:t>
            </a:r>
            <a:endParaRPr lang="zh-CN" altLang="en-US" sz="2800" dirty="0">
              <a:solidFill>
                <a:srgbClr val="C00000"/>
              </a:solidFill>
              <a:latin typeface="+mj-lt"/>
            </a:endParaRPr>
          </a:p>
        </p:txBody>
      </p:sp>
      <p:sp>
        <p:nvSpPr>
          <p:cNvPr id="37" name="Text Box 42"/>
          <p:cNvSpPr txBox="1">
            <a:spLocks noChangeArrowheads="1"/>
          </p:cNvSpPr>
          <p:nvPr/>
        </p:nvSpPr>
        <p:spPr bwMode="auto">
          <a:xfrm>
            <a:off x="7398568" y="3212976"/>
            <a:ext cx="785665"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endParaRPr lang="en-US" altLang="zh-CN" sz="2400" dirty="0">
              <a:solidFill>
                <a:schemeClr val="accent1">
                  <a:lumMod val="60000"/>
                  <a:lumOff val="40000"/>
                </a:schemeClr>
              </a:solidFill>
              <a:latin typeface="+mj-lt"/>
            </a:endParaRPr>
          </a:p>
          <a:p>
            <a:endParaRPr lang="en-US" altLang="zh-CN" sz="2400" dirty="0">
              <a:solidFill>
                <a:schemeClr val="accent1">
                  <a:lumMod val="60000"/>
                  <a:lumOff val="40000"/>
                </a:schemeClr>
              </a:solidFill>
              <a:latin typeface="+mj-lt"/>
            </a:endParaRPr>
          </a:p>
          <a:p>
            <a:r>
              <a:rPr lang="en-US" altLang="zh-CN" sz="2400" dirty="0">
                <a:solidFill>
                  <a:schemeClr val="accent1">
                    <a:lumMod val="60000"/>
                    <a:lumOff val="40000"/>
                  </a:schemeClr>
                </a:solidFill>
              </a:rPr>
              <a:t>0   1</a:t>
            </a:r>
          </a:p>
          <a:p>
            <a:r>
              <a:rPr lang="en-US" altLang="zh-CN" sz="2400" dirty="0">
                <a:solidFill>
                  <a:schemeClr val="accent1">
                    <a:lumMod val="60000"/>
                    <a:lumOff val="40000"/>
                  </a:schemeClr>
                </a:solidFill>
              </a:rPr>
              <a:t>1   0</a:t>
            </a:r>
          </a:p>
          <a:p>
            <a:r>
              <a:rPr lang="en-US" altLang="zh-CN" sz="2400" dirty="0">
                <a:solidFill>
                  <a:schemeClr val="accent1">
                    <a:lumMod val="60000"/>
                    <a:lumOff val="40000"/>
                  </a:schemeClr>
                </a:solidFill>
              </a:rPr>
              <a:t>0   1</a:t>
            </a:r>
          </a:p>
          <a:p>
            <a:r>
              <a:rPr lang="en-US" altLang="zh-CN" sz="2400" dirty="0">
                <a:solidFill>
                  <a:schemeClr val="accent1">
                    <a:lumMod val="60000"/>
                    <a:lumOff val="40000"/>
                  </a:schemeClr>
                </a:solidFill>
              </a:rPr>
              <a:t>1   0</a:t>
            </a:r>
          </a:p>
          <a:p>
            <a:r>
              <a:rPr lang="en-US" altLang="zh-CN" sz="2400" dirty="0">
                <a:solidFill>
                  <a:schemeClr val="accent1">
                    <a:lumMod val="60000"/>
                    <a:lumOff val="40000"/>
                  </a:schemeClr>
                </a:solidFill>
              </a:rPr>
              <a:t>0   1</a:t>
            </a:r>
          </a:p>
          <a:p>
            <a:r>
              <a:rPr lang="en-US" altLang="zh-CN" sz="2400" dirty="0">
                <a:solidFill>
                  <a:schemeClr val="accent1">
                    <a:lumMod val="60000"/>
                    <a:lumOff val="40000"/>
                  </a:schemeClr>
                </a:solidFill>
              </a:rPr>
              <a:t>1   0</a:t>
            </a:r>
          </a:p>
        </p:txBody>
      </p:sp>
      <p:sp>
        <p:nvSpPr>
          <p:cNvPr id="39" name="Line 45"/>
          <p:cNvSpPr>
            <a:spLocks noChangeShapeType="1"/>
          </p:cNvSpPr>
          <p:nvPr/>
        </p:nvSpPr>
        <p:spPr bwMode="auto">
          <a:xfrm>
            <a:off x="8196981" y="2708920"/>
            <a:ext cx="12750" cy="35283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32" name="Text Box 50"/>
          <p:cNvSpPr txBox="1">
            <a:spLocks noChangeArrowheads="1"/>
          </p:cNvSpPr>
          <p:nvPr/>
        </p:nvSpPr>
        <p:spPr bwMode="auto">
          <a:xfrm>
            <a:off x="8256240" y="3573017"/>
            <a:ext cx="24117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400" i="1" dirty="0">
                <a:solidFill>
                  <a:schemeClr val="hlink"/>
                </a:solidFill>
                <a:latin typeface="+mj-lt"/>
              </a:rPr>
              <a:t>Q</a:t>
            </a:r>
            <a:r>
              <a:rPr lang="zh-CN" altLang="en-US" sz="2400" i="1" dirty="0">
                <a:solidFill>
                  <a:schemeClr val="hlink"/>
                </a:solidFill>
                <a:latin typeface="+mj-lt"/>
              </a:rPr>
              <a:t>   </a:t>
            </a:r>
            <a:r>
              <a:rPr lang="en-US" altLang="zh-CN" sz="2400" i="1" dirty="0">
                <a:solidFill>
                  <a:schemeClr val="hlink"/>
                </a:solidFill>
                <a:latin typeface="+mj-lt"/>
              </a:rPr>
              <a:t>Q’</a:t>
            </a:r>
            <a:r>
              <a:rPr lang="zh-CN" altLang="en-US" sz="2400" i="1" dirty="0">
                <a:solidFill>
                  <a:schemeClr val="hlink"/>
                </a:solidFill>
                <a:latin typeface="+mj-lt"/>
              </a:rPr>
              <a:t>  </a:t>
            </a:r>
            <a:r>
              <a:rPr lang="en-US" altLang="zh-CN" sz="2400" i="1" dirty="0">
                <a:solidFill>
                  <a:srgbClr val="C00000"/>
                </a:solidFill>
                <a:latin typeface="+mj-lt"/>
              </a:rPr>
              <a:t>No change</a:t>
            </a:r>
          </a:p>
        </p:txBody>
      </p:sp>
      <p:sp>
        <p:nvSpPr>
          <p:cNvPr id="23" name="Text Box 48"/>
          <p:cNvSpPr txBox="1">
            <a:spLocks noChangeArrowheads="1"/>
          </p:cNvSpPr>
          <p:nvPr/>
        </p:nvSpPr>
        <p:spPr bwMode="auto">
          <a:xfrm>
            <a:off x="5944616" y="1556792"/>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accent1">
                    <a:lumMod val="60000"/>
                    <a:lumOff val="40000"/>
                  </a:schemeClr>
                </a:solidFill>
                <a:latin typeface="+mj-lt"/>
              </a:rPr>
              <a:t>0</a:t>
            </a:r>
            <a:endParaRPr lang="zh-CN" altLang="en-US" sz="2800" dirty="0">
              <a:solidFill>
                <a:schemeClr val="accent1">
                  <a:lumMod val="60000"/>
                  <a:lumOff val="40000"/>
                </a:schemeClr>
              </a:solidFill>
              <a:latin typeface="+mj-lt"/>
            </a:endParaRPr>
          </a:p>
        </p:txBody>
      </p:sp>
      <p:sp>
        <p:nvSpPr>
          <p:cNvPr id="24" name="Text Box 48"/>
          <p:cNvSpPr txBox="1">
            <a:spLocks noChangeArrowheads="1"/>
          </p:cNvSpPr>
          <p:nvPr/>
        </p:nvSpPr>
        <p:spPr bwMode="auto">
          <a:xfrm>
            <a:off x="5951984" y="2401724"/>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accent1">
                    <a:lumMod val="60000"/>
                    <a:lumOff val="40000"/>
                  </a:schemeClr>
                </a:solidFill>
                <a:latin typeface="+mj-lt"/>
              </a:rPr>
              <a:t>1</a:t>
            </a:r>
            <a:endParaRPr lang="zh-CN" altLang="en-US" sz="2800" dirty="0">
              <a:solidFill>
                <a:schemeClr val="accent1">
                  <a:lumMod val="60000"/>
                  <a:lumOff val="40000"/>
                </a:schemeClr>
              </a:solidFill>
              <a:latin typeface="+mj-lt"/>
            </a:endParaRPr>
          </a:p>
        </p:txBody>
      </p:sp>
      <p:sp>
        <p:nvSpPr>
          <p:cNvPr id="25" name="Text Box 47"/>
          <p:cNvSpPr txBox="1">
            <a:spLocks noChangeArrowheads="1"/>
          </p:cNvSpPr>
          <p:nvPr/>
        </p:nvSpPr>
        <p:spPr bwMode="auto">
          <a:xfrm>
            <a:off x="6240016" y="1556792"/>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endParaRPr lang="zh-CN" altLang="en-US" sz="2800" dirty="0">
              <a:solidFill>
                <a:schemeClr val="hlink"/>
              </a:solidFill>
              <a:latin typeface="+mj-lt"/>
            </a:endParaRPr>
          </a:p>
        </p:txBody>
      </p:sp>
      <p:sp>
        <p:nvSpPr>
          <p:cNvPr id="31" name="Text Box 47"/>
          <p:cNvSpPr txBox="1">
            <a:spLocks noChangeArrowheads="1"/>
          </p:cNvSpPr>
          <p:nvPr/>
        </p:nvSpPr>
        <p:spPr bwMode="auto">
          <a:xfrm>
            <a:off x="6240016" y="2401724"/>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endParaRPr lang="zh-CN" altLang="en-US" sz="2800" dirty="0">
              <a:solidFill>
                <a:schemeClr val="hlink"/>
              </a:solidFill>
              <a:latin typeface="+mj-lt"/>
            </a:endParaRPr>
          </a:p>
        </p:txBody>
      </p:sp>
      <p:sp>
        <p:nvSpPr>
          <p:cNvPr id="33" name="Text Box 50"/>
          <p:cNvSpPr txBox="1">
            <a:spLocks noChangeArrowheads="1"/>
          </p:cNvSpPr>
          <p:nvPr/>
        </p:nvSpPr>
        <p:spPr bwMode="auto">
          <a:xfrm>
            <a:off x="8292752" y="3933057"/>
            <a:ext cx="24117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400" dirty="0">
                <a:solidFill>
                  <a:schemeClr val="hlink"/>
                </a:solidFill>
                <a:latin typeface="+mj-lt"/>
              </a:rPr>
              <a:t>0</a:t>
            </a:r>
            <a:r>
              <a:rPr lang="zh-CN" altLang="en-US" sz="2400" dirty="0">
                <a:solidFill>
                  <a:schemeClr val="hlink"/>
                </a:solidFill>
                <a:latin typeface="+mj-lt"/>
              </a:rPr>
              <a:t>    </a:t>
            </a:r>
            <a:r>
              <a:rPr lang="en-US" altLang="zh-CN" sz="2400" dirty="0">
                <a:solidFill>
                  <a:schemeClr val="hlink"/>
                </a:solidFill>
                <a:latin typeface="+mj-lt"/>
              </a:rPr>
              <a:t>1</a:t>
            </a:r>
            <a:endParaRPr lang="en-US" altLang="zh-CN" sz="2400" i="1" dirty="0">
              <a:solidFill>
                <a:srgbClr val="C00000"/>
              </a:solidFill>
              <a:latin typeface="+mj-lt"/>
            </a:endParaRPr>
          </a:p>
        </p:txBody>
      </p:sp>
      <p:sp>
        <p:nvSpPr>
          <p:cNvPr id="34" name="Text Box 50"/>
          <p:cNvSpPr txBox="1">
            <a:spLocks noChangeArrowheads="1"/>
          </p:cNvSpPr>
          <p:nvPr/>
        </p:nvSpPr>
        <p:spPr bwMode="auto">
          <a:xfrm>
            <a:off x="8292752" y="4293097"/>
            <a:ext cx="24117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400" dirty="0">
                <a:solidFill>
                  <a:schemeClr val="hlink"/>
                </a:solidFill>
                <a:latin typeface="+mj-lt"/>
              </a:rPr>
              <a:t>0</a:t>
            </a:r>
            <a:r>
              <a:rPr lang="zh-CN" altLang="en-US" sz="2400" dirty="0">
                <a:solidFill>
                  <a:schemeClr val="hlink"/>
                </a:solidFill>
                <a:latin typeface="+mj-lt"/>
              </a:rPr>
              <a:t>    </a:t>
            </a:r>
            <a:r>
              <a:rPr lang="en-US" altLang="zh-CN" sz="2400" dirty="0">
                <a:solidFill>
                  <a:schemeClr val="hlink"/>
                </a:solidFill>
                <a:latin typeface="+mj-lt"/>
              </a:rPr>
              <a:t>1   </a:t>
            </a:r>
            <a:r>
              <a:rPr lang="en-US" altLang="zh-CN" sz="2400" i="1" dirty="0">
                <a:solidFill>
                  <a:srgbClr val="C00000"/>
                </a:solidFill>
                <a:latin typeface="+mj-lt"/>
              </a:rPr>
              <a:t>Reset</a:t>
            </a:r>
          </a:p>
        </p:txBody>
      </p:sp>
      <p:sp>
        <p:nvSpPr>
          <p:cNvPr id="36" name="Text Box 50"/>
          <p:cNvSpPr txBox="1">
            <a:spLocks noChangeArrowheads="1"/>
          </p:cNvSpPr>
          <p:nvPr/>
        </p:nvSpPr>
        <p:spPr bwMode="auto">
          <a:xfrm>
            <a:off x="8292752" y="4695528"/>
            <a:ext cx="24117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400" dirty="0">
                <a:solidFill>
                  <a:schemeClr val="hlink"/>
                </a:solidFill>
                <a:latin typeface="+mj-lt"/>
              </a:rPr>
              <a:t>1</a:t>
            </a:r>
            <a:r>
              <a:rPr lang="zh-CN" altLang="en-US" sz="2400" dirty="0">
                <a:solidFill>
                  <a:schemeClr val="hlink"/>
                </a:solidFill>
                <a:latin typeface="+mj-lt"/>
              </a:rPr>
              <a:t>    </a:t>
            </a:r>
            <a:r>
              <a:rPr lang="en-US" altLang="zh-CN" sz="2400" dirty="0">
                <a:solidFill>
                  <a:schemeClr val="hlink"/>
                </a:solidFill>
                <a:latin typeface="+mj-lt"/>
              </a:rPr>
              <a:t>0</a:t>
            </a:r>
            <a:endParaRPr lang="en-US" altLang="zh-CN" sz="2400" i="1" dirty="0">
              <a:solidFill>
                <a:srgbClr val="C00000"/>
              </a:solidFill>
              <a:latin typeface="+mj-lt"/>
            </a:endParaRPr>
          </a:p>
        </p:txBody>
      </p:sp>
      <mc:AlternateContent xmlns:mc="http://schemas.openxmlformats.org/markup-compatibility/2006" xmlns:a14="http://schemas.microsoft.com/office/drawing/2010/main">
        <mc:Choice Requires="a14">
          <p:sp>
            <p:nvSpPr>
              <p:cNvPr id="38" name="Text Box 43"/>
              <p:cNvSpPr txBox="1">
                <a:spLocks noChangeArrowheads="1"/>
              </p:cNvSpPr>
              <p:nvPr/>
            </p:nvSpPr>
            <p:spPr bwMode="auto">
              <a:xfrm>
                <a:off x="5879977" y="2707774"/>
                <a:ext cx="3278077" cy="50520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pPr/>
                <a14:m>
                  <m:oMathPara xmlns:m="http://schemas.openxmlformats.org/officeDocument/2006/math">
                    <m:oMathParaPr>
                      <m:jc m:val="centerGroup"/>
                    </m:oMathParaPr>
                    <m:oMath xmlns:m="http://schemas.openxmlformats.org/officeDocument/2006/math">
                      <m:r>
                        <a:rPr lang="en-US" altLang="zh-CN" sz="2400" i="1" dirty="0">
                          <a:latin typeface="Cambria Math"/>
                        </a:rPr>
                        <m:t>𝐶𝑙𝑘</m:t>
                      </m:r>
                      <m:r>
                        <a:rPr lang="en-US" altLang="zh-CN" sz="2400" i="1" dirty="0">
                          <a:latin typeface="Cambria Math"/>
                        </a:rPr>
                        <m:t>   </m:t>
                      </m:r>
                      <m:r>
                        <a:rPr lang="en-US" altLang="zh-CN" sz="2400" i="1" dirty="0">
                          <a:latin typeface="Cambria Math"/>
                        </a:rPr>
                        <m:t>𝐽</m:t>
                      </m:r>
                      <m:r>
                        <a:rPr lang="en-US" altLang="zh-CN" sz="2400" i="1" dirty="0">
                          <a:latin typeface="Cambria Math"/>
                        </a:rPr>
                        <m:t>  </m:t>
                      </m:r>
                      <m:r>
                        <a:rPr lang="en-US" altLang="zh-CN" sz="2400" i="1" dirty="0">
                          <a:latin typeface="Cambria Math"/>
                        </a:rPr>
                        <m:t>𝐾</m:t>
                      </m:r>
                      <m:r>
                        <a:rPr lang="en-US" altLang="zh-CN" sz="2400" i="1" dirty="0">
                          <a:latin typeface="Cambria Math"/>
                        </a:rPr>
                        <m:t>    </m:t>
                      </m:r>
                      <m:r>
                        <a:rPr lang="en-US" altLang="zh-CN" sz="2400" i="1" dirty="0">
                          <a:latin typeface="Cambria Math"/>
                        </a:rPr>
                        <m:t>𝑄</m:t>
                      </m:r>
                      <m:r>
                        <a:rPr lang="en-US" altLang="zh-CN" sz="2400" i="1" dirty="0">
                          <a:latin typeface="Cambria Math"/>
                        </a:rPr>
                        <m:t>   </m:t>
                      </m:r>
                      <m:bar>
                        <m:barPr>
                          <m:pos m:val="top"/>
                          <m:ctrlPr>
                            <a:rPr lang="en-US" altLang="zh-CN" sz="2400" i="1">
                              <a:latin typeface="Cambria Math" panose="02040503050406030204" pitchFamily="18" charset="0"/>
                            </a:rPr>
                          </m:ctrlPr>
                        </m:barPr>
                        <m:e>
                          <m:r>
                            <a:rPr lang="en-US" altLang="zh-CN" sz="2400" i="1">
                              <a:latin typeface="Cambria Math"/>
                            </a:rPr>
                            <m:t>𝑄</m:t>
                          </m:r>
                        </m:e>
                      </m:bar>
                      <m:r>
                        <a:rPr lang="en-US" altLang="zh-CN" sz="2400" i="1">
                          <a:latin typeface="Cambria Math"/>
                        </a:rPr>
                        <m:t>     </m:t>
                      </m:r>
                      <m:r>
                        <a:rPr lang="en-US" altLang="zh-CN" sz="2400" i="1" dirty="0">
                          <a:latin typeface="Cambria Math"/>
                        </a:rPr>
                        <m:t>𝑄</m:t>
                      </m:r>
                      <m:r>
                        <a:rPr lang="en-US" altLang="zh-CN" sz="2400" i="1" dirty="0">
                          <a:latin typeface="Cambria Math"/>
                        </a:rPr>
                        <m:t>   </m:t>
                      </m:r>
                      <m:bar>
                        <m:barPr>
                          <m:pos m:val="top"/>
                          <m:ctrlPr>
                            <a:rPr lang="en-US" altLang="zh-CN" sz="2400" i="1">
                              <a:latin typeface="Cambria Math" panose="02040503050406030204" pitchFamily="18" charset="0"/>
                            </a:rPr>
                          </m:ctrlPr>
                        </m:barPr>
                        <m:e>
                          <m:r>
                            <a:rPr lang="en-US" altLang="zh-CN" sz="2400" i="1">
                              <a:latin typeface="Cambria Math"/>
                            </a:rPr>
                            <m:t>𝑄</m:t>
                          </m:r>
                        </m:e>
                      </m:bar>
                    </m:oMath>
                  </m:oMathPara>
                </a14:m>
                <a:endParaRPr lang="en-US" altLang="zh-CN" sz="2400" i="1" dirty="0">
                  <a:latin typeface="+mj-lt"/>
                </a:endParaRPr>
              </a:p>
            </p:txBody>
          </p:sp>
        </mc:Choice>
        <mc:Fallback xmlns="">
          <p:sp>
            <p:nvSpPr>
              <p:cNvPr id="38" name="Text Box 43"/>
              <p:cNvSpPr txBox="1">
                <a:spLocks noRot="1" noChangeAspect="1" noMove="1" noResize="1" noEditPoints="1" noAdjustHandles="1" noChangeArrowheads="1" noChangeShapeType="1" noTextEdit="1"/>
              </p:cNvSpPr>
              <p:nvPr/>
            </p:nvSpPr>
            <p:spPr bwMode="auto">
              <a:xfrm>
                <a:off x="5879977" y="2707774"/>
                <a:ext cx="3278077" cy="505203"/>
              </a:xfrm>
              <a:prstGeom prst="rect">
                <a:avLst/>
              </a:prstGeom>
              <a:blipFill>
                <a:blip r:embed="rId5"/>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N">
                    <a:noFill/>
                  </a:rPr>
                  <a:t> </a:t>
                </a:r>
              </a:p>
            </p:txBody>
          </p:sp>
        </mc:Fallback>
      </mc:AlternateContent>
    </p:spTree>
    <p:extLst>
      <p:ext uri="{BB962C8B-B14F-4D97-AF65-F5344CB8AC3E}">
        <p14:creationId xmlns:p14="http://schemas.microsoft.com/office/powerpoint/2010/main" val="61377718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29" grpId="0"/>
      <p:bldP spid="30" grpId="0"/>
      <p:bldP spid="25" grpId="0"/>
      <p:bldP spid="31" grpId="0"/>
      <p:bldP spid="36"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rrowheads="1"/>
          </p:cNvSpPr>
          <p:nvPr>
            <p:ph type="title"/>
          </p:nvPr>
        </p:nvSpPr>
        <p:spPr/>
        <p:txBody>
          <a:bodyPr/>
          <a:lstStyle/>
          <a:p>
            <a:r>
              <a:rPr lang="en-IN" i="1" dirty="0">
                <a:solidFill>
                  <a:srgbClr val="0070C0"/>
                </a:solidFill>
              </a:rPr>
              <a:t>JK</a:t>
            </a:r>
            <a:r>
              <a:rPr lang="en-IN" dirty="0">
                <a:solidFill>
                  <a:srgbClr val="0070C0"/>
                </a:solidFill>
              </a:rPr>
              <a:t> Flip-Flop</a:t>
            </a:r>
            <a:endParaRPr lang="en-US" altLang="zh-CN" dirty="0">
              <a:solidFill>
                <a:srgbClr val="002060"/>
              </a:solidFill>
            </a:endParaRPr>
          </a:p>
        </p:txBody>
      </p:sp>
      <p:sp>
        <p:nvSpPr>
          <p:cNvPr id="20487" name="Line 4"/>
          <p:cNvSpPr>
            <a:spLocks noChangeShapeType="1"/>
          </p:cNvSpPr>
          <p:nvPr/>
        </p:nvSpPr>
        <p:spPr bwMode="auto">
          <a:xfrm>
            <a:off x="4551934" y="3800227"/>
            <a:ext cx="1588"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20519" name="Text Box 42"/>
          <p:cNvSpPr txBox="1">
            <a:spLocks noChangeArrowheads="1"/>
          </p:cNvSpPr>
          <p:nvPr/>
        </p:nvSpPr>
        <p:spPr bwMode="auto">
          <a:xfrm>
            <a:off x="6174432" y="3200778"/>
            <a:ext cx="1145705"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400" dirty="0">
                <a:latin typeface="+mj-lt"/>
              </a:rPr>
              <a:t>0   X   </a:t>
            </a:r>
            <a:r>
              <a:rPr lang="en-US" altLang="zh-CN" sz="2400" dirty="0" err="1">
                <a:latin typeface="+mj-lt"/>
              </a:rPr>
              <a:t>X</a:t>
            </a:r>
            <a:endParaRPr lang="en-US" altLang="zh-CN" sz="2400" dirty="0">
              <a:latin typeface="+mj-lt"/>
            </a:endParaRPr>
          </a:p>
          <a:p>
            <a:r>
              <a:rPr lang="en-US" altLang="zh-CN" sz="2400" dirty="0">
                <a:latin typeface="+mj-lt"/>
              </a:rPr>
              <a:t>1   0   0</a:t>
            </a:r>
          </a:p>
          <a:p>
            <a:r>
              <a:rPr lang="en-US" altLang="zh-CN" sz="2400" dirty="0">
                <a:latin typeface="+mj-lt"/>
              </a:rPr>
              <a:t>1   </a:t>
            </a:r>
            <a:r>
              <a:rPr lang="zh-CN" altLang="en-US" sz="2400" dirty="0">
                <a:latin typeface="+mj-lt"/>
              </a:rPr>
              <a:t>0   1</a:t>
            </a:r>
          </a:p>
          <a:p>
            <a:endParaRPr lang="en-US" altLang="zh-CN" sz="2400" dirty="0">
              <a:latin typeface="+mj-lt"/>
            </a:endParaRPr>
          </a:p>
          <a:p>
            <a:r>
              <a:rPr lang="en-US" altLang="zh-CN" sz="2400" dirty="0">
                <a:latin typeface="+mj-lt"/>
              </a:rPr>
              <a:t>1   </a:t>
            </a:r>
            <a:r>
              <a:rPr lang="zh-CN" altLang="en-US" sz="2400" dirty="0">
                <a:latin typeface="+mj-lt"/>
              </a:rPr>
              <a:t>1   0</a:t>
            </a:r>
          </a:p>
          <a:p>
            <a:endParaRPr lang="en-US" altLang="zh-CN" sz="2400" dirty="0">
              <a:latin typeface="+mj-lt"/>
            </a:endParaRPr>
          </a:p>
          <a:p>
            <a:r>
              <a:rPr lang="en-US" altLang="zh-CN" sz="2400" dirty="0">
                <a:latin typeface="+mj-lt"/>
              </a:rPr>
              <a:t>1   </a:t>
            </a:r>
            <a:r>
              <a:rPr lang="zh-CN" altLang="en-US" sz="2400" dirty="0">
                <a:latin typeface="+mj-lt"/>
              </a:rPr>
              <a:t>1   1</a:t>
            </a:r>
            <a:endParaRPr lang="en-US" altLang="zh-CN" sz="2400" dirty="0">
              <a:latin typeface="+mj-lt"/>
            </a:endParaRPr>
          </a:p>
          <a:p>
            <a:endParaRPr lang="zh-CN" altLang="en-US" sz="2800" dirty="0">
              <a:latin typeface="+mj-lt"/>
            </a:endParaRPr>
          </a:p>
        </p:txBody>
      </p:sp>
      <p:sp>
        <p:nvSpPr>
          <p:cNvPr id="20521" name="Line 44"/>
          <p:cNvSpPr>
            <a:spLocks noChangeShapeType="1"/>
          </p:cNvSpPr>
          <p:nvPr/>
        </p:nvSpPr>
        <p:spPr bwMode="auto">
          <a:xfrm>
            <a:off x="6096000" y="3212977"/>
            <a:ext cx="3312368" cy="11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0522" name="Line 45"/>
          <p:cNvSpPr>
            <a:spLocks noChangeShapeType="1"/>
          </p:cNvSpPr>
          <p:nvPr/>
        </p:nvSpPr>
        <p:spPr bwMode="auto">
          <a:xfrm>
            <a:off x="7332885" y="2707773"/>
            <a:ext cx="12750" cy="36015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 name="Rectangle 1"/>
          <p:cNvSpPr/>
          <p:nvPr/>
        </p:nvSpPr>
        <p:spPr>
          <a:xfrm>
            <a:off x="7104113" y="6300028"/>
            <a:ext cx="1533177" cy="369332"/>
          </a:xfrm>
          <a:prstGeom prst="rect">
            <a:avLst/>
          </a:prstGeom>
        </p:spPr>
        <p:txBody>
          <a:bodyPr wrap="none">
            <a:spAutoFit/>
          </a:bodyPr>
          <a:lstStyle/>
          <a:p>
            <a:r>
              <a:rPr lang="en-IN" dirty="0"/>
              <a:t>Function table</a:t>
            </a:r>
          </a:p>
        </p:txBody>
      </p:sp>
      <p:sp>
        <p:nvSpPr>
          <p:cNvPr id="17" name="Rectangle 16"/>
          <p:cNvSpPr/>
          <p:nvPr/>
        </p:nvSpPr>
        <p:spPr>
          <a:xfrm>
            <a:off x="3613698" y="3356992"/>
            <a:ext cx="1481559" cy="369332"/>
          </a:xfrm>
          <a:prstGeom prst="rect">
            <a:avLst/>
          </a:prstGeom>
        </p:spPr>
        <p:txBody>
          <a:bodyPr wrap="none">
            <a:spAutoFit/>
          </a:bodyPr>
          <a:lstStyle/>
          <a:p>
            <a:r>
              <a:rPr lang="en-IN" dirty="0"/>
              <a:t>Logic diagram</a:t>
            </a:r>
          </a:p>
        </p:txBody>
      </p:sp>
      <p:sp>
        <p:nvSpPr>
          <p:cNvPr id="3" name="Rectangle 2"/>
          <p:cNvSpPr/>
          <p:nvPr/>
        </p:nvSpPr>
        <p:spPr>
          <a:xfrm>
            <a:off x="8256241" y="2380818"/>
            <a:ext cx="1548373" cy="400110"/>
          </a:xfrm>
          <a:prstGeom prst="rect">
            <a:avLst/>
          </a:prstGeom>
        </p:spPr>
        <p:txBody>
          <a:bodyPr wrap="none">
            <a:spAutoFit/>
          </a:bodyPr>
          <a:lstStyle/>
          <a:p>
            <a:r>
              <a:rPr lang="en-IN" sz="2000" dirty="0">
                <a:latin typeface="Cambria Math" pitchFamily="18" charset="0"/>
                <a:ea typeface="Cambria Math" pitchFamily="18" charset="0"/>
              </a:rPr>
              <a:t>Next state of</a:t>
            </a: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7430" y="4581129"/>
            <a:ext cx="2838450" cy="164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Text Box 50"/>
          <p:cNvSpPr txBox="1">
            <a:spLocks noChangeArrowheads="1"/>
          </p:cNvSpPr>
          <p:nvPr/>
        </p:nvSpPr>
        <p:spPr bwMode="auto">
          <a:xfrm>
            <a:off x="8256240" y="3212977"/>
            <a:ext cx="24117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400" i="1" dirty="0">
                <a:solidFill>
                  <a:schemeClr val="hlink"/>
                </a:solidFill>
                <a:latin typeface="+mj-lt"/>
              </a:rPr>
              <a:t>Q</a:t>
            </a:r>
            <a:r>
              <a:rPr lang="zh-CN" altLang="en-US" sz="2400" i="1" dirty="0">
                <a:solidFill>
                  <a:schemeClr val="hlink"/>
                </a:solidFill>
                <a:latin typeface="+mj-lt"/>
              </a:rPr>
              <a:t>   </a:t>
            </a:r>
            <a:r>
              <a:rPr lang="en-US" altLang="zh-CN" sz="2400" i="1" dirty="0">
                <a:solidFill>
                  <a:schemeClr val="hlink"/>
                </a:solidFill>
                <a:latin typeface="+mj-lt"/>
              </a:rPr>
              <a:t>Q’</a:t>
            </a:r>
            <a:r>
              <a:rPr lang="zh-CN" altLang="en-US" sz="2400" i="1" dirty="0">
                <a:solidFill>
                  <a:schemeClr val="hlink"/>
                </a:solidFill>
                <a:latin typeface="+mj-lt"/>
              </a:rPr>
              <a:t>  </a:t>
            </a:r>
            <a:r>
              <a:rPr lang="en-US" altLang="zh-CN" sz="2400" i="1" dirty="0">
                <a:solidFill>
                  <a:srgbClr val="C00000"/>
                </a:solidFill>
                <a:latin typeface="+mj-lt"/>
              </a:rPr>
              <a:t>No change</a:t>
            </a:r>
          </a:p>
        </p:txBody>
      </p:sp>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72236" y="1268760"/>
            <a:ext cx="3779749" cy="1944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 name="Text Box 48"/>
          <p:cNvSpPr txBox="1">
            <a:spLocks noChangeArrowheads="1"/>
          </p:cNvSpPr>
          <p:nvPr/>
        </p:nvSpPr>
        <p:spPr bwMode="auto">
          <a:xfrm>
            <a:off x="4000400" y="1321604"/>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accent3">
                    <a:lumMod val="60000"/>
                    <a:lumOff val="40000"/>
                  </a:schemeClr>
                </a:solidFill>
                <a:latin typeface="+mj-lt"/>
              </a:rPr>
              <a:t>1</a:t>
            </a:r>
            <a:endParaRPr lang="zh-CN" altLang="en-US" sz="2800" dirty="0">
              <a:solidFill>
                <a:schemeClr val="accent3">
                  <a:lumMod val="60000"/>
                  <a:lumOff val="40000"/>
                </a:schemeClr>
              </a:solidFill>
              <a:latin typeface="+mj-lt"/>
            </a:endParaRPr>
          </a:p>
        </p:txBody>
      </p:sp>
      <p:sp>
        <p:nvSpPr>
          <p:cNvPr id="28" name="Text Box 48"/>
          <p:cNvSpPr txBox="1">
            <a:spLocks noChangeArrowheads="1"/>
          </p:cNvSpPr>
          <p:nvPr/>
        </p:nvSpPr>
        <p:spPr bwMode="auto">
          <a:xfrm>
            <a:off x="4000400" y="2689756"/>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accent3">
                    <a:lumMod val="60000"/>
                    <a:lumOff val="40000"/>
                  </a:schemeClr>
                </a:solidFill>
                <a:latin typeface="+mj-lt"/>
              </a:rPr>
              <a:t>1</a:t>
            </a:r>
            <a:endParaRPr lang="zh-CN" altLang="en-US" sz="2800" dirty="0">
              <a:solidFill>
                <a:schemeClr val="accent3">
                  <a:lumMod val="60000"/>
                  <a:lumOff val="40000"/>
                </a:schemeClr>
              </a:solidFill>
              <a:latin typeface="+mj-lt"/>
            </a:endParaRPr>
          </a:p>
        </p:txBody>
      </p:sp>
      <p:sp>
        <p:nvSpPr>
          <p:cNvPr id="29" name="Text Box 47"/>
          <p:cNvSpPr txBox="1">
            <a:spLocks noChangeArrowheads="1"/>
          </p:cNvSpPr>
          <p:nvPr/>
        </p:nvSpPr>
        <p:spPr bwMode="auto">
          <a:xfrm>
            <a:off x="2207568" y="1465620"/>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endParaRPr lang="zh-CN" altLang="en-US" sz="2800" dirty="0">
              <a:solidFill>
                <a:schemeClr val="hlink"/>
              </a:solidFill>
              <a:latin typeface="+mj-lt"/>
            </a:endParaRPr>
          </a:p>
        </p:txBody>
      </p:sp>
      <p:sp>
        <p:nvSpPr>
          <p:cNvPr id="30" name="Text Box 46"/>
          <p:cNvSpPr txBox="1">
            <a:spLocks noChangeArrowheads="1"/>
          </p:cNvSpPr>
          <p:nvPr/>
        </p:nvSpPr>
        <p:spPr bwMode="auto">
          <a:xfrm>
            <a:off x="2200200" y="2492896"/>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endParaRPr lang="zh-CN" altLang="en-US" sz="2800" dirty="0">
              <a:solidFill>
                <a:schemeClr val="hlink"/>
              </a:solidFill>
              <a:latin typeface="+mj-lt"/>
            </a:endParaRPr>
          </a:p>
        </p:txBody>
      </p:sp>
      <p:sp>
        <p:nvSpPr>
          <p:cNvPr id="35" name="Text Box 47"/>
          <p:cNvSpPr txBox="1">
            <a:spLocks noChangeArrowheads="1"/>
          </p:cNvSpPr>
          <p:nvPr/>
        </p:nvSpPr>
        <p:spPr bwMode="auto">
          <a:xfrm>
            <a:off x="1912168" y="1969676"/>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rgbClr val="C00000"/>
                </a:solidFill>
                <a:latin typeface="+mj-lt"/>
              </a:rPr>
              <a:t>1</a:t>
            </a:r>
            <a:endParaRPr lang="zh-CN" altLang="en-US" sz="2800" dirty="0">
              <a:solidFill>
                <a:srgbClr val="C00000"/>
              </a:solidFill>
              <a:latin typeface="+mj-lt"/>
            </a:endParaRPr>
          </a:p>
        </p:txBody>
      </p:sp>
      <p:sp>
        <p:nvSpPr>
          <p:cNvPr id="37" name="Text Box 42"/>
          <p:cNvSpPr txBox="1">
            <a:spLocks noChangeArrowheads="1"/>
          </p:cNvSpPr>
          <p:nvPr/>
        </p:nvSpPr>
        <p:spPr bwMode="auto">
          <a:xfrm>
            <a:off x="7398568" y="3212976"/>
            <a:ext cx="785665"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endParaRPr lang="en-US" altLang="zh-CN" sz="2400" dirty="0">
              <a:solidFill>
                <a:schemeClr val="accent1">
                  <a:lumMod val="60000"/>
                  <a:lumOff val="40000"/>
                </a:schemeClr>
              </a:solidFill>
              <a:latin typeface="+mj-lt"/>
            </a:endParaRPr>
          </a:p>
          <a:p>
            <a:endParaRPr lang="en-US" altLang="zh-CN" sz="2400" dirty="0">
              <a:solidFill>
                <a:schemeClr val="accent1">
                  <a:lumMod val="60000"/>
                  <a:lumOff val="40000"/>
                </a:schemeClr>
              </a:solidFill>
              <a:latin typeface="+mj-lt"/>
            </a:endParaRPr>
          </a:p>
          <a:p>
            <a:r>
              <a:rPr lang="en-US" altLang="zh-CN" sz="2400" dirty="0">
                <a:solidFill>
                  <a:schemeClr val="accent1">
                    <a:lumMod val="60000"/>
                    <a:lumOff val="40000"/>
                  </a:schemeClr>
                </a:solidFill>
              </a:rPr>
              <a:t>0   1</a:t>
            </a:r>
          </a:p>
          <a:p>
            <a:r>
              <a:rPr lang="en-US" altLang="zh-CN" sz="2400" dirty="0">
                <a:solidFill>
                  <a:schemeClr val="accent1">
                    <a:lumMod val="60000"/>
                    <a:lumOff val="40000"/>
                  </a:schemeClr>
                </a:solidFill>
              </a:rPr>
              <a:t>1   0</a:t>
            </a:r>
          </a:p>
          <a:p>
            <a:r>
              <a:rPr lang="en-US" altLang="zh-CN" sz="2400" dirty="0">
                <a:solidFill>
                  <a:schemeClr val="accent1">
                    <a:lumMod val="60000"/>
                    <a:lumOff val="40000"/>
                  </a:schemeClr>
                </a:solidFill>
              </a:rPr>
              <a:t>0   1</a:t>
            </a:r>
          </a:p>
          <a:p>
            <a:r>
              <a:rPr lang="en-US" altLang="zh-CN" sz="2400" dirty="0">
                <a:solidFill>
                  <a:schemeClr val="accent1">
                    <a:lumMod val="60000"/>
                    <a:lumOff val="40000"/>
                  </a:schemeClr>
                </a:solidFill>
              </a:rPr>
              <a:t>1   0</a:t>
            </a:r>
          </a:p>
          <a:p>
            <a:r>
              <a:rPr lang="en-US" altLang="zh-CN" sz="2400" dirty="0">
                <a:solidFill>
                  <a:schemeClr val="accent1">
                    <a:lumMod val="60000"/>
                    <a:lumOff val="40000"/>
                  </a:schemeClr>
                </a:solidFill>
              </a:rPr>
              <a:t>0   1</a:t>
            </a:r>
          </a:p>
          <a:p>
            <a:r>
              <a:rPr lang="en-US" altLang="zh-CN" sz="2400" dirty="0">
                <a:solidFill>
                  <a:schemeClr val="accent1">
                    <a:lumMod val="60000"/>
                    <a:lumOff val="40000"/>
                  </a:schemeClr>
                </a:solidFill>
              </a:rPr>
              <a:t>1   0</a:t>
            </a:r>
          </a:p>
        </p:txBody>
      </p:sp>
      <p:sp>
        <p:nvSpPr>
          <p:cNvPr id="39" name="Line 45"/>
          <p:cNvSpPr>
            <a:spLocks noChangeShapeType="1"/>
          </p:cNvSpPr>
          <p:nvPr/>
        </p:nvSpPr>
        <p:spPr bwMode="auto">
          <a:xfrm>
            <a:off x="8196981" y="2708920"/>
            <a:ext cx="12750" cy="35283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32" name="Text Box 50"/>
          <p:cNvSpPr txBox="1">
            <a:spLocks noChangeArrowheads="1"/>
          </p:cNvSpPr>
          <p:nvPr/>
        </p:nvSpPr>
        <p:spPr bwMode="auto">
          <a:xfrm>
            <a:off x="8256240" y="3573017"/>
            <a:ext cx="24117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400" i="1" dirty="0">
                <a:solidFill>
                  <a:schemeClr val="hlink"/>
                </a:solidFill>
                <a:latin typeface="+mj-lt"/>
              </a:rPr>
              <a:t>Q</a:t>
            </a:r>
            <a:r>
              <a:rPr lang="zh-CN" altLang="en-US" sz="2400" i="1" dirty="0">
                <a:solidFill>
                  <a:schemeClr val="hlink"/>
                </a:solidFill>
                <a:latin typeface="+mj-lt"/>
              </a:rPr>
              <a:t>   </a:t>
            </a:r>
            <a:r>
              <a:rPr lang="en-US" altLang="zh-CN" sz="2400" i="1" dirty="0">
                <a:solidFill>
                  <a:schemeClr val="hlink"/>
                </a:solidFill>
                <a:latin typeface="+mj-lt"/>
              </a:rPr>
              <a:t>Q’</a:t>
            </a:r>
            <a:r>
              <a:rPr lang="zh-CN" altLang="en-US" sz="2400" i="1" dirty="0">
                <a:solidFill>
                  <a:schemeClr val="hlink"/>
                </a:solidFill>
                <a:latin typeface="+mj-lt"/>
              </a:rPr>
              <a:t>  </a:t>
            </a:r>
            <a:r>
              <a:rPr lang="en-US" altLang="zh-CN" sz="2400" i="1" dirty="0">
                <a:solidFill>
                  <a:srgbClr val="C00000"/>
                </a:solidFill>
                <a:latin typeface="+mj-lt"/>
              </a:rPr>
              <a:t>No change</a:t>
            </a:r>
          </a:p>
        </p:txBody>
      </p:sp>
      <p:sp>
        <p:nvSpPr>
          <p:cNvPr id="23" name="Text Box 48"/>
          <p:cNvSpPr txBox="1">
            <a:spLocks noChangeArrowheads="1"/>
          </p:cNvSpPr>
          <p:nvPr/>
        </p:nvSpPr>
        <p:spPr bwMode="auto">
          <a:xfrm>
            <a:off x="5944616" y="1556792"/>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accent1">
                    <a:lumMod val="60000"/>
                    <a:lumOff val="40000"/>
                  </a:schemeClr>
                </a:solidFill>
                <a:latin typeface="+mj-lt"/>
              </a:rPr>
              <a:t>1</a:t>
            </a:r>
            <a:endParaRPr lang="zh-CN" altLang="en-US" sz="2800" dirty="0">
              <a:solidFill>
                <a:schemeClr val="accent1">
                  <a:lumMod val="60000"/>
                  <a:lumOff val="40000"/>
                </a:schemeClr>
              </a:solidFill>
              <a:latin typeface="+mj-lt"/>
            </a:endParaRPr>
          </a:p>
        </p:txBody>
      </p:sp>
      <p:sp>
        <p:nvSpPr>
          <p:cNvPr id="24" name="Text Box 48"/>
          <p:cNvSpPr txBox="1">
            <a:spLocks noChangeArrowheads="1"/>
          </p:cNvSpPr>
          <p:nvPr/>
        </p:nvSpPr>
        <p:spPr bwMode="auto">
          <a:xfrm>
            <a:off x="5951984" y="2401724"/>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accent1">
                    <a:lumMod val="60000"/>
                    <a:lumOff val="40000"/>
                  </a:schemeClr>
                </a:solidFill>
                <a:latin typeface="+mj-lt"/>
              </a:rPr>
              <a:t>0</a:t>
            </a:r>
            <a:endParaRPr lang="zh-CN" altLang="en-US" sz="2800" dirty="0">
              <a:solidFill>
                <a:schemeClr val="accent1">
                  <a:lumMod val="60000"/>
                  <a:lumOff val="40000"/>
                </a:schemeClr>
              </a:solidFill>
              <a:latin typeface="+mj-lt"/>
            </a:endParaRPr>
          </a:p>
        </p:txBody>
      </p:sp>
      <p:sp>
        <p:nvSpPr>
          <p:cNvPr id="25" name="Text Box 47"/>
          <p:cNvSpPr txBox="1">
            <a:spLocks noChangeArrowheads="1"/>
          </p:cNvSpPr>
          <p:nvPr/>
        </p:nvSpPr>
        <p:spPr bwMode="auto">
          <a:xfrm>
            <a:off x="6240016" y="1556792"/>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endParaRPr lang="zh-CN" altLang="en-US" sz="2800" dirty="0">
              <a:solidFill>
                <a:schemeClr val="hlink"/>
              </a:solidFill>
              <a:latin typeface="+mj-lt"/>
            </a:endParaRPr>
          </a:p>
        </p:txBody>
      </p:sp>
      <p:sp>
        <p:nvSpPr>
          <p:cNvPr id="31" name="Text Box 47"/>
          <p:cNvSpPr txBox="1">
            <a:spLocks noChangeArrowheads="1"/>
          </p:cNvSpPr>
          <p:nvPr/>
        </p:nvSpPr>
        <p:spPr bwMode="auto">
          <a:xfrm>
            <a:off x="6240016" y="2401724"/>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endParaRPr lang="zh-CN" altLang="en-US" sz="2800" dirty="0">
              <a:solidFill>
                <a:schemeClr val="hlink"/>
              </a:solidFill>
              <a:latin typeface="+mj-lt"/>
            </a:endParaRPr>
          </a:p>
        </p:txBody>
      </p:sp>
      <p:sp>
        <p:nvSpPr>
          <p:cNvPr id="33" name="Text Box 50"/>
          <p:cNvSpPr txBox="1">
            <a:spLocks noChangeArrowheads="1"/>
          </p:cNvSpPr>
          <p:nvPr/>
        </p:nvSpPr>
        <p:spPr bwMode="auto">
          <a:xfrm>
            <a:off x="8292752" y="3933057"/>
            <a:ext cx="24117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400" dirty="0">
                <a:solidFill>
                  <a:schemeClr val="hlink"/>
                </a:solidFill>
                <a:latin typeface="+mj-lt"/>
              </a:rPr>
              <a:t>0</a:t>
            </a:r>
            <a:r>
              <a:rPr lang="zh-CN" altLang="en-US" sz="2400" dirty="0">
                <a:solidFill>
                  <a:schemeClr val="hlink"/>
                </a:solidFill>
                <a:latin typeface="+mj-lt"/>
              </a:rPr>
              <a:t>    </a:t>
            </a:r>
            <a:r>
              <a:rPr lang="en-US" altLang="zh-CN" sz="2400" dirty="0">
                <a:solidFill>
                  <a:schemeClr val="hlink"/>
                </a:solidFill>
                <a:latin typeface="+mj-lt"/>
              </a:rPr>
              <a:t>1</a:t>
            </a:r>
            <a:endParaRPr lang="en-US" altLang="zh-CN" sz="2400" i="1" dirty="0">
              <a:solidFill>
                <a:srgbClr val="C00000"/>
              </a:solidFill>
              <a:latin typeface="+mj-lt"/>
            </a:endParaRPr>
          </a:p>
        </p:txBody>
      </p:sp>
      <p:sp>
        <p:nvSpPr>
          <p:cNvPr id="34" name="Text Box 50"/>
          <p:cNvSpPr txBox="1">
            <a:spLocks noChangeArrowheads="1"/>
          </p:cNvSpPr>
          <p:nvPr/>
        </p:nvSpPr>
        <p:spPr bwMode="auto">
          <a:xfrm>
            <a:off x="8292752" y="4293097"/>
            <a:ext cx="24117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400" dirty="0">
                <a:solidFill>
                  <a:schemeClr val="hlink"/>
                </a:solidFill>
                <a:latin typeface="+mj-lt"/>
              </a:rPr>
              <a:t>0</a:t>
            </a:r>
            <a:r>
              <a:rPr lang="zh-CN" altLang="en-US" sz="2400" dirty="0">
                <a:solidFill>
                  <a:schemeClr val="hlink"/>
                </a:solidFill>
                <a:latin typeface="+mj-lt"/>
              </a:rPr>
              <a:t>    </a:t>
            </a:r>
            <a:r>
              <a:rPr lang="en-US" altLang="zh-CN" sz="2400" dirty="0">
                <a:solidFill>
                  <a:schemeClr val="hlink"/>
                </a:solidFill>
                <a:latin typeface="+mj-lt"/>
              </a:rPr>
              <a:t>1   </a:t>
            </a:r>
            <a:r>
              <a:rPr lang="en-US" altLang="zh-CN" sz="2400" i="1" dirty="0">
                <a:solidFill>
                  <a:srgbClr val="C00000"/>
                </a:solidFill>
                <a:latin typeface="+mj-lt"/>
              </a:rPr>
              <a:t>Reset</a:t>
            </a:r>
          </a:p>
        </p:txBody>
      </p:sp>
      <p:sp>
        <p:nvSpPr>
          <p:cNvPr id="36" name="Text Box 50"/>
          <p:cNvSpPr txBox="1">
            <a:spLocks noChangeArrowheads="1"/>
          </p:cNvSpPr>
          <p:nvPr/>
        </p:nvSpPr>
        <p:spPr bwMode="auto">
          <a:xfrm>
            <a:off x="8292752" y="4695528"/>
            <a:ext cx="24117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400" dirty="0">
                <a:solidFill>
                  <a:schemeClr val="hlink"/>
                </a:solidFill>
                <a:latin typeface="+mj-lt"/>
              </a:rPr>
              <a:t>1</a:t>
            </a:r>
            <a:r>
              <a:rPr lang="zh-CN" altLang="en-US" sz="2400" dirty="0">
                <a:solidFill>
                  <a:schemeClr val="hlink"/>
                </a:solidFill>
                <a:latin typeface="+mj-lt"/>
              </a:rPr>
              <a:t>    </a:t>
            </a:r>
            <a:r>
              <a:rPr lang="en-US" altLang="zh-CN" sz="2400" dirty="0">
                <a:solidFill>
                  <a:schemeClr val="hlink"/>
                </a:solidFill>
                <a:latin typeface="+mj-lt"/>
              </a:rPr>
              <a:t>0</a:t>
            </a:r>
            <a:endParaRPr lang="en-US" altLang="zh-CN" sz="2400" i="1" dirty="0">
              <a:solidFill>
                <a:srgbClr val="C00000"/>
              </a:solidFill>
              <a:latin typeface="+mj-lt"/>
            </a:endParaRPr>
          </a:p>
        </p:txBody>
      </p:sp>
      <p:sp>
        <p:nvSpPr>
          <p:cNvPr id="38" name="Text Box 50"/>
          <p:cNvSpPr txBox="1">
            <a:spLocks noChangeArrowheads="1"/>
          </p:cNvSpPr>
          <p:nvPr/>
        </p:nvSpPr>
        <p:spPr bwMode="auto">
          <a:xfrm>
            <a:off x="8292752" y="5055568"/>
            <a:ext cx="24117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400" dirty="0">
                <a:solidFill>
                  <a:schemeClr val="hlink"/>
                </a:solidFill>
                <a:latin typeface="+mj-lt"/>
              </a:rPr>
              <a:t>1</a:t>
            </a:r>
            <a:r>
              <a:rPr lang="zh-CN" altLang="en-US" sz="2400" dirty="0">
                <a:solidFill>
                  <a:schemeClr val="hlink"/>
                </a:solidFill>
                <a:latin typeface="+mj-lt"/>
              </a:rPr>
              <a:t>    </a:t>
            </a:r>
            <a:r>
              <a:rPr lang="en-US" altLang="zh-CN" sz="2400" dirty="0">
                <a:solidFill>
                  <a:schemeClr val="hlink"/>
                </a:solidFill>
                <a:latin typeface="+mj-lt"/>
              </a:rPr>
              <a:t>0   </a:t>
            </a:r>
            <a:r>
              <a:rPr lang="en-US" altLang="zh-CN" sz="2400" i="1" dirty="0">
                <a:solidFill>
                  <a:srgbClr val="C00000"/>
                </a:solidFill>
                <a:latin typeface="+mj-lt"/>
              </a:rPr>
              <a:t>Set</a:t>
            </a:r>
          </a:p>
        </p:txBody>
      </p:sp>
      <mc:AlternateContent xmlns:mc="http://schemas.openxmlformats.org/markup-compatibility/2006" xmlns:a14="http://schemas.microsoft.com/office/drawing/2010/main">
        <mc:Choice Requires="a14">
          <p:sp>
            <p:nvSpPr>
              <p:cNvPr id="40" name="Text Box 43"/>
              <p:cNvSpPr txBox="1">
                <a:spLocks noChangeArrowheads="1"/>
              </p:cNvSpPr>
              <p:nvPr/>
            </p:nvSpPr>
            <p:spPr bwMode="auto">
              <a:xfrm>
                <a:off x="5879977" y="2707774"/>
                <a:ext cx="3278077" cy="50520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pPr/>
                <a14:m>
                  <m:oMathPara xmlns:m="http://schemas.openxmlformats.org/officeDocument/2006/math">
                    <m:oMathParaPr>
                      <m:jc m:val="centerGroup"/>
                    </m:oMathParaPr>
                    <m:oMath xmlns:m="http://schemas.openxmlformats.org/officeDocument/2006/math">
                      <m:r>
                        <a:rPr lang="en-US" altLang="zh-CN" sz="2400" i="1" dirty="0">
                          <a:latin typeface="Cambria Math"/>
                        </a:rPr>
                        <m:t>𝐶𝑙𝑘</m:t>
                      </m:r>
                      <m:r>
                        <a:rPr lang="en-US" altLang="zh-CN" sz="2400" i="1" dirty="0">
                          <a:latin typeface="Cambria Math"/>
                        </a:rPr>
                        <m:t>   </m:t>
                      </m:r>
                      <m:r>
                        <a:rPr lang="en-US" altLang="zh-CN" sz="2400" i="1" dirty="0">
                          <a:latin typeface="Cambria Math"/>
                        </a:rPr>
                        <m:t>𝐽</m:t>
                      </m:r>
                      <m:r>
                        <a:rPr lang="en-US" altLang="zh-CN" sz="2400" i="1" dirty="0">
                          <a:latin typeface="Cambria Math"/>
                        </a:rPr>
                        <m:t>  </m:t>
                      </m:r>
                      <m:r>
                        <a:rPr lang="en-US" altLang="zh-CN" sz="2400" i="1" dirty="0">
                          <a:latin typeface="Cambria Math"/>
                        </a:rPr>
                        <m:t>𝐾</m:t>
                      </m:r>
                      <m:r>
                        <a:rPr lang="en-US" altLang="zh-CN" sz="2400" i="1" dirty="0">
                          <a:latin typeface="Cambria Math"/>
                        </a:rPr>
                        <m:t>    </m:t>
                      </m:r>
                      <m:r>
                        <a:rPr lang="en-US" altLang="zh-CN" sz="2400" i="1" dirty="0">
                          <a:latin typeface="Cambria Math"/>
                        </a:rPr>
                        <m:t>𝑄</m:t>
                      </m:r>
                      <m:r>
                        <a:rPr lang="en-US" altLang="zh-CN" sz="2400" i="1" dirty="0">
                          <a:latin typeface="Cambria Math"/>
                        </a:rPr>
                        <m:t>   </m:t>
                      </m:r>
                      <m:bar>
                        <m:barPr>
                          <m:pos m:val="top"/>
                          <m:ctrlPr>
                            <a:rPr lang="en-US" altLang="zh-CN" sz="2400" i="1">
                              <a:latin typeface="Cambria Math" panose="02040503050406030204" pitchFamily="18" charset="0"/>
                            </a:rPr>
                          </m:ctrlPr>
                        </m:barPr>
                        <m:e>
                          <m:r>
                            <a:rPr lang="en-US" altLang="zh-CN" sz="2400" i="1">
                              <a:latin typeface="Cambria Math"/>
                            </a:rPr>
                            <m:t>𝑄</m:t>
                          </m:r>
                        </m:e>
                      </m:bar>
                      <m:r>
                        <a:rPr lang="en-US" altLang="zh-CN" sz="2400" i="1">
                          <a:latin typeface="Cambria Math"/>
                        </a:rPr>
                        <m:t>     </m:t>
                      </m:r>
                      <m:r>
                        <a:rPr lang="en-US" altLang="zh-CN" sz="2400" i="1" dirty="0">
                          <a:latin typeface="Cambria Math"/>
                        </a:rPr>
                        <m:t>𝑄</m:t>
                      </m:r>
                      <m:r>
                        <a:rPr lang="en-US" altLang="zh-CN" sz="2400" i="1" dirty="0">
                          <a:latin typeface="Cambria Math"/>
                        </a:rPr>
                        <m:t>   </m:t>
                      </m:r>
                      <m:bar>
                        <m:barPr>
                          <m:pos m:val="top"/>
                          <m:ctrlPr>
                            <a:rPr lang="en-US" altLang="zh-CN" sz="2400" i="1">
                              <a:latin typeface="Cambria Math" panose="02040503050406030204" pitchFamily="18" charset="0"/>
                            </a:rPr>
                          </m:ctrlPr>
                        </m:barPr>
                        <m:e>
                          <m:r>
                            <a:rPr lang="en-US" altLang="zh-CN" sz="2400" i="1">
                              <a:latin typeface="Cambria Math"/>
                            </a:rPr>
                            <m:t>𝑄</m:t>
                          </m:r>
                        </m:e>
                      </m:bar>
                    </m:oMath>
                  </m:oMathPara>
                </a14:m>
                <a:endParaRPr lang="en-US" altLang="zh-CN" sz="2400" i="1" dirty="0">
                  <a:latin typeface="+mj-lt"/>
                </a:endParaRPr>
              </a:p>
            </p:txBody>
          </p:sp>
        </mc:Choice>
        <mc:Fallback xmlns="">
          <p:sp>
            <p:nvSpPr>
              <p:cNvPr id="40" name="Text Box 43"/>
              <p:cNvSpPr txBox="1">
                <a:spLocks noRot="1" noChangeAspect="1" noMove="1" noResize="1" noEditPoints="1" noAdjustHandles="1" noChangeArrowheads="1" noChangeShapeType="1" noTextEdit="1"/>
              </p:cNvSpPr>
              <p:nvPr/>
            </p:nvSpPr>
            <p:spPr bwMode="auto">
              <a:xfrm>
                <a:off x="5879977" y="2707774"/>
                <a:ext cx="3278077" cy="505203"/>
              </a:xfrm>
              <a:prstGeom prst="rect">
                <a:avLst/>
              </a:prstGeom>
              <a:blipFill>
                <a:blip r:embed="rId5"/>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N">
                    <a:noFill/>
                  </a:rPr>
                  <a:t> </a:t>
                </a:r>
              </a:p>
            </p:txBody>
          </p:sp>
        </mc:Fallback>
      </mc:AlternateContent>
    </p:spTree>
    <p:extLst>
      <p:ext uri="{BB962C8B-B14F-4D97-AF65-F5344CB8AC3E}">
        <p14:creationId xmlns:p14="http://schemas.microsoft.com/office/powerpoint/2010/main" val="160079053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25" grpId="0"/>
      <p:bldP spid="31" grpId="0"/>
      <p:bldP spid="38"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rrowheads="1"/>
          </p:cNvSpPr>
          <p:nvPr>
            <p:ph type="title"/>
          </p:nvPr>
        </p:nvSpPr>
        <p:spPr/>
        <p:txBody>
          <a:bodyPr/>
          <a:lstStyle/>
          <a:p>
            <a:r>
              <a:rPr lang="en-IN" i="1" dirty="0">
                <a:solidFill>
                  <a:srgbClr val="0070C0"/>
                </a:solidFill>
              </a:rPr>
              <a:t>JK</a:t>
            </a:r>
            <a:r>
              <a:rPr lang="en-IN" dirty="0">
                <a:solidFill>
                  <a:srgbClr val="0070C0"/>
                </a:solidFill>
              </a:rPr>
              <a:t> Flip-Flop</a:t>
            </a:r>
            <a:endParaRPr lang="en-US" altLang="zh-CN" dirty="0">
              <a:solidFill>
                <a:srgbClr val="002060"/>
              </a:solidFill>
            </a:endParaRPr>
          </a:p>
        </p:txBody>
      </p:sp>
      <p:sp>
        <p:nvSpPr>
          <p:cNvPr id="20487" name="Line 4"/>
          <p:cNvSpPr>
            <a:spLocks noChangeShapeType="1"/>
          </p:cNvSpPr>
          <p:nvPr/>
        </p:nvSpPr>
        <p:spPr bwMode="auto">
          <a:xfrm>
            <a:off x="4551934" y="3800227"/>
            <a:ext cx="1588"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20519" name="Text Box 42"/>
          <p:cNvSpPr txBox="1">
            <a:spLocks noChangeArrowheads="1"/>
          </p:cNvSpPr>
          <p:nvPr/>
        </p:nvSpPr>
        <p:spPr bwMode="auto">
          <a:xfrm>
            <a:off x="6174432" y="3200778"/>
            <a:ext cx="1145705"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400" dirty="0">
                <a:latin typeface="+mj-lt"/>
              </a:rPr>
              <a:t>0   X   </a:t>
            </a:r>
            <a:r>
              <a:rPr lang="en-US" altLang="zh-CN" sz="2400" dirty="0" err="1">
                <a:latin typeface="+mj-lt"/>
              </a:rPr>
              <a:t>X</a:t>
            </a:r>
            <a:endParaRPr lang="en-US" altLang="zh-CN" sz="2400" dirty="0">
              <a:latin typeface="+mj-lt"/>
            </a:endParaRPr>
          </a:p>
          <a:p>
            <a:r>
              <a:rPr lang="en-US" altLang="zh-CN" sz="2400" dirty="0">
                <a:latin typeface="+mj-lt"/>
              </a:rPr>
              <a:t>1   0   0</a:t>
            </a:r>
          </a:p>
          <a:p>
            <a:r>
              <a:rPr lang="en-US" altLang="zh-CN" sz="2400" dirty="0">
                <a:latin typeface="+mj-lt"/>
              </a:rPr>
              <a:t>1   </a:t>
            </a:r>
            <a:r>
              <a:rPr lang="zh-CN" altLang="en-US" sz="2400" dirty="0">
                <a:latin typeface="+mj-lt"/>
              </a:rPr>
              <a:t>0   1</a:t>
            </a:r>
          </a:p>
          <a:p>
            <a:endParaRPr lang="en-US" altLang="zh-CN" sz="2400" dirty="0">
              <a:latin typeface="+mj-lt"/>
            </a:endParaRPr>
          </a:p>
          <a:p>
            <a:r>
              <a:rPr lang="en-US" altLang="zh-CN" sz="2400" dirty="0">
                <a:latin typeface="+mj-lt"/>
              </a:rPr>
              <a:t>1   </a:t>
            </a:r>
            <a:r>
              <a:rPr lang="zh-CN" altLang="en-US" sz="2400" dirty="0">
                <a:latin typeface="+mj-lt"/>
              </a:rPr>
              <a:t>1   0</a:t>
            </a:r>
          </a:p>
          <a:p>
            <a:endParaRPr lang="en-US" altLang="zh-CN" sz="2400" dirty="0">
              <a:latin typeface="+mj-lt"/>
            </a:endParaRPr>
          </a:p>
          <a:p>
            <a:r>
              <a:rPr lang="en-US" altLang="zh-CN" sz="2400" dirty="0">
                <a:latin typeface="+mj-lt"/>
              </a:rPr>
              <a:t>1   </a:t>
            </a:r>
            <a:r>
              <a:rPr lang="zh-CN" altLang="en-US" sz="2400" dirty="0">
                <a:latin typeface="+mj-lt"/>
              </a:rPr>
              <a:t>1   1</a:t>
            </a:r>
            <a:endParaRPr lang="en-US" altLang="zh-CN" sz="2400" dirty="0">
              <a:latin typeface="+mj-lt"/>
            </a:endParaRPr>
          </a:p>
          <a:p>
            <a:endParaRPr lang="zh-CN" altLang="en-US" sz="2800" dirty="0">
              <a:latin typeface="+mj-lt"/>
            </a:endParaRPr>
          </a:p>
        </p:txBody>
      </p:sp>
      <p:sp>
        <p:nvSpPr>
          <p:cNvPr id="20521" name="Line 44"/>
          <p:cNvSpPr>
            <a:spLocks noChangeShapeType="1"/>
          </p:cNvSpPr>
          <p:nvPr/>
        </p:nvSpPr>
        <p:spPr bwMode="auto">
          <a:xfrm>
            <a:off x="6096000" y="3212977"/>
            <a:ext cx="3312368" cy="11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0522" name="Line 45"/>
          <p:cNvSpPr>
            <a:spLocks noChangeShapeType="1"/>
          </p:cNvSpPr>
          <p:nvPr/>
        </p:nvSpPr>
        <p:spPr bwMode="auto">
          <a:xfrm>
            <a:off x="7332885" y="2707773"/>
            <a:ext cx="12750" cy="36015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 name="Rectangle 1"/>
          <p:cNvSpPr/>
          <p:nvPr/>
        </p:nvSpPr>
        <p:spPr>
          <a:xfrm>
            <a:off x="7104113" y="6300028"/>
            <a:ext cx="1533177" cy="369332"/>
          </a:xfrm>
          <a:prstGeom prst="rect">
            <a:avLst/>
          </a:prstGeom>
        </p:spPr>
        <p:txBody>
          <a:bodyPr wrap="none">
            <a:spAutoFit/>
          </a:bodyPr>
          <a:lstStyle/>
          <a:p>
            <a:r>
              <a:rPr lang="en-IN" dirty="0"/>
              <a:t>Function table</a:t>
            </a:r>
          </a:p>
        </p:txBody>
      </p:sp>
      <p:sp>
        <p:nvSpPr>
          <p:cNvPr id="17" name="Rectangle 16"/>
          <p:cNvSpPr/>
          <p:nvPr/>
        </p:nvSpPr>
        <p:spPr>
          <a:xfrm>
            <a:off x="3613698" y="3356992"/>
            <a:ext cx="1481559" cy="369332"/>
          </a:xfrm>
          <a:prstGeom prst="rect">
            <a:avLst/>
          </a:prstGeom>
        </p:spPr>
        <p:txBody>
          <a:bodyPr wrap="none">
            <a:spAutoFit/>
          </a:bodyPr>
          <a:lstStyle/>
          <a:p>
            <a:r>
              <a:rPr lang="en-IN" dirty="0"/>
              <a:t>Logic diagram</a:t>
            </a:r>
          </a:p>
        </p:txBody>
      </p:sp>
      <p:sp>
        <p:nvSpPr>
          <p:cNvPr id="3" name="Rectangle 2"/>
          <p:cNvSpPr/>
          <p:nvPr/>
        </p:nvSpPr>
        <p:spPr>
          <a:xfrm>
            <a:off x="8256241" y="2380818"/>
            <a:ext cx="1548373" cy="400110"/>
          </a:xfrm>
          <a:prstGeom prst="rect">
            <a:avLst/>
          </a:prstGeom>
        </p:spPr>
        <p:txBody>
          <a:bodyPr wrap="none">
            <a:spAutoFit/>
          </a:bodyPr>
          <a:lstStyle/>
          <a:p>
            <a:r>
              <a:rPr lang="en-IN" sz="2000" dirty="0">
                <a:latin typeface="Cambria Math" pitchFamily="18" charset="0"/>
                <a:ea typeface="Cambria Math" pitchFamily="18" charset="0"/>
              </a:rPr>
              <a:t>Next state of</a:t>
            </a: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7430" y="4581129"/>
            <a:ext cx="2838450" cy="164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Text Box 50"/>
          <p:cNvSpPr txBox="1">
            <a:spLocks noChangeArrowheads="1"/>
          </p:cNvSpPr>
          <p:nvPr/>
        </p:nvSpPr>
        <p:spPr bwMode="auto">
          <a:xfrm>
            <a:off x="8256240" y="3212977"/>
            <a:ext cx="24117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400" i="1" dirty="0">
                <a:solidFill>
                  <a:schemeClr val="hlink"/>
                </a:solidFill>
                <a:latin typeface="+mj-lt"/>
              </a:rPr>
              <a:t>Q</a:t>
            </a:r>
            <a:r>
              <a:rPr lang="zh-CN" altLang="en-US" sz="2400" i="1" dirty="0">
                <a:solidFill>
                  <a:schemeClr val="hlink"/>
                </a:solidFill>
                <a:latin typeface="+mj-lt"/>
              </a:rPr>
              <a:t>   </a:t>
            </a:r>
            <a:r>
              <a:rPr lang="en-US" altLang="zh-CN" sz="2400" i="1" dirty="0">
                <a:solidFill>
                  <a:schemeClr val="hlink"/>
                </a:solidFill>
                <a:latin typeface="+mj-lt"/>
              </a:rPr>
              <a:t>Q’</a:t>
            </a:r>
            <a:r>
              <a:rPr lang="zh-CN" altLang="en-US" sz="2400" i="1" dirty="0">
                <a:solidFill>
                  <a:schemeClr val="hlink"/>
                </a:solidFill>
                <a:latin typeface="+mj-lt"/>
              </a:rPr>
              <a:t>  </a:t>
            </a:r>
            <a:r>
              <a:rPr lang="en-US" altLang="zh-CN" sz="2400" i="1" dirty="0">
                <a:solidFill>
                  <a:srgbClr val="C00000"/>
                </a:solidFill>
                <a:latin typeface="+mj-lt"/>
              </a:rPr>
              <a:t>No change</a:t>
            </a:r>
          </a:p>
        </p:txBody>
      </p:sp>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72236" y="1268760"/>
            <a:ext cx="3779749" cy="1944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 name="Text Box 48"/>
          <p:cNvSpPr txBox="1">
            <a:spLocks noChangeArrowheads="1"/>
          </p:cNvSpPr>
          <p:nvPr/>
        </p:nvSpPr>
        <p:spPr bwMode="auto">
          <a:xfrm>
            <a:off x="4000400" y="1321604"/>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accent3">
                    <a:lumMod val="60000"/>
                    <a:lumOff val="40000"/>
                  </a:schemeClr>
                </a:solidFill>
                <a:latin typeface="+mj-lt"/>
              </a:rPr>
              <a:t>0</a:t>
            </a:r>
            <a:endParaRPr lang="zh-CN" altLang="en-US" sz="2800" dirty="0">
              <a:solidFill>
                <a:schemeClr val="accent3">
                  <a:lumMod val="60000"/>
                  <a:lumOff val="40000"/>
                </a:schemeClr>
              </a:solidFill>
              <a:latin typeface="+mj-lt"/>
            </a:endParaRPr>
          </a:p>
        </p:txBody>
      </p:sp>
      <p:sp>
        <p:nvSpPr>
          <p:cNvPr id="28" name="Text Box 48"/>
          <p:cNvSpPr txBox="1">
            <a:spLocks noChangeArrowheads="1"/>
          </p:cNvSpPr>
          <p:nvPr/>
        </p:nvSpPr>
        <p:spPr bwMode="auto">
          <a:xfrm>
            <a:off x="4000400" y="2689756"/>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accent3">
                    <a:lumMod val="60000"/>
                    <a:lumOff val="40000"/>
                  </a:schemeClr>
                </a:solidFill>
                <a:latin typeface="+mj-lt"/>
              </a:rPr>
              <a:t>1</a:t>
            </a:r>
            <a:endParaRPr lang="zh-CN" altLang="en-US" sz="2800" dirty="0">
              <a:solidFill>
                <a:schemeClr val="accent3">
                  <a:lumMod val="60000"/>
                  <a:lumOff val="40000"/>
                </a:schemeClr>
              </a:solidFill>
              <a:latin typeface="+mj-lt"/>
            </a:endParaRPr>
          </a:p>
        </p:txBody>
      </p:sp>
      <p:sp>
        <p:nvSpPr>
          <p:cNvPr id="29" name="Text Box 47"/>
          <p:cNvSpPr txBox="1">
            <a:spLocks noChangeArrowheads="1"/>
          </p:cNvSpPr>
          <p:nvPr/>
        </p:nvSpPr>
        <p:spPr bwMode="auto">
          <a:xfrm>
            <a:off x="2207568" y="1465620"/>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endParaRPr lang="zh-CN" altLang="en-US" sz="2800" dirty="0">
              <a:solidFill>
                <a:schemeClr val="hlink"/>
              </a:solidFill>
              <a:latin typeface="+mj-lt"/>
            </a:endParaRPr>
          </a:p>
        </p:txBody>
      </p:sp>
      <p:sp>
        <p:nvSpPr>
          <p:cNvPr id="30" name="Text Box 46"/>
          <p:cNvSpPr txBox="1">
            <a:spLocks noChangeArrowheads="1"/>
          </p:cNvSpPr>
          <p:nvPr/>
        </p:nvSpPr>
        <p:spPr bwMode="auto">
          <a:xfrm>
            <a:off x="2200200" y="2492896"/>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endParaRPr lang="zh-CN" altLang="en-US" sz="2800" dirty="0">
              <a:solidFill>
                <a:schemeClr val="hlink"/>
              </a:solidFill>
              <a:latin typeface="+mj-lt"/>
            </a:endParaRPr>
          </a:p>
        </p:txBody>
      </p:sp>
      <p:sp>
        <p:nvSpPr>
          <p:cNvPr id="35" name="Text Box 47"/>
          <p:cNvSpPr txBox="1">
            <a:spLocks noChangeArrowheads="1"/>
          </p:cNvSpPr>
          <p:nvPr/>
        </p:nvSpPr>
        <p:spPr bwMode="auto">
          <a:xfrm>
            <a:off x="1912168" y="1969676"/>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rgbClr val="C00000"/>
                </a:solidFill>
                <a:latin typeface="+mj-lt"/>
              </a:rPr>
              <a:t>1</a:t>
            </a:r>
            <a:endParaRPr lang="zh-CN" altLang="en-US" sz="2800" dirty="0">
              <a:solidFill>
                <a:srgbClr val="C00000"/>
              </a:solidFill>
              <a:latin typeface="+mj-lt"/>
            </a:endParaRPr>
          </a:p>
        </p:txBody>
      </p:sp>
      <p:sp>
        <p:nvSpPr>
          <p:cNvPr id="37" name="Text Box 42"/>
          <p:cNvSpPr txBox="1">
            <a:spLocks noChangeArrowheads="1"/>
          </p:cNvSpPr>
          <p:nvPr/>
        </p:nvSpPr>
        <p:spPr bwMode="auto">
          <a:xfrm>
            <a:off x="7398568" y="3212976"/>
            <a:ext cx="785665"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endParaRPr lang="en-US" altLang="zh-CN" sz="2400" dirty="0">
              <a:solidFill>
                <a:schemeClr val="accent1">
                  <a:lumMod val="60000"/>
                  <a:lumOff val="40000"/>
                </a:schemeClr>
              </a:solidFill>
              <a:latin typeface="+mj-lt"/>
            </a:endParaRPr>
          </a:p>
          <a:p>
            <a:endParaRPr lang="en-US" altLang="zh-CN" sz="2400" dirty="0">
              <a:solidFill>
                <a:schemeClr val="accent1">
                  <a:lumMod val="60000"/>
                  <a:lumOff val="40000"/>
                </a:schemeClr>
              </a:solidFill>
              <a:latin typeface="+mj-lt"/>
            </a:endParaRPr>
          </a:p>
          <a:p>
            <a:r>
              <a:rPr lang="en-US" altLang="zh-CN" sz="2400" dirty="0">
                <a:solidFill>
                  <a:schemeClr val="accent1">
                    <a:lumMod val="60000"/>
                    <a:lumOff val="40000"/>
                  </a:schemeClr>
                </a:solidFill>
              </a:rPr>
              <a:t>0   1</a:t>
            </a:r>
          </a:p>
          <a:p>
            <a:r>
              <a:rPr lang="en-US" altLang="zh-CN" sz="2400" dirty="0">
                <a:solidFill>
                  <a:schemeClr val="accent1">
                    <a:lumMod val="60000"/>
                    <a:lumOff val="40000"/>
                  </a:schemeClr>
                </a:solidFill>
              </a:rPr>
              <a:t>1   0</a:t>
            </a:r>
          </a:p>
          <a:p>
            <a:r>
              <a:rPr lang="en-US" altLang="zh-CN" sz="2400" dirty="0">
                <a:solidFill>
                  <a:schemeClr val="accent1">
                    <a:lumMod val="60000"/>
                    <a:lumOff val="40000"/>
                  </a:schemeClr>
                </a:solidFill>
              </a:rPr>
              <a:t>0   1</a:t>
            </a:r>
          </a:p>
          <a:p>
            <a:r>
              <a:rPr lang="en-US" altLang="zh-CN" sz="2400" dirty="0">
                <a:solidFill>
                  <a:schemeClr val="accent1">
                    <a:lumMod val="60000"/>
                    <a:lumOff val="40000"/>
                  </a:schemeClr>
                </a:solidFill>
              </a:rPr>
              <a:t>1   0</a:t>
            </a:r>
          </a:p>
          <a:p>
            <a:r>
              <a:rPr lang="en-US" altLang="zh-CN" sz="2400" dirty="0">
                <a:solidFill>
                  <a:schemeClr val="accent1">
                    <a:lumMod val="60000"/>
                    <a:lumOff val="40000"/>
                  </a:schemeClr>
                </a:solidFill>
              </a:rPr>
              <a:t>0   1</a:t>
            </a:r>
          </a:p>
          <a:p>
            <a:r>
              <a:rPr lang="en-US" altLang="zh-CN" sz="2400" dirty="0">
                <a:solidFill>
                  <a:schemeClr val="accent1">
                    <a:lumMod val="60000"/>
                    <a:lumOff val="40000"/>
                  </a:schemeClr>
                </a:solidFill>
              </a:rPr>
              <a:t>1   0</a:t>
            </a:r>
          </a:p>
        </p:txBody>
      </p:sp>
      <p:sp>
        <p:nvSpPr>
          <p:cNvPr id="39" name="Line 45"/>
          <p:cNvSpPr>
            <a:spLocks noChangeShapeType="1"/>
          </p:cNvSpPr>
          <p:nvPr/>
        </p:nvSpPr>
        <p:spPr bwMode="auto">
          <a:xfrm>
            <a:off x="8196981" y="2708920"/>
            <a:ext cx="12750" cy="35283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32" name="Text Box 50"/>
          <p:cNvSpPr txBox="1">
            <a:spLocks noChangeArrowheads="1"/>
          </p:cNvSpPr>
          <p:nvPr/>
        </p:nvSpPr>
        <p:spPr bwMode="auto">
          <a:xfrm>
            <a:off x="8256240" y="3573017"/>
            <a:ext cx="24117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400" i="1" dirty="0">
                <a:solidFill>
                  <a:schemeClr val="hlink"/>
                </a:solidFill>
                <a:latin typeface="+mj-lt"/>
              </a:rPr>
              <a:t>Q</a:t>
            </a:r>
            <a:r>
              <a:rPr lang="zh-CN" altLang="en-US" sz="2400" i="1" dirty="0">
                <a:solidFill>
                  <a:schemeClr val="hlink"/>
                </a:solidFill>
                <a:latin typeface="+mj-lt"/>
              </a:rPr>
              <a:t>   </a:t>
            </a:r>
            <a:r>
              <a:rPr lang="en-US" altLang="zh-CN" sz="2400" i="1" dirty="0">
                <a:solidFill>
                  <a:schemeClr val="hlink"/>
                </a:solidFill>
                <a:latin typeface="+mj-lt"/>
              </a:rPr>
              <a:t>Q’</a:t>
            </a:r>
            <a:r>
              <a:rPr lang="zh-CN" altLang="en-US" sz="2400" i="1" dirty="0">
                <a:solidFill>
                  <a:schemeClr val="hlink"/>
                </a:solidFill>
                <a:latin typeface="+mj-lt"/>
              </a:rPr>
              <a:t>  </a:t>
            </a:r>
            <a:r>
              <a:rPr lang="en-US" altLang="zh-CN" sz="2400" i="1" dirty="0">
                <a:solidFill>
                  <a:srgbClr val="C00000"/>
                </a:solidFill>
                <a:latin typeface="+mj-lt"/>
              </a:rPr>
              <a:t>No change</a:t>
            </a:r>
          </a:p>
        </p:txBody>
      </p:sp>
      <p:sp>
        <p:nvSpPr>
          <p:cNvPr id="23" name="Text Box 48"/>
          <p:cNvSpPr txBox="1">
            <a:spLocks noChangeArrowheads="1"/>
          </p:cNvSpPr>
          <p:nvPr/>
        </p:nvSpPr>
        <p:spPr bwMode="auto">
          <a:xfrm>
            <a:off x="5944616" y="1556792"/>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accent1">
                    <a:lumMod val="60000"/>
                    <a:lumOff val="40000"/>
                  </a:schemeClr>
                </a:solidFill>
                <a:latin typeface="+mj-lt"/>
              </a:rPr>
              <a:t>0</a:t>
            </a:r>
            <a:endParaRPr lang="zh-CN" altLang="en-US" sz="2800" dirty="0">
              <a:solidFill>
                <a:schemeClr val="accent1">
                  <a:lumMod val="60000"/>
                  <a:lumOff val="40000"/>
                </a:schemeClr>
              </a:solidFill>
              <a:latin typeface="+mj-lt"/>
            </a:endParaRPr>
          </a:p>
        </p:txBody>
      </p:sp>
      <p:sp>
        <p:nvSpPr>
          <p:cNvPr id="24" name="Text Box 48"/>
          <p:cNvSpPr txBox="1">
            <a:spLocks noChangeArrowheads="1"/>
          </p:cNvSpPr>
          <p:nvPr/>
        </p:nvSpPr>
        <p:spPr bwMode="auto">
          <a:xfrm>
            <a:off x="5951984" y="2401724"/>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accent1">
                    <a:lumMod val="60000"/>
                    <a:lumOff val="40000"/>
                  </a:schemeClr>
                </a:solidFill>
                <a:latin typeface="+mj-lt"/>
              </a:rPr>
              <a:t>1</a:t>
            </a:r>
            <a:endParaRPr lang="zh-CN" altLang="en-US" sz="2800" dirty="0">
              <a:solidFill>
                <a:schemeClr val="accent1">
                  <a:lumMod val="60000"/>
                  <a:lumOff val="40000"/>
                </a:schemeClr>
              </a:solidFill>
              <a:latin typeface="+mj-lt"/>
            </a:endParaRPr>
          </a:p>
        </p:txBody>
      </p:sp>
      <p:sp>
        <p:nvSpPr>
          <p:cNvPr id="25" name="Text Box 47"/>
          <p:cNvSpPr txBox="1">
            <a:spLocks noChangeArrowheads="1"/>
          </p:cNvSpPr>
          <p:nvPr/>
        </p:nvSpPr>
        <p:spPr bwMode="auto">
          <a:xfrm>
            <a:off x="6240016" y="1556792"/>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endParaRPr lang="zh-CN" altLang="en-US" sz="2800" dirty="0">
              <a:solidFill>
                <a:schemeClr val="hlink"/>
              </a:solidFill>
              <a:latin typeface="+mj-lt"/>
            </a:endParaRPr>
          </a:p>
        </p:txBody>
      </p:sp>
      <p:sp>
        <p:nvSpPr>
          <p:cNvPr id="31" name="Text Box 47"/>
          <p:cNvSpPr txBox="1">
            <a:spLocks noChangeArrowheads="1"/>
          </p:cNvSpPr>
          <p:nvPr/>
        </p:nvSpPr>
        <p:spPr bwMode="auto">
          <a:xfrm>
            <a:off x="6240016" y="2401724"/>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endParaRPr lang="zh-CN" altLang="en-US" sz="2800" dirty="0">
              <a:solidFill>
                <a:schemeClr val="hlink"/>
              </a:solidFill>
              <a:latin typeface="+mj-lt"/>
            </a:endParaRPr>
          </a:p>
        </p:txBody>
      </p:sp>
      <p:sp>
        <p:nvSpPr>
          <p:cNvPr id="33" name="Text Box 50"/>
          <p:cNvSpPr txBox="1">
            <a:spLocks noChangeArrowheads="1"/>
          </p:cNvSpPr>
          <p:nvPr/>
        </p:nvSpPr>
        <p:spPr bwMode="auto">
          <a:xfrm>
            <a:off x="8292752" y="3933057"/>
            <a:ext cx="24117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400" dirty="0">
                <a:solidFill>
                  <a:schemeClr val="hlink"/>
                </a:solidFill>
                <a:latin typeface="+mj-lt"/>
              </a:rPr>
              <a:t>0</a:t>
            </a:r>
            <a:r>
              <a:rPr lang="zh-CN" altLang="en-US" sz="2400" dirty="0">
                <a:solidFill>
                  <a:schemeClr val="hlink"/>
                </a:solidFill>
                <a:latin typeface="+mj-lt"/>
              </a:rPr>
              <a:t>    </a:t>
            </a:r>
            <a:r>
              <a:rPr lang="en-US" altLang="zh-CN" sz="2400" dirty="0">
                <a:solidFill>
                  <a:schemeClr val="hlink"/>
                </a:solidFill>
                <a:latin typeface="+mj-lt"/>
              </a:rPr>
              <a:t>1</a:t>
            </a:r>
            <a:endParaRPr lang="en-US" altLang="zh-CN" sz="2400" i="1" dirty="0">
              <a:solidFill>
                <a:srgbClr val="C00000"/>
              </a:solidFill>
              <a:latin typeface="+mj-lt"/>
            </a:endParaRPr>
          </a:p>
        </p:txBody>
      </p:sp>
      <p:sp>
        <p:nvSpPr>
          <p:cNvPr id="34" name="Text Box 50"/>
          <p:cNvSpPr txBox="1">
            <a:spLocks noChangeArrowheads="1"/>
          </p:cNvSpPr>
          <p:nvPr/>
        </p:nvSpPr>
        <p:spPr bwMode="auto">
          <a:xfrm>
            <a:off x="8292752" y="4293097"/>
            <a:ext cx="24117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400" dirty="0">
                <a:solidFill>
                  <a:schemeClr val="hlink"/>
                </a:solidFill>
                <a:latin typeface="+mj-lt"/>
              </a:rPr>
              <a:t>0</a:t>
            </a:r>
            <a:r>
              <a:rPr lang="zh-CN" altLang="en-US" sz="2400" dirty="0">
                <a:solidFill>
                  <a:schemeClr val="hlink"/>
                </a:solidFill>
                <a:latin typeface="+mj-lt"/>
              </a:rPr>
              <a:t>    </a:t>
            </a:r>
            <a:r>
              <a:rPr lang="en-US" altLang="zh-CN" sz="2400" dirty="0">
                <a:solidFill>
                  <a:schemeClr val="hlink"/>
                </a:solidFill>
                <a:latin typeface="+mj-lt"/>
              </a:rPr>
              <a:t>1   </a:t>
            </a:r>
            <a:r>
              <a:rPr lang="en-US" altLang="zh-CN" sz="2400" i="1" dirty="0">
                <a:solidFill>
                  <a:srgbClr val="C00000"/>
                </a:solidFill>
                <a:latin typeface="+mj-lt"/>
              </a:rPr>
              <a:t>Reset</a:t>
            </a:r>
          </a:p>
        </p:txBody>
      </p:sp>
      <p:sp>
        <p:nvSpPr>
          <p:cNvPr id="36" name="Text Box 50"/>
          <p:cNvSpPr txBox="1">
            <a:spLocks noChangeArrowheads="1"/>
          </p:cNvSpPr>
          <p:nvPr/>
        </p:nvSpPr>
        <p:spPr bwMode="auto">
          <a:xfrm>
            <a:off x="8292752" y="4695528"/>
            <a:ext cx="24117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400" dirty="0">
                <a:solidFill>
                  <a:schemeClr val="hlink"/>
                </a:solidFill>
                <a:latin typeface="+mj-lt"/>
              </a:rPr>
              <a:t>1</a:t>
            </a:r>
            <a:r>
              <a:rPr lang="zh-CN" altLang="en-US" sz="2400" dirty="0">
                <a:solidFill>
                  <a:schemeClr val="hlink"/>
                </a:solidFill>
                <a:latin typeface="+mj-lt"/>
              </a:rPr>
              <a:t>    </a:t>
            </a:r>
            <a:r>
              <a:rPr lang="en-US" altLang="zh-CN" sz="2400" dirty="0">
                <a:solidFill>
                  <a:schemeClr val="hlink"/>
                </a:solidFill>
                <a:latin typeface="+mj-lt"/>
              </a:rPr>
              <a:t>0</a:t>
            </a:r>
            <a:endParaRPr lang="en-US" altLang="zh-CN" sz="2400" i="1" dirty="0">
              <a:solidFill>
                <a:srgbClr val="C00000"/>
              </a:solidFill>
              <a:latin typeface="+mj-lt"/>
            </a:endParaRPr>
          </a:p>
        </p:txBody>
      </p:sp>
      <p:sp>
        <p:nvSpPr>
          <p:cNvPr id="38" name="Text Box 50"/>
          <p:cNvSpPr txBox="1">
            <a:spLocks noChangeArrowheads="1"/>
          </p:cNvSpPr>
          <p:nvPr/>
        </p:nvSpPr>
        <p:spPr bwMode="auto">
          <a:xfrm>
            <a:off x="8292752" y="5055568"/>
            <a:ext cx="24117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400" dirty="0">
                <a:solidFill>
                  <a:schemeClr val="hlink"/>
                </a:solidFill>
                <a:latin typeface="+mj-lt"/>
              </a:rPr>
              <a:t>1</a:t>
            </a:r>
            <a:r>
              <a:rPr lang="zh-CN" altLang="en-US" sz="2400" dirty="0">
                <a:solidFill>
                  <a:schemeClr val="hlink"/>
                </a:solidFill>
                <a:latin typeface="+mj-lt"/>
              </a:rPr>
              <a:t>    </a:t>
            </a:r>
            <a:r>
              <a:rPr lang="en-US" altLang="zh-CN" sz="2400" dirty="0">
                <a:solidFill>
                  <a:schemeClr val="hlink"/>
                </a:solidFill>
                <a:latin typeface="+mj-lt"/>
              </a:rPr>
              <a:t>0   </a:t>
            </a:r>
            <a:r>
              <a:rPr lang="en-US" altLang="zh-CN" sz="2400" i="1" dirty="0">
                <a:solidFill>
                  <a:srgbClr val="C00000"/>
                </a:solidFill>
                <a:latin typeface="+mj-lt"/>
              </a:rPr>
              <a:t>Set</a:t>
            </a:r>
          </a:p>
        </p:txBody>
      </p:sp>
      <p:sp>
        <p:nvSpPr>
          <p:cNvPr id="40" name="Text Box 50"/>
          <p:cNvSpPr txBox="1">
            <a:spLocks noChangeArrowheads="1"/>
          </p:cNvSpPr>
          <p:nvPr/>
        </p:nvSpPr>
        <p:spPr bwMode="auto">
          <a:xfrm>
            <a:off x="8292752" y="5415608"/>
            <a:ext cx="24117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400" dirty="0">
                <a:solidFill>
                  <a:schemeClr val="hlink"/>
                </a:solidFill>
                <a:latin typeface="+mj-lt"/>
              </a:rPr>
              <a:t>1</a:t>
            </a:r>
            <a:r>
              <a:rPr lang="zh-CN" altLang="en-US" sz="2400" dirty="0">
                <a:solidFill>
                  <a:schemeClr val="hlink"/>
                </a:solidFill>
                <a:latin typeface="+mj-lt"/>
              </a:rPr>
              <a:t>    </a:t>
            </a:r>
            <a:r>
              <a:rPr lang="en-US" altLang="zh-CN" sz="2400" dirty="0">
                <a:solidFill>
                  <a:schemeClr val="hlink"/>
                </a:solidFill>
                <a:latin typeface="+mj-lt"/>
              </a:rPr>
              <a:t>0</a:t>
            </a:r>
            <a:endParaRPr lang="en-US" altLang="zh-CN" sz="2400" i="1" dirty="0">
              <a:solidFill>
                <a:srgbClr val="C00000"/>
              </a:solidFill>
              <a:latin typeface="+mj-lt"/>
            </a:endParaRPr>
          </a:p>
        </p:txBody>
      </p:sp>
      <mc:AlternateContent xmlns:mc="http://schemas.openxmlformats.org/markup-compatibility/2006" xmlns:a14="http://schemas.microsoft.com/office/drawing/2010/main">
        <mc:Choice Requires="a14">
          <p:sp>
            <p:nvSpPr>
              <p:cNvPr id="41" name="Text Box 43"/>
              <p:cNvSpPr txBox="1">
                <a:spLocks noChangeArrowheads="1"/>
              </p:cNvSpPr>
              <p:nvPr/>
            </p:nvSpPr>
            <p:spPr bwMode="auto">
              <a:xfrm>
                <a:off x="5879977" y="2707774"/>
                <a:ext cx="3278077" cy="50520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pPr/>
                <a14:m>
                  <m:oMathPara xmlns:m="http://schemas.openxmlformats.org/officeDocument/2006/math">
                    <m:oMathParaPr>
                      <m:jc m:val="centerGroup"/>
                    </m:oMathParaPr>
                    <m:oMath xmlns:m="http://schemas.openxmlformats.org/officeDocument/2006/math">
                      <m:r>
                        <a:rPr lang="en-US" altLang="zh-CN" sz="2400" i="1" dirty="0">
                          <a:latin typeface="Cambria Math"/>
                        </a:rPr>
                        <m:t>𝐶𝑙𝑘</m:t>
                      </m:r>
                      <m:r>
                        <a:rPr lang="en-US" altLang="zh-CN" sz="2400" i="1" dirty="0">
                          <a:latin typeface="Cambria Math"/>
                        </a:rPr>
                        <m:t>   </m:t>
                      </m:r>
                      <m:r>
                        <a:rPr lang="en-US" altLang="zh-CN" sz="2400" i="1" dirty="0">
                          <a:latin typeface="Cambria Math"/>
                        </a:rPr>
                        <m:t>𝐽</m:t>
                      </m:r>
                      <m:r>
                        <a:rPr lang="en-US" altLang="zh-CN" sz="2400" i="1" dirty="0">
                          <a:latin typeface="Cambria Math"/>
                        </a:rPr>
                        <m:t>  </m:t>
                      </m:r>
                      <m:r>
                        <a:rPr lang="en-US" altLang="zh-CN" sz="2400" i="1" dirty="0">
                          <a:latin typeface="Cambria Math"/>
                        </a:rPr>
                        <m:t>𝐾</m:t>
                      </m:r>
                      <m:r>
                        <a:rPr lang="en-US" altLang="zh-CN" sz="2400" i="1" dirty="0">
                          <a:latin typeface="Cambria Math"/>
                        </a:rPr>
                        <m:t>    </m:t>
                      </m:r>
                      <m:r>
                        <a:rPr lang="en-US" altLang="zh-CN" sz="2400" i="1" dirty="0">
                          <a:latin typeface="Cambria Math"/>
                        </a:rPr>
                        <m:t>𝑄</m:t>
                      </m:r>
                      <m:r>
                        <a:rPr lang="en-US" altLang="zh-CN" sz="2400" i="1" dirty="0">
                          <a:latin typeface="Cambria Math"/>
                        </a:rPr>
                        <m:t>   </m:t>
                      </m:r>
                      <m:bar>
                        <m:barPr>
                          <m:pos m:val="top"/>
                          <m:ctrlPr>
                            <a:rPr lang="en-US" altLang="zh-CN" sz="2400" i="1">
                              <a:latin typeface="Cambria Math" panose="02040503050406030204" pitchFamily="18" charset="0"/>
                            </a:rPr>
                          </m:ctrlPr>
                        </m:barPr>
                        <m:e>
                          <m:r>
                            <a:rPr lang="en-US" altLang="zh-CN" sz="2400" i="1">
                              <a:latin typeface="Cambria Math"/>
                            </a:rPr>
                            <m:t>𝑄</m:t>
                          </m:r>
                        </m:e>
                      </m:bar>
                      <m:r>
                        <a:rPr lang="en-US" altLang="zh-CN" sz="2400" i="1">
                          <a:latin typeface="Cambria Math"/>
                        </a:rPr>
                        <m:t>     </m:t>
                      </m:r>
                      <m:r>
                        <a:rPr lang="en-US" altLang="zh-CN" sz="2400" i="1" dirty="0">
                          <a:latin typeface="Cambria Math"/>
                        </a:rPr>
                        <m:t>𝑄</m:t>
                      </m:r>
                      <m:r>
                        <a:rPr lang="en-US" altLang="zh-CN" sz="2400" i="1" dirty="0">
                          <a:latin typeface="Cambria Math"/>
                        </a:rPr>
                        <m:t>   </m:t>
                      </m:r>
                      <m:bar>
                        <m:barPr>
                          <m:pos m:val="top"/>
                          <m:ctrlPr>
                            <a:rPr lang="en-US" altLang="zh-CN" sz="2400" i="1">
                              <a:latin typeface="Cambria Math" panose="02040503050406030204" pitchFamily="18" charset="0"/>
                            </a:rPr>
                          </m:ctrlPr>
                        </m:barPr>
                        <m:e>
                          <m:r>
                            <a:rPr lang="en-US" altLang="zh-CN" sz="2400" i="1">
                              <a:latin typeface="Cambria Math"/>
                            </a:rPr>
                            <m:t>𝑄</m:t>
                          </m:r>
                        </m:e>
                      </m:bar>
                    </m:oMath>
                  </m:oMathPara>
                </a14:m>
                <a:endParaRPr lang="en-US" altLang="zh-CN" sz="2400" i="1" dirty="0">
                  <a:latin typeface="+mj-lt"/>
                </a:endParaRPr>
              </a:p>
            </p:txBody>
          </p:sp>
        </mc:Choice>
        <mc:Fallback xmlns="">
          <p:sp>
            <p:nvSpPr>
              <p:cNvPr id="41" name="Text Box 43"/>
              <p:cNvSpPr txBox="1">
                <a:spLocks noRot="1" noChangeAspect="1" noMove="1" noResize="1" noEditPoints="1" noAdjustHandles="1" noChangeArrowheads="1" noChangeShapeType="1" noTextEdit="1"/>
              </p:cNvSpPr>
              <p:nvPr/>
            </p:nvSpPr>
            <p:spPr bwMode="auto">
              <a:xfrm>
                <a:off x="5879977" y="2707774"/>
                <a:ext cx="3278077" cy="505203"/>
              </a:xfrm>
              <a:prstGeom prst="rect">
                <a:avLst/>
              </a:prstGeom>
              <a:blipFill>
                <a:blip r:embed="rId5"/>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N">
                    <a:noFill/>
                  </a:rPr>
                  <a:t> </a:t>
                </a:r>
              </a:p>
            </p:txBody>
          </p:sp>
        </mc:Fallback>
      </mc:AlternateContent>
    </p:spTree>
    <p:extLst>
      <p:ext uri="{BB962C8B-B14F-4D97-AF65-F5344CB8AC3E}">
        <p14:creationId xmlns:p14="http://schemas.microsoft.com/office/powerpoint/2010/main" val="417590610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29" grpId="0"/>
      <p:bldP spid="30" grpId="0"/>
      <p:bldP spid="25" grpId="0"/>
      <p:bldP spid="31" grpId="0"/>
      <p:bldP spid="40"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rrowheads="1"/>
          </p:cNvSpPr>
          <p:nvPr>
            <p:ph type="title"/>
          </p:nvPr>
        </p:nvSpPr>
        <p:spPr/>
        <p:txBody>
          <a:bodyPr/>
          <a:lstStyle/>
          <a:p>
            <a:r>
              <a:rPr lang="en-IN" i="1" dirty="0">
                <a:solidFill>
                  <a:srgbClr val="0070C0"/>
                </a:solidFill>
              </a:rPr>
              <a:t>JK</a:t>
            </a:r>
            <a:r>
              <a:rPr lang="en-IN" dirty="0">
                <a:solidFill>
                  <a:srgbClr val="0070C0"/>
                </a:solidFill>
              </a:rPr>
              <a:t> Flip-Flop</a:t>
            </a:r>
            <a:endParaRPr lang="en-US" altLang="zh-CN" dirty="0">
              <a:solidFill>
                <a:srgbClr val="002060"/>
              </a:solidFill>
            </a:endParaRPr>
          </a:p>
        </p:txBody>
      </p:sp>
      <p:sp>
        <p:nvSpPr>
          <p:cNvPr id="20487" name="Line 4"/>
          <p:cNvSpPr>
            <a:spLocks noChangeShapeType="1"/>
          </p:cNvSpPr>
          <p:nvPr/>
        </p:nvSpPr>
        <p:spPr bwMode="auto">
          <a:xfrm>
            <a:off x="4551934" y="3800227"/>
            <a:ext cx="1588"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0">
                <a:solidFill>
                  <a:srgbClr val="000000"/>
                </a:solidFill>
                <a:round/>
                <a:headEnd/>
                <a:tailEnd/>
              </a14:hiddenLine>
            </a:ext>
          </a:extLst>
        </p:spPr>
        <p:txBody>
          <a:bodyPr/>
          <a:lstStyle/>
          <a:p>
            <a:endParaRPr lang="en-IN"/>
          </a:p>
        </p:txBody>
      </p:sp>
      <p:sp>
        <p:nvSpPr>
          <p:cNvPr id="20519" name="Text Box 42"/>
          <p:cNvSpPr txBox="1">
            <a:spLocks noChangeArrowheads="1"/>
          </p:cNvSpPr>
          <p:nvPr/>
        </p:nvSpPr>
        <p:spPr bwMode="auto">
          <a:xfrm>
            <a:off x="6174432" y="3200778"/>
            <a:ext cx="1145705"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400" dirty="0">
                <a:latin typeface="+mj-lt"/>
              </a:rPr>
              <a:t>0   X   </a:t>
            </a:r>
            <a:r>
              <a:rPr lang="en-US" altLang="zh-CN" sz="2400" dirty="0" err="1">
                <a:latin typeface="+mj-lt"/>
              </a:rPr>
              <a:t>X</a:t>
            </a:r>
            <a:endParaRPr lang="en-US" altLang="zh-CN" sz="2400" dirty="0">
              <a:latin typeface="+mj-lt"/>
            </a:endParaRPr>
          </a:p>
          <a:p>
            <a:r>
              <a:rPr lang="en-US" altLang="zh-CN" sz="2400" dirty="0">
                <a:latin typeface="+mj-lt"/>
              </a:rPr>
              <a:t>1   0   0</a:t>
            </a:r>
          </a:p>
          <a:p>
            <a:r>
              <a:rPr lang="en-US" altLang="zh-CN" sz="2400" dirty="0">
                <a:latin typeface="+mj-lt"/>
              </a:rPr>
              <a:t>1   </a:t>
            </a:r>
            <a:r>
              <a:rPr lang="zh-CN" altLang="en-US" sz="2400" dirty="0">
                <a:latin typeface="+mj-lt"/>
              </a:rPr>
              <a:t>0   1</a:t>
            </a:r>
          </a:p>
          <a:p>
            <a:endParaRPr lang="en-US" altLang="zh-CN" sz="2400" dirty="0">
              <a:latin typeface="+mj-lt"/>
            </a:endParaRPr>
          </a:p>
          <a:p>
            <a:r>
              <a:rPr lang="en-US" altLang="zh-CN" sz="2400" dirty="0">
                <a:latin typeface="+mj-lt"/>
              </a:rPr>
              <a:t>1   </a:t>
            </a:r>
            <a:r>
              <a:rPr lang="zh-CN" altLang="en-US" sz="2400" dirty="0">
                <a:latin typeface="+mj-lt"/>
              </a:rPr>
              <a:t>1   0</a:t>
            </a:r>
          </a:p>
          <a:p>
            <a:endParaRPr lang="en-US" altLang="zh-CN" sz="2400" dirty="0">
              <a:latin typeface="+mj-lt"/>
            </a:endParaRPr>
          </a:p>
          <a:p>
            <a:r>
              <a:rPr lang="en-US" altLang="zh-CN" sz="2400" dirty="0">
                <a:latin typeface="+mj-lt"/>
              </a:rPr>
              <a:t>1   </a:t>
            </a:r>
            <a:r>
              <a:rPr lang="zh-CN" altLang="en-US" sz="2400" dirty="0">
                <a:latin typeface="+mj-lt"/>
              </a:rPr>
              <a:t>1   1</a:t>
            </a:r>
            <a:endParaRPr lang="en-US" altLang="zh-CN" sz="2400" dirty="0">
              <a:latin typeface="+mj-lt"/>
            </a:endParaRPr>
          </a:p>
          <a:p>
            <a:endParaRPr lang="zh-CN" altLang="en-US" sz="2800" dirty="0">
              <a:latin typeface="+mj-lt"/>
            </a:endParaRPr>
          </a:p>
        </p:txBody>
      </p:sp>
      <p:sp>
        <p:nvSpPr>
          <p:cNvPr id="20521" name="Line 44"/>
          <p:cNvSpPr>
            <a:spLocks noChangeShapeType="1"/>
          </p:cNvSpPr>
          <p:nvPr/>
        </p:nvSpPr>
        <p:spPr bwMode="auto">
          <a:xfrm>
            <a:off x="6096000" y="3212977"/>
            <a:ext cx="3312368" cy="11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0522" name="Line 45"/>
          <p:cNvSpPr>
            <a:spLocks noChangeShapeType="1"/>
          </p:cNvSpPr>
          <p:nvPr/>
        </p:nvSpPr>
        <p:spPr bwMode="auto">
          <a:xfrm>
            <a:off x="7332885" y="2707773"/>
            <a:ext cx="12750" cy="36015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 name="Rectangle 1"/>
          <p:cNvSpPr/>
          <p:nvPr/>
        </p:nvSpPr>
        <p:spPr>
          <a:xfrm>
            <a:off x="7104113" y="6300028"/>
            <a:ext cx="1533177" cy="369332"/>
          </a:xfrm>
          <a:prstGeom prst="rect">
            <a:avLst/>
          </a:prstGeom>
        </p:spPr>
        <p:txBody>
          <a:bodyPr wrap="none">
            <a:spAutoFit/>
          </a:bodyPr>
          <a:lstStyle/>
          <a:p>
            <a:r>
              <a:rPr lang="en-IN" dirty="0"/>
              <a:t>Function table</a:t>
            </a:r>
          </a:p>
        </p:txBody>
      </p:sp>
      <p:sp>
        <p:nvSpPr>
          <p:cNvPr id="17" name="Rectangle 16"/>
          <p:cNvSpPr/>
          <p:nvPr/>
        </p:nvSpPr>
        <p:spPr>
          <a:xfrm>
            <a:off x="3613698" y="3356992"/>
            <a:ext cx="1481559" cy="369332"/>
          </a:xfrm>
          <a:prstGeom prst="rect">
            <a:avLst/>
          </a:prstGeom>
        </p:spPr>
        <p:txBody>
          <a:bodyPr wrap="none">
            <a:spAutoFit/>
          </a:bodyPr>
          <a:lstStyle/>
          <a:p>
            <a:r>
              <a:rPr lang="en-IN" dirty="0"/>
              <a:t>Logic diagram</a:t>
            </a:r>
          </a:p>
        </p:txBody>
      </p:sp>
      <p:sp>
        <p:nvSpPr>
          <p:cNvPr id="3" name="Rectangle 2"/>
          <p:cNvSpPr/>
          <p:nvPr/>
        </p:nvSpPr>
        <p:spPr>
          <a:xfrm>
            <a:off x="8256241" y="2380818"/>
            <a:ext cx="1548373" cy="400110"/>
          </a:xfrm>
          <a:prstGeom prst="rect">
            <a:avLst/>
          </a:prstGeom>
        </p:spPr>
        <p:txBody>
          <a:bodyPr wrap="none">
            <a:spAutoFit/>
          </a:bodyPr>
          <a:lstStyle/>
          <a:p>
            <a:r>
              <a:rPr lang="en-IN" sz="2000" dirty="0">
                <a:latin typeface="Cambria Math" pitchFamily="18" charset="0"/>
                <a:ea typeface="Cambria Math" pitchFamily="18" charset="0"/>
              </a:rPr>
              <a:t>Next state of</a:t>
            </a: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7430" y="4581129"/>
            <a:ext cx="2838450" cy="164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Text Box 50"/>
          <p:cNvSpPr txBox="1">
            <a:spLocks noChangeArrowheads="1"/>
          </p:cNvSpPr>
          <p:nvPr/>
        </p:nvSpPr>
        <p:spPr bwMode="auto">
          <a:xfrm>
            <a:off x="8256240" y="3212977"/>
            <a:ext cx="24117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400" i="1" dirty="0">
                <a:solidFill>
                  <a:schemeClr val="hlink"/>
                </a:solidFill>
                <a:latin typeface="+mj-lt"/>
              </a:rPr>
              <a:t>Q</a:t>
            </a:r>
            <a:r>
              <a:rPr lang="zh-CN" altLang="en-US" sz="2400" i="1" dirty="0">
                <a:solidFill>
                  <a:schemeClr val="hlink"/>
                </a:solidFill>
                <a:latin typeface="+mj-lt"/>
              </a:rPr>
              <a:t>   </a:t>
            </a:r>
            <a:r>
              <a:rPr lang="en-US" altLang="zh-CN" sz="2400" i="1" dirty="0">
                <a:solidFill>
                  <a:schemeClr val="hlink"/>
                </a:solidFill>
                <a:latin typeface="+mj-lt"/>
              </a:rPr>
              <a:t>Q’</a:t>
            </a:r>
            <a:r>
              <a:rPr lang="zh-CN" altLang="en-US" sz="2400" i="1" dirty="0">
                <a:solidFill>
                  <a:schemeClr val="hlink"/>
                </a:solidFill>
                <a:latin typeface="+mj-lt"/>
              </a:rPr>
              <a:t>  </a:t>
            </a:r>
            <a:r>
              <a:rPr lang="en-US" altLang="zh-CN" sz="2400" i="1" dirty="0">
                <a:solidFill>
                  <a:srgbClr val="C00000"/>
                </a:solidFill>
                <a:latin typeface="+mj-lt"/>
              </a:rPr>
              <a:t>No change</a:t>
            </a:r>
          </a:p>
        </p:txBody>
      </p:sp>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72236" y="1268760"/>
            <a:ext cx="3779749" cy="1944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 name="Text Box 48"/>
          <p:cNvSpPr txBox="1">
            <a:spLocks noChangeArrowheads="1"/>
          </p:cNvSpPr>
          <p:nvPr/>
        </p:nvSpPr>
        <p:spPr bwMode="auto">
          <a:xfrm>
            <a:off x="4000400" y="1321604"/>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accent3">
                    <a:lumMod val="60000"/>
                    <a:lumOff val="40000"/>
                  </a:schemeClr>
                </a:solidFill>
                <a:latin typeface="+mj-lt"/>
              </a:rPr>
              <a:t>1</a:t>
            </a:r>
            <a:endParaRPr lang="zh-CN" altLang="en-US" sz="2800" dirty="0">
              <a:solidFill>
                <a:schemeClr val="accent3">
                  <a:lumMod val="60000"/>
                  <a:lumOff val="40000"/>
                </a:schemeClr>
              </a:solidFill>
              <a:latin typeface="+mj-lt"/>
            </a:endParaRPr>
          </a:p>
        </p:txBody>
      </p:sp>
      <p:sp>
        <p:nvSpPr>
          <p:cNvPr id="28" name="Text Box 48"/>
          <p:cNvSpPr txBox="1">
            <a:spLocks noChangeArrowheads="1"/>
          </p:cNvSpPr>
          <p:nvPr/>
        </p:nvSpPr>
        <p:spPr bwMode="auto">
          <a:xfrm>
            <a:off x="4000400" y="2689756"/>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accent3">
                    <a:lumMod val="60000"/>
                    <a:lumOff val="40000"/>
                  </a:schemeClr>
                </a:solidFill>
                <a:latin typeface="+mj-lt"/>
              </a:rPr>
              <a:t>0</a:t>
            </a:r>
            <a:endParaRPr lang="zh-CN" altLang="en-US" sz="2800" dirty="0">
              <a:solidFill>
                <a:schemeClr val="accent3">
                  <a:lumMod val="60000"/>
                  <a:lumOff val="40000"/>
                </a:schemeClr>
              </a:solidFill>
              <a:latin typeface="+mj-lt"/>
            </a:endParaRPr>
          </a:p>
        </p:txBody>
      </p:sp>
      <p:sp>
        <p:nvSpPr>
          <p:cNvPr id="29" name="Text Box 47"/>
          <p:cNvSpPr txBox="1">
            <a:spLocks noChangeArrowheads="1"/>
          </p:cNvSpPr>
          <p:nvPr/>
        </p:nvSpPr>
        <p:spPr bwMode="auto">
          <a:xfrm>
            <a:off x="2207568" y="1465620"/>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endParaRPr lang="zh-CN" altLang="en-US" sz="2800" dirty="0">
              <a:solidFill>
                <a:schemeClr val="hlink"/>
              </a:solidFill>
              <a:latin typeface="+mj-lt"/>
            </a:endParaRPr>
          </a:p>
        </p:txBody>
      </p:sp>
      <p:sp>
        <p:nvSpPr>
          <p:cNvPr id="30" name="Text Box 46"/>
          <p:cNvSpPr txBox="1">
            <a:spLocks noChangeArrowheads="1"/>
          </p:cNvSpPr>
          <p:nvPr/>
        </p:nvSpPr>
        <p:spPr bwMode="auto">
          <a:xfrm>
            <a:off x="2200200" y="2492896"/>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endParaRPr lang="zh-CN" altLang="en-US" sz="2800" dirty="0">
              <a:solidFill>
                <a:schemeClr val="hlink"/>
              </a:solidFill>
              <a:latin typeface="+mj-lt"/>
            </a:endParaRPr>
          </a:p>
        </p:txBody>
      </p:sp>
      <p:sp>
        <p:nvSpPr>
          <p:cNvPr id="35" name="Text Box 47"/>
          <p:cNvSpPr txBox="1">
            <a:spLocks noChangeArrowheads="1"/>
          </p:cNvSpPr>
          <p:nvPr/>
        </p:nvSpPr>
        <p:spPr bwMode="auto">
          <a:xfrm>
            <a:off x="1912168" y="1969676"/>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rgbClr val="C00000"/>
                </a:solidFill>
                <a:latin typeface="+mj-lt"/>
              </a:rPr>
              <a:t>1</a:t>
            </a:r>
            <a:endParaRPr lang="zh-CN" altLang="en-US" sz="2800" dirty="0">
              <a:solidFill>
                <a:srgbClr val="C00000"/>
              </a:solidFill>
              <a:latin typeface="+mj-lt"/>
            </a:endParaRPr>
          </a:p>
        </p:txBody>
      </p:sp>
      <p:sp>
        <p:nvSpPr>
          <p:cNvPr id="37" name="Text Box 42"/>
          <p:cNvSpPr txBox="1">
            <a:spLocks noChangeArrowheads="1"/>
          </p:cNvSpPr>
          <p:nvPr/>
        </p:nvSpPr>
        <p:spPr bwMode="auto">
          <a:xfrm>
            <a:off x="7398568" y="3212976"/>
            <a:ext cx="785665"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endParaRPr lang="en-US" altLang="zh-CN" sz="2400" dirty="0">
              <a:solidFill>
                <a:schemeClr val="accent1">
                  <a:lumMod val="60000"/>
                  <a:lumOff val="40000"/>
                </a:schemeClr>
              </a:solidFill>
              <a:latin typeface="+mj-lt"/>
            </a:endParaRPr>
          </a:p>
          <a:p>
            <a:endParaRPr lang="en-US" altLang="zh-CN" sz="2400" dirty="0">
              <a:solidFill>
                <a:schemeClr val="accent1">
                  <a:lumMod val="60000"/>
                  <a:lumOff val="40000"/>
                </a:schemeClr>
              </a:solidFill>
              <a:latin typeface="+mj-lt"/>
            </a:endParaRPr>
          </a:p>
          <a:p>
            <a:r>
              <a:rPr lang="en-US" altLang="zh-CN" sz="2400" dirty="0">
                <a:solidFill>
                  <a:schemeClr val="accent1">
                    <a:lumMod val="60000"/>
                    <a:lumOff val="40000"/>
                  </a:schemeClr>
                </a:solidFill>
              </a:rPr>
              <a:t>0   1</a:t>
            </a:r>
          </a:p>
          <a:p>
            <a:r>
              <a:rPr lang="en-US" altLang="zh-CN" sz="2400" dirty="0">
                <a:solidFill>
                  <a:schemeClr val="accent1">
                    <a:lumMod val="60000"/>
                    <a:lumOff val="40000"/>
                  </a:schemeClr>
                </a:solidFill>
              </a:rPr>
              <a:t>1   0</a:t>
            </a:r>
          </a:p>
          <a:p>
            <a:r>
              <a:rPr lang="en-US" altLang="zh-CN" sz="2400" dirty="0">
                <a:solidFill>
                  <a:schemeClr val="accent1">
                    <a:lumMod val="60000"/>
                    <a:lumOff val="40000"/>
                  </a:schemeClr>
                </a:solidFill>
              </a:rPr>
              <a:t>0   1</a:t>
            </a:r>
          </a:p>
          <a:p>
            <a:r>
              <a:rPr lang="en-US" altLang="zh-CN" sz="2400" dirty="0">
                <a:solidFill>
                  <a:schemeClr val="accent1">
                    <a:lumMod val="60000"/>
                    <a:lumOff val="40000"/>
                  </a:schemeClr>
                </a:solidFill>
              </a:rPr>
              <a:t>1   0</a:t>
            </a:r>
          </a:p>
          <a:p>
            <a:r>
              <a:rPr lang="en-US" altLang="zh-CN" sz="2400" dirty="0">
                <a:solidFill>
                  <a:schemeClr val="accent1">
                    <a:lumMod val="60000"/>
                    <a:lumOff val="40000"/>
                  </a:schemeClr>
                </a:solidFill>
              </a:rPr>
              <a:t>0   1</a:t>
            </a:r>
          </a:p>
          <a:p>
            <a:r>
              <a:rPr lang="en-US" altLang="zh-CN" sz="2400" dirty="0">
                <a:solidFill>
                  <a:schemeClr val="accent1">
                    <a:lumMod val="60000"/>
                    <a:lumOff val="40000"/>
                  </a:schemeClr>
                </a:solidFill>
              </a:rPr>
              <a:t>1   0</a:t>
            </a:r>
          </a:p>
        </p:txBody>
      </p:sp>
      <p:sp>
        <p:nvSpPr>
          <p:cNvPr id="39" name="Line 45"/>
          <p:cNvSpPr>
            <a:spLocks noChangeShapeType="1"/>
          </p:cNvSpPr>
          <p:nvPr/>
        </p:nvSpPr>
        <p:spPr bwMode="auto">
          <a:xfrm>
            <a:off x="8196981" y="2708920"/>
            <a:ext cx="12750" cy="35283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32" name="Text Box 50"/>
          <p:cNvSpPr txBox="1">
            <a:spLocks noChangeArrowheads="1"/>
          </p:cNvSpPr>
          <p:nvPr/>
        </p:nvSpPr>
        <p:spPr bwMode="auto">
          <a:xfrm>
            <a:off x="8256240" y="3573017"/>
            <a:ext cx="24117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400" i="1" dirty="0">
                <a:solidFill>
                  <a:schemeClr val="hlink"/>
                </a:solidFill>
                <a:latin typeface="+mj-lt"/>
              </a:rPr>
              <a:t>Q</a:t>
            </a:r>
            <a:r>
              <a:rPr lang="zh-CN" altLang="en-US" sz="2400" i="1" dirty="0">
                <a:solidFill>
                  <a:schemeClr val="hlink"/>
                </a:solidFill>
                <a:latin typeface="+mj-lt"/>
              </a:rPr>
              <a:t>   </a:t>
            </a:r>
            <a:r>
              <a:rPr lang="en-US" altLang="zh-CN" sz="2400" i="1" dirty="0">
                <a:solidFill>
                  <a:schemeClr val="hlink"/>
                </a:solidFill>
                <a:latin typeface="+mj-lt"/>
              </a:rPr>
              <a:t>Q’</a:t>
            </a:r>
            <a:r>
              <a:rPr lang="zh-CN" altLang="en-US" sz="2400" i="1" dirty="0">
                <a:solidFill>
                  <a:schemeClr val="hlink"/>
                </a:solidFill>
                <a:latin typeface="+mj-lt"/>
              </a:rPr>
              <a:t>  </a:t>
            </a:r>
            <a:r>
              <a:rPr lang="en-US" altLang="zh-CN" sz="2400" i="1" dirty="0">
                <a:solidFill>
                  <a:srgbClr val="C00000"/>
                </a:solidFill>
                <a:latin typeface="+mj-lt"/>
              </a:rPr>
              <a:t>No change</a:t>
            </a:r>
          </a:p>
        </p:txBody>
      </p:sp>
      <p:sp>
        <p:nvSpPr>
          <p:cNvPr id="23" name="Text Box 48"/>
          <p:cNvSpPr txBox="1">
            <a:spLocks noChangeArrowheads="1"/>
          </p:cNvSpPr>
          <p:nvPr/>
        </p:nvSpPr>
        <p:spPr bwMode="auto">
          <a:xfrm>
            <a:off x="5944616" y="1556792"/>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accent1">
                    <a:lumMod val="60000"/>
                    <a:lumOff val="40000"/>
                  </a:schemeClr>
                </a:solidFill>
                <a:latin typeface="+mj-lt"/>
              </a:rPr>
              <a:t>1</a:t>
            </a:r>
            <a:endParaRPr lang="zh-CN" altLang="en-US" sz="2800" dirty="0">
              <a:solidFill>
                <a:schemeClr val="accent1">
                  <a:lumMod val="60000"/>
                  <a:lumOff val="40000"/>
                </a:schemeClr>
              </a:solidFill>
              <a:latin typeface="+mj-lt"/>
            </a:endParaRPr>
          </a:p>
        </p:txBody>
      </p:sp>
      <p:sp>
        <p:nvSpPr>
          <p:cNvPr id="24" name="Text Box 48"/>
          <p:cNvSpPr txBox="1">
            <a:spLocks noChangeArrowheads="1"/>
          </p:cNvSpPr>
          <p:nvPr/>
        </p:nvSpPr>
        <p:spPr bwMode="auto">
          <a:xfrm>
            <a:off x="5951984" y="2401724"/>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accent1">
                    <a:lumMod val="60000"/>
                    <a:lumOff val="40000"/>
                  </a:schemeClr>
                </a:solidFill>
                <a:latin typeface="+mj-lt"/>
              </a:rPr>
              <a:t>0</a:t>
            </a:r>
            <a:endParaRPr lang="zh-CN" altLang="en-US" sz="2800" dirty="0">
              <a:solidFill>
                <a:schemeClr val="accent1">
                  <a:lumMod val="60000"/>
                  <a:lumOff val="40000"/>
                </a:schemeClr>
              </a:solidFill>
              <a:latin typeface="+mj-lt"/>
            </a:endParaRPr>
          </a:p>
        </p:txBody>
      </p:sp>
      <p:sp>
        <p:nvSpPr>
          <p:cNvPr id="25" name="Text Box 47"/>
          <p:cNvSpPr txBox="1">
            <a:spLocks noChangeArrowheads="1"/>
          </p:cNvSpPr>
          <p:nvPr/>
        </p:nvSpPr>
        <p:spPr bwMode="auto">
          <a:xfrm>
            <a:off x="6240016" y="1556792"/>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0</a:t>
            </a:r>
            <a:endParaRPr lang="zh-CN" altLang="en-US" sz="2800" dirty="0">
              <a:solidFill>
                <a:schemeClr val="hlink"/>
              </a:solidFill>
              <a:latin typeface="+mj-lt"/>
            </a:endParaRPr>
          </a:p>
        </p:txBody>
      </p:sp>
      <p:sp>
        <p:nvSpPr>
          <p:cNvPr id="31" name="Text Box 47"/>
          <p:cNvSpPr txBox="1">
            <a:spLocks noChangeArrowheads="1"/>
          </p:cNvSpPr>
          <p:nvPr/>
        </p:nvSpPr>
        <p:spPr bwMode="auto">
          <a:xfrm>
            <a:off x="6240016" y="2401724"/>
            <a:ext cx="3674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800" dirty="0">
                <a:solidFill>
                  <a:schemeClr val="hlink"/>
                </a:solidFill>
                <a:latin typeface="+mj-lt"/>
              </a:rPr>
              <a:t>1</a:t>
            </a:r>
            <a:endParaRPr lang="zh-CN" altLang="en-US" sz="2800" dirty="0">
              <a:solidFill>
                <a:schemeClr val="hlink"/>
              </a:solidFill>
              <a:latin typeface="+mj-lt"/>
            </a:endParaRPr>
          </a:p>
        </p:txBody>
      </p:sp>
      <p:sp>
        <p:nvSpPr>
          <p:cNvPr id="33" name="Text Box 50"/>
          <p:cNvSpPr txBox="1">
            <a:spLocks noChangeArrowheads="1"/>
          </p:cNvSpPr>
          <p:nvPr/>
        </p:nvSpPr>
        <p:spPr bwMode="auto">
          <a:xfrm>
            <a:off x="8292752" y="3933057"/>
            <a:ext cx="24117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400" dirty="0">
                <a:solidFill>
                  <a:schemeClr val="hlink"/>
                </a:solidFill>
                <a:latin typeface="+mj-lt"/>
              </a:rPr>
              <a:t>0</a:t>
            </a:r>
            <a:r>
              <a:rPr lang="zh-CN" altLang="en-US" sz="2400" dirty="0">
                <a:solidFill>
                  <a:schemeClr val="hlink"/>
                </a:solidFill>
                <a:latin typeface="+mj-lt"/>
              </a:rPr>
              <a:t>    </a:t>
            </a:r>
            <a:r>
              <a:rPr lang="en-US" altLang="zh-CN" sz="2400" dirty="0">
                <a:solidFill>
                  <a:schemeClr val="hlink"/>
                </a:solidFill>
                <a:latin typeface="+mj-lt"/>
              </a:rPr>
              <a:t>1</a:t>
            </a:r>
            <a:endParaRPr lang="en-US" altLang="zh-CN" sz="2400" i="1" dirty="0">
              <a:solidFill>
                <a:srgbClr val="C00000"/>
              </a:solidFill>
              <a:latin typeface="+mj-lt"/>
            </a:endParaRPr>
          </a:p>
        </p:txBody>
      </p:sp>
      <p:sp>
        <p:nvSpPr>
          <p:cNvPr id="34" name="Text Box 50"/>
          <p:cNvSpPr txBox="1">
            <a:spLocks noChangeArrowheads="1"/>
          </p:cNvSpPr>
          <p:nvPr/>
        </p:nvSpPr>
        <p:spPr bwMode="auto">
          <a:xfrm>
            <a:off x="8292752" y="4293097"/>
            <a:ext cx="24117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400" dirty="0">
                <a:solidFill>
                  <a:schemeClr val="hlink"/>
                </a:solidFill>
                <a:latin typeface="+mj-lt"/>
              </a:rPr>
              <a:t>0</a:t>
            </a:r>
            <a:r>
              <a:rPr lang="zh-CN" altLang="en-US" sz="2400" dirty="0">
                <a:solidFill>
                  <a:schemeClr val="hlink"/>
                </a:solidFill>
                <a:latin typeface="+mj-lt"/>
              </a:rPr>
              <a:t>    </a:t>
            </a:r>
            <a:r>
              <a:rPr lang="en-US" altLang="zh-CN" sz="2400" dirty="0">
                <a:solidFill>
                  <a:schemeClr val="hlink"/>
                </a:solidFill>
                <a:latin typeface="+mj-lt"/>
              </a:rPr>
              <a:t>1   </a:t>
            </a:r>
            <a:r>
              <a:rPr lang="en-US" altLang="zh-CN" sz="2400" i="1" dirty="0">
                <a:solidFill>
                  <a:srgbClr val="C00000"/>
                </a:solidFill>
                <a:latin typeface="+mj-lt"/>
              </a:rPr>
              <a:t>Reset</a:t>
            </a:r>
          </a:p>
        </p:txBody>
      </p:sp>
      <p:sp>
        <p:nvSpPr>
          <p:cNvPr id="36" name="Text Box 50"/>
          <p:cNvSpPr txBox="1">
            <a:spLocks noChangeArrowheads="1"/>
          </p:cNvSpPr>
          <p:nvPr/>
        </p:nvSpPr>
        <p:spPr bwMode="auto">
          <a:xfrm>
            <a:off x="8292752" y="4695528"/>
            <a:ext cx="24117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400" dirty="0">
                <a:solidFill>
                  <a:schemeClr val="hlink"/>
                </a:solidFill>
                <a:latin typeface="+mj-lt"/>
              </a:rPr>
              <a:t>1</a:t>
            </a:r>
            <a:r>
              <a:rPr lang="zh-CN" altLang="en-US" sz="2400" dirty="0">
                <a:solidFill>
                  <a:schemeClr val="hlink"/>
                </a:solidFill>
                <a:latin typeface="+mj-lt"/>
              </a:rPr>
              <a:t>    </a:t>
            </a:r>
            <a:r>
              <a:rPr lang="en-US" altLang="zh-CN" sz="2400" dirty="0">
                <a:solidFill>
                  <a:schemeClr val="hlink"/>
                </a:solidFill>
                <a:latin typeface="+mj-lt"/>
              </a:rPr>
              <a:t>0</a:t>
            </a:r>
            <a:endParaRPr lang="en-US" altLang="zh-CN" sz="2400" i="1" dirty="0">
              <a:solidFill>
                <a:srgbClr val="C00000"/>
              </a:solidFill>
              <a:latin typeface="+mj-lt"/>
            </a:endParaRPr>
          </a:p>
        </p:txBody>
      </p:sp>
      <p:sp>
        <p:nvSpPr>
          <p:cNvPr id="38" name="Text Box 50"/>
          <p:cNvSpPr txBox="1">
            <a:spLocks noChangeArrowheads="1"/>
          </p:cNvSpPr>
          <p:nvPr/>
        </p:nvSpPr>
        <p:spPr bwMode="auto">
          <a:xfrm>
            <a:off x="8292752" y="5055568"/>
            <a:ext cx="24117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400" dirty="0">
                <a:solidFill>
                  <a:schemeClr val="hlink"/>
                </a:solidFill>
                <a:latin typeface="+mj-lt"/>
              </a:rPr>
              <a:t>1</a:t>
            </a:r>
            <a:r>
              <a:rPr lang="zh-CN" altLang="en-US" sz="2400" dirty="0">
                <a:solidFill>
                  <a:schemeClr val="hlink"/>
                </a:solidFill>
                <a:latin typeface="+mj-lt"/>
              </a:rPr>
              <a:t>    </a:t>
            </a:r>
            <a:r>
              <a:rPr lang="en-US" altLang="zh-CN" sz="2400" dirty="0">
                <a:solidFill>
                  <a:schemeClr val="hlink"/>
                </a:solidFill>
                <a:latin typeface="+mj-lt"/>
              </a:rPr>
              <a:t>0   </a:t>
            </a:r>
            <a:r>
              <a:rPr lang="en-US" altLang="zh-CN" sz="2400" i="1" dirty="0">
                <a:solidFill>
                  <a:srgbClr val="C00000"/>
                </a:solidFill>
                <a:latin typeface="+mj-lt"/>
              </a:rPr>
              <a:t>Set</a:t>
            </a:r>
          </a:p>
        </p:txBody>
      </p:sp>
      <p:sp>
        <p:nvSpPr>
          <p:cNvPr id="40" name="Text Box 50"/>
          <p:cNvSpPr txBox="1">
            <a:spLocks noChangeArrowheads="1"/>
          </p:cNvSpPr>
          <p:nvPr/>
        </p:nvSpPr>
        <p:spPr bwMode="auto">
          <a:xfrm>
            <a:off x="8292752" y="5415608"/>
            <a:ext cx="24117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400" dirty="0">
                <a:solidFill>
                  <a:schemeClr val="hlink"/>
                </a:solidFill>
                <a:latin typeface="+mj-lt"/>
              </a:rPr>
              <a:t>1</a:t>
            </a:r>
            <a:r>
              <a:rPr lang="zh-CN" altLang="en-US" sz="2400" dirty="0">
                <a:solidFill>
                  <a:schemeClr val="hlink"/>
                </a:solidFill>
                <a:latin typeface="+mj-lt"/>
              </a:rPr>
              <a:t>    </a:t>
            </a:r>
            <a:r>
              <a:rPr lang="en-US" altLang="zh-CN" sz="2400" dirty="0">
                <a:solidFill>
                  <a:schemeClr val="hlink"/>
                </a:solidFill>
                <a:latin typeface="+mj-lt"/>
              </a:rPr>
              <a:t>0</a:t>
            </a:r>
            <a:endParaRPr lang="en-US" altLang="zh-CN" sz="2400" i="1" dirty="0">
              <a:solidFill>
                <a:srgbClr val="C00000"/>
              </a:solidFill>
              <a:latin typeface="+mj-lt"/>
            </a:endParaRPr>
          </a:p>
        </p:txBody>
      </p:sp>
      <p:sp>
        <p:nvSpPr>
          <p:cNvPr id="41" name="Text Box 50"/>
          <p:cNvSpPr txBox="1">
            <a:spLocks noChangeArrowheads="1"/>
          </p:cNvSpPr>
          <p:nvPr/>
        </p:nvSpPr>
        <p:spPr bwMode="auto">
          <a:xfrm>
            <a:off x="8292752" y="5775648"/>
            <a:ext cx="24117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r>
              <a:rPr lang="en-US" altLang="zh-CN" sz="2400" dirty="0">
                <a:solidFill>
                  <a:schemeClr val="hlink"/>
                </a:solidFill>
                <a:latin typeface="+mj-lt"/>
              </a:rPr>
              <a:t>0</a:t>
            </a:r>
            <a:r>
              <a:rPr lang="zh-CN" altLang="en-US" sz="2400" dirty="0">
                <a:solidFill>
                  <a:schemeClr val="hlink"/>
                </a:solidFill>
                <a:latin typeface="+mj-lt"/>
              </a:rPr>
              <a:t>    </a:t>
            </a:r>
            <a:r>
              <a:rPr lang="en-US" altLang="zh-CN" sz="2400" dirty="0">
                <a:solidFill>
                  <a:schemeClr val="hlink"/>
                </a:solidFill>
                <a:latin typeface="+mj-lt"/>
              </a:rPr>
              <a:t>1 </a:t>
            </a:r>
            <a:r>
              <a:rPr lang="en-IN" sz="2400" i="1" dirty="0">
                <a:solidFill>
                  <a:srgbClr val="C00000"/>
                </a:solidFill>
              </a:rPr>
              <a:t>Complement</a:t>
            </a:r>
            <a:endParaRPr lang="en-US" altLang="zh-CN" sz="2400" i="1" dirty="0">
              <a:solidFill>
                <a:srgbClr val="C00000"/>
              </a:solidFill>
              <a:latin typeface="+mj-lt"/>
            </a:endParaRPr>
          </a:p>
        </p:txBody>
      </p:sp>
      <mc:AlternateContent xmlns:mc="http://schemas.openxmlformats.org/markup-compatibility/2006" xmlns:a14="http://schemas.microsoft.com/office/drawing/2010/main">
        <mc:Choice Requires="a14">
          <p:sp>
            <p:nvSpPr>
              <p:cNvPr id="42" name="Text Box 43"/>
              <p:cNvSpPr txBox="1">
                <a:spLocks noChangeArrowheads="1"/>
              </p:cNvSpPr>
              <p:nvPr/>
            </p:nvSpPr>
            <p:spPr bwMode="auto">
              <a:xfrm>
                <a:off x="5879977" y="2707774"/>
                <a:ext cx="3278077" cy="50520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Char char="»"/>
                  <a:defRPr sz="2000">
                    <a:solidFill>
                      <a:schemeClr val="tx1"/>
                    </a:solidFill>
                    <a:latin typeface="Calibri" pitchFamily="34" charset="0"/>
                  </a:defRPr>
                </a:lvl6pPr>
                <a:lvl7pPr eaLnBrk="0" fontAlgn="base" hangingPunct="0">
                  <a:spcAft>
                    <a:spcPct val="0"/>
                  </a:spcAft>
                  <a:buChar char="»"/>
                  <a:defRPr sz="2000">
                    <a:solidFill>
                      <a:schemeClr val="tx1"/>
                    </a:solidFill>
                    <a:latin typeface="Calibri" pitchFamily="34" charset="0"/>
                  </a:defRPr>
                </a:lvl7pPr>
                <a:lvl8pPr eaLnBrk="0" fontAlgn="base" hangingPunct="0">
                  <a:spcAft>
                    <a:spcPct val="0"/>
                  </a:spcAft>
                  <a:buChar char="»"/>
                  <a:defRPr sz="2000">
                    <a:solidFill>
                      <a:schemeClr val="tx1"/>
                    </a:solidFill>
                    <a:latin typeface="Calibri" pitchFamily="34" charset="0"/>
                  </a:defRPr>
                </a:lvl8pPr>
                <a:lvl9pPr eaLnBrk="0" fontAlgn="base" hangingPunct="0">
                  <a:spcAft>
                    <a:spcPct val="0"/>
                  </a:spcAft>
                  <a:buChar char="»"/>
                  <a:defRPr sz="2000">
                    <a:solidFill>
                      <a:schemeClr val="tx1"/>
                    </a:solidFill>
                    <a:latin typeface="Calibri" pitchFamily="34" charset="0"/>
                  </a:defRPr>
                </a:lvl9pPr>
              </a:lstStyle>
              <a:p>
                <a:pPr/>
                <a14:m>
                  <m:oMathPara xmlns:m="http://schemas.openxmlformats.org/officeDocument/2006/math">
                    <m:oMathParaPr>
                      <m:jc m:val="centerGroup"/>
                    </m:oMathParaPr>
                    <m:oMath xmlns:m="http://schemas.openxmlformats.org/officeDocument/2006/math">
                      <m:r>
                        <a:rPr lang="en-US" altLang="zh-CN" sz="2400" i="1" dirty="0">
                          <a:latin typeface="Cambria Math"/>
                        </a:rPr>
                        <m:t>𝐶𝑙𝑘</m:t>
                      </m:r>
                      <m:r>
                        <a:rPr lang="en-US" altLang="zh-CN" sz="2400" i="1" dirty="0">
                          <a:latin typeface="Cambria Math"/>
                        </a:rPr>
                        <m:t>   </m:t>
                      </m:r>
                      <m:r>
                        <a:rPr lang="en-US" altLang="zh-CN" sz="2400" i="1" dirty="0">
                          <a:latin typeface="Cambria Math"/>
                        </a:rPr>
                        <m:t>𝐽</m:t>
                      </m:r>
                      <m:r>
                        <a:rPr lang="en-US" altLang="zh-CN" sz="2400" i="1" dirty="0">
                          <a:latin typeface="Cambria Math"/>
                        </a:rPr>
                        <m:t>  </m:t>
                      </m:r>
                      <m:r>
                        <a:rPr lang="en-US" altLang="zh-CN" sz="2400" i="1" dirty="0">
                          <a:latin typeface="Cambria Math"/>
                        </a:rPr>
                        <m:t>𝐾</m:t>
                      </m:r>
                      <m:r>
                        <a:rPr lang="en-US" altLang="zh-CN" sz="2400" i="1" dirty="0">
                          <a:latin typeface="Cambria Math"/>
                        </a:rPr>
                        <m:t>    </m:t>
                      </m:r>
                      <m:r>
                        <a:rPr lang="en-US" altLang="zh-CN" sz="2400" i="1" dirty="0">
                          <a:latin typeface="Cambria Math"/>
                        </a:rPr>
                        <m:t>𝑄</m:t>
                      </m:r>
                      <m:r>
                        <a:rPr lang="en-US" altLang="zh-CN" sz="2400" i="1" dirty="0">
                          <a:latin typeface="Cambria Math"/>
                        </a:rPr>
                        <m:t>   </m:t>
                      </m:r>
                      <m:bar>
                        <m:barPr>
                          <m:pos m:val="top"/>
                          <m:ctrlPr>
                            <a:rPr lang="en-US" altLang="zh-CN" sz="2400" i="1">
                              <a:latin typeface="Cambria Math" panose="02040503050406030204" pitchFamily="18" charset="0"/>
                            </a:rPr>
                          </m:ctrlPr>
                        </m:barPr>
                        <m:e>
                          <m:r>
                            <a:rPr lang="en-US" altLang="zh-CN" sz="2400" i="1">
                              <a:latin typeface="Cambria Math"/>
                            </a:rPr>
                            <m:t>𝑄</m:t>
                          </m:r>
                        </m:e>
                      </m:bar>
                      <m:r>
                        <a:rPr lang="en-US" altLang="zh-CN" sz="2400" i="1">
                          <a:latin typeface="Cambria Math"/>
                        </a:rPr>
                        <m:t>     </m:t>
                      </m:r>
                      <m:r>
                        <a:rPr lang="en-US" altLang="zh-CN" sz="2400" i="1" dirty="0">
                          <a:latin typeface="Cambria Math"/>
                        </a:rPr>
                        <m:t>𝑄</m:t>
                      </m:r>
                      <m:r>
                        <a:rPr lang="en-US" altLang="zh-CN" sz="2400" i="1" dirty="0">
                          <a:latin typeface="Cambria Math"/>
                        </a:rPr>
                        <m:t>   </m:t>
                      </m:r>
                      <m:bar>
                        <m:barPr>
                          <m:pos m:val="top"/>
                          <m:ctrlPr>
                            <a:rPr lang="en-US" altLang="zh-CN" sz="2400" i="1">
                              <a:latin typeface="Cambria Math" panose="02040503050406030204" pitchFamily="18" charset="0"/>
                            </a:rPr>
                          </m:ctrlPr>
                        </m:barPr>
                        <m:e>
                          <m:r>
                            <a:rPr lang="en-US" altLang="zh-CN" sz="2400" i="1">
                              <a:latin typeface="Cambria Math"/>
                            </a:rPr>
                            <m:t>𝑄</m:t>
                          </m:r>
                        </m:e>
                      </m:bar>
                    </m:oMath>
                  </m:oMathPara>
                </a14:m>
                <a:endParaRPr lang="en-US" altLang="zh-CN" sz="2400" i="1" dirty="0">
                  <a:latin typeface="+mj-lt"/>
                </a:endParaRPr>
              </a:p>
            </p:txBody>
          </p:sp>
        </mc:Choice>
        <mc:Fallback xmlns="">
          <p:sp>
            <p:nvSpPr>
              <p:cNvPr id="42" name="Text Box 43"/>
              <p:cNvSpPr txBox="1">
                <a:spLocks noRot="1" noChangeAspect="1" noMove="1" noResize="1" noEditPoints="1" noAdjustHandles="1" noChangeArrowheads="1" noChangeShapeType="1" noTextEdit="1"/>
              </p:cNvSpPr>
              <p:nvPr/>
            </p:nvSpPr>
            <p:spPr bwMode="auto">
              <a:xfrm>
                <a:off x="5879977" y="2707774"/>
                <a:ext cx="3278077" cy="505203"/>
              </a:xfrm>
              <a:prstGeom prst="rect">
                <a:avLst/>
              </a:prstGeom>
              <a:blipFill>
                <a:blip r:embed="rId5"/>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N">
                    <a:noFill/>
                  </a:rPr>
                  <a:t> </a:t>
                </a:r>
              </a:p>
            </p:txBody>
          </p:sp>
        </mc:Fallback>
      </mc:AlternateContent>
    </p:spTree>
    <p:extLst>
      <p:ext uri="{BB962C8B-B14F-4D97-AF65-F5344CB8AC3E}">
        <p14:creationId xmlns:p14="http://schemas.microsoft.com/office/powerpoint/2010/main" val="143746503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P spid="25" grpId="0"/>
      <p:bldP spid="31" grpId="0"/>
      <p:bldP spid="41"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i="1" dirty="0">
                <a:solidFill>
                  <a:srgbClr val="0070C0"/>
                </a:solidFill>
              </a:rPr>
              <a:t>JK</a:t>
            </a:r>
            <a:r>
              <a:rPr lang="en-IN" dirty="0">
                <a:solidFill>
                  <a:srgbClr val="0070C0"/>
                </a:solidFill>
              </a:rPr>
              <a:t> Flip-Flop</a:t>
            </a:r>
            <a:endParaRPr lang="en-IN" dirty="0"/>
          </a:p>
        </p:txBody>
      </p:sp>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7688" y="1718692"/>
            <a:ext cx="2000250" cy="163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240017" y="1700809"/>
            <a:ext cx="2943225" cy="1876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25366" y="3717032"/>
            <a:ext cx="2914650"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88089" y="4139530"/>
            <a:ext cx="2486025" cy="180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60280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arn(inVertic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026"/>
                                        </p:tgtEl>
                                        <p:attrNameLst>
                                          <p:attrName>style.visibility</p:attrName>
                                        </p:attrNameLst>
                                      </p:cBhvr>
                                      <p:to>
                                        <p:strVal val="visible"/>
                                      </p:to>
                                    </p:set>
                                    <p:animEffect transition="in" filter="barn(inVertical)">
                                      <p:cBhvr>
                                        <p:cTn id="22"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i="1" dirty="0">
                <a:solidFill>
                  <a:srgbClr val="0070C0"/>
                </a:solidFill>
              </a:rPr>
              <a:t>T</a:t>
            </a:r>
            <a:r>
              <a:rPr lang="en-IN" dirty="0">
                <a:solidFill>
                  <a:srgbClr val="0070C0"/>
                </a:solidFill>
              </a:rPr>
              <a:t> Flip-Flop</a:t>
            </a:r>
            <a:endParaRPr lang="en-IN" dirty="0"/>
          </a:p>
        </p:txBody>
      </p:sp>
      <p:sp>
        <p:nvSpPr>
          <p:cNvPr id="3" name="Content Placeholder 2"/>
          <p:cNvSpPr>
            <a:spLocks noGrp="1"/>
          </p:cNvSpPr>
          <p:nvPr>
            <p:ph idx="1"/>
          </p:nvPr>
        </p:nvSpPr>
        <p:spPr/>
        <p:txBody>
          <a:bodyPr>
            <a:normAutofit/>
          </a:bodyPr>
          <a:lstStyle/>
          <a:p>
            <a:pPr algn="just"/>
            <a:r>
              <a:rPr lang="en-US" dirty="0"/>
              <a:t>The </a:t>
            </a:r>
            <a:r>
              <a:rPr lang="en-US" i="1" dirty="0"/>
              <a:t>T </a:t>
            </a:r>
            <a:r>
              <a:rPr lang="en-US" dirty="0"/>
              <a:t>(toggle) flip-flop is a complementing flip-flop and can be obtained from a </a:t>
            </a:r>
            <a:r>
              <a:rPr lang="en-US" i="1" dirty="0"/>
              <a:t>JK </a:t>
            </a:r>
            <a:r>
              <a:rPr lang="en-US" dirty="0"/>
              <a:t>flip-flop when inputs </a:t>
            </a:r>
            <a:r>
              <a:rPr lang="en-US" i="1" dirty="0"/>
              <a:t>J </a:t>
            </a:r>
            <a:r>
              <a:rPr lang="en-US" dirty="0"/>
              <a:t>and </a:t>
            </a:r>
            <a:r>
              <a:rPr lang="en-US" i="1" dirty="0"/>
              <a:t>K </a:t>
            </a:r>
            <a:r>
              <a:rPr lang="en-US" dirty="0"/>
              <a:t>are tied together. </a:t>
            </a:r>
          </a:p>
          <a:p>
            <a:pPr algn="just"/>
            <a:r>
              <a:rPr lang="en-US" dirty="0"/>
              <a:t>When </a:t>
            </a:r>
            <a:r>
              <a:rPr lang="en-US" i="1" dirty="0"/>
              <a:t>T </a:t>
            </a:r>
            <a:r>
              <a:rPr lang="en-US" dirty="0"/>
              <a:t>= 0 (</a:t>
            </a:r>
            <a:r>
              <a:rPr lang="en-US" i="1" dirty="0"/>
              <a:t>J </a:t>
            </a:r>
            <a:r>
              <a:rPr lang="en-US" dirty="0"/>
              <a:t>= </a:t>
            </a:r>
            <a:r>
              <a:rPr lang="en-US" i="1" dirty="0"/>
              <a:t>K </a:t>
            </a:r>
            <a:r>
              <a:rPr lang="en-US" dirty="0"/>
              <a:t>= 0), a clock edge does not change the output.</a:t>
            </a:r>
          </a:p>
          <a:p>
            <a:pPr algn="just"/>
            <a:r>
              <a:rPr lang="en-US" dirty="0"/>
              <a:t>When </a:t>
            </a:r>
            <a:r>
              <a:rPr lang="en-US" i="1" dirty="0"/>
              <a:t>T </a:t>
            </a:r>
            <a:r>
              <a:rPr lang="en-US" dirty="0"/>
              <a:t>= 1 (</a:t>
            </a:r>
            <a:r>
              <a:rPr lang="en-US" i="1" dirty="0"/>
              <a:t>J </a:t>
            </a:r>
            <a:r>
              <a:rPr lang="en-US" dirty="0"/>
              <a:t>= </a:t>
            </a:r>
            <a:r>
              <a:rPr lang="en-US" i="1" dirty="0"/>
              <a:t>K </a:t>
            </a:r>
            <a:r>
              <a:rPr lang="en-US" dirty="0"/>
              <a:t>= 1), a clock edge complements the output.</a:t>
            </a:r>
          </a:p>
          <a:p>
            <a:pPr algn="just"/>
            <a:r>
              <a:rPr lang="en-US" dirty="0"/>
              <a:t>The complementing flip-flop is useful for designing </a:t>
            </a:r>
            <a:r>
              <a:rPr lang="en-IN" dirty="0"/>
              <a:t>binary counters.</a:t>
            </a:r>
          </a:p>
        </p:txBody>
      </p:sp>
    </p:spTree>
    <p:extLst>
      <p:ext uri="{BB962C8B-B14F-4D97-AF65-F5344CB8AC3E}">
        <p14:creationId xmlns:p14="http://schemas.microsoft.com/office/powerpoint/2010/main" val="3307781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i="1" dirty="0">
                <a:solidFill>
                  <a:srgbClr val="0070C0"/>
                </a:solidFill>
              </a:rPr>
              <a:t>T</a:t>
            </a:r>
            <a:r>
              <a:rPr lang="en-IN" dirty="0">
                <a:solidFill>
                  <a:srgbClr val="0070C0"/>
                </a:solidFill>
              </a:rPr>
              <a:t> Flip-Flop</a:t>
            </a:r>
            <a:endParaRPr lang="en-IN"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4032" y="1528192"/>
            <a:ext cx="4464496" cy="2448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5520" y="1052736"/>
            <a:ext cx="3512418" cy="2267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Content Placeholder 6"/>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6888088" y="4164682"/>
            <a:ext cx="3600400" cy="2000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4045" y="3861048"/>
            <a:ext cx="4255368" cy="2448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55214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074"/>
                                        </p:tgtEl>
                                        <p:attrNameLst>
                                          <p:attrName>style.visibility</p:attrName>
                                        </p:attrNameLst>
                                      </p:cBhvr>
                                      <p:to>
                                        <p:strVal val="visible"/>
                                      </p:to>
                                    </p:set>
                                    <p:animEffect transition="in" filter="barn(inVertical)">
                                      <p:cBhvr>
                                        <p:cTn id="17" dur="500"/>
                                        <p:tgtEl>
                                          <p:spTgt spid="3074"/>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075"/>
                                        </p:tgtEl>
                                        <p:attrNameLst>
                                          <p:attrName>style.visibility</p:attrName>
                                        </p:attrNameLst>
                                      </p:cBhvr>
                                      <p:to>
                                        <p:strVal val="visible"/>
                                      </p:to>
                                    </p:set>
                                    <p:animEffect transition="in" filter="barn(inVertical)">
                                      <p:cBhvr>
                                        <p:cTn id="22" dur="500"/>
                                        <p:tgtEl>
                                          <p:spTgt spid="3075"/>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arn(inVertical)">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44624"/>
            <a:ext cx="8229600" cy="706090"/>
          </a:xfrm>
        </p:spPr>
        <p:txBody>
          <a:bodyPr>
            <a:normAutofit fontScale="90000"/>
          </a:bodyPr>
          <a:lstStyle/>
          <a:p>
            <a:r>
              <a:rPr lang="en-IN" dirty="0">
                <a:solidFill>
                  <a:srgbClr val="002060"/>
                </a:solidFill>
              </a:rPr>
              <a:t>Direct Inputs</a:t>
            </a:r>
          </a:p>
        </p:txBody>
      </p:sp>
      <p:sp>
        <p:nvSpPr>
          <p:cNvPr id="3" name="Content Placeholder 2"/>
          <p:cNvSpPr>
            <a:spLocks noGrp="1"/>
          </p:cNvSpPr>
          <p:nvPr>
            <p:ph idx="1"/>
          </p:nvPr>
        </p:nvSpPr>
        <p:spPr>
          <a:xfrm>
            <a:off x="407368" y="692696"/>
            <a:ext cx="11521280" cy="5976664"/>
          </a:xfrm>
        </p:spPr>
        <p:txBody>
          <a:bodyPr>
            <a:noAutofit/>
          </a:bodyPr>
          <a:lstStyle/>
          <a:p>
            <a:pPr algn="just"/>
            <a:r>
              <a:rPr lang="en-US" dirty="0"/>
              <a:t>Some flip-flops have the direct inputs (Asynchronous inputs) in Flip-Flop that is used to initialize the internal state to a known value.</a:t>
            </a:r>
          </a:p>
          <a:p>
            <a:pPr algn="just"/>
            <a:r>
              <a:rPr lang="en-US" dirty="0"/>
              <a:t>These inputs are called the </a:t>
            </a:r>
            <a:r>
              <a:rPr lang="en-US" dirty="0">
                <a:highlight>
                  <a:srgbClr val="FFFF00"/>
                </a:highlight>
              </a:rPr>
              <a:t>preset (PRE) and clear (CLR)</a:t>
            </a:r>
            <a:r>
              <a:rPr lang="en-US" dirty="0"/>
              <a:t>.</a:t>
            </a:r>
          </a:p>
          <a:p>
            <a:pPr algn="just"/>
            <a:r>
              <a:rPr lang="en-US" dirty="0"/>
              <a:t>These inputs are used to set the start condition of the flip-flop - CLR sets Q to 0; PR sets Q to 1.</a:t>
            </a:r>
          </a:p>
          <a:p>
            <a:pPr algn="just"/>
            <a:r>
              <a:rPr lang="en-US" sz="2800" dirty="0"/>
              <a:t>The input that sets the flip-flop to </a:t>
            </a:r>
            <a:r>
              <a:rPr lang="en-US" sz="2800" dirty="0">
                <a:solidFill>
                  <a:srgbClr val="002060"/>
                </a:solidFill>
              </a:rPr>
              <a:t>1</a:t>
            </a:r>
            <a:r>
              <a:rPr lang="en-US" sz="2800" dirty="0"/>
              <a:t> is called </a:t>
            </a:r>
            <a:r>
              <a:rPr lang="en-US" sz="2800" i="1" dirty="0">
                <a:solidFill>
                  <a:srgbClr val="002060"/>
                </a:solidFill>
              </a:rPr>
              <a:t>preset</a:t>
            </a:r>
            <a:r>
              <a:rPr lang="en-US" sz="2800" i="1" dirty="0"/>
              <a:t> </a:t>
            </a:r>
            <a:r>
              <a:rPr lang="en-US" sz="2800" dirty="0"/>
              <a:t>or </a:t>
            </a:r>
            <a:r>
              <a:rPr lang="en-US" sz="2800" i="1" dirty="0">
                <a:solidFill>
                  <a:srgbClr val="002060"/>
                </a:solidFill>
              </a:rPr>
              <a:t>direct set</a:t>
            </a:r>
            <a:r>
              <a:rPr lang="en-US" sz="2800" dirty="0"/>
              <a:t>.</a:t>
            </a:r>
          </a:p>
          <a:p>
            <a:pPr algn="just"/>
            <a:r>
              <a:rPr lang="en-US" sz="2800" dirty="0"/>
              <a:t>The input that clears the flip-flop to </a:t>
            </a:r>
            <a:r>
              <a:rPr lang="en-US" sz="2800" dirty="0">
                <a:solidFill>
                  <a:srgbClr val="002060"/>
                </a:solidFill>
              </a:rPr>
              <a:t>0</a:t>
            </a:r>
            <a:r>
              <a:rPr lang="en-US" sz="2800" dirty="0"/>
              <a:t> is called </a:t>
            </a:r>
            <a:r>
              <a:rPr lang="en-US" sz="2800" i="1" dirty="0">
                <a:solidFill>
                  <a:srgbClr val="002060"/>
                </a:solidFill>
              </a:rPr>
              <a:t>clear</a:t>
            </a:r>
            <a:r>
              <a:rPr lang="en-US" sz="2800" i="1" dirty="0"/>
              <a:t> </a:t>
            </a:r>
            <a:r>
              <a:rPr lang="en-US" sz="2800" dirty="0"/>
              <a:t>or </a:t>
            </a:r>
            <a:r>
              <a:rPr lang="en-US" sz="2800" i="1" dirty="0">
                <a:solidFill>
                  <a:srgbClr val="002060"/>
                </a:solidFill>
              </a:rPr>
              <a:t>direct reset</a:t>
            </a:r>
            <a:r>
              <a:rPr lang="en-US" sz="2800" dirty="0"/>
              <a:t>.</a:t>
            </a:r>
          </a:p>
          <a:p>
            <a:pPr algn="just"/>
            <a:r>
              <a:rPr lang="en-US" sz="2800" dirty="0"/>
              <a:t>When power is turned on in a digital system, the state of the flip-flops is unknown. The direct inputs are useful for bringing all flip-flops in the system to a known starting state prior to the clocked operation.</a:t>
            </a:r>
            <a:endParaRPr lang="en-IN" sz="2800" dirty="0"/>
          </a:p>
        </p:txBody>
      </p:sp>
    </p:spTree>
    <p:extLst>
      <p:ext uri="{BB962C8B-B14F-4D97-AF65-F5344CB8AC3E}">
        <p14:creationId xmlns:p14="http://schemas.microsoft.com/office/powerpoint/2010/main" val="1473318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 calcmode="lin" valueType="num">
                                      <p:cBhvr additive="base">
                                        <p:cTn id="36"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additive="base">
                                        <p:cTn id="42"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7408" y="714608"/>
            <a:ext cx="3816424" cy="4874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250800" y="714608"/>
            <a:ext cx="5813752" cy="4658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2960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051"/>
                                        </p:tgtEl>
                                        <p:attrNameLst>
                                          <p:attrName>style.visibility</p:attrName>
                                        </p:attrNameLst>
                                      </p:cBhvr>
                                      <p:to>
                                        <p:strVal val="visible"/>
                                      </p:to>
                                    </p:set>
                                    <p:animEffect transition="in" filter="barn(inVertical)">
                                      <p:cBhvr>
                                        <p:cTn id="7" dur="500"/>
                                        <p:tgtEl>
                                          <p:spTgt spid="205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052"/>
                                        </p:tgtEl>
                                        <p:attrNameLst>
                                          <p:attrName>style.visibility</p:attrName>
                                        </p:attrNameLst>
                                      </p:cBhvr>
                                      <p:to>
                                        <p:strVal val="visible"/>
                                      </p:to>
                                    </p:set>
                                    <p:animEffect transition="in" filter="barn(inVertical)">
                                      <p:cBhvr>
                                        <p:cTn id="12" dur="500"/>
                                        <p:tgtEl>
                                          <p:spTgt spid="2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7368" y="764704"/>
            <a:ext cx="10945216" cy="5073427"/>
          </a:xfrm>
        </p:spPr>
        <p:txBody>
          <a:bodyPr>
            <a:noAutofit/>
          </a:bodyPr>
          <a:lstStyle/>
          <a:p>
            <a:pPr algn="just"/>
            <a:r>
              <a:rPr lang="en-US" sz="2800" dirty="0"/>
              <a:t>If </a:t>
            </a:r>
            <a:r>
              <a:rPr lang="en-US" sz="2800" dirty="0">
                <a:solidFill>
                  <a:srgbClr val="002060"/>
                </a:solidFill>
              </a:rPr>
              <a:t>PRE = 0</a:t>
            </a:r>
            <a:r>
              <a:rPr lang="en-US" sz="2800" dirty="0"/>
              <a:t> and </a:t>
            </a:r>
            <a:r>
              <a:rPr lang="en-US" sz="2800" dirty="0">
                <a:solidFill>
                  <a:srgbClr val="002060"/>
                </a:solidFill>
              </a:rPr>
              <a:t>CLR = 1</a:t>
            </a:r>
            <a:r>
              <a:rPr lang="en-US" sz="2800" dirty="0"/>
              <a:t>, the output of NAND gate 3 is forced to be 1, i.e., </a:t>
            </a:r>
            <a:r>
              <a:rPr lang="en-US" sz="2800" dirty="0">
                <a:solidFill>
                  <a:srgbClr val="002060"/>
                </a:solidFill>
              </a:rPr>
              <a:t>Q = 1 </a:t>
            </a:r>
            <a:r>
              <a:rPr lang="en-US" sz="2800" dirty="0"/>
              <a:t>and the flip-flop is </a:t>
            </a:r>
            <a:r>
              <a:rPr lang="en-US" sz="2800" dirty="0">
                <a:solidFill>
                  <a:srgbClr val="002060"/>
                </a:solidFill>
              </a:rPr>
              <a:t>set</a:t>
            </a:r>
            <a:r>
              <a:rPr lang="en-US" sz="2800" dirty="0"/>
              <a:t>, overwriting the previous state of the flip-flop.</a:t>
            </a:r>
          </a:p>
          <a:p>
            <a:pPr algn="just"/>
            <a:r>
              <a:rPr lang="en-US" sz="2800" dirty="0"/>
              <a:t>If </a:t>
            </a:r>
            <a:r>
              <a:rPr lang="en-US" sz="2800" dirty="0">
                <a:solidFill>
                  <a:srgbClr val="002060"/>
                </a:solidFill>
              </a:rPr>
              <a:t>PRE = 1 </a:t>
            </a:r>
            <a:r>
              <a:rPr lang="en-US" sz="2800" dirty="0"/>
              <a:t>and </a:t>
            </a:r>
            <a:r>
              <a:rPr lang="en-US" sz="2800" dirty="0">
                <a:solidFill>
                  <a:srgbClr val="002060"/>
                </a:solidFill>
              </a:rPr>
              <a:t>CLR = 0</a:t>
            </a:r>
            <a:r>
              <a:rPr lang="en-US" sz="2800" dirty="0"/>
              <a:t>, the output of NAND gate 4 is forced to be 1, i.e., </a:t>
            </a:r>
            <a:r>
              <a:rPr lang="en-US" sz="2800" dirty="0">
                <a:solidFill>
                  <a:srgbClr val="002060"/>
                </a:solidFill>
              </a:rPr>
              <a:t>Q' = 1 </a:t>
            </a:r>
            <a:r>
              <a:rPr lang="en-US" sz="2800" dirty="0"/>
              <a:t>and the flip-flop is </a:t>
            </a:r>
            <a:r>
              <a:rPr lang="en-US" sz="2800" dirty="0">
                <a:solidFill>
                  <a:srgbClr val="002060"/>
                </a:solidFill>
              </a:rPr>
              <a:t>reset</a:t>
            </a:r>
            <a:r>
              <a:rPr lang="en-US" sz="2800" dirty="0"/>
              <a:t>, overwriting the previous state of the flip-flop.</a:t>
            </a:r>
          </a:p>
          <a:p>
            <a:pPr algn="just"/>
            <a:r>
              <a:rPr lang="en-US" sz="2800" dirty="0"/>
              <a:t>Once the state of the flip-flop is established asynchronously, the inputs PRE and CLR must be connected to logic 1 before the next clock is applied.</a:t>
            </a:r>
          </a:p>
          <a:p>
            <a:pPr algn="just"/>
            <a:r>
              <a:rPr lang="en-US" sz="2800" dirty="0"/>
              <a:t>The condition PRE = CLR = 0 must not be applied, since this leads to an uncertain state. </a:t>
            </a:r>
            <a:endParaRPr lang="en-IN" sz="2800" dirty="0"/>
          </a:p>
        </p:txBody>
      </p:sp>
    </p:spTree>
    <p:extLst>
      <p:ext uri="{BB962C8B-B14F-4D97-AF65-F5344CB8AC3E}">
        <p14:creationId xmlns:p14="http://schemas.microsoft.com/office/powerpoint/2010/main" val="2110367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Race Around Condition</a:t>
            </a:r>
            <a:endParaRPr lang="en-IN" dirty="0">
              <a:solidFill>
                <a:srgbClr val="C00000"/>
              </a:solidFill>
            </a:endParaRPr>
          </a:p>
        </p:txBody>
      </p:sp>
      <p:sp>
        <p:nvSpPr>
          <p:cNvPr id="3" name="Content Placeholder 2"/>
          <p:cNvSpPr>
            <a:spLocks noGrp="1"/>
          </p:cNvSpPr>
          <p:nvPr>
            <p:ph idx="1"/>
          </p:nvPr>
        </p:nvSpPr>
        <p:spPr/>
        <p:txBody>
          <a:bodyPr>
            <a:normAutofit/>
          </a:bodyPr>
          <a:lstStyle/>
          <a:p>
            <a:pPr algn="just"/>
            <a:r>
              <a:rPr lang="en-US" sz="2800" dirty="0"/>
              <a:t>For </a:t>
            </a:r>
            <a:r>
              <a:rPr lang="en-US" sz="2800" i="1" dirty="0"/>
              <a:t>JK</a:t>
            </a:r>
            <a:r>
              <a:rPr lang="en-US" sz="2800" dirty="0"/>
              <a:t> flip-flop, if </a:t>
            </a:r>
            <a:r>
              <a:rPr lang="en-US" sz="2800" i="1" dirty="0">
                <a:solidFill>
                  <a:srgbClr val="002060"/>
                </a:solidFill>
              </a:rPr>
              <a:t>J</a:t>
            </a:r>
            <a:r>
              <a:rPr lang="en-US" sz="2800" dirty="0">
                <a:solidFill>
                  <a:srgbClr val="002060"/>
                </a:solidFill>
              </a:rPr>
              <a:t> = </a:t>
            </a:r>
            <a:r>
              <a:rPr lang="en-US" sz="2800" i="1" dirty="0">
                <a:solidFill>
                  <a:srgbClr val="002060"/>
                </a:solidFill>
              </a:rPr>
              <a:t>K</a:t>
            </a:r>
            <a:r>
              <a:rPr lang="en-US" sz="2800" dirty="0">
                <a:solidFill>
                  <a:srgbClr val="002060"/>
                </a:solidFill>
              </a:rPr>
              <a:t> = 1</a:t>
            </a:r>
            <a:r>
              <a:rPr lang="en-US" sz="2800" dirty="0"/>
              <a:t>, and if </a:t>
            </a:r>
            <a:r>
              <a:rPr lang="en-US" sz="2800" i="1" dirty="0" err="1">
                <a:solidFill>
                  <a:srgbClr val="002060"/>
                </a:solidFill>
              </a:rPr>
              <a:t>Clk</a:t>
            </a:r>
            <a:r>
              <a:rPr lang="en-US" sz="2800" dirty="0">
                <a:solidFill>
                  <a:srgbClr val="002060"/>
                </a:solidFill>
              </a:rPr>
              <a:t> = 1</a:t>
            </a:r>
            <a:r>
              <a:rPr lang="en-US" sz="2800" dirty="0"/>
              <a:t> for a long period of time, then </a:t>
            </a:r>
            <a:r>
              <a:rPr lang="en-US" sz="2800" i="1" dirty="0">
                <a:solidFill>
                  <a:srgbClr val="002060"/>
                </a:solidFill>
              </a:rPr>
              <a:t>Q</a:t>
            </a:r>
            <a:r>
              <a:rPr lang="en-US" sz="2800" dirty="0"/>
              <a:t> output will toggle as long as </a:t>
            </a:r>
            <a:r>
              <a:rPr lang="en-US" sz="2800" i="1" dirty="0" err="1"/>
              <a:t>Clk</a:t>
            </a:r>
            <a:r>
              <a:rPr lang="en-US" sz="2800" dirty="0"/>
              <a:t> is high, which makes the output of the flip-flop unstable or uncertain. This problem is called </a:t>
            </a:r>
            <a:r>
              <a:rPr lang="en-US" sz="2800" i="1" dirty="0">
                <a:solidFill>
                  <a:srgbClr val="C00000"/>
                </a:solidFill>
              </a:rPr>
              <a:t>race around condition</a:t>
            </a:r>
            <a:r>
              <a:rPr lang="en-US" sz="2800" dirty="0">
                <a:solidFill>
                  <a:srgbClr val="C00000"/>
                </a:solidFill>
              </a:rPr>
              <a:t> </a:t>
            </a:r>
            <a:r>
              <a:rPr lang="en-US" sz="2800" dirty="0"/>
              <a:t>in </a:t>
            </a:r>
            <a:r>
              <a:rPr lang="en-US" sz="2800" i="1" dirty="0"/>
              <a:t>JK</a:t>
            </a:r>
            <a:r>
              <a:rPr lang="en-US" sz="2800" dirty="0"/>
              <a:t> flip-flop.</a:t>
            </a:r>
          </a:p>
          <a:p>
            <a:pPr algn="just"/>
            <a:endParaRPr lang="en-US" sz="2800" dirty="0"/>
          </a:p>
          <a:p>
            <a:pPr algn="just"/>
            <a:r>
              <a:rPr lang="en-US" sz="2800" dirty="0"/>
              <a:t>There are three methods to eliminate race around condition as described below:</a:t>
            </a:r>
          </a:p>
          <a:p>
            <a:pPr algn="just"/>
            <a:endParaRPr lang="en-IN" sz="2800" dirty="0"/>
          </a:p>
        </p:txBody>
      </p:sp>
    </p:spTree>
    <p:extLst>
      <p:ext uri="{BB962C8B-B14F-4D97-AF65-F5344CB8AC3E}">
        <p14:creationId xmlns:p14="http://schemas.microsoft.com/office/powerpoint/2010/main" val="831765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 calcmode="lin" valueType="num">
                                      <p:cBhvr additive="base">
                                        <p:cTn id="18"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5360" y="404664"/>
            <a:ext cx="7776864" cy="6264696"/>
          </a:xfrm>
        </p:spPr>
        <p:txBody>
          <a:bodyPr>
            <a:noAutofit/>
          </a:bodyPr>
          <a:lstStyle/>
          <a:p>
            <a:pPr algn="just"/>
            <a:r>
              <a:rPr lang="en-US" sz="2800" dirty="0"/>
              <a:t>Increasing the delay of flip-flop</a:t>
            </a:r>
          </a:p>
          <a:p>
            <a:pPr lvl="1" algn="just"/>
            <a:r>
              <a:rPr lang="en-US" sz="2400" dirty="0">
                <a:solidFill>
                  <a:srgbClr val="002060"/>
                </a:solidFill>
              </a:rPr>
              <a:t>The propagation delay (</a:t>
            </a:r>
            <a:r>
              <a:rPr lang="el-GR" sz="2400" dirty="0">
                <a:solidFill>
                  <a:srgbClr val="002060"/>
                </a:solidFill>
              </a:rPr>
              <a:t>Δ</a:t>
            </a:r>
            <a:r>
              <a:rPr lang="en-IN" sz="2400" i="1" dirty="0">
                <a:solidFill>
                  <a:srgbClr val="002060"/>
                </a:solidFill>
              </a:rPr>
              <a:t>t</a:t>
            </a:r>
            <a:r>
              <a:rPr lang="en-US" sz="2400" dirty="0">
                <a:solidFill>
                  <a:srgbClr val="002060"/>
                </a:solidFill>
              </a:rPr>
              <a:t>) should be made greater than the duration of the clock pulse (T). But it is not a good solution as increasing the delay will decrease the speed of the system.</a:t>
            </a:r>
          </a:p>
          <a:p>
            <a:pPr algn="just"/>
            <a:r>
              <a:rPr lang="en-US" sz="2800" dirty="0"/>
              <a:t>Use of edge-triggered flip-flop</a:t>
            </a:r>
          </a:p>
          <a:p>
            <a:pPr lvl="1" algn="just"/>
            <a:r>
              <a:rPr lang="en-US" sz="2400" dirty="0">
                <a:solidFill>
                  <a:srgbClr val="002060"/>
                </a:solidFill>
              </a:rPr>
              <a:t>If the clock is High for a time interval less than the propagation delay of the flip-flop then racing around condition can be eliminated. This is done by using the edge-triggered flip-flop rather than using the level-triggered flip-flop.</a:t>
            </a:r>
          </a:p>
          <a:p>
            <a:pPr algn="just"/>
            <a:r>
              <a:rPr lang="en-US" sz="2800" dirty="0"/>
              <a:t>Use of Master-Slave JK flip-flop</a:t>
            </a:r>
          </a:p>
          <a:p>
            <a:pPr lvl="1" algn="just"/>
            <a:r>
              <a:rPr lang="en-US" sz="2400" dirty="0">
                <a:solidFill>
                  <a:srgbClr val="002060"/>
                </a:solidFill>
              </a:rPr>
              <a:t>If the flip-flop is made to toggle over one clock period then racing around condition can be eliminated. This is done by using Master-Slave JK flip-flop.</a:t>
            </a:r>
          </a:p>
          <a:p>
            <a:endParaRPr lang="en-IN" sz="2800" dirty="0"/>
          </a:p>
        </p:txBody>
      </p:sp>
      <p:pic>
        <p:nvPicPr>
          <p:cNvPr id="1026" name="Picture 2" descr="একটি PCB মধ্যে সংকেত প্রচার বিলম্ব কি? | সিয়েরা সার্কিট">
            <a:extLst>
              <a:ext uri="{FF2B5EF4-FFF2-40B4-BE49-F238E27FC236}">
                <a16:creationId xmlns:a16="http://schemas.microsoft.com/office/drawing/2014/main" id="{C88DF3CD-1782-485B-86D7-4BD57DDAC1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44272" y="980728"/>
            <a:ext cx="3312368" cy="31683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6943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50106"/>
          </a:xfrm>
        </p:spPr>
        <p:txBody>
          <a:bodyPr/>
          <a:lstStyle/>
          <a:p>
            <a:r>
              <a:rPr lang="en-IN" dirty="0">
                <a:solidFill>
                  <a:srgbClr val="002060"/>
                </a:solidFill>
              </a:rPr>
              <a:t>Master-Slave JK Flip-flop</a:t>
            </a:r>
            <a:endParaRPr lang="en-IN" dirty="0">
              <a:solidFill>
                <a:srgbClr val="C00000"/>
              </a:solidFill>
            </a:endParaRPr>
          </a:p>
        </p:txBody>
      </p:sp>
      <p:sp>
        <p:nvSpPr>
          <p:cNvPr id="3" name="Content Placeholder 2"/>
          <p:cNvSpPr>
            <a:spLocks noGrp="1"/>
          </p:cNvSpPr>
          <p:nvPr>
            <p:ph idx="1"/>
          </p:nvPr>
        </p:nvSpPr>
        <p:spPr>
          <a:xfrm>
            <a:off x="479376" y="1268761"/>
            <a:ext cx="10729192" cy="4525963"/>
          </a:xfrm>
        </p:spPr>
        <p:txBody>
          <a:bodyPr>
            <a:normAutofit/>
          </a:bodyPr>
          <a:lstStyle/>
          <a:p>
            <a:pPr algn="just"/>
            <a:r>
              <a:rPr lang="en-US" sz="3000" dirty="0">
                <a:solidFill>
                  <a:srgbClr val="C00000"/>
                </a:solidFill>
              </a:rPr>
              <a:t>Master-Slave flip-flop </a:t>
            </a:r>
            <a:r>
              <a:rPr lang="en-US" sz="3000" dirty="0"/>
              <a:t>are the cascaded combination of two flip-flops among which the first is designated as master flip-flop while the next is called slave flip-flop.</a:t>
            </a:r>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7488" y="3212976"/>
            <a:ext cx="8424936" cy="3240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07297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barn(inVertical)">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5360" y="476672"/>
            <a:ext cx="11089232" cy="5976664"/>
          </a:xfrm>
        </p:spPr>
        <p:txBody>
          <a:bodyPr>
            <a:normAutofit/>
          </a:bodyPr>
          <a:lstStyle/>
          <a:p>
            <a:pPr algn="just">
              <a:lnSpc>
                <a:spcPct val="150000"/>
              </a:lnSpc>
            </a:pPr>
            <a:r>
              <a:rPr lang="en-US" sz="3000" dirty="0"/>
              <a:t>Here the master flip-flop is triggered by the external clock pulse train while the slave is activated at its inversion i.e. if the master is positive edge-triggered, then the slave is negative edge-triggered and vice-versa.</a:t>
            </a:r>
          </a:p>
          <a:p>
            <a:pPr algn="just">
              <a:lnSpc>
                <a:spcPct val="150000"/>
              </a:lnSpc>
            </a:pPr>
            <a:r>
              <a:rPr lang="en-US" sz="3000" dirty="0"/>
              <a:t>This means that the data enters into the flip-flop at leading/trailing edge of the clock pulse while it is obtained at the output pins during trailing/leading edge of the clock pulse.</a:t>
            </a:r>
          </a:p>
        </p:txBody>
      </p:sp>
    </p:spTree>
    <p:extLst>
      <p:ext uri="{BB962C8B-B14F-4D97-AF65-F5344CB8AC3E}">
        <p14:creationId xmlns:p14="http://schemas.microsoft.com/office/powerpoint/2010/main" val="2696844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3372" y="4725144"/>
            <a:ext cx="11305256" cy="1584176"/>
          </a:xfrm>
        </p:spPr>
        <p:txBody>
          <a:bodyPr>
            <a:noAutofit/>
          </a:bodyPr>
          <a:lstStyle/>
          <a:p>
            <a:pPr algn="just"/>
            <a:r>
              <a:rPr lang="en-US" sz="2800" dirty="0"/>
              <a:t>The Master-Slave flip-flop is basically two flip-flops connected together in a series configuration, with the slave having an inverted clock pulse.</a:t>
            </a:r>
          </a:p>
        </p:txBody>
      </p:sp>
      <p:pic>
        <p:nvPicPr>
          <p:cNvPr id="4" name="Picture 2">
            <a:extLst>
              <a:ext uri="{FF2B5EF4-FFF2-40B4-BE49-F238E27FC236}">
                <a16:creationId xmlns:a16="http://schemas.microsoft.com/office/drawing/2014/main" id="{8D508344-C77D-4EE0-83C1-B86F2ACD2B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5440" y="332657"/>
            <a:ext cx="9937104" cy="40324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a:extLst>
              <a:ext uri="{FF2B5EF4-FFF2-40B4-BE49-F238E27FC236}">
                <a16:creationId xmlns:a16="http://schemas.microsoft.com/office/drawing/2014/main" id="{68935898-87F3-4856-9CD8-C0968029554A}"/>
              </a:ext>
            </a:extLst>
          </p:cNvPr>
          <p:cNvSpPr/>
          <p:nvPr/>
        </p:nvSpPr>
        <p:spPr>
          <a:xfrm>
            <a:off x="5015880" y="764704"/>
            <a:ext cx="561372" cy="461665"/>
          </a:xfrm>
          <a:prstGeom prst="rect">
            <a:avLst/>
          </a:prstGeom>
        </p:spPr>
        <p:txBody>
          <a:bodyPr wrap="none">
            <a:spAutoFit/>
          </a:bodyPr>
          <a:lstStyle/>
          <a:p>
            <a:r>
              <a:rPr lang="en-US" sz="2400" b="1" dirty="0" err="1">
                <a:solidFill>
                  <a:srgbClr val="FF0000"/>
                </a:solidFill>
              </a:rPr>
              <a:t>Q</a:t>
            </a:r>
            <a:r>
              <a:rPr lang="en-US" sz="2400" b="1" i="1" baseline="-25000" dirty="0" err="1">
                <a:solidFill>
                  <a:srgbClr val="FF0000"/>
                </a:solidFill>
              </a:rPr>
              <a:t>m</a:t>
            </a:r>
            <a:endParaRPr lang="en-IN" sz="2400" b="1" dirty="0">
              <a:solidFill>
                <a:srgbClr val="FF0000"/>
              </a:solidFill>
            </a:endParaRPr>
          </a:p>
        </p:txBody>
      </p:sp>
      <p:sp>
        <p:nvSpPr>
          <p:cNvPr id="5" name="Rectangle 4">
            <a:extLst>
              <a:ext uri="{FF2B5EF4-FFF2-40B4-BE49-F238E27FC236}">
                <a16:creationId xmlns:a16="http://schemas.microsoft.com/office/drawing/2014/main" id="{CBAC510A-0A2F-4358-A1E4-65AFB16CC528}"/>
              </a:ext>
            </a:extLst>
          </p:cNvPr>
          <p:cNvSpPr/>
          <p:nvPr/>
        </p:nvSpPr>
        <p:spPr>
          <a:xfrm>
            <a:off x="4943872" y="2852936"/>
            <a:ext cx="558166" cy="400110"/>
          </a:xfrm>
          <a:prstGeom prst="rect">
            <a:avLst/>
          </a:prstGeom>
        </p:spPr>
        <p:txBody>
          <a:bodyPr wrap="none">
            <a:spAutoFit/>
          </a:bodyPr>
          <a:lstStyle/>
          <a:p>
            <a:r>
              <a:rPr lang="en-US" sz="2000" b="1" dirty="0" err="1">
                <a:solidFill>
                  <a:srgbClr val="FF0000"/>
                </a:solidFill>
              </a:rPr>
              <a:t>Q'</a:t>
            </a:r>
            <a:r>
              <a:rPr lang="en-US" sz="2000" b="1" i="1" baseline="-25000" dirty="0" err="1">
                <a:solidFill>
                  <a:srgbClr val="FF0000"/>
                </a:solidFill>
              </a:rPr>
              <a:t>m</a:t>
            </a:r>
            <a:endParaRPr lang="en-IN" sz="2000" b="1" dirty="0">
              <a:solidFill>
                <a:srgbClr val="FF0000"/>
              </a:solidFill>
            </a:endParaRPr>
          </a:p>
        </p:txBody>
      </p:sp>
    </p:spTree>
    <p:extLst>
      <p:ext uri="{BB962C8B-B14F-4D97-AF65-F5344CB8AC3E}">
        <p14:creationId xmlns:p14="http://schemas.microsoft.com/office/powerpoint/2010/main" val="1465875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barn(inVertical)">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5692" y="332656"/>
            <a:ext cx="11640616" cy="3633267"/>
          </a:xfrm>
        </p:spPr>
        <p:txBody>
          <a:bodyPr>
            <a:noAutofit/>
          </a:bodyPr>
          <a:lstStyle/>
          <a:p>
            <a:pPr algn="just"/>
            <a:r>
              <a:rPr lang="en-US" dirty="0"/>
              <a:t>The outputs from Q and Q’ from the “Slave” flip-flop are fed back to the inputs of the “Master” with the outputs of the “Master” flip-flop being connected to the two inputs of the “Slave” flip-flop.</a:t>
            </a:r>
          </a:p>
          <a:p>
            <a:pPr algn="just"/>
            <a:r>
              <a:rPr lang="en-US" dirty="0"/>
              <a:t>This feedback configuration from the slave’s output to the master’s input gives the characteristic toggle of the JK flip-flop as shown below.</a:t>
            </a:r>
            <a:endParaRPr lang="en-IN" dirty="0"/>
          </a:p>
          <a:p>
            <a:pPr algn="just"/>
            <a:endParaRPr lang="en-US" dirty="0"/>
          </a:p>
          <a:p>
            <a:pPr algn="just"/>
            <a:r>
              <a:rPr lang="en-US" dirty="0"/>
              <a:t>When </a:t>
            </a:r>
            <a:r>
              <a:rPr lang="en-US" i="1" dirty="0" err="1"/>
              <a:t>Clk</a:t>
            </a:r>
            <a:r>
              <a:rPr lang="en-US" dirty="0"/>
              <a:t> is </a:t>
            </a:r>
            <a:r>
              <a:rPr lang="en-US" dirty="0">
                <a:solidFill>
                  <a:srgbClr val="C00000"/>
                </a:solidFill>
              </a:rPr>
              <a:t>HIGH</a:t>
            </a:r>
            <a:r>
              <a:rPr lang="en-US" dirty="0"/>
              <a:t>, the first flip-flop (</a:t>
            </a:r>
            <a:r>
              <a:rPr lang="en-US" i="1" dirty="0"/>
              <a:t>i.e.</a:t>
            </a:r>
            <a:r>
              <a:rPr lang="en-US" dirty="0"/>
              <a:t>, the master) is enabled and the outputs </a:t>
            </a:r>
            <a:r>
              <a:rPr lang="en-US" dirty="0" err="1"/>
              <a:t>Q</a:t>
            </a:r>
            <a:r>
              <a:rPr lang="en-US" i="1" baseline="-25000" dirty="0" err="1"/>
              <a:t>m</a:t>
            </a:r>
            <a:r>
              <a:rPr lang="en-US" i="1" dirty="0"/>
              <a:t> </a:t>
            </a:r>
            <a:r>
              <a:rPr lang="en-US" dirty="0"/>
              <a:t>and </a:t>
            </a:r>
            <a:r>
              <a:rPr lang="en-US" dirty="0" err="1"/>
              <a:t>Q'</a:t>
            </a:r>
            <a:r>
              <a:rPr lang="en-US" i="1" baseline="-25000" dirty="0" err="1"/>
              <a:t>m</a:t>
            </a:r>
            <a:r>
              <a:rPr lang="en-US" i="1" dirty="0"/>
              <a:t> </a:t>
            </a:r>
            <a:r>
              <a:rPr lang="en-US" dirty="0"/>
              <a:t>respond to the inputs J and K according to the characteristic table. At this time the second flip-flop (</a:t>
            </a:r>
            <a:r>
              <a:rPr lang="en-US" i="1" dirty="0"/>
              <a:t>i.e.</a:t>
            </a:r>
            <a:r>
              <a:rPr lang="en-US" dirty="0"/>
              <a:t>, the slave) is disabled because the </a:t>
            </a:r>
            <a:r>
              <a:rPr lang="en-US" i="1" dirty="0" err="1"/>
              <a:t>Clk</a:t>
            </a:r>
            <a:r>
              <a:rPr lang="en-US" dirty="0"/>
              <a:t> is LOW to the second flip-flop.</a:t>
            </a:r>
          </a:p>
        </p:txBody>
      </p:sp>
    </p:spTree>
    <p:extLst>
      <p:ext uri="{BB962C8B-B14F-4D97-AF65-F5344CB8AC3E}">
        <p14:creationId xmlns:p14="http://schemas.microsoft.com/office/powerpoint/2010/main" val="4200846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404665"/>
            <a:ext cx="10972800" cy="5721500"/>
          </a:xfrm>
        </p:spPr>
        <p:txBody>
          <a:bodyPr>
            <a:normAutofit/>
          </a:bodyPr>
          <a:lstStyle/>
          <a:p>
            <a:pPr algn="just">
              <a:lnSpc>
                <a:spcPct val="150000"/>
              </a:lnSpc>
            </a:pPr>
            <a:r>
              <a:rPr lang="en-US" sz="2800" dirty="0"/>
              <a:t>Similarly, when </a:t>
            </a:r>
            <a:r>
              <a:rPr lang="en-US" sz="2800" i="1" dirty="0" err="1"/>
              <a:t>Clk</a:t>
            </a:r>
            <a:r>
              <a:rPr lang="en-US" sz="2800" dirty="0"/>
              <a:t> becomes </a:t>
            </a:r>
            <a:r>
              <a:rPr lang="en-US" sz="2800" dirty="0">
                <a:solidFill>
                  <a:srgbClr val="C00000"/>
                </a:solidFill>
              </a:rPr>
              <a:t>LOW</a:t>
            </a:r>
            <a:r>
              <a:rPr lang="en-US" sz="2800" dirty="0"/>
              <a:t>, the master becomes disabled and the slave becomes active, since now the </a:t>
            </a:r>
            <a:r>
              <a:rPr lang="en-US" sz="2800" i="1" dirty="0" err="1"/>
              <a:t>Clk</a:t>
            </a:r>
            <a:r>
              <a:rPr lang="en-US" sz="2800" dirty="0"/>
              <a:t> to it is HIGH. Therefore, the outputs Q and Q' follow the outputs </a:t>
            </a:r>
            <a:r>
              <a:rPr lang="en-US" sz="2800" dirty="0" err="1"/>
              <a:t>Q</a:t>
            </a:r>
            <a:r>
              <a:rPr lang="en-US" sz="2800" i="1" baseline="-25000" dirty="0" err="1"/>
              <a:t>m</a:t>
            </a:r>
            <a:r>
              <a:rPr lang="en-US" sz="2800" i="1" dirty="0"/>
              <a:t> </a:t>
            </a:r>
            <a:r>
              <a:rPr lang="en-US" sz="2800" dirty="0"/>
              <a:t>and </a:t>
            </a:r>
            <a:r>
              <a:rPr lang="en-US" sz="2800" dirty="0" err="1"/>
              <a:t>Q'</a:t>
            </a:r>
            <a:r>
              <a:rPr lang="en-US" sz="2800" i="1" baseline="-25000" dirty="0" err="1"/>
              <a:t>m</a:t>
            </a:r>
            <a:r>
              <a:rPr lang="en-US" sz="2800" i="1" dirty="0"/>
              <a:t> </a:t>
            </a:r>
            <a:r>
              <a:rPr lang="en-US" sz="2800" dirty="0"/>
              <a:t>respectively.</a:t>
            </a:r>
          </a:p>
          <a:p>
            <a:pPr algn="just">
              <a:lnSpc>
                <a:spcPct val="150000"/>
              </a:lnSpc>
            </a:pPr>
            <a:r>
              <a:rPr lang="en-US" sz="2800" dirty="0"/>
              <a:t>Since the second flip-flop just follows the first one, it is referred to as a slave and the first one is called the master.</a:t>
            </a:r>
            <a:endParaRPr lang="en-IN" sz="2800" dirty="0"/>
          </a:p>
        </p:txBody>
      </p:sp>
    </p:spTree>
    <p:extLst>
      <p:ext uri="{BB962C8B-B14F-4D97-AF65-F5344CB8AC3E}">
        <p14:creationId xmlns:p14="http://schemas.microsoft.com/office/powerpoint/2010/main" val="2539479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25750</TotalTime>
  <Words>4648</Words>
  <Application>Microsoft Office PowerPoint</Application>
  <PresentationFormat>Widescreen</PresentationFormat>
  <Paragraphs>847</Paragraphs>
  <Slides>77</Slides>
  <Notes>27</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77</vt:i4>
      </vt:variant>
    </vt:vector>
  </HeadingPairs>
  <TitlesOfParts>
    <vt:vector size="89" baseType="lpstr">
      <vt:lpstr>宋体</vt:lpstr>
      <vt:lpstr>Arial</vt:lpstr>
      <vt:lpstr>Baskerville Old Face</vt:lpstr>
      <vt:lpstr>Calibri</vt:lpstr>
      <vt:lpstr>Cambria Math</vt:lpstr>
      <vt:lpstr>Google Sans</vt:lpstr>
      <vt:lpstr>inherit</vt:lpstr>
      <vt:lpstr>Nunito</vt:lpstr>
      <vt:lpstr>Times New Roman</vt:lpstr>
      <vt:lpstr>Verdana</vt:lpstr>
      <vt:lpstr>Wingdings</vt:lpstr>
      <vt:lpstr>Office Theme</vt:lpstr>
      <vt:lpstr>DIGITAL ELECTRONICS III Semester ECE</vt:lpstr>
      <vt:lpstr>Synchronous Sequential Logic</vt:lpstr>
      <vt:lpstr>SEQUENTIAL CIRCUITS</vt:lpstr>
      <vt:lpstr>PowerPoint Presentation</vt:lpstr>
      <vt:lpstr>PowerPoint Presentation</vt:lpstr>
      <vt:lpstr>Difference between Combinational and Sequential Circuits</vt:lpstr>
      <vt:lpstr>PowerPoint Presentation</vt:lpstr>
      <vt:lpstr> Types of Sequential Circuits </vt:lpstr>
      <vt:lpstr> Synchronous Sequential Circuit </vt:lpstr>
      <vt:lpstr>PowerPoint Presentation</vt:lpstr>
      <vt:lpstr>PowerPoint Presentation</vt:lpstr>
      <vt:lpstr> Asynchrnous Sequential Circuit </vt:lpstr>
      <vt:lpstr>PowerPoint Presentation</vt:lpstr>
      <vt:lpstr>PowerPoint Presentation</vt:lpstr>
      <vt:lpstr>Difference between Synchronous and Asynchronous Sequential Circuits</vt:lpstr>
      <vt:lpstr>PowerPoint Presentation</vt:lpstr>
      <vt:lpstr>Storage elements</vt:lpstr>
      <vt:lpstr> What is a Latch? </vt:lpstr>
      <vt:lpstr>PowerPoint Presentation</vt:lpstr>
      <vt:lpstr> Types of Latches </vt:lpstr>
      <vt:lpstr> SR Latch </vt:lpstr>
      <vt:lpstr>SR Latch</vt:lpstr>
      <vt:lpstr>SR latch with NOR gates</vt:lpstr>
      <vt:lpstr>SR latch with NOR gates</vt:lpstr>
      <vt:lpstr>SR latch with NOR gates</vt:lpstr>
      <vt:lpstr>SR latch with NOR gates</vt:lpstr>
      <vt:lpstr>SR latch with NOR gates</vt:lpstr>
      <vt:lpstr>SR latch with NAND gates</vt:lpstr>
      <vt:lpstr>SR latch with NAND gates</vt:lpstr>
      <vt:lpstr>SR latch with NAND gates</vt:lpstr>
      <vt:lpstr>SR latch with NAND gates</vt:lpstr>
      <vt:lpstr>SR latch with NAND gates</vt:lpstr>
      <vt:lpstr>PowerPoint Presentation</vt:lpstr>
      <vt:lpstr>PowerPoint Presentation</vt:lpstr>
      <vt:lpstr>SR latch with control input</vt:lpstr>
      <vt:lpstr>PowerPoint Presentation</vt:lpstr>
      <vt:lpstr>SR latch with control input</vt:lpstr>
      <vt:lpstr>SR latch with control input</vt:lpstr>
      <vt:lpstr>SR latch with control input</vt:lpstr>
      <vt:lpstr>SR latch with control input</vt:lpstr>
      <vt:lpstr>SR latch with control input</vt:lpstr>
      <vt:lpstr>PowerPoint Presentation</vt:lpstr>
      <vt:lpstr>D Latch (Transparent Latch)</vt:lpstr>
      <vt:lpstr>PowerPoint Presentation</vt:lpstr>
      <vt:lpstr>D Latch</vt:lpstr>
      <vt:lpstr>D Latch</vt:lpstr>
      <vt:lpstr>D Latch</vt:lpstr>
      <vt:lpstr>PowerPoint Presentation</vt:lpstr>
      <vt:lpstr>PowerPoint Presentation</vt:lpstr>
      <vt:lpstr>FLIP-FLOPS</vt:lpstr>
      <vt:lpstr>Difference between Flip-flop and Latch</vt:lpstr>
      <vt:lpstr>Clock response in latch and flip-flop</vt:lpstr>
      <vt:lpstr>SR Flip-Flop</vt:lpstr>
      <vt:lpstr>D Flip-Flop</vt:lpstr>
      <vt:lpstr>JK Flip-Flop</vt:lpstr>
      <vt:lpstr>PowerPoint Presentation</vt:lpstr>
      <vt:lpstr>JK Flip-Flop</vt:lpstr>
      <vt:lpstr>JK Flip-Flop</vt:lpstr>
      <vt:lpstr>JK Flip-Flop</vt:lpstr>
      <vt:lpstr>JK Flip-Flop</vt:lpstr>
      <vt:lpstr>JK Flip-Flop</vt:lpstr>
      <vt:lpstr>JK Flip-Flop</vt:lpstr>
      <vt:lpstr>JK Flip-Flop</vt:lpstr>
      <vt:lpstr>JK Flip-Flop</vt:lpstr>
      <vt:lpstr>JK Flip-Flop</vt:lpstr>
      <vt:lpstr>T Flip-Flop</vt:lpstr>
      <vt:lpstr>T Flip-Flop</vt:lpstr>
      <vt:lpstr>Direct Inputs</vt:lpstr>
      <vt:lpstr>PowerPoint Presentation</vt:lpstr>
      <vt:lpstr>PowerPoint Presentation</vt:lpstr>
      <vt:lpstr>Race Around Condition</vt:lpstr>
      <vt:lpstr>PowerPoint Presentation</vt:lpstr>
      <vt:lpstr>Master-Slave JK Flip-flop</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AJIT PATRO</dc:creator>
  <cp:lastModifiedBy>ranjita rout</cp:lastModifiedBy>
  <cp:revision>251</cp:revision>
  <dcterms:created xsi:type="dcterms:W3CDTF">2020-11-04T15:51:49Z</dcterms:created>
  <dcterms:modified xsi:type="dcterms:W3CDTF">2025-10-10T04:07:32Z</dcterms:modified>
</cp:coreProperties>
</file>