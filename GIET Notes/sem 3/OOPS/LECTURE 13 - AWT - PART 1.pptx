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58" r:id="rId3"/>
    <p:sldId id="343" r:id="rId4"/>
    <p:sldId id="314" r:id="rId5"/>
    <p:sldId id="459" r:id="rId6"/>
    <p:sldId id="460" r:id="rId7"/>
    <p:sldId id="461" r:id="rId8"/>
    <p:sldId id="462" r:id="rId9"/>
    <p:sldId id="463" r:id="rId10"/>
    <p:sldId id="464" r:id="rId11"/>
    <p:sldId id="465" r:id="rId12"/>
    <p:sldId id="466" r:id="rId13"/>
    <p:sldId id="467" r:id="rId14"/>
    <p:sldId id="475" r:id="rId15"/>
    <p:sldId id="468" r:id="rId16"/>
    <p:sldId id="471" r:id="rId17"/>
    <p:sldId id="469" r:id="rId18"/>
    <p:sldId id="472" r:id="rId19"/>
    <p:sldId id="473" r:id="rId20"/>
    <p:sldId id="474" r:id="rId21"/>
    <p:sldId id="45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0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1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C439-7561-D872-4C0B-085203F15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ABF94-6B75-EC0A-398F-4A225E5DF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4CD30-0637-114E-9C8A-503217BD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DD38-4B0A-15CF-86E9-F8CB34A2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84CC3-EBE9-7E16-FC3E-E8391631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1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458F-4782-8839-D5E1-BE95028B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53C6-1162-9BA5-F123-D7C6D95A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A34CC-7712-0D8C-9E46-2E190C98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7A4B4-F26C-C1D3-E330-ABFE2D89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D753-6471-8044-B952-51560ACC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3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919C-E4CA-0329-A32F-DB74CD0A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4A60-66FE-A893-5C0D-88F0CCC5D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725D-C48B-8DD4-28FF-93A4F9B0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4506-2435-E51B-559A-38EF32E5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B14F-8DD3-D46A-B557-623C4048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4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0C97-422A-30B3-18BB-1A3FCE27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75DF-3097-416F-7A39-BEA0CEDCA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C43D4-4985-1C78-D168-AE18F9884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3C89A-A180-CA5D-2DDA-F2D7384C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62A4B-B03E-49A1-781D-F7DCAF30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5DD80-168A-263C-8AAD-AC8A62E5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8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FEC7-7ADE-0F5F-B2D2-870A5B4A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405C-D6B6-CA23-35A8-4A1013DE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3882-1611-E67E-2F4C-EFC703D0F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B1D57-DBDC-FC69-B642-81AAACA1F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A295-A59A-4BB0-E8E6-7DE344A98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59F61-843B-25A8-B2AA-86EA27F7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4E5E5-6B9A-7066-5DC6-074B311A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5CE58-F625-0A96-011C-F7BE5F10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73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57C9-F334-A135-3716-E9BA8481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BE558-91AA-8224-13ED-8624FA90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B5A2F-248E-70B5-2DB9-86528779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EB7F3-D93A-AAA0-727F-B367C09E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8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E05AC-4C32-ABA5-093A-E3C7ADE5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548EC-36E1-9785-2389-D5C8D80A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F630-D3A2-FEA5-5688-FA85212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51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373C-0C7B-3138-2B71-BE0206BF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B040-0532-55A0-899E-F1A0058C5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475DE-273B-D486-B977-6F6E9A845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208DA-B383-4687-B5AA-28620729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5D456-D4BD-D260-6F88-B0135E2E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90C7A-C3AB-3293-EE28-D96275A0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1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3485-8066-90B9-E725-2CEC5CC0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1A955-DF1A-1F44-7425-DB06EF344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78DF3-E237-5801-55EA-C8F04D7E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3E79D-FF3E-BD71-36CE-6173E9E1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C2ABD-A46E-5275-0F11-D6B96342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DD063-8891-ABDA-EE17-207E7E31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1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1F4C-549F-78DB-67CE-3BB8584B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2BE7D-DAF7-F1CC-BB59-E44680B42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8613-8C61-205C-EB9F-6E6A8904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F2999-E48F-3BCB-CDFF-486C3C8C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1C83-8AAB-FDBD-39EA-52DECC56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0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691DE-BB97-5A8E-C7BE-1A80DE249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EE551-277E-BB88-A0F3-6E587136B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317B-CD99-AD09-11A7-6D2D116C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BACC-DF9F-2749-21B4-BA1C9B5D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B1129-C1F0-2D71-8C92-AC42AB21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8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6C1A3-B44B-5F46-D23F-04FB158A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6F5DB-0D66-D177-53B7-C1F280005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7576-6BC9-43C8-A570-061272C72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AC035-B6B8-4A26-9262-14CC58B9C04B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236A3-3AF3-889E-96AD-FD051640A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5DE2B-397A-6648-D0F7-CC0E414C3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9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package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088"/>
            <a:ext cx="10515600" cy="6747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b="1" dirty="0">
                <a:solidFill>
                  <a:srgbClr val="1100A7"/>
                </a:solidFill>
              </a:rPr>
              <a:t>Topics to be Covered</a:t>
            </a:r>
            <a:r>
              <a:rPr lang="en-IN" sz="7200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723C-EF15-FB3D-5FF3-791E71C5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104" y="1625763"/>
            <a:ext cx="10797791" cy="3394472"/>
          </a:xfrm>
        </p:spPr>
        <p:txBody>
          <a:bodyPr>
            <a:normAutofit/>
          </a:bodyPr>
          <a:lstStyle/>
          <a:p>
            <a:r>
              <a:rPr lang="en-US" dirty="0"/>
              <a:t>Java AWT Basics</a:t>
            </a:r>
          </a:p>
          <a:p>
            <a:r>
              <a:rPr lang="en-US" dirty="0"/>
              <a:t>Java AWT Hierarchy</a:t>
            </a:r>
          </a:p>
          <a:p>
            <a:r>
              <a:rPr lang="en-US" dirty="0"/>
              <a:t>Components/Container classes and their constructors</a:t>
            </a:r>
          </a:p>
          <a:p>
            <a:r>
              <a:rPr lang="en-US" dirty="0"/>
              <a:t>Event Handling</a:t>
            </a:r>
          </a:p>
          <a:p>
            <a:r>
              <a:rPr lang="en-IN" dirty="0"/>
              <a:t>Listener Interfaces</a:t>
            </a:r>
          </a:p>
          <a:p>
            <a:r>
              <a:rPr lang="en-IN" dirty="0"/>
              <a:t>Adapter classes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12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Java AWT</a:t>
            </a:r>
          </a:p>
        </p:txBody>
      </p:sp>
    </p:spTree>
    <p:extLst>
      <p:ext uri="{BB962C8B-B14F-4D97-AF65-F5344CB8AC3E}">
        <p14:creationId xmlns:p14="http://schemas.microsoft.com/office/powerpoint/2010/main" val="2183971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AWT(Abstract Window Toolkit)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00633" y="1859339"/>
            <a:ext cx="10865223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Java AWT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(Abstract Window Toolkit) is </a:t>
            </a:r>
            <a:r>
              <a:rPr lang="en-US" b="0" i="1" dirty="0">
                <a:solidFill>
                  <a:srgbClr val="333333"/>
                </a:solidFill>
                <a:effectLst/>
                <a:latin typeface="inter-regular"/>
              </a:rPr>
              <a:t>an API to develop Graphical User Interface (GUI) or windows-based applications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in Java.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Java AWT components are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platform-dependent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i.e. components are displayed according to the view of the operating system. Because Java AWT calls the native platform (operating systems) subroutine for creating API components like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TextField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CheckBox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 Button, etc.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AWT is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heavy weight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i.e. its components are using the resources of the underlying operating system (OS).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dirty="0">
                <a:solidFill>
                  <a:srgbClr val="333333"/>
                </a:solidFill>
                <a:latin typeface="inter-regular"/>
              </a:rPr>
              <a:t>The </a:t>
            </a:r>
            <a:r>
              <a:rPr lang="en-US" dirty="0" err="1">
                <a:solidFill>
                  <a:srgbClr val="333333"/>
                </a:solidFill>
                <a:latin typeface="inter-regular"/>
              </a:rPr>
              <a:t>java.awt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 package provides classes for AWT API such as </a:t>
            </a:r>
            <a:r>
              <a:rPr lang="en-US" dirty="0" err="1">
                <a:solidFill>
                  <a:srgbClr val="333333"/>
                </a:solidFill>
                <a:latin typeface="inter-regular"/>
              </a:rPr>
              <a:t>TextField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, Label, </a:t>
            </a:r>
            <a:r>
              <a:rPr lang="en-US" dirty="0" err="1">
                <a:solidFill>
                  <a:srgbClr val="333333"/>
                </a:solidFill>
                <a:latin typeface="inter-regular"/>
              </a:rPr>
              <a:t>TextArea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, </a:t>
            </a:r>
            <a:r>
              <a:rPr lang="en-US" dirty="0" err="1">
                <a:solidFill>
                  <a:srgbClr val="333333"/>
                </a:solidFill>
                <a:latin typeface="inter-regular"/>
              </a:rPr>
              <a:t>RadioButton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, </a:t>
            </a:r>
            <a:r>
              <a:rPr lang="en-US" dirty="0" err="1">
                <a:solidFill>
                  <a:srgbClr val="333333"/>
                </a:solidFill>
                <a:latin typeface="inter-regular"/>
              </a:rPr>
              <a:t>CheckBox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, Choice, List etc.</a:t>
            </a:r>
          </a:p>
        </p:txBody>
      </p:sp>
    </p:spTree>
    <p:extLst>
      <p:ext uri="{BB962C8B-B14F-4D97-AF65-F5344CB8AC3E}">
        <p14:creationId xmlns:p14="http://schemas.microsoft.com/office/powerpoint/2010/main" val="189847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Java AWT Hierarchy</a:t>
            </a:r>
          </a:p>
        </p:txBody>
      </p:sp>
    </p:spTree>
    <p:extLst>
      <p:ext uri="{BB962C8B-B14F-4D97-AF65-F5344CB8AC3E}">
        <p14:creationId xmlns:p14="http://schemas.microsoft.com/office/powerpoint/2010/main" val="1098117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 Hierarchy</a:t>
            </a:r>
          </a:p>
        </p:txBody>
      </p:sp>
      <p:pic>
        <p:nvPicPr>
          <p:cNvPr id="1026" name="Picture 2" descr="Java AWT Tutorial">
            <a:extLst>
              <a:ext uri="{FF2B5EF4-FFF2-40B4-BE49-F238E27FC236}">
                <a16:creationId xmlns:a16="http://schemas.microsoft.com/office/drawing/2014/main" id="{BD384D81-CDCD-E0A4-E8AD-75EE3774F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35" y="1208523"/>
            <a:ext cx="10342020" cy="528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938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5899" y="2809155"/>
            <a:ext cx="9594501" cy="1104220"/>
          </a:xfrm>
        </p:spPr>
        <p:txBody>
          <a:bodyPr>
            <a:normAutofit fontScale="90000"/>
          </a:bodyPr>
          <a:lstStyle/>
          <a:p>
            <a:r>
              <a:rPr lang="en-IN" sz="7200" b="1" dirty="0"/>
              <a:t>Components &amp; Containers</a:t>
            </a:r>
          </a:p>
        </p:txBody>
      </p:sp>
    </p:spTree>
    <p:extLst>
      <p:ext uri="{BB962C8B-B14F-4D97-AF65-F5344CB8AC3E}">
        <p14:creationId xmlns:p14="http://schemas.microsoft.com/office/powerpoint/2010/main" val="2627561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133643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AWT: Components and Containers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00634" y="890525"/>
            <a:ext cx="10865223" cy="566308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610B4B"/>
                </a:solidFill>
                <a:effectLst/>
                <a:latin typeface="erdana"/>
              </a:rPr>
              <a:t>Components</a:t>
            </a:r>
          </a:p>
          <a:p>
            <a:pPr algn="just"/>
            <a:endParaRPr lang="en-US" sz="10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All the elements like the button, text fields, scroll bars, etc. are called components.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In Java AWT, there are classes for each component.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In order to place every component in a particular position on a screen,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we need to add them to a container.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610B4B"/>
                </a:solidFill>
                <a:effectLst/>
                <a:latin typeface="erdana"/>
              </a:rPr>
              <a:t>Container</a:t>
            </a:r>
          </a:p>
          <a:p>
            <a:pPr algn="just"/>
            <a:endParaRPr lang="en-US" sz="1000" b="0" i="0" dirty="0">
              <a:solidFill>
                <a:srgbClr val="610B4B"/>
              </a:solidFill>
              <a:effectLst/>
              <a:latin typeface="erdana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333333"/>
                </a:solidFill>
                <a:latin typeface="inter-regular"/>
              </a:rPr>
              <a:t>The Container is a component in AWT that can contain other components like buttons, </a:t>
            </a:r>
            <a:r>
              <a:rPr lang="en-US" dirty="0" err="1">
                <a:solidFill>
                  <a:srgbClr val="333333"/>
                </a:solidFill>
                <a:latin typeface="inter-regular"/>
              </a:rPr>
              <a:t>textfields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, labels, etc.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333333"/>
                </a:solidFill>
                <a:latin typeface="inter-regular"/>
              </a:rPr>
              <a:t>The classes that </a:t>
            </a:r>
            <a:r>
              <a:rPr lang="en-US" b="1" dirty="0">
                <a:solidFill>
                  <a:srgbClr val="1100A7"/>
                </a:solidFill>
                <a:latin typeface="inter-regular"/>
              </a:rPr>
              <a:t>extends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b="1" dirty="0">
                <a:solidFill>
                  <a:srgbClr val="333333"/>
                </a:solidFill>
                <a:latin typeface="inter-regular"/>
              </a:rPr>
              <a:t>Container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 class are known as container such as Frame, Dialog and Panel.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333333"/>
                </a:solidFill>
                <a:latin typeface="inter-regular"/>
              </a:rPr>
              <a:t>It is basically a screen where the components are placed at their specific locations. Thus it contains and controls the layout of components.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There are three types of 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containers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in Java AWT:</a:t>
            </a:r>
          </a:p>
          <a:p>
            <a:pPr marL="800100" lvl="1" indent="-342900" algn="just">
              <a:buFont typeface="+mj-lt"/>
              <a:buAutoNum type="arabicParenR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Window</a:t>
            </a:r>
          </a:p>
          <a:p>
            <a:pPr marL="800100" lvl="1" indent="-342900" algn="just">
              <a:buFont typeface="+mj-lt"/>
              <a:buAutoNum type="arabicParenR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Panel</a:t>
            </a:r>
          </a:p>
          <a:p>
            <a:pPr marL="800100" lvl="1" indent="-342900" algn="just">
              <a:buFont typeface="+mj-lt"/>
              <a:buAutoNum type="arabicParenR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Frame</a:t>
            </a:r>
          </a:p>
        </p:txBody>
      </p:sp>
    </p:spTree>
    <p:extLst>
      <p:ext uri="{BB962C8B-B14F-4D97-AF65-F5344CB8AC3E}">
        <p14:creationId xmlns:p14="http://schemas.microsoft.com/office/powerpoint/2010/main" val="2619934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388" y="90434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AWT: Components and Containers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550391" y="797098"/>
            <a:ext cx="10865223" cy="31239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i="0" u="sng" dirty="0">
                <a:solidFill>
                  <a:srgbClr val="610B4B"/>
                </a:solidFill>
                <a:effectLst/>
                <a:latin typeface="erdana"/>
              </a:rPr>
              <a:t>Window</a:t>
            </a:r>
          </a:p>
          <a:p>
            <a:pPr algn="just"/>
            <a:endParaRPr lang="en-US" sz="100" b="1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window is the container that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has no borders and menu bars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You must use frame, dialog or another window for creating a window. We need to create an instance of 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Window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to create this container.</a:t>
            </a:r>
          </a:p>
          <a:p>
            <a:pPr algn="just"/>
            <a:endParaRPr lang="en-US" sz="400" b="0" i="0" dirty="0">
              <a:solidFill>
                <a:srgbClr val="610B4B"/>
              </a:solidFill>
              <a:effectLst/>
              <a:latin typeface="erdana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i="0" u="sng" dirty="0">
                <a:solidFill>
                  <a:srgbClr val="610B4B"/>
                </a:solidFill>
                <a:effectLst/>
                <a:latin typeface="erdana"/>
              </a:rPr>
              <a:t>Panel</a:t>
            </a:r>
          </a:p>
          <a:p>
            <a:pPr algn="just"/>
            <a:endParaRPr lang="en-US" sz="100" b="1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Panel is the container that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doesn't contain title bar, border or menu bar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It is generic container for holding the components. It can have other components like button, text field etc. An instance of Panel class creates a container, in which we can add components.</a:t>
            </a:r>
          </a:p>
          <a:p>
            <a:pPr algn="just"/>
            <a:endParaRPr lang="en-US" sz="1000" b="0" i="0" dirty="0">
              <a:solidFill>
                <a:srgbClr val="610B4B"/>
              </a:solidFill>
              <a:effectLst/>
              <a:latin typeface="erdana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i="0" u="sng" dirty="0">
                <a:solidFill>
                  <a:srgbClr val="610B4B"/>
                </a:solidFill>
                <a:effectLst/>
                <a:latin typeface="erdana"/>
              </a:rPr>
              <a:t>Frame</a:t>
            </a:r>
          </a:p>
          <a:p>
            <a:pPr algn="just"/>
            <a:endParaRPr lang="en-US" sz="100" b="1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Frame is the container that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contain title </a:t>
            </a:r>
            <a:r>
              <a:rPr lang="en-US" b="0" i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bar, border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and can have menu bars.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can have other components like button, text field, scrollbar etc. Frame is most widely used container while developing an AWT application.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EE287C-2343-C17F-52AE-62D4552C8206}"/>
              </a:ext>
            </a:extLst>
          </p:cNvPr>
          <p:cNvSpPr txBox="1"/>
          <p:nvPr/>
        </p:nvSpPr>
        <p:spPr>
          <a:xfrm>
            <a:off x="550391" y="440699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610B38"/>
                </a:solidFill>
                <a:effectLst/>
                <a:latin typeface="erdana"/>
              </a:rPr>
              <a:t>Useful Methods of Component Class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7E41E089-0A73-C6A2-570E-64D0406E0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326305"/>
              </p:ext>
            </p:extLst>
          </p:nvPr>
        </p:nvGraphicFramePr>
        <p:xfrm>
          <a:off x="550391" y="4776330"/>
          <a:ext cx="10865222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8358">
                  <a:extLst>
                    <a:ext uri="{9D8B030D-6E8A-4147-A177-3AD203B41FA5}">
                      <a16:colId xmlns:a16="http://schemas.microsoft.com/office/drawing/2014/main" val="1723175653"/>
                    </a:ext>
                  </a:extLst>
                </a:gridCol>
                <a:gridCol w="6876864">
                  <a:extLst>
                    <a:ext uri="{9D8B030D-6E8A-4147-A177-3AD203B41FA5}">
                      <a16:colId xmlns:a16="http://schemas.microsoft.com/office/drawing/2014/main" val="1744235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Method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2386701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add(Component c)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Inserts a component in the container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637967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setSize(int width,int height)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Sets the size (width and height) of the component.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978012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setLayout(LayoutManager m)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Defines the layout manager for the component.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359381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setVisible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boolean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status)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Changes the visibility of the component, by default false.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904122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35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Java AWT Examples</a:t>
            </a:r>
          </a:p>
        </p:txBody>
      </p:sp>
    </p:spTree>
    <p:extLst>
      <p:ext uri="{BB962C8B-B14F-4D97-AF65-F5344CB8AC3E}">
        <p14:creationId xmlns:p14="http://schemas.microsoft.com/office/powerpoint/2010/main" val="1130671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AWT: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00634" y="679904"/>
            <a:ext cx="1099073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To create simple AWT example, you need a frame. There are two ways to create a GUI using Frame in AWT.</a:t>
            </a:r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regular"/>
              </a:rPr>
              <a:t>By extending Frame class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regular"/>
              </a:rPr>
              <a:t>By creating the object of Frame class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C0AC8B-16C3-9B3F-0451-7C8307315B83}"/>
              </a:ext>
            </a:extLst>
          </p:cNvPr>
          <p:cNvSpPr txBox="1"/>
          <p:nvPr/>
        </p:nvSpPr>
        <p:spPr>
          <a:xfrm>
            <a:off x="600634" y="2037025"/>
            <a:ext cx="6754758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java.awt</a:t>
            </a:r>
            <a:r>
              <a:rPr lang="en-IN" dirty="0"/>
              <a:t>.*;    </a:t>
            </a:r>
          </a:p>
          <a:p>
            <a:r>
              <a:rPr lang="en-IN" dirty="0"/>
              <a:t>public class AWTEx1 </a:t>
            </a:r>
            <a:r>
              <a:rPr lang="en-IN" dirty="0">
                <a:highlight>
                  <a:srgbClr val="FFFF00"/>
                </a:highlight>
              </a:rPr>
              <a:t>extends Frame</a:t>
            </a:r>
          </a:p>
          <a:p>
            <a:r>
              <a:rPr lang="en-IN" dirty="0"/>
              <a:t>{    </a:t>
            </a:r>
          </a:p>
          <a:p>
            <a:r>
              <a:rPr lang="en-IN" dirty="0"/>
              <a:t>     AWTEx1()</a:t>
            </a:r>
          </a:p>
          <a:p>
            <a:r>
              <a:rPr lang="en-IN" dirty="0"/>
              <a:t>     {  </a:t>
            </a:r>
          </a:p>
          <a:p>
            <a:r>
              <a:rPr lang="en-IN" dirty="0"/>
              <a:t>          Button b = new Button("Click Me!!");  </a:t>
            </a:r>
            <a:r>
              <a:rPr lang="en-IN" dirty="0">
                <a:solidFill>
                  <a:srgbClr val="C00000"/>
                </a:solidFill>
              </a:rPr>
              <a:t>// creating a button </a:t>
            </a:r>
          </a:p>
          <a:p>
            <a:r>
              <a:rPr lang="en-IN" dirty="0"/>
              <a:t>          </a:t>
            </a:r>
          </a:p>
          <a:p>
            <a:r>
              <a:rPr lang="en-IN" dirty="0"/>
              <a:t>          </a:t>
            </a:r>
            <a:r>
              <a:rPr lang="en-IN" dirty="0" err="1"/>
              <a:t>b.setBounds</a:t>
            </a:r>
            <a:r>
              <a:rPr lang="en-IN" dirty="0"/>
              <a:t>(30,100,80,30);  </a:t>
            </a:r>
            <a:r>
              <a:rPr lang="en-IN" dirty="0">
                <a:solidFill>
                  <a:srgbClr val="C00000"/>
                </a:solidFill>
              </a:rPr>
              <a:t>// setting button position on screen </a:t>
            </a:r>
          </a:p>
          <a:p>
            <a:r>
              <a:rPr lang="en-IN" dirty="0"/>
              <a:t>          add(b);  </a:t>
            </a:r>
            <a:r>
              <a:rPr lang="en-IN" dirty="0">
                <a:solidFill>
                  <a:srgbClr val="C00000"/>
                </a:solidFill>
              </a:rPr>
              <a:t>// adding button into frame    </a:t>
            </a:r>
          </a:p>
          <a:p>
            <a:r>
              <a:rPr lang="en-IN" dirty="0"/>
              <a:t>          </a:t>
            </a:r>
          </a:p>
          <a:p>
            <a:r>
              <a:rPr lang="en-IN" dirty="0"/>
              <a:t>          </a:t>
            </a:r>
            <a:r>
              <a:rPr lang="en-IN" dirty="0" err="1"/>
              <a:t>setSize</a:t>
            </a:r>
            <a:r>
              <a:rPr lang="en-IN" dirty="0"/>
              <a:t>(300,300);          </a:t>
            </a:r>
            <a:r>
              <a:rPr lang="en-IN" dirty="0">
                <a:solidFill>
                  <a:srgbClr val="C00000"/>
                </a:solidFill>
              </a:rPr>
              <a:t>// frame size 300 width and 300 height  </a:t>
            </a:r>
          </a:p>
          <a:p>
            <a:r>
              <a:rPr lang="en-IN" dirty="0"/>
              <a:t>          </a:t>
            </a:r>
            <a:r>
              <a:rPr lang="en-IN" dirty="0" err="1"/>
              <a:t>setTitle</a:t>
            </a:r>
            <a:r>
              <a:rPr lang="en-IN" dirty="0"/>
              <a:t>(“This is AWT example");  </a:t>
            </a:r>
            <a:r>
              <a:rPr lang="en-IN" dirty="0">
                <a:solidFill>
                  <a:srgbClr val="C00000"/>
                </a:solidFill>
              </a:rPr>
              <a:t>// setting the title of Frame </a:t>
            </a:r>
            <a:r>
              <a:rPr lang="en-IN" dirty="0"/>
              <a:t>   </a:t>
            </a:r>
          </a:p>
          <a:p>
            <a:r>
              <a:rPr lang="en-IN" dirty="0"/>
              <a:t>          </a:t>
            </a:r>
            <a:r>
              <a:rPr lang="en-IN" dirty="0" err="1"/>
              <a:t>setLayout</a:t>
            </a:r>
            <a:r>
              <a:rPr lang="en-IN" dirty="0"/>
              <a:t>(null);   </a:t>
            </a:r>
            <a:r>
              <a:rPr lang="en-IN" dirty="0">
                <a:solidFill>
                  <a:srgbClr val="C00000"/>
                </a:solidFill>
              </a:rPr>
              <a:t>// No layout manager </a:t>
            </a:r>
          </a:p>
          <a:p>
            <a:r>
              <a:rPr lang="en-IN" dirty="0"/>
              <a:t>          </a:t>
            </a:r>
            <a:r>
              <a:rPr lang="en-IN" dirty="0" err="1"/>
              <a:t>setVisible</a:t>
            </a:r>
            <a:r>
              <a:rPr lang="en-IN" dirty="0"/>
              <a:t>(true);    </a:t>
            </a:r>
            <a:r>
              <a:rPr lang="en-IN" dirty="0">
                <a:solidFill>
                  <a:srgbClr val="C00000"/>
                </a:solidFill>
              </a:rPr>
              <a:t>// sets the visibility of frame</a:t>
            </a:r>
          </a:p>
          <a:p>
            <a:r>
              <a:rPr lang="en-IN" dirty="0"/>
              <a:t>     }    </a:t>
            </a:r>
          </a:p>
          <a:p>
            <a:r>
              <a:rPr lang="en-IN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2713AE-2CAA-456B-BD68-4FD435C6CC41}"/>
              </a:ext>
            </a:extLst>
          </p:cNvPr>
          <p:cNvSpPr txBox="1"/>
          <p:nvPr/>
        </p:nvSpPr>
        <p:spPr>
          <a:xfrm>
            <a:off x="7695311" y="2037025"/>
            <a:ext cx="3896054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   public static void main(String </a:t>
            </a:r>
            <a:r>
              <a:rPr lang="en-IN" dirty="0" err="1"/>
              <a:t>args</a:t>
            </a:r>
            <a:r>
              <a:rPr lang="en-IN" dirty="0"/>
              <a:t>[])</a:t>
            </a:r>
          </a:p>
          <a:p>
            <a:r>
              <a:rPr lang="en-IN" dirty="0"/>
              <a:t>   {   </a:t>
            </a:r>
          </a:p>
          <a:p>
            <a:r>
              <a:rPr lang="en-IN" dirty="0"/>
              <a:t>         AWTEx1 f = new AWTEx1();    </a:t>
            </a:r>
          </a:p>
          <a:p>
            <a:r>
              <a:rPr lang="en-IN" dirty="0"/>
              <a:t>   }  </a:t>
            </a:r>
          </a:p>
          <a:p>
            <a:r>
              <a:rPr lang="en-IN" dirty="0"/>
              <a:t>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008704-7B70-F51F-9667-13E49B35E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311" y="4031999"/>
            <a:ext cx="3896053" cy="252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60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90514-7337-D4FE-D255-E6C639DAFD30}"/>
              </a:ext>
            </a:extLst>
          </p:cNvPr>
          <p:cNvSpPr txBox="1"/>
          <p:nvPr/>
        </p:nvSpPr>
        <p:spPr>
          <a:xfrm>
            <a:off x="215152" y="787325"/>
            <a:ext cx="5943601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java.awt</a:t>
            </a:r>
            <a:r>
              <a:rPr lang="en-IN" dirty="0"/>
              <a:t>.*;    </a:t>
            </a:r>
          </a:p>
          <a:p>
            <a:r>
              <a:rPr lang="en-IN" dirty="0"/>
              <a:t>public class AWTEx2</a:t>
            </a:r>
          </a:p>
          <a:p>
            <a:r>
              <a:rPr lang="en-IN" dirty="0"/>
              <a:t>{    </a:t>
            </a:r>
          </a:p>
          <a:p>
            <a:r>
              <a:rPr lang="en-IN" dirty="0"/>
              <a:t>   AWTEx2()</a:t>
            </a:r>
          </a:p>
          <a:p>
            <a:r>
              <a:rPr lang="en-IN" dirty="0"/>
              <a:t>   {  </a:t>
            </a:r>
          </a:p>
          <a:p>
            <a:r>
              <a:rPr lang="en-IN" dirty="0">
                <a:highlight>
                  <a:srgbClr val="FFFF00"/>
                </a:highlight>
              </a:rPr>
              <a:t>       Frame f = new Frame();  // creating a Frame  </a:t>
            </a:r>
          </a:p>
          <a:p>
            <a:r>
              <a:rPr lang="en-IN" dirty="0"/>
              <a:t>       Label l = new Label("Employee id:");  // creating a Label  </a:t>
            </a:r>
          </a:p>
          <a:p>
            <a:r>
              <a:rPr lang="en-IN" dirty="0"/>
              <a:t>       Button b = new Button("Submit");  // creating a Button</a:t>
            </a:r>
          </a:p>
          <a:p>
            <a:r>
              <a:rPr lang="en-IN" dirty="0"/>
              <a:t>       </a:t>
            </a:r>
            <a:r>
              <a:rPr lang="en-IN" dirty="0" err="1"/>
              <a:t>TextField</a:t>
            </a:r>
            <a:r>
              <a:rPr lang="en-IN" dirty="0"/>
              <a:t> t = new </a:t>
            </a:r>
            <a:r>
              <a:rPr lang="en-IN" dirty="0" err="1"/>
              <a:t>TextField</a:t>
            </a:r>
            <a:r>
              <a:rPr lang="en-IN" dirty="0"/>
              <a:t>();  // creating a </a:t>
            </a:r>
            <a:r>
              <a:rPr lang="en-IN" dirty="0" err="1"/>
              <a:t>TextField</a:t>
            </a:r>
            <a:r>
              <a:rPr lang="en-IN" dirty="0"/>
              <a:t> </a:t>
            </a:r>
          </a:p>
          <a:p>
            <a:r>
              <a:rPr lang="en-IN" dirty="0"/>
              <a:t>       </a:t>
            </a:r>
          </a:p>
          <a:p>
            <a:r>
              <a:rPr lang="en-IN" dirty="0">
                <a:solidFill>
                  <a:srgbClr val="1100A7"/>
                </a:solidFill>
              </a:rPr>
              <a:t>      // setting position of above components in the frame </a:t>
            </a:r>
            <a:r>
              <a:rPr lang="en-IN" dirty="0"/>
              <a:t> </a:t>
            </a:r>
          </a:p>
          <a:p>
            <a:r>
              <a:rPr lang="en-IN" dirty="0"/>
              <a:t>      </a:t>
            </a:r>
            <a:r>
              <a:rPr lang="en-IN" dirty="0" err="1"/>
              <a:t>l.setBounds</a:t>
            </a:r>
            <a:r>
              <a:rPr lang="en-IN" dirty="0"/>
              <a:t>(20, 80, 80, 30);  </a:t>
            </a:r>
          </a:p>
          <a:p>
            <a:r>
              <a:rPr lang="en-IN" dirty="0"/>
              <a:t>      </a:t>
            </a:r>
            <a:r>
              <a:rPr lang="en-IN" dirty="0" err="1"/>
              <a:t>t.setBounds</a:t>
            </a:r>
            <a:r>
              <a:rPr lang="en-IN" dirty="0"/>
              <a:t>(20, 100, 80, 30);  </a:t>
            </a:r>
          </a:p>
          <a:p>
            <a:r>
              <a:rPr lang="en-IN" dirty="0"/>
              <a:t>      </a:t>
            </a:r>
            <a:r>
              <a:rPr lang="en-IN" dirty="0" err="1"/>
              <a:t>b.setBounds</a:t>
            </a:r>
            <a:r>
              <a:rPr lang="en-IN" dirty="0"/>
              <a:t>(100, 100, 80, 30);  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   </a:t>
            </a:r>
            <a:r>
              <a:rPr lang="en-IN" dirty="0">
                <a:solidFill>
                  <a:srgbClr val="1100A7"/>
                </a:solidFill>
              </a:rPr>
              <a:t>// adding components into frame    </a:t>
            </a:r>
          </a:p>
          <a:p>
            <a:r>
              <a:rPr lang="en-IN" dirty="0"/>
              <a:t>      </a:t>
            </a:r>
            <a:r>
              <a:rPr lang="en-IN" dirty="0" err="1"/>
              <a:t>f.add</a:t>
            </a:r>
            <a:r>
              <a:rPr lang="en-IN" dirty="0"/>
              <a:t>(b);  </a:t>
            </a:r>
          </a:p>
          <a:p>
            <a:r>
              <a:rPr lang="en-IN" dirty="0"/>
              <a:t>      </a:t>
            </a:r>
            <a:r>
              <a:rPr lang="en-IN" dirty="0" err="1"/>
              <a:t>f.add</a:t>
            </a:r>
            <a:r>
              <a:rPr lang="en-IN" dirty="0"/>
              <a:t>(l);  </a:t>
            </a:r>
          </a:p>
          <a:p>
            <a:r>
              <a:rPr lang="en-IN" dirty="0"/>
              <a:t>      </a:t>
            </a:r>
            <a:r>
              <a:rPr lang="en-IN" dirty="0" err="1"/>
              <a:t>f.add</a:t>
            </a:r>
            <a:r>
              <a:rPr lang="en-IN" dirty="0"/>
              <a:t>(t); 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C53BE-B3C1-5926-DF34-FD935EFF7608}"/>
              </a:ext>
            </a:extLst>
          </p:cNvPr>
          <p:cNvSpPr txBox="1"/>
          <p:nvPr/>
        </p:nvSpPr>
        <p:spPr>
          <a:xfrm>
            <a:off x="6323859" y="787325"/>
            <a:ext cx="5652989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 	</a:t>
            </a:r>
            <a:r>
              <a:rPr lang="en-IN" dirty="0">
                <a:solidFill>
                  <a:srgbClr val="1100A7"/>
                </a:solidFill>
              </a:rPr>
              <a:t>// frame size 300 width and 300 height</a:t>
            </a:r>
          </a:p>
          <a:p>
            <a:r>
              <a:rPr lang="en-IN" dirty="0"/>
              <a:t>	</a:t>
            </a:r>
            <a:r>
              <a:rPr lang="en-IN" dirty="0" err="1"/>
              <a:t>f.setSize</a:t>
            </a:r>
            <a:r>
              <a:rPr lang="en-IN" dirty="0"/>
              <a:t>(400,300);  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	</a:t>
            </a:r>
            <a:r>
              <a:rPr lang="en-IN" dirty="0">
                <a:solidFill>
                  <a:srgbClr val="1100A7"/>
                </a:solidFill>
              </a:rPr>
              <a:t>// setting the title of frame   </a:t>
            </a:r>
          </a:p>
          <a:p>
            <a:r>
              <a:rPr lang="en-IN" dirty="0"/>
              <a:t>        	</a:t>
            </a:r>
            <a:r>
              <a:rPr lang="en-IN" dirty="0" err="1"/>
              <a:t>f.setTitle</a:t>
            </a:r>
            <a:r>
              <a:rPr lang="en-IN" dirty="0"/>
              <a:t>("Employee info");  </a:t>
            </a:r>
          </a:p>
          <a:p>
            <a:r>
              <a:rPr lang="en-IN" dirty="0"/>
              <a:t>	</a:t>
            </a:r>
            <a:r>
              <a:rPr lang="en-IN" dirty="0" err="1"/>
              <a:t>f.setLayout</a:t>
            </a:r>
            <a:r>
              <a:rPr lang="en-IN" dirty="0"/>
              <a:t>(null); // no layout    </a:t>
            </a:r>
          </a:p>
          <a:p>
            <a:r>
              <a:rPr lang="en-IN" dirty="0"/>
              <a:t>        	</a:t>
            </a:r>
            <a:r>
              <a:rPr lang="en-IN" dirty="0" err="1"/>
              <a:t>f.setVisible</a:t>
            </a:r>
            <a:r>
              <a:rPr lang="en-IN" dirty="0"/>
              <a:t>(true); // setting visibility of frame </a:t>
            </a:r>
          </a:p>
          <a:p>
            <a:r>
              <a:rPr lang="en-IN" dirty="0"/>
              <a:t>	}    </a:t>
            </a:r>
          </a:p>
          <a:p>
            <a:r>
              <a:rPr lang="en-IN" dirty="0"/>
              <a:t>	public static void main(String </a:t>
            </a:r>
            <a:r>
              <a:rPr lang="en-IN" dirty="0" err="1"/>
              <a:t>args</a:t>
            </a:r>
            <a:r>
              <a:rPr lang="en-IN" dirty="0"/>
              <a:t>[])</a:t>
            </a:r>
          </a:p>
          <a:p>
            <a:r>
              <a:rPr lang="en-IN" dirty="0"/>
              <a:t>	{   </a:t>
            </a:r>
          </a:p>
          <a:p>
            <a:r>
              <a:rPr lang="en-IN" dirty="0"/>
              <a:t>  		AWTEx2 f = new AWTEx2();    </a:t>
            </a:r>
          </a:p>
          <a:p>
            <a:r>
              <a:rPr lang="en-IN" dirty="0"/>
              <a:t>  	}  </a:t>
            </a:r>
          </a:p>
          <a:p>
            <a:r>
              <a:rPr lang="en-IN" dirty="0"/>
              <a:t>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276BBE-63AA-1574-8539-B60BF37EB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866" y="4588065"/>
            <a:ext cx="4096974" cy="187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204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Event Handling</a:t>
            </a:r>
          </a:p>
        </p:txBody>
      </p:sp>
    </p:spTree>
    <p:extLst>
      <p:ext uri="{BB962C8B-B14F-4D97-AF65-F5344CB8AC3E}">
        <p14:creationId xmlns:p14="http://schemas.microsoft.com/office/powerpoint/2010/main" val="2822046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3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AWT: Components and Containers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63388" y="679904"/>
            <a:ext cx="1086522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Changing the state of an object is known as an event. For example, click on button, dragging mouse etc.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java.awt.event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package provides many event classes and Listener interfaces for event handling.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2C52DEF-F3D2-8560-4873-468D45677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038831"/>
              </p:ext>
            </p:extLst>
          </p:nvPr>
        </p:nvGraphicFramePr>
        <p:xfrm>
          <a:off x="1553850" y="1910789"/>
          <a:ext cx="8128000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20480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548025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Event Classes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Listener Interfaces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409721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ActionEvent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ActionListener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227223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MouseListener and MouseMotionListener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7146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MouseWheelEvent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MouseWheelListener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518135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KeyEvent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KeyListener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790412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ItemEvent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ItemListener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599460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TextEvent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TextListener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345253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AdjustmentEvent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AdjustmentListener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958730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231333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ComponentEvent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ComponentListener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1760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ContainerEvent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ContainerListener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356002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FocusEvent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FocusListener</a:t>
                      </a:r>
                      <a:endParaRPr lang="en-IN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8282913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25237C7-D7A9-953E-00AF-4F9A0A826565}"/>
              </a:ext>
            </a:extLst>
          </p:cNvPr>
          <p:cNvSpPr txBox="1"/>
          <p:nvPr/>
        </p:nvSpPr>
        <p:spPr>
          <a:xfrm>
            <a:off x="663388" y="13262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610B38"/>
                </a:solidFill>
                <a:effectLst/>
                <a:latin typeface="erdana"/>
              </a:rPr>
              <a:t>Java Event classes and Listener interfaces</a:t>
            </a:r>
          </a:p>
        </p:txBody>
      </p:sp>
    </p:spTree>
    <p:extLst>
      <p:ext uri="{BB962C8B-B14F-4D97-AF65-F5344CB8AC3E}">
        <p14:creationId xmlns:p14="http://schemas.microsoft.com/office/powerpoint/2010/main" val="1874536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54" y="10919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AWT: ActionListener in Event Handling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00632" y="657015"/>
            <a:ext cx="11225608" cy="2369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610B38"/>
                </a:solidFill>
                <a:effectLst/>
                <a:latin typeface="erdana"/>
              </a:rPr>
              <a:t>Java ActionListener Interface</a:t>
            </a:r>
          </a:p>
          <a:p>
            <a:pPr algn="just"/>
            <a:endParaRPr lang="en-US" sz="1000" b="0" i="0" dirty="0">
              <a:solidFill>
                <a:srgbClr val="610B38"/>
              </a:solidFill>
              <a:effectLst/>
              <a:latin typeface="erdana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Java ActionListener is notified whenever you click on the button or menu item. It is notified against </a:t>
            </a:r>
            <a:r>
              <a:rPr lang="en-US" dirty="0" err="1">
                <a:solidFill>
                  <a:srgbClr val="610B38"/>
                </a:solidFill>
                <a:latin typeface="erdana"/>
              </a:rPr>
              <a:t>ActionEvent</a:t>
            </a:r>
            <a:r>
              <a:rPr lang="en-US" dirty="0">
                <a:solidFill>
                  <a:srgbClr val="610B38"/>
                </a:solidFill>
                <a:latin typeface="erdana"/>
              </a:rPr>
              <a:t>. The ActionListener interface is found in </a:t>
            </a:r>
            <a:r>
              <a:rPr lang="en-US" dirty="0" err="1">
                <a:solidFill>
                  <a:srgbClr val="610B38"/>
                </a:solidFill>
                <a:latin typeface="erdana"/>
              </a:rPr>
              <a:t>java.awt.event</a:t>
            </a:r>
            <a:r>
              <a:rPr lang="en-US" dirty="0">
                <a:solidFill>
                  <a:srgbClr val="610B38"/>
                </a:solidFill>
                <a:latin typeface="erdana"/>
              </a:rPr>
              <a:t> package.</a:t>
            </a:r>
          </a:p>
          <a:p>
            <a:pPr algn="just"/>
            <a:endParaRPr lang="en-US" dirty="0">
              <a:solidFill>
                <a:srgbClr val="610B38"/>
              </a:solidFill>
              <a:latin typeface="erdana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610B38"/>
                </a:solidFill>
                <a:latin typeface="erdana"/>
              </a:rPr>
              <a:t>It has only one method: </a:t>
            </a:r>
            <a:r>
              <a:rPr lang="en-US" dirty="0" err="1">
                <a:solidFill>
                  <a:srgbClr val="610B38"/>
                </a:solidFill>
                <a:latin typeface="erdana"/>
              </a:rPr>
              <a:t>actionPerformed</a:t>
            </a:r>
            <a:r>
              <a:rPr lang="en-US" dirty="0">
                <a:solidFill>
                  <a:srgbClr val="610B38"/>
                </a:solidFill>
                <a:latin typeface="erdana"/>
              </a:rPr>
              <a:t>() :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actionPerformed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() method is invoked automatically whenever you click on the registered component.</a:t>
            </a:r>
          </a:p>
          <a:p>
            <a:pPr algn="just"/>
            <a:endParaRPr lang="en-US" sz="900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algn="ctr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actionPerformed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ActionEvent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6CC6B-EB1A-21B3-01CA-D7E3E241E1C4}"/>
              </a:ext>
            </a:extLst>
          </p:cNvPr>
          <p:cNvSpPr txBox="1"/>
          <p:nvPr/>
        </p:nvSpPr>
        <p:spPr>
          <a:xfrm>
            <a:off x="600632" y="3128336"/>
            <a:ext cx="11225608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610B38"/>
                </a:solidFill>
                <a:effectLst/>
                <a:latin typeface="erdana"/>
              </a:rPr>
              <a:t>How to write ActionListener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common approach is to implement the ActionListener. If you implement the ActionListener class, you need to follow 3 steps:</a:t>
            </a:r>
          </a:p>
          <a:p>
            <a:pPr marL="342900" indent="-342900" algn="just">
              <a:buAutoNum type="arabicParenR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Implement the ActionListener interface in the class:</a:t>
            </a:r>
          </a:p>
          <a:p>
            <a:pPr lvl="1"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ActionListenerExample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Implements ActionListener 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2)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Register the component with the Listener:</a:t>
            </a:r>
          </a:p>
          <a:p>
            <a:pPr lvl="1" algn="just"/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component.addActionListener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instanceOfListenerclass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3)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Override the </a:t>
            </a:r>
            <a:r>
              <a:rPr lang="en-US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actionPerformed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() method:</a:t>
            </a:r>
          </a:p>
          <a:p>
            <a:pPr lvl="1"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actionPerformed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ActionEvent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e){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   </a:t>
            </a:r>
            <a:r>
              <a:rPr lang="en-US" b="0" i="0" dirty="0">
                <a:solidFill>
                  <a:srgbClr val="008200"/>
                </a:solidFill>
                <a:effectLst/>
                <a:latin typeface="inter-regular"/>
              </a:rPr>
              <a:t>//Write the code here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3321143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Event handling: within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90514-7337-D4FE-D255-E6C639DAFD30}"/>
              </a:ext>
            </a:extLst>
          </p:cNvPr>
          <p:cNvSpPr txBox="1"/>
          <p:nvPr/>
        </p:nvSpPr>
        <p:spPr>
          <a:xfrm>
            <a:off x="215152" y="787325"/>
            <a:ext cx="5943601" cy="5909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highlight>
                  <a:srgbClr val="00FFFF"/>
                </a:highlight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AEvent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00FFFF"/>
                </a:highlight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 Frame 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00FFFF"/>
                </a:highlight>
                <a:latin typeface="inter-regular"/>
              </a:rPr>
              <a:t>implements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 ActionListener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TextField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TextField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tf.setBounds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60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 // Set position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Button b=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Button(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"click me"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b.setBounds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80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          //register 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b.addActionListener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00FFFF"/>
                </a:highlight>
                <a:latin typeface="inter-regular"/>
              </a:rPr>
              <a:t>this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//passing current instance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         //add components and set size, layout and visibility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add(b);   add(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C53BE-B3C1-5926-DF34-FD935EFF7608}"/>
              </a:ext>
            </a:extLst>
          </p:cNvPr>
          <p:cNvSpPr txBox="1"/>
          <p:nvPr/>
        </p:nvSpPr>
        <p:spPr>
          <a:xfrm>
            <a:off x="6323859" y="787325"/>
            <a:ext cx="5652989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highlight>
                  <a:srgbClr val="00FFFF"/>
                </a:highlight>
                <a:latin typeface="inter-regular"/>
              </a:rPr>
              <a:t>      public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00FFFF"/>
                </a:highlight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actionPerformed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ActionEvent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 e)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"Welcome"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}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       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E40B9A-EB9C-EDEA-04C2-F514B339E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916" y="3569172"/>
            <a:ext cx="2865368" cy="29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19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Event handling: by using anonymous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90514-7337-D4FE-D255-E6C639DAFD30}"/>
              </a:ext>
            </a:extLst>
          </p:cNvPr>
          <p:cNvSpPr txBox="1"/>
          <p:nvPr/>
        </p:nvSpPr>
        <p:spPr>
          <a:xfrm>
            <a:off x="215152" y="678335"/>
            <a:ext cx="5943601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highlight>
                  <a:srgbClr val="FF00FF"/>
                </a:highlight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00FF"/>
                </a:highlight>
                <a:latin typeface="inter-regular"/>
              </a:rPr>
              <a:t> AEvent1 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FF00FF"/>
                </a:highlight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00FF"/>
                </a:highlight>
                <a:latin typeface="inter-regular"/>
              </a:rPr>
              <a:t> Frame 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FF00FF"/>
                </a:highlight>
                <a:latin typeface="inter-regular"/>
              </a:rPr>
              <a:t>implements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00FF"/>
                </a:highlight>
                <a:latin typeface="inter-regular"/>
              </a:rPr>
              <a:t> ActionListener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TextField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AEvent1()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TextField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tf.setBounds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60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 // Set position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Button b=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Button(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"click me"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b.setBounds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80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b.addActionListener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(new ActionListener() {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  public void 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actionPerformed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ActionEvent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 e)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            {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                // Setting text to field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                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tf.setText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("Anonymous");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            }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   });	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C53BE-B3C1-5926-DF34-FD935EFF7608}"/>
              </a:ext>
            </a:extLst>
          </p:cNvPr>
          <p:cNvSpPr txBox="1"/>
          <p:nvPr/>
        </p:nvSpPr>
        <p:spPr>
          <a:xfrm>
            <a:off x="6323859" y="647210"/>
            <a:ext cx="5652989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1"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add(b);   add(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}  </a:t>
            </a:r>
          </a:p>
          <a:p>
            <a:pPr algn="just"/>
            <a:r>
              <a:rPr lang="en-IN" b="1" dirty="0">
                <a:solidFill>
                  <a:srgbClr val="006699"/>
                </a:solidFill>
                <a:latin typeface="inter-regular"/>
              </a:rPr>
              <a:t>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       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AEvent1();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82E460-DAE2-E8AB-7276-A58BDC50E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709" y="3706552"/>
            <a:ext cx="3017782" cy="299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46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Event handling: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TextArea</a:t>
            </a:r>
            <a:endParaRPr lang="en-IN" b="1" dirty="0">
              <a:solidFill>
                <a:srgbClr val="610B38"/>
              </a:solidFill>
              <a:latin typeface="erdan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90514-7337-D4FE-D255-E6C639DAFD30}"/>
              </a:ext>
            </a:extLst>
          </p:cNvPr>
          <p:cNvSpPr txBox="1"/>
          <p:nvPr/>
        </p:nvSpPr>
        <p:spPr>
          <a:xfrm>
            <a:off x="215152" y="648825"/>
            <a:ext cx="6051177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// This program will count total words and characters entered in the </a:t>
            </a:r>
            <a:r>
              <a:rPr lang="en-US" b="1" i="0" dirty="0" err="1">
                <a:solidFill>
                  <a:srgbClr val="006699"/>
                </a:solidFill>
                <a:effectLst/>
                <a:latin typeface="inter-regular"/>
              </a:rPr>
              <a:t>textarea</a:t>
            </a:r>
            <a:endParaRPr lang="en-US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algn="just"/>
            <a:endParaRPr lang="en-US" sz="600" b="1" dirty="0">
              <a:solidFill>
                <a:srgbClr val="006699"/>
              </a:solidFill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TAreaEx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Frame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ActionListener{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Label l1, l2;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TextArea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area;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Button b;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TAreaEx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 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        l1 =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Label();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     l1.setBounds(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     l2 =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Label();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     l2.setBounds(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160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      area =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TextArea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area.setBounds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     b =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Button(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"Count Words"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b.setBounds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      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 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b.addActionListener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C53BE-B3C1-5926-DF34-FD935EFF7608}"/>
              </a:ext>
            </a:extLst>
          </p:cNvPr>
          <p:cNvSpPr txBox="1"/>
          <p:nvPr/>
        </p:nvSpPr>
        <p:spPr>
          <a:xfrm>
            <a:off x="6633882" y="671760"/>
            <a:ext cx="5342966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add(l1);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add(l2);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add(area);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add(b);    </a:t>
            </a:r>
          </a:p>
          <a:p>
            <a:pPr lvl="1" algn="just"/>
            <a:r>
              <a:rPr lang="en-US" b="0" i="0" dirty="0">
                <a:solidFill>
                  <a:srgbClr val="008200"/>
                </a:solidFill>
                <a:effectLst/>
                <a:latin typeface="inter-regular"/>
              </a:rPr>
              <a:t>// setting the size, layout and visibility of frame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setSize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450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setLayout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setVisible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     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actionPerformed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ActionEvent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e) 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String text =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area.getText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String words[]=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text.split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"\\s"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l1.setText(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"Words: 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+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words.length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l2.setText(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"Characters: 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+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text.length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}    </a:t>
            </a:r>
          </a:p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     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         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TAreaEx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}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endParaRPr lang="en-IN" sz="12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46991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Event handling: Checkbox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90514-7337-D4FE-D255-E6C639DAFD30}"/>
              </a:ext>
            </a:extLst>
          </p:cNvPr>
          <p:cNvSpPr txBox="1"/>
          <p:nvPr/>
        </p:nvSpPr>
        <p:spPr>
          <a:xfrm>
            <a:off x="215152" y="648825"/>
            <a:ext cx="5154707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CheckboxExample1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CheckboxExample1()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     Frame f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Frame 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CheckBox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 Example"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>
                <a:solidFill>
                  <a:srgbClr val="000000"/>
                </a:solidFill>
                <a:effectLst/>
                <a:latin typeface="inter-regular"/>
              </a:rPr>
              <a:t>          Label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label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Label();   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label.setAlignment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Label.CENTER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        // creating the checkboxes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 checkbox1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Checkbox(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"C++"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checkbox1.setBounds(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 checkbox2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Checkbox(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checkbox2.setBounds(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       </a:t>
            </a:r>
          </a:p>
          <a:p>
            <a:pPr algn="just"/>
            <a:r>
              <a:rPr lang="en-IN" dirty="0">
                <a:solidFill>
                  <a:srgbClr val="008200"/>
                </a:solidFill>
                <a:latin typeface="inter-regular"/>
              </a:rPr>
              <a:t>        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adding the checkbox to frame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(checkbox1);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(checkbox2);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(label);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C53BE-B3C1-5926-DF34-FD935EFF7608}"/>
              </a:ext>
            </a:extLst>
          </p:cNvPr>
          <p:cNvSpPr txBox="1"/>
          <p:nvPr/>
        </p:nvSpPr>
        <p:spPr>
          <a:xfrm>
            <a:off x="5567082" y="648825"/>
            <a:ext cx="6409766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adding event to the checkboxes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checkbox1.addItemListener(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itemStateChanged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        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"C++ Checkbox: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   + 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e.getStateChange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()==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?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"checked"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: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"unchecked"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});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checkbox2.addItemListener(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itemStateChanged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        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 Checkbox: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   + 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e.getStateChange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()==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?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"checked"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: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"unchecked"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});  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CheckboxExample1();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</a:t>
            </a:r>
          </a:p>
        </p:txBody>
      </p:sp>
    </p:spTree>
    <p:extLst>
      <p:ext uri="{BB962C8B-B14F-4D97-AF65-F5344CB8AC3E}">
        <p14:creationId xmlns:p14="http://schemas.microsoft.com/office/powerpoint/2010/main" val="16252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Event handling: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CheckboxGroup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– Radio Button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90514-7337-D4FE-D255-E6C639DAFD30}"/>
              </a:ext>
            </a:extLst>
          </p:cNvPr>
          <p:cNvSpPr txBox="1"/>
          <p:nvPr/>
        </p:nvSpPr>
        <p:spPr>
          <a:xfrm>
            <a:off x="89644" y="648825"/>
            <a:ext cx="5280216" cy="5909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CheckboxGroupEx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CheckboxGroupEx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  Frame f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Frame 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Radiobutton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 Example"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         Label label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Label();   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label.setAlignment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Label.CENTER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      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</a:t>
            </a:r>
            <a:r>
              <a:rPr lang="en-IN" dirty="0" err="1">
                <a:solidFill>
                  <a:srgbClr val="000000"/>
                </a:solidFill>
                <a:latin typeface="inter-regular"/>
              </a:rPr>
              <a:t>CheckboxGroup</a:t>
            </a:r>
            <a:r>
              <a:rPr lang="en-IN" dirty="0">
                <a:solidFill>
                  <a:srgbClr val="000000"/>
                </a:solidFill>
                <a:latin typeface="inter-regular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inter-regular"/>
              </a:rPr>
              <a:t>cbg</a:t>
            </a:r>
            <a:r>
              <a:rPr lang="en-IN" dirty="0">
                <a:solidFill>
                  <a:srgbClr val="000000"/>
                </a:solidFill>
                <a:latin typeface="inter-regular"/>
              </a:rPr>
              <a:t> = new </a:t>
            </a:r>
            <a:r>
              <a:rPr lang="en-IN" dirty="0" err="1">
                <a:solidFill>
                  <a:srgbClr val="000000"/>
                </a:solidFill>
                <a:latin typeface="inter-regular"/>
              </a:rPr>
              <a:t>CheckboxGroup</a:t>
            </a:r>
            <a:r>
              <a:rPr lang="en-IN" dirty="0">
                <a:solidFill>
                  <a:srgbClr val="000000"/>
                </a:solidFill>
                <a:latin typeface="inter-regular"/>
              </a:rPr>
              <a:t>();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Checkbox checkbox1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Checkbox(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 “,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cbg,false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checkbox1.setBounds(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Checkbox checkbox2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Checkbox(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“C++“,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cbg,false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);checkbox2.setBounds(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       </a:t>
            </a:r>
          </a:p>
          <a:p>
            <a:pPr algn="just"/>
            <a:r>
              <a:rPr lang="en-IN" dirty="0">
                <a:solidFill>
                  <a:srgbClr val="008200"/>
                </a:solidFill>
                <a:latin typeface="inter-regular"/>
              </a:rPr>
              <a:t>        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adding the checkbox to frame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(checkbox1);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(checkbox2);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(label);  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C53BE-B3C1-5926-DF34-FD935EFF7608}"/>
              </a:ext>
            </a:extLst>
          </p:cNvPr>
          <p:cNvSpPr txBox="1"/>
          <p:nvPr/>
        </p:nvSpPr>
        <p:spPr>
          <a:xfrm>
            <a:off x="5567082" y="648825"/>
            <a:ext cx="6409766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adding event to the checkboxes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checkbox1.addItemListener(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itemStateChanged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        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 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RadioButton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: Checked”);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});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checkbox2.addItemListener(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itemStateChanged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        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"C++ 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RadioButton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: Checked”);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});  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CheckboxGroupEx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</a:t>
            </a:r>
          </a:p>
        </p:txBody>
      </p:sp>
    </p:spTree>
    <p:extLst>
      <p:ext uri="{BB962C8B-B14F-4D97-AF65-F5344CB8AC3E}">
        <p14:creationId xmlns:p14="http://schemas.microsoft.com/office/powerpoint/2010/main" val="1115103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Event handling: Choice box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90514-7337-D4FE-D255-E6C639DAFD30}"/>
              </a:ext>
            </a:extLst>
          </p:cNvPr>
          <p:cNvSpPr txBox="1"/>
          <p:nvPr/>
        </p:nvSpPr>
        <p:spPr>
          <a:xfrm>
            <a:off x="89644" y="648825"/>
            <a:ext cx="5280216" cy="5909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ChoiceExample2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ChoiceExample2()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Frame f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Frame();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Label label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Label();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label.setAlignment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Label.CENTER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Button b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Button(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"Show"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b.setBounds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creating final object of Choice 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final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Choice c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Choice();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  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c.setBounds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75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75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       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adding 5 items to choice menu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  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"C++"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  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"PHP"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"Android"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C53BE-B3C1-5926-DF34-FD935EFF7608}"/>
              </a:ext>
            </a:extLst>
          </p:cNvPr>
          <p:cNvSpPr txBox="1"/>
          <p:nvPr/>
        </p:nvSpPr>
        <p:spPr>
          <a:xfrm>
            <a:off x="5567082" y="648825"/>
            <a:ext cx="6248998" cy="5909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(c);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(label);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(b);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adding an event to the button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which displays the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selected item from the list when button is clicked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b.addActionListener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ActionListener()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actionPerformed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ActionEvent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String data = 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"Programming language Selected: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+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c.getItem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c.getSelectedIndex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(data);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});    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 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ChoiceExample2();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</a:t>
            </a:r>
          </a:p>
        </p:txBody>
      </p:sp>
    </p:spTree>
    <p:extLst>
      <p:ext uri="{BB962C8B-B14F-4D97-AF65-F5344CB8AC3E}">
        <p14:creationId xmlns:p14="http://schemas.microsoft.com/office/powerpoint/2010/main" val="1597534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2339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4830</TotalTime>
  <Words>2539</Words>
  <Application>Microsoft Office PowerPoint</Application>
  <PresentationFormat>Widescreen</PresentationFormat>
  <Paragraphs>402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erdana</vt:lpstr>
      <vt:lpstr>inter-bold</vt:lpstr>
      <vt:lpstr>inter-regular</vt:lpstr>
      <vt:lpstr>times new roman</vt:lpstr>
      <vt:lpstr>Wingdings</vt:lpstr>
      <vt:lpstr>Office Theme</vt:lpstr>
      <vt:lpstr>Topics to be Covered:</vt:lpstr>
      <vt:lpstr>Java AWT</vt:lpstr>
      <vt:lpstr>Java AWT(Abstract Window Toolkit)</vt:lpstr>
      <vt:lpstr>Java AWT Hierarchy</vt:lpstr>
      <vt:lpstr>Java AWT Hierarchy</vt:lpstr>
      <vt:lpstr>Components &amp; Containers</vt:lpstr>
      <vt:lpstr>Java AWT: Components and Containers</vt:lpstr>
      <vt:lpstr>Java AWT: Components and Containers</vt:lpstr>
      <vt:lpstr>Java AWT Examples</vt:lpstr>
      <vt:lpstr>Java AWT: Example</vt:lpstr>
      <vt:lpstr>Java AWT: Example</vt:lpstr>
      <vt:lpstr>Event Handling</vt:lpstr>
      <vt:lpstr>Java AWT: Components and Containers</vt:lpstr>
      <vt:lpstr>Java AWT: ActionListener in Event Handling</vt:lpstr>
      <vt:lpstr>Event handling: within class</vt:lpstr>
      <vt:lpstr>Event handling: by using anonymous class</vt:lpstr>
      <vt:lpstr>Event handling: TextArea</vt:lpstr>
      <vt:lpstr>Event handling: Checkbox</vt:lpstr>
      <vt:lpstr>Event handling: CheckboxGroup – Radio Button</vt:lpstr>
      <vt:lpstr>Event handling: Choice box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in JAVA</dc:title>
  <dc:creator>Anil Kumar</dc:creator>
  <cp:lastModifiedBy>Anil Kumar</cp:lastModifiedBy>
  <cp:revision>295</cp:revision>
  <dcterms:created xsi:type="dcterms:W3CDTF">2022-08-21T11:09:16Z</dcterms:created>
  <dcterms:modified xsi:type="dcterms:W3CDTF">2023-11-21T02:58:54Z</dcterms:modified>
</cp:coreProperties>
</file>