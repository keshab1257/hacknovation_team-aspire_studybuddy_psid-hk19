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4" r:id="rId3"/>
    <p:sldId id="343" r:id="rId4"/>
    <p:sldId id="366" r:id="rId5"/>
    <p:sldId id="368" r:id="rId6"/>
    <p:sldId id="367" r:id="rId7"/>
    <p:sldId id="369" r:id="rId8"/>
    <p:sldId id="370" r:id="rId9"/>
    <p:sldId id="374" r:id="rId10"/>
    <p:sldId id="375" r:id="rId11"/>
    <p:sldId id="376" r:id="rId12"/>
    <p:sldId id="371" r:id="rId13"/>
    <p:sldId id="372" r:id="rId14"/>
    <p:sldId id="373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91" r:id="rId30"/>
    <p:sldId id="392" r:id="rId31"/>
    <p:sldId id="393" r:id="rId32"/>
    <p:sldId id="365" r:id="rId33"/>
    <p:sldId id="395" r:id="rId34"/>
    <p:sldId id="396" r:id="rId35"/>
    <p:sldId id="397" r:id="rId36"/>
    <p:sldId id="398" r:id="rId37"/>
    <p:sldId id="399" r:id="rId38"/>
    <p:sldId id="400" r:id="rId39"/>
    <p:sldId id="401" r:id="rId40"/>
    <p:sldId id="403" r:id="rId41"/>
    <p:sldId id="404" r:id="rId42"/>
    <p:sldId id="405" r:id="rId43"/>
    <p:sldId id="39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22-10-2022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StringBuffer-clas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javatpoint.com/StringBuilder-clas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730" y="1506070"/>
            <a:ext cx="10515600" cy="4607859"/>
          </a:xfrm>
        </p:spPr>
        <p:txBody>
          <a:bodyPr>
            <a:normAutofit/>
          </a:bodyPr>
          <a:lstStyle/>
          <a:p>
            <a:r>
              <a:rPr lang="en-IN" dirty="0"/>
              <a:t>Java String</a:t>
            </a:r>
          </a:p>
          <a:p>
            <a:r>
              <a:rPr lang="en-IN" dirty="0"/>
              <a:t>How to create String in Java</a:t>
            </a:r>
          </a:p>
          <a:p>
            <a:r>
              <a:rPr lang="en-IN" dirty="0"/>
              <a:t>Immutable Strings</a:t>
            </a:r>
          </a:p>
          <a:p>
            <a:r>
              <a:rPr lang="en-IN" dirty="0"/>
              <a:t>Java String Methods</a:t>
            </a:r>
          </a:p>
          <a:p>
            <a:r>
              <a:rPr lang="en-IN" dirty="0" err="1"/>
              <a:t>StringBuffer</a:t>
            </a:r>
            <a:r>
              <a:rPr lang="en-IN" dirty="0"/>
              <a:t> Class in Java</a:t>
            </a:r>
          </a:p>
          <a:p>
            <a:r>
              <a:rPr lang="en-IN" dirty="0"/>
              <a:t>Methods of </a:t>
            </a:r>
            <a:r>
              <a:rPr lang="en-IN" dirty="0" err="1"/>
              <a:t>StringBuffer</a:t>
            </a:r>
            <a:r>
              <a:rPr lang="en-IN" dirty="0"/>
              <a:t> Class</a:t>
            </a:r>
          </a:p>
          <a:p>
            <a:r>
              <a:rPr lang="en-IN" dirty="0"/>
              <a:t>StringBuilder Class in Java</a:t>
            </a:r>
          </a:p>
          <a:p>
            <a:r>
              <a:rPr lang="en-IN" dirty="0"/>
              <a:t>Methods of </a:t>
            </a:r>
            <a:r>
              <a:rPr lang="en-IN" dirty="0" err="1"/>
              <a:t>StringBuider</a:t>
            </a:r>
            <a:r>
              <a:rPr lang="en-IN" dirty="0"/>
              <a:t> Class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String</a:t>
            </a:r>
          </a:p>
        </p:txBody>
      </p:sp>
    </p:spTree>
    <p:extLst>
      <p:ext uri="{BB962C8B-B14F-4D97-AF65-F5344CB8AC3E}">
        <p14:creationId xmlns:p14="http://schemas.microsoft.com/office/powerpoint/2010/main" val="109811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717870"/>
            <a:ext cx="11329725" cy="241977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In Java, string is basically an object that represents the sequence of char values. 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An array of characters works the same as Java string. For example:</a:t>
            </a:r>
          </a:p>
          <a:p>
            <a:pPr marL="0" indent="0" algn="just">
              <a:buNone/>
            </a:pPr>
            <a:endParaRPr lang="en-US" sz="100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			char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[] 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inter-regular"/>
              </a:rPr>
              <a:t>ch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={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inter-regular"/>
              </a:rPr>
              <a:t>‘G'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inter-regular"/>
              </a:rPr>
              <a:t>’I'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inter-regular"/>
              </a:rPr>
              <a:t>’E'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inter-regular"/>
              </a:rPr>
              <a:t>’T'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};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			String s=</a:t>
            </a:r>
            <a:r>
              <a:rPr lang="en-US" sz="18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 String(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inter-regular"/>
              </a:rPr>
              <a:t>ch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				OR</a:t>
            </a:r>
          </a:p>
          <a:p>
            <a:pPr marL="0" indent="0" algn="just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			String s=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inter-regular"/>
              </a:rPr>
              <a:t>“GIET"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marL="0" indent="0" algn="just">
              <a:buNone/>
            </a:pPr>
            <a:endParaRPr lang="en-US" sz="1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pic>
        <p:nvPicPr>
          <p:cNvPr id="1026" name="Picture 2" descr="String in Java">
            <a:extLst>
              <a:ext uri="{FF2B5EF4-FFF2-40B4-BE49-F238E27FC236}">
                <a16:creationId xmlns:a16="http://schemas.microsoft.com/office/drawing/2014/main" id="{0E308A04-C6D2-BCF0-8081-59584A77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83" y="3298654"/>
            <a:ext cx="4002741" cy="222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B3B033-8C76-722B-2BDC-E1031C5BAC04}"/>
              </a:ext>
            </a:extLst>
          </p:cNvPr>
          <p:cNvSpPr txBox="1"/>
          <p:nvPr/>
        </p:nvSpPr>
        <p:spPr>
          <a:xfrm>
            <a:off x="5432612" y="5390205"/>
            <a:ext cx="646355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3333"/>
                </a:solidFill>
                <a:latin typeface="inter-regular"/>
              </a:rPr>
              <a:t>Note: 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The 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CharSequence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 interface is used to represent the sequence of characters. String, </a:t>
            </a:r>
            <a:r>
              <a:rPr lang="en-US" dirty="0" err="1">
                <a:solidFill>
                  <a:srgbClr val="333333"/>
                </a:solidFill>
                <a:latin typeface="inter-regula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StringBuffer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 and </a:t>
            </a:r>
            <a:r>
              <a:rPr lang="en-US" dirty="0">
                <a:solidFill>
                  <a:srgbClr val="333333"/>
                </a:solidFill>
                <a:latin typeface="inter-regula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StringBuilder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 classes implement it. It means, we can create strings in Java by using these three classes.</a:t>
            </a:r>
            <a:endParaRPr lang="en-IN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EA2BD-01C5-AF9D-E9A8-000880ECC280}"/>
              </a:ext>
            </a:extLst>
          </p:cNvPr>
          <p:cNvSpPr txBox="1"/>
          <p:nvPr/>
        </p:nvSpPr>
        <p:spPr>
          <a:xfrm>
            <a:off x="766483" y="5528705"/>
            <a:ext cx="400274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333333"/>
                </a:solidFill>
                <a:latin typeface="inter-regular"/>
              </a:rPr>
              <a:t>Note</a:t>
            </a:r>
            <a:r>
              <a:rPr lang="en-US" sz="1800" dirty="0">
                <a:solidFill>
                  <a:srgbClr val="333333"/>
                </a:solidFill>
                <a:latin typeface="inter-regular"/>
              </a:rPr>
              <a:t>: The </a:t>
            </a:r>
            <a:r>
              <a:rPr lang="en-US" sz="1800" dirty="0" err="1">
                <a:solidFill>
                  <a:srgbClr val="333333"/>
                </a:solidFill>
                <a:latin typeface="inter-regular"/>
              </a:rPr>
              <a:t>java.lang.String</a:t>
            </a:r>
            <a:r>
              <a:rPr lang="en-US" sz="1800" dirty="0">
                <a:solidFill>
                  <a:srgbClr val="333333"/>
                </a:solidFill>
                <a:latin typeface="inter-regular"/>
              </a:rPr>
              <a:t> class </a:t>
            </a:r>
            <a:r>
              <a:rPr lang="en-US" sz="1800" dirty="0">
                <a:solidFill>
                  <a:srgbClr val="1100A7"/>
                </a:solidFill>
                <a:latin typeface="inter-regular"/>
              </a:rPr>
              <a:t>implements</a:t>
            </a:r>
            <a:r>
              <a:rPr lang="en-US" sz="1800" dirty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inter-regular"/>
              </a:rPr>
              <a:t>Serializable</a:t>
            </a:r>
            <a:r>
              <a:rPr lang="en-US" sz="1800" dirty="0">
                <a:solidFill>
                  <a:srgbClr val="333333"/>
                </a:solidFill>
                <a:latin typeface="inter-regular"/>
              </a:rPr>
              <a:t>, </a:t>
            </a:r>
            <a:r>
              <a:rPr lang="en-US" sz="1800" b="1" dirty="0">
                <a:solidFill>
                  <a:srgbClr val="333333"/>
                </a:solidFill>
                <a:latin typeface="inter-regular"/>
              </a:rPr>
              <a:t>Comparable</a:t>
            </a:r>
            <a:r>
              <a:rPr lang="en-US" sz="1800" dirty="0">
                <a:solidFill>
                  <a:srgbClr val="333333"/>
                </a:solidFill>
                <a:latin typeface="inter-regular"/>
              </a:rPr>
              <a:t> and </a:t>
            </a:r>
            <a:r>
              <a:rPr lang="en-US" sz="1800" b="1" dirty="0" err="1">
                <a:solidFill>
                  <a:srgbClr val="333333"/>
                </a:solidFill>
                <a:latin typeface="inter-regular"/>
              </a:rPr>
              <a:t>CharSequence</a:t>
            </a:r>
            <a:r>
              <a:rPr lang="en-US" sz="1800" dirty="0">
                <a:solidFill>
                  <a:srgbClr val="333333"/>
                </a:solidFill>
                <a:latin typeface="inter-regular"/>
              </a:rPr>
              <a:t> interfaces.</a:t>
            </a:r>
          </a:p>
        </p:txBody>
      </p:sp>
      <p:pic>
        <p:nvPicPr>
          <p:cNvPr id="1028" name="Picture 4" descr="CharSequence in Java">
            <a:extLst>
              <a:ext uri="{FF2B5EF4-FFF2-40B4-BE49-F238E27FC236}">
                <a16:creationId xmlns:a16="http://schemas.microsoft.com/office/drawing/2014/main" id="{F471099F-582A-93C4-5E55-BD39D7883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600" y="3203492"/>
            <a:ext cx="4002740" cy="2186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E8AA8E-A136-56EB-4E12-D969CE8C33D9}"/>
              </a:ext>
            </a:extLst>
          </p:cNvPr>
          <p:cNvCxnSpPr>
            <a:cxnSpLocks/>
          </p:cNvCxnSpPr>
          <p:nvPr/>
        </p:nvCxnSpPr>
        <p:spPr>
          <a:xfrm>
            <a:off x="674016" y="3298654"/>
            <a:ext cx="111327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106" y="2611931"/>
            <a:ext cx="9959788" cy="1104220"/>
          </a:xfrm>
        </p:spPr>
        <p:txBody>
          <a:bodyPr>
            <a:normAutofit fontScale="90000"/>
          </a:bodyPr>
          <a:lstStyle/>
          <a:p>
            <a:r>
              <a:rPr lang="en-IN" sz="7200" b="1" dirty="0"/>
              <a:t>How to create String in Java</a:t>
            </a:r>
          </a:p>
        </p:txBody>
      </p:sp>
    </p:spTree>
    <p:extLst>
      <p:ext uri="{BB962C8B-B14F-4D97-AF65-F5344CB8AC3E}">
        <p14:creationId xmlns:p14="http://schemas.microsoft.com/office/powerpoint/2010/main" val="705569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How to create String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717869"/>
            <a:ext cx="11329725" cy="574568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inter-regular"/>
              </a:rPr>
              <a:t>java.lang.String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class is used to create a string object. There are two ways to create String object: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By string literal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By new keyword</a:t>
            </a:r>
          </a:p>
          <a:p>
            <a:pPr marL="457200" indent="-457200" algn="just">
              <a:buFont typeface="+mj-lt"/>
              <a:buAutoNum type="arabicPeriod"/>
            </a:pPr>
            <a:endParaRPr lang="en-US" sz="800" dirty="0">
              <a:solidFill>
                <a:srgbClr val="0000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333333"/>
                </a:solidFill>
                <a:latin typeface="inter-regular"/>
              </a:rPr>
              <a:t>1) String Literal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Java String literal is created by using double quotes. For Example:</a:t>
            </a:r>
          </a:p>
          <a:p>
            <a:pPr marL="0" indent="0" algn="ctr">
              <a:buNone/>
            </a:pPr>
            <a:r>
              <a:rPr lang="en-IN" sz="2000" b="1" dirty="0">
                <a:solidFill>
                  <a:srgbClr val="1100A7"/>
                </a:solidFill>
                <a:latin typeface="inter-regular"/>
              </a:rPr>
              <a:t>String</a:t>
            </a:r>
            <a:r>
              <a:rPr lang="en-IN" sz="2000" dirty="0">
                <a:solidFill>
                  <a:srgbClr val="333333"/>
                </a:solidFill>
                <a:latin typeface="inter-regular"/>
              </a:rPr>
              <a:t> s="</a:t>
            </a:r>
            <a:r>
              <a:rPr lang="en-IN" sz="2000" dirty="0">
                <a:solidFill>
                  <a:srgbClr val="FF0000"/>
                </a:solidFill>
                <a:latin typeface="inter-regular"/>
              </a:rPr>
              <a:t>welcome</a:t>
            </a:r>
            <a:r>
              <a:rPr lang="en-IN" sz="2000" dirty="0">
                <a:solidFill>
                  <a:srgbClr val="333333"/>
                </a:solidFill>
                <a:latin typeface="inter-regular"/>
              </a:rPr>
              <a:t>";  </a:t>
            </a:r>
          </a:p>
          <a:p>
            <a:pPr marL="0" indent="0" algn="just">
              <a:buNone/>
            </a:pPr>
            <a:endParaRPr lang="en-US" sz="3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Each time you create a string literal, the JVM checks the "</a:t>
            </a:r>
            <a:r>
              <a:rPr lang="en-US" sz="2000" b="1" dirty="0">
                <a:solidFill>
                  <a:srgbClr val="333333"/>
                </a:solidFill>
                <a:latin typeface="inter-regular"/>
              </a:rPr>
              <a:t>string constant pool</a:t>
            </a:r>
            <a:r>
              <a:rPr lang="en-US" sz="2000" dirty="0">
                <a:solidFill>
                  <a:srgbClr val="333333"/>
                </a:solidFill>
                <a:latin typeface="inter-regular"/>
              </a:rPr>
              <a:t>" first. If the string already exists in the pool, a reference to the pooled instance is returned. If the string doesn't exist in the pool, a new string instance is created and placed in the pool. </a:t>
            </a:r>
          </a:p>
          <a:p>
            <a:pPr marL="0" indent="0" algn="just">
              <a:buNone/>
            </a:pPr>
            <a:endParaRPr lang="en-US" sz="7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333333"/>
                </a:solidFill>
                <a:latin typeface="inter-regular"/>
              </a:rPr>
              <a:t>Note: </a:t>
            </a:r>
            <a:r>
              <a:rPr lang="en-US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inter-regular"/>
              </a:rPr>
              <a:t>String objects are stored in a special memory area known as the "string constant pool".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1400" b="1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1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6870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How to create String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717869"/>
            <a:ext cx="11329725" cy="5933943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en-US" sz="5000" dirty="0">
                <a:solidFill>
                  <a:srgbClr val="333333"/>
                </a:solidFill>
                <a:latin typeface="inter-regular"/>
              </a:rPr>
              <a:t>For example:</a:t>
            </a:r>
          </a:p>
          <a:p>
            <a:pPr marL="0" indent="0" algn="just">
              <a:buNone/>
            </a:pPr>
            <a:r>
              <a:rPr lang="en-US" sz="4900" dirty="0">
                <a:solidFill>
                  <a:srgbClr val="333333"/>
                </a:solidFill>
                <a:latin typeface="inter-regular"/>
              </a:rPr>
              <a:t>	</a:t>
            </a:r>
            <a:r>
              <a:rPr lang="en-US" sz="4900" b="1" dirty="0">
                <a:solidFill>
                  <a:srgbClr val="0070C0"/>
                </a:solidFill>
                <a:latin typeface="inter-regular"/>
              </a:rPr>
              <a:t>String</a:t>
            </a:r>
            <a:r>
              <a:rPr lang="en-US" sz="4900" dirty="0">
                <a:solidFill>
                  <a:srgbClr val="333333"/>
                </a:solidFill>
                <a:latin typeface="inter-regular"/>
              </a:rPr>
              <a:t> s1=“</a:t>
            </a:r>
            <a:r>
              <a:rPr lang="en-US" sz="4900" dirty="0">
                <a:solidFill>
                  <a:srgbClr val="FF0000"/>
                </a:solidFill>
                <a:latin typeface="inter-regular"/>
              </a:rPr>
              <a:t>welcome</a:t>
            </a:r>
            <a:r>
              <a:rPr lang="en-US" sz="4900" dirty="0">
                <a:solidFill>
                  <a:srgbClr val="333333"/>
                </a:solidFill>
                <a:latin typeface="inter-regular"/>
              </a:rPr>
              <a:t>";  </a:t>
            </a:r>
          </a:p>
          <a:p>
            <a:pPr marL="0" indent="0" algn="just">
              <a:buNone/>
            </a:pPr>
            <a:r>
              <a:rPr lang="en-US" sz="4900" dirty="0">
                <a:solidFill>
                  <a:srgbClr val="333333"/>
                </a:solidFill>
                <a:latin typeface="inter-regular"/>
              </a:rPr>
              <a:t>	</a:t>
            </a:r>
            <a:r>
              <a:rPr lang="en-US" sz="4900" b="1" dirty="0">
                <a:solidFill>
                  <a:srgbClr val="0070C0"/>
                </a:solidFill>
                <a:latin typeface="inter-regular"/>
              </a:rPr>
              <a:t>String</a:t>
            </a:r>
            <a:r>
              <a:rPr lang="en-US" sz="4900" dirty="0">
                <a:solidFill>
                  <a:srgbClr val="333333"/>
                </a:solidFill>
                <a:latin typeface="inter-regular"/>
              </a:rPr>
              <a:t> s2=“</a:t>
            </a:r>
            <a:r>
              <a:rPr lang="en-US" sz="4900" dirty="0">
                <a:solidFill>
                  <a:srgbClr val="FF0000"/>
                </a:solidFill>
                <a:latin typeface="inter-regular"/>
              </a:rPr>
              <a:t>welcome</a:t>
            </a:r>
            <a:r>
              <a:rPr lang="en-US" sz="4900" dirty="0">
                <a:solidFill>
                  <a:srgbClr val="333333"/>
                </a:solidFill>
                <a:latin typeface="inter-regular"/>
              </a:rPr>
              <a:t>"; //</a:t>
            </a:r>
            <a:r>
              <a:rPr lang="en-US" sz="4900" b="1" dirty="0">
                <a:solidFill>
                  <a:srgbClr val="333333"/>
                </a:solidFill>
                <a:latin typeface="inter-regular"/>
              </a:rPr>
              <a:t>It doesn't create a new instance </a:t>
            </a:r>
          </a:p>
          <a:p>
            <a:pPr marL="0" indent="0" algn="just">
              <a:buNone/>
            </a:pPr>
            <a:endParaRPr lang="en-US" sz="49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4900" b="0" i="0" dirty="0">
                <a:solidFill>
                  <a:srgbClr val="333333"/>
                </a:solidFill>
                <a:effectLst/>
                <a:latin typeface="inter-regular"/>
              </a:rPr>
              <a:t>Firstly, JVM will not find any string object with the value "Welcome" in string constant pool that is why it will create a new object. </a:t>
            </a:r>
          </a:p>
          <a:p>
            <a:pPr marL="0" indent="0" algn="just">
              <a:buNone/>
            </a:pPr>
            <a:r>
              <a:rPr lang="en-US" sz="4900" b="0" i="0" dirty="0">
                <a:solidFill>
                  <a:srgbClr val="333333"/>
                </a:solidFill>
                <a:effectLst/>
                <a:latin typeface="inter-regular"/>
              </a:rPr>
              <a:t>After that it will find the string with the value "Welcome" in the pool, it will not create a new object but will return the reference to the same instance.</a:t>
            </a:r>
            <a:endParaRPr lang="en-US" sz="29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9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900" b="1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9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9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9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9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9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9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9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9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9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4500" b="1" i="0" dirty="0">
                <a:solidFill>
                  <a:srgbClr val="333333"/>
                </a:solidFill>
                <a:effectLst/>
                <a:latin typeface="inter-regular"/>
              </a:rPr>
              <a:t>Note</a:t>
            </a:r>
            <a:r>
              <a:rPr lang="en-US" sz="2900" b="0" i="0" dirty="0">
                <a:solidFill>
                  <a:srgbClr val="333333"/>
                </a:solidFill>
                <a:effectLst/>
                <a:latin typeface="inter-regular"/>
              </a:rPr>
              <a:t>: </a:t>
            </a:r>
            <a:r>
              <a:rPr lang="en-US" sz="4500" b="0" i="0" dirty="0">
                <a:solidFill>
                  <a:srgbClr val="333333"/>
                </a:solidFill>
                <a:effectLst/>
                <a:latin typeface="inter-regular"/>
              </a:rPr>
              <a:t>The concept of String literal is used to make Java more memory efficient (because no new objects are created if it exists already in the string constant pool).</a:t>
            </a:r>
            <a:endParaRPr lang="en-US" sz="4500" b="1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1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pic>
        <p:nvPicPr>
          <p:cNvPr id="2050" name="Picture 2" descr="Java String">
            <a:extLst>
              <a:ext uri="{FF2B5EF4-FFF2-40B4-BE49-F238E27FC236}">
                <a16:creationId xmlns:a16="http://schemas.microsoft.com/office/drawing/2014/main" id="{06F3C8B1-03B2-9480-5C1C-930A1F994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241" y="3223157"/>
            <a:ext cx="6149787" cy="256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24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How to create String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717869"/>
            <a:ext cx="11329725" cy="59614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333333"/>
                </a:solidFill>
                <a:latin typeface="inter-regular"/>
              </a:rPr>
              <a:t>2) By new keyword :</a:t>
            </a: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	String s=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String(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US" sz="2000" b="0" i="0" dirty="0">
                <a:solidFill>
                  <a:srgbClr val="008200"/>
                </a:solidFill>
                <a:effectLst/>
                <a:latin typeface="inter-regular"/>
              </a:rPr>
              <a:t>//creates two objects and one reference variable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In such case, JVM will create a new string object in normal (non-pool) heap memory, and the literal "Welcome" will be placed in the string constant pool. </a:t>
            </a: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 variable s will refer to the object in a heap (non-pool).</a:t>
            </a:r>
            <a:endParaRPr lang="en-US" sz="32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8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marL="0" indent="0" algn="just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1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D103DBC-4884-84BE-1B59-826B985048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137448"/>
              </p:ext>
            </p:extLst>
          </p:nvPr>
        </p:nvGraphicFramePr>
        <p:xfrm>
          <a:off x="2510117" y="3097960"/>
          <a:ext cx="7171765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372280" imgH="3581280" progId="PBrush">
                  <p:embed/>
                </p:oleObj>
              </mc:Choice>
              <mc:Fallback>
                <p:oleObj name="Bitmap Image" r:id="rId2" imgW="5372280" imgH="35812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0117" y="3097960"/>
                        <a:ext cx="7171765" cy="358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663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Creating String in Java : An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35490-D9E2-2890-0B81-CF0621BB9F03}"/>
              </a:ext>
            </a:extLst>
          </p:cNvPr>
          <p:cNvSpPr txBox="1"/>
          <p:nvPr/>
        </p:nvSpPr>
        <p:spPr>
          <a:xfrm>
            <a:off x="215152" y="1379728"/>
            <a:ext cx="9395013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StringEx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String s1=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	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//creating string by Java string literal 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IN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algn="just"/>
            <a:r>
              <a:rPr lang="en-IN" b="1" dirty="0">
                <a:solidFill>
                  <a:srgbClr val="006699"/>
                </a:solidFill>
                <a:latin typeface="inter-regular"/>
              </a:rPr>
              <a:t>	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char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ch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[]={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's'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't'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'r'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'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i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'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'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n'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'g'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's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'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String s2=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ch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	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//converting char array to string 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String s3=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"example"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 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//creating Java string by new keyword 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(s1);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(s2);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(s3);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B07EA-4B8A-8AE1-C4FF-FCABD5995527}"/>
              </a:ext>
            </a:extLst>
          </p:cNvPr>
          <p:cNvSpPr txBox="1"/>
          <p:nvPr/>
        </p:nvSpPr>
        <p:spPr>
          <a:xfrm>
            <a:off x="9879106" y="3176191"/>
            <a:ext cx="209774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333333"/>
                </a:solidFill>
                <a:effectLst/>
                <a:latin typeface="inter-bold"/>
              </a:rPr>
              <a:t>Output:</a:t>
            </a:r>
          </a:p>
          <a:p>
            <a:r>
              <a:rPr lang="en-IN" b="1" dirty="0">
                <a:solidFill>
                  <a:srgbClr val="333333"/>
                </a:solidFill>
                <a:latin typeface="inter-bold"/>
              </a:rPr>
              <a:t>	</a:t>
            </a:r>
            <a:r>
              <a:rPr lang="en-IN" dirty="0">
                <a:solidFill>
                  <a:srgbClr val="333333"/>
                </a:solidFill>
                <a:latin typeface="inter-bold"/>
              </a:rPr>
              <a:t>java</a:t>
            </a:r>
          </a:p>
          <a:p>
            <a:r>
              <a:rPr lang="en-IN" dirty="0">
                <a:solidFill>
                  <a:srgbClr val="333333"/>
                </a:solidFill>
                <a:latin typeface="inter-bold"/>
              </a:rPr>
              <a:t>	strings</a:t>
            </a:r>
          </a:p>
          <a:p>
            <a:r>
              <a:rPr lang="en-IN" dirty="0">
                <a:solidFill>
                  <a:srgbClr val="333333"/>
                </a:solidFill>
                <a:latin typeface="inter-bold"/>
              </a:rPr>
              <a:t>	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10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106" y="2611931"/>
            <a:ext cx="9959788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Immutable String in Java</a:t>
            </a:r>
          </a:p>
        </p:txBody>
      </p:sp>
    </p:spTree>
    <p:extLst>
      <p:ext uri="{BB962C8B-B14F-4D97-AF65-F5344CB8AC3E}">
        <p14:creationId xmlns:p14="http://schemas.microsoft.com/office/powerpoint/2010/main" val="487144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Immutable Strings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717870"/>
            <a:ext cx="11329725" cy="1101966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US" sz="8000" b="0" i="0" dirty="0">
                <a:solidFill>
                  <a:srgbClr val="333333"/>
                </a:solidFill>
                <a:effectLst/>
                <a:latin typeface="inter-regular"/>
              </a:rPr>
              <a:t>In Java, </a:t>
            </a:r>
            <a:r>
              <a:rPr lang="en-US" sz="8000" b="1" i="0" dirty="0">
                <a:solidFill>
                  <a:srgbClr val="333333"/>
                </a:solidFill>
                <a:effectLst/>
                <a:latin typeface="inter-regular"/>
              </a:rPr>
              <a:t>String objects are immutable</a:t>
            </a:r>
            <a:r>
              <a:rPr lang="en-US" sz="8000" b="0" i="0" dirty="0">
                <a:solidFill>
                  <a:srgbClr val="333333"/>
                </a:solidFill>
                <a:effectLst/>
                <a:latin typeface="inter-regular"/>
              </a:rPr>
              <a:t>. Immutable simply means unmodifiable or unchangeable.</a:t>
            </a:r>
          </a:p>
          <a:p>
            <a:pPr marL="0" indent="0" algn="just">
              <a:buNone/>
            </a:pPr>
            <a:r>
              <a:rPr lang="en-US" sz="8000" b="0" i="0" dirty="0">
                <a:solidFill>
                  <a:srgbClr val="333333"/>
                </a:solidFill>
                <a:effectLst/>
                <a:latin typeface="inter-regular"/>
              </a:rPr>
              <a:t>Once a String object is created its data or state can't be changed but a new String object is created.</a:t>
            </a:r>
          </a:p>
          <a:p>
            <a:pPr marL="0" indent="0" algn="just">
              <a:buNone/>
            </a:pPr>
            <a:r>
              <a:rPr lang="en-US" sz="8000" b="0" i="0" dirty="0">
                <a:solidFill>
                  <a:srgbClr val="333333"/>
                </a:solidFill>
                <a:effectLst/>
                <a:latin typeface="inter-regular"/>
              </a:rPr>
              <a:t>Let's try to understand the concept of immutability by the example given below:</a:t>
            </a:r>
            <a:endParaRPr lang="en-US" sz="8000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marL="0" indent="0" algn="just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1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02254B-A214-B1C3-BE96-A16FE250EBDD}"/>
              </a:ext>
            </a:extLst>
          </p:cNvPr>
          <p:cNvSpPr txBox="1"/>
          <p:nvPr/>
        </p:nvSpPr>
        <p:spPr>
          <a:xfrm>
            <a:off x="674015" y="1961526"/>
            <a:ext cx="6139161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class </a:t>
            </a:r>
            <a:r>
              <a:rPr lang="en-IN" sz="1800" dirty="0" err="1">
                <a:solidFill>
                  <a:srgbClr val="333333"/>
                </a:solidFill>
                <a:latin typeface="inter-regular"/>
              </a:rPr>
              <a:t>Testimmutablestring</a:t>
            </a:r>
            <a:endParaRPr lang="en-IN" sz="18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{  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     public static void main(String </a:t>
            </a:r>
            <a:r>
              <a:rPr lang="en-IN" sz="1800" dirty="0" err="1">
                <a:solidFill>
                  <a:srgbClr val="333333"/>
                </a:solidFill>
                <a:latin typeface="inter-regular"/>
              </a:rPr>
              <a:t>args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[])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     {  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         String s="Sachin";  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333333"/>
                </a:solidFill>
                <a:latin typeface="inter-regular"/>
              </a:rPr>
              <a:t>         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//</a:t>
            </a:r>
            <a:r>
              <a:rPr lang="en-IN" sz="1800" dirty="0" err="1">
                <a:solidFill>
                  <a:srgbClr val="333333"/>
                </a:solidFill>
                <a:latin typeface="inter-regular"/>
              </a:rPr>
              <a:t>concat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() method appends the string at the end  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         </a:t>
            </a:r>
            <a:r>
              <a:rPr lang="en-IN" sz="1800" dirty="0" err="1">
                <a:solidFill>
                  <a:srgbClr val="333333"/>
                </a:solidFill>
                <a:latin typeface="inter-regular"/>
              </a:rPr>
              <a:t>s.concat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(" Tendulkar");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333333"/>
                </a:solidFill>
                <a:latin typeface="inter-regular"/>
              </a:rPr>
              <a:t>         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//will print Sachin because strings are immutable objects 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         </a:t>
            </a:r>
            <a:r>
              <a:rPr lang="en-IN" sz="1800" dirty="0" err="1">
                <a:solidFill>
                  <a:srgbClr val="333333"/>
                </a:solidFill>
                <a:latin typeface="inter-regular"/>
              </a:rPr>
              <a:t>System.out.println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(s);  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333333"/>
                </a:solidFill>
                <a:latin typeface="inter-regular"/>
              </a:rPr>
              <a:t>     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}  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}  </a:t>
            </a:r>
          </a:p>
        </p:txBody>
      </p:sp>
      <p:pic>
        <p:nvPicPr>
          <p:cNvPr id="4098" name="Picture 2" descr="Immutable String in Java">
            <a:extLst>
              <a:ext uri="{FF2B5EF4-FFF2-40B4-BE49-F238E27FC236}">
                <a16:creationId xmlns:a16="http://schemas.microsoft.com/office/drawing/2014/main" id="{F5D3C33F-0882-D205-F144-571FF55C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722" y="1961526"/>
            <a:ext cx="4638675" cy="3253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FA08DD-222F-BC03-AA09-683568B93721}"/>
              </a:ext>
            </a:extLst>
          </p:cNvPr>
          <p:cNvSpPr txBox="1"/>
          <p:nvPr/>
        </p:nvSpPr>
        <p:spPr>
          <a:xfrm>
            <a:off x="502418" y="5493799"/>
            <a:ext cx="1145397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Here,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Sachin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is not changed but a new object is created with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Sachin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Tendulkar. That is why String is known as immutable.</a:t>
            </a:r>
          </a:p>
          <a:p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We can see from the above figure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that two objects are created but </a:t>
            </a:r>
            <a:r>
              <a:rPr lang="en-US" b="1" i="1" dirty="0">
                <a:solidFill>
                  <a:srgbClr val="333333"/>
                </a:solidFill>
                <a:effectLst/>
                <a:latin typeface="inter-bold"/>
              </a:rPr>
              <a:t>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reference variable still refers to "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Sachin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" not to "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Sachin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Tendulkar".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973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Immutable Strings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717870"/>
            <a:ext cx="11329725" cy="1101966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US" sz="8000" b="0" i="0" dirty="0">
                <a:solidFill>
                  <a:srgbClr val="333333"/>
                </a:solidFill>
                <a:effectLst/>
                <a:latin typeface="inter-regular"/>
              </a:rPr>
              <a:t>But if we explicitly assign it to the reference variable, it will refer to "</a:t>
            </a:r>
            <a:r>
              <a:rPr lang="en-US" sz="8000" b="0" i="0" dirty="0" err="1">
                <a:solidFill>
                  <a:srgbClr val="333333"/>
                </a:solidFill>
                <a:effectLst/>
                <a:latin typeface="inter-regular"/>
              </a:rPr>
              <a:t>Sachin</a:t>
            </a:r>
            <a:r>
              <a:rPr lang="en-US" sz="8000" b="0" i="0" dirty="0">
                <a:solidFill>
                  <a:srgbClr val="333333"/>
                </a:solidFill>
                <a:effectLst/>
                <a:latin typeface="inter-regular"/>
              </a:rPr>
              <a:t> Tendulkar" object.</a:t>
            </a:r>
          </a:p>
          <a:p>
            <a:pPr marL="0" indent="0" algn="just">
              <a:buNone/>
            </a:pPr>
            <a:endParaRPr lang="en-US" sz="36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8000" b="0" i="0" dirty="0">
                <a:solidFill>
                  <a:srgbClr val="333333"/>
                </a:solidFill>
                <a:effectLst/>
                <a:latin typeface="inter-regular"/>
              </a:rPr>
              <a:t>For example: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endParaRPr lang="en-US" sz="2000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2000" dirty="0">
              <a:solidFill>
                <a:srgbClr val="0082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marL="0" indent="0" algn="just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1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02254B-A214-B1C3-BE96-A16FE250EBDD}"/>
              </a:ext>
            </a:extLst>
          </p:cNvPr>
          <p:cNvSpPr txBox="1"/>
          <p:nvPr/>
        </p:nvSpPr>
        <p:spPr>
          <a:xfrm>
            <a:off x="674016" y="1840624"/>
            <a:ext cx="6139161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class </a:t>
            </a:r>
            <a:r>
              <a:rPr lang="en-IN" sz="1800" dirty="0" err="1">
                <a:solidFill>
                  <a:srgbClr val="333333"/>
                </a:solidFill>
                <a:latin typeface="inter-regular"/>
              </a:rPr>
              <a:t>Testimmutablestring</a:t>
            </a:r>
            <a:endParaRPr lang="en-IN" sz="18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{  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     public static void main(String </a:t>
            </a:r>
            <a:r>
              <a:rPr lang="en-IN" sz="1800" dirty="0" err="1">
                <a:solidFill>
                  <a:srgbClr val="333333"/>
                </a:solidFill>
                <a:latin typeface="inter-regular"/>
              </a:rPr>
              <a:t>args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[])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     {  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         String s="Sachin";  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         s=</a:t>
            </a:r>
            <a:r>
              <a:rPr lang="en-IN" sz="1800" dirty="0" err="1">
                <a:solidFill>
                  <a:srgbClr val="333333"/>
                </a:solidFill>
                <a:latin typeface="inter-regular"/>
              </a:rPr>
              <a:t>s.concat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(" Tendulkar");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         </a:t>
            </a:r>
            <a:r>
              <a:rPr lang="en-IN" sz="1800" dirty="0" err="1">
                <a:solidFill>
                  <a:srgbClr val="333333"/>
                </a:solidFill>
                <a:latin typeface="inter-regular"/>
              </a:rPr>
              <a:t>System.out.println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(s);  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333333"/>
                </a:solidFill>
                <a:latin typeface="inter-regular"/>
              </a:rPr>
              <a:t>     </a:t>
            </a:r>
            <a:r>
              <a:rPr lang="en-IN" sz="1800" dirty="0">
                <a:solidFill>
                  <a:srgbClr val="333333"/>
                </a:solidFill>
                <a:latin typeface="inter-regular"/>
              </a:rPr>
              <a:t>}  </a:t>
            </a:r>
          </a:p>
          <a:p>
            <a:pPr marL="0" indent="0" algn="just">
              <a:buNone/>
            </a:pPr>
            <a:r>
              <a:rPr lang="en-IN" sz="1800" dirty="0">
                <a:solidFill>
                  <a:srgbClr val="333333"/>
                </a:solidFill>
                <a:latin typeface="inter-regular"/>
              </a:rPr>
              <a:t>}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A08DD-222F-BC03-AA09-683568B93721}"/>
              </a:ext>
            </a:extLst>
          </p:cNvPr>
          <p:cNvSpPr txBox="1"/>
          <p:nvPr/>
        </p:nvSpPr>
        <p:spPr>
          <a:xfrm>
            <a:off x="397436" y="5215095"/>
            <a:ext cx="11400118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Why String objects are immutable in Java?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As Java uses the concept of String literal. Suppose there are 5 reference variables, all refer to one object "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Sachin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". If one reference variable changes the value of the object, it will be affected by all the reference variables. That is why String objects are immutable in Java.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BDF02CB-6BFC-1D77-8A01-92BD7110F3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343560"/>
              </p:ext>
            </p:extLst>
          </p:nvPr>
        </p:nvGraphicFramePr>
        <p:xfrm>
          <a:off x="7006309" y="1669490"/>
          <a:ext cx="4898820" cy="336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511160" imgH="3368160" progId="PBrush">
                  <p:embed/>
                </p:oleObj>
              </mc:Choice>
              <mc:Fallback>
                <p:oleObj name="Bitmap Image" r:id="rId2" imgW="4511160" imgH="33681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06309" y="1669490"/>
                        <a:ext cx="4898820" cy="336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773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106" y="2611931"/>
            <a:ext cx="9959788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String Methods</a:t>
            </a:r>
          </a:p>
        </p:txBody>
      </p:sp>
    </p:spTree>
    <p:extLst>
      <p:ext uri="{BB962C8B-B14F-4D97-AF65-F5344CB8AC3E}">
        <p14:creationId xmlns:p14="http://schemas.microsoft.com/office/powerpoint/2010/main" val="3832545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27613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String Methods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7665B45-2949-37A8-1754-BF18A33B6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739572"/>
              </p:ext>
            </p:extLst>
          </p:nvPr>
        </p:nvGraphicFramePr>
        <p:xfrm>
          <a:off x="277906" y="1031634"/>
          <a:ext cx="11399370" cy="5004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7765">
                  <a:extLst>
                    <a:ext uri="{9D8B030D-6E8A-4147-A177-3AD203B41FA5}">
                      <a16:colId xmlns:a16="http://schemas.microsoft.com/office/drawing/2014/main" val="98604603"/>
                    </a:ext>
                  </a:extLst>
                </a:gridCol>
                <a:gridCol w="5751605">
                  <a:extLst>
                    <a:ext uri="{9D8B030D-6E8A-4147-A177-3AD203B41FA5}">
                      <a16:colId xmlns:a16="http://schemas.microsoft.com/office/drawing/2014/main" val="3281261261"/>
                    </a:ext>
                  </a:extLst>
                </a:gridCol>
              </a:tblGrid>
              <a:tr h="407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841299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char </a:t>
                      </a:r>
                      <a:r>
                        <a:rPr lang="en-IN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charAt</a:t>
                      </a:r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(int index)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char value for the particular 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618188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int length()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string length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177880744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String substring(int </a:t>
                      </a:r>
                      <a:r>
                        <a:rPr lang="en-IN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beginIndex</a:t>
                      </a:r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substring for given begin index.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990576060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String substring(int </a:t>
                      </a:r>
                      <a:r>
                        <a:rPr lang="en-US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beginIndex</a:t>
                      </a:r>
                      <a:r>
                        <a:rPr lang="en-US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, int </a:t>
                      </a:r>
                      <a:r>
                        <a:rPr lang="en-US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endIndex</a:t>
                      </a:r>
                      <a:r>
                        <a:rPr lang="en-US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substring for given begin index and end index.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5088744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boolean</a:t>
                      </a:r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contains(</a:t>
                      </a:r>
                      <a:r>
                        <a:rPr lang="en-IN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CharSequence</a:t>
                      </a:r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s)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true or false after matching the sequence of char value.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095656783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static String join(</a:t>
                      </a:r>
                      <a:r>
                        <a:rPr lang="en-US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CharSequence</a:t>
                      </a:r>
                      <a:r>
                        <a:rPr lang="en-US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delimiter, </a:t>
                      </a:r>
                      <a:r>
                        <a:rPr lang="en-US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CharSequence</a:t>
                      </a:r>
                      <a:r>
                        <a:rPr lang="en-US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... elements)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joined string.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886746910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boolean</a:t>
                      </a:r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checks if string is empty.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236542956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String </a:t>
                      </a:r>
                      <a:r>
                        <a:rPr lang="en-IN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concat</a:t>
                      </a:r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(String str)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concatenates the specified string.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06537556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String replace(char old, char new)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replaces all occurrences of the specified char value.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871100323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String replace(</a:t>
                      </a:r>
                      <a:r>
                        <a:rPr lang="en-US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CharSequence</a:t>
                      </a:r>
                      <a:r>
                        <a:rPr lang="en-US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old, </a:t>
                      </a:r>
                      <a:r>
                        <a:rPr lang="en-US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CharSequence</a:t>
                      </a:r>
                      <a:r>
                        <a:rPr lang="en-US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new)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replaces all occurrences of the specified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CharSequence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161421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81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27613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String Methods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7665B45-2949-37A8-1754-BF18A33B6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940082"/>
              </p:ext>
            </p:extLst>
          </p:nvPr>
        </p:nvGraphicFramePr>
        <p:xfrm>
          <a:off x="507066" y="807517"/>
          <a:ext cx="11052361" cy="5748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3962">
                  <a:extLst>
                    <a:ext uri="{9D8B030D-6E8A-4147-A177-3AD203B41FA5}">
                      <a16:colId xmlns:a16="http://schemas.microsoft.com/office/drawing/2014/main" val="19107764"/>
                    </a:ext>
                  </a:extLst>
                </a:gridCol>
                <a:gridCol w="6248399">
                  <a:extLst>
                    <a:ext uri="{9D8B030D-6E8A-4147-A177-3AD203B41FA5}">
                      <a16:colId xmlns:a16="http://schemas.microsoft.com/office/drawing/2014/main" val="3281261261"/>
                    </a:ext>
                  </a:extLst>
                </a:gridCol>
              </a:tblGrid>
              <a:tr h="4421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841299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u="none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boolean</a:t>
                      </a:r>
                      <a:r>
                        <a:rPr lang="en-IN" sz="1800" u="none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 equals(Object another)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checks the equality of string with the given object.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503242059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static String </a:t>
                      </a:r>
                      <a:r>
                        <a:rPr lang="en-US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equalsIgnoreCase</a:t>
                      </a:r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(String another)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compares another string. It doesn't check case.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01781123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String[] split(String regex)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split string matching regex.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726301623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sv-SE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String[] split(String regex, int limit)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split string matching regex and limit.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027364044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int </a:t>
                      </a:r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indexOf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(int </a:t>
                      </a:r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specified char value index.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28202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indexOf</a:t>
                      </a:r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(int </a:t>
                      </a:r>
                      <a:r>
                        <a:rPr lang="en-US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ch</a:t>
                      </a:r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, int </a:t>
                      </a:r>
                      <a:r>
                        <a:rPr lang="en-US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fromIndex</a:t>
                      </a:r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specified char value index starting with given index.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322599222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int </a:t>
                      </a:r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indexOf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(String substring)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specified substring index.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291840642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int </a:t>
                      </a:r>
                      <a:r>
                        <a:rPr lang="en-US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indexOf</a:t>
                      </a:r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(String substring, int </a:t>
                      </a:r>
                      <a:r>
                        <a:rPr lang="en-US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fromIndex</a:t>
                      </a:r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the specified substring index starting with given index.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420987594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String </a:t>
                      </a:r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toLowerCase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string in lowercase.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53676405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String </a:t>
                      </a:r>
                      <a:r>
                        <a:rPr lang="en-IN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toUpperCase</a:t>
                      </a:r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returns a string in uppercase.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110848551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IN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String trim()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removes beginning and ending spaces of this string.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186559728"/>
                  </a:ext>
                </a:extLst>
              </a:tr>
              <a:tr h="442190"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static String </a:t>
                      </a:r>
                      <a:r>
                        <a:rPr lang="en-US" sz="1800" kern="12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valueOf</a:t>
                      </a:r>
                      <a:r>
                        <a:rPr lang="en-US" sz="1800" kern="1200" dirty="0">
                          <a:solidFill>
                            <a:srgbClr val="333333"/>
                          </a:solidFill>
                          <a:effectLst/>
                          <a:latin typeface="inter-regular"/>
                          <a:ea typeface="+mn-ea"/>
                          <a:cs typeface="+mn-cs"/>
                        </a:rPr>
                        <a:t>(int value)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converts given type into string. It is an overloaded method.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413800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119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610B38"/>
                </a:solidFill>
                <a:latin typeface="erdana"/>
              </a:rPr>
              <a:t>charAt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() Method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35490-D9E2-2890-0B81-CF0621BB9F03}"/>
              </a:ext>
            </a:extLst>
          </p:cNvPr>
          <p:cNvSpPr txBox="1"/>
          <p:nvPr/>
        </p:nvSpPr>
        <p:spPr>
          <a:xfrm>
            <a:off x="397435" y="805987"/>
            <a:ext cx="11579413" cy="19082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Java String class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inter-bold"/>
              </a:rPr>
              <a:t>charAt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()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method returns </a:t>
            </a:r>
            <a:r>
              <a:rPr lang="en-US" sz="2000" b="0" i="1" dirty="0">
                <a:solidFill>
                  <a:srgbClr val="333333"/>
                </a:solidFill>
                <a:effectLst/>
                <a:latin typeface="inter-regular"/>
              </a:rPr>
              <a:t>a char value at the given index number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  <a:p>
            <a:pPr algn="just"/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 index number starts from 0 and goes to n-1, where n is the length of the string. It returns 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inter-bold"/>
              </a:rPr>
              <a:t>StringIndexOutOfBoundsException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,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if the given index number is greater than or equal to this string length or a negative number.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B07EA-4B8A-8AE1-C4FF-FCABD5995527}"/>
              </a:ext>
            </a:extLst>
          </p:cNvPr>
          <p:cNvSpPr txBox="1"/>
          <p:nvPr/>
        </p:nvSpPr>
        <p:spPr>
          <a:xfrm>
            <a:off x="9009530" y="3283768"/>
            <a:ext cx="2097742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000" b="1" i="0" dirty="0">
                <a:solidFill>
                  <a:srgbClr val="333333"/>
                </a:solidFill>
                <a:effectLst/>
                <a:latin typeface="inter-bold"/>
              </a:rPr>
              <a:t>Output:</a:t>
            </a:r>
          </a:p>
          <a:p>
            <a:r>
              <a:rPr lang="en-IN" sz="2000" b="1" dirty="0">
                <a:solidFill>
                  <a:srgbClr val="333333"/>
                </a:solidFill>
                <a:latin typeface="inter-bold"/>
              </a:rPr>
              <a:t>	p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BEDE0-B376-A1D5-6D30-AB2A12C772FD}"/>
              </a:ext>
            </a:extLst>
          </p:cNvPr>
          <p:cNvSpPr txBox="1"/>
          <p:nvPr/>
        </p:nvSpPr>
        <p:spPr>
          <a:xfrm>
            <a:off x="484093" y="2959296"/>
            <a:ext cx="7754471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CharAtExample</a:t>
            </a: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      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inter-regular"/>
              </a:rPr>
              <a:t>     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            String name=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inter-regular"/>
              </a:rPr>
              <a:t>“compiler"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            char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ch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name.charAt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000" dirty="0">
                <a:solidFill>
                  <a:srgbClr val="C00000"/>
                </a:solidFill>
                <a:latin typeface="inter-regular"/>
              </a:rPr>
              <a:t>3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US" sz="2000" b="0" i="0" dirty="0">
                <a:solidFill>
                  <a:srgbClr val="008200"/>
                </a:solidFill>
                <a:effectLst/>
                <a:latin typeface="inter-regular"/>
              </a:rPr>
              <a:t>//returns the char value at the 3rd index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           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ch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      }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316819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length() Method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35490-D9E2-2890-0B81-CF0621BB9F03}"/>
              </a:ext>
            </a:extLst>
          </p:cNvPr>
          <p:cNvSpPr txBox="1"/>
          <p:nvPr/>
        </p:nvSpPr>
        <p:spPr>
          <a:xfrm>
            <a:off x="397435" y="805987"/>
            <a:ext cx="11579413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Java String class length()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method finds the length of a string. The length of the Java string is the same as the Unicode code units of the string.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B07EA-4B8A-8AE1-C4FF-FCABD5995527}"/>
              </a:ext>
            </a:extLst>
          </p:cNvPr>
          <p:cNvSpPr txBox="1"/>
          <p:nvPr/>
        </p:nvSpPr>
        <p:spPr>
          <a:xfrm>
            <a:off x="8100548" y="3087840"/>
            <a:ext cx="3445008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000" b="1" i="0" dirty="0">
                <a:solidFill>
                  <a:srgbClr val="333333"/>
                </a:solidFill>
                <a:effectLst/>
                <a:latin typeface="inter-bold"/>
              </a:rPr>
              <a:t>Output:</a:t>
            </a:r>
          </a:p>
          <a:p>
            <a:r>
              <a:rPr lang="en-IN" sz="2000" b="1" dirty="0">
                <a:solidFill>
                  <a:srgbClr val="333333"/>
                </a:solidFill>
                <a:latin typeface="inter-bold"/>
              </a:rPr>
              <a:t>	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inter-regular"/>
              </a:rPr>
              <a:t>string s1 length is: 4</a:t>
            </a:r>
          </a:p>
          <a:p>
            <a:r>
              <a:rPr lang="en-US" sz="2000" dirty="0">
                <a:solidFill>
                  <a:srgbClr val="0000FF"/>
                </a:solidFill>
                <a:latin typeface="inter-regular"/>
              </a:rPr>
              <a:t>	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inter-regular"/>
              </a:rPr>
              <a:t>string s2 length is: 6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BEDE0-B376-A1D5-6D30-AB2A12C772FD}"/>
              </a:ext>
            </a:extLst>
          </p:cNvPr>
          <p:cNvSpPr txBox="1"/>
          <p:nvPr/>
        </p:nvSpPr>
        <p:spPr>
          <a:xfrm>
            <a:off x="397434" y="2205670"/>
            <a:ext cx="7038346" cy="31700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LengthExample</a:t>
            </a:r>
            <a:endParaRPr lang="en-US" sz="2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      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inter-regular"/>
              </a:rPr>
              <a:t>     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            String s1=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US" sz="2000" dirty="0">
                <a:solidFill>
                  <a:srgbClr val="000000"/>
                </a:solidFill>
                <a:latin typeface="inter-regular"/>
              </a:rPr>
              <a:t>           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String s2=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inter-regular"/>
              </a:rPr>
              <a:t>"python"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           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inter-regular"/>
              </a:rPr>
              <a:t>"string s1 length is: 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+s1.length());  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           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inter-regular"/>
              </a:rPr>
              <a:t>"string s2 length is: 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+s2.length());  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      }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1182921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substring() Method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35490-D9E2-2890-0B81-CF0621BB9F03}"/>
              </a:ext>
            </a:extLst>
          </p:cNvPr>
          <p:cNvSpPr txBox="1"/>
          <p:nvPr/>
        </p:nvSpPr>
        <p:spPr>
          <a:xfrm>
            <a:off x="397435" y="852340"/>
            <a:ext cx="11579413" cy="56400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bold"/>
              </a:rPr>
              <a:t>Java String class substring()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method returns a part of the string.</a:t>
            </a:r>
          </a:p>
          <a:p>
            <a:pPr algn="just"/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We pass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inter-regular"/>
              </a:rPr>
              <a:t>beginIndex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and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inter-regular"/>
              </a:rPr>
              <a:t>endIndex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number position in the Java substring method where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inter-regular"/>
              </a:rPr>
              <a:t>beginIndex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is inclusive, and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inter-regular"/>
              </a:rPr>
              <a:t>endIndex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is exclusive. </a:t>
            </a:r>
          </a:p>
          <a:p>
            <a:pPr algn="just"/>
            <a:endParaRPr lang="en-US" sz="2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There are two types of substring methods in Java string.</a:t>
            </a:r>
          </a:p>
          <a:p>
            <a:pPr algn="just"/>
            <a:endParaRPr lang="en-US" sz="2000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String substring(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startIndex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)  </a:t>
            </a:r>
            <a:r>
              <a:rPr lang="en-US" sz="2000" b="0" i="0" dirty="0">
                <a:solidFill>
                  <a:srgbClr val="008200"/>
                </a:solidFill>
                <a:effectLst/>
                <a:latin typeface="inter-regular"/>
              </a:rPr>
              <a:t>// type - 1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US" sz="10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and    </a:t>
            </a:r>
          </a:p>
          <a:p>
            <a:pPr algn="just"/>
            <a:endParaRPr lang="en-US" sz="800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algn="just"/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String substring(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startIndex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sz="2000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inter-regular"/>
              </a:rPr>
              <a:t>endIndex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)  </a:t>
            </a:r>
            <a:r>
              <a:rPr lang="en-US" sz="2000" b="0" i="0" dirty="0">
                <a:solidFill>
                  <a:srgbClr val="008200"/>
                </a:solidFill>
                <a:effectLst/>
                <a:latin typeface="inter-regular"/>
              </a:rPr>
              <a:t>// type - 2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US" sz="2000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n-US" sz="2000" b="1" dirty="0">
                <a:solidFill>
                  <a:srgbClr val="FF0000"/>
                </a:solidFill>
                <a:latin typeface="inter-regular"/>
              </a:rPr>
              <a:t>Note:</a:t>
            </a:r>
          </a:p>
          <a:p>
            <a:pPr algn="just"/>
            <a:endParaRPr lang="en-US" sz="1050" b="1" i="0" dirty="0">
              <a:solidFill>
                <a:srgbClr val="333333"/>
              </a:solidFill>
              <a:effectLst/>
              <a:latin typeface="inter-bold"/>
            </a:endParaRPr>
          </a:p>
          <a:p>
            <a:pPr algn="just"/>
            <a:r>
              <a:rPr lang="en-US" sz="2000" b="1" i="0" dirty="0" err="1">
                <a:solidFill>
                  <a:srgbClr val="333333"/>
                </a:solidFill>
                <a:effectLst/>
                <a:latin typeface="inter-bold"/>
              </a:rPr>
              <a:t>StringIndexOutOfBoundsException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 is thrown when any one of the following conditions is met.</a:t>
            </a:r>
          </a:p>
          <a:p>
            <a:pPr algn="just"/>
            <a:endParaRPr lang="en-US" sz="12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if the start index is negative value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end index is lower than starting index.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Either starting or ending index is greater than the total number of characters present in the string.</a:t>
            </a:r>
          </a:p>
        </p:txBody>
      </p:sp>
    </p:spTree>
    <p:extLst>
      <p:ext uri="{BB962C8B-B14F-4D97-AF65-F5344CB8AC3E}">
        <p14:creationId xmlns:p14="http://schemas.microsoft.com/office/powerpoint/2010/main" val="1125927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substring()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CCFE-1FCE-8928-2D71-7705BC94FA45}"/>
              </a:ext>
            </a:extLst>
          </p:cNvPr>
          <p:cNvSpPr txBox="1"/>
          <p:nvPr/>
        </p:nvSpPr>
        <p:spPr>
          <a:xfrm>
            <a:off x="636493" y="717870"/>
            <a:ext cx="7306235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SubstringEx1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String s1=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</a:t>
            </a:r>
            <a:r>
              <a:rPr lang="en-IN" dirty="0" err="1">
                <a:solidFill>
                  <a:srgbClr val="0000FF"/>
                </a:solidFill>
                <a:latin typeface="inter-regular"/>
              </a:rPr>
              <a:t>J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avaprogram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(s1.substring(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//returns </a:t>
            </a:r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va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(s1.substring(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//returns </a:t>
            </a:r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vaprogram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36494" y="3403714"/>
            <a:ext cx="7306234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SubstringEx2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String s1=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Javaprogram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substr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= s1.substring(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Starts with 0 and goes to end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substr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String substr2 = s1.substring(</a:t>
            </a:r>
            <a:r>
              <a:rPr lang="en-IN" dirty="0">
                <a:solidFill>
                  <a:srgbClr val="C00000"/>
                </a:solidFill>
                <a:latin typeface="inter-regular"/>
              </a:rPr>
              <a:t>4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dirty="0">
                <a:solidFill>
                  <a:srgbClr val="C00000"/>
                </a:solidFill>
                <a:latin typeface="inter-regular"/>
              </a:rPr>
              <a:t>8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Starts from 5 and goes to </a:t>
            </a:r>
            <a:r>
              <a:rPr lang="en-IN" dirty="0">
                <a:solidFill>
                  <a:srgbClr val="008200"/>
                </a:solidFill>
                <a:latin typeface="inter-regular"/>
              </a:rPr>
              <a:t>8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(substr2);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String substr3 = s1.substring(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Returns Exception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70569-BC9C-C248-9668-215B56D438A9}"/>
              </a:ext>
            </a:extLst>
          </p:cNvPr>
          <p:cNvSpPr txBox="1"/>
          <p:nvPr/>
        </p:nvSpPr>
        <p:spPr>
          <a:xfrm>
            <a:off x="8340131" y="4234711"/>
            <a:ext cx="3428163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r>
              <a:rPr lang="en-US" dirty="0" err="1"/>
              <a:t>Javaprogram</a:t>
            </a:r>
            <a:endParaRPr lang="en-US" dirty="0"/>
          </a:p>
          <a:p>
            <a:r>
              <a:rPr lang="en-US" dirty="0"/>
              <a:t>prog</a:t>
            </a:r>
          </a:p>
          <a:p>
            <a:r>
              <a:rPr lang="en-US" dirty="0"/>
              <a:t>Exception in thread "main" </a:t>
            </a:r>
            <a:r>
              <a:rPr lang="en-US" dirty="0" err="1"/>
              <a:t>java.lang.StringIndexOutOfBoundsException</a:t>
            </a:r>
            <a:r>
              <a:rPr lang="en-US" dirty="0"/>
              <a:t>: begin 5, end 15, length 11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8442289" y="994868"/>
            <a:ext cx="332600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r>
              <a:rPr lang="en-US" dirty="0" err="1"/>
              <a:t>va</a:t>
            </a:r>
            <a:endParaRPr lang="en-US" dirty="0"/>
          </a:p>
          <a:p>
            <a:r>
              <a:rPr lang="en-US" dirty="0" err="1"/>
              <a:t>vaprogram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568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contains()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CCFE-1FCE-8928-2D71-7705BC94FA45}"/>
              </a:ext>
            </a:extLst>
          </p:cNvPr>
          <p:cNvSpPr txBox="1"/>
          <p:nvPr/>
        </p:nvSpPr>
        <p:spPr>
          <a:xfrm>
            <a:off x="636493" y="717870"/>
            <a:ext cx="7306235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ContainsEx1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String name=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"what do you know about 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name.contains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"do you know"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name.contains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"about"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name.contains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"hello"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36494" y="3657846"/>
            <a:ext cx="7306234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ContainsEx2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	String str = 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"Hello Java readers"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	 </a:t>
            </a:r>
            <a:r>
              <a:rPr lang="en-IN" b="1" i="0" dirty="0" err="1">
                <a:solidFill>
                  <a:srgbClr val="006699"/>
                </a:solidFill>
                <a:effectLst/>
                <a:latin typeface="inter-regular"/>
              </a:rPr>
              <a:t>boolean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isContains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=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str.contains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isContains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	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Case Sensitive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str.contains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 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false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70569-BC9C-C248-9668-215B56D438A9}"/>
              </a:ext>
            </a:extLst>
          </p:cNvPr>
          <p:cNvSpPr txBox="1"/>
          <p:nvPr/>
        </p:nvSpPr>
        <p:spPr>
          <a:xfrm>
            <a:off x="8442290" y="3702671"/>
            <a:ext cx="335227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r>
              <a:rPr lang="en-US" dirty="0"/>
              <a:t>                     true</a:t>
            </a:r>
          </a:p>
          <a:p>
            <a:r>
              <a:rPr lang="en-US" dirty="0"/>
              <a:t>                     false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8442289" y="717870"/>
            <a:ext cx="3352275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r>
              <a:rPr lang="en-US" dirty="0"/>
              <a:t>                   true</a:t>
            </a:r>
          </a:p>
          <a:p>
            <a:r>
              <a:rPr lang="en-US" dirty="0"/>
              <a:t>                   true</a:t>
            </a:r>
          </a:p>
          <a:p>
            <a:r>
              <a:rPr lang="en-US" dirty="0"/>
              <a:t>                   false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32959-AA69-9034-3412-F97025C92ED4}"/>
              </a:ext>
            </a:extLst>
          </p:cNvPr>
          <p:cNvSpPr txBox="1"/>
          <p:nvPr/>
        </p:nvSpPr>
        <p:spPr>
          <a:xfrm>
            <a:off x="8442290" y="5061171"/>
            <a:ext cx="3382156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Note:</a:t>
            </a:r>
          </a:p>
          <a:p>
            <a:pPr algn="just"/>
            <a:endParaRPr lang="en-US" sz="1000" b="1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The contains() method should not be used to search for a character in a string. Doing so results in an error.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7433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join()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CCFE-1FCE-8928-2D71-7705BC94FA45}"/>
              </a:ext>
            </a:extLst>
          </p:cNvPr>
          <p:cNvSpPr txBox="1"/>
          <p:nvPr/>
        </p:nvSpPr>
        <p:spPr>
          <a:xfrm>
            <a:off x="636493" y="717870"/>
            <a:ext cx="1018390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effectLst/>
                <a:latin typeface="inter-regular"/>
              </a:rPr>
              <a:t>Syntax</a:t>
            </a:r>
            <a:r>
              <a:rPr lang="en-IN" i="0" dirty="0">
                <a:solidFill>
                  <a:srgbClr val="006699"/>
                </a:solidFill>
                <a:effectLst/>
                <a:latin typeface="inter-regular"/>
              </a:rPr>
              <a:t>: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 join(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CharSequence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delimiter,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CharSequence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... elements)   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36493" y="1241728"/>
            <a:ext cx="7306234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StringJoinEx1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String joinString1=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String.join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"-"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welcome"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"to"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"java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(joinString1);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70569-BC9C-C248-9668-215B56D438A9}"/>
              </a:ext>
            </a:extLst>
          </p:cNvPr>
          <p:cNvSpPr txBox="1"/>
          <p:nvPr/>
        </p:nvSpPr>
        <p:spPr>
          <a:xfrm>
            <a:off x="8593015" y="4928570"/>
            <a:ext cx="335227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r>
              <a:rPr lang="en-US" dirty="0"/>
              <a:t>                     18/10/2022 10:35:40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8593014" y="2072724"/>
            <a:ext cx="335227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r>
              <a:rPr lang="en-US" dirty="0"/>
              <a:t>                   welcome-to-java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15936-A5FE-C575-F6BE-24777B1AE85F}"/>
              </a:ext>
            </a:extLst>
          </p:cNvPr>
          <p:cNvSpPr txBox="1"/>
          <p:nvPr/>
        </p:nvSpPr>
        <p:spPr>
          <a:xfrm>
            <a:off x="701711" y="3907009"/>
            <a:ext cx="7166148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StringJoinEx2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String date =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String.join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"/"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</a:t>
            </a:r>
            <a:r>
              <a:rPr lang="en-IN" dirty="0">
                <a:solidFill>
                  <a:srgbClr val="0000FF"/>
                </a:solidFill>
                <a:latin typeface="inter-regular"/>
              </a:rPr>
              <a:t>18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“10"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"2022"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(date);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String time =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String.join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":"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“10"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</a:t>
            </a:r>
            <a:r>
              <a:rPr lang="en-IN" dirty="0">
                <a:solidFill>
                  <a:srgbClr val="0000FF"/>
                </a:solidFill>
                <a:latin typeface="inter-regular"/>
              </a:rPr>
              <a:t>35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“40"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+time);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2269838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610B38"/>
                </a:solidFill>
                <a:latin typeface="erdana"/>
              </a:rPr>
              <a:t>isEmpty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CCFE-1FCE-8928-2D71-7705BC94FA45}"/>
              </a:ext>
            </a:extLst>
          </p:cNvPr>
          <p:cNvSpPr txBox="1"/>
          <p:nvPr/>
        </p:nvSpPr>
        <p:spPr>
          <a:xfrm>
            <a:off x="636493" y="717870"/>
            <a:ext cx="11308796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Java String class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bold"/>
              </a:rPr>
              <a:t>isEmpty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()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method checks if the input string is empty or not. It returns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true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if string is empty otherwise it will return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false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Note :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H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ere empty means the number of characters contained in a string is zero.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36493" y="2070347"/>
            <a:ext cx="7306234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IsEmptyEx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String s1=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String s2=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(s1.isEmpty());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(s2.isEmpty());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8593015" y="3137849"/>
            <a:ext cx="214867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r>
              <a:rPr lang="en-US" dirty="0"/>
              <a:t>                   true</a:t>
            </a:r>
          </a:p>
          <a:p>
            <a:r>
              <a:rPr lang="en-US" dirty="0"/>
              <a:t>                   false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324D9-AC87-7129-CF91-19BC0978A527}"/>
              </a:ext>
            </a:extLst>
          </p:cNvPr>
          <p:cNvSpPr txBox="1"/>
          <p:nvPr/>
        </p:nvSpPr>
        <p:spPr>
          <a:xfrm>
            <a:off x="636493" y="5476911"/>
            <a:ext cx="730623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String str = 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; </a:t>
            </a:r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// empty string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String str1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; </a:t>
            </a:r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// null string. It also do not contain any characters.</a:t>
            </a:r>
          </a:p>
          <a:p>
            <a:pPr algn="just"/>
            <a:endParaRPr lang="en-US" dirty="0">
              <a:solidFill>
                <a:srgbClr val="008200"/>
              </a:solidFill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Note: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isEmpty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() method is </a:t>
            </a:r>
            <a:r>
              <a:rPr lang="en-US" b="1" i="0" u="sng" dirty="0">
                <a:solidFill>
                  <a:srgbClr val="333333"/>
                </a:solidFill>
                <a:effectLst/>
                <a:latin typeface="inter-regular"/>
              </a:rPr>
              <a:t>not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fit for checking the null strings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903562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610B38"/>
                </a:solidFill>
                <a:latin typeface="erdana"/>
              </a:rPr>
              <a:t>concat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CCFE-1FCE-8928-2D71-7705BC94FA45}"/>
              </a:ext>
            </a:extLst>
          </p:cNvPr>
          <p:cNvSpPr txBox="1"/>
          <p:nvPr/>
        </p:nvSpPr>
        <p:spPr>
          <a:xfrm>
            <a:off x="636493" y="717870"/>
            <a:ext cx="11308796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Java String class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bold"/>
              </a:rPr>
              <a:t>concat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()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method </a:t>
            </a:r>
            <a:r>
              <a:rPr lang="en-US" b="0" i="1" dirty="0">
                <a:solidFill>
                  <a:srgbClr val="333333"/>
                </a:solidFill>
                <a:effectLst/>
                <a:latin typeface="inter-regular"/>
              </a:rPr>
              <a:t>combines specified string at the end of this string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It returns a combined string. It is like appending another string.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36493" y="1641200"/>
            <a:ext cx="8668281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ConcatEx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US" b="1" dirty="0">
                <a:solidFill>
                  <a:srgbClr val="006699"/>
                </a:solidFill>
                <a:latin typeface="inter-regular"/>
              </a:rPr>
              <a:t>        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{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	String s1=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“Hello"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algn="just"/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	// The string s1 does not get changed, even though it is invoking the method    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	// </a:t>
            </a:r>
            <a:r>
              <a:rPr lang="en-US" b="0" i="0" dirty="0" err="1">
                <a:solidFill>
                  <a:srgbClr val="008200"/>
                </a:solidFill>
                <a:effectLst/>
                <a:latin typeface="inter-regular"/>
              </a:rPr>
              <a:t>concat</a:t>
            </a:r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(), as it is immutable. Therefore,  explicit assignment is required here.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	s1.concat(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“Java"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(s1);    </a:t>
            </a:r>
          </a:p>
          <a:p>
            <a:pPr algn="just"/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s1=s1.concat(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 Java Program"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(s1);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}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9686612" y="3067260"/>
            <a:ext cx="208335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r>
              <a:rPr lang="en-US" dirty="0"/>
              <a:t>Hello</a:t>
            </a:r>
          </a:p>
          <a:p>
            <a:r>
              <a:rPr lang="en-US" dirty="0"/>
              <a:t>Hello Java Program</a:t>
            </a:r>
          </a:p>
        </p:txBody>
      </p:sp>
    </p:spTree>
    <p:extLst>
      <p:ext uri="{BB962C8B-B14F-4D97-AF65-F5344CB8AC3E}">
        <p14:creationId xmlns:p14="http://schemas.microsoft.com/office/powerpoint/2010/main" val="1034289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replace()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66638" y="717870"/>
            <a:ext cx="7241415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ReplaceEx1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String s1=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“Good morning"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String s2 =s1.replace(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‘</a:t>
            </a:r>
            <a:r>
              <a:rPr lang="en-IN" dirty="0" err="1">
                <a:solidFill>
                  <a:srgbClr val="0000FF"/>
                </a:solidFill>
                <a:latin typeface="inter-regular"/>
              </a:rPr>
              <a:t>o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’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’e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'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//replaces all occurrences of ’o' to ’e’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(s2);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8088923" y="4491502"/>
            <a:ext cx="394900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dirty="0"/>
          </a:p>
          <a:p>
            <a:r>
              <a:rPr lang="en-US" dirty="0"/>
              <a:t>My name was khan and your name was </a:t>
            </a:r>
            <a:r>
              <a:rPr lang="en-US" dirty="0" err="1"/>
              <a:t>kiran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EBC7CF-22E7-E56E-F599-69A8A8FED9ED}"/>
              </a:ext>
            </a:extLst>
          </p:cNvPr>
          <p:cNvSpPr txBox="1"/>
          <p:nvPr/>
        </p:nvSpPr>
        <p:spPr>
          <a:xfrm>
            <a:off x="666638" y="3780694"/>
            <a:ext cx="7241415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ReplaceEx2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String s1=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"my name is khan and your name is 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kiran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   </a:t>
            </a:r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//replaces all occurrences of "is" to "was"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String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replaceString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=s1.replace(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is"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"was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replaceString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85DA3-5CEB-2904-B11E-969F8E11A806}"/>
              </a:ext>
            </a:extLst>
          </p:cNvPr>
          <p:cNvSpPr txBox="1"/>
          <p:nvPr/>
        </p:nvSpPr>
        <p:spPr>
          <a:xfrm>
            <a:off x="9261477" y="1690782"/>
            <a:ext cx="208335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/>
          </a:p>
          <a:p>
            <a:r>
              <a:rPr lang="en-US"/>
              <a:t>Geed </a:t>
            </a:r>
            <a:r>
              <a:rPr lang="en-US" dirty="0" err="1"/>
              <a:t>merning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043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equals()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12849" y="1228858"/>
            <a:ext cx="9104891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EqualsEx1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String s1=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String s2=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String s3=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String s4=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"python"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(s1.equals(s2));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//true because content and case is same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(s1.equals(s3));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//false because case is not same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(s1.equals(s4));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//false because content is not same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85DA3-5CEB-2904-B11E-969F8E11A806}"/>
              </a:ext>
            </a:extLst>
          </p:cNvPr>
          <p:cNvSpPr txBox="1"/>
          <p:nvPr/>
        </p:nvSpPr>
        <p:spPr>
          <a:xfrm>
            <a:off x="9977979" y="2920052"/>
            <a:ext cx="1918186" cy="12926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sz="300" dirty="0"/>
          </a:p>
          <a:p>
            <a:r>
              <a:rPr lang="en-US" dirty="0"/>
              <a:t>	true</a:t>
            </a:r>
          </a:p>
          <a:p>
            <a:r>
              <a:rPr lang="en-US" dirty="0"/>
              <a:t>	false</a:t>
            </a:r>
          </a:p>
          <a:p>
            <a:r>
              <a:rPr lang="en-US" dirty="0"/>
              <a:t>	false</a:t>
            </a:r>
          </a:p>
        </p:txBody>
      </p:sp>
    </p:spTree>
    <p:extLst>
      <p:ext uri="{BB962C8B-B14F-4D97-AF65-F5344CB8AC3E}">
        <p14:creationId xmlns:p14="http://schemas.microsoft.com/office/powerpoint/2010/main" val="3932661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610B38"/>
                </a:solidFill>
                <a:latin typeface="erdana"/>
              </a:rPr>
              <a:t>equalsIgnoreCase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()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12849" y="1228858"/>
            <a:ext cx="9104891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EqualsEx2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dirty="0">
                <a:solidFill>
                  <a:srgbClr val="006699"/>
                </a:solidFill>
                <a:latin typeface="inter-regular"/>
              </a:rPr>
              <a:t>  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String s1=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String s2=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String s3=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String s4=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"python"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(s1.equalsIgnoreCase(s2));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//true because content and case is same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(s1.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equalsIgnoreCase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(s3));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//true because case is ignored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(s1.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equalsIgnoreCase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(s4));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//false because content is not same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}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85DA3-5CEB-2904-B11E-969F8E11A806}"/>
              </a:ext>
            </a:extLst>
          </p:cNvPr>
          <p:cNvSpPr txBox="1"/>
          <p:nvPr/>
        </p:nvSpPr>
        <p:spPr>
          <a:xfrm>
            <a:off x="10013838" y="2902123"/>
            <a:ext cx="1918186" cy="12926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sz="300" dirty="0"/>
          </a:p>
          <a:p>
            <a:r>
              <a:rPr lang="en-US" dirty="0"/>
              <a:t>	true</a:t>
            </a:r>
          </a:p>
          <a:p>
            <a:r>
              <a:rPr lang="en-US" dirty="0"/>
              <a:t>	true</a:t>
            </a:r>
          </a:p>
          <a:p>
            <a:r>
              <a:rPr lang="en-US" dirty="0"/>
              <a:t>	false</a:t>
            </a:r>
          </a:p>
        </p:txBody>
      </p:sp>
    </p:spTree>
    <p:extLst>
      <p:ext uri="{BB962C8B-B14F-4D97-AF65-F5344CB8AC3E}">
        <p14:creationId xmlns:p14="http://schemas.microsoft.com/office/powerpoint/2010/main" val="1664801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split()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478119" y="765424"/>
            <a:ext cx="7625716" cy="28007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inter-regular"/>
              </a:rPr>
              <a:t>public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inter-regular"/>
              </a:rPr>
              <a:t>class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inter-regular"/>
              </a:rPr>
              <a:t>TestSplit1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</a:p>
          <a:p>
            <a:pPr algn="just"/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{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</a:p>
          <a:p>
            <a:pPr algn="just"/>
            <a:r>
              <a:rPr lang="en-US" altLang="en-US" sz="1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inter-regular"/>
              </a:rPr>
              <a:t>public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inter-regular"/>
              </a:rPr>
              <a:t>static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inter-regular"/>
              </a:rPr>
              <a:t>void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main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(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inter-regular"/>
              </a:rPr>
              <a:t>String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[])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</a:p>
          <a:p>
            <a:pPr algn="just"/>
            <a:r>
              <a:rPr lang="en-US" altLang="en-US" sz="1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{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</a:p>
          <a:p>
            <a:pPr algn="just"/>
            <a:r>
              <a:rPr lang="en-US" altLang="en-US" sz="1600" dirty="0">
                <a:solidFill>
                  <a:srgbClr val="000000"/>
                </a:solidFill>
                <a:latin typeface="inter-regular"/>
              </a:rPr>
              <a:t>		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inter-regular"/>
              </a:rPr>
              <a:t>String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inter-regular"/>
              </a:rPr>
              <a:t>Str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=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inter-regular"/>
              </a:rPr>
              <a:t>new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inter-regular"/>
              </a:rPr>
              <a:t>String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(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inter-regular"/>
              </a:rPr>
              <a:t>"Welcome-to-Java"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		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inter-regular"/>
              </a:rPr>
              <a:t>for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(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inter-regular"/>
              </a:rPr>
              <a:t>String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res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: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inter-regular"/>
              </a:rPr>
              <a:t>Str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.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split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(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inter-regular"/>
              </a:rPr>
              <a:t>"-"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))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</a:p>
          <a:p>
            <a:pPr algn="just"/>
            <a:r>
              <a:rPr lang="en-US" altLang="en-US" sz="1600" dirty="0">
                <a:solidFill>
                  <a:srgbClr val="000000"/>
                </a:solidFill>
                <a:latin typeface="inter-regular"/>
              </a:rPr>
              <a:t>		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US" altLang="en-US" sz="1600" dirty="0">
                <a:solidFill>
                  <a:srgbClr val="666600"/>
                </a:solidFill>
                <a:latin typeface="inter-regular"/>
              </a:rPr>
              <a:t>			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660066"/>
                </a:solidFill>
                <a:effectLst/>
                <a:latin typeface="inter-regular"/>
              </a:rPr>
              <a:t>System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.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inter-regular"/>
              </a:rPr>
              <a:t>out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.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println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(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res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);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</a:p>
          <a:p>
            <a:pPr algn="just"/>
            <a:r>
              <a:rPr lang="en-US" altLang="en-US" sz="1600" dirty="0">
                <a:solidFill>
                  <a:srgbClr val="000000"/>
                </a:solidFill>
                <a:latin typeface="inter-regular"/>
              </a:rPr>
              <a:t>		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}</a:t>
            </a:r>
          </a:p>
          <a:p>
            <a:pPr algn="just"/>
            <a:r>
              <a:rPr lang="en-US" altLang="en-US" sz="1600" dirty="0">
                <a:solidFill>
                  <a:srgbClr val="666600"/>
                </a:solidFill>
                <a:latin typeface="inter-regular"/>
              </a:rPr>
              <a:t>	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}</a:t>
            </a:r>
          </a:p>
          <a:p>
            <a:pPr algn="just"/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inter-regular"/>
              </a:rPr>
              <a:t>}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-regular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85DA3-5CEB-2904-B11E-969F8E11A806}"/>
              </a:ext>
            </a:extLst>
          </p:cNvPr>
          <p:cNvSpPr txBox="1"/>
          <p:nvPr/>
        </p:nvSpPr>
        <p:spPr>
          <a:xfrm>
            <a:off x="8812305" y="1682923"/>
            <a:ext cx="2779059" cy="12464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sz="300" dirty="0"/>
          </a:p>
          <a:p>
            <a:r>
              <a:rPr lang="en-US" dirty="0"/>
              <a:t>	Welcome</a:t>
            </a:r>
          </a:p>
          <a:p>
            <a:r>
              <a:rPr lang="en-US" dirty="0"/>
              <a:t>	to</a:t>
            </a:r>
          </a:p>
          <a:p>
            <a:r>
              <a:rPr lang="en-US" dirty="0"/>
              <a:t>	Java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0469C4A-9AD0-8B86-D14C-8209BBCA9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19" y="3975984"/>
            <a:ext cx="7625716" cy="27084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  public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inter-regular"/>
              </a:rPr>
              <a:t>TestSplit2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 {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    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main(String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[])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    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{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        	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String str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“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Welcome@to@Java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        	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String[]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arrOfStr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str.split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inter-regular"/>
              </a:rPr>
              <a:t>"@"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inter-regular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);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  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       		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inter-regular"/>
              </a:rPr>
              <a:t>for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(String res 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arrOfStr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)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            			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(res);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inter-regular"/>
              </a:rPr>
              <a:t>    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}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-regular"/>
              </a:rPr>
              <a:t>  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-regula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60E4F-7C5F-AF9B-BAEB-5FC39F3A1723}"/>
              </a:ext>
            </a:extLst>
          </p:cNvPr>
          <p:cNvSpPr txBox="1"/>
          <p:nvPr/>
        </p:nvSpPr>
        <p:spPr>
          <a:xfrm>
            <a:off x="8812304" y="4690329"/>
            <a:ext cx="2779059" cy="9694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sz="300" dirty="0"/>
          </a:p>
          <a:p>
            <a:r>
              <a:rPr lang="en-US" dirty="0"/>
              <a:t>	Welcome</a:t>
            </a:r>
          </a:p>
          <a:p>
            <a:r>
              <a:rPr lang="en-US" dirty="0"/>
              <a:t>	</a:t>
            </a:r>
            <a:r>
              <a:rPr lang="en-US" dirty="0" err="1"/>
              <a:t>to@Java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892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610B38"/>
                </a:solidFill>
                <a:latin typeface="erdana"/>
              </a:rPr>
              <a:t>indexOf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()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412377" y="717870"/>
            <a:ext cx="8755528" cy="52629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inter-regular"/>
              </a:rPr>
              <a:t>IndexOfEx</a:t>
            </a:r>
            <a:endParaRPr lang="en-US" sz="1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US" sz="1600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		String s1=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inter-regular"/>
              </a:rPr>
              <a:t>"this is index of example"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		//passing substring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1" i="0" dirty="0">
                <a:solidFill>
                  <a:srgbClr val="006699"/>
                </a:solidFill>
                <a:effectLst/>
                <a:latin typeface="inter-regular"/>
              </a:rPr>
              <a:t>		int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index1=s1.indexOf(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inter-regular"/>
              </a:rPr>
              <a:t>"is"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//returns the index of is substring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(index1);</a:t>
            </a:r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//2 </a:t>
            </a:r>
            <a:endParaRPr lang="en-US" sz="1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1600" b="1" i="0" dirty="0">
                <a:solidFill>
                  <a:srgbClr val="006699"/>
                </a:solidFill>
                <a:effectLst/>
                <a:latin typeface="inter-regular"/>
              </a:rPr>
              <a:t>		int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index2=s1.indexOf(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inter-regular"/>
              </a:rPr>
              <a:t>"index"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//returns the index of index substring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US" sz="1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1600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(index2);</a:t>
            </a:r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// 8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		//passing substring with from index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1" i="0" dirty="0">
                <a:solidFill>
                  <a:srgbClr val="006699"/>
                </a:solidFill>
                <a:effectLst/>
                <a:latin typeface="inter-regular"/>
              </a:rPr>
              <a:t>		int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index3=s1.indexOf(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inter-regular"/>
              </a:rPr>
              <a:t>"is"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US" sz="1600" b="0" i="0" dirty="0">
                <a:solidFill>
                  <a:srgbClr val="C00000"/>
                </a:solidFill>
                <a:effectLst/>
                <a:latin typeface="inter-regular"/>
              </a:rPr>
              <a:t>4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//returns the index of is substring after 4th index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(index3);</a:t>
            </a:r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//5 i.e. the index of another is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		//passing char value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1" i="0" dirty="0">
                <a:solidFill>
                  <a:srgbClr val="006699"/>
                </a:solidFill>
                <a:effectLst/>
                <a:latin typeface="inter-regular"/>
              </a:rPr>
              <a:t>		int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index4=s1.indexOf(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inter-regular"/>
              </a:rPr>
              <a:t>'s'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//returns the index of s char value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(index4);</a:t>
            </a:r>
            <a:r>
              <a:rPr lang="en-US" sz="1600" b="0" i="0" dirty="0">
                <a:solidFill>
                  <a:srgbClr val="008200"/>
                </a:solidFill>
                <a:effectLst/>
                <a:latin typeface="inter-regular"/>
              </a:rPr>
              <a:t>//3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US" sz="16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60E4F-7C5F-AF9B-BAEB-5FC39F3A1723}"/>
              </a:ext>
            </a:extLst>
          </p:cNvPr>
          <p:cNvSpPr txBox="1"/>
          <p:nvPr/>
        </p:nvSpPr>
        <p:spPr>
          <a:xfrm>
            <a:off x="9753598" y="2879458"/>
            <a:ext cx="2026025" cy="15234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sz="300" dirty="0"/>
          </a:p>
          <a:p>
            <a:r>
              <a:rPr lang="en-US" dirty="0"/>
              <a:t>	2</a:t>
            </a:r>
          </a:p>
          <a:p>
            <a:r>
              <a:rPr lang="en-US" dirty="0"/>
              <a:t>	8</a:t>
            </a:r>
          </a:p>
          <a:p>
            <a:r>
              <a:rPr lang="en-US" dirty="0"/>
              <a:t>	5</a:t>
            </a:r>
          </a:p>
          <a:p>
            <a:r>
              <a:rPr lang="en-US" dirty="0"/>
              <a:t>	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DF6D5B-A714-BBC8-1A8F-066089684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358712"/>
              </p:ext>
            </p:extLst>
          </p:nvPr>
        </p:nvGraphicFramePr>
        <p:xfrm>
          <a:off x="1954306" y="6140130"/>
          <a:ext cx="6096000" cy="449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val="412871680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51163559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589017188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78450285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945202967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779204006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587790314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962913098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165150069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528840688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855120855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66974935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93955139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294337221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252332585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51998122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771007948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98599790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095176622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51795037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1856108255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145868383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645691715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8224705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h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 err="1">
                          <a:effectLst/>
                        </a:rPr>
                        <a:t>i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x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o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f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x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a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m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l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9487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9930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688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610B38"/>
                </a:solidFill>
                <a:latin typeface="erdana"/>
              </a:rPr>
              <a:t>toLowerCase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()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1075765" y="1470905"/>
            <a:ext cx="875552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StringLowerEx</a:t>
            </a:r>
            <a:endParaRPr lang="en-IN" sz="1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String s1=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“GIET </a:t>
            </a:r>
            <a:r>
              <a:rPr lang="en-IN" sz="1600" b="0" i="0" dirty="0" err="1">
                <a:solidFill>
                  <a:srgbClr val="0000FF"/>
                </a:solidFill>
                <a:effectLst/>
                <a:latin typeface="inter-regular"/>
              </a:rPr>
              <a:t>CsE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FF"/>
                </a:solidFill>
                <a:effectLst/>
                <a:latin typeface="inter-regular"/>
              </a:rPr>
              <a:t>brAnch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String s2=s1.toLowerCase();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(s2);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60E4F-7C5F-AF9B-BAEB-5FC39F3A1723}"/>
              </a:ext>
            </a:extLst>
          </p:cNvPr>
          <p:cNvSpPr txBox="1"/>
          <p:nvPr/>
        </p:nvSpPr>
        <p:spPr>
          <a:xfrm>
            <a:off x="3304240" y="4460547"/>
            <a:ext cx="5133789" cy="6924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sz="300" dirty="0"/>
          </a:p>
          <a:p>
            <a:r>
              <a:rPr lang="en-US" dirty="0"/>
              <a:t>	</a:t>
            </a:r>
            <a:r>
              <a:rPr lang="en-US" dirty="0" err="1"/>
              <a:t>giet</a:t>
            </a:r>
            <a:r>
              <a:rPr lang="en-US" dirty="0"/>
              <a:t> </a:t>
            </a:r>
            <a:r>
              <a:rPr lang="en-US" dirty="0" err="1"/>
              <a:t>cse</a:t>
            </a:r>
            <a:r>
              <a:rPr lang="en-US" dirty="0"/>
              <a:t> branch</a:t>
            </a:r>
          </a:p>
        </p:txBody>
      </p:sp>
    </p:spTree>
    <p:extLst>
      <p:ext uri="{BB962C8B-B14F-4D97-AF65-F5344CB8AC3E}">
        <p14:creationId xmlns:p14="http://schemas.microsoft.com/office/powerpoint/2010/main" val="2661765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610B38"/>
                </a:solidFill>
                <a:latin typeface="erdana"/>
              </a:rPr>
              <a:t>toUpperCase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()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1075765" y="1470905"/>
            <a:ext cx="875552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StringUpperEx</a:t>
            </a:r>
            <a:endParaRPr lang="en-IN" sz="1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String s1=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“</a:t>
            </a:r>
            <a:r>
              <a:rPr lang="en-IN" sz="1600" b="0" i="0" dirty="0" err="1">
                <a:solidFill>
                  <a:srgbClr val="0000FF"/>
                </a:solidFill>
                <a:effectLst/>
                <a:latin typeface="inter-regular"/>
              </a:rPr>
              <a:t>gIEt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FF"/>
                </a:solidFill>
                <a:effectLst/>
                <a:latin typeface="inter-regular"/>
              </a:rPr>
              <a:t>CsE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FF"/>
                </a:solidFill>
                <a:effectLst/>
                <a:latin typeface="inter-regular"/>
              </a:rPr>
              <a:t>brAnch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String s2=s1.toUpperCase();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(s2);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60E4F-7C5F-AF9B-BAEB-5FC39F3A1723}"/>
              </a:ext>
            </a:extLst>
          </p:cNvPr>
          <p:cNvSpPr txBox="1"/>
          <p:nvPr/>
        </p:nvSpPr>
        <p:spPr>
          <a:xfrm>
            <a:off x="3304240" y="4460547"/>
            <a:ext cx="5133789" cy="6924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sz="300" dirty="0"/>
          </a:p>
          <a:p>
            <a:r>
              <a:rPr lang="en-US" dirty="0"/>
              <a:t>	GIET CSE BRANCH</a:t>
            </a:r>
          </a:p>
        </p:txBody>
      </p:sp>
    </p:spTree>
    <p:extLst>
      <p:ext uri="{BB962C8B-B14F-4D97-AF65-F5344CB8AC3E}">
        <p14:creationId xmlns:p14="http://schemas.microsoft.com/office/powerpoint/2010/main" val="2549987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trim()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573741" y="745458"/>
            <a:ext cx="6535271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StringTrimEx1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String s1=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"  hello string   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(s1+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//without trim()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(s1.trim()+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//with trim()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60E4F-7C5F-AF9B-BAEB-5FC39F3A1723}"/>
              </a:ext>
            </a:extLst>
          </p:cNvPr>
          <p:cNvSpPr txBox="1"/>
          <p:nvPr/>
        </p:nvSpPr>
        <p:spPr>
          <a:xfrm>
            <a:off x="7837394" y="1287043"/>
            <a:ext cx="3507441" cy="9694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sz="300" dirty="0"/>
          </a:p>
          <a:p>
            <a:r>
              <a:rPr lang="en-US" dirty="0"/>
              <a:t>	hello string   java</a:t>
            </a:r>
          </a:p>
          <a:p>
            <a:r>
              <a:rPr lang="en-US" dirty="0"/>
              <a:t>	hello </a:t>
            </a:r>
            <a:r>
              <a:rPr lang="en-US" dirty="0" err="1"/>
              <a:t>stringjava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6D552-C3B5-2486-B3BC-7C06143C36C2}"/>
              </a:ext>
            </a:extLst>
          </p:cNvPr>
          <p:cNvSpPr txBox="1"/>
          <p:nvPr/>
        </p:nvSpPr>
        <p:spPr>
          <a:xfrm>
            <a:off x="573741" y="3250220"/>
            <a:ext cx="6535270" cy="3385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StringTrimEx2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	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{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String s1 =</a:t>
            </a:r>
            <a:r>
              <a:rPr lang="en-IN" sz="1600" b="0" i="0" dirty="0">
                <a:solidFill>
                  <a:srgbClr val="0000FF"/>
                </a:solidFill>
                <a:effectLst/>
                <a:latin typeface="inter-regular"/>
              </a:rPr>
              <a:t>" hello java string "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(s1.length());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(s1); 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//Without trim()  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String tr = s1.trim();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tr.length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());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(tr); 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//With trim()  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	}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D169F-13DB-DB66-8565-8EADC00DEF6E}"/>
              </a:ext>
            </a:extLst>
          </p:cNvPr>
          <p:cNvSpPr txBox="1"/>
          <p:nvPr/>
        </p:nvSpPr>
        <p:spPr>
          <a:xfrm>
            <a:off x="7837393" y="4458243"/>
            <a:ext cx="3507441" cy="18004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r>
              <a:rPr lang="en-US" b="1" dirty="0"/>
              <a:t>19</a:t>
            </a:r>
          </a:p>
          <a:p>
            <a:endParaRPr lang="en-US" sz="300" dirty="0"/>
          </a:p>
          <a:p>
            <a:r>
              <a:rPr lang="en-US"/>
              <a:t> hello </a:t>
            </a:r>
            <a:r>
              <a:rPr lang="en-US" dirty="0"/>
              <a:t>java string</a:t>
            </a:r>
          </a:p>
          <a:p>
            <a:r>
              <a:rPr lang="en-US" b="1" dirty="0"/>
              <a:t>17</a:t>
            </a:r>
          </a:p>
          <a:p>
            <a:r>
              <a:rPr lang="en-US" dirty="0"/>
              <a:t>hello java string</a:t>
            </a:r>
          </a:p>
        </p:txBody>
      </p:sp>
    </p:spTree>
    <p:extLst>
      <p:ext uri="{BB962C8B-B14F-4D97-AF65-F5344CB8AC3E}">
        <p14:creationId xmlns:p14="http://schemas.microsoft.com/office/powerpoint/2010/main" val="10893824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610B38"/>
                </a:solidFill>
                <a:latin typeface="erdana"/>
              </a:rPr>
              <a:t>valueOf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()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573741" y="745458"/>
            <a:ext cx="7153441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StringValueOfEx</a:t>
            </a:r>
            <a:endParaRPr lang="en-IN" sz="1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		int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value=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String s1=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String.valueOf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(value);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(s1+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10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//concatenating string with 10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	}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B60E4F-7C5F-AF9B-BAEB-5FC39F3A1723}"/>
              </a:ext>
            </a:extLst>
          </p:cNvPr>
          <p:cNvSpPr txBox="1"/>
          <p:nvPr/>
        </p:nvSpPr>
        <p:spPr>
          <a:xfrm>
            <a:off x="8552748" y="1287043"/>
            <a:ext cx="2792087" cy="6924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sz="300" dirty="0"/>
          </a:p>
          <a:p>
            <a:r>
              <a:rPr lang="en-US" dirty="0"/>
              <a:t>	3010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EF9727-FDC4-3936-8685-6DB69CD52390}"/>
              </a:ext>
            </a:extLst>
          </p:cNvPr>
          <p:cNvSpPr txBox="1"/>
          <p:nvPr/>
        </p:nvSpPr>
        <p:spPr>
          <a:xfrm>
            <a:off x="573740" y="3253549"/>
            <a:ext cx="7153441" cy="3385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StringValueOfExa2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	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) </a:t>
            </a:r>
          </a:p>
          <a:p>
            <a:pPr algn="just"/>
            <a:r>
              <a:rPr lang="en-IN" sz="1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</a:t>
            </a:r>
            <a:r>
              <a:rPr lang="en-IN" sz="1600" b="0" i="0" dirty="0">
                <a:solidFill>
                  <a:srgbClr val="008200"/>
                </a:solidFill>
                <a:effectLst/>
                <a:latin typeface="inter-regular"/>
              </a:rPr>
              <a:t>// Float and Double to String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float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f  =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10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.05f;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</a:t>
            </a:r>
            <a:r>
              <a:rPr lang="en-IN" sz="1600" b="1" i="0" dirty="0">
                <a:solidFill>
                  <a:srgbClr val="006699"/>
                </a:solidFill>
                <a:effectLst/>
                <a:latin typeface="inter-regular"/>
              </a:rPr>
              <a:t>double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d = </a:t>
            </a:r>
            <a:r>
              <a:rPr lang="en-IN" sz="1600" b="0" i="0" dirty="0">
                <a:solidFill>
                  <a:srgbClr val="C00000"/>
                </a:solidFill>
                <a:effectLst/>
                <a:latin typeface="inter-regular"/>
              </a:rPr>
              <a:t>10.02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String s1 =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String.valueOf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(f);  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String s2 = 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String.valueOf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(d);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(s1);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		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(s2);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    	}  </a:t>
            </a:r>
          </a:p>
          <a:p>
            <a:pPr algn="just"/>
            <a:r>
              <a:rPr lang="en-IN" sz="16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9C731-0AA7-A4CE-A2F8-BD622A1DE00F}"/>
              </a:ext>
            </a:extLst>
          </p:cNvPr>
          <p:cNvSpPr txBox="1"/>
          <p:nvPr/>
        </p:nvSpPr>
        <p:spPr>
          <a:xfrm>
            <a:off x="8421873" y="5224708"/>
            <a:ext cx="2792087" cy="9694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sz="300" dirty="0"/>
          </a:p>
          <a:p>
            <a:r>
              <a:rPr lang="en-US" dirty="0"/>
              <a:t>	10.05</a:t>
            </a:r>
          </a:p>
          <a:p>
            <a:r>
              <a:rPr lang="en-US" dirty="0"/>
              <a:t>	10.02</a:t>
            </a:r>
          </a:p>
        </p:txBody>
      </p:sp>
    </p:spTree>
    <p:extLst>
      <p:ext uri="{BB962C8B-B14F-4D97-AF65-F5344CB8AC3E}">
        <p14:creationId xmlns:p14="http://schemas.microsoft.com/office/powerpoint/2010/main" val="344648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 err="1"/>
              <a:t>StringBuffer</a:t>
            </a:r>
            <a:r>
              <a:rPr lang="en-IN" sz="7200" b="1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42856689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err="1">
                <a:solidFill>
                  <a:srgbClr val="610B38"/>
                </a:solidFill>
                <a:latin typeface="erdana"/>
              </a:rPr>
              <a:t>StringBuffer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717870"/>
            <a:ext cx="11329725" cy="17205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Java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inter-regular"/>
              </a:rPr>
              <a:t>StringBuffer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class is used to create mutable (modifiable) String objects. </a:t>
            </a: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inter-regular"/>
              </a:rPr>
              <a:t>StringBuffer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 class in Java is the same as String class except it is mutable i.e. it can be changed.</a:t>
            </a:r>
          </a:p>
          <a:p>
            <a:pPr marL="0" indent="0" algn="just">
              <a:buNone/>
            </a:pPr>
            <a:endParaRPr lang="en-US" sz="20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inter-regular"/>
              </a:rPr>
              <a:t>Constructors of </a:t>
            </a:r>
            <a:r>
              <a:rPr lang="en-US" sz="2000" b="1" i="0" dirty="0" err="1">
                <a:solidFill>
                  <a:srgbClr val="333333"/>
                </a:solidFill>
                <a:effectLst/>
                <a:latin typeface="inter-regular"/>
              </a:rPr>
              <a:t>StringBuffer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inter-regular"/>
              </a:rPr>
              <a:t> Class:</a:t>
            </a:r>
            <a:endParaRPr lang="en-US" sz="3200" b="1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1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4F6820C-AD04-E0CA-5C88-624453173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175406"/>
              </p:ext>
            </p:extLst>
          </p:nvPr>
        </p:nvGraphicFramePr>
        <p:xfrm>
          <a:off x="1467224" y="2584325"/>
          <a:ext cx="9738658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635">
                  <a:extLst>
                    <a:ext uri="{9D8B030D-6E8A-4147-A177-3AD203B41FA5}">
                      <a16:colId xmlns:a16="http://schemas.microsoft.com/office/drawing/2014/main" val="1011737576"/>
                    </a:ext>
                  </a:extLst>
                </a:gridCol>
                <a:gridCol w="6598023">
                  <a:extLst>
                    <a:ext uri="{9D8B030D-6E8A-4147-A177-3AD203B41FA5}">
                      <a16:colId xmlns:a16="http://schemas.microsoft.com/office/drawing/2014/main" val="823229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667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StringBuffer</a:t>
                      </a:r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an empty String buffer with the initial capacity of 16.</a:t>
                      </a:r>
                    </a:p>
                    <a:p>
                      <a:pPr algn="l" fontAlgn="t"/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913415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StringBuffer</a:t>
                      </a:r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(String str)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a String buffer with the specified string.</a:t>
                      </a:r>
                    </a:p>
                    <a:p>
                      <a:pPr algn="l" fontAlgn="t"/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674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StringBuffer</a:t>
                      </a:r>
                      <a:r>
                        <a:rPr lang="en-IN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(int capacity)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an empty String buffer with the specified capacity as length.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772341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7C69B3F-579B-CF6F-08B3-90EBEA00CD48}"/>
              </a:ext>
            </a:extLst>
          </p:cNvPr>
          <p:cNvSpPr txBox="1"/>
          <p:nvPr/>
        </p:nvSpPr>
        <p:spPr>
          <a:xfrm>
            <a:off x="779929" y="5464005"/>
            <a:ext cx="10721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Note: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A String that can be modified or changed is known as mutable String.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StringBuffer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and StringBuilder classes are used for creating mutable strings.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862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Methods of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StringBuffer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Class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4F6820C-AD04-E0CA-5C88-624453173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490244"/>
              </p:ext>
            </p:extLst>
          </p:nvPr>
        </p:nvGraphicFramePr>
        <p:xfrm>
          <a:off x="397435" y="717870"/>
          <a:ext cx="11319436" cy="582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3685">
                  <a:extLst>
                    <a:ext uri="{9D8B030D-6E8A-4147-A177-3AD203B41FA5}">
                      <a16:colId xmlns:a16="http://schemas.microsoft.com/office/drawing/2014/main" val="1011737576"/>
                    </a:ext>
                  </a:extLst>
                </a:gridCol>
                <a:gridCol w="6605751">
                  <a:extLst>
                    <a:ext uri="{9D8B030D-6E8A-4147-A177-3AD203B41FA5}">
                      <a16:colId xmlns:a16="http://schemas.microsoft.com/office/drawing/2014/main" val="823229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667662"/>
                  </a:ext>
                </a:extLst>
              </a:tr>
              <a:tr h="39375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append(String s)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append the specified string with this string. 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913415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nn-NO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insert(int offset, String s)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insert the specified string with this string at the specified position.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674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replace(int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startIndex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, int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endIndex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, String str)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replace the string from specified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startIndex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and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endIndex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7723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delete(int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startIndex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, int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endIndex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delete the string from specified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startIndex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and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endIndex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08571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reverse()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is used to reverse the string.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69834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capacity()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current capacity.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60955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ensureCapacity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(int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minimumCapacity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ensure the capacity at least equal to the given minimum.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190916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charAt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(int index)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character at the specified position.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2862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length()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length of the string i.e. total number of characters.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15341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substring(int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beginIndex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substring from the specified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beginIndex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467070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substring(int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beginIndex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, int </a:t>
                      </a:r>
                      <a:r>
                        <a:rPr lang="en-IN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endIndex</a:t>
                      </a:r>
                      <a:r>
                        <a:rPr lang="en-IN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substring from the specified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beginIndex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and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endIndex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557533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236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append()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CCFE-1FCE-8928-2D71-7705BC94FA45}"/>
              </a:ext>
            </a:extLst>
          </p:cNvPr>
          <p:cNvSpPr txBox="1"/>
          <p:nvPr/>
        </p:nvSpPr>
        <p:spPr>
          <a:xfrm>
            <a:off x="636493" y="717870"/>
            <a:ext cx="1130879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append()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 concatenates the given argument with this String.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36493" y="1641200"/>
            <a:ext cx="8668281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StringBufferEx1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StringBuffer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StringBuffer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"Hello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sb.append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</a:t>
            </a:r>
            <a:r>
              <a:rPr lang="en-IN" b="0" i="0" dirty="0">
                <a:solidFill>
                  <a:srgbClr val="1100A7"/>
                </a:solidFill>
                <a:effectLst/>
                <a:highlight>
                  <a:srgbClr val="FFFF00"/>
                </a:highlight>
                <a:latin typeface="inter-regular"/>
              </a:rPr>
              <a:t>now original string is changed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//prints Hello Java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4756024" y="5066389"/>
            <a:ext cx="208335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dirty="0"/>
          </a:p>
          <a:p>
            <a:r>
              <a:rPr lang="en-US" dirty="0"/>
              <a:t>Hello Java</a:t>
            </a:r>
          </a:p>
        </p:txBody>
      </p:sp>
    </p:spTree>
    <p:extLst>
      <p:ext uri="{BB962C8B-B14F-4D97-AF65-F5344CB8AC3E}">
        <p14:creationId xmlns:p14="http://schemas.microsoft.com/office/powerpoint/2010/main" val="2253535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replace()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CCFE-1FCE-8928-2D71-7705BC94FA45}"/>
              </a:ext>
            </a:extLst>
          </p:cNvPr>
          <p:cNvSpPr txBox="1"/>
          <p:nvPr/>
        </p:nvSpPr>
        <p:spPr>
          <a:xfrm>
            <a:off x="636493" y="717870"/>
            <a:ext cx="1130879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replace() method replaces the given String from the specified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beginIndex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and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endIndex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36493" y="1641200"/>
            <a:ext cx="8668281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StringBufferEx2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StringBuffer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StringBuffer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"Hello"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sb.replace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//prints </a:t>
            </a:r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HJavalo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4756024" y="5066389"/>
            <a:ext cx="208335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dirty="0"/>
          </a:p>
          <a:p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HJavalo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endParaRPr lang="en-US" b="1" dirty="0">
              <a:solidFill>
                <a:srgbClr val="110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4194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delete()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CCFE-1FCE-8928-2D71-7705BC94FA45}"/>
              </a:ext>
            </a:extLst>
          </p:cNvPr>
          <p:cNvSpPr txBox="1"/>
          <p:nvPr/>
        </p:nvSpPr>
        <p:spPr>
          <a:xfrm>
            <a:off x="636493" y="717870"/>
            <a:ext cx="11308796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delete()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 of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StringBuffer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deletes the String from the specified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beginIndex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to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endIndex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  <a:b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</a:b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36493" y="1641200"/>
            <a:ext cx="8668281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StringBufferEx3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StringBuffer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StringBuffer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"Hello"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sb.delete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//prints </a:t>
            </a:r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Hlo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4756024" y="5066389"/>
            <a:ext cx="208335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dirty="0"/>
          </a:p>
          <a:p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Hlo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endParaRPr lang="en-US" b="1" dirty="0">
              <a:solidFill>
                <a:srgbClr val="110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456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reverse()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CCFE-1FCE-8928-2D71-7705BC94FA45}"/>
              </a:ext>
            </a:extLst>
          </p:cNvPr>
          <p:cNvSpPr txBox="1"/>
          <p:nvPr/>
        </p:nvSpPr>
        <p:spPr>
          <a:xfrm>
            <a:off x="636493" y="717870"/>
            <a:ext cx="11308796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reverse()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 of the StringBuilder class reverses the current String..</a:t>
            </a:r>
            <a:b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</a:b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636493" y="1641200"/>
            <a:ext cx="8668281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StringBufferEx4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StringBuffer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StringBuffer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"Hello"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sb.reverse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//prints </a:t>
            </a:r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olleH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4756024" y="5066389"/>
            <a:ext cx="208335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dirty="0"/>
          </a:p>
          <a:p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olleH</a:t>
            </a:r>
            <a:endParaRPr lang="en-US" b="1" dirty="0">
              <a:solidFill>
                <a:srgbClr val="110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833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capacity()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CCFE-1FCE-8928-2D71-7705BC94FA45}"/>
              </a:ext>
            </a:extLst>
          </p:cNvPr>
          <p:cNvSpPr txBox="1"/>
          <p:nvPr/>
        </p:nvSpPr>
        <p:spPr>
          <a:xfrm>
            <a:off x="582705" y="610294"/>
            <a:ext cx="11308796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capacity() method of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StringBuffer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returns the current capacity of the buffer. </a:t>
            </a:r>
          </a:p>
          <a:p>
            <a:endParaRPr lang="en-US" dirty="0">
              <a:solidFill>
                <a:srgbClr val="333333"/>
              </a:solidFill>
              <a:latin typeface="inter-regular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default capacity of the buffer is 16. If the number of character increases from its current capacity, it increases the capacity by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(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oldcapacity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*2)+2. </a:t>
            </a:r>
          </a:p>
          <a:p>
            <a:endParaRPr lang="en-US" dirty="0">
              <a:solidFill>
                <a:srgbClr val="333333"/>
              </a:solidFill>
              <a:latin typeface="inter-regular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For example if your current capacity is 16, it will be (16*2)+2=34.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0179F-9266-239E-396D-B1F57FB67A30}"/>
              </a:ext>
            </a:extLst>
          </p:cNvPr>
          <p:cNvSpPr txBox="1"/>
          <p:nvPr/>
        </p:nvSpPr>
        <p:spPr>
          <a:xfrm>
            <a:off x="397435" y="2616365"/>
            <a:ext cx="9152966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StringBufferEx5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StringBuffer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StringBuffer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sb.capacity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//default 16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sb.append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"Hello"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sb.capacity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//now 16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sb.append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 is my favourite language"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sb.capacity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//now (16*2)+2=34 </a:t>
            </a:r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i.e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(</a:t>
            </a:r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oldcapacity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*2)+2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1143-2734-3D0D-4DFA-EA9D67EABB08}"/>
              </a:ext>
            </a:extLst>
          </p:cNvPr>
          <p:cNvSpPr txBox="1"/>
          <p:nvPr/>
        </p:nvSpPr>
        <p:spPr>
          <a:xfrm>
            <a:off x="9946589" y="3073847"/>
            <a:ext cx="2083358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dirty="0"/>
          </a:p>
          <a:p>
            <a:r>
              <a:rPr lang="en-IN" b="1" dirty="0">
                <a:solidFill>
                  <a:srgbClr val="008200"/>
                </a:solidFill>
                <a:latin typeface="inter-regular"/>
              </a:rPr>
              <a:t>16</a:t>
            </a:r>
          </a:p>
          <a:p>
            <a:r>
              <a:rPr lang="en-IN" b="1" dirty="0">
                <a:solidFill>
                  <a:srgbClr val="008200"/>
                </a:solidFill>
                <a:latin typeface="inter-regular"/>
              </a:rPr>
              <a:t>16</a:t>
            </a:r>
          </a:p>
          <a:p>
            <a:r>
              <a:rPr lang="en-IN" b="1" dirty="0">
                <a:solidFill>
                  <a:srgbClr val="008200"/>
                </a:solidFill>
                <a:latin typeface="inter-regular"/>
              </a:rPr>
              <a:t>34</a:t>
            </a:r>
            <a:endParaRPr lang="en-US" b="1" dirty="0">
              <a:solidFill>
                <a:srgbClr val="110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622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StringBuilder Class</a:t>
            </a:r>
          </a:p>
        </p:txBody>
      </p:sp>
    </p:spTree>
    <p:extLst>
      <p:ext uri="{BB962C8B-B14F-4D97-AF65-F5344CB8AC3E}">
        <p14:creationId xmlns:p14="http://schemas.microsoft.com/office/powerpoint/2010/main" val="24695989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StringBuilder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155A0-47C1-81ED-E5AC-27D7FF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016" y="717870"/>
            <a:ext cx="11329725" cy="172053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333333"/>
                </a:solidFill>
                <a:latin typeface="inter-regular"/>
              </a:rPr>
              <a:t>Java StringBuilder class is used to create mutable (modifiable) String. </a:t>
            </a:r>
          </a:p>
          <a:p>
            <a:r>
              <a:rPr lang="en-US" sz="1800" dirty="0">
                <a:solidFill>
                  <a:srgbClr val="333333"/>
                </a:solidFill>
                <a:latin typeface="inter-regular"/>
              </a:rPr>
              <a:t>The Java StringBuilder class is same as </a:t>
            </a:r>
            <a:r>
              <a:rPr lang="en-US" sz="1800" dirty="0" err="1">
                <a:solidFill>
                  <a:srgbClr val="333333"/>
                </a:solidFill>
                <a:latin typeface="inter-regular"/>
              </a:rPr>
              <a:t>StringBuffer</a:t>
            </a:r>
            <a:r>
              <a:rPr lang="en-US" sz="1800" dirty="0">
                <a:solidFill>
                  <a:srgbClr val="333333"/>
                </a:solidFill>
                <a:latin typeface="inter-regular"/>
              </a:rPr>
              <a:t> class except that it is non-synchronized. It is available since JDK 1.5</a:t>
            </a:r>
          </a:p>
          <a:p>
            <a:pPr marL="0" indent="0" algn="just">
              <a:buNone/>
            </a:pPr>
            <a:endParaRPr lang="en-US" sz="2000" b="1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inter-regular"/>
              </a:rPr>
              <a:t>Constructors of StringBuilder Class:</a:t>
            </a:r>
            <a:endParaRPr lang="en-US" sz="3200" b="1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sz="1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4F6820C-AD04-E0CA-5C88-624453173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112335"/>
              </p:ext>
            </p:extLst>
          </p:nvPr>
        </p:nvGraphicFramePr>
        <p:xfrm>
          <a:off x="1467224" y="2584325"/>
          <a:ext cx="9738658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635">
                  <a:extLst>
                    <a:ext uri="{9D8B030D-6E8A-4147-A177-3AD203B41FA5}">
                      <a16:colId xmlns:a16="http://schemas.microsoft.com/office/drawing/2014/main" val="1011737576"/>
                    </a:ext>
                  </a:extLst>
                </a:gridCol>
                <a:gridCol w="6598023">
                  <a:extLst>
                    <a:ext uri="{9D8B030D-6E8A-4147-A177-3AD203B41FA5}">
                      <a16:colId xmlns:a16="http://schemas.microsoft.com/office/drawing/2014/main" val="823229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667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StringBuilder()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an empty String Builder with the initial capacity of 16.</a:t>
                      </a:r>
                    </a:p>
                    <a:p>
                      <a:pPr algn="just" fontAlgn="t"/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913415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StringBuilder(String str)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a String Builder with the specified string.</a:t>
                      </a:r>
                    </a:p>
                    <a:p>
                      <a:pPr algn="just" fontAlgn="t"/>
                      <a:endParaRPr lang="en-US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674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StringBuilder(int length)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creates an empty String Builder with the specified capacity as length.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77234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001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5" y="37966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Methods of StringBuilder Class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4F6820C-AD04-E0CA-5C88-624453173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472660"/>
              </p:ext>
            </p:extLst>
          </p:nvPr>
        </p:nvGraphicFramePr>
        <p:xfrm>
          <a:off x="397435" y="717870"/>
          <a:ext cx="11319436" cy="570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3685">
                  <a:extLst>
                    <a:ext uri="{9D8B030D-6E8A-4147-A177-3AD203B41FA5}">
                      <a16:colId xmlns:a16="http://schemas.microsoft.com/office/drawing/2014/main" val="1011737576"/>
                    </a:ext>
                  </a:extLst>
                </a:gridCol>
                <a:gridCol w="6605751">
                  <a:extLst>
                    <a:ext uri="{9D8B030D-6E8A-4147-A177-3AD203B41FA5}">
                      <a16:colId xmlns:a16="http://schemas.microsoft.com/office/drawing/2014/main" val="823229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667662"/>
                  </a:ext>
                </a:extLst>
              </a:tr>
              <a:tr h="39375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StringBuilder append(String s)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append the specified string with this string. 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913415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StringBuilder insert(int offset, String s)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insert the specified string with this string at the specified position. 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674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StringBuilder replace(int startIndex, int endIndex, String str)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replace the string from specified startIndex and endIndex.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77234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StringBuilder delete(int startIndex, int endIndex)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delete the string from specified startIndex and endIndex.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08571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StringBuilder reverse()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reverse the string.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69834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int capacity()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current capacity.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60955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char charAt(int index)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character at the specified position.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2862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int length()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length of the string i.e. total number of characters.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15341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String substring(int beginIndex)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substring from the specified beginIndex.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467070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String substring(int beginIndex, int endIndex)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used to return the substring from the specified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beginIndex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and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endIndex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557533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254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8465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2720</TotalTime>
  <Words>4727</Words>
  <Application>Microsoft Office PowerPoint</Application>
  <PresentationFormat>Widescreen</PresentationFormat>
  <Paragraphs>794</Paragraphs>
  <Slides>43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Calibri Light</vt:lpstr>
      <vt:lpstr>erdana</vt:lpstr>
      <vt:lpstr>inter-bold</vt:lpstr>
      <vt:lpstr>inter-regular</vt:lpstr>
      <vt:lpstr>Office Theme</vt:lpstr>
      <vt:lpstr>Bitmap Image</vt:lpstr>
      <vt:lpstr>Topics to be Covered:</vt:lpstr>
      <vt:lpstr>Java String</vt:lpstr>
      <vt:lpstr>Java String</vt:lpstr>
      <vt:lpstr>How to create String in Java</vt:lpstr>
      <vt:lpstr>How to create String in Java</vt:lpstr>
      <vt:lpstr>How to create String in Java</vt:lpstr>
      <vt:lpstr>How to create String in Java</vt:lpstr>
      <vt:lpstr>Creating String in Java : An Example</vt:lpstr>
      <vt:lpstr>Immutable String in Java</vt:lpstr>
      <vt:lpstr>Immutable Strings in Java</vt:lpstr>
      <vt:lpstr>Immutable Strings in Java</vt:lpstr>
      <vt:lpstr>Java String Methods</vt:lpstr>
      <vt:lpstr>String Methods</vt:lpstr>
      <vt:lpstr>String Methods</vt:lpstr>
      <vt:lpstr>charAt() Method</vt:lpstr>
      <vt:lpstr>length() Method</vt:lpstr>
      <vt:lpstr>substring() Method</vt:lpstr>
      <vt:lpstr>substring() Method</vt:lpstr>
      <vt:lpstr>contains() Method</vt:lpstr>
      <vt:lpstr>join() Method</vt:lpstr>
      <vt:lpstr>isEmpty() Method</vt:lpstr>
      <vt:lpstr>concat() Method</vt:lpstr>
      <vt:lpstr>replace() Method</vt:lpstr>
      <vt:lpstr>equals() Method</vt:lpstr>
      <vt:lpstr>equalsIgnoreCase() Method</vt:lpstr>
      <vt:lpstr>split() Method</vt:lpstr>
      <vt:lpstr>indexOf() Method</vt:lpstr>
      <vt:lpstr>toLowerCase() Method</vt:lpstr>
      <vt:lpstr>toUpperCase() Method</vt:lpstr>
      <vt:lpstr>trim() Method</vt:lpstr>
      <vt:lpstr>valueOf() Method</vt:lpstr>
      <vt:lpstr>StringBuffer Class</vt:lpstr>
      <vt:lpstr>StringBuffer Class</vt:lpstr>
      <vt:lpstr>Methods of StringBuffer Class</vt:lpstr>
      <vt:lpstr>append() Method</vt:lpstr>
      <vt:lpstr>replace() Method</vt:lpstr>
      <vt:lpstr>delete() Method</vt:lpstr>
      <vt:lpstr>reverse() Method</vt:lpstr>
      <vt:lpstr>capacity() Method</vt:lpstr>
      <vt:lpstr>StringBuilder Class</vt:lpstr>
      <vt:lpstr>StringBuilder Class</vt:lpstr>
      <vt:lpstr>Methods of StringBuilder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164</cp:revision>
  <dcterms:created xsi:type="dcterms:W3CDTF">2022-08-21T11:09:16Z</dcterms:created>
  <dcterms:modified xsi:type="dcterms:W3CDTF">2022-10-22T10:33:18Z</dcterms:modified>
</cp:coreProperties>
</file>