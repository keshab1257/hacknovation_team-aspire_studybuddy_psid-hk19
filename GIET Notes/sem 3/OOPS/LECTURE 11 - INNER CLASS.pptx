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4" r:id="rId3"/>
    <p:sldId id="343" r:id="rId4"/>
    <p:sldId id="448" r:id="rId5"/>
    <p:sldId id="449" r:id="rId6"/>
    <p:sldId id="450" r:id="rId7"/>
    <p:sldId id="447" r:id="rId8"/>
    <p:sldId id="452" r:id="rId9"/>
    <p:sldId id="453" r:id="rId10"/>
    <p:sldId id="454" r:id="rId11"/>
    <p:sldId id="455" r:id="rId12"/>
    <p:sldId id="456" r:id="rId13"/>
    <p:sldId id="451" r:id="rId14"/>
    <p:sldId id="458" r:id="rId15"/>
    <p:sldId id="459" r:id="rId16"/>
    <p:sldId id="45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00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1" autoAdjust="0"/>
    <p:restoredTop sz="94660"/>
  </p:normalViewPr>
  <p:slideViewPr>
    <p:cSldViewPr snapToGrid="0">
      <p:cViewPr varScale="1">
        <p:scale>
          <a:sx n="85" d="100"/>
          <a:sy n="85" d="100"/>
        </p:scale>
        <p:origin x="408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C439-7561-D872-4C0B-085203F15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ABF94-6B75-EC0A-398F-4A225E5DF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4CD30-0637-114E-9C8A-503217BD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9DD38-4B0A-15CF-86E9-F8CB34A2C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84CC3-EBE9-7E16-FC3E-E83916312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11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458F-4782-8839-D5E1-BE95028B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153C6-1162-9BA5-F123-D7C6D95A5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A34CC-7712-0D8C-9E46-2E190C98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7A4B4-F26C-C1D3-E330-ABFE2D89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1D753-6471-8044-B952-51560ACC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33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919C-E4CA-0329-A32F-DB74CD0A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04A60-66FE-A893-5C0D-88F0CCC5D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C725D-C48B-8DD4-28FF-93A4F9B0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D4506-2435-E51B-559A-38EF32E52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DB14F-8DD3-D46A-B557-623C4048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94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0C97-422A-30B3-18BB-1A3FCE27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75DF-3097-416F-7A39-BEA0CEDCA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C43D4-4985-1C78-D168-AE18F9884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3C89A-A180-CA5D-2DDA-F2D7384C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62A4B-B03E-49A1-781D-F7DCAF30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5DD80-168A-263C-8AAD-AC8A62E5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8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FEC7-7ADE-0F5F-B2D2-870A5B4A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B405C-D6B6-CA23-35A8-4A1013DE0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63882-1611-E67E-2F4C-EFC703D0F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B1D57-DBDC-FC69-B642-81AAACA1F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0A295-A59A-4BB0-E8E6-7DE344A98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59F61-843B-25A8-B2AA-86EA27F7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D4E5E5-6B9A-7066-5DC6-074B311A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75CE58-F625-0A96-011C-F7BE5F10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73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57C9-F334-A135-3716-E9BA8481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3BE558-91AA-8224-13ED-8624FA903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B5A2F-248E-70B5-2DB9-86528779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EB7F3-D93A-AAA0-727F-B367C09E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28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E05AC-4C32-ABA5-093A-E3C7ADE5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548EC-36E1-9785-2389-D5C8D80A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F630-D3A2-FEA5-5688-FA85212D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514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373C-0C7B-3138-2B71-BE0206BFC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B040-0532-55A0-899E-F1A0058C5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475DE-273B-D486-B977-6F6E9A845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208DA-B383-4687-B5AA-28620729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5D456-D4BD-D260-6F88-B0135E2E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90C7A-C3AB-3293-EE28-D96275A0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41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3485-8066-90B9-E725-2CEC5CC0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51A955-DF1A-1F44-7425-DB06EF344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78DF3-E237-5801-55EA-C8F04D7E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3E79D-FF3E-BD71-36CE-6173E9E1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C2ABD-A46E-5275-0F11-D6B96342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DD063-8891-ABDA-EE17-207E7E31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015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1F4C-549F-78DB-67CE-3BB8584B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2BE7D-DAF7-F1CC-BB59-E44680B42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88613-8C61-205C-EB9F-6E6A8904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F2999-E48F-3BCB-CDFF-486C3C8C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21C83-8AAB-FDBD-39EA-52DECC56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50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C691DE-BB97-5A8E-C7BE-1A80DE249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EE551-277E-BB88-A0F3-6E587136B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7317B-CD99-AD09-11A7-6D2D116C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BACC-DF9F-2749-21B4-BA1C9B5DD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B1129-C1F0-2D71-8C92-AC42AB21B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38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6C1A3-B44B-5F46-D23F-04FB158A0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6F5DB-0D66-D177-53B7-C1F280005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67576-6BC9-43C8-A570-061272C72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AC035-B6B8-4A26-9262-14CC58B9C04B}" type="datetimeFigureOut">
              <a:rPr lang="en-IN" smtClean="0"/>
              <a:t>16-11-2022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236A3-3AF3-889E-96AD-FD051640A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5DE2B-397A-6648-D0F7-CC0E414C3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69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478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b="1" dirty="0">
                <a:solidFill>
                  <a:srgbClr val="1100A7"/>
                </a:solidFill>
              </a:rPr>
              <a:t>Topics to be Covered</a:t>
            </a:r>
            <a:r>
              <a:rPr lang="en-IN" sz="7200" b="1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D723C-EF15-FB3D-5FF3-791E71C55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3433"/>
            <a:ext cx="7381352" cy="2871133"/>
          </a:xfrm>
        </p:spPr>
        <p:txBody>
          <a:bodyPr>
            <a:normAutofit/>
          </a:bodyPr>
          <a:lstStyle/>
          <a:p>
            <a:r>
              <a:rPr lang="en-US" dirty="0"/>
              <a:t>Inner Classes - Introduction</a:t>
            </a:r>
          </a:p>
          <a:p>
            <a:r>
              <a:rPr lang="en-US" dirty="0"/>
              <a:t>Member inner class </a:t>
            </a:r>
          </a:p>
          <a:p>
            <a:r>
              <a:rPr lang="en-US" dirty="0"/>
              <a:t>Static inner class </a:t>
            </a:r>
          </a:p>
          <a:p>
            <a:r>
              <a:rPr lang="en-US" dirty="0"/>
              <a:t>Local inner class </a:t>
            </a:r>
          </a:p>
          <a:p>
            <a:r>
              <a:rPr lang="en-US" dirty="0"/>
              <a:t>Anonymous inner class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9129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09155"/>
            <a:ext cx="9144000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Inner Classes</a:t>
            </a:r>
          </a:p>
        </p:txBody>
      </p:sp>
    </p:spTree>
    <p:extLst>
      <p:ext uri="{BB962C8B-B14F-4D97-AF65-F5344CB8AC3E}">
        <p14:creationId xmlns:p14="http://schemas.microsoft.com/office/powerpoint/2010/main" val="1098117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4" y="0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Inner Classes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7A673D-7722-C4E5-D18B-5A022431664D}"/>
              </a:ext>
            </a:extLst>
          </p:cNvPr>
          <p:cNvSpPr txBox="1"/>
          <p:nvPr/>
        </p:nvSpPr>
        <p:spPr>
          <a:xfrm>
            <a:off x="627528" y="870955"/>
            <a:ext cx="1103555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Java inner class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or nested class is a class that is declared inside the class or interface.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EE0070-B624-3459-BE80-AA67AA5BCE34}"/>
              </a:ext>
            </a:extLst>
          </p:cNvPr>
          <p:cNvSpPr txBox="1"/>
          <p:nvPr/>
        </p:nvSpPr>
        <p:spPr>
          <a:xfrm>
            <a:off x="627527" y="1428991"/>
            <a:ext cx="11035554" cy="274690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Syntax :</a:t>
            </a:r>
          </a:p>
          <a:p>
            <a:endParaRPr lang="en-IN" sz="1000" dirty="0"/>
          </a:p>
          <a:p>
            <a:r>
              <a:rPr lang="en-IN" dirty="0"/>
              <a:t>class </a:t>
            </a:r>
            <a:r>
              <a:rPr lang="en-IN" b="1" dirty="0" err="1"/>
              <a:t>Java_Outer_class</a:t>
            </a:r>
            <a:endParaRPr lang="en-IN" b="1" dirty="0"/>
          </a:p>
          <a:p>
            <a:r>
              <a:rPr lang="en-IN" dirty="0"/>
              <a:t>{  </a:t>
            </a:r>
          </a:p>
          <a:p>
            <a:r>
              <a:rPr lang="en-IN" dirty="0"/>
              <a:t> 	//code  </a:t>
            </a:r>
          </a:p>
          <a:p>
            <a:r>
              <a:rPr lang="en-IN" dirty="0"/>
              <a:t> 	class </a:t>
            </a:r>
            <a:r>
              <a:rPr lang="en-IN" b="1" dirty="0" err="1"/>
              <a:t>Java_Inner_class</a:t>
            </a:r>
            <a:endParaRPr lang="en-IN" b="1" dirty="0"/>
          </a:p>
          <a:p>
            <a:r>
              <a:rPr lang="en-IN" dirty="0"/>
              <a:t>	{  </a:t>
            </a:r>
          </a:p>
          <a:p>
            <a:r>
              <a:rPr lang="en-IN" dirty="0"/>
              <a:t>  		//code  </a:t>
            </a:r>
          </a:p>
          <a:p>
            <a:r>
              <a:rPr lang="en-IN" dirty="0"/>
              <a:t> 	}  </a:t>
            </a:r>
          </a:p>
          <a:p>
            <a:r>
              <a:rPr lang="en-IN" dirty="0"/>
              <a:t>}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B0EB1-3D87-5BD0-7710-2824B022636D}"/>
              </a:ext>
            </a:extLst>
          </p:cNvPr>
          <p:cNvSpPr txBox="1"/>
          <p:nvPr/>
        </p:nvSpPr>
        <p:spPr>
          <a:xfrm>
            <a:off x="627527" y="43646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610B38"/>
                </a:solidFill>
                <a:effectLst/>
                <a:latin typeface="erdana"/>
              </a:rPr>
              <a:t>Advantage of Java inner classes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A4E4DE-123C-EA8B-B444-16D16A141D37}"/>
              </a:ext>
            </a:extLst>
          </p:cNvPr>
          <p:cNvSpPr txBox="1"/>
          <p:nvPr/>
        </p:nvSpPr>
        <p:spPr>
          <a:xfrm>
            <a:off x="627527" y="4733933"/>
            <a:ext cx="11035554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Nested class represents a particular type of relationship that,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can access all the members (data members and methods) of the outer class,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including private.</a:t>
            </a:r>
          </a:p>
          <a:p>
            <a:pPr marL="342900" indent="-342900" algn="just">
              <a:buFont typeface="+mj-lt"/>
              <a:buAutoNum type="arabicParenR"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Nested classes are used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to develop more readable and maintainable code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because it logically groups classes and interfaces in one place only.</a:t>
            </a:r>
          </a:p>
          <a:p>
            <a:pPr marL="342900" indent="-342900" algn="just">
              <a:buFont typeface="+mj-lt"/>
              <a:buAutoNum type="arabicParenR"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Code Optimization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: It requires less code to write.</a:t>
            </a:r>
          </a:p>
        </p:txBody>
      </p:sp>
    </p:spTree>
    <p:extLst>
      <p:ext uri="{BB962C8B-B14F-4D97-AF65-F5344CB8AC3E}">
        <p14:creationId xmlns:p14="http://schemas.microsoft.com/office/powerpoint/2010/main" val="1898476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09155"/>
            <a:ext cx="9144000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Member Inner Classes</a:t>
            </a:r>
          </a:p>
        </p:txBody>
      </p:sp>
    </p:spTree>
    <p:extLst>
      <p:ext uri="{BB962C8B-B14F-4D97-AF65-F5344CB8AC3E}">
        <p14:creationId xmlns:p14="http://schemas.microsoft.com/office/powerpoint/2010/main" val="3567818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4" y="0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Member Inner Classes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67DDE-5E46-07B7-D560-FC903DBA9B54}"/>
              </a:ext>
            </a:extLst>
          </p:cNvPr>
          <p:cNvSpPr txBox="1"/>
          <p:nvPr/>
        </p:nvSpPr>
        <p:spPr>
          <a:xfrm>
            <a:off x="525026" y="816653"/>
            <a:ext cx="110205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 non-static class that is created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inside a class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but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outside a method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is called a 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member inner class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It is also known as a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regular inner class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</a:t>
            </a:r>
          </a:p>
          <a:p>
            <a:endParaRPr lang="en-US" dirty="0">
              <a:solidFill>
                <a:srgbClr val="333333"/>
              </a:solidFill>
              <a:latin typeface="inter-regular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It can be declared with access modifiers like public, default, private, and protected.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D6EE23-1CDA-D6E1-AF68-C1F842BFCE93}"/>
              </a:ext>
            </a:extLst>
          </p:cNvPr>
          <p:cNvSpPr txBox="1"/>
          <p:nvPr/>
        </p:nvSpPr>
        <p:spPr>
          <a:xfrm>
            <a:off x="578223" y="2695084"/>
            <a:ext cx="11035554" cy="274690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Syntax :</a:t>
            </a:r>
          </a:p>
          <a:p>
            <a:endParaRPr lang="en-IN" sz="1000" dirty="0"/>
          </a:p>
          <a:p>
            <a:r>
              <a:rPr lang="en-IN" dirty="0"/>
              <a:t>class </a:t>
            </a:r>
            <a:r>
              <a:rPr lang="en-IN" b="1" dirty="0"/>
              <a:t>Outer</a:t>
            </a:r>
          </a:p>
          <a:p>
            <a:r>
              <a:rPr lang="en-IN" dirty="0"/>
              <a:t>{  </a:t>
            </a:r>
          </a:p>
          <a:p>
            <a:r>
              <a:rPr lang="en-IN" dirty="0"/>
              <a:t> 	//code  </a:t>
            </a:r>
          </a:p>
          <a:p>
            <a:r>
              <a:rPr lang="en-IN" dirty="0"/>
              <a:t> 	class </a:t>
            </a:r>
            <a:r>
              <a:rPr lang="en-IN" b="1" dirty="0"/>
              <a:t>Inner</a:t>
            </a:r>
          </a:p>
          <a:p>
            <a:r>
              <a:rPr lang="en-IN" dirty="0"/>
              <a:t>	{  </a:t>
            </a:r>
          </a:p>
          <a:p>
            <a:r>
              <a:rPr lang="en-IN" dirty="0"/>
              <a:t>  		//code  </a:t>
            </a:r>
          </a:p>
          <a:p>
            <a:r>
              <a:rPr lang="en-IN" dirty="0"/>
              <a:t> 	}  </a:t>
            </a:r>
          </a:p>
          <a:p>
            <a:r>
              <a:rPr lang="en-IN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68906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4" y="0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Member Inner Classes :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67DDE-5E46-07B7-D560-FC903DBA9B54}"/>
              </a:ext>
            </a:extLst>
          </p:cNvPr>
          <p:cNvSpPr txBox="1"/>
          <p:nvPr/>
        </p:nvSpPr>
        <p:spPr>
          <a:xfrm>
            <a:off x="8764676" y="3429000"/>
            <a:ext cx="290230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Output: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	Data is 30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A57A3-FC5A-A4FF-E2F1-D145652EC85D}"/>
              </a:ext>
            </a:extLst>
          </p:cNvPr>
          <p:cNvSpPr txBox="1"/>
          <p:nvPr/>
        </p:nvSpPr>
        <p:spPr>
          <a:xfrm>
            <a:off x="314880" y="1844097"/>
            <a:ext cx="7383027" cy="48013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TestMemberOuter1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	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private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data=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Inner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show()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dirty="0">
                <a:solidFill>
                  <a:srgbClr val="0000FF"/>
                </a:solidFill>
                <a:latin typeface="inter-regular"/>
              </a:rPr>
              <a:t>“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Data is ”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+data);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	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	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TestMemberOuter1 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obj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=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FFFF00"/>
                </a:highlight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 TestMemberOuter1();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TestMemberOuter1.Inner in=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obj.</a:t>
            </a:r>
            <a:r>
              <a:rPr lang="en-IN" b="1" i="0" dirty="0" err="1">
                <a:solidFill>
                  <a:srgbClr val="006699"/>
                </a:solidFill>
                <a:effectLst/>
                <a:highlight>
                  <a:srgbClr val="FFFF00"/>
                </a:highlight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 Inner(); 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in.</a:t>
            </a:r>
            <a:r>
              <a:rPr lang="en-IN" dirty="0" err="1">
                <a:solidFill>
                  <a:srgbClr val="000000"/>
                </a:solidFill>
                <a:latin typeface="inter-regular"/>
              </a:rPr>
              <a:t>show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	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7ABC33-D0FA-93F0-B279-BA5D4212442A}"/>
              </a:ext>
            </a:extLst>
          </p:cNvPr>
          <p:cNvSpPr txBox="1"/>
          <p:nvPr/>
        </p:nvSpPr>
        <p:spPr>
          <a:xfrm>
            <a:off x="415364" y="561090"/>
            <a:ext cx="11251612" cy="10772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general form of syntax to create an object of the member inner class is as follows:</a:t>
            </a:r>
          </a:p>
          <a:p>
            <a:endParaRPr lang="en-US" dirty="0">
              <a:solidFill>
                <a:srgbClr val="333333"/>
              </a:solidFill>
              <a:latin typeface="inter-regular"/>
            </a:endParaRPr>
          </a:p>
          <a:p>
            <a:r>
              <a:rPr lang="en-IN" dirty="0" err="1">
                <a:highlight>
                  <a:srgbClr val="FFFF00"/>
                </a:highlight>
              </a:rPr>
              <a:t>OuterClassReference</a:t>
            </a:r>
            <a:r>
              <a:rPr lang="en-IN" sz="2800" dirty="0" err="1"/>
              <a:t>.</a:t>
            </a:r>
            <a:r>
              <a:rPr lang="en-IN" dirty="0" err="1">
                <a:highlight>
                  <a:srgbClr val="FF00FF"/>
                </a:highlight>
              </a:rPr>
              <a:t>new</a:t>
            </a:r>
            <a:r>
              <a:rPr lang="en-IN" dirty="0"/>
              <a:t> </a:t>
            </a:r>
            <a:r>
              <a:rPr lang="en-IN" dirty="0" err="1">
                <a:highlight>
                  <a:srgbClr val="00FF00"/>
                </a:highlight>
              </a:rPr>
              <a:t>MemberInnerClassConstructor</a:t>
            </a:r>
            <a:r>
              <a:rPr lang="en-IN" dirty="0">
                <a:highlight>
                  <a:srgbClr val="00FF00"/>
                </a:highlight>
              </a:rPr>
              <a:t>()</a:t>
            </a:r>
            <a:r>
              <a:rPr lang="en-IN" dirty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89448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2809155"/>
            <a:ext cx="10721591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Static Inner Class</a:t>
            </a:r>
          </a:p>
        </p:txBody>
      </p:sp>
    </p:spTree>
    <p:extLst>
      <p:ext uri="{BB962C8B-B14F-4D97-AF65-F5344CB8AC3E}">
        <p14:creationId xmlns:p14="http://schemas.microsoft.com/office/powerpoint/2010/main" val="2904112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4" y="0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Static Inner Class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762002-6888-39A1-EC18-D970A780100E}"/>
              </a:ext>
            </a:extLst>
          </p:cNvPr>
          <p:cNvSpPr txBox="1"/>
          <p:nvPr/>
        </p:nvSpPr>
        <p:spPr>
          <a:xfrm>
            <a:off x="578223" y="679904"/>
            <a:ext cx="11329074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 static class is a class created inside a class by preceding 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static</a:t>
            </a:r>
            <a:r>
              <a:rPr lang="en-US" i="0" dirty="0">
                <a:solidFill>
                  <a:srgbClr val="333333"/>
                </a:solidFill>
                <a:effectLst/>
                <a:latin typeface="inter-regular"/>
              </a:rPr>
              <a:t> keyword is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called a static inner class in Java. 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It cannot access non-static data members and methods. It can be accessed by outer class name.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can access static data members of the outer class, including private.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The static nested class cannot access non-static (instance) data members 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0F6DFC-5D4F-F4E6-ABC7-95BB0296B64F}"/>
              </a:ext>
            </a:extLst>
          </p:cNvPr>
          <p:cNvSpPr txBox="1"/>
          <p:nvPr/>
        </p:nvSpPr>
        <p:spPr>
          <a:xfrm>
            <a:off x="578223" y="2253301"/>
            <a:ext cx="6094324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FF0000"/>
                </a:solidFill>
                <a:effectLst/>
                <a:latin typeface="inter-regular"/>
              </a:rPr>
              <a:t>Example 01: 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TestOuter1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data=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Inner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       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FFFF00"/>
                </a:highlight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msg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() // non-static method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"data is 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+data);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TestOuter1.Inner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obj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TestOuter1.Inner();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obj.msg();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0C896C-5E6F-E693-36D0-C8B725822A7C}"/>
              </a:ext>
            </a:extLst>
          </p:cNvPr>
          <p:cNvSpPr txBox="1"/>
          <p:nvPr/>
        </p:nvSpPr>
        <p:spPr>
          <a:xfrm>
            <a:off x="6905730" y="4345802"/>
            <a:ext cx="5011616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In this example, we need to create the instance of static nested class because it has instance method msg(). 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But we don't need to create the object of the Outer class because the nested class is static and static properties, methods, or classes can be accessed without an object.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81DC74-D912-B0CE-97FB-3F7054AADF30}"/>
              </a:ext>
            </a:extLst>
          </p:cNvPr>
          <p:cNvSpPr txBox="1"/>
          <p:nvPr/>
        </p:nvSpPr>
        <p:spPr>
          <a:xfrm>
            <a:off x="6905730" y="2436387"/>
            <a:ext cx="5001567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Output: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/>
              <a:t>	data is 30</a:t>
            </a:r>
          </a:p>
        </p:txBody>
      </p:sp>
    </p:spTree>
    <p:extLst>
      <p:ext uri="{BB962C8B-B14F-4D97-AF65-F5344CB8AC3E}">
        <p14:creationId xmlns:p14="http://schemas.microsoft.com/office/powerpoint/2010/main" val="920426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4" y="0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Static Inner Class :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0F6DFC-5D4F-F4E6-ABC7-95BB0296B64F}"/>
              </a:ext>
            </a:extLst>
          </p:cNvPr>
          <p:cNvSpPr txBox="1"/>
          <p:nvPr/>
        </p:nvSpPr>
        <p:spPr>
          <a:xfrm>
            <a:off x="578222" y="1189892"/>
            <a:ext cx="7470507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FF0000"/>
                </a:solidFill>
                <a:effectLst/>
                <a:latin typeface="inter-regular"/>
              </a:rPr>
              <a:t>Example 02: 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TestOuter2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data=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Inner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             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FFFF00"/>
                </a:highlight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FFFF00"/>
                </a:highlight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msg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() // static method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"data is 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+data);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                  //no need to create the instance of static nested 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           TestOuter2.Inner.msg();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0C896C-5E6F-E693-36D0-C8B725822A7C}"/>
              </a:ext>
            </a:extLst>
          </p:cNvPr>
          <p:cNvSpPr txBox="1"/>
          <p:nvPr/>
        </p:nvSpPr>
        <p:spPr>
          <a:xfrm>
            <a:off x="8390375" y="5067876"/>
            <a:ext cx="340639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Note: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If you have the static member inside the static nested class, you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don't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need to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create an instance of the static nested class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81DC74-D912-B0CE-97FB-3F7054AADF30}"/>
              </a:ext>
            </a:extLst>
          </p:cNvPr>
          <p:cNvSpPr txBox="1"/>
          <p:nvPr/>
        </p:nvSpPr>
        <p:spPr>
          <a:xfrm>
            <a:off x="8418595" y="2275613"/>
            <a:ext cx="3406391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Output: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/>
              <a:t>	data is 30</a:t>
            </a:r>
          </a:p>
        </p:txBody>
      </p:sp>
    </p:spTree>
    <p:extLst>
      <p:ext uri="{BB962C8B-B14F-4D97-AF65-F5344CB8AC3E}">
        <p14:creationId xmlns:p14="http://schemas.microsoft.com/office/powerpoint/2010/main" val="296397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09155"/>
            <a:ext cx="9144000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Local Inner Classes</a:t>
            </a:r>
          </a:p>
        </p:txBody>
      </p:sp>
    </p:spTree>
    <p:extLst>
      <p:ext uri="{BB962C8B-B14F-4D97-AF65-F5344CB8AC3E}">
        <p14:creationId xmlns:p14="http://schemas.microsoft.com/office/powerpoint/2010/main" val="3752330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4" y="0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Local Inner Class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762002-6888-39A1-EC18-D970A780100E}"/>
              </a:ext>
            </a:extLst>
          </p:cNvPr>
          <p:cNvSpPr txBox="1"/>
          <p:nvPr/>
        </p:nvSpPr>
        <p:spPr>
          <a:xfrm>
            <a:off x="854444" y="1252659"/>
            <a:ext cx="10483112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 class which is </a:t>
            </a:r>
            <a:r>
              <a:rPr lang="en-US" b="1" i="0" u="sng" dirty="0">
                <a:solidFill>
                  <a:srgbClr val="333333"/>
                </a:solidFill>
                <a:effectLst/>
                <a:latin typeface="inter-regular"/>
              </a:rPr>
              <a:t>created inside a method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, is called a local inner class in java.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Local Inner Classes are the inner classes that are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defined inside a block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Generally, this block is a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method body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Sometimes this block can be a for loop, or an if clause. Local Inner classes are </a:t>
            </a:r>
            <a:r>
              <a:rPr lang="en-US" b="1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not a member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of any enclosing classes.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They </a:t>
            </a:r>
            <a:r>
              <a:rPr lang="en-US" b="1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belong to the block they are defined within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, due to which local inner classes </a:t>
            </a:r>
            <a:r>
              <a:rPr lang="en-US" b="1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cannot have any access modifiers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associated with them.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However, </a:t>
            </a:r>
            <a:r>
              <a:rPr lang="en-US" b="1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they can be marked as final or abstract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These classes have access to the fields of the class enclosing it.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If you want </a:t>
            </a:r>
            <a:r>
              <a:rPr lang="en-US" b="1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to invoke the methods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of the local inner class, you </a:t>
            </a:r>
            <a:r>
              <a:rPr lang="en-US" b="1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must instantiate this class inside the method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5512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4" y="0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Local Inner Class :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0F6DFC-5D4F-F4E6-ABC7-95BB0296B64F}"/>
              </a:ext>
            </a:extLst>
          </p:cNvPr>
          <p:cNvSpPr txBox="1"/>
          <p:nvPr/>
        </p:nvSpPr>
        <p:spPr>
          <a:xfrm>
            <a:off x="538029" y="679904"/>
            <a:ext cx="7470507" cy="59093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localInner1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	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private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data=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//instance variable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	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00FF00"/>
                </a:highlight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inter-regular"/>
              </a:rPr>
              <a:t> display()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inter-regular"/>
              </a:rPr>
              <a:t>{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FFFF00"/>
                </a:highlight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 Local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{ 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			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msg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(data);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} 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Local l=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Local();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l.msg();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	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inter-regular"/>
              </a:rPr>
              <a:t>} 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	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localInner1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obj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localInner1();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obj.display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	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0C896C-5E6F-E693-36D0-C8B725822A7C}"/>
              </a:ext>
            </a:extLst>
          </p:cNvPr>
          <p:cNvSpPr txBox="1"/>
          <p:nvPr/>
        </p:nvSpPr>
        <p:spPr>
          <a:xfrm>
            <a:off x="8390375" y="5067876"/>
            <a:ext cx="340639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Note: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If you have the static member inside the static nested class, you don't need to create an instance of the static nested class.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81DC74-D912-B0CE-97FB-3F7054AADF30}"/>
              </a:ext>
            </a:extLst>
          </p:cNvPr>
          <p:cNvSpPr txBox="1"/>
          <p:nvPr/>
        </p:nvSpPr>
        <p:spPr>
          <a:xfrm>
            <a:off x="8418595" y="2275613"/>
            <a:ext cx="3406391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Output: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/>
              <a:t>	30</a:t>
            </a:r>
          </a:p>
        </p:txBody>
      </p:sp>
    </p:spTree>
    <p:extLst>
      <p:ext uri="{BB962C8B-B14F-4D97-AF65-F5344CB8AC3E}">
        <p14:creationId xmlns:p14="http://schemas.microsoft.com/office/powerpoint/2010/main" val="2082474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2809155"/>
            <a:ext cx="10721591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Anonymous Inner Class</a:t>
            </a:r>
          </a:p>
        </p:txBody>
      </p:sp>
    </p:spTree>
    <p:extLst>
      <p:ext uri="{BB962C8B-B14F-4D97-AF65-F5344CB8AC3E}">
        <p14:creationId xmlns:p14="http://schemas.microsoft.com/office/powerpoint/2010/main" val="567611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4" y="0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Anonymous Inner Class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324C5-860E-B8C6-16FC-60104AFA6BFF}"/>
              </a:ext>
            </a:extLst>
          </p:cNvPr>
          <p:cNvSpPr txBox="1"/>
          <p:nvPr/>
        </p:nvSpPr>
        <p:spPr>
          <a:xfrm>
            <a:off x="820616" y="1618179"/>
            <a:ext cx="10542148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Java anonymous inner class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is an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inner class without a name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and for which only a single object is created. 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An anonymous inner class can be useful when making an instance of an object with certain "extras" such as overloading methods of a class or interface, without having to actually subclass a class.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In simple words, a class that has no name is known as an anonymous inner class in Java. It should be used if you have to override a method of class or interface. 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Java Anonymous inner class can be created in two ways: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Class (may be abstract or concrete).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3075970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4" y="0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Anonymous Inner Class :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0F6DFC-5D4F-F4E6-ABC7-95BB0296B64F}"/>
              </a:ext>
            </a:extLst>
          </p:cNvPr>
          <p:cNvSpPr txBox="1"/>
          <p:nvPr/>
        </p:nvSpPr>
        <p:spPr>
          <a:xfrm>
            <a:off x="367014" y="743301"/>
            <a:ext cx="5069144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Person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dirty="0">
                <a:solidFill>
                  <a:srgbClr val="006699"/>
                </a:solidFill>
                <a:latin typeface="inter-regular"/>
              </a:rPr>
              <a:t>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eat();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TestAnonymousInner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 Person p=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Person()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 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eat()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"nice fruits"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};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p.eat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 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0C896C-5E6F-E693-36D0-C8B725822A7C}"/>
              </a:ext>
            </a:extLst>
          </p:cNvPr>
          <p:cNvSpPr txBox="1"/>
          <p:nvPr/>
        </p:nvSpPr>
        <p:spPr>
          <a:xfrm>
            <a:off x="6473650" y="3852541"/>
            <a:ext cx="5252775" cy="17543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 class is created, but its name is decided by the compiler, which extends the Person class and provides the implementation of the eat() method.</a:t>
            </a:r>
          </a:p>
          <a:p>
            <a:pPr algn="just">
              <a:buFont typeface="+mj-lt"/>
              <a:buAutoNum type="arabicPeriod"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An object of the Anonymous class is created that is referred to by 'p,' a reference variable of Person type.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81DC74-D912-B0CE-97FB-3F7054AADF30}"/>
              </a:ext>
            </a:extLst>
          </p:cNvPr>
          <p:cNvSpPr txBox="1"/>
          <p:nvPr/>
        </p:nvSpPr>
        <p:spPr>
          <a:xfrm>
            <a:off x="1176915" y="6114699"/>
            <a:ext cx="340639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Output:</a:t>
            </a:r>
          </a:p>
          <a:p>
            <a:pPr algn="just"/>
            <a:r>
              <a:rPr lang="en-IN" b="1" dirty="0"/>
              <a:t>	</a:t>
            </a:r>
            <a:r>
              <a:rPr lang="en-IN" b="1" dirty="0">
                <a:solidFill>
                  <a:srgbClr val="FF0000"/>
                </a:solidFill>
              </a:rPr>
              <a:t>nice fruits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FD2A70-8C13-57CA-57A5-4CE1CB2F0BEE}"/>
              </a:ext>
            </a:extLst>
          </p:cNvPr>
          <p:cNvSpPr txBox="1"/>
          <p:nvPr/>
        </p:nvSpPr>
        <p:spPr>
          <a:xfrm>
            <a:off x="6374006" y="730861"/>
            <a:ext cx="3976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610B4B"/>
                </a:solidFill>
                <a:effectLst/>
                <a:latin typeface="erdana"/>
              </a:rPr>
              <a:t>Internal working of given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6E9837-3DCB-128A-4ED8-0EC35018041D}"/>
              </a:ext>
            </a:extLst>
          </p:cNvPr>
          <p:cNvSpPr txBox="1"/>
          <p:nvPr/>
        </p:nvSpPr>
        <p:spPr>
          <a:xfrm>
            <a:off x="6473650" y="1400927"/>
            <a:ext cx="5252775" cy="20313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Person p=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Person()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      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eat()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"nice fruits"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};  </a:t>
            </a:r>
          </a:p>
        </p:txBody>
      </p:sp>
    </p:spTree>
    <p:extLst>
      <p:ext uri="{BB962C8B-B14F-4D97-AF65-F5344CB8AC3E}">
        <p14:creationId xmlns:p14="http://schemas.microsoft.com/office/powerpoint/2010/main" val="3600695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2809155"/>
            <a:ext cx="10721591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2339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4064</TotalTime>
  <Words>1233</Words>
  <Application>Microsoft Office PowerPoint</Application>
  <PresentationFormat>Widescreen</PresentationFormat>
  <Paragraphs>198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erdana</vt:lpstr>
      <vt:lpstr>inter-bold</vt:lpstr>
      <vt:lpstr>inter-regular</vt:lpstr>
      <vt:lpstr>Wingdings</vt:lpstr>
      <vt:lpstr>Office Theme</vt:lpstr>
      <vt:lpstr>Topics to be Covered:</vt:lpstr>
      <vt:lpstr>Inner Classes</vt:lpstr>
      <vt:lpstr>Inner Classes</vt:lpstr>
      <vt:lpstr>Member Inner Classes</vt:lpstr>
      <vt:lpstr>Member Inner Classes</vt:lpstr>
      <vt:lpstr>Member Inner Classes : Example</vt:lpstr>
      <vt:lpstr>Static Inner Class</vt:lpstr>
      <vt:lpstr>Static Inner Class</vt:lpstr>
      <vt:lpstr>Static Inner Class : Example</vt:lpstr>
      <vt:lpstr>Local Inner Classes</vt:lpstr>
      <vt:lpstr>Local Inner Class</vt:lpstr>
      <vt:lpstr>Local Inner Class : Example</vt:lpstr>
      <vt:lpstr>Anonymous Inner Class</vt:lpstr>
      <vt:lpstr>Anonymous Inner Class</vt:lpstr>
      <vt:lpstr>Anonymous Inner Class : Example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in JAVA</dc:title>
  <dc:creator>Anil Kumar</dc:creator>
  <cp:lastModifiedBy>Anil Kumar</cp:lastModifiedBy>
  <cp:revision>232</cp:revision>
  <dcterms:created xsi:type="dcterms:W3CDTF">2022-08-21T11:09:16Z</dcterms:created>
  <dcterms:modified xsi:type="dcterms:W3CDTF">2022-11-16T07:15:48Z</dcterms:modified>
</cp:coreProperties>
</file>