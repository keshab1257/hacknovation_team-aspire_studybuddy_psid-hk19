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70" r:id="rId4"/>
    <p:sldId id="257" r:id="rId5"/>
    <p:sldId id="343" r:id="rId6"/>
    <p:sldId id="366" r:id="rId7"/>
    <p:sldId id="367" r:id="rId8"/>
    <p:sldId id="368" r:id="rId9"/>
    <p:sldId id="369" r:id="rId10"/>
    <p:sldId id="372" r:id="rId11"/>
    <p:sldId id="373" r:id="rId12"/>
    <p:sldId id="375" r:id="rId13"/>
    <p:sldId id="376" r:id="rId14"/>
    <p:sldId id="374" r:id="rId15"/>
    <p:sldId id="371" r:id="rId16"/>
    <p:sldId id="3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28-09-2022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post/java-character" TargetMode="External"/><Relationship Id="rId2" Type="http://schemas.openxmlformats.org/officeDocument/2006/relationships/hyperlink" Target="https://www.javatpoint.com/java-boolea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post/java-character" TargetMode="External"/><Relationship Id="rId2" Type="http://schemas.openxmlformats.org/officeDocument/2006/relationships/hyperlink" Target="https://www.javatpoint.com/java-boolea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235" y="1718070"/>
            <a:ext cx="8207187" cy="3893836"/>
          </a:xfrm>
        </p:spPr>
        <p:txBody>
          <a:bodyPr>
            <a:normAutofit/>
          </a:bodyPr>
          <a:lstStyle/>
          <a:p>
            <a:r>
              <a:rPr lang="en-IN" dirty="0"/>
              <a:t>Wrapper Classes </a:t>
            </a:r>
          </a:p>
          <a:p>
            <a:r>
              <a:rPr lang="en-IN" dirty="0"/>
              <a:t>Usage of Wrapper Class</a:t>
            </a:r>
          </a:p>
          <a:p>
            <a:r>
              <a:rPr lang="en-IN" dirty="0"/>
              <a:t>Types of Wrapper Class</a:t>
            </a:r>
          </a:p>
          <a:p>
            <a:r>
              <a:rPr lang="en-IN" dirty="0"/>
              <a:t>Autoboxing</a:t>
            </a:r>
          </a:p>
          <a:p>
            <a:r>
              <a:rPr lang="en-IN" dirty="0"/>
              <a:t>Unboxing</a:t>
            </a:r>
          </a:p>
          <a:p>
            <a:r>
              <a:rPr lang="en-IN" dirty="0"/>
              <a:t>Methods of Wrapper Class</a:t>
            </a:r>
          </a:p>
          <a:p>
            <a:r>
              <a:rPr lang="en-IN" dirty="0"/>
              <a:t>Example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788" y="2761128"/>
            <a:ext cx="9950824" cy="1080527"/>
          </a:xfrm>
        </p:spPr>
        <p:txBody>
          <a:bodyPr>
            <a:normAutofit/>
          </a:bodyPr>
          <a:lstStyle/>
          <a:p>
            <a:r>
              <a:rPr lang="en-IN" sz="7200" b="1" dirty="0"/>
              <a:t>Wrapper Class</a:t>
            </a:r>
          </a:p>
        </p:txBody>
      </p:sp>
    </p:spTree>
    <p:extLst>
      <p:ext uri="{BB962C8B-B14F-4D97-AF65-F5344CB8AC3E}">
        <p14:creationId xmlns:p14="http://schemas.microsoft.com/office/powerpoint/2010/main" val="109811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72"/>
            <a:ext cx="10515600" cy="67990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610B38"/>
                </a:solidFill>
                <a:latin typeface="erdana"/>
              </a:rPr>
              <a:t>Wrapper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982" y="946763"/>
            <a:ext cx="11081657" cy="429759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333333"/>
                </a:solidFill>
                <a:latin typeface="inter-regular"/>
              </a:rPr>
              <a:t>Introduction :</a:t>
            </a:r>
          </a:p>
          <a:p>
            <a:pPr algn="just"/>
            <a:r>
              <a:rPr lang="en-US" sz="2100" b="0" i="0" dirty="0">
                <a:solidFill>
                  <a:srgbClr val="333333"/>
                </a:solidFill>
                <a:effectLst/>
                <a:latin typeface="inter-regular"/>
              </a:rPr>
              <a:t>We see many applications on the internet, which receive data from the user and sen</a:t>
            </a:r>
            <a:r>
              <a:rPr lang="en-US" sz="2100" dirty="0">
                <a:solidFill>
                  <a:srgbClr val="333333"/>
                </a:solidFill>
                <a:latin typeface="inter-regular"/>
              </a:rPr>
              <a:t>d it to the server.</a:t>
            </a:r>
          </a:p>
          <a:p>
            <a:pPr algn="just"/>
            <a:r>
              <a:rPr lang="en-US" sz="2100" b="0" i="0" dirty="0">
                <a:solidFill>
                  <a:srgbClr val="333333"/>
                </a:solidFill>
                <a:effectLst/>
                <a:latin typeface="inter-regular"/>
              </a:rPr>
              <a:t>We type our details like name, credit card number, address etc. and send them to the server.</a:t>
            </a:r>
          </a:p>
          <a:p>
            <a:pPr algn="just"/>
            <a:r>
              <a:rPr lang="en-US" sz="2100" b="0" i="0" dirty="0">
                <a:solidFill>
                  <a:srgbClr val="333333"/>
                </a:solidFill>
                <a:effectLst/>
                <a:latin typeface="inter-regular"/>
              </a:rPr>
              <a:t>The server expects this data in the form of Objects and hence we are supposed to send objects.</a:t>
            </a:r>
          </a:p>
          <a:p>
            <a:pPr algn="just"/>
            <a:r>
              <a:rPr lang="en-US" sz="2100" dirty="0">
                <a:solidFill>
                  <a:srgbClr val="333333"/>
                </a:solidFill>
                <a:latin typeface="inter-regular"/>
              </a:rPr>
              <a:t>In our data, ‘name’ is a String object, but credit card number is just an </a:t>
            </a:r>
            <a:r>
              <a:rPr lang="en-US" sz="2100" b="1" dirty="0">
                <a:solidFill>
                  <a:srgbClr val="333333"/>
                </a:solidFill>
                <a:latin typeface="inter-regular"/>
              </a:rPr>
              <a:t>int </a:t>
            </a:r>
            <a:r>
              <a:rPr lang="en-US" sz="2100" dirty="0">
                <a:solidFill>
                  <a:srgbClr val="333333"/>
                </a:solidFill>
                <a:latin typeface="inter-regular"/>
              </a:rPr>
              <a:t>type value, which is not an object.</a:t>
            </a:r>
          </a:p>
          <a:p>
            <a:pPr algn="just"/>
            <a:r>
              <a:rPr lang="en-US" sz="2100" b="0" i="0" dirty="0">
                <a:solidFill>
                  <a:srgbClr val="333333"/>
                </a:solidFill>
                <a:effectLst/>
                <a:latin typeface="inter-regular"/>
              </a:rPr>
              <a:t>This primitive data type should also be converted into an object and then sent to the server. To do this, we need wrapper classes.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Wrapper Class:</a:t>
            </a:r>
          </a:p>
          <a:p>
            <a:pPr algn="just"/>
            <a:r>
              <a:rPr lang="en-US" sz="2100" i="0" dirty="0">
                <a:solidFill>
                  <a:srgbClr val="333333"/>
                </a:solidFill>
                <a:effectLst/>
                <a:latin typeface="inter-regular"/>
              </a:rPr>
              <a:t>A wrapper class is a class whose object wraps or contains a primitive data typ</a:t>
            </a:r>
            <a:r>
              <a:rPr lang="en-US" sz="2100" dirty="0">
                <a:solidFill>
                  <a:srgbClr val="333333"/>
                </a:solidFill>
                <a:latin typeface="inter-regular"/>
              </a:rPr>
              <a:t>e. When we create an object to a wrapper class, it contains a field and in this field, we can store a primitive value.</a:t>
            </a:r>
          </a:p>
          <a:p>
            <a:pPr algn="just"/>
            <a:r>
              <a:rPr lang="en-US" sz="2100" dirty="0">
                <a:solidFill>
                  <a:srgbClr val="333333"/>
                </a:solidFill>
                <a:latin typeface="inter-regular"/>
              </a:rPr>
              <a:t>In other words, we can wrap a primitive value into a wrapper class object.</a:t>
            </a:r>
          </a:p>
          <a:p>
            <a:pPr algn="just"/>
            <a:r>
              <a:rPr lang="en-US" sz="2100" i="0" dirty="0">
                <a:solidFill>
                  <a:srgbClr val="333333"/>
                </a:solidFill>
                <a:effectLst/>
                <a:latin typeface="inter-regular"/>
              </a:rPr>
              <a:t>For example, if we c</a:t>
            </a:r>
            <a:r>
              <a:rPr lang="en-US" sz="2100" dirty="0">
                <a:solidFill>
                  <a:srgbClr val="333333"/>
                </a:solidFill>
                <a:latin typeface="inter-regular"/>
              </a:rPr>
              <a:t>reate an object to </a:t>
            </a:r>
            <a:r>
              <a:rPr lang="en-US" sz="2100" b="1" dirty="0">
                <a:solidFill>
                  <a:srgbClr val="333333"/>
                </a:solidFill>
                <a:latin typeface="inter-regular"/>
              </a:rPr>
              <a:t>Character</a:t>
            </a:r>
            <a:r>
              <a:rPr lang="en-US" sz="2100" dirty="0">
                <a:solidFill>
                  <a:srgbClr val="333333"/>
                </a:solidFill>
                <a:latin typeface="inter-regular"/>
              </a:rPr>
              <a:t> wrapper class, it contains a single field </a:t>
            </a:r>
            <a:r>
              <a:rPr lang="en-US" sz="2100" b="1" dirty="0">
                <a:solidFill>
                  <a:srgbClr val="333333"/>
                </a:solidFill>
                <a:latin typeface="inter-regular"/>
              </a:rPr>
              <a:t>char</a:t>
            </a:r>
            <a:r>
              <a:rPr lang="en-US" sz="2100" dirty="0">
                <a:solidFill>
                  <a:srgbClr val="333333"/>
                </a:solidFill>
                <a:latin typeface="inter-regular"/>
              </a:rPr>
              <a:t> and it is possible to store a character. </a:t>
            </a:r>
          </a:p>
          <a:p>
            <a:pPr algn="just"/>
            <a:r>
              <a:rPr lang="en-US" sz="2100" i="0" dirty="0">
                <a:solidFill>
                  <a:srgbClr val="333333"/>
                </a:solidFill>
                <a:effectLst/>
                <a:latin typeface="inter-regular"/>
              </a:rPr>
              <a:t>So, </a:t>
            </a:r>
            <a:r>
              <a:rPr lang="en-US" sz="2100" b="1" i="0" dirty="0">
                <a:solidFill>
                  <a:srgbClr val="333333"/>
                </a:solidFill>
                <a:effectLst/>
                <a:latin typeface="inter-regular"/>
              </a:rPr>
              <a:t>Character</a:t>
            </a:r>
            <a:r>
              <a:rPr lang="en-US" sz="2100" i="0" dirty="0">
                <a:solidFill>
                  <a:srgbClr val="333333"/>
                </a:solidFill>
                <a:effectLst/>
                <a:latin typeface="inter-regular"/>
              </a:rPr>
              <a:t> is a wrapper class of </a:t>
            </a:r>
            <a:r>
              <a:rPr lang="en-US" sz="2100" b="1" i="0" dirty="0">
                <a:solidFill>
                  <a:srgbClr val="333333"/>
                </a:solidFill>
                <a:effectLst/>
                <a:latin typeface="inter-regular"/>
              </a:rPr>
              <a:t>char</a:t>
            </a:r>
            <a:r>
              <a:rPr lang="en-US" sz="2100" i="0" dirty="0">
                <a:solidFill>
                  <a:srgbClr val="333333"/>
                </a:solidFill>
                <a:effectLst/>
                <a:latin typeface="inter-regular"/>
              </a:rPr>
              <a:t> data type.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endParaRPr lang="en-US" sz="16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D2F5007-B019-F354-0C7C-F1E09A9C6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645780"/>
              </p:ext>
            </p:extLst>
          </p:nvPr>
        </p:nvGraphicFramePr>
        <p:xfrm>
          <a:off x="7862047" y="4841249"/>
          <a:ext cx="1839820" cy="1676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408040" imgH="2194560" progId="PBrush">
                  <p:embed/>
                </p:oleObj>
              </mc:Choice>
              <mc:Fallback>
                <p:oleObj name="Bitmap Image" r:id="rId2" imgW="2408040" imgH="2194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62047" y="4841249"/>
                        <a:ext cx="1839820" cy="1676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978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166"/>
            <a:ext cx="10515600" cy="67990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610B38"/>
                </a:solidFill>
                <a:latin typeface="erdana"/>
              </a:rPr>
              <a:t>Usage of Wrapper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76" y="1179845"/>
            <a:ext cx="11081657" cy="5131942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wrapper class in Java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 provides the mechanism </a:t>
            </a:r>
            <a:r>
              <a:rPr lang="en-US" sz="2400" b="0" i="1" dirty="0">
                <a:solidFill>
                  <a:srgbClr val="333333"/>
                </a:solidFill>
                <a:effectLst/>
                <a:latin typeface="inter-regular"/>
              </a:rPr>
              <a:t>to convert primitive into object and object into primitive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marL="0" indent="0" algn="just">
              <a:buNone/>
            </a:pPr>
            <a:r>
              <a:rPr lang="en-US" sz="2400" b="0" i="0" dirty="0">
                <a:solidFill>
                  <a:srgbClr val="610B38"/>
                </a:solidFill>
                <a:effectLst/>
                <a:latin typeface="erdana"/>
              </a:rPr>
              <a:t>Use of Wrapper classes in Java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bold"/>
              </a:rPr>
              <a:t>Change the value in Method: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Java supports only call by value. So, if we pass a primitive value, it will not change the original value. But, if we convert the primitive value in an object, it will change the original value.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bold"/>
              </a:rPr>
              <a:t>Serialization: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We need to convert the objects into streams to perform the serialization. If we have a primitive value, we can convert it into objects through the wrapper classes.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bold"/>
              </a:rPr>
              <a:t>Synchronization: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Java synchronization works with objects in Multithreading.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  <a:latin typeface="inter-bold"/>
              </a:rPr>
              <a:t>java.util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bold"/>
              </a:rPr>
              <a:t> package: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The java. util package provides the utility classes to deal with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-bold"/>
              </a:rPr>
              <a:t>Collection Framework: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Java collection framework works with objects only. All classes of the collection framework (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ArrayList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, LinkedList, Vector, HashSet,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LinkedHashSet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,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TreeSet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,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PriorityQueue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,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ArrayDeque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, etc.) deal with objects only.</a:t>
            </a:r>
          </a:p>
          <a:p>
            <a:pPr algn="just"/>
            <a:endParaRPr lang="en-US" sz="16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55221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70" y="163472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Types of Wrapper Classes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9B639C1-AB03-2241-F277-249DE047F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24224"/>
              </p:ext>
            </p:extLst>
          </p:nvPr>
        </p:nvGraphicFramePr>
        <p:xfrm>
          <a:off x="1792941" y="1669925"/>
          <a:ext cx="8797366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8683">
                  <a:extLst>
                    <a:ext uri="{9D8B030D-6E8A-4147-A177-3AD203B41FA5}">
                      <a16:colId xmlns:a16="http://schemas.microsoft.com/office/drawing/2014/main" val="4158242390"/>
                    </a:ext>
                  </a:extLst>
                </a:gridCol>
                <a:gridCol w="4398683">
                  <a:extLst>
                    <a:ext uri="{9D8B030D-6E8A-4147-A177-3AD203B41FA5}">
                      <a16:colId xmlns:a16="http://schemas.microsoft.com/office/drawing/2014/main" val="1902546247"/>
                    </a:ext>
                  </a:extLst>
                </a:gridCol>
              </a:tblGrid>
              <a:tr h="536438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Primitive Type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Wrapper class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110788988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endParaRPr lang="en-IN" sz="2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endParaRPr lang="en-IN" sz="2400" u="none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07779965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char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Character</a:t>
                      </a:r>
                      <a:endParaRPr lang="en-IN" sz="2400" u="none" strike="noStrike" dirty="0">
                        <a:solidFill>
                          <a:srgbClr val="008000"/>
                        </a:solidFill>
                        <a:effectLst/>
                        <a:latin typeface="inter-regular"/>
                        <a:hlinkClick r:id="rId3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19451651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byte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Byte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265002000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short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Short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92628451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Integer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644377149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long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Long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26259545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float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Float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470533391"/>
                  </a:ext>
                </a:extLst>
              </a:tr>
              <a:tr h="464913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double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Double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3097866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C658E24-812A-A41F-815A-271937ED2A86}"/>
              </a:ext>
            </a:extLst>
          </p:cNvPr>
          <p:cNvSpPr txBox="1"/>
          <p:nvPr/>
        </p:nvSpPr>
        <p:spPr>
          <a:xfrm>
            <a:off x="1380564" y="800856"/>
            <a:ext cx="10022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eight classes of the </a:t>
            </a:r>
            <a:r>
              <a:rPr lang="en-US" b="0" i="1" dirty="0" err="1">
                <a:solidFill>
                  <a:srgbClr val="333333"/>
                </a:solidFill>
                <a:effectLst/>
                <a:latin typeface="inter-regular"/>
              </a:rPr>
              <a:t>java.lang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package are known as wrapper classes in Java. The list of eight wrapper classes are given below: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929" y="2545976"/>
            <a:ext cx="9950824" cy="1080527"/>
          </a:xfrm>
        </p:spPr>
        <p:txBody>
          <a:bodyPr>
            <a:normAutofit/>
          </a:bodyPr>
          <a:lstStyle/>
          <a:p>
            <a:r>
              <a:rPr lang="en-IN" sz="7200" b="1" dirty="0"/>
              <a:t>Autoboxing</a:t>
            </a:r>
          </a:p>
        </p:txBody>
      </p:sp>
    </p:spTree>
    <p:extLst>
      <p:ext uri="{BB962C8B-B14F-4D97-AF65-F5344CB8AC3E}">
        <p14:creationId xmlns:p14="http://schemas.microsoft.com/office/powerpoint/2010/main" val="2660419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261"/>
            <a:ext cx="10515600" cy="67990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610B38"/>
                </a:solidFill>
                <a:latin typeface="erdana"/>
              </a:rPr>
              <a:t>Autoboxing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41" y="886165"/>
            <a:ext cx="11081657" cy="11219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b="0" i="0" dirty="0">
                <a:solidFill>
                  <a:srgbClr val="333333"/>
                </a:solidFill>
                <a:effectLst/>
                <a:latin typeface="inter-regular"/>
              </a:rPr>
              <a:t>The automatic conversion of primitive data type into its corresponding wrapper class is known as autoboxing.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inter-regular"/>
              </a:rPr>
              <a:t>F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inter-regular"/>
              </a:rPr>
              <a:t>or example, byte to Byte, char to Character, int to Integer, long to Long, float to Float,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inter-regular"/>
              </a:rPr>
              <a:t>boolean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inter-regular"/>
              </a:rPr>
              <a:t> to Boolean, double to Double, and short to Short.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B54CF-CB12-B3DD-6F05-9447548D60F0}"/>
              </a:ext>
            </a:extLst>
          </p:cNvPr>
          <p:cNvSpPr txBox="1"/>
          <p:nvPr/>
        </p:nvSpPr>
        <p:spPr>
          <a:xfrm>
            <a:off x="838200" y="2039219"/>
            <a:ext cx="8915400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Wrapper class Example: Primitive to Wrapper</a:t>
            </a:r>
            <a:endParaRPr lang="en-IN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algn="just"/>
            <a:endParaRPr lang="en-IN" dirty="0">
              <a:solidFill>
                <a:srgbClr val="008200"/>
              </a:solidFill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//Java program to convert primitive into objects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//Autoboxing example of int to Integer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WrapperEx1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		//Converting int into Integer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	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Integer j=a;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//autoboxing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(a+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+j);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744BC-3836-AA5C-1EF5-8EBD2AE3891A}"/>
              </a:ext>
            </a:extLst>
          </p:cNvPr>
          <p:cNvSpPr txBox="1"/>
          <p:nvPr/>
        </p:nvSpPr>
        <p:spPr>
          <a:xfrm>
            <a:off x="10161396" y="3978212"/>
            <a:ext cx="176599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Output:</a:t>
            </a:r>
            <a:r>
              <a:rPr lang="en-IN" b="1" dirty="0"/>
              <a:t> </a:t>
            </a:r>
            <a:r>
              <a:rPr lang="en-IN" dirty="0"/>
              <a:t>20 20</a:t>
            </a:r>
          </a:p>
        </p:txBody>
      </p:sp>
    </p:spTree>
    <p:extLst>
      <p:ext uri="{BB962C8B-B14F-4D97-AF65-F5344CB8AC3E}">
        <p14:creationId xmlns:p14="http://schemas.microsoft.com/office/powerpoint/2010/main" val="63607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929" y="2545976"/>
            <a:ext cx="9950824" cy="1080527"/>
          </a:xfrm>
        </p:spPr>
        <p:txBody>
          <a:bodyPr>
            <a:normAutofit/>
          </a:bodyPr>
          <a:lstStyle/>
          <a:p>
            <a:r>
              <a:rPr lang="en-IN" sz="7200" b="1" dirty="0"/>
              <a:t>Unboxing</a:t>
            </a:r>
          </a:p>
        </p:txBody>
      </p:sp>
    </p:spTree>
    <p:extLst>
      <p:ext uri="{BB962C8B-B14F-4D97-AF65-F5344CB8AC3E}">
        <p14:creationId xmlns:p14="http://schemas.microsoft.com/office/powerpoint/2010/main" val="131448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261"/>
            <a:ext cx="10515600" cy="679904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610B38"/>
                </a:solidFill>
                <a:latin typeface="erdana"/>
              </a:rPr>
              <a:t>Unboxing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41" y="886165"/>
            <a:ext cx="11081657" cy="11219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automatic conversion of wrapper type into its corresponding primitive type is known as unboxing. It is the reverse process of autoboxing. </a:t>
            </a:r>
            <a:endParaRPr lang="en-US" sz="16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B54CF-CB12-B3DD-6F05-9447548D60F0}"/>
              </a:ext>
            </a:extLst>
          </p:cNvPr>
          <p:cNvSpPr txBox="1"/>
          <p:nvPr/>
        </p:nvSpPr>
        <p:spPr>
          <a:xfrm>
            <a:off x="838200" y="2039219"/>
            <a:ext cx="8915400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Wrapper class Example: Wrapper to Primitive</a:t>
            </a:r>
          </a:p>
          <a:p>
            <a:pPr algn="just"/>
            <a:endParaRPr lang="en-IN" dirty="0">
              <a:solidFill>
                <a:srgbClr val="008200"/>
              </a:solidFill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//Java program to convert object into primitives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//Unboxing example of Integer to 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WrapperEx2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		//Converting Integer to int 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Integer a=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Integer(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	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j=a;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//unboxing 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(a+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+j);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744BC-3836-AA5C-1EF5-8EBD2AE3891A}"/>
              </a:ext>
            </a:extLst>
          </p:cNvPr>
          <p:cNvSpPr txBox="1"/>
          <p:nvPr/>
        </p:nvSpPr>
        <p:spPr>
          <a:xfrm>
            <a:off x="10161396" y="3978212"/>
            <a:ext cx="176599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Output:</a:t>
            </a:r>
            <a:r>
              <a:rPr lang="en-IN" b="1" dirty="0"/>
              <a:t> </a:t>
            </a:r>
            <a:r>
              <a:rPr lang="en-IN" dirty="0"/>
              <a:t>10 10</a:t>
            </a:r>
          </a:p>
        </p:txBody>
      </p:sp>
    </p:spTree>
    <p:extLst>
      <p:ext uri="{BB962C8B-B14F-4D97-AF65-F5344CB8AC3E}">
        <p14:creationId xmlns:p14="http://schemas.microsoft.com/office/powerpoint/2010/main" val="2744650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188" y="2608729"/>
            <a:ext cx="9950824" cy="1080527"/>
          </a:xfrm>
        </p:spPr>
        <p:txBody>
          <a:bodyPr>
            <a:normAutofit/>
          </a:bodyPr>
          <a:lstStyle/>
          <a:p>
            <a:r>
              <a:rPr lang="en-IN" sz="7200" b="1" dirty="0"/>
              <a:t>Methods of Wrapper Class</a:t>
            </a:r>
          </a:p>
        </p:txBody>
      </p:sp>
    </p:spTree>
    <p:extLst>
      <p:ext uri="{BB962C8B-B14F-4D97-AF65-F5344CB8AC3E}">
        <p14:creationId xmlns:p14="http://schemas.microsoft.com/office/powerpoint/2010/main" val="333152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70" y="163472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Methods of Wrapper Classes : Character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9B639C1-AB03-2241-F277-249DE047F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737744"/>
              </p:ext>
            </p:extLst>
          </p:nvPr>
        </p:nvGraphicFramePr>
        <p:xfrm>
          <a:off x="717176" y="1533658"/>
          <a:ext cx="11196918" cy="4523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7952">
                  <a:extLst>
                    <a:ext uri="{9D8B030D-6E8A-4147-A177-3AD203B41FA5}">
                      <a16:colId xmlns:a16="http://schemas.microsoft.com/office/drawing/2014/main" val="4158242390"/>
                    </a:ext>
                  </a:extLst>
                </a:gridCol>
                <a:gridCol w="6958966">
                  <a:extLst>
                    <a:ext uri="{9D8B030D-6E8A-4147-A177-3AD203B41FA5}">
                      <a16:colId xmlns:a16="http://schemas.microsoft.com/office/drawing/2014/main" val="1902546247"/>
                    </a:ext>
                  </a:extLst>
                </a:gridCol>
              </a:tblGrid>
              <a:tr h="358588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 Name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110788988"/>
                  </a:ext>
                </a:extLst>
              </a:tr>
              <a:tr h="374031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charValue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Converts Character class object to primitive char value</a:t>
                      </a:r>
                      <a:endParaRPr lang="en-IN" sz="2000" u="none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07779965"/>
                  </a:ext>
                </a:extLst>
              </a:tr>
              <a:tr h="38120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compareTo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(Character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Obj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Compare two Character Objects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19451651"/>
                  </a:ext>
                </a:extLst>
              </a:tr>
              <a:tr h="379410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static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isLetter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 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Returns true if </a:t>
                      </a:r>
                      <a:r>
                        <a:rPr lang="en-IN" sz="2000" b="1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2000" b="1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b="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is a letter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265002000"/>
                  </a:ext>
                </a:extLst>
              </a:tr>
              <a:tr h="359688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static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isUpperCase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Returns true if </a:t>
                      </a:r>
                      <a:r>
                        <a:rPr lang="en-IN" sz="2000" b="1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2000" b="1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b="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is an Uppercase letter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92628451"/>
                  </a:ext>
                </a:extLst>
              </a:tr>
              <a:tr h="375824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static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isLowerCase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Returns true if </a:t>
                      </a:r>
                      <a:r>
                        <a:rPr lang="en-IN" sz="2000" b="1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2000" b="1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b="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is an Lowercase letter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644377149"/>
                  </a:ext>
                </a:extLst>
              </a:tr>
              <a:tr h="36506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static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isSpaceChar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Returns true if </a:t>
                      </a:r>
                      <a:r>
                        <a:rPr lang="en-IN" sz="2000" b="1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2000" b="1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b="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is a space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26259545"/>
                  </a:ext>
                </a:extLst>
              </a:tr>
              <a:tr h="408097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static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isLetterOrDigit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Returns true if </a:t>
                      </a:r>
                      <a:r>
                        <a:rPr lang="en-IN" sz="2000" b="1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2000" b="1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b="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is either a letter or digit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470533391"/>
                  </a:ext>
                </a:extLst>
              </a:tr>
              <a:tr h="376518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static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toLowerCase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Converts </a:t>
                      </a:r>
                      <a:r>
                        <a:rPr lang="en-IN" sz="2000" b="1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2000" b="1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b="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into a Lowercase and returns that lowercase letter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30978667"/>
                  </a:ext>
                </a:extLst>
              </a:tr>
              <a:tr h="56065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static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toUpperCase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(char </a:t>
                      </a:r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Converts </a:t>
                      </a:r>
                      <a:r>
                        <a:rPr lang="en-IN" sz="2000" b="1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2000" b="1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b="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into an Uppercase and returns that uppercase letter</a:t>
                      </a:r>
                      <a:endParaRPr lang="en-IN" sz="2000" kern="1200" dirty="0">
                        <a:solidFill>
                          <a:srgbClr val="333333"/>
                        </a:solidFill>
                        <a:effectLst/>
                        <a:latin typeface="inter-regular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72954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108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70" y="163472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Methods of Wrapper Classes : Byte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9B639C1-AB03-2241-F277-249DE047F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268206"/>
              </p:ext>
            </p:extLst>
          </p:nvPr>
        </p:nvGraphicFramePr>
        <p:xfrm>
          <a:off x="876300" y="1336435"/>
          <a:ext cx="10439399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758">
                  <a:extLst>
                    <a:ext uri="{9D8B030D-6E8A-4147-A177-3AD203B41FA5}">
                      <a16:colId xmlns:a16="http://schemas.microsoft.com/office/drawing/2014/main" val="4158242390"/>
                    </a:ext>
                  </a:extLst>
                </a:gridCol>
                <a:gridCol w="8536641">
                  <a:extLst>
                    <a:ext uri="{9D8B030D-6E8A-4147-A177-3AD203B41FA5}">
                      <a16:colId xmlns:a16="http://schemas.microsoft.com/office/drawing/2014/main" val="1902546247"/>
                    </a:ext>
                  </a:extLst>
                </a:gridCol>
              </a:tblGrid>
              <a:tr h="358588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 Name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110788988"/>
                  </a:ext>
                </a:extLst>
              </a:tr>
              <a:tr h="39375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byteValue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value of this Byte as a byte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077799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compare()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compares the two specified byte values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19451651"/>
                  </a:ext>
                </a:extLst>
              </a:tr>
              <a:tr h="36934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compareTo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compares two Byte objects numerically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265002000"/>
                  </a:ext>
                </a:extLst>
              </a:tr>
              <a:tr h="367553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equals()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compare this object against the specified byte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92628451"/>
                  </a:ext>
                </a:extLst>
              </a:tr>
              <a:tr h="31376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floatValue</a:t>
                      </a:r>
                      <a:r>
                        <a:rPr lang="en-IN" sz="20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value of this Byte as a Float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644377149"/>
                  </a:ext>
                </a:extLst>
              </a:tr>
              <a:tr h="369346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hashCode</a:t>
                      </a:r>
                      <a:r>
                        <a:rPr lang="en-IN" sz="20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hash code for this Byte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26259545"/>
                  </a:ext>
                </a:extLst>
              </a:tr>
              <a:tr h="367553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intValue</a:t>
                      </a:r>
                      <a:r>
                        <a:rPr lang="en-IN" sz="20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an int value for this Byte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470533391"/>
                  </a:ext>
                </a:extLst>
              </a:tr>
              <a:tr h="31376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longValue</a:t>
                      </a:r>
                      <a:r>
                        <a:rPr lang="en-IN" sz="20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long value for this Byte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30978667"/>
                  </a:ext>
                </a:extLst>
              </a:tr>
              <a:tr h="369346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parseByte</a:t>
                      </a:r>
                      <a:r>
                        <a:rPr lang="en-IN" sz="20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parse the string argument as a signed decimal byte.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72954885"/>
                  </a:ext>
                </a:extLst>
              </a:tr>
              <a:tr h="367553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20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shortValue</a:t>
                      </a:r>
                      <a:r>
                        <a:rPr lang="en-IN" sz="20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short value for this Byte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612967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72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70" y="163472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Methods of Wrapper Classes : Short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9B639C1-AB03-2241-F277-249DE047F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728124"/>
              </p:ext>
            </p:extLst>
          </p:nvPr>
        </p:nvGraphicFramePr>
        <p:xfrm>
          <a:off x="747433" y="1219200"/>
          <a:ext cx="10697134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931">
                  <a:extLst>
                    <a:ext uri="{9D8B030D-6E8A-4147-A177-3AD203B41FA5}">
                      <a16:colId xmlns:a16="http://schemas.microsoft.com/office/drawing/2014/main" val="4158242390"/>
                    </a:ext>
                  </a:extLst>
                </a:gridCol>
                <a:gridCol w="8902203">
                  <a:extLst>
                    <a:ext uri="{9D8B030D-6E8A-4147-A177-3AD203B41FA5}">
                      <a16:colId xmlns:a16="http://schemas.microsoft.com/office/drawing/2014/main" val="1902546247"/>
                    </a:ext>
                  </a:extLst>
                </a:gridCol>
              </a:tblGrid>
              <a:tr h="358588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 Name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110788988"/>
                  </a:ext>
                </a:extLst>
              </a:tr>
              <a:tr h="393753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byteValue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value of this Short as a short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07779965"/>
                  </a:ext>
                </a:extLst>
              </a:tr>
              <a:tr h="393753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compare()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compares the two specified short values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29616282"/>
                  </a:ext>
                </a:extLst>
              </a:tr>
              <a:tr h="393753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compareTo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compares two Short objects numerically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786889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doubleValue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double value for this Short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19451651"/>
                  </a:ext>
                </a:extLst>
              </a:tr>
              <a:tr h="369346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equals()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compare this object against the specified short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265002000"/>
                  </a:ext>
                </a:extLst>
              </a:tr>
              <a:tr h="367553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floatValue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value of this Short as a Float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92628451"/>
                  </a:ext>
                </a:extLst>
              </a:tr>
              <a:tr h="369346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intValue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an int value for this Short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26259545"/>
                  </a:ext>
                </a:extLst>
              </a:tr>
              <a:tr h="367553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longValue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long value for this Short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470533391"/>
                  </a:ext>
                </a:extLst>
              </a:tr>
              <a:tr h="313765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parseShort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parse the string argument as a signed decimal short.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30978667"/>
                  </a:ext>
                </a:extLst>
              </a:tr>
              <a:tr h="367553"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shortValue</a:t>
                      </a:r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short value for this Short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612967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230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188" y="2608729"/>
            <a:ext cx="9950824" cy="1080527"/>
          </a:xfrm>
        </p:spPr>
        <p:txBody>
          <a:bodyPr>
            <a:normAutofit/>
          </a:bodyPr>
          <a:lstStyle/>
          <a:p>
            <a:r>
              <a:rPr lang="en-IN" sz="7200" b="1"/>
              <a:t>Example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4016180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261"/>
            <a:ext cx="10515600" cy="51232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610B38"/>
                </a:solidFill>
                <a:latin typeface="erdana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41" y="654392"/>
            <a:ext cx="11081657" cy="5123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inter-regular"/>
              </a:rPr>
              <a:t>Write a program to accept an integer number from the keyboard and convert it into other number systems.</a:t>
            </a:r>
            <a:endParaRPr lang="en-US" sz="16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B54CF-CB12-B3DD-6F05-9447548D60F0}"/>
              </a:ext>
            </a:extLst>
          </p:cNvPr>
          <p:cNvSpPr txBox="1"/>
          <p:nvPr/>
        </p:nvSpPr>
        <p:spPr>
          <a:xfrm>
            <a:off x="718841" y="1109905"/>
            <a:ext cx="8676171" cy="5509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//Convert int into binary, hexadecimal</a:t>
            </a:r>
            <a:r>
              <a:rPr lang="en-IN" sz="1600" b="1" dirty="0">
                <a:solidFill>
                  <a:srgbClr val="006699"/>
                </a:solidFill>
                <a:latin typeface="inter-regular"/>
              </a:rPr>
              <a:t>, and octal format</a:t>
            </a:r>
            <a:endParaRPr lang="en-IN" sz="1600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Convert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[]) throws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IOException</a:t>
            </a:r>
            <a:endParaRPr lang="en-IN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		</a:t>
            </a:r>
            <a:r>
              <a:rPr lang="en-IN" sz="1600" b="0" i="0" dirty="0" err="1">
                <a:effectLst/>
                <a:latin typeface="inter-regular"/>
              </a:rPr>
              <a:t>BufferedReader</a:t>
            </a:r>
            <a:r>
              <a:rPr lang="en-IN" sz="1600" b="0" i="0" dirty="0">
                <a:effectLst/>
                <a:latin typeface="inter-regular"/>
              </a:rPr>
              <a:t> </a:t>
            </a:r>
            <a:r>
              <a:rPr lang="en-IN" sz="1600" b="0" i="0" dirty="0" err="1">
                <a:effectLst/>
                <a:latin typeface="inter-regular"/>
              </a:rPr>
              <a:t>br</a:t>
            </a:r>
            <a:r>
              <a:rPr lang="en-IN" sz="1600" b="0" i="0" dirty="0">
                <a:effectLst/>
                <a:latin typeface="inter-regular"/>
              </a:rPr>
              <a:t>=new </a:t>
            </a:r>
            <a:r>
              <a:rPr lang="en-IN" sz="1600" b="0" i="0" dirty="0" err="1">
                <a:effectLst/>
                <a:latin typeface="inter-regular"/>
              </a:rPr>
              <a:t>BufferedReader</a:t>
            </a:r>
            <a:r>
              <a:rPr lang="en-IN" sz="1600" b="0" i="0" dirty="0">
                <a:effectLst/>
                <a:latin typeface="inter-regular"/>
              </a:rPr>
              <a:t>(new </a:t>
            </a:r>
            <a:r>
              <a:rPr lang="en-IN" sz="1600" b="0" i="0" dirty="0" err="1">
                <a:effectLst/>
                <a:latin typeface="inter-regular"/>
              </a:rPr>
              <a:t>InputStreamReader</a:t>
            </a:r>
            <a:r>
              <a:rPr lang="en-IN" sz="1600" b="0" i="0" dirty="0">
                <a:effectLst/>
                <a:latin typeface="inter-regular"/>
              </a:rPr>
              <a:t>(System.in));</a:t>
            </a:r>
          </a:p>
          <a:p>
            <a:pPr algn="just"/>
            <a:r>
              <a:rPr lang="en-IN" sz="1600" dirty="0">
                <a:latin typeface="inter-regular"/>
              </a:rPr>
              <a:t>		</a:t>
            </a:r>
            <a:r>
              <a:rPr lang="en-IN" sz="1600" dirty="0" err="1">
                <a:latin typeface="inter-regular"/>
              </a:rPr>
              <a:t>System.out.println</a:t>
            </a:r>
            <a:r>
              <a:rPr lang="en-IN" sz="1600" dirty="0">
                <a:latin typeface="inter-regular"/>
              </a:rPr>
              <a:t>(“Enter an integer”);</a:t>
            </a:r>
          </a:p>
          <a:p>
            <a:pPr algn="just"/>
            <a:r>
              <a:rPr lang="en-IN" sz="1600" b="0" i="0" dirty="0">
                <a:effectLst/>
                <a:latin typeface="inter-regular"/>
              </a:rPr>
              <a:t>		String str=</a:t>
            </a:r>
            <a:r>
              <a:rPr lang="en-IN" sz="1600" b="0" i="0" dirty="0" err="1">
                <a:effectLst/>
                <a:latin typeface="inter-regular"/>
              </a:rPr>
              <a:t>br.read</a:t>
            </a:r>
            <a:r>
              <a:rPr lang="en-IN" sz="1600" dirty="0" err="1">
                <a:latin typeface="inter-regular"/>
              </a:rPr>
              <a:t>Line</a:t>
            </a:r>
            <a:r>
              <a:rPr lang="en-IN" sz="1600" dirty="0">
                <a:latin typeface="inter-regular"/>
              </a:rPr>
              <a:t>();</a:t>
            </a:r>
          </a:p>
          <a:p>
            <a:pPr algn="just"/>
            <a:r>
              <a:rPr lang="en-IN" sz="1600" b="0" i="0" dirty="0">
                <a:effectLst/>
                <a:latin typeface="inter-regular"/>
              </a:rPr>
              <a:t>		</a:t>
            </a:r>
            <a:r>
              <a:rPr lang="en-IN" sz="1600" b="1" i="0" dirty="0">
                <a:effectLst/>
                <a:latin typeface="inter-regular"/>
              </a:rPr>
              <a:t>//Convert Stri</a:t>
            </a:r>
            <a:r>
              <a:rPr lang="en-IN" sz="1600" b="1" dirty="0">
                <a:latin typeface="inter-regular"/>
              </a:rPr>
              <a:t>ng into int</a:t>
            </a:r>
          </a:p>
          <a:p>
            <a:pPr algn="just"/>
            <a:r>
              <a:rPr lang="en-IN" sz="1600" b="0" i="0" dirty="0">
                <a:effectLst/>
                <a:latin typeface="inter-regular"/>
              </a:rPr>
              <a:t>		int </a:t>
            </a:r>
            <a:r>
              <a:rPr lang="en-IN" sz="1600" b="0" i="0" dirty="0" err="1">
                <a:effectLst/>
                <a:latin typeface="inter-regular"/>
              </a:rPr>
              <a:t>i</a:t>
            </a:r>
            <a:r>
              <a:rPr lang="en-IN" sz="1600" b="0" i="0" dirty="0">
                <a:effectLst/>
                <a:latin typeface="inter-regular"/>
              </a:rPr>
              <a:t>=</a:t>
            </a:r>
            <a:r>
              <a:rPr lang="en-IN" sz="1600" b="0" i="0" dirty="0" err="1">
                <a:effectLst/>
                <a:latin typeface="inter-regular"/>
              </a:rPr>
              <a:t>Integer.parseInt</a:t>
            </a:r>
            <a:r>
              <a:rPr lang="en-IN" sz="1600" b="0" i="0" dirty="0">
                <a:effectLst/>
                <a:latin typeface="inter-regular"/>
              </a:rPr>
              <a:t>(str);</a:t>
            </a:r>
          </a:p>
          <a:p>
            <a:pPr algn="just"/>
            <a:r>
              <a:rPr lang="en-IN" sz="1600" dirty="0">
                <a:latin typeface="inter-regular"/>
              </a:rPr>
              <a:t>		</a:t>
            </a:r>
            <a:r>
              <a:rPr lang="en-IN" sz="1600" dirty="0" err="1">
                <a:latin typeface="inter-regular"/>
              </a:rPr>
              <a:t>System.out.println</a:t>
            </a:r>
            <a:r>
              <a:rPr lang="en-IN" sz="1600" dirty="0">
                <a:latin typeface="inter-regular"/>
              </a:rPr>
              <a:t>(“In decimal :” +</a:t>
            </a:r>
            <a:r>
              <a:rPr lang="en-IN" sz="1600" dirty="0" err="1">
                <a:latin typeface="inter-regular"/>
              </a:rPr>
              <a:t>i</a:t>
            </a:r>
            <a:r>
              <a:rPr lang="en-IN" sz="1600" dirty="0">
                <a:latin typeface="inter-regular"/>
              </a:rPr>
              <a:t>);</a:t>
            </a:r>
          </a:p>
          <a:p>
            <a:pPr algn="just"/>
            <a:r>
              <a:rPr lang="en-IN" sz="1600" b="1" i="0" dirty="0">
                <a:effectLst/>
                <a:latin typeface="inter-regular"/>
              </a:rPr>
              <a:t>		//Convert </a:t>
            </a:r>
            <a:r>
              <a:rPr lang="en-IN" sz="1600" b="1" dirty="0">
                <a:latin typeface="inter-regular"/>
              </a:rPr>
              <a:t>int into other systems</a:t>
            </a:r>
          </a:p>
          <a:p>
            <a:pPr algn="just"/>
            <a:r>
              <a:rPr lang="en-IN" sz="1600" b="0" i="0" dirty="0">
                <a:effectLst/>
                <a:latin typeface="inter-regular"/>
              </a:rPr>
              <a:t>		str=</a:t>
            </a:r>
            <a:r>
              <a:rPr lang="en-IN" sz="1600" b="0" i="0" dirty="0" err="1">
                <a:effectLst/>
                <a:latin typeface="inter-regular"/>
              </a:rPr>
              <a:t>Integer.</a:t>
            </a:r>
            <a:r>
              <a:rPr lang="en-IN" sz="1600" b="0" i="0" dirty="0" err="1">
                <a:effectLst/>
                <a:highlight>
                  <a:srgbClr val="FFFF00"/>
                </a:highlight>
                <a:latin typeface="inter-regular"/>
              </a:rPr>
              <a:t>toBinaryString</a:t>
            </a:r>
            <a:r>
              <a:rPr lang="en-IN" sz="1600" b="0" i="0" dirty="0">
                <a:effectLst/>
                <a:latin typeface="inter-regular"/>
              </a:rPr>
              <a:t>(</a:t>
            </a:r>
            <a:r>
              <a:rPr lang="en-IN" sz="1600" b="0" i="0" dirty="0" err="1">
                <a:effectLst/>
                <a:latin typeface="inter-regular"/>
              </a:rPr>
              <a:t>i</a:t>
            </a:r>
            <a:r>
              <a:rPr lang="en-IN" sz="1600" b="0" i="0" dirty="0">
                <a:effectLst/>
                <a:latin typeface="inter-regular"/>
              </a:rPr>
              <a:t>);</a:t>
            </a:r>
          </a:p>
          <a:p>
            <a:pPr algn="just"/>
            <a:r>
              <a:rPr lang="en-IN" sz="1600" dirty="0">
                <a:latin typeface="inter-regular"/>
              </a:rPr>
              <a:t>		</a:t>
            </a:r>
            <a:r>
              <a:rPr lang="en-IN" sz="1600" dirty="0" err="1">
                <a:latin typeface="inter-regular"/>
              </a:rPr>
              <a:t>System.out.println</a:t>
            </a:r>
            <a:r>
              <a:rPr lang="en-IN" sz="1600" dirty="0">
                <a:latin typeface="inter-regular"/>
              </a:rPr>
              <a:t>(“In Binary :” +str);</a:t>
            </a:r>
          </a:p>
          <a:p>
            <a:pPr algn="just"/>
            <a:r>
              <a:rPr lang="en-IN" sz="1600" b="0" i="0" dirty="0">
                <a:effectLst/>
                <a:latin typeface="inter-regular"/>
              </a:rPr>
              <a:t>		</a:t>
            </a:r>
          </a:p>
          <a:p>
            <a:pPr algn="just"/>
            <a:r>
              <a:rPr lang="en-IN" sz="1600" dirty="0">
                <a:latin typeface="inter-regular"/>
              </a:rPr>
              <a:t>		</a:t>
            </a:r>
            <a:r>
              <a:rPr lang="en-IN" sz="1600" b="0" i="0" dirty="0">
                <a:effectLst/>
                <a:latin typeface="inter-regular"/>
              </a:rPr>
              <a:t>str=</a:t>
            </a:r>
            <a:r>
              <a:rPr lang="en-IN" sz="1600" b="0" i="0" dirty="0" err="1">
                <a:effectLst/>
                <a:latin typeface="inter-regular"/>
              </a:rPr>
              <a:t>Integer.</a:t>
            </a:r>
            <a:r>
              <a:rPr lang="en-IN" sz="1600" b="0" i="0" dirty="0" err="1">
                <a:effectLst/>
                <a:highlight>
                  <a:srgbClr val="FFFF00"/>
                </a:highlight>
                <a:latin typeface="inter-regular"/>
              </a:rPr>
              <a:t>toHexString</a:t>
            </a:r>
            <a:r>
              <a:rPr lang="en-IN" sz="1600" b="0" i="0" dirty="0">
                <a:effectLst/>
                <a:latin typeface="inter-regular"/>
              </a:rPr>
              <a:t>(</a:t>
            </a:r>
            <a:r>
              <a:rPr lang="en-IN" sz="1600" b="0" i="0" dirty="0" err="1">
                <a:effectLst/>
                <a:latin typeface="inter-regular"/>
              </a:rPr>
              <a:t>i</a:t>
            </a:r>
            <a:r>
              <a:rPr lang="en-IN" sz="1600" b="0" i="0" dirty="0">
                <a:effectLst/>
                <a:latin typeface="inter-regular"/>
              </a:rPr>
              <a:t>);</a:t>
            </a:r>
          </a:p>
          <a:p>
            <a:pPr algn="just"/>
            <a:r>
              <a:rPr lang="en-IN" sz="1600" dirty="0">
                <a:latin typeface="inter-regular"/>
              </a:rPr>
              <a:t>		</a:t>
            </a:r>
            <a:r>
              <a:rPr lang="en-IN" sz="1600" dirty="0" err="1">
                <a:latin typeface="inter-regular"/>
              </a:rPr>
              <a:t>System.out.println</a:t>
            </a:r>
            <a:r>
              <a:rPr lang="en-IN" sz="1600" dirty="0">
                <a:latin typeface="inter-regular"/>
              </a:rPr>
              <a:t>(“In </a:t>
            </a:r>
            <a:r>
              <a:rPr lang="en-IN" sz="1600" dirty="0" err="1">
                <a:latin typeface="inter-regular"/>
              </a:rPr>
              <a:t>HexaDecimal</a:t>
            </a:r>
            <a:r>
              <a:rPr lang="en-IN" sz="1600" dirty="0">
                <a:latin typeface="inter-regular"/>
              </a:rPr>
              <a:t> :” +str);</a:t>
            </a:r>
          </a:p>
          <a:p>
            <a:pPr algn="just"/>
            <a:endParaRPr lang="en-IN" sz="1600" dirty="0">
              <a:latin typeface="inter-regular"/>
            </a:endParaRPr>
          </a:p>
          <a:p>
            <a:pPr algn="just"/>
            <a:r>
              <a:rPr lang="en-IN" sz="1600" dirty="0">
                <a:latin typeface="inter-regular"/>
              </a:rPr>
              <a:t>		s</a:t>
            </a:r>
            <a:r>
              <a:rPr lang="en-IN" sz="1600" b="0" i="0" dirty="0">
                <a:effectLst/>
                <a:latin typeface="inter-regular"/>
              </a:rPr>
              <a:t>tr=</a:t>
            </a:r>
            <a:r>
              <a:rPr lang="en-IN" sz="1600" b="0" i="0" dirty="0" err="1">
                <a:effectLst/>
                <a:latin typeface="inter-regular"/>
              </a:rPr>
              <a:t>Integer.</a:t>
            </a:r>
            <a:r>
              <a:rPr lang="en-IN" sz="1600" b="0" i="0" dirty="0" err="1">
                <a:effectLst/>
                <a:highlight>
                  <a:srgbClr val="FFFF00"/>
                </a:highlight>
                <a:latin typeface="inter-regular"/>
              </a:rPr>
              <a:t>toOctalString</a:t>
            </a:r>
            <a:r>
              <a:rPr lang="en-IN" sz="1600" b="0" i="0" dirty="0">
                <a:effectLst/>
                <a:latin typeface="inter-regular"/>
              </a:rPr>
              <a:t>(</a:t>
            </a:r>
            <a:r>
              <a:rPr lang="en-IN" sz="1600" b="0" i="0" dirty="0" err="1">
                <a:effectLst/>
                <a:latin typeface="inter-regular"/>
              </a:rPr>
              <a:t>i</a:t>
            </a:r>
            <a:r>
              <a:rPr lang="en-IN" sz="1600" b="0" i="0" dirty="0">
                <a:effectLst/>
                <a:latin typeface="inter-regular"/>
              </a:rPr>
              <a:t>);</a:t>
            </a:r>
          </a:p>
          <a:p>
            <a:pPr algn="just"/>
            <a:r>
              <a:rPr lang="en-IN" sz="1600" dirty="0">
                <a:latin typeface="inter-regular"/>
              </a:rPr>
              <a:t>		</a:t>
            </a:r>
            <a:r>
              <a:rPr lang="en-IN" sz="1600" dirty="0" err="1">
                <a:latin typeface="inter-regular"/>
              </a:rPr>
              <a:t>System.out.println</a:t>
            </a:r>
            <a:r>
              <a:rPr lang="en-IN" sz="1600" dirty="0">
                <a:latin typeface="inter-regular"/>
              </a:rPr>
              <a:t>(“In Octal :” +str);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744BC-3836-AA5C-1EF5-8EBD2AE3891A}"/>
              </a:ext>
            </a:extLst>
          </p:cNvPr>
          <p:cNvSpPr txBox="1"/>
          <p:nvPr/>
        </p:nvSpPr>
        <p:spPr>
          <a:xfrm>
            <a:off x="9587803" y="3059668"/>
            <a:ext cx="2299397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Output:</a:t>
            </a:r>
            <a:r>
              <a:rPr lang="en-IN" b="1" dirty="0"/>
              <a:t> </a:t>
            </a:r>
          </a:p>
          <a:p>
            <a:endParaRPr lang="en-IN" b="1" dirty="0"/>
          </a:p>
          <a:p>
            <a:r>
              <a:rPr lang="en-IN" dirty="0"/>
              <a:t>Enter an integer</a:t>
            </a:r>
          </a:p>
          <a:p>
            <a:r>
              <a:rPr lang="en-IN" dirty="0"/>
              <a:t>456</a:t>
            </a:r>
          </a:p>
          <a:p>
            <a:r>
              <a:rPr lang="en-IN" dirty="0"/>
              <a:t>In decimal: 456</a:t>
            </a:r>
          </a:p>
          <a:p>
            <a:r>
              <a:rPr lang="en-IN" dirty="0"/>
              <a:t>In Binary : 111001000</a:t>
            </a:r>
          </a:p>
          <a:p>
            <a:r>
              <a:rPr lang="en-IN" dirty="0"/>
              <a:t>In </a:t>
            </a:r>
            <a:r>
              <a:rPr lang="en-IN" dirty="0" err="1"/>
              <a:t>HexaDecimal</a:t>
            </a:r>
            <a:r>
              <a:rPr lang="en-IN" dirty="0"/>
              <a:t>: 1C8</a:t>
            </a:r>
          </a:p>
          <a:p>
            <a:r>
              <a:rPr lang="en-IN" dirty="0"/>
              <a:t>In Octal: 710</a:t>
            </a:r>
          </a:p>
        </p:txBody>
      </p:sp>
    </p:spTree>
    <p:extLst>
      <p:ext uri="{BB962C8B-B14F-4D97-AF65-F5344CB8AC3E}">
        <p14:creationId xmlns:p14="http://schemas.microsoft.com/office/powerpoint/2010/main" val="2238250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566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1337</Words>
  <Application>Microsoft Office PowerPoint</Application>
  <PresentationFormat>Widescreen</PresentationFormat>
  <Paragraphs>188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erdana</vt:lpstr>
      <vt:lpstr>inter-bold</vt:lpstr>
      <vt:lpstr>inter-regular</vt:lpstr>
      <vt:lpstr>times new roman</vt:lpstr>
      <vt:lpstr>Office Theme</vt:lpstr>
      <vt:lpstr>Bitmap Image</vt:lpstr>
      <vt:lpstr>Topics to be Covered:</vt:lpstr>
      <vt:lpstr>Wrapper Class</vt:lpstr>
      <vt:lpstr>Wrapper Classes</vt:lpstr>
      <vt:lpstr>Usage of Wrapper Class</vt:lpstr>
      <vt:lpstr>Types of Wrapper Classes</vt:lpstr>
      <vt:lpstr>Autoboxing</vt:lpstr>
      <vt:lpstr>Autoboxing</vt:lpstr>
      <vt:lpstr>Unboxing</vt:lpstr>
      <vt:lpstr>Unboxing</vt:lpstr>
      <vt:lpstr>Methods of Wrapper Class</vt:lpstr>
      <vt:lpstr>Methods of Wrapper Classes : Character</vt:lpstr>
      <vt:lpstr>Methods of Wrapper Classes : Byte</vt:lpstr>
      <vt:lpstr>Methods of Wrapper Classes : Short</vt:lpstr>
      <vt:lpstr>Example</vt:lpstr>
      <vt:lpstr>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121</cp:revision>
  <dcterms:created xsi:type="dcterms:W3CDTF">2022-08-21T11:09:16Z</dcterms:created>
  <dcterms:modified xsi:type="dcterms:W3CDTF">2022-09-28T04:28:12Z</dcterms:modified>
</cp:coreProperties>
</file>