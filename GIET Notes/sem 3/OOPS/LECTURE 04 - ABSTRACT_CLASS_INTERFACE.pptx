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257" r:id="rId4"/>
    <p:sldId id="337" r:id="rId5"/>
    <p:sldId id="280" r:id="rId6"/>
    <p:sldId id="338" r:id="rId7"/>
    <p:sldId id="281" r:id="rId8"/>
    <p:sldId id="343" r:id="rId9"/>
    <p:sldId id="344" r:id="rId10"/>
    <p:sldId id="345" r:id="rId11"/>
    <p:sldId id="346" r:id="rId12"/>
    <p:sldId id="347" r:id="rId13"/>
    <p:sldId id="348" r:id="rId14"/>
    <p:sldId id="350" r:id="rId15"/>
    <p:sldId id="351" r:id="rId16"/>
    <p:sldId id="349" r:id="rId17"/>
    <p:sldId id="353" r:id="rId18"/>
    <p:sldId id="352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2" r:id="rId27"/>
    <p:sldId id="364" r:id="rId28"/>
    <p:sldId id="36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14-10-2022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verriding-in-java/" TargetMode="External"/><Relationship Id="rId2" Type="http://schemas.openxmlformats.org/officeDocument/2006/relationships/hyperlink" Target="https://www.geeksforgeeks.org/abstract-keyword-in-java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inheritance-in-java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serialization-in-java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83" y="1467059"/>
            <a:ext cx="10515600" cy="5025816"/>
          </a:xfrm>
        </p:spPr>
        <p:txBody>
          <a:bodyPr>
            <a:normAutofit/>
          </a:bodyPr>
          <a:lstStyle/>
          <a:p>
            <a:r>
              <a:rPr lang="en-IN" dirty="0"/>
              <a:t>Abstraction</a:t>
            </a:r>
          </a:p>
          <a:p>
            <a:r>
              <a:rPr lang="en-IN" dirty="0"/>
              <a:t>Abstract method</a:t>
            </a:r>
          </a:p>
          <a:p>
            <a:r>
              <a:rPr lang="en-IN" dirty="0"/>
              <a:t>Abstract Class</a:t>
            </a:r>
          </a:p>
          <a:p>
            <a:r>
              <a:rPr lang="en-IN" dirty="0"/>
              <a:t>Interface</a:t>
            </a:r>
          </a:p>
          <a:p>
            <a:r>
              <a:rPr lang="en-IN" dirty="0"/>
              <a:t>Multiple Inheritance using Interface</a:t>
            </a:r>
          </a:p>
          <a:p>
            <a:r>
              <a:rPr lang="en-IN" dirty="0"/>
              <a:t>Java 8</a:t>
            </a:r>
          </a:p>
          <a:p>
            <a:pPr lvl="1"/>
            <a:r>
              <a:rPr lang="en-IN" dirty="0"/>
              <a:t>Default method in interface</a:t>
            </a:r>
          </a:p>
          <a:p>
            <a:pPr lvl="1"/>
            <a:r>
              <a:rPr lang="en-IN" dirty="0"/>
              <a:t>Static method in interface</a:t>
            </a:r>
          </a:p>
          <a:p>
            <a:r>
              <a:rPr lang="en-IN" dirty="0"/>
              <a:t>Marker Interface</a:t>
            </a:r>
          </a:p>
          <a:p>
            <a:r>
              <a:rPr lang="en-IN" dirty="0"/>
              <a:t>Abstract Class Vs Interface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09811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16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76" y="1421892"/>
            <a:ext cx="11081657" cy="399279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Abstraction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is a process of hiding the implementation details and showing only functionality to the user.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Another way, it shows only essential things to the user and hides the internal details.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For example, sending SMS where you type the text and send the message. You need not know the internal processing of the message delivery.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Abstraction lets you focus on what the object does instead of how it does it.</a:t>
            </a:r>
          </a:p>
          <a:p>
            <a:pPr marL="0" indent="0" algn="just">
              <a:buNone/>
            </a:pPr>
            <a:endParaRPr lang="en-US" sz="20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0" indent="0" algn="just">
              <a:buNone/>
            </a:pPr>
            <a:r>
              <a:rPr lang="en-US" sz="2000" b="1" i="0" dirty="0">
                <a:solidFill>
                  <a:srgbClr val="610B4B"/>
                </a:solidFill>
                <a:effectLst/>
                <a:latin typeface="erdana"/>
              </a:rPr>
              <a:t>Ways to achieve Abstraction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There are two ways to achieve abstraction in java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1) Abstract class (0 to 100%)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2) Interface (100%)</a:t>
            </a:r>
          </a:p>
          <a:p>
            <a:pPr algn="just"/>
            <a:endParaRPr lang="en-US" sz="16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55221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Abstract Method</a:t>
            </a:r>
          </a:p>
        </p:txBody>
      </p:sp>
    </p:spTree>
    <p:extLst>
      <p:ext uri="{BB962C8B-B14F-4D97-AF65-F5344CB8AC3E}">
        <p14:creationId xmlns:p14="http://schemas.microsoft.com/office/powerpoint/2010/main" val="59021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3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Abstract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1306798"/>
            <a:ext cx="11081657" cy="4591978"/>
          </a:xfrm>
        </p:spPr>
        <p:txBody>
          <a:bodyPr>
            <a:normAutofit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 method that is declared as 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abstract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and does not have implementation is known as an </a:t>
            </a:r>
            <a:r>
              <a:rPr lang="en-US" sz="2000" b="1" i="0" dirty="0">
                <a:solidFill>
                  <a:srgbClr val="1100A7"/>
                </a:solidFill>
                <a:effectLst/>
                <a:latin typeface="inter-regular"/>
              </a:rPr>
              <a:t>abstract method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  <a:p>
            <a:pPr algn="just"/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Sometimes, we require just method declaration in super-classes. This can be achieved by specifying the </a:t>
            </a:r>
            <a:r>
              <a:rPr lang="en-US" sz="2000" b="1" i="0" u="sng" dirty="0">
                <a:effectLst/>
                <a:latin typeface="urw-din"/>
                <a:hlinkClick r:id="rId2"/>
              </a:rPr>
              <a:t>abstract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 type modifier. </a:t>
            </a:r>
          </a:p>
          <a:p>
            <a:pPr algn="just"/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These methods are sometimes referred to as </a:t>
            </a:r>
            <a:r>
              <a:rPr lang="en-US" sz="2000" b="0" i="1" dirty="0">
                <a:solidFill>
                  <a:srgbClr val="273239"/>
                </a:solidFill>
                <a:effectLst/>
                <a:latin typeface="urw-din"/>
              </a:rPr>
              <a:t>subclass responsibility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 because they have no implementation specified in the super-class. </a:t>
            </a:r>
          </a:p>
          <a:p>
            <a:pPr algn="just"/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Thus, a subclass must </a:t>
            </a:r>
            <a:r>
              <a:rPr lang="en-US" sz="2000" b="0" i="0" u="sng" dirty="0">
                <a:effectLst/>
                <a:latin typeface="urw-din"/>
                <a:hlinkClick r:id="rId3"/>
              </a:rPr>
              <a:t>override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 them to provide method definition. </a:t>
            </a:r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Syntax: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333333"/>
                </a:solidFill>
                <a:latin typeface="inter-bold"/>
              </a:rPr>
              <a:t>	a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bstract type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inter-bold"/>
              </a:rPr>
              <a:t>method_name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(parameter-list);</a:t>
            </a:r>
          </a:p>
          <a:p>
            <a:pPr algn="just"/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Example of abstract method</a:t>
            </a:r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		abstract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printStatus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();</a:t>
            </a:r>
            <a:r>
              <a:rPr lang="en-US" sz="2000" b="0" i="0" dirty="0">
                <a:solidFill>
                  <a:srgbClr val="008200"/>
                </a:solidFill>
                <a:effectLst/>
                <a:latin typeface="inter-regular"/>
              </a:rPr>
              <a:t>//no method body and abstract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24228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Abstract Class</a:t>
            </a:r>
          </a:p>
        </p:txBody>
      </p:sp>
    </p:spTree>
    <p:extLst>
      <p:ext uri="{BB962C8B-B14F-4D97-AF65-F5344CB8AC3E}">
        <p14:creationId xmlns:p14="http://schemas.microsoft.com/office/powerpoint/2010/main" val="325354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28" y="1129553"/>
            <a:ext cx="11329725" cy="4168588"/>
          </a:xfrm>
        </p:spPr>
        <p:txBody>
          <a:bodyPr>
            <a:normAutofit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 class that is declared by preceding with the keyword “abstract” is known as an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abstract class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. It can have abstract and non-abstract methods. It needs to be extended and its method implemented. It cannot be instantiated.</a:t>
            </a:r>
          </a:p>
          <a:p>
            <a:pPr marL="0" indent="0" algn="just">
              <a:buNone/>
            </a:pPr>
            <a:r>
              <a:rPr lang="en-US" sz="2000" b="1" i="0" dirty="0">
                <a:solidFill>
                  <a:srgbClr val="610B4B"/>
                </a:solidFill>
                <a:effectLst/>
                <a:latin typeface="erdana"/>
              </a:rPr>
              <a:t>Rules of abstract class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An abstract class must be declared with an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inter-regular"/>
              </a:rPr>
              <a:t>abstract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keyword.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It can have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inter-regular"/>
              </a:rPr>
              <a:t>abstract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and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inter-regular"/>
              </a:rPr>
              <a:t>non-abstract methods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It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inter-regular"/>
              </a:rPr>
              <a:t>cannot be instantiated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. i.e</a:t>
            </a:r>
            <a:r>
              <a:rPr lang="en-US" sz="2000" dirty="0">
                <a:solidFill>
                  <a:srgbClr val="000000"/>
                </a:solidFill>
                <a:latin typeface="inter-regular"/>
              </a:rPr>
              <a:t>. We can’t create an object of an abstract class, but we can declare a reference variable of an abstract class.</a:t>
            </a: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It can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inter-regular"/>
              </a:rPr>
              <a:t>have constructors and static methods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also.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It can have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inter-regular"/>
              </a:rPr>
              <a:t>final methods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which will force the subclass not to change the body of the method.</a:t>
            </a:r>
          </a:p>
        </p:txBody>
      </p:sp>
    </p:spTree>
    <p:extLst>
      <p:ext uri="{BB962C8B-B14F-4D97-AF65-F5344CB8AC3E}">
        <p14:creationId xmlns:p14="http://schemas.microsoft.com/office/powerpoint/2010/main" val="167579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Abstract Class :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70"/>
            <a:ext cx="11329725" cy="112885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610B4B"/>
                </a:solidFill>
                <a:effectLst/>
                <a:highlight>
                  <a:srgbClr val="FFFF00"/>
                </a:highlight>
                <a:latin typeface="tahoma" panose="020B0604030504040204" pitchFamily="34" charset="0"/>
              </a:rPr>
              <a:t>Example of Abstract class that has an abstract method: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In this example, Bike is an abstract class that contains only one abstract method run. 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Its implementation is provided by the Honda class.</a:t>
            </a:r>
          </a:p>
          <a:p>
            <a:pPr marL="0" indent="0" algn="just">
              <a:buNone/>
            </a:pPr>
            <a:endParaRPr lang="en-US" sz="14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1D351-588A-C780-778A-3E7D125F6039}"/>
              </a:ext>
            </a:extLst>
          </p:cNvPr>
          <p:cNvSpPr txBox="1"/>
          <p:nvPr/>
        </p:nvSpPr>
        <p:spPr>
          <a:xfrm>
            <a:off x="869576" y="1846729"/>
            <a:ext cx="8130990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Bike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run();   //abstract method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marL="0" indent="0" algn="just">
              <a:buNone/>
            </a:pP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Honda 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Bike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marL="0" indent="0" algn="just">
              <a:buNone/>
            </a:pP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	void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run()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	{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“Running Safely"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marL="0" indent="0" algn="just">
              <a:buNone/>
            </a:pP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	{  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		//</a:t>
            </a:r>
            <a:r>
              <a:rPr lang="en-US" b="1" dirty="0">
                <a:solidFill>
                  <a:srgbClr val="000000"/>
                </a:solidFill>
                <a:latin typeface="inter-regular"/>
              </a:rPr>
              <a:t>abstract class reference variable referring to child class object</a:t>
            </a:r>
            <a:endParaRPr lang="en-US" sz="1800" b="1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		Bike obj = 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Honda();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		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inter-regular"/>
              </a:rPr>
              <a:t>obj.run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	}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}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514C2-B685-4FD1-6280-A74EAFA8A015}"/>
              </a:ext>
            </a:extLst>
          </p:cNvPr>
          <p:cNvSpPr txBox="1"/>
          <p:nvPr/>
        </p:nvSpPr>
        <p:spPr>
          <a:xfrm>
            <a:off x="9295364" y="4051714"/>
            <a:ext cx="2260241" cy="8771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IN" sz="1100" dirty="0"/>
              <a:t> </a:t>
            </a:r>
          </a:p>
          <a:p>
            <a:r>
              <a:rPr lang="en-IN" sz="2000" dirty="0">
                <a:solidFill>
                  <a:srgbClr val="000000"/>
                </a:solidFill>
                <a:latin typeface="inter-regular"/>
              </a:rPr>
              <a:t>Running Safely</a:t>
            </a:r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Abstract Class :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37" y="668033"/>
            <a:ext cx="11329725" cy="877164"/>
          </a:xfrm>
        </p:spPr>
        <p:txBody>
          <a:bodyPr>
            <a:normAutofit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In this example, Shape is the abstract class, and its implementation is provided by the Rectangle and Circle classes.</a:t>
            </a: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514C2-B685-4FD1-6280-A74EAFA8A015}"/>
              </a:ext>
            </a:extLst>
          </p:cNvPr>
          <p:cNvSpPr txBox="1"/>
          <p:nvPr/>
        </p:nvSpPr>
        <p:spPr>
          <a:xfrm>
            <a:off x="8117627" y="5488845"/>
            <a:ext cx="2260241" cy="11849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IN" sz="1100" dirty="0"/>
              <a:t> </a:t>
            </a:r>
          </a:p>
          <a:p>
            <a:r>
              <a:rPr lang="en-IN" sz="2000" dirty="0">
                <a:solidFill>
                  <a:srgbClr val="000000"/>
                </a:solidFill>
                <a:latin typeface="inter-regular"/>
              </a:rPr>
              <a:t>Drawing circle</a:t>
            </a:r>
          </a:p>
          <a:p>
            <a:r>
              <a:rPr lang="en-IN" sz="2000" dirty="0">
                <a:solidFill>
                  <a:srgbClr val="000000"/>
                </a:solidFill>
                <a:latin typeface="inter-regular"/>
              </a:rPr>
              <a:t>Drawing rectangle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28C6A-7EF1-0566-AA3A-373662B01B98}"/>
              </a:ext>
            </a:extLst>
          </p:cNvPr>
          <p:cNvSpPr txBox="1"/>
          <p:nvPr/>
        </p:nvSpPr>
        <p:spPr>
          <a:xfrm>
            <a:off x="397435" y="1369155"/>
            <a:ext cx="6094324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Shape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draw();  //abstract method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Rectangle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Shape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“Drawing rectangle"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Circle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Shape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“Drawing circle"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5E2F4-9099-D29B-49F5-714961ECA573}"/>
              </a:ext>
            </a:extLst>
          </p:cNvPr>
          <p:cNvSpPr txBox="1"/>
          <p:nvPr/>
        </p:nvSpPr>
        <p:spPr>
          <a:xfrm>
            <a:off x="6983490" y="1369155"/>
            <a:ext cx="4528517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TestAbstraction1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lvl="1"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lvl="2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Shape s;</a:t>
            </a:r>
          </a:p>
          <a:p>
            <a:pPr lvl="2" algn="just"/>
            <a:r>
              <a:rPr lang="en-US" dirty="0">
                <a:solidFill>
                  <a:srgbClr val="000000"/>
                </a:solidFill>
                <a:latin typeface="inter-regular"/>
              </a:rPr>
              <a:t>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Circle();</a:t>
            </a:r>
          </a:p>
          <a:p>
            <a:pPr lvl="2" algn="just"/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s.draw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lvl="2" algn="just"/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lvl="2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s=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Rectangle();</a:t>
            </a:r>
          </a:p>
          <a:p>
            <a:pPr lvl="2" algn="just"/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s.draw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lvl="2" algn="just"/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lvl="2"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3489500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Abstract Class : Example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514C2-B685-4FD1-6280-A74EAFA8A015}"/>
              </a:ext>
            </a:extLst>
          </p:cNvPr>
          <p:cNvSpPr txBox="1"/>
          <p:nvPr/>
        </p:nvSpPr>
        <p:spPr>
          <a:xfrm>
            <a:off x="7404846" y="5085409"/>
            <a:ext cx="2187389" cy="11849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Output:</a:t>
            </a:r>
          </a:p>
          <a:p>
            <a:r>
              <a:rPr lang="en-IN" sz="1100" dirty="0"/>
              <a:t> </a:t>
            </a:r>
          </a:p>
          <a:p>
            <a:r>
              <a:rPr lang="en-IN" sz="2000" dirty="0">
                <a:solidFill>
                  <a:srgbClr val="000000"/>
                </a:solidFill>
                <a:latin typeface="inter-regular"/>
              </a:rPr>
              <a:t>SBI ROI: 7%</a:t>
            </a:r>
          </a:p>
          <a:p>
            <a:r>
              <a:rPr lang="en-IN" sz="2000" dirty="0">
                <a:solidFill>
                  <a:srgbClr val="000000"/>
                </a:solidFill>
                <a:latin typeface="inter-regular"/>
              </a:rPr>
              <a:t>PNB ROI: 8%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28C6A-7EF1-0566-AA3A-373662B01B98}"/>
              </a:ext>
            </a:extLst>
          </p:cNvPr>
          <p:cNvSpPr txBox="1"/>
          <p:nvPr/>
        </p:nvSpPr>
        <p:spPr>
          <a:xfrm>
            <a:off x="317048" y="1054980"/>
            <a:ext cx="4315242" cy="53553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Bank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getRateOfInterest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SBI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Bank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getRateOfInterest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PNB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Bank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getRateOfInterest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8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5E2F4-9099-D29B-49F5-714961ECA573}"/>
              </a:ext>
            </a:extLst>
          </p:cNvPr>
          <p:cNvSpPr txBox="1"/>
          <p:nvPr/>
        </p:nvSpPr>
        <p:spPr>
          <a:xfrm>
            <a:off x="4863402" y="1054980"/>
            <a:ext cx="7144378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TestBank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    Bank b;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    b=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SBI();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“SBI ROI: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b.getRateOfInterest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()+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"%"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b=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PNB();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“PNB ROI: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b.getRateOfInterest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()+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 %"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56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1867671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52" y="779929"/>
            <a:ext cx="11329725" cy="529814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An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interface in Java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is a blueprint of a class. It has static constants and abstract methods.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There can be 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only abstract methods 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in the Java interface. It is used to achieve abstraction and multiple inheritance in Java.</a:t>
            </a:r>
            <a:endParaRPr lang="en-US" sz="2000" b="0" i="0" u="none" strike="noStrike" dirty="0">
              <a:solidFill>
                <a:srgbClr val="008000"/>
              </a:solidFill>
              <a:effectLst/>
              <a:latin typeface="inter-regular"/>
              <a:hlinkClick r:id="rId2"/>
            </a:endParaRP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In other words, interfaces can have abstract methods and variables. It cannot have a method body.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It cannot be instantiated just like the abstract class.</a:t>
            </a:r>
          </a:p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i="0" dirty="0">
                <a:solidFill>
                  <a:srgbClr val="610B38"/>
                </a:solidFill>
                <a:effectLst/>
                <a:latin typeface="erdana"/>
              </a:rPr>
              <a:t>Why use Java interface?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There are mainly three reasons to use an interface. They are: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It is used to achieve abstraction.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By interface, we can support the functionality of multiple inheritance.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It can be used to achieve loose coupling.</a:t>
            </a:r>
          </a:p>
          <a:p>
            <a:pPr marL="457200" indent="-457200" algn="just">
              <a:buFont typeface="+mj-lt"/>
              <a:buAutoNum type="arabicParenR"/>
            </a:pPr>
            <a:endParaRPr lang="en-US" sz="2000" dirty="0">
              <a:solidFill>
                <a:srgbClr val="00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0000"/>
                </a:solidFill>
                <a:latin typeface="inter-regular"/>
              </a:rPr>
              <a:t>Note</a:t>
            </a:r>
            <a:r>
              <a:rPr lang="en-US" sz="2000" dirty="0">
                <a:solidFill>
                  <a:srgbClr val="000000"/>
                </a:solidFill>
                <a:latin typeface="inter-regular"/>
              </a:rPr>
              <a:t>: In loose coupling, a method or class is almost independent, and they have less dependent on each other</a:t>
            </a:r>
            <a:r>
              <a:rPr lang="en-US" sz="20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endParaRPr lang="en-US" sz="14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98255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574435"/>
            <a:ext cx="11329725" cy="46071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i="0" dirty="0">
                <a:solidFill>
                  <a:srgbClr val="610B38"/>
                </a:solidFill>
                <a:effectLst/>
                <a:latin typeface="erdana"/>
              </a:rPr>
              <a:t>How to declare an interface?</a:t>
            </a:r>
          </a:p>
          <a:p>
            <a:pPr algn="just"/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An interface is declared by using the </a:t>
            </a:r>
            <a:r>
              <a:rPr lang="en-US" sz="1800" b="1" i="0" dirty="0">
                <a:solidFill>
                  <a:srgbClr val="333333"/>
                </a:solidFill>
                <a:effectLst/>
                <a:latin typeface="inter-regular"/>
              </a:rPr>
              <a:t>interface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keyword. </a:t>
            </a:r>
          </a:p>
          <a:p>
            <a:pPr algn="just"/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It provides total abstraction; means all the methods in an interface are declared with the empty body, and all the fields are public, static, and final by default. </a:t>
            </a:r>
          </a:p>
          <a:p>
            <a:pPr algn="just"/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A class that implements an interface 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inter-regular"/>
              </a:rPr>
              <a:t>must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implement all the methods declared in the interface.</a:t>
            </a:r>
          </a:p>
          <a:p>
            <a:pPr marL="0" indent="0" algn="just">
              <a:buNone/>
            </a:pPr>
            <a:r>
              <a:rPr lang="en-US" sz="1800" b="0" dirty="0">
                <a:solidFill>
                  <a:srgbClr val="610B4B"/>
                </a:solidFill>
                <a:effectLst/>
                <a:latin typeface="tahoma" panose="020B0604030504040204" pitchFamily="34" charset="0"/>
              </a:rPr>
              <a:t>Syntax:</a:t>
            </a:r>
          </a:p>
          <a:p>
            <a:pPr marL="0" indent="0" algn="just">
              <a:buNone/>
            </a:pP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interface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&lt;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inter-regular"/>
              </a:rPr>
              <a:t>interface_name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&gt;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sz="1800" b="0" i="0" dirty="0">
                <a:solidFill>
                  <a:srgbClr val="008200"/>
                </a:solidFill>
                <a:effectLst/>
                <a:latin typeface="inter-regular"/>
              </a:rPr>
              <a:t>// declare constant fields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sz="1800" b="0" i="0" dirty="0">
                <a:solidFill>
                  <a:srgbClr val="008200"/>
                </a:solidFill>
                <a:effectLst/>
                <a:latin typeface="inter-regular"/>
              </a:rPr>
              <a:t>// declare methods that abstract by default.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333333"/>
                </a:solidFill>
                <a:latin typeface="inter-regular"/>
              </a:rPr>
              <a:t>Note: The Java compiler adds public and abstract keywords before the interface method. Moreover, it adds public, static and final keywords before data members.</a:t>
            </a:r>
          </a:p>
          <a:p>
            <a:pPr algn="just"/>
            <a:endParaRPr lang="en-US" sz="14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5AE7C65-AEFD-A324-F0E6-1FB85448E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065815"/>
              </p:ext>
            </p:extLst>
          </p:nvPr>
        </p:nvGraphicFramePr>
        <p:xfrm>
          <a:off x="2506662" y="5097276"/>
          <a:ext cx="7178675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178040" imgH="1645920" progId="PBrush">
                  <p:embed/>
                </p:oleObj>
              </mc:Choice>
              <mc:Fallback>
                <p:oleObj name="Bitmap Image" r:id="rId2" imgW="7178040" imgH="16459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06662" y="5097276"/>
                        <a:ext cx="7178675" cy="1646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1757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574435"/>
            <a:ext cx="11329725" cy="10033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b="1" i="0" dirty="0">
                <a:solidFill>
                  <a:srgbClr val="610B38"/>
                </a:solidFill>
                <a:effectLst/>
                <a:latin typeface="erdana"/>
              </a:rPr>
              <a:t>Usage of “implements” keyword: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 keyword “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implements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” is used when a class need to use methods and variables available </a:t>
            </a:r>
            <a:r>
              <a:rPr lang="en-US" sz="2000" dirty="0">
                <a:solidFill>
                  <a:srgbClr val="333333"/>
                </a:solidFill>
                <a:latin typeface="inter-regular"/>
              </a:rPr>
              <a:t>in an interface.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459E5-EFCF-CBE6-7376-41E2092FF578}"/>
              </a:ext>
            </a:extLst>
          </p:cNvPr>
          <p:cNvSpPr txBox="1"/>
          <p:nvPr/>
        </p:nvSpPr>
        <p:spPr>
          <a:xfrm>
            <a:off x="6606987" y="1766518"/>
            <a:ext cx="5253318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FF0000"/>
                </a:solidFill>
                <a:effectLst/>
                <a:latin typeface="inter-regular"/>
              </a:rPr>
              <a:t>Example: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interface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printable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print();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test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printable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print()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test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test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obj.print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032FC-67BA-46E0-0CA8-EBB0F3BF6B9F}"/>
              </a:ext>
            </a:extLst>
          </p:cNvPr>
          <p:cNvSpPr txBox="1"/>
          <p:nvPr/>
        </p:nvSpPr>
        <p:spPr>
          <a:xfrm>
            <a:off x="674016" y="1973251"/>
            <a:ext cx="5154706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inter-regular"/>
              </a:rPr>
              <a:t>Syntax: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c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lass </a:t>
            </a:r>
            <a:r>
              <a:rPr lang="en-US" sz="2000" b="1" i="0" dirty="0" err="1">
                <a:solidFill>
                  <a:srgbClr val="1100A7"/>
                </a:solidFill>
                <a:effectLst/>
                <a:latin typeface="inter-regular"/>
              </a:rPr>
              <a:t>class_name</a:t>
            </a:r>
            <a:r>
              <a:rPr lang="en-US" sz="2000" b="1" i="0" dirty="0">
                <a:solidFill>
                  <a:srgbClr val="1100A7"/>
                </a:solidFill>
                <a:effectLst/>
                <a:latin typeface="inter-regular"/>
              </a:rPr>
              <a:t> </a:t>
            </a:r>
            <a:r>
              <a:rPr lang="en-US" sz="2000" b="0" i="0" dirty="0">
                <a:solidFill>
                  <a:srgbClr val="00B050"/>
                </a:solidFill>
                <a:effectLst/>
                <a:latin typeface="inter-regular"/>
              </a:rPr>
              <a:t>implements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</a:t>
            </a:r>
            <a:r>
              <a:rPr lang="en-US" sz="2000" b="0" i="0" dirty="0" err="1">
                <a:solidFill>
                  <a:srgbClr val="1100A7"/>
                </a:solidFill>
                <a:effectLst/>
                <a:latin typeface="inter-regular"/>
              </a:rPr>
              <a:t>interface_name</a:t>
            </a:r>
            <a:endParaRPr lang="en-US" sz="2000" b="0" i="0" dirty="0">
              <a:solidFill>
                <a:srgbClr val="1100A7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{</a:t>
            </a:r>
          </a:p>
          <a:p>
            <a:pPr marL="457200" lvl="1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// Body of the class</a:t>
            </a:r>
            <a:endParaRPr 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25984-325C-4609-887A-2DF6AACF9C3E}"/>
              </a:ext>
            </a:extLst>
          </p:cNvPr>
          <p:cNvSpPr txBox="1"/>
          <p:nvPr/>
        </p:nvSpPr>
        <p:spPr>
          <a:xfrm>
            <a:off x="674016" y="4446820"/>
            <a:ext cx="515470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inter-regular"/>
              </a:rPr>
              <a:t>Output: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4243326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Interface : Example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459E5-EFCF-CBE6-7376-41E2092FF578}"/>
              </a:ext>
            </a:extLst>
          </p:cNvPr>
          <p:cNvSpPr txBox="1"/>
          <p:nvPr/>
        </p:nvSpPr>
        <p:spPr>
          <a:xfrm>
            <a:off x="5225143" y="879887"/>
            <a:ext cx="6863024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TestBank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Bank b;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SBI();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“SBI ROI: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b.rateOfInterest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());  </a:t>
            </a:r>
          </a:p>
          <a:p>
            <a:pPr algn="just"/>
            <a:endParaRPr lang="en-IN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b=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PNB();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“PNB ROI: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b.rateOfInterest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());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032FC-67BA-46E0-0CA8-EBB0F3BF6B9F}"/>
              </a:ext>
            </a:extLst>
          </p:cNvPr>
          <p:cNvSpPr txBox="1"/>
          <p:nvPr/>
        </p:nvSpPr>
        <p:spPr>
          <a:xfrm>
            <a:off x="674016" y="859784"/>
            <a:ext cx="4360208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interface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Bank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	float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rateOfInterest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SBI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Bank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float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rateOfInterest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0" i="0" dirty="0">
                <a:solidFill>
                  <a:srgbClr val="C00000"/>
                </a:solidFill>
                <a:effectLst/>
                <a:latin typeface="inter-regular"/>
              </a:rPr>
              <a:t>9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.15f;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PNB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Bank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float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inter-regular"/>
              </a:rPr>
              <a:t>rateOfInterest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sz="2000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000" b="0" i="0" dirty="0">
                <a:solidFill>
                  <a:srgbClr val="C00000"/>
                </a:solidFill>
                <a:effectLst/>
                <a:latin typeface="inter-regular"/>
              </a:rPr>
              <a:t>9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.7f;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25984-325C-4609-887A-2DF6AACF9C3E}"/>
              </a:ext>
            </a:extLst>
          </p:cNvPr>
          <p:cNvSpPr txBox="1"/>
          <p:nvPr/>
        </p:nvSpPr>
        <p:spPr>
          <a:xfrm>
            <a:off x="6096000" y="5277817"/>
            <a:ext cx="5154706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inter-regular"/>
              </a:rPr>
              <a:t>Output: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SBI ROI: 9.15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PNB ROI: 9.7</a:t>
            </a:r>
          </a:p>
        </p:txBody>
      </p:sp>
    </p:spTree>
    <p:extLst>
      <p:ext uri="{BB962C8B-B14F-4D97-AF65-F5344CB8AC3E}">
        <p14:creationId xmlns:p14="http://schemas.microsoft.com/office/powerpoint/2010/main" val="1889281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Interface &amp;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087" y="843376"/>
            <a:ext cx="11329725" cy="22113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i="0" dirty="0">
                <a:solidFill>
                  <a:srgbClr val="610B38"/>
                </a:solidFill>
                <a:effectLst/>
                <a:latin typeface="erdana"/>
              </a:rPr>
              <a:t>The relationship between classes and interfaces</a:t>
            </a: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 following are possible between classes and interfaces: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 class 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extends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another class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an interface 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extends 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another interface, 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but a</a:t>
            </a:r>
            <a:r>
              <a:rPr lang="en-US" sz="2000" i="0" dirty="0">
                <a:solidFill>
                  <a:srgbClr val="333333"/>
                </a:solidFill>
                <a:effectLst/>
                <a:latin typeface="inter-regular"/>
              </a:rPr>
              <a:t> </a:t>
            </a:r>
            <a:r>
              <a:rPr lang="en-US" sz="2000" i="0" dirty="0">
                <a:solidFill>
                  <a:srgbClr val="333333"/>
                </a:solidFill>
                <a:effectLst/>
                <a:latin typeface="inter-bold"/>
              </a:rPr>
              <a:t>class 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implements </a:t>
            </a:r>
            <a:r>
              <a:rPr lang="en-US" sz="2000" i="0" dirty="0">
                <a:solidFill>
                  <a:srgbClr val="333333"/>
                </a:solidFill>
                <a:effectLst/>
                <a:latin typeface="inter-bold"/>
              </a:rPr>
              <a:t>an interface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  <a:p>
            <a:pPr algn="just"/>
            <a:endParaRPr lang="en-US" sz="14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pic>
        <p:nvPicPr>
          <p:cNvPr id="2050" name="Picture 2" descr="The relationship between class and interface">
            <a:extLst>
              <a:ext uri="{FF2B5EF4-FFF2-40B4-BE49-F238E27FC236}">
                <a16:creationId xmlns:a16="http://schemas.microsoft.com/office/drawing/2014/main" id="{E808F1E4-40F5-0D68-BEF0-9E3565DF8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117" y="3180205"/>
            <a:ext cx="8695765" cy="315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73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Multiple Inheritance</a:t>
            </a:r>
          </a:p>
        </p:txBody>
      </p:sp>
    </p:spTree>
    <p:extLst>
      <p:ext uri="{BB962C8B-B14F-4D97-AF65-F5344CB8AC3E}">
        <p14:creationId xmlns:p14="http://schemas.microsoft.com/office/powerpoint/2010/main" val="2114290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Multiple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087" y="843376"/>
            <a:ext cx="11329725" cy="22113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If a class implements multiple interfaces, or an interface extends multiple interfaces, it is known as </a:t>
            </a:r>
            <a:r>
              <a:rPr lang="en-US" sz="2000" b="1" i="0" dirty="0">
                <a:solidFill>
                  <a:srgbClr val="1100A7"/>
                </a:solidFill>
                <a:effectLst/>
                <a:latin typeface="inter-regular"/>
              </a:rPr>
              <a:t>multiple inheritance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9E6B1E6-6A89-B641-F972-D7264E629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093252"/>
              </p:ext>
            </p:extLst>
          </p:nvPr>
        </p:nvGraphicFramePr>
        <p:xfrm>
          <a:off x="1039906" y="1738593"/>
          <a:ext cx="10201835" cy="474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976240" imgH="4739760" progId="PBrush">
                  <p:embed/>
                </p:oleObj>
              </mc:Choice>
              <mc:Fallback>
                <p:oleObj name="Bitmap Image" r:id="rId2" imgW="8976240" imgH="4739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9906" y="1738593"/>
                        <a:ext cx="10201835" cy="474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7406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Multiple Inheritance : Example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E1A3D-5F72-1355-811D-A2712EA27871}"/>
              </a:ext>
            </a:extLst>
          </p:cNvPr>
          <p:cNvSpPr txBox="1"/>
          <p:nvPr/>
        </p:nvSpPr>
        <p:spPr>
          <a:xfrm>
            <a:off x="564777" y="1099602"/>
            <a:ext cx="5127812" cy="53553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interface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Printable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print();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interface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Showable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show();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TestMulti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Printable,Showable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print()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show()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F364B-8A9B-0BB0-6134-B2227C928D2F}"/>
              </a:ext>
            </a:extLst>
          </p:cNvPr>
          <p:cNvSpPr txBox="1"/>
          <p:nvPr/>
        </p:nvSpPr>
        <p:spPr>
          <a:xfrm>
            <a:off x="6499412" y="1099602"/>
            <a:ext cx="512781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TestMulti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TestMulti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obj.print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obj.show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E8CB3-8CB3-B540-852B-A8B25B29A750}"/>
              </a:ext>
            </a:extLst>
          </p:cNvPr>
          <p:cNvSpPr txBox="1"/>
          <p:nvPr/>
        </p:nvSpPr>
        <p:spPr>
          <a:xfrm>
            <a:off x="7786429" y="5496595"/>
            <a:ext cx="2937468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inter-regular"/>
              </a:rPr>
              <a:t>Output: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Hello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Welcome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CD77E51-DE38-92C1-C48C-44129B638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584711"/>
              </p:ext>
            </p:extLst>
          </p:nvPr>
        </p:nvGraphicFramePr>
        <p:xfrm>
          <a:off x="7637797" y="3429000"/>
          <a:ext cx="3086100" cy="192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086280" imgH="2064960" progId="PBrush">
                  <p:embed/>
                </p:oleObj>
              </mc:Choice>
              <mc:Fallback>
                <p:oleObj name="Bitmap Image" r:id="rId2" imgW="3086280" imgH="20649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37797" y="3429000"/>
                        <a:ext cx="3086100" cy="1926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6247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Multiple Inheritance : Example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E1A3D-5F72-1355-811D-A2712EA27871}"/>
              </a:ext>
            </a:extLst>
          </p:cNvPr>
          <p:cNvSpPr txBox="1"/>
          <p:nvPr/>
        </p:nvSpPr>
        <p:spPr>
          <a:xfrm>
            <a:off x="246235" y="1073789"/>
            <a:ext cx="5127812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i="0" dirty="0">
                <a:effectLst/>
                <a:latin typeface="inter-regular"/>
              </a:rPr>
              <a:t>class A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{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public void </a:t>
            </a:r>
            <a:r>
              <a:rPr lang="en-IN" i="0" dirty="0" err="1">
                <a:effectLst/>
                <a:latin typeface="inter-regular"/>
              </a:rPr>
              <a:t>methodA</a:t>
            </a:r>
            <a:r>
              <a:rPr lang="en-IN" i="0" dirty="0">
                <a:effectLst/>
                <a:latin typeface="inter-regular"/>
              </a:rPr>
              <a:t>()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{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	</a:t>
            </a:r>
            <a:r>
              <a:rPr lang="en-IN" i="0" dirty="0" err="1">
                <a:effectLst/>
                <a:latin typeface="inter-regular"/>
              </a:rPr>
              <a:t>System.out.println</a:t>
            </a:r>
            <a:r>
              <a:rPr lang="en-IN" i="0" dirty="0">
                <a:effectLst/>
                <a:latin typeface="inter-regular"/>
              </a:rPr>
              <a:t>("CLASS A");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}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}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interface B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{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public void </a:t>
            </a:r>
            <a:r>
              <a:rPr lang="en-IN" i="0" dirty="0" err="1">
                <a:effectLst/>
                <a:latin typeface="inter-regular"/>
              </a:rPr>
              <a:t>methodB</a:t>
            </a:r>
            <a:r>
              <a:rPr lang="en-IN" i="0" dirty="0">
                <a:effectLst/>
                <a:latin typeface="inter-regular"/>
              </a:rPr>
              <a:t>();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}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F364B-8A9B-0BB0-6134-B2227C928D2F}"/>
              </a:ext>
            </a:extLst>
          </p:cNvPr>
          <p:cNvSpPr txBox="1"/>
          <p:nvPr/>
        </p:nvSpPr>
        <p:spPr>
          <a:xfrm>
            <a:off x="5606980" y="1069458"/>
            <a:ext cx="6020244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i="0" dirty="0">
                <a:effectLst/>
                <a:latin typeface="inter-regular"/>
              </a:rPr>
              <a:t>class C </a:t>
            </a:r>
            <a:r>
              <a:rPr lang="en-IN" i="0" dirty="0">
                <a:solidFill>
                  <a:srgbClr val="0070C0"/>
                </a:solidFill>
                <a:effectLst/>
                <a:latin typeface="inter-regular"/>
              </a:rPr>
              <a:t>extends</a:t>
            </a:r>
            <a:r>
              <a:rPr lang="en-IN" i="0" dirty="0">
                <a:effectLst/>
                <a:latin typeface="inter-regular"/>
              </a:rPr>
              <a:t> A </a:t>
            </a:r>
            <a:r>
              <a:rPr lang="en-IN" i="0" dirty="0">
                <a:solidFill>
                  <a:srgbClr val="FF0000"/>
                </a:solidFill>
                <a:effectLst/>
                <a:latin typeface="inter-regular"/>
              </a:rPr>
              <a:t>implements </a:t>
            </a:r>
            <a:r>
              <a:rPr lang="en-IN" i="0" dirty="0">
                <a:effectLst/>
                <a:latin typeface="inter-regular"/>
              </a:rPr>
              <a:t>B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{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public void </a:t>
            </a:r>
            <a:r>
              <a:rPr lang="en-IN" i="0" dirty="0" err="1">
                <a:effectLst/>
                <a:latin typeface="inter-regular"/>
              </a:rPr>
              <a:t>methodB</a:t>
            </a:r>
            <a:r>
              <a:rPr lang="en-IN" i="0" dirty="0">
                <a:effectLst/>
                <a:latin typeface="inter-regular"/>
              </a:rPr>
              <a:t>()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{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	</a:t>
            </a:r>
            <a:r>
              <a:rPr lang="en-IN" i="0" dirty="0" err="1">
                <a:effectLst/>
                <a:latin typeface="inter-regular"/>
              </a:rPr>
              <a:t>System.out.println</a:t>
            </a:r>
            <a:r>
              <a:rPr lang="en-IN" i="0" dirty="0">
                <a:effectLst/>
                <a:latin typeface="inter-regular"/>
              </a:rPr>
              <a:t>("INTERFACE B");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}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public static void main(String </a:t>
            </a:r>
            <a:r>
              <a:rPr lang="en-IN" i="0" dirty="0" err="1">
                <a:effectLst/>
                <a:latin typeface="inter-regular"/>
              </a:rPr>
              <a:t>args</a:t>
            </a:r>
            <a:r>
              <a:rPr lang="en-IN" i="0" dirty="0">
                <a:effectLst/>
                <a:latin typeface="inter-regular"/>
              </a:rPr>
              <a:t>[])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{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	C </a:t>
            </a:r>
            <a:r>
              <a:rPr lang="en-IN" i="0" dirty="0" err="1">
                <a:effectLst/>
                <a:latin typeface="inter-regular"/>
              </a:rPr>
              <a:t>ob</a:t>
            </a:r>
            <a:r>
              <a:rPr lang="en-IN" i="0" dirty="0">
                <a:effectLst/>
                <a:latin typeface="inter-regular"/>
              </a:rPr>
              <a:t>=new C();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	</a:t>
            </a:r>
            <a:r>
              <a:rPr lang="en-IN" i="0" dirty="0" err="1">
                <a:effectLst/>
                <a:latin typeface="inter-regular"/>
              </a:rPr>
              <a:t>ob.methodA</a:t>
            </a:r>
            <a:r>
              <a:rPr lang="en-IN" i="0" dirty="0">
                <a:effectLst/>
                <a:latin typeface="inter-regular"/>
              </a:rPr>
              <a:t>();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	</a:t>
            </a:r>
            <a:r>
              <a:rPr lang="en-IN" i="0" dirty="0" err="1">
                <a:effectLst/>
                <a:latin typeface="inter-regular"/>
              </a:rPr>
              <a:t>ob.methodB</a:t>
            </a:r>
            <a:r>
              <a:rPr lang="en-IN" i="0" dirty="0">
                <a:effectLst/>
                <a:latin typeface="inter-regular"/>
              </a:rPr>
              <a:t>();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	}</a:t>
            </a:r>
          </a:p>
          <a:p>
            <a:pPr algn="just"/>
            <a:r>
              <a:rPr lang="en-IN" i="0" dirty="0">
                <a:effectLst/>
                <a:latin typeface="inter-regular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E8CB3-8CB3-B540-852B-A8B25B29A750}"/>
              </a:ext>
            </a:extLst>
          </p:cNvPr>
          <p:cNvSpPr txBox="1"/>
          <p:nvPr/>
        </p:nvSpPr>
        <p:spPr>
          <a:xfrm>
            <a:off x="6829529" y="5339310"/>
            <a:ext cx="2937468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inter-regular"/>
              </a:rPr>
              <a:t>Output: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CLASS A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INTERFACE B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401B384-72A5-26A7-CC08-5F85AB7FB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744890"/>
              </p:ext>
            </p:extLst>
          </p:nvPr>
        </p:nvGraphicFramePr>
        <p:xfrm>
          <a:off x="844062" y="4933740"/>
          <a:ext cx="3455947" cy="188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979360" imgH="1798200" progId="PBrush">
                  <p:embed/>
                </p:oleObj>
              </mc:Choice>
              <mc:Fallback>
                <p:oleObj name="Bitmap Image" r:id="rId2" imgW="2979360" imgH="17982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4062" y="4933740"/>
                        <a:ext cx="3455947" cy="1880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1087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738" y="2582425"/>
            <a:ext cx="11746523" cy="1240513"/>
          </a:xfrm>
        </p:spPr>
        <p:txBody>
          <a:bodyPr>
            <a:normAutofit/>
          </a:bodyPr>
          <a:lstStyle/>
          <a:p>
            <a:r>
              <a:rPr lang="en-IN" sz="7200" b="1" dirty="0"/>
              <a:t>Default method in Interface</a:t>
            </a:r>
          </a:p>
        </p:txBody>
      </p:sp>
    </p:spTree>
    <p:extLst>
      <p:ext uri="{BB962C8B-B14F-4D97-AF65-F5344CB8AC3E}">
        <p14:creationId xmlns:p14="http://schemas.microsoft.com/office/powerpoint/2010/main" val="4060069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Default method in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574435"/>
            <a:ext cx="11329725" cy="10033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1800" b="1" i="0" dirty="0">
              <a:solidFill>
                <a:srgbClr val="610B38"/>
              </a:solidFill>
              <a:effectLst/>
              <a:latin typeface="erdana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Since Java 8, we can have </a:t>
            </a:r>
            <a:r>
              <a:rPr lang="en-US" sz="2000" b="1" u="sng" dirty="0">
                <a:solidFill>
                  <a:srgbClr val="333333"/>
                </a:solidFill>
                <a:latin typeface="inter-regular"/>
              </a:rPr>
              <a:t>method body </a:t>
            </a:r>
            <a:r>
              <a:rPr lang="en-US" sz="2000" dirty="0">
                <a:solidFill>
                  <a:srgbClr val="333333"/>
                </a:solidFill>
                <a:latin typeface="inter-regular"/>
              </a:rPr>
              <a:t>in interface. But we need to make it default method.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459E5-EFCF-CBE6-7376-41E2092FF578}"/>
              </a:ext>
            </a:extLst>
          </p:cNvPr>
          <p:cNvSpPr txBox="1"/>
          <p:nvPr/>
        </p:nvSpPr>
        <p:spPr>
          <a:xfrm>
            <a:off x="487539" y="1400196"/>
            <a:ext cx="5923309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FF0000"/>
                </a:solidFill>
                <a:effectLst/>
                <a:latin typeface="inter-regular"/>
              </a:rPr>
              <a:t>Example: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interface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Drawable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draw();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default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msg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“Default method"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Rectangle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Drawable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“Drawing rectangle"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25984-325C-4609-887A-2DF6AACF9C3E}"/>
              </a:ext>
            </a:extLst>
          </p:cNvPr>
          <p:cNvSpPr txBox="1"/>
          <p:nvPr/>
        </p:nvSpPr>
        <p:spPr>
          <a:xfrm>
            <a:off x="6762161" y="4878071"/>
            <a:ext cx="5154706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inter-regular"/>
              </a:rPr>
              <a:t>Output: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Drawing rectangle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Default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EB32E-C6D9-D21A-6734-E74DA8123A9F}"/>
              </a:ext>
            </a:extLst>
          </p:cNvPr>
          <p:cNvSpPr txBox="1"/>
          <p:nvPr/>
        </p:nvSpPr>
        <p:spPr>
          <a:xfrm>
            <a:off x="6845420" y="1400196"/>
            <a:ext cx="4988189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TestInterfaceDefault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Drawable d=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Rectangle();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d.draw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d.msg();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2773510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738" y="2582425"/>
            <a:ext cx="11746523" cy="1240513"/>
          </a:xfrm>
        </p:spPr>
        <p:txBody>
          <a:bodyPr>
            <a:normAutofit/>
          </a:bodyPr>
          <a:lstStyle/>
          <a:p>
            <a:r>
              <a:rPr lang="en-IN" sz="7200" b="1" dirty="0"/>
              <a:t>Static method in Interface</a:t>
            </a:r>
          </a:p>
        </p:txBody>
      </p:sp>
    </p:spTree>
    <p:extLst>
      <p:ext uri="{BB962C8B-B14F-4D97-AF65-F5344CB8AC3E}">
        <p14:creationId xmlns:p14="http://schemas.microsoft.com/office/powerpoint/2010/main" val="4284374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static method in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72" y="693552"/>
            <a:ext cx="11329725" cy="4705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>
                <a:solidFill>
                  <a:srgbClr val="333333"/>
                </a:solidFill>
                <a:latin typeface="inter-regular"/>
              </a:rPr>
              <a:t>Since Java 8, we can have static </a:t>
            </a:r>
            <a:r>
              <a:rPr lang="en-US" sz="2200" b="1" u="sng" dirty="0">
                <a:solidFill>
                  <a:srgbClr val="333333"/>
                </a:solidFill>
                <a:latin typeface="inter-regular"/>
              </a:rPr>
              <a:t>method </a:t>
            </a:r>
            <a:r>
              <a:rPr lang="en-US" sz="2200" dirty="0">
                <a:solidFill>
                  <a:srgbClr val="333333"/>
                </a:solidFill>
                <a:latin typeface="inter-regular"/>
              </a:rPr>
              <a:t>in interface.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459E5-EFCF-CBE6-7376-41E2092FF578}"/>
              </a:ext>
            </a:extLst>
          </p:cNvPr>
          <p:cNvSpPr txBox="1"/>
          <p:nvPr/>
        </p:nvSpPr>
        <p:spPr>
          <a:xfrm>
            <a:off x="176042" y="1400196"/>
            <a:ext cx="5923309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FF0000"/>
                </a:solidFill>
                <a:effectLst/>
                <a:latin typeface="inter-regular"/>
              </a:rPr>
              <a:t>Example: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interface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Drawable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draw();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cube(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x)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x*x*x;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Rectangle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Drawable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draw()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"drawing rectangle"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25984-325C-4609-887A-2DF6AACF9C3E}"/>
              </a:ext>
            </a:extLst>
          </p:cNvPr>
          <p:cNvSpPr txBox="1"/>
          <p:nvPr/>
        </p:nvSpPr>
        <p:spPr>
          <a:xfrm>
            <a:off x="6762161" y="4878071"/>
            <a:ext cx="5154706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inter-regular"/>
              </a:rPr>
              <a:t>Output: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Drawing rectangle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1100A7"/>
                </a:solidFill>
                <a:latin typeface="inter-regular"/>
              </a:rPr>
              <a:t>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EB32E-C6D9-D21A-6734-E74DA8123A9F}"/>
              </a:ext>
            </a:extLst>
          </p:cNvPr>
          <p:cNvSpPr txBox="1"/>
          <p:nvPr/>
        </p:nvSpPr>
        <p:spPr>
          <a:xfrm>
            <a:off x="6373156" y="1400196"/>
            <a:ext cx="5725059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TestInterfaceStatic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Drawable d=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Rectangle();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d.draw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Drawable.cube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008605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423" y="550049"/>
            <a:ext cx="9144000" cy="785692"/>
          </a:xfrm>
        </p:spPr>
        <p:txBody>
          <a:bodyPr>
            <a:noAutofit/>
          </a:bodyPr>
          <a:lstStyle/>
          <a:p>
            <a:r>
              <a:rPr lang="en-IN" sz="4800" b="1" dirty="0"/>
              <a:t>Marker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91551-D44B-5812-7006-C17880AEA36E}"/>
              </a:ext>
            </a:extLst>
          </p:cNvPr>
          <p:cNvSpPr txBox="1">
            <a:spLocks/>
          </p:cNvSpPr>
          <p:nvPr/>
        </p:nvSpPr>
        <p:spPr>
          <a:xfrm>
            <a:off x="431137" y="2003813"/>
            <a:ext cx="11329725" cy="142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solidFill>
                  <a:srgbClr val="333333"/>
                </a:solidFill>
                <a:latin typeface="inter-regular"/>
              </a:rPr>
              <a:t>An interface that has no member is known as a marker or tagged interface, for example, </a:t>
            </a:r>
            <a:r>
              <a:rPr lang="en-US" sz="2000" dirty="0">
                <a:solidFill>
                  <a:srgbClr val="333333"/>
                </a:solidFill>
                <a:latin typeface="inter-regula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Serializable</a:t>
            </a:r>
            <a:r>
              <a:rPr lang="en-US" sz="2000" dirty="0">
                <a:solidFill>
                  <a:srgbClr val="333333"/>
                </a:solidFill>
                <a:latin typeface="inter-regular"/>
              </a:rPr>
              <a:t>, Cloneable, Remote, etc. </a:t>
            </a:r>
          </a:p>
          <a:p>
            <a:pPr algn="just"/>
            <a:r>
              <a:rPr lang="en-US" sz="2000" dirty="0">
                <a:solidFill>
                  <a:srgbClr val="333333"/>
                </a:solidFill>
                <a:latin typeface="inter-regular"/>
              </a:rPr>
              <a:t>They are used to provide some essential information to the JVM so that JVM may perform some useful operations.</a:t>
            </a:r>
          </a:p>
          <a:p>
            <a:pPr algn="just"/>
            <a:endParaRPr lang="en-US" sz="1400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93205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Abstract Class Vs Interface</a:t>
            </a:r>
          </a:p>
        </p:txBody>
      </p:sp>
    </p:spTree>
    <p:extLst>
      <p:ext uri="{BB962C8B-B14F-4D97-AF65-F5344CB8AC3E}">
        <p14:creationId xmlns:p14="http://schemas.microsoft.com/office/powerpoint/2010/main" val="2018797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Abstract Class Vs Interface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E1274619-3A11-70CA-9D15-34C8B92E2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884175"/>
              </p:ext>
            </p:extLst>
          </p:nvPr>
        </p:nvGraphicFramePr>
        <p:xfrm>
          <a:off x="476459" y="717870"/>
          <a:ext cx="11318106" cy="600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9053">
                  <a:extLst>
                    <a:ext uri="{9D8B030D-6E8A-4147-A177-3AD203B41FA5}">
                      <a16:colId xmlns:a16="http://schemas.microsoft.com/office/drawing/2014/main" val="2739721117"/>
                    </a:ext>
                  </a:extLst>
                </a:gridCol>
                <a:gridCol w="5659053">
                  <a:extLst>
                    <a:ext uri="{9D8B030D-6E8A-4147-A177-3AD203B41FA5}">
                      <a16:colId xmlns:a16="http://schemas.microsoft.com/office/drawing/2014/main" val="389936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ABSTRACT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699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Abstract class can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have abstract and non-abstract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methods.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Interface can have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only abstract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methods. Since Java 8, it can have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default and static methods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also.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48943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Abstract class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doesn't support multiple inheritance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Interface </a:t>
                      </a:r>
                      <a:r>
                        <a:rPr lang="en-IN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supports multiple inheritance</a:t>
                      </a:r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0555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Abstract class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can have final, non-final, static and non-static variables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Interface has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only static and final variables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64461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Abstract class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can provide the implementation of interface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Interface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can't provide the implementation of abstract class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684885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An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abstract class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can extend another Java class and implement multiple Java interfaces.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An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interface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can extend another Java interface only.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216171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An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abstract class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can be extended using keyword "extends".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An </a:t>
                      </a:r>
                      <a:r>
                        <a:rPr lang="en-US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interface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can be implemented using keyword "implements".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769935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 Java </a:t>
                      </a: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abstract class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can have class members like private, protected, etc.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Members of a Java interface are public by default.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31687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Example:</a:t>
                      </a:r>
                      <a:b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class Shape{</a:t>
                      </a:r>
                      <a:b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abstract void draw();</a:t>
                      </a:r>
                      <a:b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Example:</a:t>
                      </a:r>
                      <a:b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interface Drawable{</a:t>
                      </a:r>
                      <a:b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draw();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048640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515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566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2271</TotalTime>
  <Words>2028</Words>
  <Application>Microsoft Office PowerPoint</Application>
  <PresentationFormat>Widescreen</PresentationFormat>
  <Paragraphs>389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Arial</vt:lpstr>
      <vt:lpstr>Calibri</vt:lpstr>
      <vt:lpstr>Calibri Light</vt:lpstr>
      <vt:lpstr>erdana</vt:lpstr>
      <vt:lpstr>inter-bold</vt:lpstr>
      <vt:lpstr>inter-regular</vt:lpstr>
      <vt:lpstr>tahoma</vt:lpstr>
      <vt:lpstr>urw-din</vt:lpstr>
      <vt:lpstr>Office Theme</vt:lpstr>
      <vt:lpstr>Bitmap Image</vt:lpstr>
      <vt:lpstr>Topics to be Covered:</vt:lpstr>
      <vt:lpstr>Abstraction</vt:lpstr>
      <vt:lpstr>Abstraction</vt:lpstr>
      <vt:lpstr>Abstract Method</vt:lpstr>
      <vt:lpstr>Abstract Method</vt:lpstr>
      <vt:lpstr>Abstract Class</vt:lpstr>
      <vt:lpstr>Abstract Class</vt:lpstr>
      <vt:lpstr>Abstract Class : Example 1</vt:lpstr>
      <vt:lpstr>Abstract Class : Example 2</vt:lpstr>
      <vt:lpstr>Abstract Class : Example 3</vt:lpstr>
      <vt:lpstr>Interface</vt:lpstr>
      <vt:lpstr>Interface</vt:lpstr>
      <vt:lpstr>Interface</vt:lpstr>
      <vt:lpstr>Interface</vt:lpstr>
      <vt:lpstr>Interface : Example </vt:lpstr>
      <vt:lpstr>Interface &amp; Class</vt:lpstr>
      <vt:lpstr>Multiple Inheritance</vt:lpstr>
      <vt:lpstr>Multiple Inheritance</vt:lpstr>
      <vt:lpstr>Multiple Inheritance : Example </vt:lpstr>
      <vt:lpstr>Multiple Inheritance : Example </vt:lpstr>
      <vt:lpstr>Default method in Interface</vt:lpstr>
      <vt:lpstr>Default method in Interface</vt:lpstr>
      <vt:lpstr>Static method in Interface</vt:lpstr>
      <vt:lpstr>static method in Interface</vt:lpstr>
      <vt:lpstr>Marker Interface</vt:lpstr>
      <vt:lpstr>Abstract Class Vs Interface</vt:lpstr>
      <vt:lpstr>Abstract Class Vs Interface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119</cp:revision>
  <dcterms:created xsi:type="dcterms:W3CDTF">2022-08-21T11:09:16Z</dcterms:created>
  <dcterms:modified xsi:type="dcterms:W3CDTF">2022-10-14T08:17:18Z</dcterms:modified>
</cp:coreProperties>
</file>