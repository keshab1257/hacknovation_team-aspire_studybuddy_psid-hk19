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58" r:id="rId3"/>
    <p:sldId id="343" r:id="rId4"/>
    <p:sldId id="476" r:id="rId5"/>
    <p:sldId id="477" r:id="rId6"/>
    <p:sldId id="478" r:id="rId7"/>
    <p:sldId id="479" r:id="rId8"/>
    <p:sldId id="480" r:id="rId9"/>
    <p:sldId id="482" r:id="rId10"/>
    <p:sldId id="483" r:id="rId11"/>
    <p:sldId id="484" r:id="rId12"/>
    <p:sldId id="485" r:id="rId13"/>
    <p:sldId id="486" r:id="rId14"/>
    <p:sldId id="487" r:id="rId15"/>
    <p:sldId id="488" r:id="rId16"/>
    <p:sldId id="489" r:id="rId17"/>
    <p:sldId id="45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0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1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C439-7561-D872-4C0B-085203F15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ABF94-6B75-EC0A-398F-4A225E5DF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4CD30-0637-114E-9C8A-503217BD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DD38-4B0A-15CF-86E9-F8CB34A2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84CC3-EBE9-7E16-FC3E-E8391631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1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458F-4782-8839-D5E1-BE95028B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53C6-1162-9BA5-F123-D7C6D95A5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A34CC-7712-0D8C-9E46-2E190C98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7A4B4-F26C-C1D3-E330-ABFE2D89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D753-6471-8044-B952-51560ACC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3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919C-E4CA-0329-A32F-DB74CD0A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04A60-66FE-A893-5C0D-88F0CCC5D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C725D-C48B-8DD4-28FF-93A4F9B0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D4506-2435-E51B-559A-38EF32E5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DB14F-8DD3-D46A-B557-623C4048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4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0C97-422A-30B3-18BB-1A3FCE27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75DF-3097-416F-7A39-BEA0CEDCA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C43D4-4985-1C78-D168-AE18F9884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3C89A-A180-CA5D-2DDA-F2D7384C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62A4B-B03E-49A1-781D-F7DCAF30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5DD80-168A-263C-8AAD-AC8A62E5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8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FEC7-7ADE-0F5F-B2D2-870A5B4A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405C-D6B6-CA23-35A8-4A1013DE0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3882-1611-E67E-2F4C-EFC703D0F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B1D57-DBDC-FC69-B642-81AAACA1F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A295-A59A-4BB0-E8E6-7DE344A98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59F61-843B-25A8-B2AA-86EA27F7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4E5E5-6B9A-7066-5DC6-074B311A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5CE58-F625-0A96-011C-F7BE5F10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73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57C9-F334-A135-3716-E9BA8481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BE558-91AA-8224-13ED-8624FA90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B5A2F-248E-70B5-2DB9-86528779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EB7F3-D93A-AAA0-727F-B367C09E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8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E05AC-4C32-ABA5-093A-E3C7ADE5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548EC-36E1-9785-2389-D5C8D80A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F630-D3A2-FEA5-5688-FA85212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51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373C-0C7B-3138-2B71-BE0206BF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B040-0532-55A0-899E-F1A0058C5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475DE-273B-D486-B977-6F6E9A845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208DA-B383-4687-B5AA-28620729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5D456-D4BD-D260-6F88-B0135E2E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90C7A-C3AB-3293-EE28-D96275A0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1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3485-8066-90B9-E725-2CEC5CC0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1A955-DF1A-1F44-7425-DB06EF344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78DF3-E237-5801-55EA-C8F04D7E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3E79D-FF3E-BD71-36CE-6173E9E1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C2ABD-A46E-5275-0F11-D6B96342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DD063-8891-ABDA-EE17-207E7E31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1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1F4C-549F-78DB-67CE-3BB8584B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2BE7D-DAF7-F1CC-BB59-E44680B42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8613-8C61-205C-EB9F-6E6A8904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F2999-E48F-3BCB-CDFF-486C3C8C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21C83-8AAB-FDBD-39EA-52DECC56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0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691DE-BB97-5A8E-C7BE-1A80DE249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EE551-277E-BB88-A0F3-6E587136B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317B-CD99-AD09-11A7-6D2D116C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BACC-DF9F-2749-21B4-BA1C9B5D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B1129-C1F0-2D71-8C92-AC42AB21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8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6C1A3-B44B-5F46-D23F-04FB158A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6F5DB-0D66-D177-53B7-C1F280005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7576-6BC9-43C8-A570-061272C72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AC035-B6B8-4A26-9262-14CC58B9C04B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236A3-3AF3-889E-96AD-FD051640A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5DE2B-397A-6648-D0F7-CC0E414C3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9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088"/>
            <a:ext cx="10515600" cy="6747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b="1" dirty="0">
                <a:solidFill>
                  <a:srgbClr val="1100A7"/>
                </a:solidFill>
              </a:rPr>
              <a:t>Topics to be Covered</a:t>
            </a:r>
            <a:r>
              <a:rPr lang="en-IN" sz="7200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D723C-EF15-FB3D-5FF3-791E71C5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104" y="2087987"/>
            <a:ext cx="10797791" cy="2775415"/>
          </a:xfrm>
        </p:spPr>
        <p:txBody>
          <a:bodyPr>
            <a:normAutofit/>
          </a:bodyPr>
          <a:lstStyle/>
          <a:p>
            <a:r>
              <a:rPr lang="en-US" dirty="0"/>
              <a:t>Java </a:t>
            </a:r>
            <a:r>
              <a:rPr lang="en-US" b="1" dirty="0" err="1"/>
              <a:t>MouseListener</a:t>
            </a:r>
            <a:r>
              <a:rPr lang="en-US" dirty="0"/>
              <a:t> Interface</a:t>
            </a:r>
          </a:p>
          <a:p>
            <a:r>
              <a:rPr lang="en-IN" dirty="0"/>
              <a:t>Java </a:t>
            </a:r>
            <a:r>
              <a:rPr lang="en-IN" b="1" dirty="0" err="1"/>
              <a:t>MouseMotionListener</a:t>
            </a:r>
            <a:r>
              <a:rPr lang="en-IN" dirty="0"/>
              <a:t> Interface</a:t>
            </a:r>
          </a:p>
          <a:p>
            <a:r>
              <a:rPr lang="en-IN" dirty="0"/>
              <a:t>Java </a:t>
            </a:r>
            <a:r>
              <a:rPr lang="en-IN" b="1" dirty="0" err="1"/>
              <a:t>WindowListener</a:t>
            </a:r>
            <a:r>
              <a:rPr lang="en-IN" dirty="0"/>
              <a:t> Interface</a:t>
            </a:r>
          </a:p>
          <a:p>
            <a:r>
              <a:rPr lang="en-IN" dirty="0"/>
              <a:t>Java Adapter Classes</a:t>
            </a:r>
          </a:p>
        </p:txBody>
      </p:sp>
    </p:spTree>
    <p:extLst>
      <p:ext uri="{BB962C8B-B14F-4D97-AF65-F5344CB8AC3E}">
        <p14:creationId xmlns:p14="http://schemas.microsoft.com/office/powerpoint/2010/main" val="388912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5" y="2809155"/>
            <a:ext cx="10811436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Java </a:t>
            </a:r>
            <a:r>
              <a:rPr lang="en-IN" sz="7200" b="1" dirty="0" err="1"/>
              <a:t>MouseListener</a:t>
            </a:r>
            <a:r>
              <a:rPr lang="en-IN" sz="7200" b="1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2183971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MouseListener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Interface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63388" y="1411104"/>
            <a:ext cx="10865223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Java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regular"/>
              </a:rPr>
              <a:t>MouseListener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is notified whenever you change the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state of the mouse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is notified against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regular"/>
              </a:rPr>
              <a:t>MouseEvent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MouseListener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interface is found in java.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awt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event package. 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Methods of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regular"/>
              </a:rPr>
              <a:t>MouseListener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 </a:t>
            </a:r>
            <a:r>
              <a:rPr lang="en-US" i="0" dirty="0">
                <a:solidFill>
                  <a:srgbClr val="333333"/>
                </a:solidFill>
                <a:effectLst/>
                <a:latin typeface="inter-regular"/>
              </a:rPr>
              <a:t>Interface :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mouseClicked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e);  </a:t>
            </a:r>
          </a:p>
          <a:p>
            <a:pPr marL="342900" indent="-342900" algn="just">
              <a:buFont typeface="+mj-lt"/>
              <a:buAutoNum type="arabicParenR"/>
            </a:pP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mouseEntered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e);  </a:t>
            </a:r>
          </a:p>
          <a:p>
            <a:pPr marL="342900" indent="-342900" algn="just">
              <a:buFont typeface="+mj-lt"/>
              <a:buAutoNum type="arabicParenR"/>
            </a:pP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mouseExited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e);  </a:t>
            </a:r>
          </a:p>
          <a:p>
            <a:pPr marL="342900" indent="-342900" algn="just">
              <a:buFont typeface="+mj-lt"/>
              <a:buAutoNum type="arabicParenR"/>
            </a:pP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mousePressed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e);  </a:t>
            </a:r>
          </a:p>
          <a:p>
            <a:pPr marL="342900" indent="-342900" algn="just">
              <a:buFont typeface="+mj-lt"/>
              <a:buAutoNum type="arabicParenR"/>
            </a:pP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mouseReleased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e);  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89847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MouseListener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Interface: Example 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224117" y="927253"/>
            <a:ext cx="6364941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MouseEx1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Frame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Label l;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MouseEx1()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addMouseListener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l=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Label();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l.setBounds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add(l);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setLayout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setVisible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 MouseEx1();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B3846-04B3-D5CC-F8B4-5918D4B3CCFE}"/>
              </a:ext>
            </a:extLst>
          </p:cNvPr>
          <p:cNvSpPr txBox="1"/>
          <p:nvPr/>
        </p:nvSpPr>
        <p:spPr>
          <a:xfrm>
            <a:off x="6868738" y="927253"/>
            <a:ext cx="4928324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mouseClicked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"Mouse Clicked"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mouseEntered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"Mouse Entered"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mouseExited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"Mouse Exited"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mousePressed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"Mouse Pressed"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mouseReleased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"Mouse Released"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</p:txBody>
      </p:sp>
    </p:spTree>
    <p:extLst>
      <p:ext uri="{BB962C8B-B14F-4D97-AF65-F5344CB8AC3E}">
        <p14:creationId xmlns:p14="http://schemas.microsoft.com/office/powerpoint/2010/main" val="1201680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MouseListener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Interface: Example 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224117" y="927253"/>
            <a:ext cx="6644621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MouseEx2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Frame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MouseListener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MouseEx2()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addMouseListener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setLayout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setVisible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mouseClicked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Graphics g=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getGraphics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g.setColor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Color.BLUE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g.fillOval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e.getX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(),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e.getY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B3846-04B3-D5CC-F8B4-5918D4B3CCFE}"/>
              </a:ext>
            </a:extLst>
          </p:cNvPr>
          <p:cNvSpPr txBox="1"/>
          <p:nvPr/>
        </p:nvSpPr>
        <p:spPr>
          <a:xfrm>
            <a:off x="7039559" y="950154"/>
            <a:ext cx="4928324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mouseEntered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mouseExited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mousePressed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mouseReleased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 MouseEx2();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1199212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32" y="2598140"/>
            <a:ext cx="10811436" cy="1104220"/>
          </a:xfrm>
        </p:spPr>
        <p:txBody>
          <a:bodyPr>
            <a:noAutofit/>
          </a:bodyPr>
          <a:lstStyle/>
          <a:p>
            <a:r>
              <a:rPr lang="en-IN" sz="5400" b="1" dirty="0"/>
              <a:t>Java </a:t>
            </a:r>
            <a:r>
              <a:rPr lang="en-IN" sz="5400" b="1" dirty="0" err="1"/>
              <a:t>MouseMotionListener</a:t>
            </a:r>
            <a:r>
              <a:rPr lang="en-IN" sz="5400" b="1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2277501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MouseMotionListener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Interface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63388" y="1752748"/>
            <a:ext cx="10865223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Java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MouseMotionListener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is notified whenever you move or drag mouse. 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is notified against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MouseEvent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MouseMotionListener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interface is found in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java.awt.event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package. 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Methods of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regular"/>
              </a:rPr>
              <a:t>MouseMotionListener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 </a:t>
            </a:r>
            <a:r>
              <a:rPr lang="en-US" i="0" dirty="0">
                <a:solidFill>
                  <a:srgbClr val="333333"/>
                </a:solidFill>
                <a:effectLst/>
                <a:latin typeface="inter-regular"/>
              </a:rPr>
              <a:t>Interface :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mouseDragged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e);  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mouseMoved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e);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999985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388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MouseMotionListener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Interface: Example 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786823" y="686568"/>
            <a:ext cx="10668297" cy="61093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MouseMotionEx1 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Frame 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MouseMotionListener</a:t>
            </a:r>
            <a:endParaRPr lang="en-IN" sz="17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 MouseMotionEx1()</a:t>
            </a:r>
          </a:p>
          <a:p>
            <a:pPr algn="just"/>
            <a:r>
              <a:rPr lang="en-IN" sz="1700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addMouseMotionListener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setSize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700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sz="1700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setLayout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setVisible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sz="1700" b="1" dirty="0">
                <a:solidFill>
                  <a:srgbClr val="006699"/>
                </a:solidFill>
                <a:latin typeface="inter-regular"/>
              </a:rPr>
              <a:t>    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mouseDragged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e) </a:t>
            </a:r>
          </a:p>
          <a:p>
            <a:pPr algn="just"/>
            <a:r>
              <a:rPr lang="en-IN" sz="1700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     Graphics g=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getGraphics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     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g.setColor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Color.BLUE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     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g.fillOval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e.getX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(),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e.getY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(),</a:t>
            </a:r>
            <a:r>
              <a:rPr lang="en-IN" sz="1700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sz="1700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    }  </a:t>
            </a:r>
          </a:p>
          <a:p>
            <a:pPr algn="just"/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    public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mouseMoved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e) {}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  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sz="17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)</a:t>
            </a:r>
          </a:p>
          <a:p>
            <a:pPr algn="just"/>
            <a:r>
              <a:rPr lang="en-IN" sz="1700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        </a:t>
            </a:r>
            <a:r>
              <a:rPr lang="en-IN" sz="1700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  MouseMotionEx1();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    }  </a:t>
            </a:r>
          </a:p>
          <a:p>
            <a:pPr algn="just"/>
            <a:r>
              <a:rPr lang="en-IN" sz="17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1110096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32" y="2598140"/>
            <a:ext cx="10811436" cy="1104220"/>
          </a:xfrm>
        </p:spPr>
        <p:txBody>
          <a:bodyPr>
            <a:noAutofit/>
          </a:bodyPr>
          <a:lstStyle/>
          <a:p>
            <a:r>
              <a:rPr lang="en-IN" sz="5400" b="1" dirty="0"/>
              <a:t>Java </a:t>
            </a:r>
            <a:r>
              <a:rPr lang="en-IN" sz="5400" b="1" dirty="0" err="1"/>
              <a:t>WindowListener</a:t>
            </a:r>
            <a:r>
              <a:rPr lang="en-IN" sz="5400" b="1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4079370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37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WindowListener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Interface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580536" y="694287"/>
            <a:ext cx="11155938" cy="10926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Java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WindowListener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is notified whenever you change the state of window. It is notified against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WindowEvent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WindowListener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interface is found in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java.awt.event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package.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endParaRPr lang="en-IN" sz="1000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algn="just"/>
            <a:r>
              <a:rPr lang="en-IN" b="1" i="0" dirty="0">
                <a:solidFill>
                  <a:srgbClr val="610B38"/>
                </a:solidFill>
                <a:effectLst/>
                <a:latin typeface="erdana"/>
              </a:rPr>
              <a:t>Methods of </a:t>
            </a:r>
            <a:r>
              <a:rPr lang="en-IN" b="1" i="0" dirty="0" err="1">
                <a:solidFill>
                  <a:srgbClr val="610B38"/>
                </a:solidFill>
                <a:effectLst/>
                <a:latin typeface="erdana"/>
              </a:rPr>
              <a:t>WindowListener</a:t>
            </a:r>
            <a:r>
              <a:rPr lang="en-IN" b="1" i="0" dirty="0">
                <a:solidFill>
                  <a:srgbClr val="610B38"/>
                </a:solidFill>
                <a:effectLst/>
                <a:latin typeface="erdana"/>
              </a:rPr>
              <a:t> interface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E0AF3F1-1ABC-51A7-5966-5302EAF5B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202610"/>
              </p:ext>
            </p:extLst>
          </p:nvPr>
        </p:nvGraphicFramePr>
        <p:xfrm>
          <a:off x="580536" y="1786894"/>
          <a:ext cx="11155938" cy="505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384">
                  <a:extLst>
                    <a:ext uri="{9D8B030D-6E8A-4147-A177-3AD203B41FA5}">
                      <a16:colId xmlns:a16="http://schemas.microsoft.com/office/drawing/2014/main" val="136137081"/>
                    </a:ext>
                  </a:extLst>
                </a:gridCol>
                <a:gridCol w="5584669">
                  <a:extLst>
                    <a:ext uri="{9D8B030D-6E8A-4147-A177-3AD203B41FA5}">
                      <a16:colId xmlns:a16="http://schemas.microsoft.com/office/drawing/2014/main" val="3912813991"/>
                    </a:ext>
                  </a:extLst>
                </a:gridCol>
                <a:gridCol w="4963885">
                  <a:extLst>
                    <a:ext uri="{9D8B030D-6E8A-4147-A177-3AD203B41FA5}">
                      <a16:colId xmlns:a16="http://schemas.microsoft.com/office/drawing/2014/main" val="39731141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SNo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007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abstract void windowActivated (WindowEvent e);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called when the Window is set to be an active Window.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532775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2.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abstract void windowClosed (WindowEvent e);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called when a window has been closed as the result of calling dispose on the window.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082677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3.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abstract void windowClosing (WindowEvent e);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called when the user attempts to close the window from the system menu of the window.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343766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4.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abstract void windowDeactivated (WindowEvent e);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called when a Window is not an active Window anymore.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405693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5.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abstract void windowDeiconified (WindowEvent e);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called when a window is changed from a minimized to a normal state.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002833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6.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abstract void windowIconified (WindowEvent e);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called when a window is changed from a normal to a minimized state.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61465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7.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abstract void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windowOpened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WindowEvent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e);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called when window is made visible for the first time.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896409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545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WindowListener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Interface: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224117" y="676044"/>
            <a:ext cx="6518327" cy="5909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java.awt.event.WindowEvent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java.awt.event.WindowListener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WindowEx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Frame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WindowExample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addWindowListener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setLayout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setVisible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WindowExample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windowActivated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w)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"activated"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B3846-04B3-D5CC-F8B4-5918D4B3CCFE}"/>
              </a:ext>
            </a:extLst>
          </p:cNvPr>
          <p:cNvSpPr txBox="1"/>
          <p:nvPr/>
        </p:nvSpPr>
        <p:spPr>
          <a:xfrm>
            <a:off x="6999365" y="676044"/>
            <a:ext cx="5048608" cy="6186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windowClosed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w)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"closed"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windowClosing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w)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"closing"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dispose();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windowDeactivated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w){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"deactivated"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windowDeiconified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w)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deiconified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windowIconified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w)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"iconified"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windowOpened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WindowEvent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arg0)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"opened"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</a:t>
            </a:r>
          </a:p>
        </p:txBody>
      </p:sp>
    </p:spTree>
    <p:extLst>
      <p:ext uri="{BB962C8B-B14F-4D97-AF65-F5344CB8AC3E}">
        <p14:creationId xmlns:p14="http://schemas.microsoft.com/office/powerpoint/2010/main" val="3241624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5" y="2809155"/>
            <a:ext cx="10811436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Java </a:t>
            </a:r>
            <a:r>
              <a:rPr lang="en-IN" sz="7200" b="1"/>
              <a:t>Adapter Classes</a:t>
            </a:r>
            <a:endParaRPr lang="en-IN" sz="7200" b="1" dirty="0"/>
          </a:p>
        </p:txBody>
      </p:sp>
    </p:spTree>
    <p:extLst>
      <p:ext uri="{BB962C8B-B14F-4D97-AF65-F5344CB8AC3E}">
        <p14:creationId xmlns:p14="http://schemas.microsoft.com/office/powerpoint/2010/main" val="384648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Adapter 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00634" y="1098325"/>
            <a:ext cx="10865223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Java adapter classes </a:t>
            </a:r>
            <a:r>
              <a:rPr lang="en-US" b="0" i="1" dirty="0">
                <a:solidFill>
                  <a:srgbClr val="333333"/>
                </a:solidFill>
                <a:effectLst/>
                <a:latin typeface="inter-regular"/>
              </a:rPr>
              <a:t>provide the </a:t>
            </a:r>
            <a:r>
              <a:rPr lang="en-US" b="1" i="1" dirty="0">
                <a:solidFill>
                  <a:srgbClr val="333333"/>
                </a:solidFill>
                <a:effectLst/>
                <a:latin typeface="inter-regular"/>
              </a:rPr>
              <a:t>default implementation of listener </a:t>
            </a:r>
            <a:r>
              <a:rPr lang="en-US" b="1" i="1" dirty="0">
                <a:latin typeface="inter-regular"/>
              </a:rPr>
              <a:t>interfaces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If you inherit the adapter class, you will not be forced to provide the implementation of all the methods of listener interfaces. So it </a:t>
            </a:r>
            <a:r>
              <a:rPr lang="en-US" b="0" i="1" dirty="0">
                <a:solidFill>
                  <a:srgbClr val="333333"/>
                </a:solidFill>
                <a:effectLst/>
                <a:latin typeface="inter-regular"/>
              </a:rPr>
              <a:t>saves code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</a:p>
          <a:p>
            <a:pPr algn="just"/>
            <a:endParaRPr lang="en-US" b="0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b="1" dirty="0">
                <a:solidFill>
                  <a:srgbClr val="610B4B"/>
                </a:solidFill>
                <a:latin typeface="erdana"/>
              </a:rPr>
              <a:t>Advantages </a:t>
            </a:r>
            <a:r>
              <a:rPr lang="en-US" b="1" i="0" dirty="0">
                <a:solidFill>
                  <a:srgbClr val="610B4B"/>
                </a:solidFill>
                <a:effectLst/>
                <a:latin typeface="erdana"/>
              </a:rPr>
              <a:t>of using Adapter classes:</a:t>
            </a:r>
          </a:p>
          <a:p>
            <a:pPr algn="just"/>
            <a:endParaRPr lang="en-US" b="0" i="0" dirty="0">
              <a:solidFill>
                <a:srgbClr val="610B4B"/>
              </a:solidFill>
              <a:effectLst/>
              <a:latin typeface="erdan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assists the unrelated classes to work combinedly.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provides ways to use classes in different ways.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increases the transparency of classes.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provides a way to include related patterns in the class.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provides a pluggable kit for developing an application.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increases the reusability of the class.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333333"/>
                </a:solidFill>
                <a:effectLst/>
                <a:latin typeface="inter-regular"/>
              </a:rPr>
              <a:t>The adapter classes are found in </a:t>
            </a:r>
            <a:r>
              <a:rPr lang="en-IN" b="1" i="0" dirty="0" err="1">
                <a:solidFill>
                  <a:srgbClr val="333333"/>
                </a:solidFill>
                <a:effectLst/>
                <a:latin typeface="inter-bold"/>
              </a:rPr>
              <a:t>java.awt.event</a:t>
            </a:r>
            <a:r>
              <a:rPr lang="en-IN" b="1" i="0" dirty="0">
                <a:solidFill>
                  <a:srgbClr val="333333"/>
                </a:solidFill>
                <a:effectLst/>
                <a:latin typeface="inter-bold"/>
              </a:rPr>
              <a:t>, </a:t>
            </a:r>
            <a:r>
              <a:rPr lang="en-IN" b="1" i="0" dirty="0" err="1">
                <a:solidFill>
                  <a:srgbClr val="333333"/>
                </a:solidFill>
                <a:effectLst/>
                <a:latin typeface="inter-bold"/>
              </a:rPr>
              <a:t>java.awt.dnd</a:t>
            </a:r>
            <a:r>
              <a:rPr lang="en-IN" b="0" i="0" dirty="0">
                <a:solidFill>
                  <a:srgbClr val="333333"/>
                </a:solidFill>
                <a:effectLst/>
                <a:latin typeface="inter-regular"/>
              </a:rPr>
              <a:t> and </a:t>
            </a:r>
            <a:r>
              <a:rPr lang="en-IN" b="1" i="0" dirty="0" err="1">
                <a:solidFill>
                  <a:srgbClr val="333333"/>
                </a:solidFill>
                <a:effectLst/>
                <a:latin typeface="inter-bold"/>
              </a:rPr>
              <a:t>javax.swing.event</a:t>
            </a:r>
            <a:r>
              <a:rPr lang="en-IN" b="0" i="0" dirty="0">
                <a:solidFill>
                  <a:srgbClr val="333333"/>
                </a:solidFill>
                <a:effectLst/>
                <a:latin typeface="inter-regular"/>
              </a:rPr>
              <a:t> </a:t>
            </a:r>
            <a:r>
              <a:rPr lang="en-IN" dirty="0">
                <a:solidFill>
                  <a:srgbClr val="333333"/>
                </a:solidFill>
                <a:latin typeface="inter-regular"/>
              </a:rPr>
              <a:t>packages</a:t>
            </a:r>
            <a:r>
              <a:rPr lang="en-IN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41857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36" y="107576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err="1">
                <a:solidFill>
                  <a:srgbClr val="610B38"/>
                </a:solidFill>
                <a:latin typeface="erdana"/>
              </a:rPr>
              <a:t>java.awt.event</a:t>
            </a:r>
            <a:r>
              <a:rPr lang="fr-FR" b="1" dirty="0">
                <a:solidFill>
                  <a:srgbClr val="610B38"/>
                </a:solidFill>
                <a:latin typeface="erdana"/>
              </a:rPr>
              <a:t> Adapter classes</a:t>
            </a:r>
            <a:endParaRPr lang="en-IN" b="1" dirty="0">
              <a:solidFill>
                <a:srgbClr val="610B38"/>
              </a:solidFill>
              <a:latin typeface="erdana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E0AF3F1-1ABC-51A7-5966-5302EAF5B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857654"/>
              </p:ext>
            </p:extLst>
          </p:nvPr>
        </p:nvGraphicFramePr>
        <p:xfrm>
          <a:off x="1674229" y="968188"/>
          <a:ext cx="8677836" cy="5396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2122">
                  <a:extLst>
                    <a:ext uri="{9D8B030D-6E8A-4147-A177-3AD203B41FA5}">
                      <a16:colId xmlns:a16="http://schemas.microsoft.com/office/drawing/2014/main" val="136137081"/>
                    </a:ext>
                  </a:extLst>
                </a:gridCol>
                <a:gridCol w="3255784">
                  <a:extLst>
                    <a:ext uri="{9D8B030D-6E8A-4147-A177-3AD203B41FA5}">
                      <a16:colId xmlns:a16="http://schemas.microsoft.com/office/drawing/2014/main" val="3912813991"/>
                    </a:ext>
                  </a:extLst>
                </a:gridCol>
                <a:gridCol w="4589930">
                  <a:extLst>
                    <a:ext uri="{9D8B030D-6E8A-4147-A177-3AD203B41FA5}">
                      <a16:colId xmlns:a16="http://schemas.microsoft.com/office/drawing/2014/main" val="3973114155"/>
                    </a:ext>
                  </a:extLst>
                </a:gridCol>
              </a:tblGrid>
              <a:tr h="763692">
                <a:tc>
                  <a:txBody>
                    <a:bodyPr/>
                    <a:lstStyle/>
                    <a:p>
                      <a:r>
                        <a:rPr lang="en-IN" sz="2400" dirty="0" err="1"/>
                        <a:t>SNo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Adapter class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Listener interface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505007984"/>
                  </a:ext>
                </a:extLst>
              </a:tr>
              <a:tr h="66186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WindowAdapter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WindowListener</a:t>
                      </a:r>
                      <a:endParaRPr lang="en-IN" sz="2400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532775568"/>
                  </a:ext>
                </a:extLst>
              </a:tr>
              <a:tr h="66186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2.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KeyAdapter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KeyListener</a:t>
                      </a:r>
                      <a:endParaRPr lang="en-IN" sz="2400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082677780"/>
                  </a:ext>
                </a:extLst>
              </a:tr>
              <a:tr h="66186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3.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MouseAdapter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MouseListener</a:t>
                      </a:r>
                      <a:endParaRPr lang="en-IN" sz="2400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343766966"/>
                  </a:ext>
                </a:extLst>
              </a:tr>
              <a:tr h="66186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4.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MouseMotionAdapter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MouseMotionListener</a:t>
                      </a:r>
                      <a:endParaRPr lang="en-IN" sz="2400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405693889"/>
                  </a:ext>
                </a:extLst>
              </a:tr>
              <a:tr h="66186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5.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FocusAdapter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FocusListener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002833601"/>
                  </a:ext>
                </a:extLst>
              </a:tr>
              <a:tr h="66186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6.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ComponentAdapter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ComponentListener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614657248"/>
                  </a:ext>
                </a:extLst>
              </a:tr>
              <a:tr h="66186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7.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ContainerAdapter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ContainerListener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896409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03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388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MouseAdapter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Class: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786824" y="686568"/>
            <a:ext cx="6133930" cy="60016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MouseAdapterExample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MouseAdapter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Frame f;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MouseAdapterExample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 </a:t>
            </a: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f =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Frame (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inter-regular"/>
              </a:rPr>
              <a:t>"Mouse Adapter"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f.addMouseListener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f.setSize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f.setLayout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f.setVisible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}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mouseClicked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e)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    {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Graphics g =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f.getGraphics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 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g.setColor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Color.BLUE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g.fillOval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e.getX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(),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e.getY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(), 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}  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   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 </a:t>
            </a: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   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    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MouseAdapterExample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   }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BDE833-75C2-7750-7494-72559AC47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337" y="3687389"/>
            <a:ext cx="2918713" cy="29187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03F86A-B87B-BB86-AFA7-14149CBEAAD3}"/>
              </a:ext>
            </a:extLst>
          </p:cNvPr>
          <p:cNvSpPr txBox="1"/>
          <p:nvPr/>
        </p:nvSpPr>
        <p:spPr>
          <a:xfrm>
            <a:off x="8078616" y="3090446"/>
            <a:ext cx="2794153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Output:</a:t>
            </a:r>
            <a:endParaRPr lang="en-IN" sz="20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799071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388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MouseMotionAdapter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Class: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786823" y="686568"/>
            <a:ext cx="7482970" cy="60016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MouseMotionAdapterExample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MouseMotionAdapter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Frame f;    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// object of Frame class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MouseMotionAdapterExample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 </a:t>
            </a: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f =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Frame (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inter-regular"/>
              </a:rPr>
              <a:t>"Mouse Motion Adapter"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// Setting title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f.addMouseMotionListener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 // adding </a:t>
            </a:r>
            <a:r>
              <a:rPr lang="en-IN" sz="1600" b="0" i="0" dirty="0" err="1">
                <a:solidFill>
                  <a:srgbClr val="008200"/>
                </a:solidFill>
                <a:effectLst/>
                <a:latin typeface="inter-regular"/>
              </a:rPr>
              <a:t>MouseMotionListener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 to the Frame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      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f.setSize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f.setLayout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f.setVisible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}  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    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mouseDragged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e) </a:t>
            </a: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    Graphics g =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f.getGraphics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algn="just"/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       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g.setColor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Color.ORANGE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// setting the </a:t>
            </a:r>
            <a:r>
              <a:rPr lang="en-IN" sz="1600" b="0" i="0" dirty="0" err="1">
                <a:solidFill>
                  <a:srgbClr val="008200"/>
                </a:solidFill>
                <a:effectLst/>
                <a:latin typeface="inter-regular"/>
              </a:rPr>
              <a:t>color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 of graphics object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       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g.fillOval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(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e.getX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(),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e.getY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(), 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// setting the shape of graphics object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    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 </a:t>
            </a: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    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MouseMotionAdapterExample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03F86A-B87B-BB86-AFA7-14149CBEAAD3}"/>
              </a:ext>
            </a:extLst>
          </p:cNvPr>
          <p:cNvSpPr txBox="1"/>
          <p:nvPr/>
        </p:nvSpPr>
        <p:spPr>
          <a:xfrm>
            <a:off x="8611024" y="3028890"/>
            <a:ext cx="2794153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Output:</a:t>
            </a:r>
            <a:endParaRPr lang="en-IN" sz="20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3A2F2F-E725-C09C-CD58-32D25B8E4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292" y="3670790"/>
            <a:ext cx="3336505" cy="301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26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2339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4822</TotalTime>
  <Words>1560</Words>
  <Application>Microsoft Office PowerPoint</Application>
  <PresentationFormat>Widescreen</PresentationFormat>
  <Paragraphs>288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erdana</vt:lpstr>
      <vt:lpstr>inter-bold</vt:lpstr>
      <vt:lpstr>inter-regular</vt:lpstr>
      <vt:lpstr>Wingdings</vt:lpstr>
      <vt:lpstr>Office Theme</vt:lpstr>
      <vt:lpstr>Topics to be Covered:</vt:lpstr>
      <vt:lpstr>Java MouseListener Interface</vt:lpstr>
      <vt:lpstr>Java MouseListener Interface</vt:lpstr>
      <vt:lpstr>Java MouseListener Interface: Example 01</vt:lpstr>
      <vt:lpstr>Java MouseListener Interface: Example 02</vt:lpstr>
      <vt:lpstr>Java MouseMotionListener Interface</vt:lpstr>
      <vt:lpstr>Java MouseMotionListener Interface</vt:lpstr>
      <vt:lpstr>Java MouseMotionListener Interface: Example 01</vt:lpstr>
      <vt:lpstr>Java WindowListener Interface</vt:lpstr>
      <vt:lpstr>Java WindowListener Interface</vt:lpstr>
      <vt:lpstr>Java WindowListener Interface: Example</vt:lpstr>
      <vt:lpstr>Java Adapter Classes</vt:lpstr>
      <vt:lpstr>Java Adapter Classes</vt:lpstr>
      <vt:lpstr>java.awt.event Adapter classes</vt:lpstr>
      <vt:lpstr>Java MouseAdapter Class: Example</vt:lpstr>
      <vt:lpstr>Java MouseMotionAdapter Class: Example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in JAVA</dc:title>
  <dc:creator>Anil Kumar</dc:creator>
  <cp:lastModifiedBy>Anil Kumar</cp:lastModifiedBy>
  <cp:revision>298</cp:revision>
  <dcterms:created xsi:type="dcterms:W3CDTF">2022-08-21T11:09:16Z</dcterms:created>
  <dcterms:modified xsi:type="dcterms:W3CDTF">2022-11-30T04:28:13Z</dcterms:modified>
</cp:coreProperties>
</file>