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533400"/>
            <a:ext cx="5576668" cy="2868168"/>
          </a:xfrm>
        </p:spPr>
        <p:txBody>
          <a:bodyPr/>
          <a:lstStyle/>
          <a:p>
            <a:r>
              <a:rPr lang="en-US" dirty="0"/>
              <a:t>Introductions to Fundamentals of applied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4343400"/>
            <a:ext cx="5114778" cy="1295400"/>
          </a:xfrm>
        </p:spPr>
        <p:txBody>
          <a:bodyPr/>
          <a:lstStyle/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/>
              <a:t>Dr </a:t>
            </a:r>
            <a:r>
              <a:rPr lang="en-US" dirty="0" err="1"/>
              <a:t>Laxmipriya</a:t>
            </a:r>
            <a:r>
              <a:rPr lang="en-US" dirty="0"/>
              <a:t> </a:t>
            </a:r>
            <a:r>
              <a:rPr lang="en-US" dirty="0" err="1"/>
              <a:t>Parida</a:t>
            </a:r>
            <a:endParaRPr lang="en-US" dirty="0"/>
          </a:p>
          <a:p>
            <a:pPr algn="ctr"/>
            <a:r>
              <a:rPr lang="en-US" dirty="0"/>
              <a:t>Assistant Professor in Mathematics</a:t>
            </a:r>
          </a:p>
        </p:txBody>
      </p:sp>
    </p:spTree>
  </p:cSld>
  <p:clrMapOvr>
    <a:masterClrMapping/>
  </p:clrMapOvr>
  <p:transition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role of statistics in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Statistics is the science of DATA.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It’s deals with collection, presentation, Analysis and used of data to make decision, solve problems and design product and process.</a:t>
            </a:r>
          </a:p>
          <a:p>
            <a:endParaRPr lang="en-US" sz="1800" dirty="0"/>
          </a:p>
          <a:p>
            <a:r>
              <a:rPr lang="en-US" sz="1800" b="1" u="sng" dirty="0"/>
              <a:t>Example:</a:t>
            </a:r>
            <a:r>
              <a:rPr lang="en-US" sz="1800" dirty="0"/>
              <a:t> Hospital Emergency Department</a:t>
            </a:r>
            <a:endParaRPr lang="en-US" sz="1800" b="1" u="sng" dirty="0"/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Indentify the role that statistics can apply in the Engineering problem solving process.</a:t>
            </a:r>
          </a:p>
          <a:p>
            <a:endParaRPr lang="en-US" sz="1800" dirty="0"/>
          </a:p>
          <a:p>
            <a:r>
              <a:rPr lang="en-US" sz="1800" dirty="0"/>
              <a:t>Discuss how variability affects the data collection and problem-solving process.</a:t>
            </a:r>
          </a:p>
          <a:p>
            <a:endParaRPr lang="en-US" sz="1800" dirty="0"/>
          </a:p>
          <a:p>
            <a:r>
              <a:rPr lang="en-US" sz="1800" dirty="0"/>
              <a:t>Explain between enumerative and analytic </a:t>
            </a:r>
            <a:r>
              <a:rPr lang="en-US" sz="1800" dirty="0" smtClean="0"/>
              <a:t>studies.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Discuss the different  method that engineers use to collect the data.</a:t>
            </a:r>
          </a:p>
        </p:txBody>
      </p:sp>
    </p:spTree>
  </p:cSld>
  <p:clrMapOvr>
    <a:masterClrMapping/>
  </p:clrMapOvr>
  <p:transition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Engineering method and statistical thinking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09600" y="1600200"/>
            <a:ext cx="1981200" cy="1219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 a clear description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667000" y="22098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0" y="1752600"/>
            <a:ext cx="12954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Identify the important factor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648200" y="2286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1600" y="1828800"/>
            <a:ext cx="10668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 of refine a model</a:t>
            </a:r>
          </a:p>
        </p:txBody>
      </p:sp>
      <p:cxnSp>
        <p:nvCxnSpPr>
          <p:cNvPr id="21" name="Straight Arrow Connector 20"/>
          <p:cNvCxnSpPr>
            <a:stCxn id="19" idx="2"/>
          </p:cNvCxnSpPr>
          <p:nvPr/>
        </p:nvCxnSpPr>
        <p:spPr>
          <a:xfrm rot="16200000" flipH="1">
            <a:off x="5905500" y="2705100"/>
            <a:ext cx="2286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72200" y="32004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Manipulate the model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rot="5400000">
            <a:off x="6401594" y="4495800"/>
            <a:ext cx="60880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72200" y="4876800"/>
            <a:ext cx="1447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the solution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 flipV="1">
            <a:off x="5486400" y="5638800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124200" y="5334000"/>
            <a:ext cx="2286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Conclusion and recommendations</a:t>
            </a:r>
          </a:p>
        </p:txBody>
      </p:sp>
      <p:cxnSp>
        <p:nvCxnSpPr>
          <p:cNvPr id="33" name="Straight Connector 32"/>
          <p:cNvCxnSpPr/>
          <p:nvPr/>
        </p:nvCxnSpPr>
        <p:spPr>
          <a:xfrm rot="5400000">
            <a:off x="3200400" y="31242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05200" y="3429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038600" y="3429000"/>
            <a:ext cx="1371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Conduct Experiment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5486400" y="3505200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19" idx="2"/>
          </p:cNvCxnSpPr>
          <p:nvPr/>
        </p:nvCxnSpPr>
        <p:spPr>
          <a:xfrm rot="5400000" flipH="1" flipV="1">
            <a:off x="5410200" y="3200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method are used to help us describe and understand variability. </a:t>
            </a:r>
          </a:p>
          <a:p>
            <a:endParaRPr lang="en-US" b="1" u="sng" dirty="0"/>
          </a:p>
          <a:p>
            <a:endParaRPr lang="en-US" b="1" u="sng" dirty="0"/>
          </a:p>
          <a:p>
            <a:r>
              <a:rPr lang="en-US" b="1" u="sng" dirty="0"/>
              <a:t>Example:</a:t>
            </a:r>
            <a:r>
              <a:rPr lang="en-US" dirty="0"/>
              <a:t> Ride bike/</a:t>
            </a:r>
            <a:r>
              <a:rPr lang="en-US" dirty="0" err="1"/>
              <a:t>Veichle</a:t>
            </a:r>
            <a:endParaRPr lang="en-US" b="1" u="sng" dirty="0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Collecting engineering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There are three Basic method to collecting data</a:t>
            </a:r>
          </a:p>
          <a:p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 Retrospective: Study using historical data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800" dirty="0"/>
              <a:t> An observational study</a:t>
            </a:r>
          </a:p>
          <a:p>
            <a:pPr marL="342900" indent="-342900">
              <a:buSzPct val="74000"/>
              <a:buFont typeface="+mj-lt"/>
              <a:buAutoNum type="arabicPeriod" startAt="3"/>
            </a:pPr>
            <a:r>
              <a:rPr lang="en-US" sz="1800" dirty="0"/>
              <a:t> A designed experiments</a:t>
            </a:r>
          </a:p>
        </p:txBody>
      </p:sp>
    </p:spTree>
  </p:cSld>
  <p:clrMapOvr>
    <a:masterClrMapping/>
  </p:clrMapOvr>
  <p:transition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Mechanistic and empirical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Ohm’s law: </a:t>
            </a:r>
            <a:r>
              <a:rPr lang="en-US" dirty="0"/>
              <a:t>I=E/R</a:t>
            </a:r>
          </a:p>
          <a:p>
            <a:r>
              <a:rPr lang="en-US" sz="1800" dirty="0"/>
              <a:t>This type of model as mechanistic model.</a:t>
            </a:r>
          </a:p>
          <a:p>
            <a:r>
              <a:rPr lang="en-US" sz="1800" dirty="0"/>
              <a:t>Because it is built from our underlying knowledge of basic physical mechanism that relate these variable. </a:t>
            </a:r>
          </a:p>
          <a:p>
            <a:r>
              <a:rPr lang="en-US" sz="1800" dirty="0"/>
              <a:t>                       </a:t>
            </a:r>
            <a:r>
              <a:rPr lang="en-US" sz="1800" b="1" dirty="0"/>
              <a:t>I=E/R+</a:t>
            </a:r>
            <a:r>
              <a:rPr lang="el-GR" sz="1800" b="1" dirty="0"/>
              <a:t>ε</a:t>
            </a:r>
            <a:endParaRPr lang="en-US" sz="1800" dirty="0"/>
          </a:p>
          <a:p>
            <a:endParaRPr lang="en-US" sz="1800" b="1" dirty="0"/>
          </a:p>
          <a:p>
            <a:r>
              <a:rPr lang="en-US" sz="1800" b="1" dirty="0" err="1"/>
              <a:t>Mn</a:t>
            </a:r>
            <a:r>
              <a:rPr lang="en-US" sz="1800" b="1" dirty="0"/>
              <a:t>=f(</a:t>
            </a:r>
            <a:r>
              <a:rPr lang="en-US" sz="1800" b="1" dirty="0" err="1"/>
              <a:t>v,c,T</a:t>
            </a:r>
            <a:r>
              <a:rPr lang="en-US" sz="1800" b="1" dirty="0"/>
              <a:t>)=</a:t>
            </a:r>
            <a:r>
              <a:rPr lang="el-GR" sz="1800" b="1" dirty="0"/>
              <a:t>α</a:t>
            </a:r>
            <a:r>
              <a:rPr lang="en-US" sz="1800" b="1" dirty="0"/>
              <a:t>0+</a:t>
            </a:r>
            <a:r>
              <a:rPr lang="el-GR" sz="1800" b="1" dirty="0"/>
              <a:t> α</a:t>
            </a:r>
            <a:r>
              <a:rPr lang="en-US" sz="1800" b="1" dirty="0"/>
              <a:t>1v+</a:t>
            </a:r>
            <a:r>
              <a:rPr lang="el-GR" sz="1800" b="1" dirty="0"/>
              <a:t> α</a:t>
            </a:r>
            <a:r>
              <a:rPr lang="en-US" sz="1800" b="1" dirty="0"/>
              <a:t>2c+</a:t>
            </a:r>
            <a:r>
              <a:rPr lang="el-GR" sz="1800" b="1" dirty="0"/>
              <a:t> α</a:t>
            </a:r>
            <a:r>
              <a:rPr lang="en-US" sz="1800" b="1" dirty="0"/>
              <a:t>3T</a:t>
            </a:r>
          </a:p>
          <a:p>
            <a:endParaRPr lang="en-US" sz="1800" b="1" dirty="0"/>
          </a:p>
          <a:p>
            <a:r>
              <a:rPr lang="en-US" sz="1800" dirty="0"/>
              <a:t>The number average molecular weight </a:t>
            </a:r>
            <a:r>
              <a:rPr lang="en-US" sz="1800" dirty="0" err="1"/>
              <a:t>Mn</a:t>
            </a:r>
            <a:r>
              <a:rPr lang="en-US" sz="1800" dirty="0"/>
              <a:t> of a polymer. </a:t>
            </a:r>
            <a:r>
              <a:rPr lang="en-US" sz="1800" dirty="0" err="1"/>
              <a:t>Mn</a:t>
            </a:r>
            <a:r>
              <a:rPr lang="en-US" sz="1800" dirty="0"/>
              <a:t> is related to the viscosity of the material(v), depends upon the amount of catalyst(c), the temperature(T) in the polymerization reactor w</a:t>
            </a:r>
          </a:p>
          <a:p>
            <a:r>
              <a:rPr lang="en-US" sz="1800" b="1" dirty="0" err="1"/>
              <a:t>Mn</a:t>
            </a:r>
            <a:r>
              <a:rPr lang="en-US" sz="1800" b="1" dirty="0"/>
              <a:t>=f(</a:t>
            </a:r>
            <a:r>
              <a:rPr lang="en-US" sz="1800" b="1" dirty="0" err="1"/>
              <a:t>v,c,T</a:t>
            </a:r>
            <a:r>
              <a:rPr lang="en-US" sz="1800" b="1" dirty="0"/>
              <a:t>)=</a:t>
            </a:r>
            <a:r>
              <a:rPr lang="el-GR" sz="1800" b="1" dirty="0"/>
              <a:t>α</a:t>
            </a:r>
            <a:r>
              <a:rPr lang="en-US" sz="1800" b="1" dirty="0"/>
              <a:t>0+</a:t>
            </a:r>
            <a:r>
              <a:rPr lang="el-GR" sz="1800" b="1" dirty="0"/>
              <a:t> α</a:t>
            </a:r>
            <a:r>
              <a:rPr lang="en-US" sz="1800" b="1" dirty="0"/>
              <a:t>1v+</a:t>
            </a:r>
            <a:r>
              <a:rPr lang="el-GR" sz="1800" b="1" dirty="0"/>
              <a:t> α</a:t>
            </a:r>
            <a:r>
              <a:rPr lang="en-US" sz="1800" b="1" dirty="0"/>
              <a:t>2c+</a:t>
            </a:r>
            <a:r>
              <a:rPr lang="el-GR" sz="1800" b="1" dirty="0"/>
              <a:t> α</a:t>
            </a:r>
            <a:r>
              <a:rPr lang="en-US" sz="1800" b="1" dirty="0"/>
              <a:t>3T+</a:t>
            </a:r>
            <a:r>
              <a:rPr lang="el-GR" sz="1800" b="1" dirty="0"/>
              <a:t> ε</a:t>
            </a:r>
            <a:endParaRPr lang="en-US" sz="1800" b="1" dirty="0"/>
          </a:p>
          <a:p>
            <a:r>
              <a:rPr lang="en-US" sz="1800" dirty="0"/>
              <a:t>The model that we will use to relate molecular weight to the other three variables. This type of model is an Empirical Model. </a:t>
            </a:r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:\Apllied Statistics Eng Math\image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762000"/>
            <a:ext cx="7696200" cy="5181600"/>
          </a:xfrm>
          <a:prstGeom prst="rect">
            <a:avLst/>
          </a:prstGeom>
          <a:noFill/>
        </p:spPr>
      </p:pic>
    </p:spTree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images (1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33400"/>
            <a:ext cx="7467599" cy="5257799"/>
          </a:xfrm>
        </p:spPr>
      </p:pic>
    </p:spTree>
  </p:cSld>
  <p:clrMapOvr>
    <a:masterClrMapping/>
  </p:clrMapOvr>
  <p:transition>
    <p:newsflash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166</TotalTime>
  <Words>297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Trebuchet MS</vt:lpstr>
      <vt:lpstr>Wingdings</vt:lpstr>
      <vt:lpstr>Wingdings 2</vt:lpstr>
      <vt:lpstr>Opulent</vt:lpstr>
      <vt:lpstr>Introductions to Fundamentals of applied statistics</vt:lpstr>
      <vt:lpstr>The role of statistics in Engineering</vt:lpstr>
      <vt:lpstr>Learning objectives</vt:lpstr>
      <vt:lpstr>Engineering method and statistical thinking </vt:lpstr>
      <vt:lpstr>PowerPoint Presentation</vt:lpstr>
      <vt:lpstr>Collecting engineering data</vt:lpstr>
      <vt:lpstr>Mechanistic and empirical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Introductions to Fundamentals applied statistics</dc:title>
  <dc:creator>DELL</dc:creator>
  <cp:lastModifiedBy>staff</cp:lastModifiedBy>
  <cp:revision>21</cp:revision>
  <dcterms:created xsi:type="dcterms:W3CDTF">2006-08-16T00:00:00Z</dcterms:created>
  <dcterms:modified xsi:type="dcterms:W3CDTF">2025-07-07T05:00:12Z</dcterms:modified>
</cp:coreProperties>
</file>