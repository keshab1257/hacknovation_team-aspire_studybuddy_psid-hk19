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5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1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42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6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7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7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1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53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5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0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97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Applied </a:t>
            </a:r>
            <a:r>
              <a:rPr dirty="0" smtClean="0"/>
              <a:t>Statistics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 </a:t>
            </a:r>
            <a:r>
              <a:rPr dirty="0">
                <a:solidFill>
                  <a:srgbClr val="FF0000"/>
                </a:solidFill>
              </a:rPr>
              <a:t>Inductive statistics / Statistical inference</a:t>
            </a:r>
          </a:p>
          <a:p>
            <a:pPr marL="0" indent="0">
              <a:buNone/>
            </a:pPr>
            <a:r>
              <a:rPr dirty="0"/>
              <a:t>• Population: arrangement of objects under study in any statistical investigation</a:t>
            </a:r>
          </a:p>
          <a:p>
            <a:pPr marL="0" indent="0">
              <a:buNone/>
            </a:pPr>
            <a:r>
              <a:rPr dirty="0"/>
              <a:t>• Types of Population: Existential and Hypothetical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Existential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Population </a:t>
            </a:r>
            <a:r>
              <a:rPr dirty="0"/>
              <a:t>consists of concrete </a:t>
            </a:r>
            <a:r>
              <a:rPr dirty="0" smtClean="0"/>
              <a:t>objects </a:t>
            </a:r>
            <a:r>
              <a:rPr dirty="0"/>
              <a:t>Known as Existential Population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Types:</a:t>
            </a:r>
          </a:p>
          <a:p>
            <a:r>
              <a:rPr dirty="0"/>
              <a:t>   </a:t>
            </a:r>
            <a:r>
              <a:rPr dirty="0" smtClean="0"/>
              <a:t>Finite </a:t>
            </a:r>
            <a:r>
              <a:rPr dirty="0"/>
              <a:t>Population</a:t>
            </a:r>
          </a:p>
          <a:p>
            <a:r>
              <a:rPr dirty="0"/>
              <a:t>  </a:t>
            </a:r>
            <a:r>
              <a:rPr dirty="0" smtClean="0"/>
              <a:t> </a:t>
            </a:r>
            <a:r>
              <a:rPr dirty="0"/>
              <a:t>Infinite Population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Hypothetical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Population does not consist of concrete </a:t>
            </a:r>
            <a:r>
              <a:rPr dirty="0" smtClean="0"/>
              <a:t>objects </a:t>
            </a:r>
            <a:r>
              <a:rPr dirty="0"/>
              <a:t>Known as Hypothetical Population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Consists of imaginary 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A finite subset of population selected for investigation</a:t>
            </a:r>
          </a:p>
          <a:p>
            <a:r>
              <a:rPr dirty="0" smtClean="0"/>
              <a:t> </a:t>
            </a:r>
            <a:r>
              <a:rPr dirty="0"/>
              <a:t>The objective: to study properties</a:t>
            </a:r>
          </a:p>
          <a:p>
            <a:r>
              <a:rPr dirty="0" smtClean="0"/>
              <a:t> </a:t>
            </a:r>
            <a:r>
              <a:rPr dirty="0"/>
              <a:t>No. of units in sample = Sample 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Parameters &amp;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Population Parameters: Mean (μ), Variance (σ²), Skewness (β₁), Kurtosis (β₂)</a:t>
            </a:r>
          </a:p>
          <a:p>
            <a:r>
              <a:rPr dirty="0" smtClean="0"/>
              <a:t> </a:t>
            </a:r>
            <a:r>
              <a:rPr dirty="0"/>
              <a:t>Sample Statistics: Mean (x̄), Variance (s²), Skewness (B₁), Kurtosis (B₂)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 </a:t>
            </a:r>
            <a:r>
              <a:rPr dirty="0"/>
              <a:t>= t(x₁, x₂, …, </a:t>
            </a:r>
            <a:r>
              <a:rPr dirty="0" err="1"/>
              <a:t>xn</a:t>
            </a:r>
            <a:r>
              <a:rPr dirty="0"/>
              <a:t>) is an unbiased estimate if:</a:t>
            </a:r>
          </a:p>
          <a:p>
            <a:pPr marL="0" indent="0">
              <a:buNone/>
            </a:pPr>
            <a:r>
              <a:rPr dirty="0"/>
              <a:t>   E(t) = θ  or  E(statistics) = parameter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Example:</a:t>
            </a:r>
          </a:p>
          <a:p>
            <a:r>
              <a:rPr dirty="0"/>
              <a:t>   - E(x̄) = μ</a:t>
            </a:r>
          </a:p>
          <a:p>
            <a:r>
              <a:rPr dirty="0"/>
              <a:t>   - E(s²) = σ²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 smtClean="0"/>
              <a:t>Definition</a:t>
            </a:r>
            <a:r>
              <a:rPr dirty="0"/>
              <a:t>: Distribution of values of a statistic obtained from all possible samples of the same size.</a:t>
            </a:r>
          </a:p>
          <a:p>
            <a:pPr marL="0" indent="0">
              <a:buNone/>
            </a:pPr>
            <a:endParaRPr dirty="0"/>
          </a:p>
          <a:p>
            <a:r>
              <a:rPr dirty="0" smtClean="0"/>
              <a:t> </a:t>
            </a:r>
            <a:r>
              <a:rPr dirty="0"/>
              <a:t>If N = size of population, n = sample size:</a:t>
            </a:r>
          </a:p>
          <a:p>
            <a:r>
              <a:rPr dirty="0"/>
              <a:t>   Number of possible samples = (</a:t>
            </a:r>
            <a:r>
              <a:rPr dirty="0" err="1" smtClean="0"/>
              <a:t>N</a:t>
            </a:r>
            <a:r>
              <a:rPr lang="en-US" dirty="0" err="1" smtClean="0"/>
              <a:t>_c_n</a:t>
            </a:r>
            <a:r>
              <a:rPr dirty="0" smtClean="0"/>
              <a:t>) </a:t>
            </a:r>
            <a:r>
              <a:rPr dirty="0"/>
              <a:t>= N! / [n!(N-n)!]</a:t>
            </a:r>
          </a:p>
          <a:p>
            <a:endParaRPr dirty="0"/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Example: Sample means distribution.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Properties:</a:t>
            </a:r>
          </a:p>
          <a:p>
            <a:pPr marL="0" indent="0">
              <a:buNone/>
            </a:pPr>
            <a:r>
              <a:rPr dirty="0"/>
              <a:t>   - Mean of sampling distribution = μ</a:t>
            </a:r>
          </a:p>
          <a:p>
            <a:pPr marL="0" indent="0">
              <a:buNone/>
            </a:pPr>
            <a:r>
              <a:rPr dirty="0"/>
              <a:t>   - Variance of sampling distribution = σ² / 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Standard Error in Sampling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Formula:</a:t>
            </a:r>
          </a:p>
          <a:p>
            <a:r>
              <a:rPr dirty="0"/>
              <a:t>   SE = √[ Σ (t − t̄)² / n ]</a:t>
            </a:r>
          </a:p>
          <a:p>
            <a:pPr marL="0" indent="0">
              <a:buNone/>
            </a:pPr>
            <a:r>
              <a:rPr dirty="0" smtClean="0"/>
              <a:t>Where </a:t>
            </a:r>
            <a:r>
              <a:rPr dirty="0"/>
              <a:t>t = sample statistic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Applications:</a:t>
            </a:r>
          </a:p>
          <a:p>
            <a:r>
              <a:rPr dirty="0"/>
              <a:t>   - Hypothesis testing</a:t>
            </a:r>
          </a:p>
          <a:p>
            <a:r>
              <a:rPr dirty="0"/>
              <a:t>   - Construction of confidence intervals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8" t="3344" r="-1287" b="41521"/>
          <a:stretch/>
        </p:blipFill>
        <p:spPr>
          <a:xfrm>
            <a:off x="900545" y="471055"/>
            <a:ext cx="7356763" cy="5458690"/>
          </a:xfrm>
        </p:spPr>
      </p:pic>
    </p:spTree>
    <p:extLst>
      <p:ext uri="{BB962C8B-B14F-4D97-AF65-F5344CB8AC3E}">
        <p14:creationId xmlns:p14="http://schemas.microsoft.com/office/powerpoint/2010/main" val="4149181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Two </a:t>
            </a:r>
            <a:r>
              <a:rPr lang="en-US" b="1" dirty="0"/>
              <a:t>Main Types: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1. Probability Sampling</a:t>
            </a:r>
            <a:endParaRPr lang="en-US" dirty="0"/>
          </a:p>
          <a:p>
            <a:r>
              <a:rPr lang="en-US" dirty="0"/>
              <a:t>Every member of the population has a known, non-zero chance of being selected.</a:t>
            </a:r>
          </a:p>
          <a:p>
            <a:pPr marL="0" indent="0">
              <a:buNone/>
            </a:pPr>
            <a:r>
              <a:rPr lang="en-US" b="1" dirty="0"/>
              <a:t>2. Non-Probability Sampling</a:t>
            </a:r>
            <a:endParaRPr lang="en-US" dirty="0"/>
          </a:p>
          <a:p>
            <a:r>
              <a:rPr lang="en-US" dirty="0"/>
              <a:t>Some members have no chance of selection.</a:t>
            </a:r>
          </a:p>
          <a:p>
            <a:r>
              <a:rPr lang="en-US" dirty="0"/>
              <a:t>Selection depends on the researcher’s choice.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54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Probability Sampling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1</a:t>
            </a:r>
            <a:r>
              <a:rPr lang="en-US" b="1" dirty="0"/>
              <a:t>. Simple Random Sampling</a:t>
            </a:r>
            <a:endParaRPr lang="en-US" dirty="0"/>
          </a:p>
          <a:p>
            <a:r>
              <a:rPr lang="en-US" dirty="0"/>
              <a:t>Each member has an equal chance of selection.</a:t>
            </a:r>
          </a:p>
          <a:p>
            <a:r>
              <a:rPr lang="en-US" dirty="0"/>
              <a:t>Example: Lottery method.</a:t>
            </a:r>
          </a:p>
          <a:p>
            <a:pPr marL="0" indent="0">
              <a:buNone/>
            </a:pPr>
            <a:r>
              <a:rPr lang="en-US" b="1" dirty="0"/>
              <a:t>2. Stratified Sampling</a:t>
            </a:r>
            <a:endParaRPr lang="en-US" dirty="0"/>
          </a:p>
          <a:p>
            <a:r>
              <a:rPr lang="en-US" dirty="0"/>
              <a:t>Population is divided into homogeneous groups (strata).</a:t>
            </a:r>
          </a:p>
          <a:p>
            <a:r>
              <a:rPr lang="en-US" dirty="0"/>
              <a:t>Random samples taken from each stratum.</a:t>
            </a:r>
          </a:p>
          <a:p>
            <a:pPr marL="0" indent="0">
              <a:buNone/>
            </a:pPr>
            <a:r>
              <a:rPr lang="en-US" b="1" dirty="0"/>
              <a:t>3. Systematic Sampling</a:t>
            </a:r>
            <a:endParaRPr lang="en-US" dirty="0"/>
          </a:p>
          <a:p>
            <a:r>
              <a:rPr lang="en-US" dirty="0"/>
              <a:t>Every k-</a:t>
            </a:r>
            <a:r>
              <a:rPr lang="en-US" dirty="0" err="1"/>
              <a:t>th</a:t>
            </a:r>
            <a:r>
              <a:rPr lang="en-US" dirty="0"/>
              <a:t> element is chosen after a random start.</a:t>
            </a:r>
          </a:p>
          <a:p>
            <a:r>
              <a:rPr lang="en-US" dirty="0"/>
              <a:t>Sampling Interval: K = N / n.</a:t>
            </a:r>
          </a:p>
          <a:p>
            <a:pPr marL="0" indent="0">
              <a:buNone/>
            </a:pPr>
            <a:r>
              <a:rPr lang="en-US" b="1" dirty="0"/>
              <a:t>4. Cluster Sampling</a:t>
            </a:r>
            <a:endParaRPr lang="en-US" dirty="0"/>
          </a:p>
          <a:p>
            <a:r>
              <a:rPr lang="en-US" dirty="0"/>
              <a:t>Population divided into clusters.</a:t>
            </a:r>
          </a:p>
          <a:p>
            <a:r>
              <a:rPr lang="en-US" dirty="0"/>
              <a:t>Some clusters chosen randomly.</a:t>
            </a:r>
          </a:p>
          <a:p>
            <a:r>
              <a:rPr lang="en-US" dirty="0"/>
              <a:t>All members in selected clusters are studied.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43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Non-Probability Sampling Techniques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/>
              <a:t>1</a:t>
            </a:r>
            <a:r>
              <a:rPr lang="en-IN" b="1" dirty="0"/>
              <a:t>. Convenience Sampling</a:t>
            </a:r>
            <a:endParaRPr lang="en-IN" dirty="0"/>
          </a:p>
          <a:p>
            <a:r>
              <a:rPr lang="en-IN" dirty="0"/>
              <a:t>Selecting the most accessible population members.</a:t>
            </a:r>
          </a:p>
          <a:p>
            <a:pPr marL="0" indent="0">
              <a:buNone/>
            </a:pPr>
            <a:r>
              <a:rPr lang="en-IN" b="1" dirty="0"/>
              <a:t>2. Judgment Sampling</a:t>
            </a:r>
            <a:endParaRPr lang="en-IN" dirty="0"/>
          </a:p>
          <a:p>
            <a:r>
              <a:rPr lang="en-IN" dirty="0"/>
              <a:t>Researcher selects members based on expertise or judgment.</a:t>
            </a:r>
          </a:p>
          <a:p>
            <a:pPr marL="0" indent="0">
              <a:buNone/>
            </a:pPr>
            <a:r>
              <a:rPr lang="en-IN" b="1" dirty="0"/>
              <a:t>3. Quota Sampling</a:t>
            </a:r>
            <a:endParaRPr lang="en-IN" dirty="0"/>
          </a:p>
          <a:p>
            <a:r>
              <a:rPr lang="en-IN" dirty="0"/>
              <a:t>Data collected from groups to fill a fixed quota.</a:t>
            </a:r>
          </a:p>
          <a:p>
            <a:pPr marL="0" indent="0">
              <a:buNone/>
            </a:pPr>
            <a:r>
              <a:rPr lang="en-IN" b="1" dirty="0"/>
              <a:t>4. Snowball Sampling</a:t>
            </a:r>
            <a:endParaRPr lang="en-IN" dirty="0"/>
          </a:p>
          <a:p>
            <a:r>
              <a:rPr lang="en-IN" dirty="0"/>
              <a:t>Existing participants recruit further participants.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5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Theory of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• </a:t>
            </a:r>
            <a:r>
              <a:rPr lang="en-US" b="1" dirty="0"/>
              <a:t>Purpose: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Estimation of population parameters (mean, variance, proportion, etc.) using statistics from samples.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Types of Estimation: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Point Estimation</a:t>
            </a:r>
            <a:endParaRPr lang="en-US" dirty="0"/>
          </a:p>
          <a:p>
            <a:r>
              <a:rPr lang="en-US" dirty="0"/>
              <a:t>A single value used as an estimate of the parameter.</a:t>
            </a:r>
          </a:p>
          <a:p>
            <a:pPr marL="0" indent="0">
              <a:buNone/>
            </a:pPr>
            <a:r>
              <a:rPr lang="en-US" b="1" dirty="0"/>
              <a:t>Interval Estimation</a:t>
            </a:r>
            <a:endParaRPr lang="en-US" dirty="0"/>
          </a:p>
          <a:p>
            <a:r>
              <a:rPr lang="en-US" dirty="0"/>
              <a:t>A range of values within which the parameter is expected to lie.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609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Point Estimation</a:t>
            </a:r>
            <a:r>
              <a:rPr lang="en-US" dirty="0"/>
              <a:t>: A </a:t>
            </a:r>
            <a:r>
              <a:rPr lang="en-US" b="1" dirty="0"/>
              <a:t>single numerical value</a:t>
            </a:r>
            <a:r>
              <a:rPr lang="en-US" dirty="0"/>
              <a:t> calculated from sample data that serves as the best estimate of a population parameter</a:t>
            </a:r>
            <a:r>
              <a:rPr lang="en-US" dirty="0" smtClean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To estimate the population mean (μ), we may use the </a:t>
            </a:r>
            <a:r>
              <a:rPr lang="en-US" b="1" dirty="0"/>
              <a:t>sample mean (x̄)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662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Properties of a Good Estimator</a:t>
                </a:r>
              </a:p>
              <a:p>
                <a:r>
                  <a:rPr lang="en-US" b="1" dirty="0"/>
                  <a:t>Unbiasedness</a:t>
                </a:r>
                <a:endParaRPr lang="en-US" dirty="0"/>
              </a:p>
              <a:p>
                <a:pPr lvl="1"/>
                <a:r>
                  <a:rPr lang="en-US" dirty="0"/>
                  <a:t>An </a:t>
                </a:r>
                <a:r>
                  <a:rPr lang="en-US" dirty="0" smtClean="0"/>
                  <a:t>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 smtClean="0"/>
                  <a:t>  is </a:t>
                </a:r>
                <a:r>
                  <a:rPr lang="en-US" dirty="0"/>
                  <a:t>unbiased if</a:t>
                </a:r>
              </a:p>
              <a:p>
                <a:pPr marL="128016" lvl="1" indent="0">
                  <a:buNone/>
                </a:pPr>
                <a:r>
                  <a:rPr lang="en-US" dirty="0" smtClean="0"/>
                  <a:t>     E(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 smtClean="0"/>
                  <a:t>)=θ</a:t>
                </a:r>
                <a:endParaRPr lang="en-US" dirty="0"/>
              </a:p>
              <a:p>
                <a:pPr lvl="1"/>
                <a:r>
                  <a:rPr lang="en-US" dirty="0"/>
                  <a:t>Example: Sample mean is an unbiased estimator of population mean.</a:t>
                </a:r>
              </a:p>
              <a:p>
                <a:r>
                  <a:rPr lang="en-US" b="1" dirty="0"/>
                  <a:t>Consistency</a:t>
                </a:r>
                <a:endParaRPr lang="en-US" dirty="0"/>
              </a:p>
              <a:p>
                <a:pPr lvl="1"/>
                <a:r>
                  <a:rPr lang="en-US" dirty="0"/>
                  <a:t>As sample size increases, the estimator converges to the true parameter.</a:t>
                </a:r>
              </a:p>
              <a:p>
                <a:r>
                  <a:rPr lang="en-US" b="1" dirty="0"/>
                  <a:t>Efficiency</a:t>
                </a:r>
                <a:endParaRPr lang="en-US" dirty="0"/>
              </a:p>
              <a:p>
                <a:pPr lvl="1"/>
                <a:r>
                  <a:rPr lang="en-US" dirty="0"/>
                  <a:t>Among unbiased estimators, the one with the </a:t>
                </a:r>
                <a:r>
                  <a:rPr lang="en-US" b="1" dirty="0"/>
                  <a:t>smallest variance</a:t>
                </a:r>
                <a:r>
                  <a:rPr lang="en-US" dirty="0"/>
                  <a:t> is more efficient.</a:t>
                </a:r>
              </a:p>
              <a:p>
                <a:r>
                  <a:rPr lang="en-US" b="1" dirty="0"/>
                  <a:t>Sufficiency</a:t>
                </a:r>
                <a:endParaRPr lang="en-US" dirty="0"/>
              </a:p>
              <a:p>
                <a:pPr lvl="1"/>
                <a:r>
                  <a:rPr lang="en-US" dirty="0"/>
                  <a:t>An estimator is sufficient if it uses </a:t>
                </a:r>
                <a:r>
                  <a:rPr lang="en-US" b="1" dirty="0"/>
                  <a:t>all the information</a:t>
                </a:r>
                <a:r>
                  <a:rPr lang="en-US" dirty="0"/>
                  <a:t> in the sample about the parameter.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1" t="-21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691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Unbiasedness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An estimate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 smtClean="0"/>
                  <a:t> each said to be unbiased </a:t>
                </a:r>
                <a:r>
                  <a:rPr lang="en-IN" dirty="0" err="1" smtClean="0"/>
                  <a:t>estmate</a:t>
                </a:r>
                <a:r>
                  <a:rPr lang="en-IN" dirty="0" smtClean="0"/>
                  <a:t> of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 smtClean="0"/>
                  <a:t> if E=expectation estimate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 smtClean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dirty="0" smtClean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dirty="0"/>
                  <a:t>then T is said to be positively biased.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dirty="0"/>
                  <a:t>then T is said to be </a:t>
                </a:r>
                <a:r>
                  <a:rPr lang="en-IN" dirty="0" smtClean="0"/>
                  <a:t>negatively </a:t>
                </a:r>
                <a:r>
                  <a:rPr lang="en-IN" dirty="0"/>
                  <a:t>biased. </a:t>
                </a:r>
                <a:endParaRPr lang="en-IN" dirty="0" smtClean="0"/>
              </a:p>
              <a:p>
                <a:r>
                  <a:rPr lang="en-US" dirty="0" smtClean="0"/>
                  <a:t>Question1.</a:t>
                </a:r>
              </a:p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dirty="0" smtClean="0"/>
                  <a:t> when the data are unbiased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dirty="0" smtClean="0"/>
                  <a:t>here t is unbiased estimate then find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endParaRPr lang="en-IN" dirty="0"/>
              </a:p>
              <a:p>
                <a:r>
                  <a:rPr lang="en-US" dirty="0"/>
                  <a:t>Question1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 is a random sample from a normal population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smtClean="0"/>
                  <a:t> show that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IN" dirty="0" smtClean="0"/>
                  <a:t>is an unbiased </a:t>
                </a:r>
                <a:r>
                  <a:rPr lang="en-IN" dirty="0"/>
                  <a:t>data </a:t>
                </a:r>
                <a:r>
                  <a:rPr lang="en-IN" dirty="0" smtClean="0"/>
                  <a:t>estimate </a:t>
                </a:r>
                <a:r>
                  <a:rPr lang="en-IN" dirty="0" smtClean="0"/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dirty="0" smtClean="0"/>
                  <a:t> 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1" t="-2121" r="-1338" b="-3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44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Consistency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 statistics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 smtClean="0"/>
                  <a:t> is a consistent estimate of parameter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 smtClean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 smtClean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IN" dirty="0" smtClean="0"/>
                  <a:t> and variance </a:t>
                </a:r>
                <a:r>
                  <a:rPr lang="en-IN" dirty="0" err="1" smtClean="0"/>
                  <a:t>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dirty="0" smtClean="0"/>
                  <a:t>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IN" dirty="0" smtClean="0"/>
                  <a:t>.</a:t>
                </a:r>
              </a:p>
              <a:p>
                <a:r>
                  <a:rPr lang="en-IN" dirty="0" smtClean="0"/>
                  <a:t>Question 1.</a:t>
                </a:r>
              </a:p>
              <a:p>
                <a:r>
                  <a:rPr lang="en-IN" dirty="0" smtClean="0"/>
                  <a:t>Show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dirty="0" smtClean="0"/>
                  <a:t> normal distribution the sample mean is consistent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dirty="0" smtClean="0"/>
                  <a:t>.</a:t>
                </a:r>
              </a:p>
              <a:p>
                <a:r>
                  <a:rPr lang="en-IN" dirty="0"/>
                  <a:t>Question </a:t>
                </a:r>
                <a:r>
                  <a:rPr lang="en-IN" dirty="0" smtClean="0"/>
                  <a:t>2.</a:t>
                </a:r>
                <a:endParaRPr lang="en-IN" dirty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be </a:t>
                </a:r>
                <a:r>
                  <a:rPr lang="en-IN" dirty="0"/>
                  <a:t>consistent estimate </a:t>
                </a:r>
                <a:r>
                  <a:rPr lang="en-IN" dirty="0" smtClean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respectively. 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1" t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068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Efficiency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If there exists more than two consistent estimate the parameter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 smtClean="0"/>
                  <a:t> of the corresponding class of all such possible estimates we can choose the sampling variance is minimum, such an estimate is known as efficient pointwise estimate.  </a:t>
                </a:r>
              </a:p>
              <a:p>
                <a:r>
                  <a:rPr lang="en-US" dirty="0" smtClean="0"/>
                  <a:t>- If t is the most efficient estimate of a parameter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dirty="0" smtClean="0"/>
                  <a:t> with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 smtClean="0"/>
                  <a:t>is any other estimate with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dirty="0" smtClean="0"/>
                  <a:t> then efficiency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IN" dirty="0" smtClean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 smtClean="0"/>
                  <a:t> is defined as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en-IN" dirty="0" smtClean="0"/>
                  <a:t>.</a:t>
                </a:r>
              </a:p>
              <a:p>
                <a:r>
                  <a:rPr lang="en-IN" dirty="0"/>
                  <a:t>Question 1.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51" t="-1515" r="-1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2829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272</TotalTime>
  <Words>611</Words>
  <Application>Microsoft Office PowerPoint</Application>
  <PresentationFormat>On-screen Show (4:3)</PresentationFormat>
  <Paragraphs>111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Cambria Math</vt:lpstr>
      <vt:lpstr>Tw Cen MT</vt:lpstr>
      <vt:lpstr>Tw Cen MT Condensed</vt:lpstr>
      <vt:lpstr>Wingdings 3</vt:lpstr>
      <vt:lpstr>Integral</vt:lpstr>
      <vt:lpstr>Sampling</vt:lpstr>
      <vt:lpstr>Introduction</vt:lpstr>
      <vt:lpstr>Existential Population</vt:lpstr>
      <vt:lpstr>Hypothetical Population</vt:lpstr>
      <vt:lpstr>Sampling</vt:lpstr>
      <vt:lpstr>Parameters &amp; Statistics</vt:lpstr>
      <vt:lpstr>Estimation</vt:lpstr>
      <vt:lpstr>Sampling Distribution</vt:lpstr>
      <vt:lpstr>Standard Error in Sampling Distribution</vt:lpstr>
      <vt:lpstr>PowerPoint Presentation</vt:lpstr>
      <vt:lpstr>Types of Sampling</vt:lpstr>
      <vt:lpstr>Probability Sampling Techniques</vt:lpstr>
      <vt:lpstr>Non-Probability Sampling Techniques </vt:lpstr>
      <vt:lpstr>Theory of Estimation</vt:lpstr>
      <vt:lpstr>PowerPoint Presentation</vt:lpstr>
      <vt:lpstr>PowerPoint Presentation</vt:lpstr>
      <vt:lpstr>Unbiasedness </vt:lpstr>
      <vt:lpstr>Consistency </vt:lpstr>
      <vt:lpstr>Efficiency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</dc:title>
  <dc:subject/>
  <dc:creator/>
  <cp:keywords/>
  <dc:description>generated using python-pptx</dc:description>
  <cp:lastModifiedBy>staff</cp:lastModifiedBy>
  <cp:revision>20</cp:revision>
  <dcterms:created xsi:type="dcterms:W3CDTF">2013-01-27T09:14:16Z</dcterms:created>
  <dcterms:modified xsi:type="dcterms:W3CDTF">2025-09-16T12:16:07Z</dcterms:modified>
  <cp:category/>
</cp:coreProperties>
</file>