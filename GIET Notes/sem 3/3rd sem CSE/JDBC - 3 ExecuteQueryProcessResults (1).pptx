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4" r:id="rId25"/>
    <p:sldId id="285" r:id="rId26"/>
    <p:sldId id="286" r:id="rId27"/>
    <p:sldId id="287" r:id="rId28"/>
    <p:sldId id="288" r:id="rId29"/>
    <p:sldId id="289" r:id="rId30"/>
    <p:sldId id="292" r:id="rId3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8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heavy">
                <a:solidFill>
                  <a:srgbClr val="0D35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heavy">
                <a:solidFill>
                  <a:srgbClr val="0D35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0960"/>
          </a:xfrm>
          <a:custGeom>
            <a:avLst/>
            <a:gdLst/>
            <a:ahLst/>
            <a:cxnLst/>
            <a:rect l="l" t="t" r="r" b="b"/>
            <a:pathLst>
              <a:path w="9144000" h="5140960">
                <a:moveTo>
                  <a:pt x="9144000" y="0"/>
                </a:moveTo>
                <a:lnTo>
                  <a:pt x="0" y="0"/>
                </a:lnTo>
                <a:lnTo>
                  <a:pt x="0" y="5140960"/>
                </a:lnTo>
                <a:lnTo>
                  <a:pt x="9144000" y="514096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heavy">
                <a:solidFill>
                  <a:srgbClr val="0D35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0657" y="73660"/>
            <a:ext cx="2852420" cy="42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heavy">
                <a:solidFill>
                  <a:srgbClr val="0D356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3675" y="1404381"/>
            <a:ext cx="5353050" cy="1664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52893" y="4984224"/>
            <a:ext cx="518159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©</a:t>
            </a:r>
            <a:r>
              <a:rPr spc="-15" dirty="0"/>
              <a:t> </a:t>
            </a:r>
            <a:r>
              <a:rPr spc="-45" dirty="0"/>
              <a:t>201</a:t>
            </a:r>
            <a:r>
              <a:rPr spc="-5" dirty="0"/>
              <a:t>7</a:t>
            </a:r>
            <a:r>
              <a:rPr dirty="0"/>
              <a:t> </a:t>
            </a:r>
            <a:r>
              <a:rPr spc="-80" dirty="0"/>
              <a:t> </a:t>
            </a:r>
            <a:r>
              <a:rPr spc="-60" dirty="0"/>
              <a:t>W</a:t>
            </a:r>
            <a:r>
              <a:rPr spc="10" dirty="0"/>
              <a:t>i</a:t>
            </a:r>
            <a:r>
              <a:rPr spc="-45" dirty="0"/>
              <a:t>p</a:t>
            </a:r>
            <a:r>
              <a:rPr spc="20" dirty="0"/>
              <a:t>r</a:t>
            </a:r>
            <a:r>
              <a:rPr spc="-5" dirty="0"/>
              <a:t>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14521" y="4995316"/>
            <a:ext cx="1315085" cy="12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pc="10" dirty="0"/>
              <a:t>Sen</a:t>
            </a:r>
            <a:r>
              <a:rPr spc="45" dirty="0"/>
              <a:t>s</a:t>
            </a:r>
            <a:r>
              <a:rPr dirty="0"/>
              <a:t>i</a:t>
            </a:r>
            <a:r>
              <a:rPr spc="40" dirty="0"/>
              <a:t>t</a:t>
            </a:r>
            <a:r>
              <a:rPr dirty="0"/>
              <a:t>i</a:t>
            </a:r>
            <a:r>
              <a:rPr spc="40" dirty="0"/>
              <a:t>v</a:t>
            </a:r>
            <a:r>
              <a:rPr dirty="0"/>
              <a:t>i</a:t>
            </a:r>
            <a:r>
              <a:rPr spc="-40" dirty="0"/>
              <a:t>t</a:t>
            </a:r>
            <a:r>
              <a:rPr spc="45" dirty="0"/>
              <a:t>y</a:t>
            </a:r>
            <a:r>
              <a:rPr spc="5" dirty="0"/>
              <a:t>:</a:t>
            </a:r>
            <a:r>
              <a:rPr dirty="0"/>
              <a:t> </a:t>
            </a:r>
            <a:r>
              <a:rPr spc="40" dirty="0"/>
              <a:t>I</a:t>
            </a:r>
            <a:r>
              <a:rPr spc="10" dirty="0"/>
              <a:t>n</a:t>
            </a:r>
            <a:r>
              <a:rPr spc="-40" dirty="0"/>
              <a:t>t</a:t>
            </a:r>
            <a:r>
              <a:rPr spc="5" dirty="0"/>
              <a:t>ernal</a:t>
            </a:r>
            <a:r>
              <a:rPr spc="-120" dirty="0"/>
              <a:t> </a:t>
            </a:r>
            <a:r>
              <a:rPr spc="10" dirty="0"/>
              <a:t>&amp;</a:t>
            </a:r>
            <a:r>
              <a:rPr spc="-35" dirty="0"/>
              <a:t> </a:t>
            </a:r>
            <a:r>
              <a:rPr spc="45" dirty="0"/>
              <a:t>R</a:t>
            </a:r>
            <a:r>
              <a:rPr spc="10" dirty="0"/>
              <a:t>e</a:t>
            </a:r>
            <a:r>
              <a:rPr spc="40" dirty="0"/>
              <a:t>s</a:t>
            </a:r>
            <a:r>
              <a:rPr spc="-40" dirty="0"/>
              <a:t>t</a:t>
            </a:r>
            <a:r>
              <a:rPr spc="5" dirty="0"/>
              <a:t>ri</a:t>
            </a:r>
            <a:r>
              <a:rPr spc="-35" dirty="0"/>
              <a:t>c</a:t>
            </a:r>
            <a:r>
              <a:rPr spc="40" dirty="0"/>
              <a:t>t</a:t>
            </a:r>
            <a:r>
              <a:rPr spc="10" dirty="0"/>
              <a:t>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6416" y="4983876"/>
            <a:ext cx="15811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‹#›</a:t>
            </a:fld>
            <a:endParaRPr spc="-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24400" y="1809750"/>
            <a:ext cx="3949065" cy="103695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955164">
              <a:lnSpc>
                <a:spcPct val="100000"/>
              </a:lnSpc>
              <a:spcBef>
                <a:spcPts val="1145"/>
              </a:spcBef>
            </a:pPr>
            <a:r>
              <a:rPr sz="3450" u="sng" spc="-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JDBC</a:t>
            </a:r>
            <a:endParaRPr sz="3450" u="sng" dirty="0"/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850" b="0" u="none" spc="-30" dirty="0">
                <a:solidFill>
                  <a:srgbClr val="000000"/>
                </a:solidFill>
                <a:latin typeface="Arial MT"/>
                <a:cs typeface="Arial MT"/>
              </a:rPr>
              <a:t>Executing</a:t>
            </a:r>
            <a:r>
              <a:rPr sz="1850" b="0" u="none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50" b="0" u="none" spc="-15" dirty="0">
                <a:solidFill>
                  <a:srgbClr val="000000"/>
                </a:solidFill>
                <a:latin typeface="Arial MT"/>
                <a:cs typeface="Arial MT"/>
              </a:rPr>
              <a:t>Query</a:t>
            </a:r>
            <a:r>
              <a:rPr sz="1850" b="0" u="none" spc="-1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50" b="0" u="none" spc="-5" dirty="0">
                <a:solidFill>
                  <a:srgbClr val="000000"/>
                </a:solidFill>
                <a:latin typeface="Arial MT"/>
                <a:cs typeface="Arial MT"/>
              </a:rPr>
              <a:t>&amp;</a:t>
            </a:r>
            <a:r>
              <a:rPr sz="1850" b="0" u="none" spc="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50" b="0" u="none" spc="-10" dirty="0">
                <a:solidFill>
                  <a:srgbClr val="000000"/>
                </a:solidFill>
                <a:latin typeface="Arial MT"/>
                <a:cs typeface="Arial MT"/>
              </a:rPr>
              <a:t>Processing</a:t>
            </a:r>
            <a:r>
              <a:rPr sz="1850" b="0" u="none" spc="-25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1850" b="0" u="none" spc="-25" dirty="0">
                <a:solidFill>
                  <a:srgbClr val="000000"/>
                </a:solidFill>
                <a:latin typeface="Arial MT"/>
                <a:cs typeface="Arial MT"/>
              </a:rPr>
              <a:t>Results</a:t>
            </a:r>
            <a:endParaRPr sz="185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36735" y="4983876"/>
            <a:ext cx="121920" cy="11620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z="650" spc="-10" dirty="0">
                <a:solidFill>
                  <a:srgbClr val="4D4E5C"/>
                </a:solidFill>
                <a:latin typeface="Arial MT"/>
                <a:cs typeface="Arial MT"/>
              </a:rPr>
              <a:t>1</a:t>
            </a:fld>
            <a:endParaRPr sz="650">
              <a:latin typeface="Arial MT"/>
              <a:cs typeface="Arial MT"/>
            </a:endParaRPr>
          </a:p>
        </p:txBody>
      </p:sp>
      <p:pic>
        <p:nvPicPr>
          <p:cNvPr id="11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72855" y="7226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1707514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Objectives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843978"/>
            <a:ext cx="4832985" cy="163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spc="-6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40" dirty="0">
                <a:latin typeface="Times New Roman"/>
                <a:cs typeface="Times New Roman"/>
              </a:rPr>
              <a:t> 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30" dirty="0">
                <a:latin typeface="Times New Roman"/>
                <a:cs typeface="Times New Roman"/>
              </a:rPr>
              <a:t>odu</a:t>
            </a:r>
            <a:r>
              <a:rPr sz="1850" spc="-35" dirty="0">
                <a:latin typeface="Times New Roman"/>
                <a:cs typeface="Times New Roman"/>
              </a:rPr>
              <a:t>l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,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y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u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w</a:t>
            </a:r>
            <a:r>
              <a:rPr sz="1850" spc="-40" dirty="0">
                <a:latin typeface="Times New Roman"/>
                <a:cs typeface="Times New Roman"/>
              </a:rPr>
              <a:t>il</a:t>
            </a:r>
            <a:r>
              <a:rPr sz="1850" spc="-5" dirty="0">
                <a:latin typeface="Times New Roman"/>
                <a:cs typeface="Times New Roman"/>
              </a:rPr>
              <a:t>l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30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buClr>
                <a:srgbClr val="00AFEF"/>
              </a:buClr>
              <a:buFont typeface="Arial MT"/>
              <a:buChar char="–"/>
              <a:tabLst>
                <a:tab pos="754380" algn="l"/>
                <a:tab pos="755015" algn="l"/>
              </a:tabLst>
            </a:pPr>
            <a:r>
              <a:rPr sz="1850" spc="-35" dirty="0">
                <a:latin typeface="Times New Roman"/>
                <a:cs typeface="Times New Roman"/>
              </a:rPr>
              <a:t>C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20" dirty="0">
                <a:latin typeface="Times New Roman"/>
                <a:cs typeface="Times New Roman"/>
              </a:rPr>
              <a:t>ea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0" dirty="0">
                <a:latin typeface="Times New Roman"/>
                <a:cs typeface="Times New Roman"/>
              </a:rPr>
              <a:t>x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qu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y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35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g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J</a:t>
            </a:r>
            <a:r>
              <a:rPr sz="1850" spc="-55" dirty="0">
                <a:latin typeface="Times New Roman"/>
                <a:cs typeface="Times New Roman"/>
              </a:rPr>
              <a:t>D</a:t>
            </a:r>
            <a:r>
              <a:rPr sz="1850" spc="-114" dirty="0">
                <a:latin typeface="Times New Roman"/>
                <a:cs typeface="Times New Roman"/>
              </a:rPr>
              <a:t>B</a:t>
            </a:r>
            <a:r>
              <a:rPr sz="1850" spc="-5" dirty="0">
                <a:latin typeface="Times New Roman"/>
                <a:cs typeface="Times New Roman"/>
              </a:rPr>
              <a:t>C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A</a:t>
            </a:r>
            <a:r>
              <a:rPr sz="1850" spc="10" dirty="0">
                <a:latin typeface="Times New Roman"/>
                <a:cs typeface="Times New Roman"/>
              </a:rPr>
              <a:t>P</a:t>
            </a:r>
            <a:r>
              <a:rPr sz="1850" spc="-5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AFEF"/>
              </a:buClr>
              <a:buFont typeface="Arial MT"/>
              <a:buChar char="–"/>
            </a:pPr>
            <a:endParaRPr sz="2850">
              <a:latin typeface="Times New Roman"/>
              <a:cs typeface="Times New Roman"/>
            </a:endParaRPr>
          </a:p>
          <a:p>
            <a:pPr marL="755015" indent="-285115">
              <a:lnSpc>
                <a:spcPct val="100000"/>
              </a:lnSpc>
              <a:buClr>
                <a:srgbClr val="00AFEF"/>
              </a:buClr>
              <a:buFont typeface="Arial MT"/>
              <a:buChar char="–"/>
              <a:tabLst>
                <a:tab pos="754380" algn="l"/>
                <a:tab pos="755015" algn="l"/>
              </a:tabLst>
            </a:pPr>
            <a:r>
              <a:rPr sz="1850" spc="10" dirty="0">
                <a:latin typeface="Times New Roman"/>
                <a:cs typeface="Times New Roman"/>
              </a:rPr>
              <a:t>P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20" dirty="0">
                <a:latin typeface="Times New Roman"/>
                <a:cs typeface="Times New Roman"/>
              </a:rPr>
              <a:t>ce</a:t>
            </a:r>
            <a:r>
              <a:rPr sz="1850" spc="-5" dirty="0">
                <a:latin typeface="Times New Roman"/>
                <a:cs typeface="Times New Roman"/>
              </a:rPr>
              <a:t>ss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5" dirty="0">
                <a:latin typeface="Times New Roman"/>
                <a:cs typeface="Times New Roman"/>
              </a:rPr>
              <a:t>y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se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8731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14248"/>
            <a:ext cx="25215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15" dirty="0"/>
              <a:t>Stage</a:t>
            </a:r>
            <a:r>
              <a:rPr sz="2800" u="sng" spc="20" dirty="0"/>
              <a:t> </a:t>
            </a:r>
            <a:r>
              <a:rPr sz="2800" u="sng" spc="-20" dirty="0"/>
              <a:t>2:</a:t>
            </a:r>
            <a:r>
              <a:rPr sz="2800" u="sng" spc="10" dirty="0"/>
              <a:t> </a:t>
            </a:r>
            <a:r>
              <a:rPr sz="2800" u="sng" spc="-30" dirty="0"/>
              <a:t>Query</a:t>
            </a:r>
            <a:endParaRPr sz="2800" u="sng" dirty="0"/>
          </a:p>
        </p:txBody>
      </p:sp>
      <p:grpSp>
        <p:nvGrpSpPr>
          <p:cNvPr id="3" name="object 3"/>
          <p:cNvGrpSpPr/>
          <p:nvPr/>
        </p:nvGrpSpPr>
        <p:grpSpPr>
          <a:xfrm>
            <a:off x="1981200" y="1691639"/>
            <a:ext cx="1544320" cy="2768600"/>
            <a:chOff x="1981200" y="1691639"/>
            <a:chExt cx="1544320" cy="2768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1061" y="1727121"/>
              <a:ext cx="160901" cy="4032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82240" y="169163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40"/>
                  </a:moveTo>
                  <a:lnTo>
                    <a:pt x="76200" y="396240"/>
                  </a:lnTo>
                  <a:lnTo>
                    <a:pt x="121919" y="243840"/>
                  </a:lnTo>
                  <a:lnTo>
                    <a:pt x="50800" y="243840"/>
                  </a:lnTo>
                  <a:lnTo>
                    <a:pt x="50800" y="209973"/>
                  </a:lnTo>
                  <a:lnTo>
                    <a:pt x="0" y="142240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40"/>
                  </a:lnTo>
                  <a:lnTo>
                    <a:pt x="76200" y="243840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40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40"/>
                  </a:lnTo>
                  <a:lnTo>
                    <a:pt x="101600" y="243840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40"/>
                  </a:moveTo>
                  <a:lnTo>
                    <a:pt x="101600" y="209973"/>
                  </a:lnTo>
                  <a:lnTo>
                    <a:pt x="101600" y="243840"/>
                  </a:lnTo>
                  <a:lnTo>
                    <a:pt x="121919" y="243840"/>
                  </a:lnTo>
                  <a:lnTo>
                    <a:pt x="152400" y="14224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6280" y="4048759"/>
              <a:ext cx="1534159" cy="4064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986280" y="4048759"/>
              <a:ext cx="1534160" cy="406400"/>
            </a:xfrm>
            <a:custGeom>
              <a:avLst/>
              <a:gdLst/>
              <a:ahLst/>
              <a:cxnLst/>
              <a:rect l="l" t="t" r="r" b="b"/>
              <a:pathLst>
                <a:path w="1534160" h="406400">
                  <a:moveTo>
                    <a:pt x="0" y="406400"/>
                  </a:moveTo>
                  <a:lnTo>
                    <a:pt x="1534159" y="406400"/>
                  </a:lnTo>
                  <a:lnTo>
                    <a:pt x="1534159" y="0"/>
                  </a:lnTo>
                  <a:lnTo>
                    <a:pt x="0" y="0"/>
                  </a:lnTo>
                  <a:lnTo>
                    <a:pt x="0" y="40640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518029" y="4130039"/>
            <a:ext cx="47752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20" dirty="0">
                <a:latin typeface="Arial"/>
                <a:cs typeface="Arial"/>
              </a:rPr>
              <a:t>C</a:t>
            </a:r>
            <a:r>
              <a:rPr sz="1350" b="1" spc="-60" dirty="0">
                <a:latin typeface="Arial"/>
                <a:cs typeface="Arial"/>
              </a:rPr>
              <a:t>l</a:t>
            </a:r>
            <a:r>
              <a:rPr sz="1350" b="1" spc="-30" dirty="0">
                <a:latin typeface="Arial"/>
                <a:cs typeface="Arial"/>
              </a:rPr>
              <a:t>o</a:t>
            </a:r>
            <a:r>
              <a:rPr sz="1350" b="1" spc="-35" dirty="0">
                <a:latin typeface="Arial"/>
                <a:cs typeface="Arial"/>
              </a:rPr>
              <a:t>s</a:t>
            </a:r>
            <a:r>
              <a:rPr sz="1350" b="1" spc="5" dirty="0">
                <a:latin typeface="Arial"/>
                <a:cs typeface="Arial"/>
              </a:rPr>
              <a:t>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06600" y="1305559"/>
            <a:ext cx="2103755" cy="1057910"/>
            <a:chOff x="2006600" y="1305559"/>
            <a:chExt cx="2103755" cy="10579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6600" y="1305559"/>
              <a:ext cx="1503679" cy="4064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44167" y="2306319"/>
              <a:ext cx="665770" cy="566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00119" y="2301239"/>
              <a:ext cx="568960" cy="0"/>
            </a:xfrm>
            <a:custGeom>
              <a:avLst/>
              <a:gdLst/>
              <a:ahLst/>
              <a:cxnLst/>
              <a:rect l="l" t="t" r="r" b="b"/>
              <a:pathLst>
                <a:path w="568960">
                  <a:moveTo>
                    <a:pt x="0" y="0"/>
                  </a:moveTo>
                  <a:lnTo>
                    <a:pt x="56895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06600" y="1305559"/>
            <a:ext cx="1503680" cy="40640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705"/>
              </a:spcBef>
            </a:pPr>
            <a:r>
              <a:rPr sz="1350" b="1" spc="-25" dirty="0">
                <a:latin typeface="Arial"/>
                <a:cs typeface="Arial"/>
              </a:rPr>
              <a:t>Connect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011679" y="2113279"/>
            <a:ext cx="1493520" cy="396240"/>
            <a:chOff x="2011679" y="2113279"/>
            <a:chExt cx="1493520" cy="39624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16759" y="2118359"/>
              <a:ext cx="1483360" cy="3860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16759" y="2118359"/>
              <a:ext cx="1483360" cy="386080"/>
            </a:xfrm>
            <a:custGeom>
              <a:avLst/>
              <a:gdLst/>
              <a:ahLst/>
              <a:cxnLst/>
              <a:rect l="l" t="t" r="r" b="b"/>
              <a:pathLst>
                <a:path w="1483360" h="386080">
                  <a:moveTo>
                    <a:pt x="0" y="386080"/>
                  </a:moveTo>
                  <a:lnTo>
                    <a:pt x="1483360" y="386080"/>
                  </a:lnTo>
                  <a:lnTo>
                    <a:pt x="1483360" y="0"/>
                  </a:lnTo>
                  <a:lnTo>
                    <a:pt x="0" y="0"/>
                  </a:lnTo>
                  <a:lnTo>
                    <a:pt x="0" y="38608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94660" y="2184082"/>
            <a:ext cx="51943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10" dirty="0">
                <a:latin typeface="Arial"/>
                <a:cs typeface="Arial"/>
              </a:rPr>
              <a:t>Q</a:t>
            </a:r>
            <a:r>
              <a:rPr sz="1350" b="1" spc="-25" dirty="0">
                <a:latin typeface="Arial"/>
                <a:cs typeface="Arial"/>
              </a:rPr>
              <a:t>u</a:t>
            </a:r>
            <a:r>
              <a:rPr sz="1350" b="1" spc="-35" dirty="0">
                <a:latin typeface="Arial"/>
                <a:cs typeface="Arial"/>
              </a:rPr>
              <a:t>e</a:t>
            </a:r>
            <a:r>
              <a:rPr sz="1350" b="1" spc="30" dirty="0">
                <a:latin typeface="Arial"/>
                <a:cs typeface="Arial"/>
              </a:rPr>
              <a:t>r</a:t>
            </a:r>
            <a:r>
              <a:rPr sz="1350" b="1" spc="5" dirty="0">
                <a:latin typeface="Arial"/>
                <a:cs typeface="Arial"/>
              </a:rPr>
              <a:t>y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84320" y="2103119"/>
            <a:ext cx="2783840" cy="406400"/>
            <a:chOff x="4084320" y="2103119"/>
            <a:chExt cx="2783840" cy="40640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89400" y="2108199"/>
              <a:ext cx="2773679" cy="39623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89400" y="2108199"/>
              <a:ext cx="2773680" cy="396240"/>
            </a:xfrm>
            <a:custGeom>
              <a:avLst/>
              <a:gdLst/>
              <a:ahLst/>
              <a:cxnLst/>
              <a:rect l="l" t="t" r="r" b="b"/>
              <a:pathLst>
                <a:path w="2773679" h="396239">
                  <a:moveTo>
                    <a:pt x="0" y="396239"/>
                  </a:moveTo>
                  <a:lnTo>
                    <a:pt x="2773679" y="396239"/>
                  </a:lnTo>
                  <a:lnTo>
                    <a:pt x="2773679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01921" y="2183193"/>
            <a:ext cx="153479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5" dirty="0">
                <a:latin typeface="Arial"/>
                <a:cs typeface="Arial"/>
              </a:rPr>
              <a:t>Create</a:t>
            </a:r>
            <a:r>
              <a:rPr sz="1350" b="1" spc="-40" dirty="0">
                <a:latin typeface="Arial"/>
                <a:cs typeface="Arial"/>
              </a:rPr>
              <a:t> </a:t>
            </a:r>
            <a:r>
              <a:rPr sz="1350" b="1" spc="5" dirty="0">
                <a:latin typeface="Arial"/>
                <a:cs typeface="Arial"/>
              </a:rPr>
              <a:t>a</a:t>
            </a:r>
            <a:r>
              <a:rPr sz="1350" b="1" spc="-40" dirty="0">
                <a:latin typeface="Arial"/>
                <a:cs typeface="Arial"/>
              </a:rPr>
              <a:t> </a:t>
            </a:r>
            <a:r>
              <a:rPr sz="1350" b="1" spc="-25" dirty="0">
                <a:latin typeface="Arial"/>
                <a:cs typeface="Arial"/>
              </a:rPr>
              <a:t>statement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971039" y="2285999"/>
            <a:ext cx="2331720" cy="1320800"/>
            <a:chOff x="1971039" y="2285999"/>
            <a:chExt cx="2331720" cy="13208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40479" y="2316479"/>
              <a:ext cx="462279" cy="8483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35400" y="2311399"/>
              <a:ext cx="395605" cy="781685"/>
            </a:xfrm>
            <a:custGeom>
              <a:avLst/>
              <a:gdLst/>
              <a:ahLst/>
              <a:cxnLst/>
              <a:rect l="l" t="t" r="r" b="b"/>
              <a:pathLst>
                <a:path w="395604" h="781685">
                  <a:moveTo>
                    <a:pt x="0" y="0"/>
                  </a:moveTo>
                  <a:lnTo>
                    <a:pt x="0" y="781177"/>
                  </a:lnTo>
                  <a:lnTo>
                    <a:pt x="395097" y="781177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76119" y="2941319"/>
              <a:ext cx="1554480" cy="66039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976119" y="2941319"/>
              <a:ext cx="1554480" cy="660400"/>
            </a:xfrm>
            <a:custGeom>
              <a:avLst/>
              <a:gdLst/>
              <a:ahLst/>
              <a:cxnLst/>
              <a:rect l="l" t="t" r="r" b="b"/>
              <a:pathLst>
                <a:path w="1554479" h="660400">
                  <a:moveTo>
                    <a:pt x="0" y="660399"/>
                  </a:moveTo>
                  <a:lnTo>
                    <a:pt x="1554480" y="660399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66039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10460" y="3045396"/>
            <a:ext cx="680085" cy="4470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0" marR="5080" indent="-50800">
              <a:lnSpc>
                <a:spcPct val="103899"/>
              </a:lnSpc>
              <a:spcBef>
                <a:spcPts val="50"/>
              </a:spcBef>
            </a:pPr>
            <a:r>
              <a:rPr sz="1350" b="1" spc="-25" dirty="0">
                <a:latin typeface="Arial"/>
                <a:cs typeface="Arial"/>
              </a:rPr>
              <a:t>P</a:t>
            </a:r>
            <a:r>
              <a:rPr sz="1350" b="1" spc="25" dirty="0">
                <a:latin typeface="Arial"/>
                <a:cs typeface="Arial"/>
              </a:rPr>
              <a:t>r</a:t>
            </a:r>
            <a:r>
              <a:rPr sz="1350" b="1" spc="-30" dirty="0">
                <a:latin typeface="Arial"/>
                <a:cs typeface="Arial"/>
              </a:rPr>
              <a:t>o</a:t>
            </a:r>
            <a:r>
              <a:rPr sz="1350" b="1" spc="-35" dirty="0">
                <a:latin typeface="Arial"/>
                <a:cs typeface="Arial"/>
              </a:rPr>
              <a:t>ces</a:t>
            </a:r>
            <a:r>
              <a:rPr sz="1350" b="1" dirty="0">
                <a:latin typeface="Arial"/>
                <a:cs typeface="Arial"/>
              </a:rPr>
              <a:t>s  </a:t>
            </a:r>
            <a:r>
              <a:rPr sz="1350" b="1" spc="-15" dirty="0">
                <a:latin typeface="Arial"/>
                <a:cs typeface="Arial"/>
              </a:rPr>
              <a:t>results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550160" y="2524759"/>
            <a:ext cx="4318000" cy="1767839"/>
            <a:chOff x="2550160" y="2524759"/>
            <a:chExt cx="4318000" cy="1767839"/>
          </a:xfrm>
        </p:grpSpPr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50160" y="3627119"/>
              <a:ext cx="492760" cy="66547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682240" y="3601719"/>
              <a:ext cx="152400" cy="406400"/>
            </a:xfrm>
            <a:custGeom>
              <a:avLst/>
              <a:gdLst/>
              <a:ahLst/>
              <a:cxnLst/>
              <a:rect l="l" t="t" r="r" b="b"/>
              <a:pathLst>
                <a:path w="152400" h="406400">
                  <a:moveTo>
                    <a:pt x="0" y="152399"/>
                  </a:moveTo>
                  <a:lnTo>
                    <a:pt x="76200" y="406399"/>
                  </a:lnTo>
                  <a:lnTo>
                    <a:pt x="121919" y="253999"/>
                  </a:lnTo>
                  <a:lnTo>
                    <a:pt x="50800" y="253999"/>
                  </a:lnTo>
                  <a:lnTo>
                    <a:pt x="50800" y="220133"/>
                  </a:lnTo>
                  <a:lnTo>
                    <a:pt x="0" y="152399"/>
                  </a:lnTo>
                  <a:close/>
                </a:path>
                <a:path w="152400" h="406400">
                  <a:moveTo>
                    <a:pt x="50800" y="220133"/>
                  </a:moveTo>
                  <a:lnTo>
                    <a:pt x="50800" y="253999"/>
                  </a:lnTo>
                  <a:lnTo>
                    <a:pt x="76200" y="253999"/>
                  </a:lnTo>
                  <a:lnTo>
                    <a:pt x="50800" y="220133"/>
                  </a:lnTo>
                  <a:close/>
                </a:path>
                <a:path w="152400" h="406400">
                  <a:moveTo>
                    <a:pt x="101600" y="0"/>
                  </a:moveTo>
                  <a:lnTo>
                    <a:pt x="50800" y="0"/>
                  </a:lnTo>
                  <a:lnTo>
                    <a:pt x="50800" y="220133"/>
                  </a:lnTo>
                  <a:lnTo>
                    <a:pt x="76200" y="253999"/>
                  </a:lnTo>
                  <a:lnTo>
                    <a:pt x="101600" y="220133"/>
                  </a:lnTo>
                  <a:lnTo>
                    <a:pt x="101600" y="0"/>
                  </a:lnTo>
                  <a:close/>
                </a:path>
                <a:path w="152400" h="406400">
                  <a:moveTo>
                    <a:pt x="101600" y="220133"/>
                  </a:moveTo>
                  <a:lnTo>
                    <a:pt x="76200" y="253999"/>
                  </a:lnTo>
                  <a:lnTo>
                    <a:pt x="101600" y="253999"/>
                  </a:lnTo>
                  <a:lnTo>
                    <a:pt x="101600" y="220133"/>
                  </a:lnTo>
                  <a:close/>
                </a:path>
                <a:path w="152400" h="406400">
                  <a:moveTo>
                    <a:pt x="152400" y="152399"/>
                  </a:moveTo>
                  <a:lnTo>
                    <a:pt x="101600" y="220133"/>
                  </a:lnTo>
                  <a:lnTo>
                    <a:pt x="101600" y="253999"/>
                  </a:lnTo>
                  <a:lnTo>
                    <a:pt x="121919" y="253999"/>
                  </a:lnTo>
                  <a:lnTo>
                    <a:pt x="152400" y="15239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50160" y="2550159"/>
              <a:ext cx="492760" cy="6553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82240" y="252475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39"/>
                  </a:moveTo>
                  <a:lnTo>
                    <a:pt x="76200" y="396239"/>
                  </a:lnTo>
                  <a:lnTo>
                    <a:pt x="121919" y="243839"/>
                  </a:lnTo>
                  <a:lnTo>
                    <a:pt x="50800" y="243839"/>
                  </a:lnTo>
                  <a:lnTo>
                    <a:pt x="50800" y="209973"/>
                  </a:lnTo>
                  <a:lnTo>
                    <a:pt x="0" y="142239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39"/>
                  </a:lnTo>
                  <a:lnTo>
                    <a:pt x="76200" y="243839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39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39"/>
                  </a:lnTo>
                  <a:lnTo>
                    <a:pt x="101600" y="243839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39"/>
                  </a:moveTo>
                  <a:lnTo>
                    <a:pt x="101600" y="209973"/>
                  </a:lnTo>
                  <a:lnTo>
                    <a:pt x="101600" y="243839"/>
                  </a:lnTo>
                  <a:lnTo>
                    <a:pt x="121919" y="243839"/>
                  </a:lnTo>
                  <a:lnTo>
                    <a:pt x="152400" y="14223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89400" y="2900679"/>
              <a:ext cx="2773679" cy="39623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089400" y="2900679"/>
              <a:ext cx="2773680" cy="396240"/>
            </a:xfrm>
            <a:custGeom>
              <a:avLst/>
              <a:gdLst/>
              <a:ahLst/>
              <a:cxnLst/>
              <a:rect l="l" t="t" r="r" b="b"/>
              <a:pathLst>
                <a:path w="2773679" h="396239">
                  <a:moveTo>
                    <a:pt x="0" y="396239"/>
                  </a:moveTo>
                  <a:lnTo>
                    <a:pt x="2773679" y="396239"/>
                  </a:lnTo>
                  <a:lnTo>
                    <a:pt x="2773679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671059" y="2976308"/>
            <a:ext cx="159893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5" dirty="0">
                <a:latin typeface="Arial"/>
                <a:cs typeface="Arial"/>
              </a:rPr>
              <a:t>Query</a:t>
            </a:r>
            <a:r>
              <a:rPr sz="1350" b="1" spc="-4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40" dirty="0">
                <a:latin typeface="Arial"/>
                <a:cs typeface="Arial"/>
              </a:rPr>
              <a:t> </a:t>
            </a:r>
            <a:r>
              <a:rPr sz="1350" b="1" spc="-20" dirty="0">
                <a:latin typeface="Arial"/>
                <a:cs typeface="Arial"/>
              </a:rPr>
              <a:t>database</a:t>
            </a:r>
            <a:endParaRPr sz="135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3</a:t>
            </a:fld>
            <a:endParaRPr spc="-10" dirty="0"/>
          </a:p>
        </p:txBody>
      </p:sp>
      <p:pic>
        <p:nvPicPr>
          <p:cNvPr id="41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388731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236855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Stage</a:t>
            </a:r>
            <a:r>
              <a:rPr u="sng" spc="-8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2:</a:t>
            </a:r>
            <a:r>
              <a:rPr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Query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4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8026" y="1003757"/>
            <a:ext cx="8708390" cy="36245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 indent="-234315">
              <a:lnSpc>
                <a:spcPts val="2195"/>
              </a:lnSpc>
              <a:spcBef>
                <a:spcPts val="95"/>
              </a:spcBef>
              <a:buClr>
                <a:srgbClr val="006FC0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-15" dirty="0">
                <a:latin typeface="Times New Roman"/>
                <a:cs typeface="Times New Roman"/>
              </a:rPr>
              <a:t>Once</a:t>
            </a:r>
            <a:r>
              <a:rPr sz="1850" spc="4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4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connection</a:t>
            </a:r>
            <a:r>
              <a:rPr sz="1850" spc="4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established,</a:t>
            </a:r>
            <a:r>
              <a:rPr sz="1850" spc="44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it</a:t>
            </a:r>
            <a:r>
              <a:rPr sz="1850" spc="3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used</a:t>
            </a:r>
            <a:r>
              <a:rPr sz="1850" spc="46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to</a:t>
            </a:r>
            <a:r>
              <a:rPr sz="1850" spc="4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pass</a:t>
            </a:r>
            <a:r>
              <a:rPr sz="1850" spc="4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</a:t>
            </a:r>
            <a:r>
              <a:rPr sz="1850" spc="254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</a:t>
            </a:r>
            <a:r>
              <a:rPr sz="1850" spc="41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to</a:t>
            </a:r>
            <a:r>
              <a:rPr sz="1850" spc="459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its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underlying</a:t>
            </a:r>
            <a:endParaRPr sz="1850" dirty="0">
              <a:latin typeface="Times New Roman"/>
              <a:cs typeface="Times New Roman"/>
            </a:endParaRPr>
          </a:p>
          <a:p>
            <a:pPr marL="246379">
              <a:lnSpc>
                <a:spcPts val="2195"/>
              </a:lnSpc>
            </a:pPr>
            <a:r>
              <a:rPr sz="1850" spc="-10" dirty="0">
                <a:latin typeface="Times New Roman"/>
                <a:cs typeface="Times New Roman"/>
              </a:rPr>
              <a:t>database.</a:t>
            </a:r>
            <a:endParaRPr sz="18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246379" indent="-234315">
              <a:lnSpc>
                <a:spcPts val="2190"/>
              </a:lnSpc>
              <a:buClr>
                <a:srgbClr val="006FC0"/>
              </a:buClr>
              <a:buFont typeface="Arial MT"/>
              <a:buChar char="•"/>
              <a:tabLst>
                <a:tab pos="246379" algn="l"/>
                <a:tab pos="247015" algn="l"/>
              </a:tabLst>
            </a:pP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object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used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send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to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database.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The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interface</a:t>
            </a:r>
            <a:endParaRPr sz="1850" dirty="0">
              <a:latin typeface="Times New Roman"/>
              <a:cs typeface="Times New Roman"/>
            </a:endParaRPr>
          </a:p>
          <a:p>
            <a:pPr marL="246379">
              <a:lnSpc>
                <a:spcPts val="2190"/>
              </a:lnSpc>
            </a:pPr>
            <a:r>
              <a:rPr sz="1850" spc="5" dirty="0">
                <a:latin typeface="Times New Roman"/>
                <a:cs typeface="Times New Roman"/>
              </a:rPr>
              <a:t>provides</a:t>
            </a:r>
            <a:r>
              <a:rPr sz="1850" spc="-2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basic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methods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for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executing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statements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retrieving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results.</a:t>
            </a:r>
            <a:endParaRPr sz="18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buClr>
                <a:srgbClr val="006FC0"/>
              </a:buClr>
              <a:buFont typeface="Arial MT"/>
              <a:buChar char="•"/>
              <a:tabLst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 </a:t>
            </a:r>
            <a:r>
              <a:rPr sz="1850" spc="-45" dirty="0">
                <a:latin typeface="Times New Roman"/>
                <a:cs typeface="Times New Roman"/>
              </a:rPr>
              <a:t>JDBC </a:t>
            </a:r>
            <a:r>
              <a:rPr sz="1850" spc="-20" dirty="0">
                <a:latin typeface="Times New Roman"/>
                <a:cs typeface="Times New Roman"/>
              </a:rPr>
              <a:t>API </a:t>
            </a:r>
            <a:r>
              <a:rPr sz="1850" spc="-10" dirty="0">
                <a:latin typeface="Times New Roman"/>
                <a:cs typeface="Times New Roman"/>
              </a:rPr>
              <a:t>does not put </a:t>
            </a:r>
            <a:r>
              <a:rPr sz="1850" spc="-25" dirty="0">
                <a:latin typeface="Times New Roman"/>
                <a:cs typeface="Times New Roman"/>
              </a:rPr>
              <a:t>any </a:t>
            </a:r>
            <a:r>
              <a:rPr sz="1850" spc="-15" dirty="0">
                <a:latin typeface="Times New Roman"/>
                <a:cs typeface="Times New Roman"/>
              </a:rPr>
              <a:t>restrictions </a:t>
            </a:r>
            <a:r>
              <a:rPr sz="1850" spc="15" dirty="0">
                <a:latin typeface="Times New Roman"/>
                <a:cs typeface="Times New Roman"/>
              </a:rPr>
              <a:t>on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kinds of </a:t>
            </a:r>
            <a:r>
              <a:rPr sz="1850" spc="-20" dirty="0">
                <a:latin typeface="Times New Roman"/>
                <a:cs typeface="Times New Roman"/>
              </a:rPr>
              <a:t>SQL </a:t>
            </a:r>
            <a:r>
              <a:rPr sz="1850" spc="-25" dirty="0">
                <a:latin typeface="Times New Roman"/>
                <a:cs typeface="Times New Roman"/>
              </a:rPr>
              <a:t>statements </a:t>
            </a:r>
            <a:r>
              <a:rPr sz="1850" spc="-30" dirty="0">
                <a:latin typeface="Times New Roman"/>
                <a:cs typeface="Times New Roman"/>
              </a:rPr>
              <a:t>that </a:t>
            </a:r>
            <a:r>
              <a:rPr sz="1850" spc="-20" dirty="0">
                <a:latin typeface="Times New Roman"/>
                <a:cs typeface="Times New Roman"/>
              </a:rPr>
              <a:t>can </a:t>
            </a:r>
            <a:r>
              <a:rPr sz="1850" spc="30" dirty="0">
                <a:latin typeface="Times New Roman"/>
                <a:cs typeface="Times New Roman"/>
              </a:rPr>
              <a:t>be 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sent;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this</a:t>
            </a:r>
            <a:r>
              <a:rPr sz="1850" spc="-10" dirty="0">
                <a:latin typeface="Times New Roman"/>
                <a:cs typeface="Times New Roman"/>
              </a:rPr>
              <a:t> provides</a:t>
            </a:r>
            <a:r>
              <a:rPr sz="1850" spc="-5" dirty="0">
                <a:latin typeface="Times New Roman"/>
                <a:cs typeface="Times New Roman"/>
              </a:rPr>
              <a:t> a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great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deal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of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flexibility,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allowing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use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database-specific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statements </a:t>
            </a:r>
            <a:r>
              <a:rPr sz="1850" spc="-25" dirty="0">
                <a:latin typeface="Times New Roman"/>
                <a:cs typeface="Times New Roman"/>
              </a:rPr>
              <a:t>or even non-SQL </a:t>
            </a:r>
            <a:r>
              <a:rPr sz="1850" spc="-15" dirty="0">
                <a:latin typeface="Times New Roman"/>
                <a:cs typeface="Times New Roman"/>
              </a:rPr>
              <a:t>statements. </a:t>
            </a:r>
            <a:r>
              <a:rPr sz="1850" spc="10" dirty="0">
                <a:latin typeface="Times New Roman"/>
                <a:cs typeface="Times New Roman"/>
              </a:rPr>
              <a:t>It </a:t>
            </a:r>
            <a:r>
              <a:rPr sz="1850" spc="-20" dirty="0">
                <a:latin typeface="Times New Roman"/>
                <a:cs typeface="Times New Roman"/>
              </a:rPr>
              <a:t>requires, </a:t>
            </a:r>
            <a:r>
              <a:rPr sz="1850" spc="-30" dirty="0">
                <a:latin typeface="Times New Roman"/>
                <a:cs typeface="Times New Roman"/>
              </a:rPr>
              <a:t>however, that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user </a:t>
            </a:r>
            <a:r>
              <a:rPr sz="1850" spc="10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responsible </a:t>
            </a:r>
            <a:r>
              <a:rPr sz="1850" spc="-15" dirty="0">
                <a:latin typeface="Times New Roman"/>
                <a:cs typeface="Times New Roman"/>
              </a:rPr>
              <a:t> for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making</a:t>
            </a:r>
            <a:r>
              <a:rPr sz="1850" spc="-10" dirty="0">
                <a:latin typeface="Times New Roman"/>
                <a:cs typeface="Times New Roman"/>
              </a:rPr>
              <a:t> sure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underlying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database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can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process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SQL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statements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being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sent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55" dirty="0">
                <a:latin typeface="Times New Roman"/>
                <a:cs typeface="Times New Roman"/>
              </a:rPr>
              <a:t>and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suffer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consequences </a:t>
            </a:r>
            <a:r>
              <a:rPr sz="1850" spc="-20" dirty="0">
                <a:latin typeface="Times New Roman"/>
                <a:cs typeface="Times New Roman"/>
              </a:rPr>
              <a:t>if it </a:t>
            </a:r>
            <a:r>
              <a:rPr sz="1850" spc="-25" dirty="0">
                <a:latin typeface="Times New Roman"/>
                <a:cs typeface="Times New Roman"/>
              </a:rPr>
              <a:t>cannot. </a:t>
            </a:r>
            <a:r>
              <a:rPr sz="1850" spc="-15" dirty="0">
                <a:latin typeface="Times New Roman"/>
                <a:cs typeface="Times New Roman"/>
              </a:rPr>
              <a:t>For </a:t>
            </a:r>
            <a:r>
              <a:rPr sz="1850" spc="-30" dirty="0">
                <a:latin typeface="Times New Roman"/>
                <a:cs typeface="Times New Roman"/>
              </a:rPr>
              <a:t>example, </a:t>
            </a:r>
            <a:r>
              <a:rPr sz="1850" spc="-15" dirty="0">
                <a:latin typeface="Times New Roman"/>
                <a:cs typeface="Times New Roman"/>
              </a:rPr>
              <a:t>an </a:t>
            </a:r>
            <a:r>
              <a:rPr sz="1850" spc="-30" dirty="0">
                <a:latin typeface="Times New Roman"/>
                <a:cs typeface="Times New Roman"/>
              </a:rPr>
              <a:t>application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20" dirty="0">
                <a:latin typeface="Times New Roman"/>
                <a:cs typeface="Times New Roman"/>
              </a:rPr>
              <a:t>tries </a:t>
            </a:r>
            <a:r>
              <a:rPr sz="1850" spc="-65" dirty="0">
                <a:latin typeface="Times New Roman"/>
                <a:cs typeface="Times New Roman"/>
              </a:rPr>
              <a:t>to </a:t>
            </a:r>
            <a:r>
              <a:rPr sz="1850" spc="-40" dirty="0">
                <a:latin typeface="Times New Roman"/>
                <a:cs typeface="Times New Roman"/>
              </a:rPr>
              <a:t>send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30" dirty="0">
                <a:latin typeface="Times New Roman"/>
                <a:cs typeface="Times New Roman"/>
              </a:rPr>
              <a:t>stored 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procedure </a:t>
            </a:r>
            <a:r>
              <a:rPr sz="1850" spc="-25" dirty="0">
                <a:latin typeface="Times New Roman"/>
                <a:cs typeface="Times New Roman"/>
              </a:rPr>
              <a:t>call </a:t>
            </a:r>
            <a:r>
              <a:rPr sz="1850" spc="-60" dirty="0">
                <a:latin typeface="Times New Roman"/>
                <a:cs typeface="Times New Roman"/>
              </a:rPr>
              <a:t>to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80" dirty="0">
                <a:latin typeface="Times New Roman"/>
                <a:cs typeface="Times New Roman"/>
              </a:rPr>
              <a:t>DBMS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15" dirty="0">
                <a:latin typeface="Times New Roman"/>
                <a:cs typeface="Times New Roman"/>
              </a:rPr>
              <a:t>does </a:t>
            </a:r>
            <a:r>
              <a:rPr sz="1850" spc="20" dirty="0">
                <a:latin typeface="Times New Roman"/>
                <a:cs typeface="Times New Roman"/>
              </a:rPr>
              <a:t>not </a:t>
            </a:r>
            <a:r>
              <a:rPr sz="1850" spc="-25" dirty="0">
                <a:latin typeface="Times New Roman"/>
                <a:cs typeface="Times New Roman"/>
              </a:rPr>
              <a:t>support </a:t>
            </a:r>
            <a:r>
              <a:rPr sz="1850" spc="-20" dirty="0">
                <a:latin typeface="Times New Roman"/>
                <a:cs typeface="Times New Roman"/>
              </a:rPr>
              <a:t>stored </a:t>
            </a:r>
            <a:r>
              <a:rPr sz="1850" spc="-15" dirty="0">
                <a:latin typeface="Times New Roman"/>
                <a:cs typeface="Times New Roman"/>
              </a:rPr>
              <a:t>procedures will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unsuccessful </a:t>
            </a:r>
            <a:r>
              <a:rPr sz="1850" spc="-55" dirty="0">
                <a:latin typeface="Times New Roman"/>
                <a:cs typeface="Times New Roman"/>
              </a:rPr>
              <a:t>and 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 generate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exception.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70338" y="34749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58152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Query:</a:t>
            </a:r>
            <a:r>
              <a:rPr u="sng" spc="-114" dirty="0"/>
              <a:t> </a:t>
            </a:r>
            <a:r>
              <a:rPr u="sng" spc="10" dirty="0"/>
              <a:t>The</a:t>
            </a:r>
            <a:r>
              <a:rPr u="sng" spc="-145" dirty="0"/>
              <a:t> </a:t>
            </a:r>
            <a:r>
              <a:rPr u="sng" spc="-20" dirty="0"/>
              <a:t>Statement</a:t>
            </a:r>
            <a:r>
              <a:rPr u="sng" spc="-114" dirty="0"/>
              <a:t> </a:t>
            </a:r>
            <a:r>
              <a:rPr u="sng" spc="-30" dirty="0"/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5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854963"/>
            <a:ext cx="7288530" cy="21228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8140" indent="-346075">
              <a:lnSpc>
                <a:spcPct val="100000"/>
              </a:lnSpc>
              <a:spcBef>
                <a:spcPts val="605"/>
              </a:spcBef>
              <a:buClr>
                <a:srgbClr val="00AFEF"/>
              </a:buClr>
              <a:buFont typeface="Wingdings"/>
              <a:buChar char=""/>
              <a:tabLst>
                <a:tab pos="358140" algn="l"/>
                <a:tab pos="358775" algn="l"/>
              </a:tabLst>
            </a:pPr>
            <a:r>
              <a:rPr sz="1850" spc="-90" dirty="0">
                <a:latin typeface="Times New Roman"/>
                <a:cs typeface="Times New Roman"/>
              </a:rPr>
              <a:t>To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execute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SQL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Object.</a:t>
            </a:r>
            <a:endParaRPr sz="1850">
              <a:latin typeface="Times New Roman"/>
              <a:cs typeface="Times New Roman"/>
            </a:endParaRPr>
          </a:p>
          <a:p>
            <a:pPr marL="347980" indent="-33591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Font typeface="Wingdings"/>
              <a:buChar char=""/>
              <a:tabLst>
                <a:tab pos="347980" algn="l"/>
                <a:tab pos="348615" algn="l"/>
              </a:tabLst>
            </a:pPr>
            <a:r>
              <a:rPr sz="1850" spc="-65" dirty="0">
                <a:latin typeface="Times New Roman"/>
                <a:cs typeface="Times New Roman"/>
              </a:rPr>
              <a:t>You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need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active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connection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create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JDBC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endParaRPr sz="1850">
              <a:latin typeface="Times New Roman"/>
              <a:cs typeface="Times New Roman"/>
            </a:endParaRPr>
          </a:p>
          <a:p>
            <a:pPr marL="358140" indent="-346075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Font typeface="Wingdings"/>
              <a:buChar char=""/>
              <a:tabLst>
                <a:tab pos="358140" algn="l"/>
                <a:tab pos="358775" algn="l"/>
              </a:tabLst>
            </a:pP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three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methods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execute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5" dirty="0">
                <a:latin typeface="Times New Roman"/>
                <a:cs typeface="Times New Roman"/>
              </a:rPr>
              <a:t> SQL</a:t>
            </a:r>
            <a:r>
              <a:rPr sz="1850" spc="-2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statements:</a:t>
            </a:r>
            <a:endParaRPr sz="185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Font typeface="Wingdings"/>
              <a:buChar char=""/>
              <a:tabLst>
                <a:tab pos="754380" algn="l"/>
                <a:tab pos="755015" algn="l"/>
              </a:tabLst>
            </a:pPr>
            <a:r>
              <a:rPr sz="1850" b="1" i="1" spc="-20" dirty="0">
                <a:latin typeface="Times New Roman"/>
                <a:cs typeface="Times New Roman"/>
              </a:rPr>
              <a:t>e</a:t>
            </a:r>
            <a:r>
              <a:rPr sz="1850" b="1" i="1" spc="30" dirty="0">
                <a:latin typeface="Times New Roman"/>
                <a:cs typeface="Times New Roman"/>
              </a:rPr>
              <a:t>x</a:t>
            </a:r>
            <a:r>
              <a:rPr sz="1850" b="1" i="1" spc="-20" dirty="0">
                <a:latin typeface="Times New Roman"/>
                <a:cs typeface="Times New Roman"/>
              </a:rPr>
              <a:t>ec</a:t>
            </a:r>
            <a:r>
              <a:rPr sz="1850" b="1" i="1" spc="10" dirty="0">
                <a:latin typeface="Times New Roman"/>
                <a:cs typeface="Times New Roman"/>
              </a:rPr>
              <a:t>u</a:t>
            </a:r>
            <a:r>
              <a:rPr sz="1850" b="1" i="1" spc="-35" dirty="0">
                <a:latin typeface="Times New Roman"/>
                <a:cs typeface="Times New Roman"/>
              </a:rPr>
              <a:t>t</a:t>
            </a:r>
            <a:r>
              <a:rPr sz="1850" b="1" i="1" spc="-20" dirty="0">
                <a:latin typeface="Times New Roman"/>
                <a:cs typeface="Times New Roman"/>
              </a:rPr>
              <a:t>e</a:t>
            </a:r>
            <a:r>
              <a:rPr sz="1850" b="1" i="1" spc="15" dirty="0">
                <a:latin typeface="Times New Roman"/>
                <a:cs typeface="Times New Roman"/>
              </a:rPr>
              <a:t>Q</a:t>
            </a:r>
            <a:r>
              <a:rPr sz="1850" b="1" i="1" spc="10" dirty="0">
                <a:latin typeface="Times New Roman"/>
                <a:cs typeface="Times New Roman"/>
              </a:rPr>
              <a:t>u</a:t>
            </a:r>
            <a:r>
              <a:rPr sz="1850" b="1" i="1" spc="-20" dirty="0">
                <a:latin typeface="Times New Roman"/>
                <a:cs typeface="Times New Roman"/>
              </a:rPr>
              <a:t>e</a:t>
            </a:r>
            <a:r>
              <a:rPr sz="1850" b="1" i="1" spc="-5" dirty="0">
                <a:latin typeface="Times New Roman"/>
                <a:cs typeface="Times New Roman"/>
              </a:rPr>
              <a:t>r</a:t>
            </a:r>
            <a:r>
              <a:rPr sz="1850" b="1" i="1" spc="-20" dirty="0">
                <a:latin typeface="Times New Roman"/>
                <a:cs typeface="Times New Roman"/>
              </a:rPr>
              <a:t>y</a:t>
            </a:r>
            <a:r>
              <a:rPr sz="1850" b="1" i="1" spc="20" dirty="0">
                <a:latin typeface="Times New Roman"/>
                <a:cs typeface="Times New Roman"/>
              </a:rPr>
              <a:t>(</a:t>
            </a:r>
            <a:r>
              <a:rPr sz="1850" b="1" i="1" spc="-5" dirty="0">
                <a:latin typeface="Times New Roman"/>
                <a:cs typeface="Times New Roman"/>
              </a:rPr>
              <a:t>)</a:t>
            </a:r>
            <a:r>
              <a:rPr sz="1850" b="1" i="1" spc="-21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</a:t>
            </a:r>
            <a:r>
              <a:rPr sz="1850" spc="-95" dirty="0">
                <a:latin typeface="Times New Roman"/>
                <a:cs typeface="Times New Roman"/>
              </a:rPr>
              <a:t>ELE</a:t>
            </a:r>
            <a:r>
              <a:rPr sz="1850" spc="-35" dirty="0">
                <a:latin typeface="Times New Roman"/>
                <a:cs typeface="Times New Roman"/>
              </a:rPr>
              <a:t>C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585"/>
              </a:spcBef>
              <a:buClr>
                <a:srgbClr val="00AFEF"/>
              </a:buClr>
              <a:buFont typeface="Wingdings"/>
              <a:buChar char=""/>
              <a:tabLst>
                <a:tab pos="754380" algn="l"/>
                <a:tab pos="755015" algn="l"/>
              </a:tabLst>
            </a:pPr>
            <a:r>
              <a:rPr sz="1850" b="1" i="1" spc="-5" dirty="0">
                <a:latin typeface="Times New Roman"/>
                <a:cs typeface="Times New Roman"/>
              </a:rPr>
              <a:t>executeUpdate()</a:t>
            </a:r>
            <a:r>
              <a:rPr sz="1850" b="1" i="1" spc="-21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for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INSERT,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75" dirty="0">
                <a:latin typeface="Times New Roman"/>
                <a:cs typeface="Times New Roman"/>
              </a:rPr>
              <a:t>UPDATE,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DELETE,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or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DDL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</a:t>
            </a:r>
            <a:endParaRPr sz="1850">
              <a:latin typeface="Times New Roman"/>
              <a:cs typeface="Times New Roman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lr>
                <a:srgbClr val="00AFEF"/>
              </a:buClr>
              <a:buFont typeface="Wingdings"/>
              <a:buChar char=""/>
              <a:tabLst>
                <a:tab pos="754380" algn="l"/>
                <a:tab pos="755015" algn="l"/>
              </a:tabLst>
            </a:pPr>
            <a:r>
              <a:rPr sz="1850" b="1" i="1" spc="-25" dirty="0">
                <a:latin typeface="Times New Roman"/>
                <a:cs typeface="Times New Roman"/>
              </a:rPr>
              <a:t>e</a:t>
            </a:r>
            <a:r>
              <a:rPr sz="1850" b="1" i="1" spc="30" dirty="0">
                <a:latin typeface="Times New Roman"/>
                <a:cs typeface="Times New Roman"/>
              </a:rPr>
              <a:t>x</a:t>
            </a:r>
            <a:r>
              <a:rPr sz="1850" b="1" i="1" spc="-25" dirty="0">
                <a:latin typeface="Times New Roman"/>
                <a:cs typeface="Times New Roman"/>
              </a:rPr>
              <a:t>ec</a:t>
            </a:r>
            <a:r>
              <a:rPr sz="1850" b="1" i="1" spc="5" dirty="0">
                <a:latin typeface="Times New Roman"/>
                <a:cs typeface="Times New Roman"/>
              </a:rPr>
              <a:t>u</a:t>
            </a:r>
            <a:r>
              <a:rPr sz="1850" b="1" i="1" spc="-35" dirty="0">
                <a:latin typeface="Times New Roman"/>
                <a:cs typeface="Times New Roman"/>
              </a:rPr>
              <a:t>t</a:t>
            </a:r>
            <a:r>
              <a:rPr sz="1850" b="1" i="1" spc="-25" dirty="0">
                <a:latin typeface="Times New Roman"/>
                <a:cs typeface="Times New Roman"/>
              </a:rPr>
              <a:t>e</a:t>
            </a:r>
            <a:r>
              <a:rPr sz="1850" b="1" i="1" spc="20" dirty="0">
                <a:latin typeface="Times New Roman"/>
                <a:cs typeface="Times New Roman"/>
              </a:rPr>
              <a:t>(</a:t>
            </a:r>
            <a:r>
              <a:rPr sz="1850" b="1" i="1" spc="-5" dirty="0">
                <a:latin typeface="Times New Roman"/>
                <a:cs typeface="Times New Roman"/>
              </a:rPr>
              <a:t>)</a:t>
            </a:r>
            <a:r>
              <a:rPr sz="1850" b="1" i="1" spc="-12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it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0" dirty="0">
                <a:latin typeface="Times New Roman"/>
                <a:cs typeface="Times New Roman"/>
              </a:rPr>
              <a:t>y</a:t>
            </a:r>
            <a:r>
              <a:rPr sz="1850" spc="30" dirty="0">
                <a:latin typeface="Times New Roman"/>
                <a:cs typeface="Times New Roman"/>
              </a:rPr>
              <a:t>p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72965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137" y="843978"/>
            <a:ext cx="8493125" cy="315658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246379" marR="5080" indent="-234315" algn="just">
              <a:lnSpc>
                <a:spcPct val="97500"/>
              </a:lnSpc>
              <a:spcBef>
                <a:spcPts val="14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 </a:t>
            </a:r>
            <a:r>
              <a:rPr sz="1850" spc="-10" dirty="0">
                <a:latin typeface="Times New Roman"/>
                <a:cs typeface="Times New Roman"/>
              </a:rPr>
              <a:t>slide </a:t>
            </a:r>
            <a:r>
              <a:rPr sz="1850" spc="-25" dirty="0">
                <a:latin typeface="Times New Roman"/>
                <a:cs typeface="Times New Roman"/>
              </a:rPr>
              <a:t>lists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three </a:t>
            </a:r>
            <a:r>
              <a:rPr sz="1850" spc="-35" dirty="0">
                <a:latin typeface="Times New Roman"/>
                <a:cs typeface="Times New Roman"/>
              </a:rPr>
              <a:t>methods you </a:t>
            </a:r>
            <a:r>
              <a:rPr sz="1850" spc="-45" dirty="0">
                <a:latin typeface="Times New Roman"/>
                <a:cs typeface="Times New Roman"/>
              </a:rPr>
              <a:t>can </a:t>
            </a:r>
            <a:r>
              <a:rPr sz="1850" spc="-20" dirty="0">
                <a:latin typeface="Times New Roman"/>
                <a:cs typeface="Times New Roman"/>
              </a:rPr>
              <a:t>call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20" dirty="0">
                <a:latin typeface="Times New Roman"/>
                <a:cs typeface="Times New Roman"/>
              </a:rPr>
              <a:t>execute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5" dirty="0">
                <a:latin typeface="Times New Roman"/>
                <a:cs typeface="Times New Roman"/>
              </a:rPr>
              <a:t>SQL </a:t>
            </a:r>
            <a:r>
              <a:rPr sz="1850" spc="-25" dirty="0">
                <a:latin typeface="Times New Roman"/>
                <a:cs typeface="Times New Roman"/>
              </a:rPr>
              <a:t>statement. The </a:t>
            </a:r>
            <a:r>
              <a:rPr sz="1850" spc="-15" dirty="0">
                <a:latin typeface="Times New Roman"/>
                <a:cs typeface="Times New Roman"/>
              </a:rPr>
              <a:t>following 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slides </a:t>
            </a:r>
            <a:r>
              <a:rPr sz="1850" spc="-25" dirty="0">
                <a:latin typeface="Times New Roman"/>
                <a:cs typeface="Times New Roman"/>
              </a:rPr>
              <a:t>describe </a:t>
            </a:r>
            <a:r>
              <a:rPr sz="1850" spc="-35" dirty="0">
                <a:latin typeface="Times New Roman"/>
                <a:cs typeface="Times New Roman"/>
              </a:rPr>
              <a:t>how </a:t>
            </a:r>
            <a:r>
              <a:rPr sz="1850" spc="-20" dirty="0">
                <a:latin typeface="Times New Roman"/>
                <a:cs typeface="Times New Roman"/>
              </a:rPr>
              <a:t>to call each method. </a:t>
            </a:r>
            <a:r>
              <a:rPr sz="1850" spc="-25" dirty="0">
                <a:latin typeface="Times New Roman"/>
                <a:cs typeface="Times New Roman"/>
              </a:rPr>
              <a:t>execute() </a:t>
            </a:r>
            <a:r>
              <a:rPr sz="1850" spc="-20" dirty="0">
                <a:latin typeface="Times New Roman"/>
                <a:cs typeface="Times New Roman"/>
              </a:rPr>
              <a:t>is useful </a:t>
            </a:r>
            <a:r>
              <a:rPr sz="1850" spc="-10" dirty="0">
                <a:latin typeface="Times New Roman"/>
                <a:cs typeface="Times New Roman"/>
              </a:rPr>
              <a:t>for </a:t>
            </a:r>
            <a:r>
              <a:rPr sz="1850" spc="-25" dirty="0">
                <a:latin typeface="Times New Roman"/>
                <a:cs typeface="Times New Roman"/>
              </a:rPr>
              <a:t>dynamically </a:t>
            </a:r>
            <a:r>
              <a:rPr sz="1850" spc="-15" dirty="0">
                <a:latin typeface="Times New Roman"/>
                <a:cs typeface="Times New Roman"/>
              </a:rPr>
              <a:t>executing </a:t>
            </a:r>
            <a:r>
              <a:rPr sz="1850" spc="-25" dirty="0">
                <a:latin typeface="Times New Roman"/>
                <a:cs typeface="Times New Roman"/>
              </a:rPr>
              <a:t>an 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unknown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SQLstring.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5" dirty="0">
                <a:latin typeface="Times New Roman"/>
                <a:cs typeface="Times New Roman"/>
              </a:rPr>
              <a:t>J</a:t>
            </a:r>
            <a:r>
              <a:rPr sz="1850" spc="-55" dirty="0">
                <a:latin typeface="Times New Roman"/>
                <a:cs typeface="Times New Roman"/>
              </a:rPr>
              <a:t>D</a:t>
            </a:r>
            <a:r>
              <a:rPr sz="1850" spc="-114" dirty="0">
                <a:latin typeface="Times New Roman"/>
                <a:cs typeface="Times New Roman"/>
              </a:rPr>
              <a:t>B</a:t>
            </a:r>
            <a:r>
              <a:rPr sz="1850" spc="-5" dirty="0">
                <a:latin typeface="Times New Roman"/>
                <a:cs typeface="Times New Roman"/>
              </a:rPr>
              <a:t>C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p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ov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-5" dirty="0">
                <a:latin typeface="Times New Roman"/>
                <a:cs typeface="Times New Roman"/>
              </a:rPr>
              <a:t>o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ob</a:t>
            </a:r>
            <a:r>
              <a:rPr sz="1850" spc="-35" dirty="0">
                <a:latin typeface="Times New Roman"/>
                <a:cs typeface="Times New Roman"/>
              </a:rPr>
              <a:t>j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-10" dirty="0">
                <a:latin typeface="Times New Roman"/>
                <a:cs typeface="Times New Roman"/>
              </a:rPr>
              <a:t>s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9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15" dirty="0">
                <a:latin typeface="Times New Roman"/>
                <a:cs typeface="Times New Roman"/>
              </a:rPr>
              <a:t>PreparedStatement</a:t>
            </a:r>
            <a:r>
              <a:rPr sz="1850" spc="-15" dirty="0">
                <a:latin typeface="Times New Roman"/>
                <a:cs typeface="Times New Roman"/>
              </a:rPr>
              <a:t>,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for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precompiled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SQLstatements,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covered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later.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i="1" spc="-15" dirty="0">
                <a:latin typeface="Times New Roman"/>
                <a:cs typeface="Times New Roman"/>
              </a:rPr>
              <a:t>CallableStatement</a:t>
            </a:r>
            <a:r>
              <a:rPr sz="1850" spc="-15" dirty="0">
                <a:latin typeface="Times New Roman"/>
                <a:cs typeface="Times New Roman"/>
              </a:rPr>
              <a:t>,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for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stored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procedures,</a:t>
            </a:r>
            <a:r>
              <a:rPr sz="1850" spc="-19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also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covered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later.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spc="-5" dirty="0">
                <a:latin typeface="Times New Roman"/>
                <a:cs typeface="Times New Roman"/>
              </a:rPr>
              <a:t>O</a:t>
            </a:r>
            <a:r>
              <a:rPr sz="1850" b="1" spc="5" dirty="0">
                <a:latin typeface="Times New Roman"/>
                <a:cs typeface="Times New Roman"/>
              </a:rPr>
              <a:t>b</a:t>
            </a:r>
            <a:r>
              <a:rPr sz="1850" b="1" spc="-60" dirty="0">
                <a:latin typeface="Times New Roman"/>
                <a:cs typeface="Times New Roman"/>
              </a:rPr>
              <a:t>j</a:t>
            </a:r>
            <a:r>
              <a:rPr sz="1850" b="1" spc="55" dirty="0">
                <a:latin typeface="Times New Roman"/>
                <a:cs typeface="Times New Roman"/>
              </a:rPr>
              <a:t>ec</a:t>
            </a:r>
            <a:r>
              <a:rPr sz="1850" b="1" spc="15" dirty="0">
                <a:latin typeface="Times New Roman"/>
                <a:cs typeface="Times New Roman"/>
              </a:rPr>
              <a:t>t</a:t>
            </a:r>
            <a:r>
              <a:rPr sz="1850" b="1" spc="-5" dirty="0">
                <a:latin typeface="Times New Roman"/>
                <a:cs typeface="Times New Roman"/>
              </a:rPr>
              <a:t>s</a:t>
            </a:r>
            <a:r>
              <a:rPr sz="1850" b="1" spc="-130" dirty="0">
                <a:latin typeface="Times New Roman"/>
                <a:cs typeface="Times New Roman"/>
              </a:rPr>
              <a:t> </a:t>
            </a:r>
            <a:r>
              <a:rPr sz="1850" b="1" spc="30" dirty="0">
                <a:latin typeface="Times New Roman"/>
                <a:cs typeface="Times New Roman"/>
              </a:rPr>
              <a:t>a</a:t>
            </a:r>
            <a:r>
              <a:rPr sz="1850" b="1" spc="5" dirty="0">
                <a:latin typeface="Times New Roman"/>
                <a:cs typeface="Times New Roman"/>
              </a:rPr>
              <a:t>n</a:t>
            </a:r>
            <a:r>
              <a:rPr sz="1850" b="1" spc="-5" dirty="0">
                <a:latin typeface="Times New Roman"/>
                <a:cs typeface="Times New Roman"/>
              </a:rPr>
              <a:t>d</a:t>
            </a:r>
            <a:r>
              <a:rPr sz="1850" b="1" spc="-120" dirty="0">
                <a:latin typeface="Times New Roman"/>
                <a:cs typeface="Times New Roman"/>
              </a:rPr>
              <a:t> </a:t>
            </a:r>
            <a:r>
              <a:rPr sz="1850" b="1" spc="-5" dirty="0">
                <a:latin typeface="Times New Roman"/>
                <a:cs typeface="Times New Roman"/>
              </a:rPr>
              <a:t>I</a:t>
            </a:r>
            <a:r>
              <a:rPr sz="1850" b="1" spc="10" dirty="0">
                <a:latin typeface="Times New Roman"/>
                <a:cs typeface="Times New Roman"/>
              </a:rPr>
              <a:t>n</a:t>
            </a:r>
            <a:r>
              <a:rPr sz="1850" b="1" spc="20" dirty="0">
                <a:latin typeface="Times New Roman"/>
                <a:cs typeface="Times New Roman"/>
              </a:rPr>
              <a:t>t</a:t>
            </a:r>
            <a:r>
              <a:rPr sz="1850" b="1" spc="-20" dirty="0">
                <a:latin typeface="Times New Roman"/>
                <a:cs typeface="Times New Roman"/>
              </a:rPr>
              <a:t>er</a:t>
            </a:r>
            <a:r>
              <a:rPr sz="1850" b="1" spc="-60" dirty="0">
                <a:latin typeface="Times New Roman"/>
                <a:cs typeface="Times New Roman"/>
              </a:rPr>
              <a:t>f</a:t>
            </a:r>
            <a:r>
              <a:rPr sz="1850" b="1" spc="30" dirty="0">
                <a:latin typeface="Times New Roman"/>
                <a:cs typeface="Times New Roman"/>
              </a:rPr>
              <a:t>a</a:t>
            </a:r>
            <a:r>
              <a:rPr sz="1850" b="1" spc="-20" dirty="0">
                <a:latin typeface="Times New Roman"/>
                <a:cs typeface="Times New Roman"/>
              </a:rPr>
              <a:t>ce</a:t>
            </a:r>
            <a:r>
              <a:rPr sz="1850" b="1" spc="-90" dirty="0">
                <a:latin typeface="Times New Roman"/>
                <a:cs typeface="Times New Roman"/>
              </a:rPr>
              <a:t>s</a:t>
            </a:r>
            <a:r>
              <a:rPr sz="1850" b="1" spc="-5" dirty="0">
                <a:latin typeface="Times New Roman"/>
                <a:cs typeface="Times New Roman"/>
              </a:rPr>
              <a:t>:</a:t>
            </a:r>
            <a:endParaRPr sz="1850">
              <a:latin typeface="Times New Roman"/>
              <a:cs typeface="Times New Roman"/>
            </a:endParaRPr>
          </a:p>
          <a:p>
            <a:pPr marL="12700" marR="5080" indent="457834" algn="just">
              <a:lnSpc>
                <a:spcPct val="97500"/>
              </a:lnSpc>
              <a:spcBef>
                <a:spcPts val="560"/>
              </a:spcBef>
            </a:pPr>
            <a:r>
              <a:rPr sz="1850" i="1" spc="-20" dirty="0">
                <a:latin typeface="Times New Roman"/>
                <a:cs typeface="Times New Roman"/>
              </a:rPr>
              <a:t>java.sql.Statement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55" dirty="0">
                <a:latin typeface="Times New Roman"/>
                <a:cs typeface="Times New Roman"/>
              </a:rPr>
              <a:t>an </a:t>
            </a:r>
            <a:r>
              <a:rPr sz="1850" spc="-30" dirty="0">
                <a:latin typeface="Times New Roman"/>
                <a:cs typeface="Times New Roman"/>
              </a:rPr>
              <a:t>interface, </a:t>
            </a:r>
            <a:r>
              <a:rPr sz="1850" spc="20" dirty="0">
                <a:latin typeface="Times New Roman"/>
                <a:cs typeface="Times New Roman"/>
              </a:rPr>
              <a:t>not </a:t>
            </a:r>
            <a:r>
              <a:rPr sz="1850" spc="-55" dirty="0">
                <a:latin typeface="Times New Roman"/>
                <a:cs typeface="Times New Roman"/>
              </a:rPr>
              <a:t>an </a:t>
            </a:r>
            <a:r>
              <a:rPr sz="1850" spc="-20" dirty="0">
                <a:latin typeface="Times New Roman"/>
                <a:cs typeface="Times New Roman"/>
              </a:rPr>
              <a:t>object. </a:t>
            </a:r>
            <a:r>
              <a:rPr sz="1850" spc="-40" dirty="0">
                <a:latin typeface="Times New Roman"/>
                <a:cs typeface="Times New Roman"/>
              </a:rPr>
              <a:t>When </a:t>
            </a:r>
            <a:r>
              <a:rPr sz="1850" spc="-35" dirty="0">
                <a:latin typeface="Times New Roman"/>
                <a:cs typeface="Times New Roman"/>
              </a:rPr>
              <a:t>you </a:t>
            </a:r>
            <a:r>
              <a:rPr sz="1850" spc="-25" dirty="0">
                <a:latin typeface="Times New Roman"/>
                <a:cs typeface="Times New Roman"/>
              </a:rPr>
              <a:t>declare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Statement </a:t>
            </a:r>
            <a:r>
              <a:rPr sz="1850" spc="-5" dirty="0">
                <a:latin typeface="Times New Roman"/>
                <a:cs typeface="Times New Roman"/>
              </a:rPr>
              <a:t>object 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spc="-35" dirty="0">
                <a:latin typeface="Times New Roman"/>
                <a:cs typeface="Times New Roman"/>
              </a:rPr>
              <a:t>initialize </a:t>
            </a:r>
            <a:r>
              <a:rPr sz="1850" spc="20" dirty="0">
                <a:latin typeface="Times New Roman"/>
                <a:cs typeface="Times New Roman"/>
              </a:rPr>
              <a:t>it </a:t>
            </a:r>
            <a:r>
              <a:rPr sz="1850" dirty="0">
                <a:latin typeface="Times New Roman"/>
                <a:cs typeface="Times New Roman"/>
              </a:rPr>
              <a:t>using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createStatement() </a:t>
            </a:r>
            <a:r>
              <a:rPr sz="1850" spc="-20" dirty="0">
                <a:latin typeface="Times New Roman"/>
                <a:cs typeface="Times New Roman"/>
              </a:rPr>
              <a:t>method,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you </a:t>
            </a:r>
            <a:r>
              <a:rPr sz="1850" dirty="0">
                <a:latin typeface="Times New Roman"/>
                <a:cs typeface="Times New Roman"/>
              </a:rPr>
              <a:t>are </a:t>
            </a:r>
            <a:r>
              <a:rPr sz="1850" spc="-25" dirty="0">
                <a:latin typeface="Times New Roman"/>
                <a:cs typeface="Times New Roman"/>
              </a:rPr>
              <a:t>creating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implementation </a:t>
            </a:r>
            <a:r>
              <a:rPr sz="1850" spc="30" dirty="0">
                <a:latin typeface="Times New Roman"/>
                <a:cs typeface="Times New Roman"/>
              </a:rPr>
              <a:t>of 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Statement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interface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supplied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by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Oracle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any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other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are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using.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6</a:t>
            </a:fld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457" y="131825"/>
            <a:ext cx="457898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Query:</a:t>
            </a:r>
            <a:r>
              <a:rPr u="sng" spc="-125" dirty="0"/>
              <a:t> </a:t>
            </a:r>
            <a:r>
              <a:rPr u="sng" spc="10" dirty="0"/>
              <a:t>The</a:t>
            </a:r>
            <a:r>
              <a:rPr u="sng" spc="-150" dirty="0"/>
              <a:t> </a:t>
            </a:r>
            <a:r>
              <a:rPr u="sng" spc="-20" dirty="0"/>
              <a:t>Statement</a:t>
            </a:r>
            <a:r>
              <a:rPr u="sng" spc="-120" dirty="0"/>
              <a:t> </a:t>
            </a:r>
            <a:r>
              <a:rPr u="sng" spc="-30" dirty="0"/>
              <a:t>Object</a:t>
            </a: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9673" y="16414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020" y="149224"/>
            <a:ext cx="48444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spc="-20" dirty="0"/>
              <a:t>How</a:t>
            </a:r>
            <a:r>
              <a:rPr sz="2800" u="sng" spc="65" dirty="0"/>
              <a:t> </a:t>
            </a:r>
            <a:r>
              <a:rPr sz="2800" u="sng" spc="10" dirty="0"/>
              <a:t>to</a:t>
            </a:r>
            <a:r>
              <a:rPr sz="2800" u="sng" spc="-110" dirty="0"/>
              <a:t> </a:t>
            </a:r>
            <a:r>
              <a:rPr sz="2800" u="sng" spc="-30" dirty="0"/>
              <a:t>Query</a:t>
            </a:r>
            <a:r>
              <a:rPr sz="2800" u="sng" spc="120" dirty="0"/>
              <a:t> </a:t>
            </a:r>
            <a:r>
              <a:rPr sz="2800" u="sng" spc="-30" dirty="0"/>
              <a:t>the</a:t>
            </a:r>
            <a:r>
              <a:rPr sz="2800" u="sng" spc="120" dirty="0"/>
              <a:t> </a:t>
            </a:r>
            <a:r>
              <a:rPr sz="2800" u="sng" spc="-25" dirty="0"/>
              <a:t>Database?</a:t>
            </a:r>
            <a:endParaRPr sz="2800" u="sng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7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6514" y="1159255"/>
            <a:ext cx="687514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1850" spc="-25" dirty="0">
                <a:solidFill>
                  <a:srgbClr val="00AFEF"/>
                </a:solidFill>
                <a:latin typeface="Times New Roman"/>
                <a:cs typeface="Times New Roman"/>
              </a:rPr>
              <a:t>1.	</a:t>
            </a:r>
            <a:r>
              <a:rPr sz="1850" spc="-90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execute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SQL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,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we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should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first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create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object,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as: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14" y="2218372"/>
            <a:ext cx="376872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140" algn="l"/>
              </a:tabLst>
            </a:pPr>
            <a:r>
              <a:rPr sz="1850" spc="-50" dirty="0">
                <a:solidFill>
                  <a:srgbClr val="00AFEF"/>
                </a:solidFill>
                <a:latin typeface="Times New Roman"/>
                <a:cs typeface="Times New Roman"/>
              </a:rPr>
              <a:t>2</a:t>
            </a:r>
            <a:r>
              <a:rPr sz="1850" spc="-5" dirty="0">
                <a:solidFill>
                  <a:srgbClr val="00AFEF"/>
                </a:solidFill>
                <a:latin typeface="Times New Roman"/>
                <a:cs typeface="Times New Roman"/>
              </a:rPr>
              <a:t>.</a:t>
            </a:r>
            <a:r>
              <a:rPr sz="1850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1850" spc="-175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o</a:t>
            </a:r>
            <a:r>
              <a:rPr sz="1850" spc="-25" dirty="0">
                <a:latin typeface="Times New Roman"/>
                <a:cs typeface="Times New Roman"/>
              </a:rPr>
              <a:t> e</a:t>
            </a:r>
            <a:r>
              <a:rPr sz="1850" spc="-50" dirty="0">
                <a:latin typeface="Times New Roman"/>
                <a:cs typeface="Times New Roman"/>
              </a:rPr>
              <a:t>x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qu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y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se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5160" y="1772919"/>
            <a:ext cx="4561840" cy="355600"/>
          </a:xfrm>
          <a:prstGeom prst="rect">
            <a:avLst/>
          </a:prstGeom>
          <a:solidFill>
            <a:srgbClr val="F8AC8D"/>
          </a:solidFill>
          <a:ln w="10159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425"/>
              </a:spcBef>
            </a:pPr>
            <a:r>
              <a:rPr sz="1500" dirty="0">
                <a:latin typeface="Arial MT"/>
                <a:cs typeface="Arial MT"/>
              </a:rPr>
              <a:t>Statement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i="1" spc="30" dirty="0">
                <a:latin typeface="Arial"/>
                <a:cs typeface="Arial"/>
              </a:rPr>
              <a:t>stmt</a:t>
            </a:r>
            <a:r>
              <a:rPr sz="1500" i="1" spc="-195" dirty="0">
                <a:latin typeface="Arial"/>
                <a:cs typeface="Arial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i="1" spc="5" dirty="0">
                <a:latin typeface="Arial"/>
                <a:cs typeface="Arial"/>
              </a:rPr>
              <a:t>conn</a:t>
            </a:r>
            <a:r>
              <a:rPr sz="1500" spc="5" dirty="0">
                <a:latin typeface="Arial MT"/>
                <a:cs typeface="Arial MT"/>
              </a:rPr>
              <a:t>.createStatement();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5160" y="2727959"/>
            <a:ext cx="5181600" cy="934719"/>
          </a:xfrm>
          <a:prstGeom prst="rect">
            <a:avLst/>
          </a:prstGeom>
          <a:solidFill>
            <a:srgbClr val="F8AC8D"/>
          </a:solidFill>
          <a:ln w="10159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59690" marR="1056005">
              <a:lnSpc>
                <a:spcPts val="2250"/>
              </a:lnSpc>
              <a:spcBef>
                <a:spcPts val="130"/>
              </a:spcBef>
            </a:pPr>
            <a:r>
              <a:rPr sz="1500" spc="30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-15" dirty="0">
                <a:latin typeface="Arial MT"/>
                <a:cs typeface="Arial MT"/>
              </a:rPr>
              <a:t>l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110" dirty="0">
                <a:latin typeface="Arial MT"/>
                <a:cs typeface="Arial MT"/>
              </a:rPr>
              <a:t> </a:t>
            </a:r>
            <a:r>
              <a:rPr sz="1500" i="1" spc="-25" dirty="0">
                <a:latin typeface="Arial"/>
                <a:cs typeface="Arial"/>
              </a:rPr>
              <a:t>r</a:t>
            </a:r>
            <a:r>
              <a:rPr sz="1500" i="1" spc="45" dirty="0">
                <a:latin typeface="Arial"/>
                <a:cs typeface="Arial"/>
              </a:rPr>
              <a:t>s</a:t>
            </a:r>
            <a:r>
              <a:rPr sz="1500" i="1" spc="40" dirty="0">
                <a:latin typeface="Arial"/>
                <a:cs typeface="Arial"/>
              </a:rPr>
              <a:t>e</a:t>
            </a:r>
            <a:r>
              <a:rPr sz="1500" i="1" spc="5" dirty="0">
                <a:latin typeface="Arial"/>
                <a:cs typeface="Arial"/>
              </a:rPr>
              <a:t>t</a:t>
            </a:r>
            <a:r>
              <a:rPr sz="1500" i="1" spc="-120" dirty="0">
                <a:latin typeface="Arial"/>
                <a:cs typeface="Arial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i="1" spc="45" dirty="0">
                <a:latin typeface="Arial"/>
                <a:cs typeface="Arial"/>
              </a:rPr>
              <a:t>s</a:t>
            </a:r>
            <a:r>
              <a:rPr sz="1500" i="1" spc="-20" dirty="0">
                <a:latin typeface="Arial"/>
                <a:cs typeface="Arial"/>
              </a:rPr>
              <a:t>t</a:t>
            </a:r>
            <a:r>
              <a:rPr sz="1500" i="1" spc="110" dirty="0">
                <a:latin typeface="Arial"/>
                <a:cs typeface="Arial"/>
              </a:rPr>
              <a:t>m</a:t>
            </a:r>
            <a:r>
              <a:rPr sz="1500" i="1" spc="-20" dirty="0">
                <a:latin typeface="Arial"/>
                <a:cs typeface="Arial"/>
              </a:rPr>
              <a:t>t</a:t>
            </a:r>
            <a:r>
              <a:rPr sz="1500" spc="-20" dirty="0">
                <a:latin typeface="Arial MT"/>
                <a:cs typeface="Arial MT"/>
              </a:rPr>
              <a:t>.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35" dirty="0">
                <a:latin typeface="Arial MT"/>
                <a:cs typeface="Arial MT"/>
              </a:rPr>
              <a:t>x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25" dirty="0">
                <a:latin typeface="Arial MT"/>
                <a:cs typeface="Arial MT"/>
              </a:rPr>
              <a:t>Q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-15" dirty="0">
                <a:latin typeface="Arial MT"/>
                <a:cs typeface="Arial MT"/>
              </a:rPr>
              <a:t>y</a:t>
            </a:r>
            <a:r>
              <a:rPr sz="1500" spc="-25" dirty="0">
                <a:latin typeface="Arial MT"/>
                <a:cs typeface="Arial MT"/>
              </a:rPr>
              <a:t>(</a:t>
            </a:r>
            <a:r>
              <a:rPr sz="1500" i="1" spc="45" dirty="0">
                <a:latin typeface="Arial"/>
                <a:cs typeface="Arial"/>
              </a:rPr>
              <a:t>s</a:t>
            </a:r>
            <a:r>
              <a:rPr sz="1500" i="1" spc="-20" dirty="0">
                <a:latin typeface="Arial"/>
                <a:cs typeface="Arial"/>
              </a:rPr>
              <a:t>t</a:t>
            </a:r>
            <a:r>
              <a:rPr sz="1500" i="1" spc="40" dirty="0">
                <a:latin typeface="Arial"/>
                <a:cs typeface="Arial"/>
              </a:rPr>
              <a:t>a</a:t>
            </a:r>
            <a:r>
              <a:rPr sz="1500" i="1" spc="-20" dirty="0">
                <a:latin typeface="Arial"/>
                <a:cs typeface="Arial"/>
              </a:rPr>
              <a:t>t</a:t>
            </a:r>
            <a:r>
              <a:rPr sz="1500" i="1" spc="-40" dirty="0">
                <a:latin typeface="Arial"/>
                <a:cs typeface="Arial"/>
              </a:rPr>
              <a:t>e</a:t>
            </a:r>
            <a:r>
              <a:rPr sz="1500" i="1" spc="30" dirty="0">
                <a:latin typeface="Arial"/>
                <a:cs typeface="Arial"/>
              </a:rPr>
              <a:t>m</a:t>
            </a:r>
            <a:r>
              <a:rPr sz="1500" i="1" spc="-40" dirty="0">
                <a:latin typeface="Arial"/>
                <a:cs typeface="Arial"/>
              </a:rPr>
              <a:t>e</a:t>
            </a:r>
            <a:r>
              <a:rPr sz="1500" i="1" spc="40" dirty="0">
                <a:latin typeface="Arial"/>
                <a:cs typeface="Arial"/>
              </a:rPr>
              <a:t>n</a:t>
            </a:r>
            <a:r>
              <a:rPr sz="1500" i="1" spc="-20" dirty="0">
                <a:latin typeface="Arial"/>
                <a:cs typeface="Arial"/>
              </a:rPr>
              <a:t>t</a:t>
            </a:r>
            <a:r>
              <a:rPr sz="1500" spc="-25" dirty="0">
                <a:latin typeface="Arial MT"/>
                <a:cs typeface="Arial MT"/>
              </a:rPr>
              <a:t>);  </a:t>
            </a:r>
            <a:r>
              <a:rPr sz="1500" spc="-20" dirty="0">
                <a:latin typeface="Arial MT"/>
                <a:cs typeface="Arial MT"/>
              </a:rPr>
              <a:t>int </a:t>
            </a:r>
            <a:r>
              <a:rPr sz="1500" i="1" spc="35" dirty="0">
                <a:latin typeface="Arial"/>
                <a:cs typeface="Arial"/>
              </a:rPr>
              <a:t>count </a:t>
            </a:r>
            <a:r>
              <a:rPr sz="1500" spc="10" dirty="0">
                <a:latin typeface="Arial MT"/>
                <a:cs typeface="Arial MT"/>
              </a:rPr>
              <a:t>= </a:t>
            </a:r>
            <a:r>
              <a:rPr sz="1500" i="1" dirty="0">
                <a:latin typeface="Arial"/>
                <a:cs typeface="Arial"/>
              </a:rPr>
              <a:t>stmt</a:t>
            </a:r>
            <a:r>
              <a:rPr sz="1500" dirty="0">
                <a:latin typeface="Arial MT"/>
                <a:cs typeface="Arial MT"/>
              </a:rPr>
              <a:t>.executeUpdate(</a:t>
            </a:r>
            <a:r>
              <a:rPr sz="1500" i="1" dirty="0">
                <a:latin typeface="Arial"/>
                <a:cs typeface="Arial"/>
              </a:rPr>
              <a:t>statement</a:t>
            </a:r>
            <a:r>
              <a:rPr sz="1500" dirty="0">
                <a:latin typeface="Arial MT"/>
                <a:cs typeface="Arial MT"/>
              </a:rPr>
              <a:t>); 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15" dirty="0">
                <a:latin typeface="Arial MT"/>
                <a:cs typeface="Arial MT"/>
              </a:rPr>
              <a:t>boolean</a:t>
            </a:r>
            <a:r>
              <a:rPr sz="1500" spc="-135" dirty="0">
                <a:latin typeface="Arial MT"/>
                <a:cs typeface="Arial MT"/>
              </a:rPr>
              <a:t> </a:t>
            </a:r>
            <a:r>
              <a:rPr sz="1500" i="1" spc="30" dirty="0">
                <a:latin typeface="Arial"/>
                <a:cs typeface="Arial"/>
              </a:rPr>
              <a:t>isquery</a:t>
            </a:r>
            <a:r>
              <a:rPr sz="1500" i="1" spc="-120" dirty="0">
                <a:latin typeface="Arial"/>
                <a:cs typeface="Arial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i="1" spc="5" dirty="0">
                <a:latin typeface="Arial"/>
                <a:cs typeface="Arial"/>
              </a:rPr>
              <a:t>stmt</a:t>
            </a:r>
            <a:r>
              <a:rPr sz="1500" spc="5" dirty="0">
                <a:latin typeface="Arial MT"/>
                <a:cs typeface="Arial MT"/>
              </a:rPr>
              <a:t>.execute(</a:t>
            </a:r>
            <a:r>
              <a:rPr sz="1500" i="1" spc="5" dirty="0">
                <a:latin typeface="Arial"/>
                <a:cs typeface="Arial"/>
              </a:rPr>
              <a:t>statement</a:t>
            </a:r>
            <a:r>
              <a:rPr sz="1500" spc="5" dirty="0">
                <a:latin typeface="Arial MT"/>
                <a:cs typeface="Arial MT"/>
              </a:rPr>
              <a:t>);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2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5949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452310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/>
              <a:t>How</a:t>
            </a:r>
            <a:r>
              <a:rPr u="sng" spc="-15" dirty="0"/>
              <a:t> </a:t>
            </a:r>
            <a:r>
              <a:rPr u="sng" spc="-5" dirty="0"/>
              <a:t>to</a:t>
            </a:r>
            <a:r>
              <a:rPr u="sng" spc="-125" dirty="0"/>
              <a:t> </a:t>
            </a:r>
            <a:r>
              <a:rPr u="sng" spc="-25" dirty="0"/>
              <a:t>Query</a:t>
            </a:r>
            <a:r>
              <a:rPr u="sng" spc="-65" dirty="0"/>
              <a:t> </a:t>
            </a:r>
            <a:r>
              <a:rPr u="sng" spc="-10" dirty="0"/>
              <a:t>the</a:t>
            </a:r>
            <a:r>
              <a:rPr u="sng" spc="-60" dirty="0"/>
              <a:t> </a:t>
            </a:r>
            <a:r>
              <a:rPr u="sng" spc="-30" dirty="0"/>
              <a:t>Database?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8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935735"/>
            <a:ext cx="8696960" cy="3238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6379" marR="5080" indent="-234315" algn="just">
              <a:lnSpc>
                <a:spcPts val="2160"/>
              </a:lnSpc>
              <a:spcBef>
                <a:spcPts val="21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5" dirty="0">
                <a:latin typeface="Times New Roman"/>
                <a:cs typeface="Times New Roman"/>
              </a:rPr>
              <a:t>Once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30" dirty="0">
                <a:latin typeface="Times New Roman"/>
                <a:cs typeface="Times New Roman"/>
              </a:rPr>
              <a:t>connection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0" dirty="0">
                <a:latin typeface="Times New Roman"/>
                <a:cs typeface="Times New Roman"/>
              </a:rPr>
              <a:t>particular database is </a:t>
            </a:r>
            <a:r>
              <a:rPr sz="1850" spc="-30" dirty="0">
                <a:latin typeface="Times New Roman"/>
                <a:cs typeface="Times New Roman"/>
              </a:rPr>
              <a:t>established,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that connection </a:t>
            </a:r>
            <a:r>
              <a:rPr sz="1850" spc="-45" dirty="0">
                <a:latin typeface="Times New Roman"/>
                <a:cs typeface="Times New Roman"/>
              </a:rPr>
              <a:t>can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used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spc="-120" dirty="0">
                <a:latin typeface="Times New Roman"/>
                <a:cs typeface="Times New Roman"/>
              </a:rPr>
              <a:t>to 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send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statements.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Statement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object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created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with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Connection</a:t>
            </a:r>
            <a:r>
              <a:rPr sz="1850" spc="-25" dirty="0">
                <a:latin typeface="Times New Roman"/>
                <a:cs typeface="Times New Roman"/>
              </a:rPr>
              <a:t> method </a:t>
            </a:r>
            <a:r>
              <a:rPr sz="1850" spc="-20" dirty="0">
                <a:latin typeface="Times New Roman"/>
                <a:cs typeface="Times New Roman"/>
              </a:rPr>
              <a:t> createStatement,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dirty="0">
                <a:latin typeface="Times New Roman"/>
                <a:cs typeface="Times New Roman"/>
              </a:rPr>
              <a:t> following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code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fragment:</a:t>
            </a:r>
            <a:endParaRPr sz="1850">
              <a:latin typeface="Times New Roman"/>
              <a:cs typeface="Times New Roman"/>
            </a:endParaRPr>
          </a:p>
          <a:p>
            <a:pPr marL="927735" algn="just">
              <a:lnSpc>
                <a:spcPct val="100000"/>
              </a:lnSpc>
              <a:spcBef>
                <a:spcPts val="455"/>
              </a:spcBef>
            </a:pPr>
            <a:r>
              <a:rPr sz="1850" b="1" i="1" spc="-20" dirty="0">
                <a:latin typeface="Times New Roman"/>
                <a:cs typeface="Times New Roman"/>
              </a:rPr>
              <a:t>Statement</a:t>
            </a:r>
            <a:r>
              <a:rPr sz="1850" b="1" i="1" spc="-95" dirty="0">
                <a:latin typeface="Times New Roman"/>
                <a:cs typeface="Times New Roman"/>
              </a:rPr>
              <a:t> </a:t>
            </a:r>
            <a:r>
              <a:rPr sz="1850" b="1" i="1" spc="-10" dirty="0">
                <a:latin typeface="Times New Roman"/>
                <a:cs typeface="Times New Roman"/>
              </a:rPr>
              <a:t>stmt</a:t>
            </a:r>
            <a:r>
              <a:rPr sz="1850" b="1" i="1" spc="-100" dirty="0">
                <a:latin typeface="Times New Roman"/>
                <a:cs typeface="Times New Roman"/>
              </a:rPr>
              <a:t> </a:t>
            </a:r>
            <a:r>
              <a:rPr sz="1850" b="1" i="1" spc="-5" dirty="0">
                <a:latin typeface="Times New Roman"/>
                <a:cs typeface="Times New Roman"/>
              </a:rPr>
              <a:t>= </a:t>
            </a:r>
            <a:r>
              <a:rPr sz="1850" b="1" i="1" spc="-15" dirty="0">
                <a:latin typeface="Times New Roman"/>
                <a:cs typeface="Times New Roman"/>
              </a:rPr>
              <a:t>conn.createStatement();</a:t>
            </a:r>
            <a:endParaRPr sz="1850">
              <a:latin typeface="Times New Roman"/>
              <a:cs typeface="Times New Roman"/>
            </a:endParaRPr>
          </a:p>
          <a:p>
            <a:pPr marL="246379" indent="-234315" algn="just">
              <a:lnSpc>
                <a:spcPts val="2195"/>
              </a:lnSpc>
              <a:spcBef>
                <a:spcPts val="58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SQL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be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sent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database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supplied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1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argument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to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one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of</a:t>
            </a:r>
            <a:endParaRPr sz="1850">
              <a:latin typeface="Times New Roman"/>
              <a:cs typeface="Times New Roman"/>
            </a:endParaRPr>
          </a:p>
          <a:p>
            <a:pPr marL="246379" algn="just">
              <a:lnSpc>
                <a:spcPts val="2195"/>
              </a:lnSpc>
            </a:pP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0" dirty="0">
                <a:latin typeface="Times New Roman"/>
                <a:cs typeface="Times New Roman"/>
              </a:rPr>
              <a:t>x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hod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ob</a:t>
            </a:r>
            <a:r>
              <a:rPr sz="1850" spc="-40" dirty="0">
                <a:latin typeface="Times New Roman"/>
                <a:cs typeface="Times New Roman"/>
              </a:rPr>
              <a:t>j</a:t>
            </a:r>
            <a:r>
              <a:rPr sz="1850" spc="-20" dirty="0">
                <a:latin typeface="Times New Roman"/>
                <a:cs typeface="Times New Roman"/>
              </a:rPr>
              <a:t>ec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46379" indent="-234315" algn="just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0" dirty="0">
                <a:latin typeface="Times New Roman"/>
                <a:cs typeface="Times New Roman"/>
              </a:rPr>
              <a:t>This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demonstrated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example,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which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method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executeQuery:</a:t>
            </a:r>
            <a:endParaRPr sz="1850">
              <a:latin typeface="Times New Roman"/>
              <a:cs typeface="Times New Roman"/>
            </a:endParaRPr>
          </a:p>
          <a:p>
            <a:pPr marL="927735" algn="just">
              <a:lnSpc>
                <a:spcPct val="100000"/>
              </a:lnSpc>
              <a:spcBef>
                <a:spcPts val="580"/>
              </a:spcBef>
            </a:pPr>
            <a:r>
              <a:rPr sz="1850" b="1" i="1" spc="-20" dirty="0">
                <a:latin typeface="Times New Roman"/>
                <a:cs typeface="Times New Roman"/>
              </a:rPr>
              <a:t>ResultSet</a:t>
            </a:r>
            <a:r>
              <a:rPr sz="1850" b="1" i="1" spc="-75" dirty="0">
                <a:latin typeface="Times New Roman"/>
                <a:cs typeface="Times New Roman"/>
              </a:rPr>
              <a:t> </a:t>
            </a:r>
            <a:r>
              <a:rPr sz="1850" b="1" i="1" spc="-10" dirty="0">
                <a:latin typeface="Times New Roman"/>
                <a:cs typeface="Times New Roman"/>
              </a:rPr>
              <a:t>rset</a:t>
            </a:r>
            <a:r>
              <a:rPr sz="1850" b="1" i="1" spc="-90" dirty="0">
                <a:latin typeface="Times New Roman"/>
                <a:cs typeface="Times New Roman"/>
              </a:rPr>
              <a:t> </a:t>
            </a:r>
            <a:r>
              <a:rPr sz="1850" b="1" i="1" spc="-5" dirty="0">
                <a:latin typeface="Times New Roman"/>
                <a:cs typeface="Times New Roman"/>
              </a:rPr>
              <a:t>=</a:t>
            </a:r>
            <a:r>
              <a:rPr sz="1850" b="1" i="1" spc="15" dirty="0">
                <a:latin typeface="Times New Roman"/>
                <a:cs typeface="Times New Roman"/>
              </a:rPr>
              <a:t> </a:t>
            </a:r>
            <a:r>
              <a:rPr sz="1850" b="1" i="1" spc="-20" dirty="0">
                <a:latin typeface="Times New Roman"/>
                <a:cs typeface="Times New Roman"/>
              </a:rPr>
              <a:t>stmt.executeQuery("SELECT</a:t>
            </a:r>
            <a:r>
              <a:rPr sz="1850" b="1" i="1" spc="-114" dirty="0">
                <a:latin typeface="Times New Roman"/>
                <a:cs typeface="Times New Roman"/>
              </a:rPr>
              <a:t> </a:t>
            </a:r>
            <a:r>
              <a:rPr sz="1850" b="1" i="1" spc="15" dirty="0">
                <a:latin typeface="Times New Roman"/>
                <a:cs typeface="Times New Roman"/>
              </a:rPr>
              <a:t>a,</a:t>
            </a:r>
            <a:r>
              <a:rPr sz="1850" b="1" i="1" spc="-114" dirty="0">
                <a:latin typeface="Times New Roman"/>
                <a:cs typeface="Times New Roman"/>
              </a:rPr>
              <a:t> </a:t>
            </a:r>
            <a:r>
              <a:rPr sz="1850" b="1" i="1" spc="15" dirty="0">
                <a:latin typeface="Times New Roman"/>
                <a:cs typeface="Times New Roman"/>
              </a:rPr>
              <a:t>b,</a:t>
            </a:r>
            <a:r>
              <a:rPr sz="1850" b="1" i="1" spc="-114" dirty="0">
                <a:latin typeface="Times New Roman"/>
                <a:cs typeface="Times New Roman"/>
              </a:rPr>
              <a:t> </a:t>
            </a:r>
            <a:r>
              <a:rPr sz="1850" b="1" i="1" spc="-5" dirty="0">
                <a:latin typeface="Times New Roman"/>
                <a:cs typeface="Times New Roman"/>
              </a:rPr>
              <a:t>c</a:t>
            </a:r>
            <a:r>
              <a:rPr sz="1850" b="1" i="1" spc="-75" dirty="0">
                <a:latin typeface="Times New Roman"/>
                <a:cs typeface="Times New Roman"/>
              </a:rPr>
              <a:t> </a:t>
            </a:r>
            <a:r>
              <a:rPr sz="1850" b="1" i="1" spc="-35" dirty="0">
                <a:latin typeface="Times New Roman"/>
                <a:cs typeface="Times New Roman"/>
              </a:rPr>
              <a:t>FROM</a:t>
            </a:r>
            <a:r>
              <a:rPr sz="1850" b="1" i="1" spc="-5" dirty="0">
                <a:latin typeface="Times New Roman"/>
                <a:cs typeface="Times New Roman"/>
              </a:rPr>
              <a:t> </a:t>
            </a:r>
            <a:r>
              <a:rPr sz="1850" b="1" i="1" spc="-15" dirty="0">
                <a:latin typeface="Times New Roman"/>
                <a:cs typeface="Times New Roman"/>
              </a:rPr>
              <a:t>Table2");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50">
              <a:latin typeface="Times New Roman"/>
              <a:cs typeface="Times New Roman"/>
            </a:endParaRPr>
          </a:p>
          <a:p>
            <a:pPr marL="246379" indent="-234315" algn="just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variable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rset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references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result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 </a:t>
            </a:r>
            <a:r>
              <a:rPr sz="1850" spc="-5" dirty="0">
                <a:latin typeface="Times New Roman"/>
                <a:cs typeface="Times New Roman"/>
              </a:rPr>
              <a:t>discussed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sections.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967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537908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Querying</a:t>
            </a:r>
            <a:r>
              <a:rPr u="sng" spc="-125" dirty="0"/>
              <a:t> </a:t>
            </a:r>
            <a:r>
              <a:rPr u="sng" spc="-10" dirty="0"/>
              <a:t>the</a:t>
            </a:r>
            <a:r>
              <a:rPr u="sng" spc="-65" dirty="0"/>
              <a:t> </a:t>
            </a:r>
            <a:r>
              <a:rPr u="sng" spc="-30" dirty="0"/>
              <a:t>Database:</a:t>
            </a:r>
            <a:r>
              <a:rPr u="sng" spc="-40" dirty="0"/>
              <a:t> </a:t>
            </a:r>
            <a:r>
              <a:rPr u="sng" spc="-25" dirty="0"/>
              <a:t>Examples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9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6514" y="1224978"/>
            <a:ext cx="568515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6379" indent="-234315">
              <a:lnSpc>
                <a:spcPct val="100000"/>
              </a:lnSpc>
              <a:spcBef>
                <a:spcPts val="90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are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execute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Select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14" y="2986087"/>
            <a:ext cx="568515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6379" indent="-234315">
              <a:lnSpc>
                <a:spcPct val="100000"/>
              </a:lnSpc>
              <a:spcBef>
                <a:spcPts val="90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are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execute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Select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5800" y="1661159"/>
            <a:ext cx="5364480" cy="863600"/>
          </a:xfrm>
          <a:prstGeom prst="rect">
            <a:avLst/>
          </a:prstGeom>
          <a:solidFill>
            <a:srgbClr val="F8AC8D"/>
          </a:solidFill>
          <a:ln w="10159">
            <a:solidFill>
              <a:srgbClr val="006FC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40"/>
              </a:spcBef>
            </a:pP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120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40" dirty="0">
                <a:latin typeface="Arial MT"/>
                <a:cs typeface="Arial MT"/>
              </a:rPr>
              <a:t>o</a:t>
            </a:r>
            <a:r>
              <a:rPr sz="1500" spc="-40" dirty="0">
                <a:latin typeface="Arial MT"/>
                <a:cs typeface="Arial MT"/>
              </a:rPr>
              <a:t>nn</a:t>
            </a:r>
            <a:r>
              <a:rPr sz="1500" spc="-20" dirty="0">
                <a:latin typeface="Arial MT"/>
                <a:cs typeface="Arial MT"/>
              </a:rPr>
              <a:t>.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25" dirty="0">
                <a:latin typeface="Arial MT"/>
                <a:cs typeface="Arial MT"/>
              </a:rPr>
              <a:t>()</a:t>
            </a:r>
            <a:r>
              <a:rPr sz="1500" spc="5" dirty="0">
                <a:latin typeface="Arial MT"/>
                <a:cs typeface="Arial MT"/>
              </a:rPr>
              <a:t>;</a:t>
            </a:r>
            <a:endParaRPr sz="1500">
              <a:latin typeface="Arial MT"/>
              <a:cs typeface="Arial MT"/>
            </a:endParaRPr>
          </a:p>
          <a:p>
            <a:pPr marL="62230">
              <a:lnSpc>
                <a:spcPct val="100000"/>
              </a:lnSpc>
              <a:spcBef>
                <a:spcPts val="445"/>
              </a:spcBef>
            </a:pPr>
            <a:r>
              <a:rPr sz="1500" spc="30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-20" dirty="0">
                <a:latin typeface="Arial MT"/>
                <a:cs typeface="Arial MT"/>
              </a:rPr>
              <a:t>lt</a:t>
            </a: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12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120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-20" dirty="0">
                <a:latin typeface="Arial MT"/>
                <a:cs typeface="Arial MT"/>
              </a:rPr>
              <a:t>t.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35" dirty="0">
                <a:latin typeface="Arial MT"/>
                <a:cs typeface="Arial MT"/>
              </a:rPr>
              <a:t>x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25" dirty="0">
                <a:latin typeface="Arial MT"/>
                <a:cs typeface="Arial MT"/>
              </a:rPr>
              <a:t>Q</a:t>
            </a:r>
            <a:r>
              <a:rPr sz="1500" spc="-40" dirty="0">
                <a:latin typeface="Arial MT"/>
                <a:cs typeface="Arial MT"/>
              </a:rPr>
              <a:t>u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10" dirty="0">
                <a:latin typeface="Arial MT"/>
                <a:cs typeface="Arial MT"/>
              </a:rPr>
              <a:t>y</a:t>
            </a:r>
            <a:endParaRPr sz="1500">
              <a:latin typeface="Arial MT"/>
              <a:cs typeface="Arial MT"/>
            </a:endParaRPr>
          </a:p>
          <a:p>
            <a:pPr marL="163830">
              <a:lnSpc>
                <a:spcPct val="100000"/>
              </a:lnSpc>
              <a:spcBef>
                <a:spcPts val="445"/>
              </a:spcBef>
            </a:pPr>
            <a:r>
              <a:rPr sz="1500" spc="-25" dirty="0">
                <a:latin typeface="Arial MT"/>
                <a:cs typeface="Arial MT"/>
              </a:rPr>
              <a:t>(</a:t>
            </a:r>
            <a:r>
              <a:rPr sz="1500" spc="20" dirty="0">
                <a:latin typeface="Arial MT"/>
                <a:cs typeface="Arial MT"/>
              </a:rPr>
              <a:t>"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15" dirty="0">
                <a:latin typeface="Arial MT"/>
                <a:cs typeface="Arial MT"/>
              </a:rPr>
              <a:t>l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204" dirty="0">
                <a:latin typeface="Arial MT"/>
                <a:cs typeface="Arial MT"/>
              </a:rPr>
              <a:t> </a:t>
            </a:r>
            <a:r>
              <a:rPr sz="1500" spc="-45" dirty="0">
                <a:latin typeface="Arial MT"/>
                <a:cs typeface="Arial MT"/>
              </a:rPr>
              <a:t>N</a:t>
            </a:r>
            <a:r>
              <a:rPr sz="1500" spc="35" dirty="0">
                <a:latin typeface="Arial MT"/>
                <a:cs typeface="Arial MT"/>
              </a:rPr>
              <a:t>A</a:t>
            </a:r>
            <a:r>
              <a:rPr sz="1500" spc="-50" dirty="0">
                <a:latin typeface="Arial MT"/>
                <a:cs typeface="Arial MT"/>
              </a:rPr>
              <a:t>M</a:t>
            </a:r>
            <a:r>
              <a:rPr sz="1500" spc="35" dirty="0">
                <a:latin typeface="Arial MT"/>
                <a:cs typeface="Arial MT"/>
              </a:rPr>
              <a:t>E</a:t>
            </a:r>
            <a:r>
              <a:rPr sz="1500" spc="5" dirty="0">
                <a:latin typeface="Arial MT"/>
                <a:cs typeface="Arial MT"/>
              </a:rPr>
              <a:t>,</a:t>
            </a:r>
            <a:r>
              <a:rPr sz="1500" spc="35" dirty="0">
                <a:latin typeface="Arial MT"/>
                <a:cs typeface="Arial MT"/>
              </a:rPr>
              <a:t> VE</a:t>
            </a:r>
            <a:r>
              <a:rPr sz="1500" spc="30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T</a:t>
            </a:r>
            <a:r>
              <a:rPr sz="1500" spc="55" dirty="0">
                <a:latin typeface="Arial MT"/>
                <a:cs typeface="Arial MT"/>
              </a:rPr>
              <a:t>I</a:t>
            </a:r>
            <a:r>
              <a:rPr sz="1500" spc="-45" dirty="0">
                <a:latin typeface="Arial MT"/>
                <a:cs typeface="Arial MT"/>
              </a:rPr>
              <a:t>C</a:t>
            </a:r>
            <a:r>
              <a:rPr sz="1500" spc="35" dirty="0">
                <a:latin typeface="Arial MT"/>
                <a:cs typeface="Arial MT"/>
              </a:rPr>
              <a:t>A</a:t>
            </a:r>
            <a:r>
              <a:rPr sz="1500" spc="10" dirty="0">
                <a:latin typeface="Arial MT"/>
                <a:cs typeface="Arial MT"/>
              </a:rPr>
              <a:t>L</a:t>
            </a:r>
            <a:r>
              <a:rPr sz="1500" spc="-225" dirty="0">
                <a:latin typeface="Arial MT"/>
                <a:cs typeface="Arial MT"/>
              </a:rPr>
              <a:t> </a:t>
            </a:r>
            <a:r>
              <a:rPr sz="1500" spc="55" dirty="0">
                <a:latin typeface="Arial MT"/>
                <a:cs typeface="Arial MT"/>
              </a:rPr>
              <a:t>f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o</a:t>
            </a:r>
            <a:r>
              <a:rPr sz="1500" spc="20" dirty="0">
                <a:latin typeface="Arial MT"/>
                <a:cs typeface="Arial MT"/>
              </a:rPr>
              <a:t>m</a:t>
            </a:r>
            <a:r>
              <a:rPr sz="1500" spc="-170" dirty="0">
                <a:latin typeface="Arial MT"/>
                <a:cs typeface="Arial MT"/>
              </a:rPr>
              <a:t> </a:t>
            </a: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40" dirty="0">
                <a:latin typeface="Arial MT"/>
                <a:cs typeface="Arial MT"/>
              </a:rPr>
              <a:t>T</a:t>
            </a:r>
            <a:r>
              <a:rPr sz="1500" spc="-45" dirty="0">
                <a:latin typeface="Arial MT"/>
                <a:cs typeface="Arial MT"/>
              </a:rPr>
              <a:t>U</a:t>
            </a:r>
            <a:r>
              <a:rPr sz="1500" spc="30" dirty="0">
                <a:latin typeface="Arial MT"/>
                <a:cs typeface="Arial MT"/>
              </a:rPr>
              <a:t>D</a:t>
            </a:r>
            <a:r>
              <a:rPr sz="1500" spc="35" dirty="0">
                <a:latin typeface="Arial MT"/>
                <a:cs typeface="Arial MT"/>
              </a:rPr>
              <a:t>E</a:t>
            </a:r>
            <a:r>
              <a:rPr sz="1500" spc="-45" dirty="0">
                <a:latin typeface="Arial MT"/>
                <a:cs typeface="Arial MT"/>
              </a:rPr>
              <a:t>N</a:t>
            </a:r>
            <a:r>
              <a:rPr sz="1500" spc="40" dirty="0">
                <a:latin typeface="Arial MT"/>
                <a:cs typeface="Arial MT"/>
              </a:rPr>
              <a:t>T</a:t>
            </a:r>
            <a:r>
              <a:rPr sz="1500" spc="20" dirty="0">
                <a:latin typeface="Arial MT"/>
                <a:cs typeface="Arial MT"/>
              </a:rPr>
              <a:t>"</a:t>
            </a:r>
            <a:r>
              <a:rPr sz="1500" spc="-25" dirty="0">
                <a:latin typeface="Arial MT"/>
                <a:cs typeface="Arial MT"/>
              </a:rPr>
              <a:t>)</a:t>
            </a:r>
            <a:r>
              <a:rPr sz="1500" spc="5" dirty="0">
                <a:latin typeface="Arial MT"/>
                <a:cs typeface="Arial MT"/>
              </a:rPr>
              <a:t>;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5800" y="3378200"/>
            <a:ext cx="5364480" cy="1137920"/>
          </a:xfrm>
          <a:prstGeom prst="rect">
            <a:avLst/>
          </a:prstGeom>
          <a:solidFill>
            <a:srgbClr val="F8AC8D"/>
          </a:solidFill>
          <a:ln w="10159">
            <a:solidFill>
              <a:srgbClr val="006FC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45"/>
              </a:spcBef>
            </a:pP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5" dirty="0">
                <a:latin typeface="Arial MT"/>
                <a:cs typeface="Arial MT"/>
              </a:rPr>
              <a:t>t</a:t>
            </a:r>
            <a:r>
              <a:rPr sz="1500" spc="-125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40" dirty="0">
                <a:latin typeface="Arial MT"/>
                <a:cs typeface="Arial MT"/>
              </a:rPr>
              <a:t>o</a:t>
            </a:r>
            <a:r>
              <a:rPr sz="1500" spc="-40" dirty="0">
                <a:latin typeface="Arial MT"/>
                <a:cs typeface="Arial MT"/>
              </a:rPr>
              <a:t>nn</a:t>
            </a:r>
            <a:r>
              <a:rPr sz="1500" spc="-20" dirty="0">
                <a:latin typeface="Arial MT"/>
                <a:cs typeface="Arial MT"/>
              </a:rPr>
              <a:t>.</a:t>
            </a:r>
            <a:r>
              <a:rPr sz="1500" spc="45" dirty="0">
                <a:latin typeface="Arial MT"/>
                <a:cs typeface="Arial MT"/>
              </a:rPr>
              <a:t>c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4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25" dirty="0">
                <a:latin typeface="Arial MT"/>
                <a:cs typeface="Arial MT"/>
              </a:rPr>
              <a:t>m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25" dirty="0">
                <a:latin typeface="Arial MT"/>
                <a:cs typeface="Arial MT"/>
              </a:rPr>
              <a:t>()</a:t>
            </a:r>
            <a:r>
              <a:rPr sz="1500" spc="5" dirty="0">
                <a:latin typeface="Arial MT"/>
                <a:cs typeface="Arial MT"/>
              </a:rPr>
              <a:t>;</a:t>
            </a:r>
            <a:endParaRPr sz="1500">
              <a:latin typeface="Arial MT"/>
              <a:cs typeface="Arial MT"/>
            </a:endParaRPr>
          </a:p>
          <a:p>
            <a:pPr marL="62230">
              <a:lnSpc>
                <a:spcPct val="100000"/>
              </a:lnSpc>
              <a:spcBef>
                <a:spcPts val="445"/>
              </a:spcBef>
            </a:pPr>
            <a:r>
              <a:rPr sz="1500" spc="-20" dirty="0">
                <a:latin typeface="Arial MT"/>
                <a:cs typeface="Arial MT"/>
              </a:rPr>
              <a:t>int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rowcount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5" dirty="0">
                <a:latin typeface="Arial MT"/>
                <a:cs typeface="Arial MT"/>
              </a:rPr>
              <a:t>stmt.executeUpdate</a:t>
            </a:r>
            <a:endParaRPr sz="1500">
              <a:latin typeface="Arial MT"/>
              <a:cs typeface="Arial MT"/>
            </a:endParaRPr>
          </a:p>
          <a:p>
            <a:pPr marL="163830">
              <a:lnSpc>
                <a:spcPct val="100000"/>
              </a:lnSpc>
              <a:spcBef>
                <a:spcPts val="445"/>
              </a:spcBef>
            </a:pPr>
            <a:r>
              <a:rPr sz="1500" spc="-25" dirty="0">
                <a:latin typeface="Arial MT"/>
                <a:cs typeface="Arial MT"/>
              </a:rPr>
              <a:t>(</a:t>
            </a:r>
            <a:r>
              <a:rPr sz="1500" spc="20" dirty="0">
                <a:latin typeface="Arial MT"/>
                <a:cs typeface="Arial MT"/>
              </a:rPr>
              <a:t>"</a:t>
            </a:r>
            <a:r>
              <a:rPr sz="1500" spc="40" dirty="0">
                <a:latin typeface="Arial MT"/>
                <a:cs typeface="Arial MT"/>
              </a:rPr>
              <a:t>de</a:t>
            </a:r>
            <a:r>
              <a:rPr sz="1500" spc="-20" dirty="0">
                <a:latin typeface="Arial MT"/>
                <a:cs typeface="Arial MT"/>
              </a:rPr>
              <a:t>l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10" dirty="0">
                <a:latin typeface="Arial MT"/>
                <a:cs typeface="Arial MT"/>
              </a:rPr>
              <a:t>e</a:t>
            </a:r>
            <a:r>
              <a:rPr sz="1500" spc="-70" dirty="0">
                <a:latin typeface="Arial MT"/>
                <a:cs typeface="Arial MT"/>
              </a:rPr>
              <a:t> </a:t>
            </a:r>
            <a:r>
              <a:rPr sz="1500" spc="55" dirty="0">
                <a:latin typeface="Arial MT"/>
                <a:cs typeface="Arial MT"/>
              </a:rPr>
              <a:t>f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40" dirty="0">
                <a:latin typeface="Arial MT"/>
                <a:cs typeface="Arial MT"/>
              </a:rPr>
              <a:t>o</a:t>
            </a:r>
            <a:r>
              <a:rPr sz="1500" spc="15" dirty="0">
                <a:latin typeface="Arial MT"/>
                <a:cs typeface="Arial MT"/>
              </a:rPr>
              <a:t>m</a:t>
            </a:r>
            <a:r>
              <a:rPr sz="1500" spc="-165" dirty="0">
                <a:latin typeface="Arial MT"/>
                <a:cs typeface="Arial MT"/>
              </a:rPr>
              <a:t> </a:t>
            </a:r>
            <a:r>
              <a:rPr sz="1500" spc="40" dirty="0">
                <a:latin typeface="Arial MT"/>
                <a:cs typeface="Arial MT"/>
              </a:rPr>
              <a:t>ST</a:t>
            </a:r>
            <a:r>
              <a:rPr sz="1500" spc="-45" dirty="0">
                <a:latin typeface="Arial MT"/>
                <a:cs typeface="Arial MT"/>
              </a:rPr>
              <a:t>U</a:t>
            </a:r>
            <a:r>
              <a:rPr sz="1500" spc="35" dirty="0">
                <a:latin typeface="Arial MT"/>
                <a:cs typeface="Arial MT"/>
              </a:rPr>
              <a:t>D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45" dirty="0">
                <a:latin typeface="Arial MT"/>
                <a:cs typeface="Arial MT"/>
              </a:rPr>
              <a:t>N</a:t>
            </a:r>
            <a:r>
              <a:rPr sz="1500" spc="10" dirty="0">
                <a:latin typeface="Arial MT"/>
                <a:cs typeface="Arial MT"/>
              </a:rPr>
              <a:t>T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85" dirty="0">
                <a:latin typeface="Arial MT"/>
                <a:cs typeface="Arial MT"/>
              </a:rPr>
              <a:t> </a:t>
            </a:r>
            <a:r>
              <a:rPr sz="1500" spc="-45" dirty="0">
                <a:latin typeface="Arial MT"/>
                <a:cs typeface="Arial MT"/>
              </a:rPr>
              <a:t>w</a:t>
            </a:r>
            <a:r>
              <a:rPr sz="1500" spc="-40" dirty="0">
                <a:latin typeface="Arial MT"/>
                <a:cs typeface="Arial MT"/>
              </a:rPr>
              <a:t>h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10" dirty="0">
                <a:latin typeface="Arial MT"/>
                <a:cs typeface="Arial MT"/>
              </a:rPr>
              <a:t>e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spc="55" dirty="0">
                <a:latin typeface="Arial MT"/>
                <a:cs typeface="Arial MT"/>
              </a:rPr>
              <a:t>I</a:t>
            </a:r>
            <a:r>
              <a:rPr sz="1500" spc="15" dirty="0">
                <a:latin typeface="Arial MT"/>
                <a:cs typeface="Arial MT"/>
              </a:rPr>
              <a:t>D</a:t>
            </a:r>
            <a:r>
              <a:rPr sz="1500" spc="-80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40" dirty="0">
                <a:latin typeface="Arial MT"/>
                <a:cs typeface="Arial MT"/>
              </a:rPr>
              <a:t>1000</a:t>
            </a:r>
            <a:r>
              <a:rPr sz="1500" spc="20" dirty="0">
                <a:latin typeface="Arial MT"/>
                <a:cs typeface="Arial MT"/>
              </a:rPr>
              <a:t>"</a:t>
            </a:r>
            <a:r>
              <a:rPr sz="1500" spc="-25" dirty="0">
                <a:latin typeface="Arial MT"/>
                <a:cs typeface="Arial MT"/>
              </a:rPr>
              <a:t>)</a:t>
            </a:r>
            <a:r>
              <a:rPr sz="1500" spc="5" dirty="0">
                <a:latin typeface="Arial MT"/>
                <a:cs typeface="Arial MT"/>
              </a:rPr>
              <a:t>;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2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43832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363029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Querying</a:t>
            </a:r>
            <a:r>
              <a:rPr u="sng" spc="-150" dirty="0"/>
              <a:t> </a:t>
            </a:r>
            <a:r>
              <a:rPr u="sng" spc="-10" dirty="0"/>
              <a:t>the</a:t>
            </a:r>
            <a:r>
              <a:rPr u="sng" spc="-80" dirty="0"/>
              <a:t> </a:t>
            </a:r>
            <a:r>
              <a:rPr u="sng" spc="-30" dirty="0"/>
              <a:t>Database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10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12200" cy="35540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6379" marR="18415" indent="-234315" algn="just">
              <a:lnSpc>
                <a:spcPts val="2170"/>
              </a:lnSpc>
              <a:spcBef>
                <a:spcPts val="204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35" dirty="0">
                <a:latin typeface="Times New Roman"/>
                <a:cs typeface="Times New Roman"/>
              </a:rPr>
              <a:t>As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mentioned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earlier,</a:t>
            </a:r>
            <a:r>
              <a:rPr sz="1850" spc="-30" dirty="0">
                <a:latin typeface="Times New Roman"/>
                <a:cs typeface="Times New Roman"/>
              </a:rPr>
              <a:t> 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interface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provides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three</a:t>
            </a:r>
            <a:r>
              <a:rPr sz="1850" spc="-15" dirty="0">
                <a:latin typeface="Times New Roman"/>
                <a:cs typeface="Times New Roman"/>
              </a:rPr>
              <a:t> different</a:t>
            </a:r>
            <a:r>
              <a:rPr sz="1850" spc="4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methods</a:t>
            </a:r>
            <a:r>
              <a:rPr sz="1850" spc="42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for 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executing </a:t>
            </a:r>
            <a:r>
              <a:rPr sz="1850" spc="5" dirty="0">
                <a:latin typeface="Times New Roman"/>
                <a:cs typeface="Times New Roman"/>
              </a:rPr>
              <a:t>SQL </a:t>
            </a:r>
            <a:r>
              <a:rPr sz="1850" spc="-25" dirty="0">
                <a:latin typeface="Times New Roman"/>
                <a:cs typeface="Times New Roman"/>
              </a:rPr>
              <a:t>statements: </a:t>
            </a:r>
            <a:r>
              <a:rPr sz="1850" spc="-35" dirty="0">
                <a:latin typeface="Times New Roman"/>
                <a:cs typeface="Times New Roman"/>
              </a:rPr>
              <a:t>executeQuery, </a:t>
            </a:r>
            <a:r>
              <a:rPr sz="1850" spc="-30" dirty="0">
                <a:latin typeface="Times New Roman"/>
                <a:cs typeface="Times New Roman"/>
              </a:rPr>
              <a:t>executeUpdate,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spc="-20" dirty="0">
                <a:latin typeface="Times New Roman"/>
                <a:cs typeface="Times New Roman"/>
              </a:rPr>
              <a:t>execute. </a:t>
            </a:r>
            <a:r>
              <a:rPr sz="1850" spc="-25" dirty="0">
                <a:latin typeface="Times New Roman"/>
                <a:cs typeface="Times New Roman"/>
              </a:rPr>
              <a:t>The correct method 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5" dirty="0">
                <a:latin typeface="Times New Roman"/>
                <a:cs typeface="Times New Roman"/>
              </a:rPr>
              <a:t>use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determined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by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what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SQL</a:t>
            </a:r>
            <a:r>
              <a:rPr sz="1850" spc="-2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produces.</a:t>
            </a:r>
            <a:endParaRPr sz="1850">
              <a:latin typeface="Times New Roman"/>
              <a:cs typeface="Times New Roman"/>
            </a:endParaRPr>
          </a:p>
          <a:p>
            <a:pPr marL="246379" indent="-234315" algn="just">
              <a:lnSpc>
                <a:spcPts val="2190"/>
              </a:lnSpc>
              <a:spcBef>
                <a:spcPts val="434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method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executeQuery()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method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used</a:t>
            </a:r>
            <a:r>
              <a:rPr sz="1850" spc="-15" dirty="0">
                <a:latin typeface="Times New Roman"/>
                <a:cs typeface="Times New Roman"/>
              </a:rPr>
              <a:t> for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statements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20" dirty="0">
                <a:latin typeface="Times New Roman"/>
                <a:cs typeface="Times New Roman"/>
              </a:rPr>
              <a:t>produce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result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set,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such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105" dirty="0">
                <a:latin typeface="Times New Roman"/>
                <a:cs typeface="Times New Roman"/>
              </a:rPr>
              <a:t>as</a:t>
            </a:r>
            <a:endParaRPr sz="1850">
              <a:latin typeface="Times New Roman"/>
              <a:cs typeface="Times New Roman"/>
            </a:endParaRPr>
          </a:p>
          <a:p>
            <a:pPr marL="246379" algn="just">
              <a:lnSpc>
                <a:spcPts val="2190"/>
              </a:lnSpc>
            </a:pPr>
            <a:r>
              <a:rPr sz="1850" spc="-55" dirty="0">
                <a:latin typeface="Times New Roman"/>
                <a:cs typeface="Times New Roman"/>
              </a:rPr>
              <a:t>SELECT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statements.</a:t>
            </a:r>
            <a:endParaRPr sz="185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64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method </a:t>
            </a:r>
            <a:r>
              <a:rPr sz="1850" i="1" spc="-25" dirty="0">
                <a:latin typeface="Times New Roman"/>
                <a:cs typeface="Times New Roman"/>
              </a:rPr>
              <a:t>executeUpdate() </a:t>
            </a:r>
            <a:r>
              <a:rPr sz="1850" spc="-25" dirty="0">
                <a:latin typeface="Times New Roman"/>
                <a:cs typeface="Times New Roman"/>
              </a:rPr>
              <a:t>method is </a:t>
            </a:r>
            <a:r>
              <a:rPr sz="1850" spc="-20" dirty="0">
                <a:latin typeface="Times New Roman"/>
                <a:cs typeface="Times New Roman"/>
              </a:rPr>
              <a:t>used </a:t>
            </a:r>
            <a:r>
              <a:rPr sz="1850" spc="-65" dirty="0">
                <a:latin typeface="Times New Roman"/>
                <a:cs typeface="Times New Roman"/>
              </a:rPr>
              <a:t>to</a:t>
            </a:r>
            <a:r>
              <a:rPr sz="1850" spc="33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execute </a:t>
            </a:r>
            <a:r>
              <a:rPr sz="1850" spc="-65" dirty="0">
                <a:latin typeface="Times New Roman"/>
                <a:cs typeface="Times New Roman"/>
              </a:rPr>
              <a:t>DML </a:t>
            </a:r>
            <a:r>
              <a:rPr sz="1850" spc="-15" dirty="0">
                <a:latin typeface="Times New Roman"/>
                <a:cs typeface="Times New Roman"/>
              </a:rPr>
              <a:t>statements </a:t>
            </a:r>
            <a:r>
              <a:rPr sz="1850" spc="-55" dirty="0">
                <a:latin typeface="Times New Roman"/>
                <a:cs typeface="Times New Roman"/>
              </a:rPr>
              <a:t>and</a:t>
            </a:r>
            <a:r>
              <a:rPr sz="1850" spc="35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also </a:t>
            </a:r>
            <a:r>
              <a:rPr sz="1850" spc="-20" dirty="0">
                <a:latin typeface="Times New Roman"/>
                <a:cs typeface="Times New Roman"/>
              </a:rPr>
              <a:t>SQL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DDL </a:t>
            </a:r>
            <a:r>
              <a:rPr sz="1850" spc="-20" dirty="0">
                <a:latin typeface="Times New Roman"/>
                <a:cs typeface="Times New Roman"/>
              </a:rPr>
              <a:t>(Data Definition</a:t>
            </a:r>
            <a:r>
              <a:rPr sz="1850" spc="4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Language) </a:t>
            </a:r>
            <a:r>
              <a:rPr sz="1850" spc="-20" dirty="0">
                <a:latin typeface="Times New Roman"/>
                <a:cs typeface="Times New Roman"/>
              </a:rPr>
              <a:t>statements. The </a:t>
            </a:r>
            <a:r>
              <a:rPr sz="1850" spc="-25" dirty="0">
                <a:latin typeface="Times New Roman"/>
                <a:cs typeface="Times New Roman"/>
              </a:rPr>
              <a:t>return </a:t>
            </a:r>
            <a:r>
              <a:rPr sz="1850" dirty="0">
                <a:latin typeface="Times New Roman"/>
                <a:cs typeface="Times New Roman"/>
              </a:rPr>
              <a:t>value </a:t>
            </a:r>
            <a:r>
              <a:rPr sz="1850" spc="15" dirty="0">
                <a:latin typeface="Times New Roman"/>
                <a:cs typeface="Times New Roman"/>
              </a:rPr>
              <a:t>of </a:t>
            </a:r>
            <a:r>
              <a:rPr sz="1850" spc="-25" dirty="0">
                <a:latin typeface="Times New Roman"/>
                <a:cs typeface="Times New Roman"/>
              </a:rPr>
              <a:t>executeUpdate() </a:t>
            </a:r>
            <a:r>
              <a:rPr sz="1850" spc="-30" dirty="0">
                <a:latin typeface="Times New Roman"/>
                <a:cs typeface="Times New Roman"/>
              </a:rPr>
              <a:t>method </a:t>
            </a:r>
            <a:r>
              <a:rPr sz="1850" spc="-25" dirty="0">
                <a:latin typeface="Times New Roman"/>
                <a:cs typeface="Times New Roman"/>
              </a:rPr>
              <a:t> is </a:t>
            </a:r>
            <a:r>
              <a:rPr sz="1850" spc="-15" dirty="0">
                <a:latin typeface="Times New Roman"/>
                <a:cs typeface="Times New Roman"/>
              </a:rPr>
              <a:t>an </a:t>
            </a:r>
            <a:r>
              <a:rPr sz="1850" spc="-20" dirty="0">
                <a:latin typeface="Times New Roman"/>
                <a:cs typeface="Times New Roman"/>
              </a:rPr>
              <a:t>integer </a:t>
            </a:r>
            <a:r>
              <a:rPr sz="1850" spc="-25" dirty="0">
                <a:latin typeface="Times New Roman"/>
                <a:cs typeface="Times New Roman"/>
              </a:rPr>
              <a:t>(referred </a:t>
            </a:r>
            <a:r>
              <a:rPr sz="1850" spc="-65" dirty="0">
                <a:latin typeface="Times New Roman"/>
                <a:cs typeface="Times New Roman"/>
              </a:rPr>
              <a:t>to </a:t>
            </a:r>
            <a:r>
              <a:rPr sz="1850" spc="-55" dirty="0">
                <a:latin typeface="Times New Roman"/>
                <a:cs typeface="Times New Roman"/>
              </a:rPr>
              <a:t>as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10" dirty="0">
                <a:latin typeface="Times New Roman"/>
                <a:cs typeface="Times New Roman"/>
              </a:rPr>
              <a:t>update </a:t>
            </a:r>
            <a:r>
              <a:rPr sz="1850" spc="-35" dirty="0">
                <a:latin typeface="Times New Roman"/>
                <a:cs typeface="Times New Roman"/>
              </a:rPr>
              <a:t>count) </a:t>
            </a:r>
            <a:r>
              <a:rPr sz="1850" spc="-30" dirty="0">
                <a:latin typeface="Times New Roman"/>
                <a:cs typeface="Times New Roman"/>
              </a:rPr>
              <a:t>that </a:t>
            </a:r>
            <a:r>
              <a:rPr sz="1850" spc="-25" dirty="0">
                <a:latin typeface="Times New Roman"/>
                <a:cs typeface="Times New Roman"/>
              </a:rPr>
              <a:t>indicates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number of </a:t>
            </a:r>
            <a:r>
              <a:rPr sz="1850" spc="-25" dirty="0">
                <a:latin typeface="Times New Roman"/>
                <a:cs typeface="Times New Roman"/>
              </a:rPr>
              <a:t>rows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20" dirty="0">
                <a:latin typeface="Times New Roman"/>
                <a:cs typeface="Times New Roman"/>
              </a:rPr>
              <a:t>were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affected. </a:t>
            </a:r>
            <a:r>
              <a:rPr sz="1850" spc="-45" dirty="0">
                <a:latin typeface="Times New Roman"/>
                <a:cs typeface="Times New Roman"/>
              </a:rPr>
              <a:t>For </a:t>
            </a:r>
            <a:r>
              <a:rPr sz="1850" spc="-20" dirty="0">
                <a:latin typeface="Times New Roman"/>
                <a:cs typeface="Times New Roman"/>
              </a:rPr>
              <a:t>statements </a:t>
            </a:r>
            <a:r>
              <a:rPr sz="1850" spc="-40" dirty="0">
                <a:latin typeface="Times New Roman"/>
                <a:cs typeface="Times New Roman"/>
              </a:rPr>
              <a:t>such </a:t>
            </a:r>
            <a:r>
              <a:rPr sz="1850" spc="-55" dirty="0">
                <a:latin typeface="Times New Roman"/>
                <a:cs typeface="Times New Roman"/>
              </a:rPr>
              <a:t>as </a:t>
            </a:r>
            <a:r>
              <a:rPr sz="1850" spc="-65" dirty="0">
                <a:latin typeface="Times New Roman"/>
                <a:cs typeface="Times New Roman"/>
              </a:rPr>
              <a:t>CREATE </a:t>
            </a:r>
            <a:r>
              <a:rPr sz="1850" spc="-70" dirty="0">
                <a:latin typeface="Times New Roman"/>
                <a:cs typeface="Times New Roman"/>
              </a:rPr>
              <a:t>TABLE </a:t>
            </a:r>
            <a:r>
              <a:rPr sz="1850" spc="10" dirty="0">
                <a:latin typeface="Times New Roman"/>
                <a:cs typeface="Times New Roman"/>
              </a:rPr>
              <a:t>or </a:t>
            </a:r>
            <a:r>
              <a:rPr sz="1850" spc="-20" dirty="0">
                <a:latin typeface="Times New Roman"/>
                <a:cs typeface="Times New Roman"/>
              </a:rPr>
              <a:t>DROP </a:t>
            </a:r>
            <a:r>
              <a:rPr sz="1850" spc="-75" dirty="0">
                <a:latin typeface="Times New Roman"/>
                <a:cs typeface="Times New Roman"/>
              </a:rPr>
              <a:t>TABLE, </a:t>
            </a:r>
            <a:r>
              <a:rPr sz="1850" spc="-20" dirty="0">
                <a:latin typeface="Times New Roman"/>
                <a:cs typeface="Times New Roman"/>
              </a:rPr>
              <a:t>which </a:t>
            </a:r>
            <a:r>
              <a:rPr sz="1850" spc="15" dirty="0">
                <a:latin typeface="Times New Roman"/>
                <a:cs typeface="Times New Roman"/>
              </a:rPr>
              <a:t>do </a:t>
            </a:r>
            <a:r>
              <a:rPr sz="1850" spc="-10" dirty="0">
                <a:latin typeface="Times New Roman"/>
                <a:cs typeface="Times New Roman"/>
              </a:rPr>
              <a:t>not </a:t>
            </a:r>
            <a:r>
              <a:rPr sz="1850" spc="-15" dirty="0">
                <a:latin typeface="Times New Roman"/>
                <a:cs typeface="Times New Roman"/>
              </a:rPr>
              <a:t>operate 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-5" dirty="0">
                <a:latin typeface="Times New Roman"/>
                <a:cs typeface="Times New Roman"/>
              </a:rPr>
              <a:t>s,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0" dirty="0">
                <a:latin typeface="Times New Roman"/>
                <a:cs typeface="Times New Roman"/>
              </a:rPr>
              <a:t>x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140" dirty="0">
                <a:latin typeface="Times New Roman"/>
                <a:cs typeface="Times New Roman"/>
              </a:rPr>
              <a:t>U</a:t>
            </a:r>
            <a:r>
              <a:rPr sz="1850" spc="30" dirty="0">
                <a:latin typeface="Times New Roman"/>
                <a:cs typeface="Times New Roman"/>
              </a:rPr>
              <a:t>pd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15" dirty="0">
                <a:latin typeface="Times New Roman"/>
                <a:cs typeface="Times New Roman"/>
              </a:rPr>
              <a:t>(</a:t>
            </a:r>
            <a:r>
              <a:rPr sz="1850" spc="-5" dirty="0">
                <a:latin typeface="Times New Roman"/>
                <a:cs typeface="Times New Roman"/>
              </a:rPr>
              <a:t>)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0" dirty="0">
                <a:latin typeface="Times New Roman"/>
                <a:cs typeface="Times New Roman"/>
              </a:rPr>
              <a:t>y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46379" indent="-234315" algn="just">
              <a:lnSpc>
                <a:spcPts val="2190"/>
              </a:lnSpc>
              <a:spcBef>
                <a:spcPts val="509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method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i="1" spc="-30" dirty="0">
                <a:latin typeface="Times New Roman"/>
                <a:cs typeface="Times New Roman"/>
              </a:rPr>
              <a:t>execute()</a:t>
            </a:r>
            <a:r>
              <a:rPr sz="1850" i="1" spc="21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2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used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to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execute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statements</a:t>
            </a:r>
            <a:r>
              <a:rPr sz="1850" spc="26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that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return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more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than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one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result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set,</a:t>
            </a:r>
            <a:endParaRPr sz="1850">
              <a:latin typeface="Times New Roman"/>
              <a:cs typeface="Times New Roman"/>
            </a:endParaRPr>
          </a:p>
          <a:p>
            <a:pPr marL="246379" algn="just">
              <a:lnSpc>
                <a:spcPts val="2190"/>
              </a:lnSpc>
            </a:pP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on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upd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oun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ti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39125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127" y="202247"/>
            <a:ext cx="329628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20" dirty="0"/>
              <a:t> </a:t>
            </a:r>
            <a:r>
              <a:rPr u="sng" spc="-30" dirty="0"/>
              <a:t>Process</a:t>
            </a:r>
            <a:r>
              <a:rPr u="sng" spc="-5" dirty="0"/>
              <a:t> </a:t>
            </a:r>
            <a:r>
              <a:rPr u="sng" spc="-10" dirty="0"/>
              <a:t>the</a:t>
            </a:r>
            <a:r>
              <a:rPr u="sng" spc="-75" dirty="0"/>
              <a:t> </a:t>
            </a:r>
            <a:r>
              <a:rPr u="sng" spc="-15" dirty="0"/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7120" cy="8566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6379" marR="5080" indent="-234315" algn="just">
              <a:lnSpc>
                <a:spcPts val="2170"/>
              </a:lnSpc>
              <a:spcBef>
                <a:spcPts val="204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5" dirty="0">
                <a:latin typeface="Times New Roman"/>
                <a:cs typeface="Times New Roman"/>
              </a:rPr>
              <a:t>Now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5" dirty="0">
                <a:latin typeface="Times New Roman"/>
                <a:cs typeface="Times New Roman"/>
              </a:rPr>
              <a:t>we </a:t>
            </a:r>
            <a:r>
              <a:rPr sz="1850" spc="10" dirty="0">
                <a:latin typeface="Times New Roman"/>
                <a:cs typeface="Times New Roman"/>
              </a:rPr>
              <a:t>have </a:t>
            </a:r>
            <a:r>
              <a:rPr sz="1850" spc="-15" dirty="0">
                <a:latin typeface="Times New Roman"/>
                <a:cs typeface="Times New Roman"/>
              </a:rPr>
              <a:t>obtained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results </a:t>
            </a:r>
            <a:r>
              <a:rPr sz="1850" spc="-25" dirty="0">
                <a:latin typeface="Times New Roman"/>
                <a:cs typeface="Times New Roman"/>
              </a:rPr>
              <a:t>of </a:t>
            </a:r>
            <a:r>
              <a:rPr sz="1850" spc="-20" dirty="0">
                <a:latin typeface="Times New Roman"/>
                <a:cs typeface="Times New Roman"/>
              </a:rPr>
              <a:t>querying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0" dirty="0">
                <a:latin typeface="Times New Roman"/>
                <a:cs typeface="Times New Roman"/>
              </a:rPr>
              <a:t>database </a:t>
            </a:r>
            <a:r>
              <a:rPr sz="1850" spc="-20" dirty="0">
                <a:latin typeface="Times New Roman"/>
                <a:cs typeface="Times New Roman"/>
              </a:rPr>
              <a:t>in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ResultSet </a:t>
            </a:r>
            <a:r>
              <a:rPr sz="1850" spc="-20" dirty="0">
                <a:latin typeface="Times New Roman"/>
                <a:cs typeface="Times New Roman"/>
              </a:rPr>
              <a:t>object, </a:t>
            </a:r>
            <a:r>
              <a:rPr sz="1850" spc="20" dirty="0">
                <a:latin typeface="Times New Roman"/>
                <a:cs typeface="Times New Roman"/>
              </a:rPr>
              <a:t>we 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need </a:t>
            </a:r>
            <a:r>
              <a:rPr sz="1850" spc="-20" dirty="0">
                <a:latin typeface="Times New Roman"/>
                <a:cs typeface="Times New Roman"/>
              </a:rPr>
              <a:t>to iterate </a:t>
            </a:r>
            <a:r>
              <a:rPr sz="1850" spc="-30" dirty="0">
                <a:latin typeface="Times New Roman"/>
                <a:cs typeface="Times New Roman"/>
              </a:rPr>
              <a:t>through </a:t>
            </a:r>
            <a:r>
              <a:rPr sz="1850" spc="-15" dirty="0">
                <a:latin typeface="Times New Roman"/>
                <a:cs typeface="Times New Roman"/>
              </a:rPr>
              <a:t>this object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spc="-10" dirty="0">
                <a:latin typeface="Times New Roman"/>
                <a:cs typeface="Times New Roman"/>
              </a:rPr>
              <a:t>retrieve </a:t>
            </a:r>
            <a:r>
              <a:rPr sz="1850" spc="-25" dirty="0">
                <a:latin typeface="Times New Roman"/>
                <a:cs typeface="Times New Roman"/>
              </a:rPr>
              <a:t>its contents </a:t>
            </a:r>
            <a:r>
              <a:rPr sz="1850" spc="-10" dirty="0">
                <a:latin typeface="Times New Roman"/>
                <a:cs typeface="Times New Roman"/>
              </a:rPr>
              <a:t>for </a:t>
            </a:r>
            <a:r>
              <a:rPr sz="1850" spc="-30" dirty="0">
                <a:latin typeface="Times New Roman"/>
                <a:cs typeface="Times New Roman"/>
              </a:rPr>
              <a:t>further </a:t>
            </a:r>
            <a:r>
              <a:rPr sz="1850" spc="-15" dirty="0">
                <a:latin typeface="Times New Roman"/>
                <a:cs typeface="Times New Roman"/>
              </a:rPr>
              <a:t>processing </a:t>
            </a:r>
            <a:r>
              <a:rPr sz="1850" spc="-25" dirty="0">
                <a:latin typeface="Times New Roman"/>
                <a:cs typeface="Times New Roman"/>
              </a:rPr>
              <a:t>in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Java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program.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560" y="4465319"/>
            <a:ext cx="1544319" cy="406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7560" y="4465319"/>
            <a:ext cx="1544320" cy="40640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939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sz="1350" b="1" spc="-25" dirty="0">
                <a:latin typeface="Arial"/>
                <a:cs typeface="Arial"/>
              </a:rPr>
              <a:t>Close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8039" y="2545079"/>
            <a:ext cx="1483360" cy="3860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098039" y="2545079"/>
            <a:ext cx="1483360" cy="38608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492125">
              <a:lnSpc>
                <a:spcPct val="100000"/>
              </a:lnSpc>
              <a:spcBef>
                <a:spcPts val="620"/>
              </a:spcBef>
            </a:pPr>
            <a:r>
              <a:rPr sz="1350" b="1" spc="-10" dirty="0">
                <a:latin typeface="Arial"/>
                <a:cs typeface="Arial"/>
              </a:rPr>
              <a:t>Query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86479" y="2743199"/>
            <a:ext cx="3759200" cy="985519"/>
            <a:chOff x="3586479" y="2743199"/>
            <a:chExt cx="3759200" cy="985519"/>
          </a:xfrm>
        </p:grpSpPr>
        <p:sp>
          <p:nvSpPr>
            <p:cNvPr id="9" name="object 9"/>
            <p:cNvSpPr/>
            <p:nvPr/>
          </p:nvSpPr>
          <p:spPr>
            <a:xfrm>
              <a:off x="3916679" y="2931159"/>
              <a:ext cx="395605" cy="751205"/>
            </a:xfrm>
            <a:custGeom>
              <a:avLst/>
              <a:gdLst/>
              <a:ahLst/>
              <a:cxnLst/>
              <a:rect l="l" t="t" r="r" b="b"/>
              <a:pathLst>
                <a:path w="395604" h="751204">
                  <a:moveTo>
                    <a:pt x="0" y="750697"/>
                  </a:moveTo>
                  <a:lnTo>
                    <a:pt x="0" y="0"/>
                  </a:lnTo>
                  <a:lnTo>
                    <a:pt x="395097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1879" y="3703319"/>
              <a:ext cx="558800" cy="0"/>
            </a:xfrm>
            <a:custGeom>
              <a:avLst/>
              <a:gdLst/>
              <a:ahLst/>
              <a:cxnLst/>
              <a:rect l="l" t="t" r="r" b="b"/>
              <a:pathLst>
                <a:path w="558800">
                  <a:moveTo>
                    <a:pt x="0" y="0"/>
                  </a:moveTo>
                  <a:lnTo>
                    <a:pt x="558800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70679" y="2748279"/>
              <a:ext cx="3169920" cy="3962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170679" y="2748279"/>
              <a:ext cx="3169920" cy="396240"/>
            </a:xfrm>
            <a:custGeom>
              <a:avLst/>
              <a:gdLst/>
              <a:ahLst/>
              <a:cxnLst/>
              <a:rect l="l" t="t" r="r" b="b"/>
              <a:pathLst>
                <a:path w="3169920" h="396239">
                  <a:moveTo>
                    <a:pt x="0" y="396239"/>
                  </a:moveTo>
                  <a:lnTo>
                    <a:pt x="3169920" y="396239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53990" y="2818828"/>
            <a:ext cx="1999614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10" dirty="0">
                <a:latin typeface="Arial"/>
                <a:cs typeface="Arial"/>
              </a:rPr>
              <a:t>Step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b="1" spc="-10" dirty="0">
                <a:latin typeface="Arial"/>
                <a:cs typeface="Arial"/>
              </a:rPr>
              <a:t>through</a:t>
            </a:r>
            <a:r>
              <a:rPr sz="1350" b="1" spc="6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spc="-15" dirty="0">
                <a:latin typeface="Arial"/>
                <a:cs typeface="Arial"/>
              </a:rPr>
              <a:t>results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7560" y="3378200"/>
            <a:ext cx="1544319" cy="6604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67560" y="3368039"/>
            <a:ext cx="1544320" cy="68072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127635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005"/>
              </a:spcBef>
            </a:pPr>
            <a:r>
              <a:rPr sz="1350" b="1" spc="-15" dirty="0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 marL="488950">
              <a:lnSpc>
                <a:spcPct val="100000"/>
              </a:lnSpc>
              <a:spcBef>
                <a:spcPts val="60"/>
              </a:spcBef>
            </a:pPr>
            <a:r>
              <a:rPr sz="1350" b="1" spc="-15" dirty="0">
                <a:latin typeface="Arial"/>
                <a:cs typeface="Arial"/>
              </a:rPr>
              <a:t>results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63520" y="2108199"/>
            <a:ext cx="4582160" cy="2316480"/>
            <a:chOff x="2763520" y="2108199"/>
            <a:chExt cx="4582160" cy="2316480"/>
          </a:xfrm>
        </p:grpSpPr>
        <p:sp>
          <p:nvSpPr>
            <p:cNvPr id="17" name="object 17"/>
            <p:cNvSpPr/>
            <p:nvPr/>
          </p:nvSpPr>
          <p:spPr>
            <a:xfrm>
              <a:off x="2763520" y="2108199"/>
              <a:ext cx="152400" cy="2316480"/>
            </a:xfrm>
            <a:custGeom>
              <a:avLst/>
              <a:gdLst/>
              <a:ahLst/>
              <a:cxnLst/>
              <a:rect l="l" t="t" r="r" b="b"/>
              <a:pathLst>
                <a:path w="152400" h="2316479">
                  <a:moveTo>
                    <a:pt x="152400" y="2062480"/>
                  </a:moveTo>
                  <a:lnTo>
                    <a:pt x="101600" y="2130221"/>
                  </a:lnTo>
                  <a:lnTo>
                    <a:pt x="101600" y="1910080"/>
                  </a:lnTo>
                  <a:lnTo>
                    <a:pt x="50800" y="1910080"/>
                  </a:lnTo>
                  <a:lnTo>
                    <a:pt x="50800" y="2130221"/>
                  </a:lnTo>
                  <a:lnTo>
                    <a:pt x="0" y="2062480"/>
                  </a:lnTo>
                  <a:lnTo>
                    <a:pt x="76200" y="2316480"/>
                  </a:lnTo>
                  <a:lnTo>
                    <a:pt x="121920" y="2164080"/>
                  </a:lnTo>
                  <a:lnTo>
                    <a:pt x="152400" y="2062480"/>
                  </a:lnTo>
                  <a:close/>
                </a:path>
                <a:path w="152400" h="2316479">
                  <a:moveTo>
                    <a:pt x="152400" y="975360"/>
                  </a:moveTo>
                  <a:lnTo>
                    <a:pt x="101600" y="1043101"/>
                  </a:lnTo>
                  <a:lnTo>
                    <a:pt x="101600" y="822960"/>
                  </a:lnTo>
                  <a:lnTo>
                    <a:pt x="50800" y="822960"/>
                  </a:lnTo>
                  <a:lnTo>
                    <a:pt x="50800" y="1043101"/>
                  </a:lnTo>
                  <a:lnTo>
                    <a:pt x="0" y="975360"/>
                  </a:lnTo>
                  <a:lnTo>
                    <a:pt x="76200" y="1229360"/>
                  </a:lnTo>
                  <a:lnTo>
                    <a:pt x="121920" y="1076960"/>
                  </a:lnTo>
                  <a:lnTo>
                    <a:pt x="152400" y="975360"/>
                  </a:lnTo>
                  <a:close/>
                </a:path>
                <a:path w="152400" h="2316479">
                  <a:moveTo>
                    <a:pt x="152400" y="142240"/>
                  </a:moveTo>
                  <a:lnTo>
                    <a:pt x="101600" y="209981"/>
                  </a:lnTo>
                  <a:lnTo>
                    <a:pt x="101600" y="0"/>
                  </a:lnTo>
                  <a:lnTo>
                    <a:pt x="50800" y="0"/>
                  </a:lnTo>
                  <a:lnTo>
                    <a:pt x="50800" y="209981"/>
                  </a:lnTo>
                  <a:lnTo>
                    <a:pt x="0" y="142240"/>
                  </a:lnTo>
                  <a:lnTo>
                    <a:pt x="76200" y="396240"/>
                  </a:lnTo>
                  <a:lnTo>
                    <a:pt x="121920" y="243840"/>
                  </a:lnTo>
                  <a:lnTo>
                    <a:pt x="152400" y="14224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0680" y="3357879"/>
              <a:ext cx="3169920" cy="70104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70680" y="3357879"/>
              <a:ext cx="3169920" cy="701040"/>
            </a:xfrm>
            <a:custGeom>
              <a:avLst/>
              <a:gdLst/>
              <a:ahLst/>
              <a:cxnLst/>
              <a:rect l="l" t="t" r="r" b="b"/>
              <a:pathLst>
                <a:path w="3169920" h="701039">
                  <a:moveTo>
                    <a:pt x="0" y="701039"/>
                  </a:moveTo>
                  <a:lnTo>
                    <a:pt x="3169920" y="701039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7010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170679" y="3368039"/>
            <a:ext cx="3169920" cy="68072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1226185" marR="703580" indent="-580390">
              <a:lnSpc>
                <a:spcPct val="104000"/>
              </a:lnSpc>
              <a:spcBef>
                <a:spcPts val="935"/>
              </a:spcBef>
            </a:pPr>
            <a:r>
              <a:rPr sz="1350" b="1" spc="-40" dirty="0">
                <a:latin typeface="Arial"/>
                <a:cs typeface="Arial"/>
              </a:rPr>
              <a:t>Assign</a:t>
            </a:r>
            <a:r>
              <a:rPr sz="1350" b="1" spc="195" dirty="0">
                <a:latin typeface="Arial"/>
                <a:cs typeface="Arial"/>
              </a:rPr>
              <a:t> </a:t>
            </a:r>
            <a:r>
              <a:rPr sz="1350" b="1" spc="-15" dirty="0">
                <a:latin typeface="Arial"/>
                <a:cs typeface="Arial"/>
              </a:rPr>
              <a:t>results</a:t>
            </a:r>
            <a:r>
              <a:rPr sz="1350" b="1" spc="45" dirty="0">
                <a:latin typeface="Arial"/>
                <a:cs typeface="Arial"/>
              </a:rPr>
              <a:t> </a:t>
            </a:r>
            <a:r>
              <a:rPr sz="1350" b="1" spc="15" dirty="0">
                <a:latin typeface="Arial"/>
                <a:cs typeface="Arial"/>
              </a:rPr>
              <a:t>to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spc="-25" dirty="0">
                <a:latin typeface="Arial"/>
                <a:cs typeface="Arial"/>
              </a:rPr>
              <a:t>Java </a:t>
            </a:r>
            <a:r>
              <a:rPr sz="1350" b="1" spc="-360" dirty="0">
                <a:latin typeface="Arial"/>
                <a:cs typeface="Arial"/>
              </a:rPr>
              <a:t> </a:t>
            </a:r>
            <a:r>
              <a:rPr sz="1350" b="1" spc="-30" dirty="0">
                <a:latin typeface="Arial"/>
                <a:cs typeface="Arial"/>
              </a:rPr>
              <a:t>variables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87879" y="1722119"/>
            <a:ext cx="1503680" cy="4064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087879" y="1722119"/>
            <a:ext cx="1503680" cy="40640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695"/>
              </a:spcBef>
            </a:pPr>
            <a:r>
              <a:rPr sz="1350" b="1" spc="-25" dirty="0">
                <a:latin typeface="Arial"/>
                <a:cs typeface="Arial"/>
              </a:rPr>
              <a:t>Connect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11</a:t>
            </a:fld>
            <a:endParaRPr spc="-10" dirty="0"/>
          </a:p>
        </p:txBody>
      </p:sp>
      <p:pic>
        <p:nvPicPr>
          <p:cNvPr id="28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309673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725" y="1225168"/>
            <a:ext cx="7229475" cy="2414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 indent="-234315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an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contains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results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executing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5" dirty="0">
                <a:latin typeface="Times New Roman"/>
                <a:cs typeface="Times New Roman"/>
              </a:rPr>
              <a:t> SQL</a:t>
            </a:r>
            <a:r>
              <a:rPr sz="1850" spc="-22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FC0"/>
              </a:buClr>
              <a:buFont typeface="Wingdings"/>
              <a:buChar char=""/>
            </a:pPr>
            <a:endParaRPr sz="2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maintains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cursor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pointing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its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current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row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"/>
            </a:pPr>
            <a:endParaRPr sz="2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50" dirty="0">
                <a:latin typeface="Times New Roman"/>
                <a:cs typeface="Times New Roman"/>
              </a:rPr>
              <a:t>Use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next()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step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through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result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 </a:t>
            </a:r>
            <a:r>
              <a:rPr sz="1850" spc="10" dirty="0">
                <a:latin typeface="Times New Roman"/>
                <a:cs typeface="Times New Roman"/>
              </a:rPr>
              <a:t>row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by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row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"/>
            </a:pPr>
            <a:endParaRPr sz="2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90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retrieve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from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columns,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we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can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getXXX()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method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12</a:t>
            </a:fld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445" y="157225"/>
            <a:ext cx="671639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Process</a:t>
            </a:r>
            <a:r>
              <a:rPr u="sng" spc="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Results:</a:t>
            </a:r>
            <a:r>
              <a:rPr u="sng" spc="-10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1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ResultSet</a:t>
            </a:r>
            <a:r>
              <a:rPr u="sng" spc="-10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Object</a:t>
            </a: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9673" y="28637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671830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Process</a:t>
            </a:r>
            <a:r>
              <a:rPr u="sng" spc="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Results:</a:t>
            </a:r>
            <a:r>
              <a:rPr u="sng" spc="-10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1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ResultSet</a:t>
            </a:r>
            <a:r>
              <a:rPr u="sng" spc="-10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Object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13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94800" y="1123950"/>
            <a:ext cx="8705850" cy="3197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 indent="-234315">
              <a:lnSpc>
                <a:spcPts val="2195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results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are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available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ResultSet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object.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In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other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words,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contains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rows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satisfy</a:t>
            </a:r>
            <a:endParaRPr sz="1850" dirty="0">
              <a:latin typeface="Times New Roman"/>
              <a:cs typeface="Times New Roman"/>
            </a:endParaRPr>
          </a:p>
          <a:p>
            <a:pPr marL="246379">
              <a:lnSpc>
                <a:spcPts val="2195"/>
              </a:lnSpc>
            </a:pP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ond</a:t>
            </a:r>
            <a:r>
              <a:rPr sz="1850" spc="-40" dirty="0">
                <a:latin typeface="Times New Roman"/>
                <a:cs typeface="Times New Roman"/>
              </a:rPr>
              <a:t>iti</a:t>
            </a:r>
            <a:r>
              <a:rPr sz="1850" spc="30" dirty="0">
                <a:latin typeface="Times New Roman"/>
                <a:cs typeface="Times New Roman"/>
              </a:rPr>
              <a:t>on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qu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130" dirty="0">
                <a:latin typeface="Times New Roman"/>
                <a:cs typeface="Times New Roman"/>
              </a:rPr>
              <a:t>y</a:t>
            </a:r>
            <a:r>
              <a:rPr sz="1850" spc="-5" dirty="0" smtClean="0">
                <a:latin typeface="Times New Roman"/>
                <a:cs typeface="Times New Roman"/>
              </a:rPr>
              <a:t>.</a:t>
            </a:r>
            <a:endParaRPr lang="en-US" sz="1850" spc="-5" dirty="0" smtClean="0">
              <a:latin typeface="Times New Roman"/>
              <a:cs typeface="Times New Roman"/>
            </a:endParaRPr>
          </a:p>
          <a:p>
            <a:pPr marL="246379">
              <a:lnSpc>
                <a:spcPts val="2195"/>
              </a:lnSpc>
            </a:pPr>
            <a:endParaRPr sz="1850" dirty="0">
              <a:latin typeface="Times New Roman"/>
              <a:cs typeface="Times New Roman"/>
            </a:endParaRPr>
          </a:p>
          <a:p>
            <a:pPr marL="246379" marR="10160" indent="-234315">
              <a:lnSpc>
                <a:spcPts val="2160"/>
              </a:lnSpc>
              <a:spcBef>
                <a:spcPts val="62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stored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in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ResultSet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object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retrieved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through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methods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allows </a:t>
            </a:r>
            <a:r>
              <a:rPr sz="1850" spc="-4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access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various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columns</a:t>
            </a:r>
            <a:r>
              <a:rPr sz="1850" spc="-22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current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row</a:t>
            </a:r>
            <a:r>
              <a:rPr sz="1850" spc="-5" dirty="0" smtClean="0">
                <a:latin typeface="Times New Roman"/>
                <a:cs typeface="Times New Roman"/>
              </a:rPr>
              <a:t>.</a:t>
            </a:r>
            <a:endParaRPr lang="en-US" sz="1850" spc="-5" dirty="0" smtClean="0">
              <a:latin typeface="Times New Roman"/>
              <a:cs typeface="Times New Roman"/>
            </a:endParaRPr>
          </a:p>
          <a:p>
            <a:pPr marL="246379" marR="10160" indent="-234315">
              <a:lnSpc>
                <a:spcPts val="2160"/>
              </a:lnSpc>
              <a:spcBef>
                <a:spcPts val="62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endParaRPr sz="1850" dirty="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3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ResultSet.next()</a:t>
            </a:r>
            <a:r>
              <a:rPr sz="1850" spc="3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method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moves</a:t>
            </a:r>
            <a:r>
              <a:rPr sz="1850" spc="-21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cursor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next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row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object</a:t>
            </a:r>
            <a:r>
              <a:rPr sz="1850" spc="-10" dirty="0" smtClean="0">
                <a:latin typeface="Times New Roman"/>
                <a:cs typeface="Times New Roman"/>
              </a:rPr>
              <a:t>.</a:t>
            </a:r>
            <a:endParaRPr lang="en-US" sz="1850" spc="-10" dirty="0" smtClean="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3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endParaRPr sz="1850" dirty="0">
              <a:latin typeface="Times New Roman"/>
              <a:cs typeface="Times New Roman"/>
            </a:endParaRPr>
          </a:p>
          <a:p>
            <a:pPr marL="246379" marR="5080" indent="-234315">
              <a:lnSpc>
                <a:spcPts val="2170"/>
              </a:lnSpc>
              <a:spcBef>
                <a:spcPts val="61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general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form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of</a:t>
            </a:r>
            <a:r>
              <a:rPr sz="1850" spc="2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</a:t>
            </a:r>
            <a:r>
              <a:rPr sz="1850" spc="2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</a:t>
            </a:r>
            <a:r>
              <a:rPr sz="1850" spc="229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2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table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with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column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headings</a:t>
            </a:r>
            <a:r>
              <a:rPr sz="1850" spc="2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and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corresponding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values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returned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by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query.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59519" y="29494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671830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Process</a:t>
            </a:r>
            <a:r>
              <a:rPr u="sng" spc="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Results:</a:t>
            </a:r>
            <a:r>
              <a:rPr u="sng" spc="-10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1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ResultSet</a:t>
            </a:r>
            <a:r>
              <a:rPr u="sng" spc="-10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Object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14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69823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5"/>
              </a:lnSpc>
              <a:spcBef>
                <a:spcPts val="95"/>
              </a:spcBef>
            </a:pPr>
            <a:r>
              <a:rPr sz="1850" spc="-15" dirty="0">
                <a:latin typeface="Times New Roman"/>
                <a:cs typeface="Times New Roman"/>
              </a:rPr>
              <a:t>For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example,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if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your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query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SELECT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column_a,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column_b,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column_c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FROM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Table1,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your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ts val="2195"/>
              </a:lnSpc>
            </a:pP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35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w</a:t>
            </a:r>
            <a:r>
              <a:rPr sz="1850" spc="-40" dirty="0">
                <a:latin typeface="Times New Roman"/>
                <a:cs typeface="Times New Roman"/>
              </a:rPr>
              <a:t>il</a:t>
            </a:r>
            <a:r>
              <a:rPr sz="1850" spc="-5" dirty="0">
                <a:latin typeface="Times New Roman"/>
                <a:cs typeface="Times New Roman"/>
              </a:rPr>
              <a:t>l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v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40" dirty="0">
                <a:latin typeface="Times New Roman"/>
                <a:cs typeface="Times New Roman"/>
              </a:rPr>
              <a:t>ll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15" dirty="0">
                <a:latin typeface="Times New Roman"/>
                <a:cs typeface="Times New Roman"/>
              </a:rPr>
              <a:t>w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g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5" dirty="0">
                <a:latin typeface="Times New Roman"/>
                <a:cs typeface="Times New Roman"/>
              </a:rPr>
              <a:t>m:</a:t>
            </a:r>
            <a:endParaRPr sz="18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698644"/>
              </p:ext>
            </p:extLst>
          </p:nvPr>
        </p:nvGraphicFramePr>
        <p:xfrm>
          <a:off x="1623061" y="1460226"/>
          <a:ext cx="5353684" cy="16641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543">
                <a:tc>
                  <a:txBody>
                    <a:bodyPr/>
                    <a:lstStyle/>
                    <a:p>
                      <a:pPr marL="31750">
                        <a:lnSpc>
                          <a:spcPts val="2010"/>
                        </a:lnSpc>
                      </a:pPr>
                      <a:r>
                        <a:rPr sz="1850" b="1" spc="-5" dirty="0">
                          <a:latin typeface="Times New Roman"/>
                          <a:cs typeface="Times New Roman"/>
                        </a:rPr>
                        <a:t>column_a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010"/>
                        </a:lnSpc>
                      </a:pPr>
                      <a:r>
                        <a:rPr sz="1850" b="1" spc="-5" dirty="0">
                          <a:latin typeface="Times New Roman"/>
                          <a:cs typeface="Times New Roman"/>
                        </a:rPr>
                        <a:t>column_b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8965">
                        <a:lnSpc>
                          <a:spcPts val="2010"/>
                        </a:lnSpc>
                      </a:pPr>
                      <a:r>
                        <a:rPr sz="1850" b="1" spc="-5" dirty="0">
                          <a:latin typeface="Times New Roman"/>
                          <a:cs typeface="Times New Roman"/>
                        </a:rPr>
                        <a:t>column_c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8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875030" algn="l"/>
                        </a:tabLst>
                      </a:pPr>
                      <a:r>
                        <a:rPr sz="1850" spc="15" dirty="0" smtClean="0">
                          <a:latin typeface="Times New Roman"/>
                          <a:cs typeface="Times New Roman"/>
                        </a:rPr>
                        <a:t>------</a:t>
                      </a:r>
                      <a:endParaRPr sz="18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454150" algn="l"/>
                        </a:tabLst>
                      </a:pPr>
                      <a:r>
                        <a:rPr sz="1850" spc="20" dirty="0" smtClean="0">
                          <a:latin typeface="Times New Roman"/>
                          <a:cs typeface="Times New Roman"/>
                        </a:rPr>
                        <a:t>------</a:t>
                      </a:r>
                      <a:endParaRPr sz="18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608965">
                        <a:lnSpc>
                          <a:spcPct val="100000"/>
                        </a:lnSpc>
                        <a:spcBef>
                          <a:spcPts val="175"/>
                        </a:spcBef>
                        <a:tabLst>
                          <a:tab pos="1400175" algn="l"/>
                        </a:tabLst>
                      </a:pPr>
                      <a:r>
                        <a:rPr sz="1850" spc="15" dirty="0" smtClean="0">
                          <a:latin typeface="Times New Roman"/>
                          <a:cs typeface="Times New Roman"/>
                        </a:rPr>
                        <a:t>------</a:t>
                      </a:r>
                      <a:r>
                        <a:rPr lang="en-US" sz="1850" spc="15" dirty="0" smtClean="0">
                          <a:latin typeface="Times New Roman"/>
                          <a:cs typeface="Times New Roman"/>
                        </a:rPr>
                        <a:t>-</a:t>
                      </a:r>
                      <a:endParaRPr sz="18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48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50" spc="-50" dirty="0">
                          <a:latin typeface="Times New Roman"/>
                          <a:cs typeface="Times New Roman"/>
                        </a:rPr>
                        <a:t>12345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50" dirty="0">
                          <a:latin typeface="Times New Roman"/>
                          <a:cs typeface="Times New Roman"/>
                        </a:rPr>
                        <a:t>Cupertino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60896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850" spc="-45" dirty="0">
                          <a:latin typeface="Times New Roman"/>
                          <a:cs typeface="Times New Roman"/>
                        </a:rPr>
                        <a:t>2459723.495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31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50" spc="-50" dirty="0">
                          <a:latin typeface="Times New Roman"/>
                          <a:cs typeface="Times New Roman"/>
                        </a:rPr>
                        <a:t>83472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50" spc="5" dirty="0">
                          <a:latin typeface="Times New Roman"/>
                          <a:cs typeface="Times New Roman"/>
                        </a:rPr>
                        <a:t>Redmond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L="6089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50" spc="-15" dirty="0">
                          <a:latin typeface="Times New Roman"/>
                          <a:cs typeface="Times New Roman"/>
                        </a:rPr>
                        <a:t>1.0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604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  <a:spcBef>
                          <a:spcPts val="135"/>
                        </a:spcBef>
                      </a:pPr>
                      <a:r>
                        <a:rPr sz="1850" spc="-50" dirty="0">
                          <a:latin typeface="Times New Roman"/>
                          <a:cs typeface="Times New Roman"/>
                        </a:rPr>
                        <a:t>83492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455930">
                        <a:lnSpc>
                          <a:spcPts val="2150"/>
                        </a:lnSpc>
                        <a:spcBef>
                          <a:spcPts val="135"/>
                        </a:spcBef>
                      </a:pPr>
                      <a:r>
                        <a:rPr sz="1850" spc="-20" dirty="0">
                          <a:latin typeface="Times New Roman"/>
                          <a:cs typeface="Times New Roman"/>
                        </a:rPr>
                        <a:t>Boston</a:t>
                      </a:r>
                      <a:endParaRPr sz="185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608965">
                        <a:lnSpc>
                          <a:spcPts val="2150"/>
                        </a:lnSpc>
                        <a:spcBef>
                          <a:spcPts val="135"/>
                        </a:spcBef>
                      </a:pPr>
                      <a:r>
                        <a:rPr sz="1850" spc="-45" dirty="0">
                          <a:latin typeface="Times New Roman"/>
                          <a:cs typeface="Times New Roman"/>
                        </a:rPr>
                        <a:t>35069473.43</a:t>
                      </a:r>
                      <a:endParaRPr sz="18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12725" y="3473513"/>
            <a:ext cx="8703310" cy="140589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457200" algn="just">
              <a:lnSpc>
                <a:spcPct val="97500"/>
              </a:lnSpc>
              <a:spcBef>
                <a:spcPts val="145"/>
              </a:spcBef>
            </a:pPr>
            <a:r>
              <a:rPr sz="1850" spc="-120" dirty="0">
                <a:latin typeface="Times New Roman"/>
                <a:cs typeface="Times New Roman"/>
              </a:rPr>
              <a:t>We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can</a:t>
            </a:r>
            <a:r>
              <a:rPr sz="1850" spc="-15" dirty="0">
                <a:latin typeface="Times New Roman"/>
                <a:cs typeface="Times New Roman"/>
              </a:rPr>
              <a:t> retrieve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results</a:t>
            </a:r>
            <a:r>
              <a:rPr sz="1850" spc="-15" dirty="0">
                <a:latin typeface="Times New Roman"/>
                <a:cs typeface="Times New Roman"/>
              </a:rPr>
              <a:t> using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methods </a:t>
            </a:r>
            <a:r>
              <a:rPr sz="1850" spc="15" dirty="0">
                <a:latin typeface="Times New Roman"/>
                <a:cs typeface="Times New Roman"/>
              </a:rPr>
              <a:t>of </a:t>
            </a:r>
            <a:r>
              <a:rPr sz="1850" spc="-25" dirty="0">
                <a:latin typeface="Times New Roman"/>
                <a:cs typeface="Times New Roman"/>
              </a:rPr>
              <a:t>ResultSet interface.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Each</a:t>
            </a:r>
            <a:r>
              <a:rPr sz="1850" spc="-30" dirty="0">
                <a:latin typeface="Times New Roman"/>
                <a:cs typeface="Times New Roman"/>
              </a:rPr>
              <a:t> of</a:t>
            </a:r>
            <a:r>
              <a:rPr sz="1850" spc="-25" dirty="0">
                <a:latin typeface="Times New Roman"/>
                <a:cs typeface="Times New Roman"/>
              </a:rPr>
              <a:t> these </a:t>
            </a:r>
            <a:r>
              <a:rPr sz="1850" spc="-20" dirty="0">
                <a:latin typeface="Times New Roman"/>
                <a:cs typeface="Times New Roman"/>
              </a:rPr>
              <a:t> get</a:t>
            </a:r>
            <a:r>
              <a:rPr sz="1850" i="1" spc="-20" dirty="0">
                <a:latin typeface="Times New Roman"/>
                <a:cs typeface="Times New Roman"/>
              </a:rPr>
              <a:t>XXX</a:t>
            </a:r>
            <a:r>
              <a:rPr sz="1850" spc="-20" dirty="0">
                <a:latin typeface="Times New Roman"/>
                <a:cs typeface="Times New Roman"/>
              </a:rPr>
              <a:t>() methods attempts </a:t>
            </a:r>
            <a:r>
              <a:rPr sz="1850" spc="-65" dirty="0">
                <a:latin typeface="Times New Roman"/>
                <a:cs typeface="Times New Roman"/>
              </a:rPr>
              <a:t>to</a:t>
            </a:r>
            <a:r>
              <a:rPr sz="1850" spc="33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convert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column </a:t>
            </a:r>
            <a:r>
              <a:rPr sz="1850" spc="-20" dirty="0">
                <a:latin typeface="Times New Roman"/>
                <a:cs typeface="Times New Roman"/>
              </a:rPr>
              <a:t>value </a:t>
            </a:r>
            <a:r>
              <a:rPr sz="1850" spc="-65" dirty="0">
                <a:latin typeface="Times New Roman"/>
                <a:cs typeface="Times New Roman"/>
              </a:rPr>
              <a:t>to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specified </a:t>
            </a:r>
            <a:r>
              <a:rPr sz="1850" dirty="0">
                <a:latin typeface="Times New Roman"/>
                <a:cs typeface="Times New Roman"/>
              </a:rPr>
              <a:t>Java </a:t>
            </a:r>
            <a:r>
              <a:rPr sz="1850" spc="-15" dirty="0">
                <a:latin typeface="Times New Roman"/>
                <a:cs typeface="Times New Roman"/>
              </a:rPr>
              <a:t>type </a:t>
            </a:r>
            <a:r>
              <a:rPr sz="1850" spc="-55" dirty="0">
                <a:latin typeface="Times New Roman"/>
                <a:cs typeface="Times New Roman"/>
              </a:rPr>
              <a:t>and </a:t>
            </a:r>
            <a:r>
              <a:rPr sz="1850" spc="-15" dirty="0">
                <a:latin typeface="Times New Roman"/>
                <a:cs typeface="Times New Roman"/>
              </a:rPr>
              <a:t>returns 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10" dirty="0">
                <a:latin typeface="Times New Roman"/>
                <a:cs typeface="Times New Roman"/>
              </a:rPr>
              <a:t>suitable </a:t>
            </a:r>
            <a:r>
              <a:rPr sz="1850" dirty="0">
                <a:latin typeface="Times New Roman"/>
                <a:cs typeface="Times New Roman"/>
              </a:rPr>
              <a:t>Java </a:t>
            </a:r>
            <a:r>
              <a:rPr sz="1850" spc="-15" dirty="0">
                <a:latin typeface="Times New Roman"/>
                <a:cs typeface="Times New Roman"/>
              </a:rPr>
              <a:t>value. For </a:t>
            </a:r>
            <a:r>
              <a:rPr sz="1850" spc="-30" dirty="0">
                <a:latin typeface="Times New Roman"/>
                <a:cs typeface="Times New Roman"/>
              </a:rPr>
              <a:t>example, </a:t>
            </a:r>
            <a:r>
              <a:rPr sz="1850" spc="-20" dirty="0">
                <a:latin typeface="Times New Roman"/>
                <a:cs typeface="Times New Roman"/>
              </a:rPr>
              <a:t>getInt() </a:t>
            </a:r>
            <a:r>
              <a:rPr sz="1850" spc="-30" dirty="0">
                <a:latin typeface="Times New Roman"/>
                <a:cs typeface="Times New Roman"/>
              </a:rPr>
              <a:t>method gets the </a:t>
            </a:r>
            <a:r>
              <a:rPr sz="1850" spc="-40" dirty="0">
                <a:latin typeface="Times New Roman"/>
                <a:cs typeface="Times New Roman"/>
              </a:rPr>
              <a:t>column </a:t>
            </a:r>
            <a:r>
              <a:rPr sz="1850" dirty="0">
                <a:latin typeface="Times New Roman"/>
                <a:cs typeface="Times New Roman"/>
              </a:rPr>
              <a:t>value </a:t>
            </a:r>
            <a:r>
              <a:rPr sz="1850" spc="-55" dirty="0">
                <a:latin typeface="Times New Roman"/>
                <a:cs typeface="Times New Roman"/>
              </a:rPr>
              <a:t>as an </a:t>
            </a:r>
            <a:r>
              <a:rPr sz="1850" spc="-5" dirty="0">
                <a:latin typeface="Times New Roman"/>
                <a:cs typeface="Times New Roman"/>
              </a:rPr>
              <a:t>int </a:t>
            </a:r>
            <a:r>
              <a:rPr sz="1850" spc="-20" dirty="0">
                <a:latin typeface="Times New Roman"/>
                <a:cs typeface="Times New Roman"/>
              </a:rPr>
              <a:t>value,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getString() </a:t>
            </a:r>
            <a:r>
              <a:rPr sz="1850" spc="-30" dirty="0">
                <a:latin typeface="Times New Roman"/>
                <a:cs typeface="Times New Roman"/>
              </a:rPr>
              <a:t>method gets the </a:t>
            </a:r>
            <a:r>
              <a:rPr sz="1850" spc="-40" dirty="0">
                <a:latin typeface="Times New Roman"/>
                <a:cs typeface="Times New Roman"/>
              </a:rPr>
              <a:t>column </a:t>
            </a:r>
            <a:r>
              <a:rPr sz="1850" dirty="0">
                <a:latin typeface="Times New Roman"/>
                <a:cs typeface="Times New Roman"/>
              </a:rPr>
              <a:t>value </a:t>
            </a:r>
            <a:r>
              <a:rPr sz="1850" spc="-15" dirty="0">
                <a:latin typeface="Times New Roman"/>
                <a:cs typeface="Times New Roman"/>
              </a:rPr>
              <a:t>as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0" dirty="0">
                <a:latin typeface="Times New Roman"/>
                <a:cs typeface="Times New Roman"/>
              </a:rPr>
              <a:t>String value, </a:t>
            </a:r>
            <a:r>
              <a:rPr sz="1850" spc="-25" dirty="0">
                <a:latin typeface="Times New Roman"/>
                <a:cs typeface="Times New Roman"/>
              </a:rPr>
              <a:t>and geLong() </a:t>
            </a:r>
            <a:r>
              <a:rPr sz="1850" spc="-30" dirty="0">
                <a:latin typeface="Times New Roman"/>
                <a:cs typeface="Times New Roman"/>
              </a:rPr>
              <a:t>method </a:t>
            </a:r>
            <a:r>
              <a:rPr sz="1850" spc="-20" dirty="0">
                <a:latin typeface="Times New Roman"/>
                <a:cs typeface="Times New Roman"/>
              </a:rPr>
              <a:t>returns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column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value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long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value.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1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9673" y="238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564"/>
            <a:ext cx="33813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spc="-10" dirty="0"/>
              <a:t>How</a:t>
            </a:r>
            <a:r>
              <a:rPr sz="2000" u="sng" spc="20" dirty="0"/>
              <a:t> </a:t>
            </a:r>
            <a:r>
              <a:rPr sz="2000" u="sng" spc="-15" dirty="0"/>
              <a:t>to</a:t>
            </a:r>
            <a:r>
              <a:rPr sz="2000" u="sng" spc="-40" dirty="0"/>
              <a:t> </a:t>
            </a:r>
            <a:r>
              <a:rPr sz="2000" u="sng" spc="5" dirty="0"/>
              <a:t>Process</a:t>
            </a:r>
            <a:r>
              <a:rPr sz="2000" u="sng" spc="-85" dirty="0"/>
              <a:t> </a:t>
            </a:r>
            <a:r>
              <a:rPr sz="2000" u="sng" spc="-20" dirty="0"/>
              <a:t>the</a:t>
            </a:r>
            <a:r>
              <a:rPr sz="2000" u="sng" spc="65" dirty="0"/>
              <a:t> </a:t>
            </a:r>
            <a:r>
              <a:rPr sz="2000" u="sng" spc="-5" dirty="0"/>
              <a:t>Result?</a:t>
            </a:r>
            <a:endParaRPr sz="2000" u="sng" dirty="0"/>
          </a:p>
        </p:txBody>
      </p:sp>
      <p:sp>
        <p:nvSpPr>
          <p:cNvPr id="3" name="object 3"/>
          <p:cNvSpPr txBox="1"/>
          <p:nvPr/>
        </p:nvSpPr>
        <p:spPr>
          <a:xfrm>
            <a:off x="3088639" y="924876"/>
            <a:ext cx="2733040" cy="35560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0"/>
              </a:spcBef>
            </a:pPr>
            <a:r>
              <a:rPr sz="1500" spc="-45" dirty="0">
                <a:latin typeface="Arial MT"/>
                <a:cs typeface="Arial MT"/>
              </a:rPr>
              <a:t>w</a:t>
            </a:r>
            <a:r>
              <a:rPr sz="1500" spc="-40" dirty="0">
                <a:latin typeface="Arial MT"/>
                <a:cs typeface="Arial MT"/>
              </a:rPr>
              <a:t>h</a:t>
            </a:r>
            <a:r>
              <a:rPr sz="1500" spc="-20" dirty="0">
                <a:latin typeface="Arial MT"/>
                <a:cs typeface="Arial MT"/>
              </a:rPr>
              <a:t>il</a:t>
            </a:r>
            <a:r>
              <a:rPr sz="1500" spc="10" dirty="0">
                <a:latin typeface="Arial MT"/>
                <a:cs typeface="Arial MT"/>
              </a:rPr>
              <a:t>e</a:t>
            </a:r>
            <a:r>
              <a:rPr sz="1500" spc="90" dirty="0">
                <a:latin typeface="Arial MT"/>
                <a:cs typeface="Arial MT"/>
              </a:rPr>
              <a:t> </a:t>
            </a:r>
            <a:r>
              <a:rPr sz="1500" spc="-15" dirty="0">
                <a:latin typeface="Arial MT"/>
                <a:cs typeface="Arial MT"/>
              </a:rPr>
              <a:t>(</a:t>
            </a:r>
            <a:r>
              <a:rPr sz="1500" i="1" spc="-25" dirty="0">
                <a:latin typeface="Arial"/>
                <a:cs typeface="Arial"/>
              </a:rPr>
              <a:t>r</a:t>
            </a:r>
            <a:r>
              <a:rPr sz="1500" i="1" spc="45" dirty="0">
                <a:latin typeface="Arial"/>
                <a:cs typeface="Arial"/>
              </a:rPr>
              <a:t>s</a:t>
            </a:r>
            <a:r>
              <a:rPr sz="1500" i="1" spc="40" dirty="0">
                <a:latin typeface="Arial"/>
                <a:cs typeface="Arial"/>
              </a:rPr>
              <a:t>e</a:t>
            </a:r>
            <a:r>
              <a:rPr sz="1500" i="1" spc="-15" dirty="0">
                <a:latin typeface="Arial"/>
                <a:cs typeface="Arial"/>
              </a:rPr>
              <a:t>t</a:t>
            </a:r>
            <a:r>
              <a:rPr sz="1500" spc="-20" dirty="0">
                <a:latin typeface="Arial MT"/>
                <a:cs typeface="Arial MT"/>
              </a:rPr>
              <a:t>.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35" dirty="0">
                <a:latin typeface="Arial MT"/>
                <a:cs typeface="Arial MT"/>
              </a:rPr>
              <a:t>x</a:t>
            </a:r>
            <a:r>
              <a:rPr sz="1500" spc="-15" dirty="0">
                <a:latin typeface="Arial MT"/>
                <a:cs typeface="Arial MT"/>
              </a:rPr>
              <a:t>t</a:t>
            </a:r>
            <a:r>
              <a:rPr sz="1500" spc="-25" dirty="0">
                <a:latin typeface="Arial MT"/>
                <a:cs typeface="Arial MT"/>
              </a:rPr>
              <a:t>()</a:t>
            </a:r>
            <a:r>
              <a:rPr sz="1500" spc="5" dirty="0">
                <a:latin typeface="Arial MT"/>
                <a:cs typeface="Arial MT"/>
              </a:rPr>
              <a:t>)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5" dirty="0">
                <a:latin typeface="Arial MT"/>
                <a:cs typeface="Arial MT"/>
              </a:rPr>
              <a:t>{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20" dirty="0">
                <a:latin typeface="Arial MT"/>
                <a:cs typeface="Arial MT"/>
              </a:rPr>
              <a:t>…</a:t>
            </a:r>
            <a:r>
              <a:rPr sz="1500" spc="-100" dirty="0">
                <a:latin typeface="Arial MT"/>
                <a:cs typeface="Arial MT"/>
              </a:rPr>
              <a:t> </a:t>
            </a:r>
            <a:r>
              <a:rPr sz="1500" spc="5" dirty="0">
                <a:latin typeface="Arial MT"/>
                <a:cs typeface="Arial MT"/>
              </a:rPr>
              <a:t>}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0200" y="1657478"/>
            <a:ext cx="2621280" cy="65024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470"/>
              </a:spcBef>
            </a:pP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-15" dirty="0">
                <a:latin typeface="Arial MT"/>
                <a:cs typeface="Arial MT"/>
              </a:rPr>
              <a:t>i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10" dirty="0">
                <a:latin typeface="Arial MT"/>
                <a:cs typeface="Arial MT"/>
              </a:rPr>
              <a:t>g </a:t>
            </a:r>
            <a:r>
              <a:rPr sz="1500" i="1" spc="45" dirty="0">
                <a:latin typeface="Arial"/>
                <a:cs typeface="Arial"/>
              </a:rPr>
              <a:t>v</a:t>
            </a:r>
            <a:r>
              <a:rPr sz="1500" i="1" spc="40" dirty="0">
                <a:latin typeface="Arial"/>
                <a:cs typeface="Arial"/>
              </a:rPr>
              <a:t>a</a:t>
            </a:r>
            <a:r>
              <a:rPr sz="1500" i="1" spc="5" dirty="0">
                <a:latin typeface="Arial"/>
                <a:cs typeface="Arial"/>
              </a:rPr>
              <a:t>l</a:t>
            </a:r>
            <a:r>
              <a:rPr sz="1500" i="1" spc="-120" dirty="0">
                <a:latin typeface="Arial"/>
                <a:cs typeface="Arial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endParaRPr sz="1500">
              <a:latin typeface="Arial MT"/>
              <a:cs typeface="Arial MT"/>
            </a:endParaRPr>
          </a:p>
          <a:p>
            <a:pPr marL="69215">
              <a:lnSpc>
                <a:spcPct val="100000"/>
              </a:lnSpc>
              <a:spcBef>
                <a:spcPts val="445"/>
              </a:spcBef>
            </a:pPr>
            <a:r>
              <a:rPr sz="1500" i="1" spc="5" dirty="0">
                <a:latin typeface="Arial"/>
                <a:cs typeface="Arial"/>
              </a:rPr>
              <a:t>rset</a:t>
            </a:r>
            <a:r>
              <a:rPr sz="1500" spc="5" dirty="0">
                <a:latin typeface="Arial MT"/>
                <a:cs typeface="Arial MT"/>
              </a:rPr>
              <a:t>.getString(</a:t>
            </a:r>
            <a:r>
              <a:rPr sz="1500" i="1" spc="5" dirty="0">
                <a:latin typeface="Arial"/>
                <a:cs typeface="Arial"/>
              </a:rPr>
              <a:t>colname</a:t>
            </a:r>
            <a:r>
              <a:rPr sz="1500" spc="5" dirty="0">
                <a:latin typeface="Arial MT"/>
                <a:cs typeface="Arial MT"/>
              </a:rPr>
              <a:t>);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19363" y="2959500"/>
            <a:ext cx="5435600" cy="1781846"/>
            <a:chOff x="1828800" y="3149599"/>
            <a:chExt cx="5435600" cy="1371600"/>
          </a:xfrm>
        </p:grpSpPr>
        <p:sp>
          <p:nvSpPr>
            <p:cNvPr id="6" name="object 6"/>
            <p:cNvSpPr/>
            <p:nvPr/>
          </p:nvSpPr>
          <p:spPr>
            <a:xfrm>
              <a:off x="1833880" y="3154679"/>
              <a:ext cx="5425440" cy="1361440"/>
            </a:xfrm>
            <a:custGeom>
              <a:avLst/>
              <a:gdLst/>
              <a:ahLst/>
              <a:cxnLst/>
              <a:rect l="l" t="t" r="r" b="b"/>
              <a:pathLst>
                <a:path w="5425440" h="1361439">
                  <a:moveTo>
                    <a:pt x="5425440" y="0"/>
                  </a:moveTo>
                  <a:lnTo>
                    <a:pt x="0" y="0"/>
                  </a:lnTo>
                  <a:lnTo>
                    <a:pt x="0" y="1361440"/>
                  </a:lnTo>
                  <a:lnTo>
                    <a:pt x="5425440" y="1361440"/>
                  </a:lnTo>
                  <a:lnTo>
                    <a:pt x="5425440" y="0"/>
                  </a:lnTo>
                  <a:close/>
                </a:path>
              </a:pathLst>
            </a:custGeom>
            <a:solidFill>
              <a:srgbClr val="F8AC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3880" y="3154679"/>
              <a:ext cx="5425440" cy="1361440"/>
            </a:xfrm>
            <a:custGeom>
              <a:avLst/>
              <a:gdLst/>
              <a:ahLst/>
              <a:cxnLst/>
              <a:rect l="l" t="t" r="r" b="b"/>
              <a:pathLst>
                <a:path w="5425440" h="1361439">
                  <a:moveTo>
                    <a:pt x="0" y="1361440"/>
                  </a:moveTo>
                  <a:lnTo>
                    <a:pt x="5425440" y="1361440"/>
                  </a:lnTo>
                  <a:lnTo>
                    <a:pt x="5425440" y="0"/>
                  </a:lnTo>
                  <a:lnTo>
                    <a:pt x="0" y="0"/>
                  </a:lnTo>
                  <a:lnTo>
                    <a:pt x="0" y="136144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95429" y="3097653"/>
            <a:ext cx="4883469" cy="150554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600" spc="-20" dirty="0">
                <a:solidFill>
                  <a:srgbClr val="001C2F"/>
                </a:solidFill>
                <a:latin typeface="Arial MT"/>
                <a:cs typeface="Arial MT"/>
              </a:rPr>
              <a:t>while</a:t>
            </a:r>
            <a:r>
              <a:rPr sz="1600" spc="60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001C2F"/>
                </a:solidFill>
                <a:latin typeface="Arial MT"/>
                <a:cs typeface="Arial MT"/>
              </a:rPr>
              <a:t>(rset.next())</a:t>
            </a:r>
            <a:r>
              <a:rPr sz="1600" spc="5" dirty="0">
                <a:solidFill>
                  <a:srgbClr val="001C2F"/>
                </a:solidFill>
                <a:latin typeface="Arial MT"/>
                <a:cs typeface="Arial MT"/>
              </a:rPr>
              <a:t> {</a:t>
            </a:r>
            <a:endParaRPr sz="1600" dirty="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445"/>
              </a:spcBef>
            </a:pPr>
            <a:r>
              <a:rPr sz="1600" spc="-10" dirty="0">
                <a:solidFill>
                  <a:srgbClr val="001C2F"/>
                </a:solidFill>
                <a:latin typeface="Arial MT"/>
                <a:cs typeface="Arial MT"/>
              </a:rPr>
              <a:t>String</a:t>
            </a:r>
            <a:r>
              <a:rPr sz="1600" spc="65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1C2F"/>
                </a:solidFill>
                <a:latin typeface="Arial MT"/>
                <a:cs typeface="Arial MT"/>
              </a:rPr>
              <a:t>name</a:t>
            </a:r>
            <a:r>
              <a:rPr sz="1600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=</a:t>
            </a:r>
            <a:r>
              <a:rPr sz="1600" spc="-30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5" dirty="0">
                <a:solidFill>
                  <a:srgbClr val="001C2F"/>
                </a:solidFill>
                <a:latin typeface="Arial MT"/>
                <a:cs typeface="Arial MT"/>
              </a:rPr>
              <a:t>rset.getString(“NAME");</a:t>
            </a:r>
            <a:endParaRPr sz="1600" dirty="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445"/>
              </a:spcBef>
            </a:pPr>
            <a:r>
              <a:rPr sz="1600" spc="-10" dirty="0">
                <a:solidFill>
                  <a:srgbClr val="001C2F"/>
                </a:solidFill>
                <a:latin typeface="Arial MT"/>
                <a:cs typeface="Arial MT"/>
              </a:rPr>
              <a:t>String</a:t>
            </a:r>
            <a:r>
              <a:rPr sz="1600" spc="95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supervisor</a:t>
            </a:r>
            <a:r>
              <a:rPr sz="1600" spc="-204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=</a:t>
            </a:r>
            <a:r>
              <a:rPr sz="1600" spc="5" dirty="0">
                <a:solidFill>
                  <a:srgbClr val="001C2F"/>
                </a:solidFill>
                <a:latin typeface="Arial MT"/>
                <a:cs typeface="Arial MT"/>
              </a:rPr>
              <a:t> rset.getString(“SUPERVISOR");</a:t>
            </a:r>
            <a:endParaRPr sz="1600" dirty="0">
              <a:latin typeface="Arial MT"/>
              <a:cs typeface="Arial MT"/>
            </a:endParaRPr>
          </a:p>
          <a:p>
            <a:pPr marL="114300">
              <a:lnSpc>
                <a:spcPct val="100000"/>
              </a:lnSpc>
              <a:spcBef>
                <a:spcPts val="440"/>
              </a:spcBef>
            </a:pPr>
            <a:r>
              <a:rPr sz="1600" spc="25" dirty="0">
                <a:solidFill>
                  <a:srgbClr val="001C2F"/>
                </a:solidFill>
                <a:latin typeface="Arial MT"/>
                <a:cs typeface="Arial MT"/>
              </a:rPr>
              <a:t>…</a:t>
            </a:r>
            <a:r>
              <a:rPr sz="1600" spc="-25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1C2F"/>
                </a:solidFill>
                <a:latin typeface="Arial MT"/>
                <a:cs typeface="Arial MT"/>
              </a:rPr>
              <a:t>/</a:t>
            </a:r>
            <a:r>
              <a:rPr sz="1600" spc="5" dirty="0">
                <a:solidFill>
                  <a:srgbClr val="001C2F"/>
                </a:solidFill>
                <a:latin typeface="Arial MT"/>
                <a:cs typeface="Arial MT"/>
              </a:rPr>
              <a:t>/</a:t>
            </a:r>
            <a:r>
              <a:rPr sz="1600" spc="35" dirty="0">
                <a:solidFill>
                  <a:srgbClr val="001C2F"/>
                </a:solidFill>
                <a:latin typeface="Arial MT"/>
                <a:cs typeface="Arial MT"/>
              </a:rPr>
              <a:t> P</a:t>
            </a:r>
            <a:r>
              <a:rPr sz="1600" spc="-25" dirty="0">
                <a:solidFill>
                  <a:srgbClr val="001C2F"/>
                </a:solidFill>
                <a:latin typeface="Arial MT"/>
                <a:cs typeface="Arial MT"/>
              </a:rPr>
              <a:t>r</a:t>
            </a:r>
            <a:r>
              <a:rPr sz="1600" spc="40" dirty="0">
                <a:solidFill>
                  <a:srgbClr val="001C2F"/>
                </a:solidFill>
                <a:latin typeface="Arial MT"/>
                <a:cs typeface="Arial MT"/>
              </a:rPr>
              <a:t>o</a:t>
            </a:r>
            <a:r>
              <a:rPr sz="1600" spc="45" dirty="0">
                <a:solidFill>
                  <a:srgbClr val="001C2F"/>
                </a:solidFill>
                <a:latin typeface="Arial MT"/>
                <a:cs typeface="Arial MT"/>
              </a:rPr>
              <a:t>c</a:t>
            </a:r>
            <a:r>
              <a:rPr sz="1600" spc="40" dirty="0">
                <a:solidFill>
                  <a:srgbClr val="001C2F"/>
                </a:solidFill>
                <a:latin typeface="Arial MT"/>
                <a:cs typeface="Arial MT"/>
              </a:rPr>
              <a:t>e</a:t>
            </a:r>
            <a:r>
              <a:rPr sz="1600" spc="45" dirty="0">
                <a:solidFill>
                  <a:srgbClr val="001C2F"/>
                </a:solidFill>
                <a:latin typeface="Arial MT"/>
                <a:cs typeface="Arial MT"/>
              </a:rPr>
              <a:t>s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s</a:t>
            </a:r>
            <a:r>
              <a:rPr sz="1600" spc="-60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001C2F"/>
                </a:solidFill>
                <a:latin typeface="Arial MT"/>
                <a:cs typeface="Arial MT"/>
              </a:rPr>
              <a:t>o</a:t>
            </a:r>
            <a:r>
              <a:rPr sz="1600" spc="5" dirty="0">
                <a:solidFill>
                  <a:srgbClr val="001C2F"/>
                </a:solidFill>
                <a:latin typeface="Arial MT"/>
                <a:cs typeface="Arial MT"/>
              </a:rPr>
              <a:t>r</a:t>
            </a:r>
            <a:r>
              <a:rPr sz="1600" spc="-204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001C2F"/>
                </a:solidFill>
                <a:latin typeface="Arial MT"/>
                <a:cs typeface="Arial MT"/>
              </a:rPr>
              <a:t>d</a:t>
            </a:r>
            <a:r>
              <a:rPr sz="1600" spc="-15" dirty="0">
                <a:solidFill>
                  <a:srgbClr val="001C2F"/>
                </a:solidFill>
                <a:latin typeface="Arial MT"/>
                <a:cs typeface="Arial MT"/>
              </a:rPr>
              <a:t>i</a:t>
            </a:r>
            <a:r>
              <a:rPr sz="1600" spc="45" dirty="0">
                <a:solidFill>
                  <a:srgbClr val="001C2F"/>
                </a:solidFill>
                <a:latin typeface="Arial MT"/>
                <a:cs typeface="Arial MT"/>
              </a:rPr>
              <a:t>s</a:t>
            </a:r>
            <a:r>
              <a:rPr sz="1600" spc="40" dirty="0">
                <a:solidFill>
                  <a:srgbClr val="001C2F"/>
                </a:solidFill>
                <a:latin typeface="Arial MT"/>
                <a:cs typeface="Arial MT"/>
              </a:rPr>
              <a:t>p</a:t>
            </a:r>
            <a:r>
              <a:rPr sz="1600" spc="-15" dirty="0">
                <a:solidFill>
                  <a:srgbClr val="001C2F"/>
                </a:solidFill>
                <a:latin typeface="Arial MT"/>
                <a:cs typeface="Arial MT"/>
              </a:rPr>
              <a:t>l</a:t>
            </a:r>
            <a:r>
              <a:rPr sz="1600" spc="-40" dirty="0">
                <a:solidFill>
                  <a:srgbClr val="001C2F"/>
                </a:solidFill>
                <a:latin typeface="Arial MT"/>
                <a:cs typeface="Arial MT"/>
              </a:rPr>
              <a:t>a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y</a:t>
            </a:r>
            <a:r>
              <a:rPr sz="1600" spc="-140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1C2F"/>
                </a:solidFill>
                <a:latin typeface="Arial MT"/>
                <a:cs typeface="Arial MT"/>
              </a:rPr>
              <a:t>t</a:t>
            </a:r>
            <a:r>
              <a:rPr sz="1600" spc="-40" dirty="0">
                <a:solidFill>
                  <a:srgbClr val="001C2F"/>
                </a:solidFill>
                <a:latin typeface="Arial MT"/>
                <a:cs typeface="Arial MT"/>
              </a:rPr>
              <a:t>h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e</a:t>
            </a:r>
            <a:r>
              <a:rPr sz="1600" spc="90" dirty="0">
                <a:solidFill>
                  <a:srgbClr val="001C2F"/>
                </a:solidFill>
                <a:latin typeface="Arial MT"/>
                <a:cs typeface="Arial MT"/>
              </a:rPr>
              <a:t> </a:t>
            </a:r>
            <a:r>
              <a:rPr sz="1600" spc="40" dirty="0">
                <a:solidFill>
                  <a:srgbClr val="001C2F"/>
                </a:solidFill>
                <a:latin typeface="Arial MT"/>
                <a:cs typeface="Arial MT"/>
              </a:rPr>
              <a:t>d</a:t>
            </a:r>
            <a:r>
              <a:rPr sz="1600" spc="-40" dirty="0">
                <a:solidFill>
                  <a:srgbClr val="001C2F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001C2F"/>
                </a:solidFill>
                <a:latin typeface="Arial MT"/>
                <a:cs typeface="Arial MT"/>
              </a:rPr>
              <a:t>t</a:t>
            </a:r>
            <a:r>
              <a:rPr sz="1600" spc="10" dirty="0">
                <a:solidFill>
                  <a:srgbClr val="001C2F"/>
                </a:solidFill>
                <a:latin typeface="Arial MT"/>
                <a:cs typeface="Arial MT"/>
              </a:rPr>
              <a:t>a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lang="en-US" sz="1600" spc="5" dirty="0">
                <a:solidFill>
                  <a:srgbClr val="001C2F"/>
                </a:solidFill>
                <a:latin typeface="Arial MT"/>
                <a:cs typeface="Arial MT"/>
              </a:rPr>
              <a:t>}</a:t>
            </a:r>
            <a:endParaRPr sz="1600" spc="5" dirty="0">
              <a:solidFill>
                <a:srgbClr val="001C2F"/>
              </a:solidFill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15</a:t>
            </a:fld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4648200" y="1657478"/>
            <a:ext cx="2733040" cy="65024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66040">
              <a:lnSpc>
                <a:spcPct val="100000"/>
              </a:lnSpc>
              <a:spcBef>
                <a:spcPts val="470"/>
              </a:spcBef>
            </a:pPr>
            <a:r>
              <a:rPr sz="1500" spc="35" dirty="0">
                <a:latin typeface="Arial MT"/>
                <a:cs typeface="Arial MT"/>
              </a:rPr>
              <a:t>S</a:t>
            </a:r>
            <a:r>
              <a:rPr sz="1500" spc="-20" dirty="0">
                <a:latin typeface="Arial MT"/>
                <a:cs typeface="Arial MT"/>
              </a:rPr>
              <a:t>t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-15" dirty="0">
                <a:latin typeface="Arial MT"/>
                <a:cs typeface="Arial MT"/>
              </a:rPr>
              <a:t>i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10" dirty="0">
                <a:latin typeface="Arial MT"/>
                <a:cs typeface="Arial MT"/>
              </a:rPr>
              <a:t>g</a:t>
            </a:r>
            <a:r>
              <a:rPr sz="1500" spc="15" dirty="0">
                <a:latin typeface="Arial MT"/>
                <a:cs typeface="Arial MT"/>
              </a:rPr>
              <a:t> </a:t>
            </a:r>
            <a:r>
              <a:rPr sz="1500" i="1" spc="45" dirty="0">
                <a:latin typeface="Arial"/>
                <a:cs typeface="Arial"/>
              </a:rPr>
              <a:t>v</a:t>
            </a:r>
            <a:r>
              <a:rPr sz="1500" i="1" spc="40" dirty="0">
                <a:latin typeface="Arial"/>
                <a:cs typeface="Arial"/>
              </a:rPr>
              <a:t>a</a:t>
            </a:r>
            <a:r>
              <a:rPr sz="1500" i="1" spc="5" dirty="0">
                <a:latin typeface="Arial"/>
                <a:cs typeface="Arial"/>
              </a:rPr>
              <a:t>l</a:t>
            </a:r>
            <a:r>
              <a:rPr sz="1500" i="1" spc="-114" dirty="0">
                <a:latin typeface="Arial"/>
                <a:cs typeface="Arial"/>
              </a:rPr>
              <a:t> </a:t>
            </a:r>
            <a:r>
              <a:rPr sz="1500" spc="10" dirty="0">
                <a:latin typeface="Arial MT"/>
                <a:cs typeface="Arial MT"/>
              </a:rPr>
              <a:t>=</a:t>
            </a:r>
            <a:endParaRPr sz="1500">
              <a:latin typeface="Arial MT"/>
              <a:cs typeface="Arial MT"/>
            </a:endParaRPr>
          </a:p>
          <a:p>
            <a:pPr marL="66040">
              <a:lnSpc>
                <a:spcPct val="100000"/>
              </a:lnSpc>
              <a:spcBef>
                <a:spcPts val="445"/>
              </a:spcBef>
            </a:pPr>
            <a:r>
              <a:rPr sz="1500" i="1" spc="5" dirty="0">
                <a:latin typeface="Arial"/>
                <a:cs typeface="Arial"/>
              </a:rPr>
              <a:t>rset</a:t>
            </a:r>
            <a:r>
              <a:rPr sz="1500" spc="5" dirty="0">
                <a:latin typeface="Arial MT"/>
                <a:cs typeface="Arial MT"/>
              </a:rPr>
              <a:t>.getString(</a:t>
            </a:r>
            <a:r>
              <a:rPr sz="1500" i="1" spc="5" dirty="0">
                <a:latin typeface="Arial"/>
                <a:cs typeface="Arial"/>
              </a:rPr>
              <a:t>colIndex</a:t>
            </a:r>
            <a:r>
              <a:rPr sz="1500" spc="5" dirty="0">
                <a:latin typeface="Arial MT"/>
                <a:cs typeface="Arial MT"/>
              </a:rPr>
              <a:t>);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5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3321" y="25399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441134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How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to</a:t>
            </a:r>
            <a:r>
              <a:rPr u="sng" spc="-1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3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Process</a:t>
            </a:r>
            <a:r>
              <a:rPr u="sng" spc="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6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Result?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16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5850" cy="35540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15" dirty="0">
                <a:latin typeface="Times New Roman"/>
                <a:cs typeface="Times New Roman"/>
              </a:rPr>
              <a:t>ResultSet </a:t>
            </a:r>
            <a:r>
              <a:rPr sz="1850" spc="-20" dirty="0">
                <a:latin typeface="Times New Roman"/>
                <a:cs typeface="Times New Roman"/>
              </a:rPr>
              <a:t>object maintains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35" dirty="0">
                <a:latin typeface="Times New Roman"/>
                <a:cs typeface="Times New Roman"/>
              </a:rPr>
              <a:t>cursor, which </a:t>
            </a:r>
            <a:r>
              <a:rPr sz="1850" spc="-10" dirty="0">
                <a:latin typeface="Times New Roman"/>
                <a:cs typeface="Times New Roman"/>
              </a:rPr>
              <a:t>points </a:t>
            </a:r>
            <a:r>
              <a:rPr sz="1850" spc="-60" dirty="0">
                <a:latin typeface="Times New Roman"/>
                <a:cs typeface="Times New Roman"/>
              </a:rPr>
              <a:t>to </a:t>
            </a:r>
            <a:r>
              <a:rPr sz="1850" spc="-25" dirty="0">
                <a:latin typeface="Times New Roman"/>
                <a:cs typeface="Times New Roman"/>
              </a:rPr>
              <a:t>its </a:t>
            </a:r>
            <a:r>
              <a:rPr sz="1850" spc="-15" dirty="0">
                <a:latin typeface="Times New Roman"/>
                <a:cs typeface="Times New Roman"/>
              </a:rPr>
              <a:t>current row </a:t>
            </a:r>
            <a:r>
              <a:rPr sz="1850" spc="-25" dirty="0">
                <a:latin typeface="Times New Roman"/>
                <a:cs typeface="Times New Roman"/>
              </a:rPr>
              <a:t>of </a:t>
            </a:r>
            <a:r>
              <a:rPr sz="1850" spc="-10" dirty="0">
                <a:latin typeface="Times New Roman"/>
                <a:cs typeface="Times New Roman"/>
              </a:rPr>
              <a:t>data. </a:t>
            </a:r>
            <a:r>
              <a:rPr sz="1850" spc="-20" dirty="0">
                <a:latin typeface="Times New Roman"/>
                <a:cs typeface="Times New Roman"/>
              </a:rPr>
              <a:t>The </a:t>
            </a:r>
            <a:r>
              <a:rPr sz="1850" spc="-35" dirty="0">
                <a:latin typeface="Times New Roman"/>
                <a:cs typeface="Times New Roman"/>
              </a:rPr>
              <a:t>cursor 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moves </a:t>
            </a:r>
            <a:r>
              <a:rPr sz="1850" spc="-40" dirty="0">
                <a:latin typeface="Times New Roman"/>
                <a:cs typeface="Times New Roman"/>
              </a:rPr>
              <a:t>down </a:t>
            </a:r>
            <a:r>
              <a:rPr sz="1850" spc="15" dirty="0">
                <a:latin typeface="Times New Roman"/>
                <a:cs typeface="Times New Roman"/>
              </a:rPr>
              <a:t>one </a:t>
            </a:r>
            <a:r>
              <a:rPr sz="1850" spc="-40" dirty="0">
                <a:latin typeface="Times New Roman"/>
                <a:cs typeface="Times New Roman"/>
              </a:rPr>
              <a:t>row each </a:t>
            </a:r>
            <a:r>
              <a:rPr sz="1850" spc="-20" dirty="0">
                <a:latin typeface="Times New Roman"/>
                <a:cs typeface="Times New Roman"/>
              </a:rPr>
              <a:t>time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method </a:t>
            </a:r>
            <a:r>
              <a:rPr sz="1850" spc="-15" dirty="0">
                <a:latin typeface="Times New Roman"/>
                <a:cs typeface="Times New Roman"/>
              </a:rPr>
              <a:t>next </a:t>
            </a:r>
            <a:r>
              <a:rPr sz="1850" spc="-20" dirty="0">
                <a:latin typeface="Times New Roman"/>
                <a:cs typeface="Times New Roman"/>
              </a:rPr>
              <a:t>is </a:t>
            </a:r>
            <a:r>
              <a:rPr sz="1850" spc="-15" dirty="0">
                <a:latin typeface="Times New Roman"/>
                <a:cs typeface="Times New Roman"/>
              </a:rPr>
              <a:t>called. </a:t>
            </a:r>
            <a:r>
              <a:rPr sz="1850" spc="-40" dirty="0">
                <a:latin typeface="Times New Roman"/>
                <a:cs typeface="Times New Roman"/>
              </a:rPr>
              <a:t>When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ResultSet </a:t>
            </a:r>
            <a:r>
              <a:rPr sz="1850" spc="-15" dirty="0">
                <a:latin typeface="Times New Roman"/>
                <a:cs typeface="Times New Roman"/>
              </a:rPr>
              <a:t>object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first </a:t>
            </a:r>
            <a:r>
              <a:rPr sz="1850" spc="-15" dirty="0">
                <a:latin typeface="Times New Roman"/>
                <a:cs typeface="Times New Roman"/>
              </a:rPr>
              <a:t> created, </a:t>
            </a:r>
            <a:r>
              <a:rPr sz="1850" spc="-30" dirty="0">
                <a:latin typeface="Times New Roman"/>
                <a:cs typeface="Times New Roman"/>
              </a:rPr>
              <a:t>the cursor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positioned </a:t>
            </a:r>
            <a:r>
              <a:rPr sz="1850" spc="-15" dirty="0">
                <a:latin typeface="Times New Roman"/>
                <a:cs typeface="Times New Roman"/>
              </a:rPr>
              <a:t>before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dirty="0">
                <a:latin typeface="Times New Roman"/>
                <a:cs typeface="Times New Roman"/>
              </a:rPr>
              <a:t>first </a:t>
            </a:r>
            <a:r>
              <a:rPr sz="1850" spc="-45" dirty="0">
                <a:latin typeface="Times New Roman"/>
                <a:cs typeface="Times New Roman"/>
              </a:rPr>
              <a:t>row, so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first </a:t>
            </a:r>
            <a:r>
              <a:rPr sz="1850" spc="-25" dirty="0">
                <a:latin typeface="Times New Roman"/>
                <a:cs typeface="Times New Roman"/>
              </a:rPr>
              <a:t>call to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0" dirty="0">
                <a:latin typeface="Times New Roman"/>
                <a:cs typeface="Times New Roman"/>
              </a:rPr>
              <a:t>next </a:t>
            </a:r>
            <a:r>
              <a:rPr sz="1850" spc="-30" dirty="0">
                <a:latin typeface="Times New Roman"/>
                <a:cs typeface="Times New Roman"/>
              </a:rPr>
              <a:t>method </a:t>
            </a:r>
            <a:r>
              <a:rPr sz="1850" spc="-15" dirty="0">
                <a:latin typeface="Times New Roman"/>
                <a:cs typeface="Times New Roman"/>
              </a:rPr>
              <a:t>puts 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cursor </a:t>
            </a:r>
            <a:r>
              <a:rPr sz="1850" spc="-25" dirty="0">
                <a:latin typeface="Times New Roman"/>
                <a:cs typeface="Times New Roman"/>
              </a:rPr>
              <a:t>on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first </a:t>
            </a:r>
            <a:r>
              <a:rPr sz="1850" spc="-40" dirty="0">
                <a:latin typeface="Times New Roman"/>
                <a:cs typeface="Times New Roman"/>
              </a:rPr>
              <a:t>row, </a:t>
            </a:r>
            <a:r>
              <a:rPr sz="1850" spc="-15" dirty="0">
                <a:latin typeface="Times New Roman"/>
                <a:cs typeface="Times New Roman"/>
              </a:rPr>
              <a:t>making </a:t>
            </a:r>
            <a:r>
              <a:rPr sz="1850" spc="-20" dirty="0">
                <a:latin typeface="Times New Roman"/>
                <a:cs typeface="Times New Roman"/>
              </a:rPr>
              <a:t>it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current </a:t>
            </a:r>
            <a:r>
              <a:rPr sz="1850" spc="-40" dirty="0">
                <a:latin typeface="Times New Roman"/>
                <a:cs typeface="Times New Roman"/>
              </a:rPr>
              <a:t>row. </a:t>
            </a:r>
            <a:r>
              <a:rPr sz="1850" spc="-25" dirty="0">
                <a:latin typeface="Times New Roman"/>
                <a:cs typeface="Times New Roman"/>
              </a:rPr>
              <a:t>ResultSet rows </a:t>
            </a:r>
            <a:r>
              <a:rPr sz="1850" spc="-45" dirty="0">
                <a:latin typeface="Times New Roman"/>
                <a:cs typeface="Times New Roman"/>
              </a:rPr>
              <a:t>can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retrieved </a:t>
            </a:r>
            <a:r>
              <a:rPr sz="1850" spc="-120" dirty="0">
                <a:latin typeface="Times New Roman"/>
                <a:cs typeface="Times New Roman"/>
              </a:rPr>
              <a:t>in 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sequence </a:t>
            </a:r>
            <a:r>
              <a:rPr sz="1850" spc="-25" dirty="0">
                <a:latin typeface="Times New Roman"/>
                <a:cs typeface="Times New Roman"/>
              </a:rPr>
              <a:t>from </a:t>
            </a:r>
            <a:r>
              <a:rPr sz="1850" spc="-30" dirty="0">
                <a:latin typeface="Times New Roman"/>
                <a:cs typeface="Times New Roman"/>
              </a:rPr>
              <a:t>top</a:t>
            </a:r>
            <a:r>
              <a:rPr sz="1850" spc="-25" dirty="0">
                <a:latin typeface="Times New Roman"/>
                <a:cs typeface="Times New Roman"/>
              </a:rPr>
              <a:t> to bottom </a:t>
            </a:r>
            <a:r>
              <a:rPr sz="1850" spc="-15" dirty="0">
                <a:latin typeface="Times New Roman"/>
                <a:cs typeface="Times New Roman"/>
              </a:rPr>
              <a:t>as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cursor </a:t>
            </a:r>
            <a:r>
              <a:rPr sz="1850" spc="-25" dirty="0">
                <a:latin typeface="Times New Roman"/>
                <a:cs typeface="Times New Roman"/>
              </a:rPr>
              <a:t>moves </a:t>
            </a:r>
            <a:r>
              <a:rPr sz="1850" spc="-20" dirty="0">
                <a:latin typeface="Times New Roman"/>
                <a:cs typeface="Times New Roman"/>
              </a:rPr>
              <a:t>down </a:t>
            </a:r>
            <a:r>
              <a:rPr sz="1850" spc="-10" dirty="0">
                <a:latin typeface="Times New Roman"/>
                <a:cs typeface="Times New Roman"/>
              </a:rPr>
              <a:t>one </a:t>
            </a:r>
            <a:r>
              <a:rPr sz="1850" spc="-40" dirty="0">
                <a:latin typeface="Times New Roman"/>
                <a:cs typeface="Times New Roman"/>
              </a:rPr>
              <a:t>row</a:t>
            </a:r>
            <a:r>
              <a:rPr sz="1850" spc="38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with</a:t>
            </a:r>
            <a:r>
              <a:rPr sz="1850" spc="3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each </a:t>
            </a:r>
            <a:r>
              <a:rPr sz="1850" spc="-25" dirty="0">
                <a:latin typeface="Times New Roman"/>
                <a:cs typeface="Times New Roman"/>
              </a:rPr>
              <a:t>successive call 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method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next.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FC0"/>
              </a:buClr>
              <a:buFont typeface="Wingdings"/>
              <a:buChar char=""/>
            </a:pPr>
            <a:endParaRPr sz="2900">
              <a:latin typeface="Times New Roman"/>
              <a:cs typeface="Times New Roman"/>
            </a:endParaRPr>
          </a:p>
          <a:p>
            <a:pPr marL="246379" marR="6985" indent="-234315" algn="just">
              <a:lnSpc>
                <a:spcPct val="97500"/>
              </a:lnSpc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20" dirty="0">
                <a:latin typeface="Times New Roman"/>
                <a:cs typeface="Times New Roman"/>
              </a:rPr>
              <a:t>When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30" dirty="0">
                <a:latin typeface="Times New Roman"/>
                <a:cs typeface="Times New Roman"/>
              </a:rPr>
              <a:t>cursor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positioned </a:t>
            </a:r>
            <a:r>
              <a:rPr sz="1850" spc="-30" dirty="0">
                <a:latin typeface="Times New Roman"/>
                <a:cs typeface="Times New Roman"/>
              </a:rPr>
              <a:t>on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15" dirty="0">
                <a:latin typeface="Times New Roman"/>
                <a:cs typeface="Times New Roman"/>
              </a:rPr>
              <a:t>row </a:t>
            </a:r>
            <a:r>
              <a:rPr sz="1850" spc="-65" dirty="0">
                <a:latin typeface="Times New Roman"/>
                <a:cs typeface="Times New Roman"/>
              </a:rPr>
              <a:t>in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ResultSet </a:t>
            </a:r>
            <a:r>
              <a:rPr sz="1850" spc="-15" dirty="0">
                <a:latin typeface="Times New Roman"/>
                <a:cs typeface="Times New Roman"/>
              </a:rPr>
              <a:t>object </a:t>
            </a:r>
            <a:r>
              <a:rPr sz="1850" dirty="0">
                <a:latin typeface="Times New Roman"/>
                <a:cs typeface="Times New Roman"/>
              </a:rPr>
              <a:t>(not </a:t>
            </a:r>
            <a:r>
              <a:rPr sz="1850" spc="-5" dirty="0">
                <a:latin typeface="Times New Roman"/>
                <a:cs typeface="Times New Roman"/>
              </a:rPr>
              <a:t>before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first row </a:t>
            </a:r>
            <a:r>
              <a:rPr sz="1850" spc="15" dirty="0">
                <a:latin typeface="Times New Roman"/>
                <a:cs typeface="Times New Roman"/>
              </a:rPr>
              <a:t>or </a:t>
            </a:r>
            <a:r>
              <a:rPr sz="1850" spc="-30" dirty="0">
                <a:latin typeface="Times New Roman"/>
                <a:cs typeface="Times New Roman"/>
              </a:rPr>
              <a:t>after 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last </a:t>
            </a:r>
            <a:r>
              <a:rPr sz="1850" spc="-30" dirty="0">
                <a:latin typeface="Times New Roman"/>
                <a:cs typeface="Times New Roman"/>
              </a:rPr>
              <a:t>row),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40" dirty="0">
                <a:latin typeface="Times New Roman"/>
                <a:cs typeface="Times New Roman"/>
              </a:rPr>
              <a:t>row </a:t>
            </a:r>
            <a:r>
              <a:rPr sz="1850" spc="-15" dirty="0">
                <a:latin typeface="Times New Roman"/>
                <a:cs typeface="Times New Roman"/>
              </a:rPr>
              <a:t>becomes </a:t>
            </a:r>
            <a:r>
              <a:rPr sz="1850" spc="-30" dirty="0">
                <a:latin typeface="Times New Roman"/>
                <a:cs typeface="Times New Roman"/>
              </a:rPr>
              <a:t>the current </a:t>
            </a:r>
            <a:r>
              <a:rPr sz="1850" spc="-45" dirty="0">
                <a:latin typeface="Times New Roman"/>
                <a:cs typeface="Times New Roman"/>
              </a:rPr>
              <a:t>row. </a:t>
            </a:r>
            <a:r>
              <a:rPr sz="1850" spc="-25" dirty="0">
                <a:latin typeface="Times New Roman"/>
                <a:cs typeface="Times New Roman"/>
              </a:rPr>
              <a:t>This </a:t>
            </a:r>
            <a:r>
              <a:rPr sz="1850" spc="-20" dirty="0">
                <a:latin typeface="Times New Roman"/>
                <a:cs typeface="Times New Roman"/>
              </a:rPr>
              <a:t>means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30" dirty="0">
                <a:latin typeface="Times New Roman"/>
                <a:cs typeface="Times New Roman"/>
              </a:rPr>
              <a:t>any </a:t>
            </a:r>
            <a:r>
              <a:rPr sz="1850" spc="-20" dirty="0">
                <a:latin typeface="Times New Roman"/>
                <a:cs typeface="Times New Roman"/>
              </a:rPr>
              <a:t>methods </a:t>
            </a:r>
            <a:r>
              <a:rPr sz="1850" spc="-25" dirty="0">
                <a:latin typeface="Times New Roman"/>
                <a:cs typeface="Times New Roman"/>
              </a:rPr>
              <a:t>called while 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cursor </a:t>
            </a:r>
            <a:r>
              <a:rPr sz="1850" spc="-20" dirty="0">
                <a:latin typeface="Times New Roman"/>
                <a:cs typeface="Times New Roman"/>
              </a:rPr>
              <a:t>is positioned </a:t>
            </a:r>
            <a:r>
              <a:rPr sz="1850" spc="15" dirty="0">
                <a:latin typeface="Times New Roman"/>
                <a:cs typeface="Times New Roman"/>
              </a:rPr>
              <a:t>on </a:t>
            </a:r>
            <a:r>
              <a:rPr sz="1850" spc="-30" dirty="0">
                <a:latin typeface="Times New Roman"/>
                <a:cs typeface="Times New Roman"/>
              </a:rPr>
              <a:t>that </a:t>
            </a:r>
            <a:r>
              <a:rPr sz="1850" spc="-40" dirty="0">
                <a:latin typeface="Times New Roman"/>
                <a:cs typeface="Times New Roman"/>
              </a:rPr>
              <a:t>row </a:t>
            </a:r>
            <a:r>
              <a:rPr sz="1850" spc="-15" dirty="0">
                <a:latin typeface="Times New Roman"/>
                <a:cs typeface="Times New Roman"/>
              </a:rPr>
              <a:t>will operate </a:t>
            </a:r>
            <a:r>
              <a:rPr sz="1850" spc="-25" dirty="0">
                <a:latin typeface="Times New Roman"/>
                <a:cs typeface="Times New Roman"/>
              </a:rPr>
              <a:t>on </a:t>
            </a:r>
            <a:r>
              <a:rPr sz="1850" spc="-20" dirty="0">
                <a:latin typeface="Times New Roman"/>
                <a:cs typeface="Times New Roman"/>
              </a:rPr>
              <a:t>values in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40" dirty="0">
                <a:latin typeface="Times New Roman"/>
                <a:cs typeface="Times New Roman"/>
              </a:rPr>
              <a:t>row </a:t>
            </a:r>
            <a:r>
              <a:rPr sz="1850" spc="-15" dirty="0">
                <a:latin typeface="Times New Roman"/>
                <a:cs typeface="Times New Roman"/>
              </a:rPr>
              <a:t>(methods </a:t>
            </a:r>
            <a:r>
              <a:rPr sz="1850" spc="-40" dirty="0">
                <a:latin typeface="Times New Roman"/>
                <a:cs typeface="Times New Roman"/>
              </a:rPr>
              <a:t>such </a:t>
            </a:r>
            <a:r>
              <a:rPr sz="1850" spc="-105" dirty="0">
                <a:latin typeface="Times New Roman"/>
                <a:cs typeface="Times New Roman"/>
              </a:rPr>
              <a:t>as 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getXXX).</a:t>
            </a:r>
            <a:endParaRPr sz="185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cursor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remains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valid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until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or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its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parent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closed.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3318" y="238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607" y="819150"/>
            <a:ext cx="8563610" cy="343217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46379" marR="5080" indent="-234315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5" dirty="0">
                <a:latin typeface="Times New Roman"/>
                <a:cs typeface="Times New Roman"/>
              </a:rPr>
              <a:t>Before </a:t>
            </a:r>
            <a:r>
              <a:rPr sz="1850" spc="5" dirty="0">
                <a:latin typeface="Times New Roman"/>
                <a:cs typeface="Times New Roman"/>
              </a:rPr>
              <a:t>we </a:t>
            </a:r>
            <a:r>
              <a:rPr sz="1850" spc="-20" dirty="0">
                <a:latin typeface="Times New Roman"/>
                <a:cs typeface="Times New Roman"/>
              </a:rPr>
              <a:t>can execute </a:t>
            </a:r>
            <a:r>
              <a:rPr sz="1850" dirty="0">
                <a:latin typeface="Times New Roman"/>
                <a:cs typeface="Times New Roman"/>
              </a:rPr>
              <a:t>any </a:t>
            </a:r>
            <a:r>
              <a:rPr sz="1850" spc="-45" dirty="0">
                <a:latin typeface="Times New Roman"/>
                <a:cs typeface="Times New Roman"/>
              </a:rPr>
              <a:t>JDBC </a:t>
            </a:r>
            <a:r>
              <a:rPr sz="1850" dirty="0">
                <a:latin typeface="Times New Roman"/>
                <a:cs typeface="Times New Roman"/>
              </a:rPr>
              <a:t>program, </a:t>
            </a:r>
            <a:r>
              <a:rPr sz="1850" spc="5" dirty="0">
                <a:latin typeface="Times New Roman"/>
                <a:cs typeface="Times New Roman"/>
              </a:rPr>
              <a:t>we </a:t>
            </a:r>
            <a:r>
              <a:rPr sz="1850" spc="10" dirty="0">
                <a:latin typeface="Times New Roman"/>
                <a:cs typeface="Times New Roman"/>
              </a:rPr>
              <a:t>have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spc="-10" dirty="0">
                <a:latin typeface="Times New Roman"/>
                <a:cs typeface="Times New Roman"/>
              </a:rPr>
              <a:t>set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classpath </a:t>
            </a:r>
            <a:r>
              <a:rPr sz="1850" spc="15" dirty="0">
                <a:latin typeface="Times New Roman"/>
                <a:cs typeface="Times New Roman"/>
              </a:rPr>
              <a:t>for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type </a:t>
            </a:r>
            <a:r>
              <a:rPr sz="1850" spc="5" dirty="0">
                <a:latin typeface="Times New Roman"/>
                <a:cs typeface="Times New Roman"/>
              </a:rPr>
              <a:t>IV 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driver. </a:t>
            </a:r>
            <a:r>
              <a:rPr sz="1850" spc="-120" dirty="0">
                <a:latin typeface="Times New Roman"/>
                <a:cs typeface="Times New Roman"/>
              </a:rPr>
              <a:t>We </a:t>
            </a:r>
            <a:r>
              <a:rPr sz="1850" spc="-5" dirty="0">
                <a:latin typeface="Times New Roman"/>
                <a:cs typeface="Times New Roman"/>
              </a:rPr>
              <a:t>need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10" dirty="0">
                <a:latin typeface="Times New Roman"/>
                <a:cs typeface="Times New Roman"/>
              </a:rPr>
              <a:t>know, </a:t>
            </a:r>
            <a:r>
              <a:rPr sz="1850" spc="5" dirty="0">
                <a:latin typeface="Times New Roman"/>
                <a:cs typeface="Times New Roman"/>
              </a:rPr>
              <a:t>what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dirty="0">
                <a:latin typeface="Times New Roman"/>
                <a:cs typeface="Times New Roman"/>
              </a:rPr>
              <a:t>name </a:t>
            </a:r>
            <a:r>
              <a:rPr sz="1850" spc="10" dirty="0">
                <a:latin typeface="Times New Roman"/>
                <a:cs typeface="Times New Roman"/>
              </a:rPr>
              <a:t>of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jar </a:t>
            </a:r>
            <a:r>
              <a:rPr sz="1850" spc="-20" dirty="0">
                <a:latin typeface="Times New Roman"/>
                <a:cs typeface="Times New Roman"/>
              </a:rPr>
              <a:t>file, </a:t>
            </a:r>
            <a:r>
              <a:rPr sz="1850" spc="-5" dirty="0">
                <a:latin typeface="Times New Roman"/>
                <a:cs typeface="Times New Roman"/>
              </a:rPr>
              <a:t>which contains </a:t>
            </a:r>
            <a:r>
              <a:rPr sz="1850" spc="-15" dirty="0">
                <a:latin typeface="Times New Roman"/>
                <a:cs typeface="Times New Roman"/>
              </a:rPr>
              <a:t>type </a:t>
            </a:r>
            <a:r>
              <a:rPr sz="1850" spc="5" dirty="0">
                <a:latin typeface="Times New Roman"/>
                <a:cs typeface="Times New Roman"/>
              </a:rPr>
              <a:t>IV </a:t>
            </a:r>
            <a:r>
              <a:rPr sz="1850" spc="-10" dirty="0">
                <a:latin typeface="Times New Roman"/>
                <a:cs typeface="Times New Roman"/>
              </a:rPr>
              <a:t>driver. 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jar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file,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which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we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be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using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classes12.jar.</a:t>
            </a:r>
            <a:r>
              <a:rPr sz="1850" i="1" spc="-1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This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jar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file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found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within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jlib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folder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under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oracle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folder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hierarchy.</a:t>
            </a:r>
            <a:endParaRPr sz="1850" dirty="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10" dirty="0">
                <a:latin typeface="Times New Roman"/>
                <a:cs typeface="Times New Roman"/>
              </a:rPr>
              <a:t>For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e.g.,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In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my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system,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classes12.jar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within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path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endParaRPr sz="1850" dirty="0">
              <a:latin typeface="Times New Roman"/>
              <a:cs typeface="Times New Roman"/>
            </a:endParaRPr>
          </a:p>
          <a:p>
            <a:pPr marL="927735">
              <a:lnSpc>
                <a:spcPct val="100000"/>
              </a:lnSpc>
              <a:spcBef>
                <a:spcPts val="585"/>
              </a:spcBef>
            </a:pPr>
            <a:r>
              <a:rPr sz="1850" i="1" spc="-25" dirty="0">
                <a:latin typeface="Times New Roman"/>
                <a:cs typeface="Times New Roman"/>
              </a:rPr>
              <a:t>E:\app\harb\product\11.1.0\db_1\oui\jlib\classes.jar</a:t>
            </a:r>
            <a:endParaRPr sz="1850" dirty="0">
              <a:latin typeface="Times New Roman"/>
              <a:cs typeface="Times New Roman"/>
            </a:endParaRPr>
          </a:p>
          <a:p>
            <a:pPr marL="246379" marR="65405" indent="-234315">
              <a:lnSpc>
                <a:spcPct val="97500"/>
              </a:lnSpc>
              <a:spcBef>
                <a:spcPts val="56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10" dirty="0">
                <a:latin typeface="Times New Roman"/>
                <a:cs typeface="Times New Roman"/>
              </a:rPr>
              <a:t>Add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10" dirty="0">
                <a:latin typeface="Times New Roman"/>
                <a:cs typeface="Times New Roman"/>
              </a:rPr>
              <a:t>above </a:t>
            </a:r>
            <a:r>
              <a:rPr sz="1850" spc="-5" dirty="0">
                <a:latin typeface="Times New Roman"/>
                <a:cs typeface="Times New Roman"/>
              </a:rPr>
              <a:t>path(including </a:t>
            </a:r>
            <a:r>
              <a:rPr sz="1850" spc="-15" dirty="0">
                <a:latin typeface="Times New Roman"/>
                <a:cs typeface="Times New Roman"/>
              </a:rPr>
              <a:t>classes12.jar)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classpath </a:t>
            </a:r>
            <a:r>
              <a:rPr sz="1850" spc="-10" dirty="0">
                <a:latin typeface="Times New Roman"/>
                <a:cs typeface="Times New Roman"/>
              </a:rPr>
              <a:t>that you </a:t>
            </a:r>
            <a:r>
              <a:rPr sz="1850" spc="10" dirty="0">
                <a:latin typeface="Times New Roman"/>
                <a:cs typeface="Times New Roman"/>
              </a:rPr>
              <a:t>have </a:t>
            </a:r>
            <a:r>
              <a:rPr sz="1850" spc="-10" dirty="0">
                <a:latin typeface="Times New Roman"/>
                <a:cs typeface="Times New Roman"/>
              </a:rPr>
              <a:t>already </a:t>
            </a:r>
            <a:r>
              <a:rPr sz="1850" spc="-20" dirty="0">
                <a:latin typeface="Times New Roman"/>
                <a:cs typeface="Times New Roman"/>
              </a:rPr>
              <a:t>set. </a:t>
            </a:r>
            <a:r>
              <a:rPr sz="1850" spc="5" dirty="0">
                <a:latin typeface="Times New Roman"/>
                <a:cs typeface="Times New Roman"/>
              </a:rPr>
              <a:t>If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you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don’t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have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classpath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set </a:t>
            </a:r>
            <a:r>
              <a:rPr sz="1850" spc="-20" dirty="0">
                <a:latin typeface="Times New Roman"/>
                <a:cs typeface="Times New Roman"/>
              </a:rPr>
              <a:t>in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system,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create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 new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enviroment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variable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following</a:t>
            </a:r>
            <a:r>
              <a:rPr sz="1850" spc="-19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its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value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:</a:t>
            </a:r>
            <a:endParaRPr sz="1850" dirty="0">
              <a:latin typeface="Times New Roman"/>
              <a:cs typeface="Times New Roman"/>
            </a:endParaRPr>
          </a:p>
          <a:p>
            <a:pPr marL="927735">
              <a:lnSpc>
                <a:spcPct val="100000"/>
              </a:lnSpc>
              <a:spcBef>
                <a:spcPts val="585"/>
              </a:spcBef>
            </a:pPr>
            <a:r>
              <a:rPr sz="1850" i="1" spc="-17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1850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185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sz="1850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ab</a:t>
            </a:r>
            <a:r>
              <a:rPr sz="1850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sz="1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50" i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na</a:t>
            </a:r>
            <a:r>
              <a:rPr sz="1850" i="1" spc="20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sz="1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1850" i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1850" i="1" spc="-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c</a:t>
            </a:r>
            <a:r>
              <a:rPr sz="1850" i="1" spc="40" dirty="0">
                <a:latin typeface="Times New Roman"/>
                <a:cs typeface="Times New Roman"/>
              </a:rPr>
              <a:t>l</a:t>
            </a:r>
            <a:r>
              <a:rPr sz="1850" i="1" spc="30" dirty="0">
                <a:latin typeface="Times New Roman"/>
                <a:cs typeface="Times New Roman"/>
              </a:rPr>
              <a:t>a</a:t>
            </a:r>
            <a:r>
              <a:rPr sz="1850" i="1" spc="-5" dirty="0">
                <a:latin typeface="Times New Roman"/>
                <a:cs typeface="Times New Roman"/>
              </a:rPr>
              <a:t>s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30" dirty="0">
                <a:latin typeface="Times New Roman"/>
                <a:cs typeface="Times New Roman"/>
              </a:rPr>
              <a:t>p</a:t>
            </a:r>
            <a:r>
              <a:rPr sz="1850" i="1" spc="-50" dirty="0">
                <a:latin typeface="Times New Roman"/>
                <a:cs typeface="Times New Roman"/>
              </a:rPr>
              <a:t>a</a:t>
            </a:r>
            <a:r>
              <a:rPr sz="1850" i="1" spc="-40" dirty="0">
                <a:latin typeface="Times New Roman"/>
                <a:cs typeface="Times New Roman"/>
              </a:rPr>
              <a:t>t</a:t>
            </a:r>
            <a:r>
              <a:rPr sz="1850" i="1" spc="-5" dirty="0">
                <a:latin typeface="Times New Roman"/>
                <a:cs typeface="Times New Roman"/>
              </a:rPr>
              <a:t>h</a:t>
            </a:r>
            <a:endParaRPr sz="1850" dirty="0">
              <a:latin typeface="Times New Roman"/>
              <a:cs typeface="Times New Roman"/>
            </a:endParaRPr>
          </a:p>
          <a:p>
            <a:pPr marL="927735">
              <a:lnSpc>
                <a:spcPct val="100000"/>
              </a:lnSpc>
              <a:spcBef>
                <a:spcPts val="505"/>
              </a:spcBef>
            </a:pPr>
            <a:r>
              <a:rPr sz="185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Variable</a:t>
            </a:r>
            <a:r>
              <a:rPr sz="1850" i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sz="1850" i="1" spc="-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1850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i="1" spc="5" dirty="0">
                <a:latin typeface="Times New Roman"/>
                <a:cs typeface="Times New Roman"/>
              </a:rPr>
              <a:t>.;</a:t>
            </a:r>
            <a:r>
              <a:rPr sz="1850" i="1" spc="-9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E:\app\harb\product\11.1.0\db_1\oui\jlib\classes12.jar;</a:t>
            </a:r>
            <a:endParaRPr sz="18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17</a:t>
            </a:fld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8607" y="89535"/>
            <a:ext cx="326199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Setting</a:t>
            </a:r>
            <a:r>
              <a:rPr u="sng" spc="-1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up</a:t>
            </a:r>
            <a:r>
              <a:rPr u="sng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classpath</a:t>
            </a: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30616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472694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Setting</a:t>
            </a:r>
            <a:r>
              <a:rPr u="sng" spc="-120" dirty="0"/>
              <a:t> </a:t>
            </a:r>
            <a:r>
              <a:rPr u="sng" spc="-15" dirty="0"/>
              <a:t>up</a:t>
            </a:r>
            <a:r>
              <a:rPr u="sng" spc="-45" dirty="0"/>
              <a:t> </a:t>
            </a:r>
            <a:r>
              <a:rPr u="sng" spc="-25" dirty="0"/>
              <a:t>classpath</a:t>
            </a:r>
            <a:r>
              <a:rPr u="sng" spc="-40" dirty="0"/>
              <a:t> </a:t>
            </a:r>
            <a:r>
              <a:rPr u="sng" spc="-10" dirty="0"/>
              <a:t>(Contd.).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924559"/>
            <a:ext cx="3891279" cy="3911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18</a:t>
            </a:fld>
            <a:endParaRPr spc="-10" dirty="0"/>
          </a:p>
        </p:txBody>
      </p:sp>
      <p:pic>
        <p:nvPicPr>
          <p:cNvPr id="10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07045" y="15109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457" y="119760"/>
            <a:ext cx="472503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Setting</a:t>
            </a:r>
            <a:r>
              <a:rPr u="sng" spc="-120" dirty="0"/>
              <a:t> </a:t>
            </a:r>
            <a:r>
              <a:rPr u="sng" spc="-15" dirty="0"/>
              <a:t>up</a:t>
            </a:r>
            <a:r>
              <a:rPr u="sng" spc="-35" dirty="0"/>
              <a:t> </a:t>
            </a:r>
            <a:r>
              <a:rPr u="sng" spc="-30" dirty="0"/>
              <a:t>classpath</a:t>
            </a:r>
            <a:r>
              <a:rPr u="sng" spc="-35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730469"/>
            <a:ext cx="8709660" cy="5816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46379" marR="5080" indent="-234315">
              <a:lnSpc>
                <a:spcPts val="2160"/>
              </a:lnSpc>
              <a:spcBef>
                <a:spcPts val="215"/>
              </a:spcBef>
              <a:buClr>
                <a:srgbClr val="00AFEF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10" dirty="0">
                <a:latin typeface="Times New Roman"/>
                <a:cs typeface="Times New Roman"/>
              </a:rPr>
              <a:t>If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you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are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using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eclipse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IDE,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then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it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not </a:t>
            </a:r>
            <a:r>
              <a:rPr sz="1850" spc="-25" dirty="0">
                <a:latin typeface="Times New Roman"/>
                <a:cs typeface="Times New Roman"/>
              </a:rPr>
              <a:t>recognize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environment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variable,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classpath.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You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will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have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classes12.jar,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an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external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jar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file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to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build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path.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504949"/>
            <a:ext cx="6339840" cy="33616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19</a:t>
            </a:fld>
            <a:endParaRPr spc="-10" dirty="0"/>
          </a:p>
        </p:txBody>
      </p:sp>
      <p:pic>
        <p:nvPicPr>
          <p:cNvPr id="10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33321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139255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20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641540"/>
            <a:ext cx="6585584" cy="431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20210">
              <a:lnSpc>
                <a:spcPct val="133600"/>
              </a:lnSpc>
              <a:spcBef>
                <a:spcPts val="100"/>
              </a:spcBef>
            </a:pPr>
            <a:r>
              <a:rPr sz="1450" spc="-25" dirty="0">
                <a:latin typeface="Courier New"/>
                <a:cs typeface="Courier New"/>
              </a:rPr>
              <a:t>import </a:t>
            </a:r>
            <a:r>
              <a:rPr sz="1450" spc="-40" dirty="0">
                <a:latin typeface="Courier New"/>
                <a:cs typeface="Courier New"/>
              </a:rPr>
              <a:t>java.sql.*; </a:t>
            </a:r>
            <a:r>
              <a:rPr sz="1450" spc="-35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class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MakeConnection1{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0"/>
              </a:spcBef>
            </a:pPr>
            <a:r>
              <a:rPr sz="1450" spc="-30" dirty="0">
                <a:latin typeface="Courier New"/>
                <a:cs typeface="Courier New"/>
              </a:rPr>
              <a:t>Connection</a:t>
            </a:r>
            <a:r>
              <a:rPr sz="1450" spc="-10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con;</a:t>
            </a:r>
            <a:endParaRPr sz="1450">
              <a:latin typeface="Courier New"/>
              <a:cs typeface="Courier New"/>
            </a:endParaRPr>
          </a:p>
          <a:p>
            <a:pPr marL="439420" marR="4215130">
              <a:lnSpc>
                <a:spcPct val="131300"/>
              </a:lnSpc>
              <a:spcBef>
                <a:spcPts val="45"/>
              </a:spcBef>
            </a:pPr>
            <a:r>
              <a:rPr sz="1450" spc="-30" dirty="0">
                <a:latin typeface="Courier New"/>
                <a:cs typeface="Courier New"/>
              </a:rPr>
              <a:t>Statement </a:t>
            </a:r>
            <a:r>
              <a:rPr sz="1450" spc="-25" dirty="0">
                <a:latin typeface="Courier New"/>
                <a:cs typeface="Courier New"/>
              </a:rPr>
              <a:t>stmt;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ResultSet </a:t>
            </a:r>
            <a:r>
              <a:rPr sz="1450" spc="-25" dirty="0">
                <a:latin typeface="Courier New"/>
                <a:cs typeface="Courier New"/>
              </a:rPr>
              <a:t>rs; </a:t>
            </a:r>
            <a:r>
              <a:rPr sz="1450" spc="-2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MakeConnection1(){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0"/>
              </a:spcBef>
            </a:pPr>
            <a:r>
              <a:rPr sz="1450" spc="-20" dirty="0">
                <a:latin typeface="Courier New"/>
                <a:cs typeface="Courier New"/>
              </a:rPr>
              <a:t>try{</a:t>
            </a:r>
            <a:endParaRPr sz="1450">
              <a:latin typeface="Courier New"/>
              <a:cs typeface="Courier New"/>
            </a:endParaRPr>
          </a:p>
          <a:p>
            <a:pPr marL="673735" marR="876300" indent="-203835">
              <a:lnSpc>
                <a:spcPct val="129000"/>
              </a:lnSpc>
              <a:spcBef>
                <a:spcPts val="80"/>
              </a:spcBef>
            </a:pPr>
            <a:r>
              <a:rPr sz="1450" spc="-35" dirty="0">
                <a:latin typeface="Courier New"/>
                <a:cs typeface="Courier New"/>
              </a:rPr>
              <a:t>Class.forName("oracle.jdbc.driver.OracleDriver");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con=DriverManager.getConnection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ts val="1680"/>
              </a:lnSpc>
            </a:pPr>
            <a:r>
              <a:rPr sz="1450" spc="-40" dirty="0">
                <a:latin typeface="Courier New"/>
                <a:cs typeface="Courier New"/>
              </a:rPr>
              <a:t>("Jdbc:Oracle:thin:@localhost:1521:ORCL","scott","tiger");</a:t>
            </a:r>
            <a:endParaRPr sz="1450">
              <a:latin typeface="Courier New"/>
              <a:cs typeface="Courier New"/>
            </a:endParaRPr>
          </a:p>
          <a:p>
            <a:pPr marL="673735" marR="472440">
              <a:lnSpc>
                <a:spcPct val="131300"/>
              </a:lnSpc>
              <a:spcBef>
                <a:spcPts val="40"/>
              </a:spcBef>
            </a:pPr>
            <a:r>
              <a:rPr sz="1450" spc="-35" dirty="0">
                <a:latin typeface="Courier New"/>
                <a:cs typeface="Courier New"/>
              </a:rPr>
              <a:t>stmt=con.createStatement(); </a:t>
            </a:r>
            <a:r>
              <a:rPr sz="1450" spc="-3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rs=stmt.executeQuery("Select </a:t>
            </a:r>
            <a:r>
              <a:rPr sz="1450" spc="-40" dirty="0">
                <a:latin typeface="Courier New"/>
                <a:cs typeface="Courier New"/>
              </a:rPr>
              <a:t>ename, </a:t>
            </a:r>
            <a:r>
              <a:rPr sz="1450" spc="-25" dirty="0">
                <a:latin typeface="Courier New"/>
                <a:cs typeface="Courier New"/>
              </a:rPr>
              <a:t>sal </a:t>
            </a:r>
            <a:r>
              <a:rPr sz="1450" spc="-40" dirty="0">
                <a:latin typeface="Courier New"/>
                <a:cs typeface="Courier New"/>
              </a:rPr>
              <a:t>from </a:t>
            </a:r>
            <a:r>
              <a:rPr sz="1450" spc="-25" dirty="0">
                <a:latin typeface="Courier New"/>
                <a:cs typeface="Courier New"/>
              </a:rPr>
              <a:t>emp");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while(rs.next())</a:t>
            </a:r>
            <a:endParaRPr sz="1450">
              <a:latin typeface="Courier New"/>
              <a:cs typeface="Courier New"/>
            </a:endParaRPr>
          </a:p>
          <a:p>
            <a:pPr marL="927735">
              <a:lnSpc>
                <a:spcPct val="100000"/>
              </a:lnSpc>
              <a:spcBef>
                <a:spcPts val="505"/>
              </a:spcBef>
            </a:pPr>
            <a:r>
              <a:rPr sz="1450" spc="-35" dirty="0">
                <a:latin typeface="Courier New"/>
                <a:cs typeface="Courier New"/>
              </a:rPr>
              <a:t>System.out.println(rs.getString(1)+"</a:t>
            </a:r>
            <a:r>
              <a:rPr sz="1450" spc="-7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"+rs.getInt(2));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b="1" i="1" spc="-35" dirty="0">
                <a:latin typeface="Courier New"/>
                <a:cs typeface="Courier New"/>
              </a:rPr>
              <a:t>contd..</a:t>
            </a:r>
            <a:endParaRPr sz="1450">
              <a:latin typeface="Courier New"/>
              <a:cs typeface="Courier New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28066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125" dirty="0"/>
              <a:t> </a:t>
            </a:r>
            <a:r>
              <a:rPr u="sng"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21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38137" y="493585"/>
            <a:ext cx="4411345" cy="43827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460375">
              <a:lnSpc>
                <a:spcPct val="100000"/>
              </a:lnSpc>
              <a:spcBef>
                <a:spcPts val="685"/>
              </a:spcBef>
            </a:pPr>
            <a:r>
              <a:rPr sz="1450" spc="-35" dirty="0">
                <a:latin typeface="Courier New"/>
                <a:cs typeface="Courier New"/>
              </a:rPr>
              <a:t>conn.close();</a:t>
            </a:r>
            <a:endParaRPr sz="1450">
              <a:latin typeface="Courier New"/>
              <a:cs typeface="Courier New"/>
            </a:endParaRPr>
          </a:p>
          <a:p>
            <a:pPr marL="246379" marR="1812289">
              <a:lnSpc>
                <a:spcPct val="128899"/>
              </a:lnSpc>
              <a:spcBef>
                <a:spcPts val="80"/>
              </a:spcBef>
              <a:tabLst>
                <a:tab pos="570865" algn="l"/>
              </a:tabLst>
            </a:pPr>
            <a:r>
              <a:rPr sz="1450" spc="-5" dirty="0">
                <a:latin typeface="Courier New"/>
                <a:cs typeface="Courier New"/>
              </a:rPr>
              <a:t>}	</a:t>
            </a:r>
            <a:r>
              <a:rPr sz="1450" spc="-40" dirty="0">
                <a:latin typeface="Courier New"/>
                <a:cs typeface="Courier New"/>
              </a:rPr>
              <a:t>//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end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dirty="0">
                <a:latin typeface="Courier New"/>
                <a:cs typeface="Courier New"/>
              </a:rPr>
              <a:t>of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55" dirty="0">
                <a:latin typeface="Courier New"/>
                <a:cs typeface="Courier New"/>
              </a:rPr>
              <a:t>try</a:t>
            </a:r>
            <a:r>
              <a:rPr sz="1450" spc="-80" dirty="0">
                <a:latin typeface="Courier New"/>
                <a:cs typeface="Courier New"/>
              </a:rPr>
              <a:t> </a:t>
            </a:r>
            <a:r>
              <a:rPr sz="1450" spc="-30" dirty="0">
                <a:latin typeface="Courier New"/>
                <a:cs typeface="Courier New"/>
              </a:rPr>
              <a:t>block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catch(SQLException</a:t>
            </a:r>
            <a:r>
              <a:rPr sz="1450" spc="-7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e){</a:t>
            </a:r>
            <a:endParaRPr sz="1450">
              <a:latin typeface="Courier New"/>
              <a:cs typeface="Courier New"/>
            </a:endParaRPr>
          </a:p>
          <a:p>
            <a:pPr marL="673735">
              <a:lnSpc>
                <a:spcPct val="100000"/>
              </a:lnSpc>
              <a:spcBef>
                <a:spcPts val="585"/>
              </a:spcBef>
            </a:pPr>
            <a:r>
              <a:rPr sz="1450" spc="-35" dirty="0">
                <a:latin typeface="Courier New"/>
                <a:cs typeface="Courier New"/>
              </a:rPr>
              <a:t>System.out.println(e);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673735" marR="746125" indent="-427355">
              <a:lnSpc>
                <a:spcPct val="129000"/>
              </a:lnSpc>
              <a:spcBef>
                <a:spcPts val="85"/>
              </a:spcBef>
            </a:pPr>
            <a:r>
              <a:rPr sz="1450" spc="-35" dirty="0">
                <a:latin typeface="Courier New"/>
                <a:cs typeface="Courier New"/>
              </a:rPr>
              <a:t>catch(ClassNotFoundException </a:t>
            </a:r>
            <a:r>
              <a:rPr sz="1450" spc="-25" dirty="0">
                <a:latin typeface="Courier New"/>
                <a:cs typeface="Courier New"/>
              </a:rPr>
              <a:t>e){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System.out.println(e);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0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226060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50" spc="-20" dirty="0">
                <a:latin typeface="Courier New"/>
                <a:cs typeface="Courier New"/>
              </a:rPr>
              <a:t>public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class</a:t>
            </a:r>
            <a:r>
              <a:rPr sz="1450" spc="-60" dirty="0">
                <a:latin typeface="Courier New"/>
                <a:cs typeface="Courier New"/>
              </a:rPr>
              <a:t> </a:t>
            </a:r>
            <a:r>
              <a:rPr sz="1450" spc="-35" dirty="0">
                <a:latin typeface="Courier New"/>
                <a:cs typeface="Courier New"/>
              </a:rPr>
              <a:t>TestConnection1{</a:t>
            </a:r>
            <a:endParaRPr sz="1450">
              <a:latin typeface="Courier New"/>
              <a:cs typeface="Courier New"/>
            </a:endParaRPr>
          </a:p>
          <a:p>
            <a:pPr marL="470534" marR="5080" indent="-224154">
              <a:lnSpc>
                <a:spcPct val="128899"/>
              </a:lnSpc>
              <a:spcBef>
                <a:spcPts val="80"/>
              </a:spcBef>
            </a:pPr>
            <a:r>
              <a:rPr sz="1450" spc="-25" dirty="0">
                <a:latin typeface="Courier New"/>
                <a:cs typeface="Courier New"/>
              </a:rPr>
              <a:t>public </a:t>
            </a:r>
            <a:r>
              <a:rPr sz="1450" spc="-40" dirty="0">
                <a:latin typeface="Courier New"/>
                <a:cs typeface="Courier New"/>
              </a:rPr>
              <a:t>static void </a:t>
            </a:r>
            <a:r>
              <a:rPr sz="1450" spc="-35" dirty="0">
                <a:latin typeface="Courier New"/>
                <a:cs typeface="Courier New"/>
              </a:rPr>
              <a:t>main(String </a:t>
            </a:r>
            <a:r>
              <a:rPr sz="1450" spc="-40" dirty="0">
                <a:latin typeface="Courier New"/>
                <a:cs typeface="Courier New"/>
              </a:rPr>
              <a:t>args[]){ </a:t>
            </a:r>
            <a:r>
              <a:rPr sz="1450" spc="-860" dirty="0">
                <a:latin typeface="Courier New"/>
                <a:cs typeface="Courier New"/>
              </a:rPr>
              <a:t> </a:t>
            </a:r>
            <a:r>
              <a:rPr sz="1450" spc="-25" dirty="0">
                <a:latin typeface="Courier New"/>
                <a:cs typeface="Courier New"/>
              </a:rPr>
              <a:t>new</a:t>
            </a:r>
            <a:r>
              <a:rPr sz="1450" spc="-65" dirty="0">
                <a:latin typeface="Courier New"/>
                <a:cs typeface="Courier New"/>
              </a:rPr>
              <a:t> </a:t>
            </a:r>
            <a:r>
              <a:rPr sz="1450" spc="-40" dirty="0">
                <a:latin typeface="Courier New"/>
                <a:cs typeface="Courier New"/>
              </a:rPr>
              <a:t>MakeConnection1();</a:t>
            </a:r>
            <a:endParaRPr sz="1450">
              <a:latin typeface="Courier New"/>
              <a:cs typeface="Courier New"/>
            </a:endParaRPr>
          </a:p>
          <a:p>
            <a:pPr marL="246379">
              <a:lnSpc>
                <a:spcPct val="100000"/>
              </a:lnSpc>
              <a:spcBef>
                <a:spcPts val="58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50" spc="-5" dirty="0">
                <a:latin typeface="Courier New"/>
                <a:cs typeface="Courier New"/>
              </a:rPr>
              <a:t>}</a:t>
            </a:r>
            <a:endParaRPr sz="1450">
              <a:latin typeface="Courier New"/>
              <a:cs typeface="Courier New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4418" y="4164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285496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/>
              <a:t>Example</a:t>
            </a:r>
            <a:r>
              <a:rPr u="sng" spc="-100" dirty="0"/>
              <a:t> </a:t>
            </a:r>
            <a:r>
              <a:rPr u="sng" spc="-10" dirty="0"/>
              <a:t>(Contd.).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360" y="741679"/>
            <a:ext cx="6065520" cy="409447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22</a:t>
            </a:fld>
            <a:endParaRPr spc="-10" dirty="0"/>
          </a:p>
        </p:txBody>
      </p:sp>
      <p:pic>
        <p:nvPicPr>
          <p:cNvPr id="10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09673" y="7226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725" y="671766"/>
            <a:ext cx="8445500" cy="23977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8140" indent="-346075">
              <a:lnSpc>
                <a:spcPct val="100000"/>
              </a:lnSpc>
              <a:spcBef>
                <a:spcPts val="700"/>
              </a:spcBef>
              <a:buClr>
                <a:srgbClr val="006FC0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500" spc="-10" dirty="0">
                <a:latin typeface="Times New Roman"/>
                <a:cs typeface="Times New Roman"/>
              </a:rPr>
              <a:t>What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15" dirty="0">
                <a:latin typeface="Times New Roman"/>
                <a:cs typeface="Times New Roman"/>
              </a:rPr>
              <a:t>does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the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next()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method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invoked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spc="25" dirty="0">
                <a:latin typeface="Times New Roman"/>
                <a:cs typeface="Times New Roman"/>
              </a:rPr>
              <a:t>on</a:t>
            </a:r>
            <a:r>
              <a:rPr sz="1500" spc="-100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the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result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5" dirty="0">
                <a:latin typeface="Times New Roman"/>
                <a:cs typeface="Times New Roman"/>
              </a:rPr>
              <a:t>set</a:t>
            </a:r>
            <a:r>
              <a:rPr sz="1500" dirty="0">
                <a:latin typeface="Times New Roman"/>
                <a:cs typeface="Times New Roman"/>
              </a:rPr>
              <a:t> object</a:t>
            </a:r>
            <a:r>
              <a:rPr sz="1500" spc="-7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return</a:t>
            </a:r>
            <a:endParaRPr sz="150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500" spc="-20" dirty="0">
                <a:latin typeface="Times New Roman"/>
                <a:cs typeface="Times New Roman"/>
              </a:rPr>
              <a:t>String</a:t>
            </a:r>
            <a:endParaRPr sz="150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500" spc="-45" dirty="0">
                <a:latin typeface="Times New Roman"/>
                <a:cs typeface="Times New Roman"/>
              </a:rPr>
              <a:t>int</a:t>
            </a:r>
            <a:endParaRPr sz="150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500" dirty="0">
                <a:latin typeface="Times New Roman"/>
                <a:cs typeface="Times New Roman"/>
              </a:rPr>
              <a:t>boolean</a:t>
            </a:r>
            <a:endParaRPr sz="1500">
              <a:latin typeface="Times New Roman"/>
              <a:cs typeface="Times New Roman"/>
            </a:endParaRPr>
          </a:p>
          <a:p>
            <a:pPr marL="744855" lvl="1" indent="-346075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AutoNum type="alphaLcParenR"/>
              <a:tabLst>
                <a:tab pos="744220" algn="l"/>
                <a:tab pos="744855" algn="l"/>
              </a:tabLst>
            </a:pPr>
            <a:r>
              <a:rPr sz="1500" spc="-20" dirty="0">
                <a:latin typeface="Times New Roman"/>
                <a:cs typeface="Times New Roman"/>
              </a:rPr>
              <a:t>float</a:t>
            </a:r>
            <a:endParaRPr sz="15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006FC0"/>
              </a:buClr>
              <a:buFont typeface="Times New Roman"/>
              <a:buAutoNum type="alphaLcParenR"/>
            </a:pPr>
            <a:endParaRPr sz="1700">
              <a:latin typeface="Times New Roman"/>
              <a:cs typeface="Times New Roman"/>
            </a:endParaRPr>
          </a:p>
          <a:p>
            <a:pPr marL="358140" marR="5080" indent="-346075">
              <a:lnSpc>
                <a:spcPct val="102499"/>
              </a:lnSpc>
              <a:spcBef>
                <a:spcPts val="1010"/>
              </a:spcBef>
              <a:buClr>
                <a:srgbClr val="006FC0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500" spc="-10" dirty="0">
                <a:latin typeface="Times New Roman"/>
                <a:cs typeface="Times New Roman"/>
              </a:rPr>
              <a:t>Which </a:t>
            </a:r>
            <a:r>
              <a:rPr sz="1500" spc="5" dirty="0">
                <a:latin typeface="Times New Roman"/>
                <a:cs typeface="Times New Roman"/>
              </a:rPr>
              <a:t>one </a:t>
            </a:r>
            <a:r>
              <a:rPr sz="1500" spc="25" dirty="0">
                <a:latin typeface="Times New Roman"/>
                <a:cs typeface="Times New Roman"/>
              </a:rPr>
              <a:t>of </a:t>
            </a:r>
            <a:r>
              <a:rPr sz="1500" spc="-15" dirty="0">
                <a:latin typeface="Times New Roman"/>
                <a:cs typeface="Times New Roman"/>
              </a:rPr>
              <a:t>the </a:t>
            </a:r>
            <a:r>
              <a:rPr sz="1500" spc="-35" dirty="0">
                <a:latin typeface="Times New Roman"/>
                <a:cs typeface="Times New Roman"/>
              </a:rPr>
              <a:t>following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method </a:t>
            </a:r>
            <a:r>
              <a:rPr sz="1500" spc="10" dirty="0">
                <a:latin typeface="Times New Roman"/>
                <a:cs typeface="Times New Roman"/>
              </a:rPr>
              <a:t>can </a:t>
            </a:r>
            <a:r>
              <a:rPr sz="1500" spc="25" dirty="0">
                <a:latin typeface="Times New Roman"/>
                <a:cs typeface="Times New Roman"/>
              </a:rPr>
              <a:t>be </a:t>
            </a:r>
            <a:r>
              <a:rPr sz="1500" spc="-25" dirty="0">
                <a:latin typeface="Times New Roman"/>
                <a:cs typeface="Times New Roman"/>
              </a:rPr>
              <a:t>invoked </a:t>
            </a:r>
            <a:r>
              <a:rPr sz="1500" spc="25" dirty="0">
                <a:latin typeface="Times New Roman"/>
                <a:cs typeface="Times New Roman"/>
              </a:rPr>
              <a:t>on </a:t>
            </a:r>
            <a:r>
              <a:rPr sz="1500" spc="-15" dirty="0">
                <a:latin typeface="Times New Roman"/>
                <a:cs typeface="Times New Roman"/>
              </a:rPr>
              <a:t>the </a:t>
            </a:r>
            <a:r>
              <a:rPr sz="1500" dirty="0">
                <a:latin typeface="Times New Roman"/>
                <a:cs typeface="Times New Roman"/>
              </a:rPr>
              <a:t>connection </a:t>
            </a:r>
            <a:r>
              <a:rPr sz="1500" spc="5" dirty="0">
                <a:latin typeface="Times New Roman"/>
                <a:cs typeface="Times New Roman"/>
              </a:rPr>
              <a:t>object </a:t>
            </a:r>
            <a:r>
              <a:rPr sz="1500" spc="-5" dirty="0">
                <a:latin typeface="Times New Roman"/>
                <a:cs typeface="Times New Roman"/>
              </a:rPr>
              <a:t>to create </a:t>
            </a:r>
            <a:r>
              <a:rPr sz="1500" spc="-10" dirty="0">
                <a:latin typeface="Times New Roman"/>
                <a:cs typeface="Times New Roman"/>
              </a:rPr>
              <a:t>an empty </a:t>
            </a:r>
            <a:r>
              <a:rPr sz="1500" spc="-15" dirty="0">
                <a:latin typeface="Times New Roman"/>
                <a:cs typeface="Times New Roman"/>
              </a:rPr>
              <a:t>Statement </a:t>
            </a:r>
            <a:r>
              <a:rPr sz="1500" spc="-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0242" y="3044690"/>
            <a:ext cx="1969135" cy="12465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70534" indent="-457834">
              <a:lnSpc>
                <a:spcPct val="100000"/>
              </a:lnSpc>
              <a:spcBef>
                <a:spcPts val="695"/>
              </a:spcBef>
              <a:buClr>
                <a:srgbClr val="006FC0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500" spc="-20" dirty="0">
                <a:latin typeface="Times New Roman"/>
                <a:cs typeface="Times New Roman"/>
              </a:rPr>
              <a:t>createStatement();</a:t>
            </a:r>
            <a:endParaRPr sz="1500">
              <a:latin typeface="Times New Roman"/>
              <a:cs typeface="Times New Roman"/>
            </a:endParaRPr>
          </a:p>
          <a:p>
            <a:pPr marL="470534" indent="-457834">
              <a:lnSpc>
                <a:spcPct val="100000"/>
              </a:lnSpc>
              <a:spcBef>
                <a:spcPts val="600"/>
              </a:spcBef>
              <a:buClr>
                <a:srgbClr val="006FC0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500" spc="-25" dirty="0">
                <a:latin typeface="Times New Roman"/>
                <a:cs typeface="Times New Roman"/>
              </a:rPr>
              <a:t>getStatement();</a:t>
            </a:r>
            <a:endParaRPr sz="1500">
              <a:latin typeface="Times New Roman"/>
              <a:cs typeface="Times New Roman"/>
            </a:endParaRPr>
          </a:p>
          <a:p>
            <a:pPr marL="470534" indent="-457834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500" spc="-15" dirty="0">
                <a:latin typeface="Times New Roman"/>
                <a:cs typeface="Times New Roman"/>
              </a:rPr>
              <a:t>prepareStatement();</a:t>
            </a:r>
            <a:endParaRPr sz="1500">
              <a:latin typeface="Times New Roman"/>
              <a:cs typeface="Times New Roman"/>
            </a:endParaRPr>
          </a:p>
          <a:p>
            <a:pPr marL="470534" indent="-457834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AutoNum type="alphaLcParenR"/>
              <a:tabLst>
                <a:tab pos="469900" algn="l"/>
                <a:tab pos="470534" algn="l"/>
              </a:tabLst>
            </a:pPr>
            <a:r>
              <a:rPr sz="1500" spc="-20" dirty="0">
                <a:latin typeface="Times New Roman"/>
                <a:cs typeface="Times New Roman"/>
              </a:rPr>
              <a:t>executeStatement();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102235"/>
            <a:ext cx="74295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6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Q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ui</a:t>
            </a:r>
            <a:r>
              <a:rPr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z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4026" y="3758989"/>
            <a:ext cx="2230319" cy="10826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56935" y="3802379"/>
            <a:ext cx="860425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35" dirty="0">
                <a:latin typeface="Arial MT"/>
                <a:cs typeface="Arial MT"/>
              </a:rPr>
              <a:t>A</a:t>
            </a:r>
            <a:r>
              <a:rPr sz="1500" spc="-40" dirty="0">
                <a:latin typeface="Arial MT"/>
                <a:cs typeface="Arial MT"/>
              </a:rPr>
              <a:t>n</a:t>
            </a:r>
            <a:r>
              <a:rPr sz="1500" spc="45" dirty="0">
                <a:latin typeface="Arial MT"/>
                <a:cs typeface="Arial MT"/>
              </a:rPr>
              <a:t>s</a:t>
            </a:r>
            <a:r>
              <a:rPr sz="1500" spc="-45" dirty="0">
                <a:latin typeface="Arial MT"/>
                <a:cs typeface="Arial MT"/>
              </a:rPr>
              <a:t>w</a:t>
            </a:r>
            <a:r>
              <a:rPr sz="1500" spc="40" dirty="0">
                <a:latin typeface="Arial MT"/>
                <a:cs typeface="Arial MT"/>
              </a:rPr>
              <a:t>e</a:t>
            </a:r>
            <a:r>
              <a:rPr sz="1500" spc="-25" dirty="0">
                <a:latin typeface="Arial MT"/>
                <a:cs typeface="Arial MT"/>
              </a:rPr>
              <a:t>r</a:t>
            </a:r>
            <a:r>
              <a:rPr sz="1500" spc="10" dirty="0">
                <a:latin typeface="Arial MT"/>
                <a:cs typeface="Arial MT"/>
              </a:rPr>
              <a:t>s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5" dirty="0">
                <a:latin typeface="Arial MT"/>
                <a:cs typeface="Arial MT"/>
              </a:rPr>
              <a:t>: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23</a:t>
            </a:fld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5456935" y="4260532"/>
            <a:ext cx="397510" cy="491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4625" indent="-162560">
              <a:lnSpc>
                <a:spcPct val="100000"/>
              </a:lnSpc>
              <a:spcBef>
                <a:spcPts val="120"/>
              </a:spcBef>
              <a:buAutoNum type="arabicPlain"/>
              <a:tabLst>
                <a:tab pos="175260" algn="l"/>
              </a:tabLst>
            </a:pPr>
            <a:r>
              <a:rPr sz="1500" spc="5" dirty="0">
                <a:latin typeface="Arial MT"/>
                <a:cs typeface="Arial MT"/>
              </a:rPr>
              <a:t>: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c</a:t>
            </a:r>
            <a:endParaRPr sz="1500">
              <a:latin typeface="Arial MT"/>
              <a:cs typeface="Arial MT"/>
            </a:endParaRPr>
          </a:p>
          <a:p>
            <a:pPr marL="174625" indent="-162560">
              <a:lnSpc>
                <a:spcPct val="100000"/>
              </a:lnSpc>
              <a:spcBef>
                <a:spcPts val="45"/>
              </a:spcBef>
              <a:buAutoNum type="arabicPlain"/>
              <a:tabLst>
                <a:tab pos="175260" algn="l"/>
              </a:tabLst>
            </a:pPr>
            <a:r>
              <a:rPr sz="1500" spc="5" dirty="0">
                <a:latin typeface="Arial MT"/>
                <a:cs typeface="Arial MT"/>
              </a:rPr>
              <a:t>: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10" dirty="0">
                <a:latin typeface="Arial MT"/>
                <a:cs typeface="Arial MT"/>
              </a:rPr>
              <a:t>a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3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25439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285496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/>
              <a:t>Close</a:t>
            </a:r>
            <a:r>
              <a:rPr u="sng" spc="-105" dirty="0"/>
              <a:t> </a:t>
            </a:r>
            <a:r>
              <a:rPr u="sng" spc="-20" dirty="0"/>
              <a:t>Connection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76120" y="1264919"/>
            <a:ext cx="2037080" cy="2098040"/>
            <a:chOff x="1976120" y="1264919"/>
            <a:chExt cx="2037080" cy="2098040"/>
          </a:xfrm>
        </p:grpSpPr>
        <p:sp>
          <p:nvSpPr>
            <p:cNvPr id="4" name="object 4"/>
            <p:cNvSpPr/>
            <p:nvPr/>
          </p:nvSpPr>
          <p:spPr>
            <a:xfrm>
              <a:off x="2682240" y="252475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39"/>
                  </a:moveTo>
                  <a:lnTo>
                    <a:pt x="76200" y="396239"/>
                  </a:lnTo>
                  <a:lnTo>
                    <a:pt x="121919" y="243839"/>
                  </a:lnTo>
                  <a:lnTo>
                    <a:pt x="50800" y="243839"/>
                  </a:lnTo>
                  <a:lnTo>
                    <a:pt x="50800" y="209973"/>
                  </a:lnTo>
                  <a:lnTo>
                    <a:pt x="0" y="142239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39"/>
                  </a:lnTo>
                  <a:lnTo>
                    <a:pt x="76200" y="243839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39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39"/>
                  </a:lnTo>
                  <a:lnTo>
                    <a:pt x="101600" y="243839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39"/>
                  </a:moveTo>
                  <a:lnTo>
                    <a:pt x="101600" y="209973"/>
                  </a:lnTo>
                  <a:lnTo>
                    <a:pt x="101600" y="243839"/>
                  </a:lnTo>
                  <a:lnTo>
                    <a:pt x="121919" y="243839"/>
                  </a:lnTo>
                  <a:lnTo>
                    <a:pt x="152400" y="14223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35400" y="3337559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51760" y="166115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39"/>
                  </a:moveTo>
                  <a:lnTo>
                    <a:pt x="76200" y="396239"/>
                  </a:lnTo>
                  <a:lnTo>
                    <a:pt x="121919" y="243839"/>
                  </a:lnTo>
                  <a:lnTo>
                    <a:pt x="50800" y="243839"/>
                  </a:lnTo>
                  <a:lnTo>
                    <a:pt x="50800" y="209973"/>
                  </a:lnTo>
                  <a:lnTo>
                    <a:pt x="0" y="142239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39"/>
                  </a:lnTo>
                  <a:lnTo>
                    <a:pt x="76200" y="243839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39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39"/>
                  </a:lnTo>
                  <a:lnTo>
                    <a:pt x="101600" y="243839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39"/>
                  </a:moveTo>
                  <a:lnTo>
                    <a:pt x="101600" y="209973"/>
                  </a:lnTo>
                  <a:lnTo>
                    <a:pt x="101600" y="243839"/>
                  </a:lnTo>
                  <a:lnTo>
                    <a:pt x="121919" y="243839"/>
                  </a:lnTo>
                  <a:lnTo>
                    <a:pt x="152400" y="14223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6120" y="1264919"/>
              <a:ext cx="1503680" cy="406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76120" y="1264919"/>
            <a:ext cx="1503680" cy="40640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408940">
              <a:lnSpc>
                <a:spcPct val="100000"/>
              </a:lnSpc>
              <a:spcBef>
                <a:spcPts val="710"/>
              </a:spcBef>
            </a:pPr>
            <a:r>
              <a:rPr sz="1350" b="1" spc="-25" dirty="0">
                <a:latin typeface="Arial"/>
                <a:cs typeface="Arial"/>
              </a:rPr>
              <a:t>Connect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6279" y="2087879"/>
            <a:ext cx="1483359" cy="3860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86279" y="2087879"/>
            <a:ext cx="1483360" cy="38608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488950">
              <a:lnSpc>
                <a:spcPct val="100000"/>
              </a:lnSpc>
              <a:spcBef>
                <a:spcPts val="630"/>
              </a:spcBef>
            </a:pPr>
            <a:r>
              <a:rPr sz="1350" b="1" spc="-10" dirty="0">
                <a:latin typeface="Arial"/>
                <a:cs typeface="Arial"/>
              </a:rPr>
              <a:t>Query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5639" y="2900679"/>
            <a:ext cx="1554480" cy="6604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945639" y="2900679"/>
            <a:ext cx="1554480" cy="66040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496570" marR="446405" indent="-50800">
              <a:lnSpc>
                <a:spcPct val="103899"/>
              </a:lnSpc>
              <a:spcBef>
                <a:spcPts val="860"/>
              </a:spcBef>
            </a:pPr>
            <a:r>
              <a:rPr sz="1350" b="1" spc="-25" dirty="0">
                <a:latin typeface="Arial"/>
                <a:cs typeface="Arial"/>
              </a:rPr>
              <a:t>P</a:t>
            </a:r>
            <a:r>
              <a:rPr sz="1350" b="1" spc="25" dirty="0">
                <a:latin typeface="Arial"/>
                <a:cs typeface="Arial"/>
              </a:rPr>
              <a:t>r</a:t>
            </a:r>
            <a:r>
              <a:rPr sz="1350" b="1" spc="-30" dirty="0">
                <a:latin typeface="Arial"/>
                <a:cs typeface="Arial"/>
              </a:rPr>
              <a:t>o</a:t>
            </a:r>
            <a:r>
              <a:rPr sz="1350" b="1" spc="-35" dirty="0">
                <a:latin typeface="Arial"/>
                <a:cs typeface="Arial"/>
              </a:rPr>
              <a:t>ces</a:t>
            </a:r>
            <a:r>
              <a:rPr sz="1350" b="1" dirty="0">
                <a:latin typeface="Arial"/>
                <a:cs typeface="Arial"/>
              </a:rPr>
              <a:t>s  </a:t>
            </a:r>
            <a:r>
              <a:rPr sz="1350" b="1" spc="-15" dirty="0">
                <a:latin typeface="Arial"/>
                <a:cs typeface="Arial"/>
              </a:rPr>
              <a:t>results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55800" y="2509519"/>
            <a:ext cx="2270125" cy="1884680"/>
            <a:chOff x="1955800" y="2509519"/>
            <a:chExt cx="2270125" cy="1884680"/>
          </a:xfrm>
        </p:grpSpPr>
        <p:sp>
          <p:nvSpPr>
            <p:cNvPr id="14" name="object 14"/>
            <p:cNvSpPr/>
            <p:nvPr/>
          </p:nvSpPr>
          <p:spPr>
            <a:xfrm>
              <a:off x="2651759" y="3561079"/>
              <a:ext cx="152400" cy="406400"/>
            </a:xfrm>
            <a:custGeom>
              <a:avLst/>
              <a:gdLst/>
              <a:ahLst/>
              <a:cxnLst/>
              <a:rect l="l" t="t" r="r" b="b"/>
              <a:pathLst>
                <a:path w="152400" h="406400">
                  <a:moveTo>
                    <a:pt x="0" y="152399"/>
                  </a:moveTo>
                  <a:lnTo>
                    <a:pt x="76200" y="406399"/>
                  </a:lnTo>
                  <a:lnTo>
                    <a:pt x="121919" y="253999"/>
                  </a:lnTo>
                  <a:lnTo>
                    <a:pt x="50800" y="253999"/>
                  </a:lnTo>
                  <a:lnTo>
                    <a:pt x="50800" y="220133"/>
                  </a:lnTo>
                  <a:lnTo>
                    <a:pt x="0" y="152399"/>
                  </a:lnTo>
                  <a:close/>
                </a:path>
                <a:path w="152400" h="406400">
                  <a:moveTo>
                    <a:pt x="50800" y="220133"/>
                  </a:moveTo>
                  <a:lnTo>
                    <a:pt x="50800" y="253999"/>
                  </a:lnTo>
                  <a:lnTo>
                    <a:pt x="76200" y="253999"/>
                  </a:lnTo>
                  <a:lnTo>
                    <a:pt x="50800" y="220133"/>
                  </a:lnTo>
                  <a:close/>
                </a:path>
                <a:path w="152400" h="406400">
                  <a:moveTo>
                    <a:pt x="101600" y="0"/>
                  </a:moveTo>
                  <a:lnTo>
                    <a:pt x="50800" y="0"/>
                  </a:lnTo>
                  <a:lnTo>
                    <a:pt x="50800" y="220133"/>
                  </a:lnTo>
                  <a:lnTo>
                    <a:pt x="76200" y="253999"/>
                  </a:lnTo>
                  <a:lnTo>
                    <a:pt x="101600" y="220133"/>
                  </a:lnTo>
                  <a:lnTo>
                    <a:pt x="101600" y="0"/>
                  </a:lnTo>
                  <a:close/>
                </a:path>
                <a:path w="152400" h="406400">
                  <a:moveTo>
                    <a:pt x="101600" y="220133"/>
                  </a:moveTo>
                  <a:lnTo>
                    <a:pt x="76200" y="253999"/>
                  </a:lnTo>
                  <a:lnTo>
                    <a:pt x="101600" y="253999"/>
                  </a:lnTo>
                  <a:lnTo>
                    <a:pt x="101600" y="220133"/>
                  </a:lnTo>
                  <a:close/>
                </a:path>
                <a:path w="152400" h="406400">
                  <a:moveTo>
                    <a:pt x="152400" y="152399"/>
                  </a:moveTo>
                  <a:lnTo>
                    <a:pt x="101600" y="220133"/>
                  </a:lnTo>
                  <a:lnTo>
                    <a:pt x="101600" y="253999"/>
                  </a:lnTo>
                  <a:lnTo>
                    <a:pt x="121919" y="253999"/>
                  </a:lnTo>
                  <a:lnTo>
                    <a:pt x="152400" y="15239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4920" y="2534919"/>
              <a:ext cx="395605" cy="1655445"/>
            </a:xfrm>
            <a:custGeom>
              <a:avLst/>
              <a:gdLst/>
              <a:ahLst/>
              <a:cxnLst/>
              <a:rect l="l" t="t" r="r" b="b"/>
              <a:pathLst>
                <a:path w="395604" h="1655445">
                  <a:moveTo>
                    <a:pt x="0" y="1654886"/>
                  </a:moveTo>
                  <a:lnTo>
                    <a:pt x="0" y="0"/>
                  </a:lnTo>
                  <a:lnTo>
                    <a:pt x="395096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9960" y="4190999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0" y="0"/>
                  </a:moveTo>
                  <a:lnTo>
                    <a:pt x="54863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5800" y="3987799"/>
              <a:ext cx="1534160" cy="4064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955800" y="3992879"/>
            <a:ext cx="1534160" cy="40132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05"/>
              </a:spcBef>
            </a:pPr>
            <a:r>
              <a:rPr sz="1350" b="1" spc="-30" dirty="0">
                <a:latin typeface="Arial"/>
                <a:cs typeface="Arial"/>
              </a:rPr>
              <a:t>Close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72559" y="2346959"/>
            <a:ext cx="2976880" cy="406400"/>
            <a:chOff x="3972559" y="2346959"/>
            <a:chExt cx="2976880" cy="40640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77639" y="2352039"/>
              <a:ext cx="2966719" cy="39623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977639" y="2352039"/>
              <a:ext cx="2966720" cy="396240"/>
            </a:xfrm>
            <a:custGeom>
              <a:avLst/>
              <a:gdLst/>
              <a:ahLst/>
              <a:cxnLst/>
              <a:rect l="l" t="t" r="r" b="b"/>
              <a:pathLst>
                <a:path w="2966720" h="396239">
                  <a:moveTo>
                    <a:pt x="0" y="396239"/>
                  </a:moveTo>
                  <a:lnTo>
                    <a:pt x="2966719" y="396239"/>
                  </a:lnTo>
                  <a:lnTo>
                    <a:pt x="2966719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654550" y="2420048"/>
            <a:ext cx="160083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25" dirty="0">
                <a:latin typeface="Arial"/>
                <a:cs typeface="Arial"/>
              </a:rPr>
              <a:t>Close</a:t>
            </a:r>
            <a:r>
              <a:rPr sz="1350" b="1" spc="12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20" dirty="0">
                <a:latin typeface="Arial"/>
                <a:cs typeface="Arial"/>
              </a:rPr>
              <a:t> result</a:t>
            </a:r>
            <a:r>
              <a:rPr sz="1350" b="1" spc="30" dirty="0">
                <a:latin typeface="Arial"/>
                <a:cs typeface="Arial"/>
              </a:rPr>
              <a:t> </a:t>
            </a:r>
            <a:r>
              <a:rPr sz="1350" b="1" spc="-25" dirty="0">
                <a:latin typeface="Arial"/>
                <a:cs typeface="Arial"/>
              </a:rPr>
              <a:t>set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982720" y="3098799"/>
            <a:ext cx="2966720" cy="406400"/>
            <a:chOff x="3982720" y="3098799"/>
            <a:chExt cx="2966720" cy="40640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87800" y="3103879"/>
              <a:ext cx="2956559" cy="39623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987800" y="3103879"/>
              <a:ext cx="2956560" cy="396240"/>
            </a:xfrm>
            <a:custGeom>
              <a:avLst/>
              <a:gdLst/>
              <a:ahLst/>
              <a:cxnLst/>
              <a:rect l="l" t="t" r="r" b="b"/>
              <a:pathLst>
                <a:path w="2956559" h="396239">
                  <a:moveTo>
                    <a:pt x="0" y="396239"/>
                  </a:moveTo>
                  <a:lnTo>
                    <a:pt x="2956559" y="396239"/>
                  </a:lnTo>
                  <a:lnTo>
                    <a:pt x="2956559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81026" y="3103879"/>
            <a:ext cx="2963545" cy="396240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674370">
              <a:lnSpc>
                <a:spcPct val="100000"/>
              </a:lnSpc>
              <a:spcBef>
                <a:spcPts val="685"/>
              </a:spcBef>
            </a:pPr>
            <a:r>
              <a:rPr sz="1350" b="1" spc="-25" dirty="0">
                <a:latin typeface="Arial"/>
                <a:cs typeface="Arial"/>
              </a:rPr>
              <a:t>Close</a:t>
            </a:r>
            <a:r>
              <a:rPr sz="1350" b="1" spc="12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b="1" spc="-20" dirty="0">
                <a:latin typeface="Arial"/>
                <a:cs typeface="Arial"/>
              </a:rPr>
              <a:t>statement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72559" y="3992879"/>
            <a:ext cx="2976880" cy="406400"/>
            <a:chOff x="3972559" y="3992879"/>
            <a:chExt cx="2976880" cy="40640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77639" y="3997959"/>
              <a:ext cx="2966719" cy="39624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977639" y="3997959"/>
              <a:ext cx="2966720" cy="396240"/>
            </a:xfrm>
            <a:custGeom>
              <a:avLst/>
              <a:gdLst/>
              <a:ahLst/>
              <a:cxnLst/>
              <a:rect l="l" t="t" r="r" b="b"/>
              <a:pathLst>
                <a:path w="2966720" h="396239">
                  <a:moveTo>
                    <a:pt x="0" y="396240"/>
                  </a:moveTo>
                  <a:lnTo>
                    <a:pt x="2966719" y="396240"/>
                  </a:lnTo>
                  <a:lnTo>
                    <a:pt x="2966719" y="0"/>
                  </a:lnTo>
                  <a:lnTo>
                    <a:pt x="0" y="0"/>
                  </a:lnTo>
                  <a:lnTo>
                    <a:pt x="0" y="39624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593590" y="4069079"/>
            <a:ext cx="1735455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30" dirty="0">
                <a:latin typeface="Arial"/>
                <a:cs typeface="Arial"/>
              </a:rPr>
              <a:t>Close</a:t>
            </a:r>
            <a:r>
              <a:rPr sz="1350" b="1" spc="114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35" dirty="0">
                <a:latin typeface="Arial"/>
                <a:cs typeface="Arial"/>
              </a:rPr>
              <a:t> </a:t>
            </a:r>
            <a:r>
              <a:rPr sz="1350" b="1" spc="-25" dirty="0">
                <a:latin typeface="Arial"/>
                <a:cs typeface="Arial"/>
              </a:rPr>
              <a:t>connection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651760" y="2484119"/>
            <a:ext cx="152400" cy="396240"/>
          </a:xfrm>
          <a:custGeom>
            <a:avLst/>
            <a:gdLst/>
            <a:ahLst/>
            <a:cxnLst/>
            <a:rect l="l" t="t" r="r" b="b"/>
            <a:pathLst>
              <a:path w="152400" h="396239">
                <a:moveTo>
                  <a:pt x="0" y="142239"/>
                </a:moveTo>
                <a:lnTo>
                  <a:pt x="76200" y="396239"/>
                </a:lnTo>
                <a:lnTo>
                  <a:pt x="121919" y="243839"/>
                </a:lnTo>
                <a:lnTo>
                  <a:pt x="50800" y="243839"/>
                </a:lnTo>
                <a:lnTo>
                  <a:pt x="50800" y="209973"/>
                </a:lnTo>
                <a:lnTo>
                  <a:pt x="0" y="142239"/>
                </a:lnTo>
                <a:close/>
              </a:path>
              <a:path w="152400" h="396239">
                <a:moveTo>
                  <a:pt x="50800" y="209973"/>
                </a:moveTo>
                <a:lnTo>
                  <a:pt x="50800" y="243839"/>
                </a:lnTo>
                <a:lnTo>
                  <a:pt x="76200" y="243839"/>
                </a:lnTo>
                <a:lnTo>
                  <a:pt x="50800" y="209973"/>
                </a:lnTo>
                <a:close/>
              </a:path>
              <a:path w="152400" h="396239">
                <a:moveTo>
                  <a:pt x="101600" y="0"/>
                </a:moveTo>
                <a:lnTo>
                  <a:pt x="50800" y="0"/>
                </a:lnTo>
                <a:lnTo>
                  <a:pt x="50800" y="209973"/>
                </a:lnTo>
                <a:lnTo>
                  <a:pt x="76200" y="243839"/>
                </a:lnTo>
                <a:lnTo>
                  <a:pt x="101600" y="209973"/>
                </a:lnTo>
                <a:lnTo>
                  <a:pt x="101600" y="0"/>
                </a:lnTo>
                <a:close/>
              </a:path>
              <a:path w="152400" h="396239">
                <a:moveTo>
                  <a:pt x="101600" y="209973"/>
                </a:moveTo>
                <a:lnTo>
                  <a:pt x="76200" y="243839"/>
                </a:lnTo>
                <a:lnTo>
                  <a:pt x="101600" y="243839"/>
                </a:lnTo>
                <a:lnTo>
                  <a:pt x="101600" y="209973"/>
                </a:lnTo>
                <a:close/>
              </a:path>
              <a:path w="152400" h="396239">
                <a:moveTo>
                  <a:pt x="152400" y="142239"/>
                </a:moveTo>
                <a:lnTo>
                  <a:pt x="101600" y="209973"/>
                </a:lnTo>
                <a:lnTo>
                  <a:pt x="101600" y="243839"/>
                </a:lnTo>
                <a:lnTo>
                  <a:pt x="121919" y="243839"/>
                </a:lnTo>
                <a:lnTo>
                  <a:pt x="152400" y="142239"/>
                </a:lnTo>
                <a:close/>
              </a:path>
            </a:pathLst>
          </a:custGeom>
          <a:solidFill>
            <a:srgbClr val="1E1E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24</a:t>
            </a:fld>
            <a:endParaRPr spc="-10" dirty="0"/>
          </a:p>
        </p:txBody>
      </p:sp>
      <p:pic>
        <p:nvPicPr>
          <p:cNvPr id="37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88731" y="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285496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Close</a:t>
            </a:r>
            <a:r>
              <a:rPr u="sng" spc="-10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Connection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25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11565" cy="293734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endParaRPr lang="en-US" sz="1850" spc="-35" dirty="0" smtClean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35" dirty="0" smtClean="0">
                <a:latin typeface="Times New Roman"/>
                <a:cs typeface="Times New Roman"/>
              </a:rPr>
              <a:t>Normally</a:t>
            </a:r>
            <a:r>
              <a:rPr sz="1850" spc="-35" dirty="0">
                <a:latin typeface="Times New Roman"/>
                <a:cs typeface="Times New Roman"/>
              </a:rPr>
              <a:t>, </a:t>
            </a:r>
            <a:r>
              <a:rPr sz="1850" spc="-5" dirty="0">
                <a:latin typeface="Times New Roman"/>
                <a:cs typeface="Times New Roman"/>
              </a:rPr>
              <a:t>nothing </a:t>
            </a:r>
            <a:r>
              <a:rPr sz="1850" spc="-15" dirty="0">
                <a:latin typeface="Times New Roman"/>
                <a:cs typeface="Times New Roman"/>
              </a:rPr>
              <a:t>needs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done </a:t>
            </a:r>
            <a:r>
              <a:rPr sz="1850" spc="-60" dirty="0">
                <a:latin typeface="Times New Roman"/>
                <a:cs typeface="Times New Roman"/>
              </a:rPr>
              <a:t>to </a:t>
            </a:r>
            <a:r>
              <a:rPr sz="1850" spc="-25" dirty="0">
                <a:latin typeface="Times New Roman"/>
                <a:cs typeface="Times New Roman"/>
              </a:rPr>
              <a:t>close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ResultSet </a:t>
            </a:r>
            <a:r>
              <a:rPr sz="1850" spc="-20" dirty="0">
                <a:latin typeface="Times New Roman"/>
                <a:cs typeface="Times New Roman"/>
              </a:rPr>
              <a:t>object; it is automatically </a:t>
            </a:r>
            <a:r>
              <a:rPr sz="1850" spc="-25" dirty="0">
                <a:latin typeface="Times New Roman"/>
                <a:cs typeface="Times New Roman"/>
              </a:rPr>
              <a:t>closed </a:t>
            </a:r>
            <a:r>
              <a:rPr sz="1850" spc="30" dirty="0">
                <a:latin typeface="Times New Roman"/>
                <a:cs typeface="Times New Roman"/>
              </a:rPr>
              <a:t>by </a:t>
            </a:r>
            <a:r>
              <a:rPr sz="1850" spc="-45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Statement </a:t>
            </a:r>
            <a:r>
              <a:rPr sz="1850" spc="-15" dirty="0">
                <a:latin typeface="Times New Roman"/>
                <a:cs typeface="Times New Roman"/>
              </a:rPr>
              <a:t>object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25" dirty="0">
                <a:latin typeface="Times New Roman"/>
                <a:cs typeface="Times New Roman"/>
              </a:rPr>
              <a:t>generated</a:t>
            </a:r>
            <a:r>
              <a:rPr sz="1850" spc="-20" dirty="0">
                <a:latin typeface="Times New Roman"/>
                <a:cs typeface="Times New Roman"/>
              </a:rPr>
              <a:t> it </a:t>
            </a:r>
            <a:r>
              <a:rPr sz="1850" spc="-35" dirty="0">
                <a:latin typeface="Times New Roman"/>
                <a:cs typeface="Times New Roman"/>
              </a:rPr>
              <a:t>when</a:t>
            </a:r>
            <a:r>
              <a:rPr sz="1850" spc="3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 </a:t>
            </a:r>
            <a:r>
              <a:rPr sz="1850" spc="-20" dirty="0">
                <a:latin typeface="Times New Roman"/>
                <a:cs typeface="Times New Roman"/>
              </a:rPr>
              <a:t>Statement object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15" dirty="0">
                <a:latin typeface="Times New Roman"/>
                <a:cs typeface="Times New Roman"/>
              </a:rPr>
              <a:t>closed, </a:t>
            </a:r>
            <a:r>
              <a:rPr sz="1850" spc="-25" dirty="0">
                <a:latin typeface="Times New Roman"/>
                <a:cs typeface="Times New Roman"/>
              </a:rPr>
              <a:t>is re-executed, 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or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20" dirty="0">
                <a:latin typeface="Times New Roman"/>
                <a:cs typeface="Times New Roman"/>
              </a:rPr>
              <a:t>used </a:t>
            </a:r>
            <a:r>
              <a:rPr sz="1850" spc="-25" dirty="0">
                <a:latin typeface="Times New Roman"/>
                <a:cs typeface="Times New Roman"/>
              </a:rPr>
              <a:t>to </a:t>
            </a:r>
            <a:r>
              <a:rPr sz="1850" spc="-20" dirty="0">
                <a:latin typeface="Times New Roman"/>
                <a:cs typeface="Times New Roman"/>
              </a:rPr>
              <a:t>retrieve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15" dirty="0">
                <a:latin typeface="Times New Roman"/>
                <a:cs typeface="Times New Roman"/>
              </a:rPr>
              <a:t>next </a:t>
            </a:r>
            <a:r>
              <a:rPr sz="1850" spc="-20" dirty="0">
                <a:latin typeface="Times New Roman"/>
                <a:cs typeface="Times New Roman"/>
              </a:rPr>
              <a:t>result </a:t>
            </a:r>
            <a:r>
              <a:rPr sz="1850" spc="-5" dirty="0">
                <a:latin typeface="Times New Roman"/>
                <a:cs typeface="Times New Roman"/>
              </a:rPr>
              <a:t>from a </a:t>
            </a:r>
            <a:r>
              <a:rPr sz="1850" spc="-20" dirty="0">
                <a:latin typeface="Times New Roman"/>
                <a:cs typeface="Times New Roman"/>
              </a:rPr>
              <a:t>sequence </a:t>
            </a:r>
            <a:r>
              <a:rPr sz="1850" spc="-30" dirty="0">
                <a:latin typeface="Times New Roman"/>
                <a:cs typeface="Times New Roman"/>
              </a:rPr>
              <a:t>of</a:t>
            </a:r>
            <a:r>
              <a:rPr sz="1850" spc="-25" dirty="0">
                <a:latin typeface="Times New Roman"/>
                <a:cs typeface="Times New Roman"/>
              </a:rPr>
              <a:t> multiple </a:t>
            </a:r>
            <a:r>
              <a:rPr sz="1850" spc="-15" dirty="0">
                <a:latin typeface="Times New Roman"/>
                <a:cs typeface="Times New Roman"/>
              </a:rPr>
              <a:t>results. </a:t>
            </a:r>
            <a:endParaRPr lang="en-US" sz="1850" spc="-15" dirty="0" smtClean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endParaRPr lang="en-US" sz="1850" spc="-25" dirty="0" smtClean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25" dirty="0" smtClean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method</a:t>
            </a:r>
            <a:r>
              <a:rPr sz="1850" spc="409" dirty="0">
                <a:latin typeface="Times New Roman"/>
                <a:cs typeface="Times New Roman"/>
              </a:rPr>
              <a:t> </a:t>
            </a:r>
            <a:r>
              <a:rPr sz="1850" spc="-25" dirty="0" smtClean="0">
                <a:latin typeface="Times New Roman"/>
                <a:cs typeface="Times New Roman"/>
              </a:rPr>
              <a:t>close</a:t>
            </a:r>
            <a:r>
              <a:rPr lang="en-US" sz="1850" spc="-25" dirty="0" smtClean="0">
                <a:latin typeface="Times New Roman"/>
                <a:cs typeface="Times New Roman"/>
              </a:rPr>
              <a:t>()</a:t>
            </a:r>
            <a:r>
              <a:rPr sz="1850" spc="-25" dirty="0" smtClean="0">
                <a:latin typeface="Times New Roman"/>
                <a:cs typeface="Times New Roman"/>
              </a:rPr>
              <a:t> </a:t>
            </a:r>
            <a:r>
              <a:rPr sz="1850" spc="-20" dirty="0" smtClean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is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provided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so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that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ResultSet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can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be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closed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explicitly,</a:t>
            </a:r>
            <a:r>
              <a:rPr sz="1850" spc="3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thereby</a:t>
            </a:r>
            <a:r>
              <a:rPr sz="1850" spc="41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immediately 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releasing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resources </a:t>
            </a:r>
            <a:r>
              <a:rPr sz="1850" spc="-10" dirty="0">
                <a:latin typeface="Times New Roman"/>
                <a:cs typeface="Times New Roman"/>
              </a:rPr>
              <a:t>held </a:t>
            </a:r>
            <a:r>
              <a:rPr sz="1850" spc="10" dirty="0">
                <a:latin typeface="Times New Roman"/>
                <a:cs typeface="Times New Roman"/>
              </a:rPr>
              <a:t>by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ResultSet </a:t>
            </a:r>
            <a:r>
              <a:rPr sz="1850" spc="-20" dirty="0">
                <a:latin typeface="Times New Roman"/>
                <a:cs typeface="Times New Roman"/>
              </a:rPr>
              <a:t>object. </a:t>
            </a:r>
            <a:endParaRPr lang="en-US" sz="1850" spc="-20" dirty="0" smtClean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endParaRPr lang="en-US" sz="1850" spc="-20" dirty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30" dirty="0" smtClean="0">
                <a:latin typeface="Times New Roman"/>
                <a:cs typeface="Times New Roman"/>
              </a:rPr>
              <a:t>This </a:t>
            </a:r>
            <a:r>
              <a:rPr sz="1850" spc="-35" dirty="0">
                <a:latin typeface="Times New Roman"/>
                <a:cs typeface="Times New Roman"/>
              </a:rPr>
              <a:t>could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15" dirty="0">
                <a:latin typeface="Times New Roman"/>
                <a:cs typeface="Times New Roman"/>
              </a:rPr>
              <a:t>necessary when several 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statements </a:t>
            </a:r>
            <a:r>
              <a:rPr sz="1850" spc="-30" dirty="0">
                <a:latin typeface="Times New Roman"/>
                <a:cs typeface="Times New Roman"/>
              </a:rPr>
              <a:t>are </a:t>
            </a:r>
            <a:r>
              <a:rPr sz="1850" dirty="0">
                <a:latin typeface="Times New Roman"/>
                <a:cs typeface="Times New Roman"/>
              </a:rPr>
              <a:t>being </a:t>
            </a:r>
            <a:r>
              <a:rPr sz="1850" spc="-20" dirty="0">
                <a:latin typeface="Times New Roman"/>
                <a:cs typeface="Times New Roman"/>
              </a:rPr>
              <a:t>used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automatic </a:t>
            </a:r>
            <a:r>
              <a:rPr sz="1850" spc="-25" dirty="0">
                <a:latin typeface="Times New Roman"/>
                <a:cs typeface="Times New Roman"/>
              </a:rPr>
              <a:t>close </a:t>
            </a:r>
            <a:r>
              <a:rPr sz="1850" spc="-15" dirty="0">
                <a:latin typeface="Times New Roman"/>
                <a:cs typeface="Times New Roman"/>
              </a:rPr>
              <a:t>does </a:t>
            </a:r>
            <a:r>
              <a:rPr sz="1850" spc="-10" dirty="0">
                <a:latin typeface="Times New Roman"/>
                <a:cs typeface="Times New Roman"/>
              </a:rPr>
              <a:t>not </a:t>
            </a:r>
            <a:r>
              <a:rPr sz="1850" spc="-15" dirty="0">
                <a:latin typeface="Times New Roman"/>
                <a:cs typeface="Times New Roman"/>
              </a:rPr>
              <a:t>occur </a:t>
            </a:r>
            <a:r>
              <a:rPr sz="1850" spc="-25" dirty="0">
                <a:latin typeface="Times New Roman"/>
                <a:cs typeface="Times New Roman"/>
              </a:rPr>
              <a:t>soon </a:t>
            </a:r>
            <a:r>
              <a:rPr sz="1850" spc="-40" dirty="0">
                <a:latin typeface="Times New Roman"/>
                <a:cs typeface="Times New Roman"/>
              </a:rPr>
              <a:t>enough </a:t>
            </a:r>
            <a:r>
              <a:rPr sz="1850" spc="-60" dirty="0">
                <a:latin typeface="Times New Roman"/>
                <a:cs typeface="Times New Roman"/>
              </a:rPr>
              <a:t>to </a:t>
            </a:r>
            <a:r>
              <a:rPr sz="1850" spc="-15" dirty="0">
                <a:latin typeface="Times New Roman"/>
                <a:cs typeface="Times New Roman"/>
              </a:rPr>
              <a:t>prevent </a:t>
            </a:r>
            <a:r>
              <a:rPr sz="1850" spc="-10" dirty="0">
                <a:latin typeface="Times New Roman"/>
                <a:cs typeface="Times New Roman"/>
              </a:rPr>
              <a:t> database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resource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conflicts.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9673" y="5577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725" y="744854"/>
            <a:ext cx="279717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1850" spc="-25" dirty="0">
                <a:solidFill>
                  <a:srgbClr val="006FC0"/>
                </a:solidFill>
                <a:latin typeface="Times New Roman"/>
                <a:cs typeface="Times New Roman"/>
              </a:rPr>
              <a:t>1.	</a:t>
            </a:r>
            <a:r>
              <a:rPr sz="1850" spc="-10" dirty="0">
                <a:latin typeface="Times New Roman"/>
                <a:cs typeface="Times New Roman"/>
              </a:rPr>
              <a:t>Close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ResultSet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26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2150173"/>
            <a:ext cx="283781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8140" algn="l"/>
              </a:tabLst>
            </a:pPr>
            <a:r>
              <a:rPr sz="1850" spc="-5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.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1850" spc="-35" dirty="0">
                <a:latin typeface="Times New Roman"/>
                <a:cs typeface="Times New Roman"/>
              </a:rPr>
              <a:t>C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se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S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m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ob</a:t>
            </a:r>
            <a:r>
              <a:rPr sz="1850" spc="-40" dirty="0">
                <a:latin typeface="Times New Roman"/>
                <a:cs typeface="Times New Roman"/>
              </a:rPr>
              <a:t>j</a:t>
            </a:r>
            <a:r>
              <a:rPr sz="1850" spc="-20" dirty="0">
                <a:latin typeface="Times New Roman"/>
                <a:cs typeface="Times New Roman"/>
              </a:rPr>
              <a:t>ec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2725" y="3198240"/>
            <a:ext cx="231965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8140" algn="l"/>
              </a:tabLst>
            </a:pPr>
            <a:r>
              <a:rPr sz="1850" spc="-25" dirty="0">
                <a:solidFill>
                  <a:srgbClr val="006FC0"/>
                </a:solidFill>
                <a:latin typeface="Times New Roman"/>
                <a:cs typeface="Times New Roman"/>
              </a:rPr>
              <a:t>3.	</a:t>
            </a:r>
            <a:r>
              <a:rPr sz="1850" spc="-10" dirty="0">
                <a:latin typeface="Times New Roman"/>
                <a:cs typeface="Times New Roman"/>
              </a:rPr>
              <a:t>Close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connection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5800" y="1447799"/>
            <a:ext cx="1757680" cy="33528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45"/>
              </a:spcBef>
            </a:pPr>
            <a:r>
              <a:rPr sz="1350" b="1" i="1" spc="-5" dirty="0">
                <a:latin typeface="Courier New"/>
                <a:cs typeface="Courier New"/>
              </a:rPr>
              <a:t>rset</a:t>
            </a:r>
            <a:r>
              <a:rPr sz="1350" b="1" spc="-5" dirty="0">
                <a:latin typeface="Courier New"/>
                <a:cs typeface="Courier New"/>
              </a:rPr>
              <a:t>.close();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5800" y="2717799"/>
            <a:ext cx="1757680" cy="32512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25"/>
              </a:spcBef>
            </a:pPr>
            <a:r>
              <a:rPr sz="1350" b="1" i="1" spc="-5" dirty="0">
                <a:latin typeface="Courier New"/>
                <a:cs typeface="Courier New"/>
              </a:rPr>
              <a:t>stmt</a:t>
            </a:r>
            <a:r>
              <a:rPr sz="1350" b="1" spc="-5" dirty="0">
                <a:latin typeface="Courier New"/>
                <a:cs typeface="Courier New"/>
              </a:rPr>
              <a:t>.close();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5800" y="3896359"/>
            <a:ext cx="1757680" cy="325120"/>
          </a:xfrm>
          <a:prstGeom prst="rect">
            <a:avLst/>
          </a:prstGeom>
          <a:solidFill>
            <a:srgbClr val="FFDC4F"/>
          </a:solidFill>
          <a:ln w="10159">
            <a:solidFill>
              <a:srgbClr val="000000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430"/>
              </a:spcBef>
            </a:pPr>
            <a:r>
              <a:rPr sz="1350" b="1" i="1" spc="-5" dirty="0">
                <a:latin typeface="Courier New"/>
                <a:cs typeface="Courier New"/>
              </a:rPr>
              <a:t>conn</a:t>
            </a:r>
            <a:r>
              <a:rPr sz="1350" b="1" spc="-5" dirty="0">
                <a:latin typeface="Courier New"/>
                <a:cs typeface="Courier New"/>
              </a:rPr>
              <a:t>.close();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0045" y="48577"/>
            <a:ext cx="484060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How</a:t>
            </a:r>
            <a:r>
              <a:rPr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to</a:t>
            </a:r>
            <a:r>
              <a:rPr u="sng" spc="-114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Close</a:t>
            </a:r>
            <a:r>
              <a:rPr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Connection?</a:t>
            </a:r>
          </a:p>
        </p:txBody>
      </p:sp>
      <p:pic>
        <p:nvPicPr>
          <p:cNvPr id="14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09673" y="48577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483806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How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to</a:t>
            </a:r>
            <a:r>
              <a:rPr u="sng" spc="-1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Close</a:t>
            </a:r>
            <a:r>
              <a:rPr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Connection?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27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1961" y="971550"/>
            <a:ext cx="8703945" cy="299203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46379" marR="5080" indent="-234315" algn="just">
              <a:lnSpc>
                <a:spcPts val="2170"/>
              </a:lnSpc>
              <a:spcBef>
                <a:spcPts val="204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20" dirty="0">
                <a:latin typeface="Times New Roman"/>
                <a:cs typeface="Times New Roman"/>
              </a:rPr>
              <a:t>When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connection </a:t>
            </a:r>
            <a:r>
              <a:rPr sz="1850" spc="-20" dirty="0">
                <a:latin typeface="Times New Roman"/>
                <a:cs typeface="Times New Roman"/>
              </a:rPr>
              <a:t>is in </a:t>
            </a:r>
            <a:r>
              <a:rPr sz="1850" spc="-30" dirty="0">
                <a:latin typeface="Times New Roman"/>
                <a:cs typeface="Times New Roman"/>
              </a:rPr>
              <a:t>auto-commit </a:t>
            </a:r>
            <a:r>
              <a:rPr sz="1850" spc="-25" dirty="0">
                <a:latin typeface="Times New Roman"/>
                <a:cs typeface="Times New Roman"/>
              </a:rPr>
              <a:t>mode,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statements </a:t>
            </a:r>
            <a:r>
              <a:rPr sz="1850" dirty="0">
                <a:latin typeface="Times New Roman"/>
                <a:cs typeface="Times New Roman"/>
              </a:rPr>
              <a:t>being </a:t>
            </a:r>
            <a:r>
              <a:rPr sz="1850" spc="-30" dirty="0">
                <a:latin typeface="Times New Roman"/>
                <a:cs typeface="Times New Roman"/>
              </a:rPr>
              <a:t>executed </a:t>
            </a:r>
            <a:r>
              <a:rPr sz="1850" spc="-25" dirty="0">
                <a:latin typeface="Times New Roman"/>
                <a:cs typeface="Times New Roman"/>
              </a:rPr>
              <a:t>within </a:t>
            </a:r>
            <a:r>
              <a:rPr sz="1850" spc="-20" dirty="0">
                <a:latin typeface="Times New Roman"/>
                <a:cs typeface="Times New Roman"/>
              </a:rPr>
              <a:t>it </a:t>
            </a:r>
            <a:r>
              <a:rPr sz="1850" spc="-30" dirty="0">
                <a:latin typeface="Times New Roman"/>
                <a:cs typeface="Times New Roman"/>
              </a:rPr>
              <a:t>are </a:t>
            </a:r>
            <a:r>
              <a:rPr sz="1850" spc="-25" dirty="0">
                <a:latin typeface="Times New Roman"/>
                <a:cs typeface="Times New Roman"/>
              </a:rPr>
              <a:t> committed or rolled back </a:t>
            </a:r>
            <a:r>
              <a:rPr sz="1850" spc="-15" dirty="0">
                <a:latin typeface="Times New Roman"/>
                <a:cs typeface="Times New Roman"/>
              </a:rPr>
              <a:t>when </a:t>
            </a:r>
            <a:r>
              <a:rPr sz="1850" spc="-10" dirty="0">
                <a:latin typeface="Times New Roman"/>
                <a:cs typeface="Times New Roman"/>
              </a:rPr>
              <a:t>they </a:t>
            </a:r>
            <a:r>
              <a:rPr sz="1850" spc="-30" dirty="0">
                <a:latin typeface="Times New Roman"/>
                <a:cs typeface="Times New Roman"/>
              </a:rPr>
              <a:t>are </a:t>
            </a:r>
            <a:r>
              <a:rPr sz="1850" spc="-20" dirty="0">
                <a:latin typeface="Times New Roman"/>
                <a:cs typeface="Times New Roman"/>
              </a:rPr>
              <a:t>completed. </a:t>
            </a:r>
            <a:r>
              <a:rPr sz="1850" spc="-10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statement is considered </a:t>
            </a:r>
            <a:r>
              <a:rPr sz="1850" spc="-30" dirty="0">
                <a:latin typeface="Times New Roman"/>
                <a:cs typeface="Times New Roman"/>
              </a:rPr>
              <a:t>complete 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w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0" dirty="0">
                <a:latin typeface="Times New Roman"/>
                <a:cs typeface="Times New Roman"/>
              </a:rPr>
              <a:t>ee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0" dirty="0">
                <a:latin typeface="Times New Roman"/>
                <a:cs typeface="Times New Roman"/>
              </a:rPr>
              <a:t>x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35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l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it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r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35" dirty="0">
                <a:latin typeface="Times New Roman"/>
                <a:cs typeface="Times New Roman"/>
              </a:rPr>
              <a:t>lt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v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0" dirty="0">
                <a:latin typeface="Times New Roman"/>
                <a:cs typeface="Times New Roman"/>
              </a:rPr>
              <a:t>ee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50" dirty="0">
                <a:latin typeface="Times New Roman"/>
                <a:cs typeface="Times New Roman"/>
              </a:rPr>
              <a:t>d</a:t>
            </a:r>
            <a:r>
              <a:rPr sz="1850" spc="-5" dirty="0" smtClean="0">
                <a:latin typeface="Times New Roman"/>
                <a:cs typeface="Times New Roman"/>
              </a:rPr>
              <a:t>.</a:t>
            </a:r>
            <a:endParaRPr lang="en-US" sz="1850" spc="-5" dirty="0" smtClean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ts val="2170"/>
              </a:lnSpc>
              <a:spcBef>
                <a:spcPts val="204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endParaRPr sz="1850" dirty="0">
              <a:latin typeface="Times New Roman"/>
              <a:cs typeface="Times New Roman"/>
            </a:endParaRPr>
          </a:p>
          <a:p>
            <a:pPr marL="246379" indent="-234315" algn="just">
              <a:lnSpc>
                <a:spcPts val="2190"/>
              </a:lnSpc>
              <a:spcBef>
                <a:spcPts val="434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20" dirty="0">
                <a:latin typeface="Times New Roman"/>
                <a:cs typeface="Times New Roman"/>
              </a:rPr>
              <a:t>For</a:t>
            </a:r>
            <a:r>
              <a:rPr sz="1850" spc="37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method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executeQuery</a:t>
            </a:r>
            <a:r>
              <a:rPr sz="1850" spc="-20" dirty="0">
                <a:latin typeface="Times New Roman"/>
                <a:cs typeface="Times New Roman"/>
              </a:rPr>
              <a:t>,</a:t>
            </a:r>
            <a:r>
              <a:rPr sz="1850" spc="2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which</a:t>
            </a:r>
            <a:r>
              <a:rPr sz="1850" spc="22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returns</a:t>
            </a:r>
            <a:r>
              <a:rPr sz="1850" spc="2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one</a:t>
            </a:r>
            <a:r>
              <a:rPr sz="1850" spc="250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result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set,</a:t>
            </a:r>
            <a:r>
              <a:rPr sz="1850" spc="28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</a:t>
            </a:r>
            <a:r>
              <a:rPr sz="1850" spc="245" dirty="0">
                <a:latin typeface="Times New Roman"/>
                <a:cs typeface="Times New Roman"/>
              </a:rPr>
              <a:t> </a:t>
            </a:r>
            <a:r>
              <a:rPr sz="1850" spc="-15" dirty="0">
                <a:latin typeface="Times New Roman"/>
                <a:cs typeface="Times New Roman"/>
              </a:rPr>
              <a:t>statement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34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completed</a:t>
            </a:r>
            <a:endParaRPr sz="1850" dirty="0">
              <a:latin typeface="Times New Roman"/>
              <a:cs typeface="Times New Roman"/>
            </a:endParaRPr>
          </a:p>
          <a:p>
            <a:pPr marL="246379" algn="just">
              <a:lnSpc>
                <a:spcPts val="2190"/>
              </a:lnSpc>
            </a:pPr>
            <a:r>
              <a:rPr sz="1850" spc="5" dirty="0">
                <a:latin typeface="Times New Roman"/>
                <a:cs typeface="Times New Roman"/>
              </a:rPr>
              <a:t>when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all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rows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b="1" spc="5" dirty="0">
                <a:latin typeface="Times New Roman"/>
                <a:cs typeface="Times New Roman"/>
              </a:rPr>
              <a:t>ResultSet</a:t>
            </a:r>
            <a:r>
              <a:rPr sz="1850" b="1" spc="-114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object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have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been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retrieved</a:t>
            </a:r>
            <a:r>
              <a:rPr sz="1850" spc="-5" dirty="0" smtClean="0">
                <a:latin typeface="Times New Roman"/>
                <a:cs typeface="Times New Roman"/>
              </a:rPr>
              <a:t>.</a:t>
            </a:r>
            <a:endParaRPr lang="en-US" sz="1850" spc="-5" dirty="0" smtClean="0">
              <a:latin typeface="Times New Roman"/>
              <a:cs typeface="Times New Roman"/>
            </a:endParaRPr>
          </a:p>
          <a:p>
            <a:pPr marL="246379" algn="just">
              <a:lnSpc>
                <a:spcPts val="2190"/>
              </a:lnSpc>
            </a:pPr>
            <a:endParaRPr sz="1850" dirty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64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-20" dirty="0">
                <a:latin typeface="Times New Roman"/>
                <a:cs typeface="Times New Roman"/>
              </a:rPr>
              <a:t>For </a:t>
            </a:r>
            <a:r>
              <a:rPr sz="1850" spc="-30" dirty="0">
                <a:latin typeface="Times New Roman"/>
                <a:cs typeface="Times New Roman"/>
              </a:rPr>
              <a:t>the method </a:t>
            </a:r>
            <a:r>
              <a:rPr sz="1850" b="1" spc="-20" dirty="0">
                <a:latin typeface="Times New Roman"/>
                <a:cs typeface="Times New Roman"/>
              </a:rPr>
              <a:t>executeUpdate</a:t>
            </a:r>
            <a:r>
              <a:rPr sz="1850" spc="-20" dirty="0">
                <a:latin typeface="Times New Roman"/>
                <a:cs typeface="Times New Roman"/>
              </a:rPr>
              <a:t>,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15" dirty="0">
                <a:latin typeface="Times New Roman"/>
                <a:cs typeface="Times New Roman"/>
              </a:rPr>
              <a:t>statement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30" dirty="0">
                <a:latin typeface="Times New Roman"/>
                <a:cs typeface="Times New Roman"/>
              </a:rPr>
              <a:t>completed </a:t>
            </a:r>
            <a:r>
              <a:rPr sz="1850" spc="-15" dirty="0">
                <a:latin typeface="Times New Roman"/>
                <a:cs typeface="Times New Roman"/>
              </a:rPr>
              <a:t>when </a:t>
            </a:r>
            <a:r>
              <a:rPr sz="1850" spc="-20" dirty="0">
                <a:latin typeface="Times New Roman"/>
                <a:cs typeface="Times New Roman"/>
              </a:rPr>
              <a:t>it </a:t>
            </a:r>
            <a:r>
              <a:rPr sz="1850" spc="-25" dirty="0">
                <a:latin typeface="Times New Roman"/>
                <a:cs typeface="Times New Roman"/>
              </a:rPr>
              <a:t>is executed. </a:t>
            </a:r>
            <a:r>
              <a:rPr sz="1850" spc="-35" dirty="0">
                <a:latin typeface="Times New Roman"/>
                <a:cs typeface="Times New Roman"/>
              </a:rPr>
              <a:t>In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rare </a:t>
            </a:r>
            <a:r>
              <a:rPr sz="1850" spc="-15" dirty="0">
                <a:latin typeface="Times New Roman"/>
                <a:cs typeface="Times New Roman"/>
              </a:rPr>
              <a:t> cases </a:t>
            </a:r>
            <a:r>
              <a:rPr sz="1850" spc="-25" dirty="0">
                <a:latin typeface="Times New Roman"/>
                <a:cs typeface="Times New Roman"/>
              </a:rPr>
              <a:t>where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method execute </a:t>
            </a:r>
            <a:r>
              <a:rPr sz="1850" spc="-20" dirty="0">
                <a:latin typeface="Times New Roman"/>
                <a:cs typeface="Times New Roman"/>
              </a:rPr>
              <a:t>is </a:t>
            </a:r>
            <a:r>
              <a:rPr sz="1850" spc="-30" dirty="0">
                <a:latin typeface="Times New Roman"/>
                <a:cs typeface="Times New Roman"/>
              </a:rPr>
              <a:t>called, however,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15" dirty="0">
                <a:latin typeface="Times New Roman"/>
                <a:cs typeface="Times New Roman"/>
              </a:rPr>
              <a:t>statement </a:t>
            </a:r>
            <a:r>
              <a:rPr sz="1850" spc="-20" dirty="0">
                <a:latin typeface="Times New Roman"/>
                <a:cs typeface="Times New Roman"/>
              </a:rPr>
              <a:t>is </a:t>
            </a:r>
            <a:r>
              <a:rPr sz="1850" spc="-10" dirty="0">
                <a:latin typeface="Times New Roman"/>
                <a:cs typeface="Times New Roman"/>
              </a:rPr>
              <a:t>not </a:t>
            </a:r>
            <a:r>
              <a:rPr sz="1850" spc="-30" dirty="0">
                <a:latin typeface="Times New Roman"/>
                <a:cs typeface="Times New Roman"/>
              </a:rPr>
              <a:t>complete </a:t>
            </a:r>
            <a:r>
              <a:rPr sz="1850" spc="-20" dirty="0">
                <a:latin typeface="Times New Roman"/>
                <a:cs typeface="Times New Roman"/>
              </a:rPr>
              <a:t>until all </a:t>
            </a:r>
            <a:r>
              <a:rPr sz="1850" spc="-50" dirty="0">
                <a:latin typeface="Times New Roman"/>
                <a:cs typeface="Times New Roman"/>
              </a:rPr>
              <a:t>of 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35" dirty="0">
                <a:latin typeface="Times New Roman"/>
                <a:cs typeface="Times New Roman"/>
              </a:rPr>
              <a:t>u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upd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oun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g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20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v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ee</a:t>
            </a:r>
            <a:r>
              <a:rPr sz="1850" spc="-5" dirty="0">
                <a:latin typeface="Times New Roman"/>
                <a:cs typeface="Times New Roman"/>
              </a:rPr>
              <a:t>n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30" dirty="0">
                <a:latin typeface="Times New Roman"/>
                <a:cs typeface="Times New Roman"/>
              </a:rPr>
              <a:t>v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45" dirty="0">
                <a:latin typeface="Times New Roman"/>
                <a:cs typeface="Times New Roman"/>
              </a:rPr>
              <a:t>d</a:t>
            </a:r>
            <a:r>
              <a:rPr sz="1850" spc="-5" dirty="0"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9009" y="238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483806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How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to</a:t>
            </a:r>
            <a:r>
              <a:rPr u="sng" spc="-1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Close</a:t>
            </a:r>
            <a:r>
              <a:rPr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the</a:t>
            </a:r>
            <a:r>
              <a:rPr u="sng" spc="-6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 </a:t>
            </a:r>
            <a:r>
              <a:rPr u="sng" spc="-2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Connection?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28</a:t>
            </a:fld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08661" y="1047750"/>
            <a:ext cx="8707755" cy="285178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46379" marR="5080" indent="-234315" algn="just">
              <a:lnSpc>
                <a:spcPct val="97500"/>
              </a:lnSpc>
              <a:spcBef>
                <a:spcPts val="15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b="1" spc="-25" dirty="0">
                <a:latin typeface="Times New Roman"/>
                <a:cs typeface="Times New Roman"/>
              </a:rPr>
              <a:t>Statement </a:t>
            </a:r>
            <a:r>
              <a:rPr sz="1850" spc="-20" dirty="0">
                <a:latin typeface="Times New Roman"/>
                <a:cs typeface="Times New Roman"/>
              </a:rPr>
              <a:t>objects </a:t>
            </a:r>
            <a:r>
              <a:rPr sz="1850" spc="-15" dirty="0">
                <a:latin typeface="Times New Roman"/>
                <a:cs typeface="Times New Roman"/>
              </a:rPr>
              <a:t>will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5" dirty="0">
                <a:latin typeface="Times New Roman"/>
                <a:cs typeface="Times New Roman"/>
              </a:rPr>
              <a:t>closed </a:t>
            </a:r>
            <a:r>
              <a:rPr sz="1850" spc="-30" dirty="0">
                <a:latin typeface="Times New Roman"/>
                <a:cs typeface="Times New Roman"/>
              </a:rPr>
              <a:t>automatically </a:t>
            </a:r>
            <a:r>
              <a:rPr sz="1850" spc="15" dirty="0">
                <a:latin typeface="Times New Roman"/>
                <a:cs typeface="Times New Roman"/>
              </a:rPr>
              <a:t>by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Java </a:t>
            </a:r>
            <a:r>
              <a:rPr sz="1850" spc="-25" dirty="0">
                <a:latin typeface="Times New Roman"/>
                <a:cs typeface="Times New Roman"/>
              </a:rPr>
              <a:t>garbage </a:t>
            </a:r>
            <a:r>
              <a:rPr sz="1850" spc="-35" dirty="0">
                <a:latin typeface="Times New Roman"/>
                <a:cs typeface="Times New Roman"/>
              </a:rPr>
              <a:t>collector. </a:t>
            </a:r>
            <a:r>
              <a:rPr sz="1850" spc="-25" dirty="0">
                <a:latin typeface="Times New Roman"/>
                <a:cs typeface="Times New Roman"/>
              </a:rPr>
              <a:t>Nevertheless, </a:t>
            </a:r>
            <a:r>
              <a:rPr sz="1850" spc="-20" dirty="0">
                <a:latin typeface="Times New Roman"/>
                <a:cs typeface="Times New Roman"/>
              </a:rPr>
              <a:t> it is </a:t>
            </a:r>
            <a:r>
              <a:rPr sz="1850" spc="-30" dirty="0">
                <a:latin typeface="Times New Roman"/>
                <a:cs typeface="Times New Roman"/>
              </a:rPr>
              <a:t>recommended </a:t>
            </a:r>
            <a:r>
              <a:rPr sz="1850" spc="-15" dirty="0">
                <a:latin typeface="Times New Roman"/>
                <a:cs typeface="Times New Roman"/>
              </a:rPr>
              <a:t>as </a:t>
            </a:r>
            <a:r>
              <a:rPr sz="1850" spc="-40" dirty="0">
                <a:latin typeface="Times New Roman"/>
                <a:cs typeface="Times New Roman"/>
              </a:rPr>
              <a:t>good </a:t>
            </a:r>
            <a:r>
              <a:rPr sz="1850" spc="-25" dirty="0">
                <a:latin typeface="Times New Roman"/>
                <a:cs typeface="Times New Roman"/>
              </a:rPr>
              <a:t>programming </a:t>
            </a:r>
            <a:r>
              <a:rPr sz="1850" spc="-15" dirty="0">
                <a:latin typeface="Times New Roman"/>
                <a:cs typeface="Times New Roman"/>
              </a:rPr>
              <a:t>practice </a:t>
            </a:r>
            <a:r>
              <a:rPr sz="1850" spc="-30" dirty="0">
                <a:latin typeface="Times New Roman"/>
                <a:cs typeface="Times New Roman"/>
              </a:rPr>
              <a:t>that they </a:t>
            </a:r>
            <a:r>
              <a:rPr sz="1850" spc="10" dirty="0">
                <a:latin typeface="Times New Roman"/>
                <a:cs typeface="Times New Roman"/>
              </a:rPr>
              <a:t>be </a:t>
            </a:r>
            <a:r>
              <a:rPr sz="1850" spc="-40" dirty="0">
                <a:latin typeface="Times New Roman"/>
                <a:cs typeface="Times New Roman"/>
              </a:rPr>
              <a:t>closed</a:t>
            </a:r>
            <a:r>
              <a:rPr sz="1850" spc="-35" dirty="0">
                <a:latin typeface="Times New Roman"/>
                <a:cs typeface="Times New Roman"/>
              </a:rPr>
              <a:t> explicitly when</a:t>
            </a:r>
            <a:r>
              <a:rPr sz="1850" spc="39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they 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are </a:t>
            </a:r>
            <a:r>
              <a:rPr sz="1850" spc="-30" dirty="0">
                <a:latin typeface="Times New Roman"/>
                <a:cs typeface="Times New Roman"/>
              </a:rPr>
              <a:t>no </a:t>
            </a:r>
            <a:r>
              <a:rPr sz="1850" spc="-25" dirty="0">
                <a:latin typeface="Times New Roman"/>
                <a:cs typeface="Times New Roman"/>
              </a:rPr>
              <a:t>longer </a:t>
            </a:r>
            <a:r>
              <a:rPr sz="1850" spc="-10" dirty="0">
                <a:latin typeface="Times New Roman"/>
                <a:cs typeface="Times New Roman"/>
              </a:rPr>
              <a:t>needed. </a:t>
            </a:r>
            <a:r>
              <a:rPr sz="1850" spc="-30" dirty="0">
                <a:latin typeface="Times New Roman"/>
                <a:cs typeface="Times New Roman"/>
              </a:rPr>
              <a:t>This </a:t>
            </a:r>
            <a:r>
              <a:rPr sz="1850" spc="-5" dirty="0">
                <a:latin typeface="Times New Roman"/>
                <a:cs typeface="Times New Roman"/>
              </a:rPr>
              <a:t>frees </a:t>
            </a:r>
            <a:r>
              <a:rPr sz="1850" spc="-80" dirty="0">
                <a:latin typeface="Times New Roman"/>
                <a:cs typeface="Times New Roman"/>
              </a:rPr>
              <a:t>DBMS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resources </a:t>
            </a:r>
            <a:r>
              <a:rPr sz="1850" spc="-25" dirty="0">
                <a:latin typeface="Times New Roman"/>
                <a:cs typeface="Times New Roman"/>
              </a:rPr>
              <a:t>immediately </a:t>
            </a:r>
            <a:r>
              <a:rPr sz="1850" spc="-55" dirty="0">
                <a:latin typeface="Times New Roman"/>
                <a:cs typeface="Times New Roman"/>
              </a:rPr>
              <a:t>and </a:t>
            </a:r>
            <a:r>
              <a:rPr sz="1850" spc="-20" dirty="0">
                <a:latin typeface="Times New Roman"/>
                <a:cs typeface="Times New Roman"/>
              </a:rPr>
              <a:t>helps </a:t>
            </a:r>
            <a:r>
              <a:rPr sz="1850" spc="-35" dirty="0">
                <a:latin typeface="Times New Roman"/>
                <a:cs typeface="Times New Roman"/>
              </a:rPr>
              <a:t>avoid </a:t>
            </a:r>
            <a:r>
              <a:rPr sz="1850" spc="-20" dirty="0">
                <a:latin typeface="Times New Roman"/>
                <a:cs typeface="Times New Roman"/>
              </a:rPr>
              <a:t>potential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memory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problems.</a:t>
            </a:r>
            <a:endParaRPr sz="1850" dirty="0">
              <a:latin typeface="Times New Roman"/>
              <a:cs typeface="Times New Roman"/>
            </a:endParaRPr>
          </a:p>
          <a:p>
            <a:pPr marL="246379" marR="5080" indent="-234315" algn="just">
              <a:lnSpc>
                <a:spcPct val="97500"/>
              </a:lnSpc>
              <a:spcBef>
                <a:spcPts val="560"/>
              </a:spcBef>
              <a:buClr>
                <a:srgbClr val="006FC0"/>
              </a:buClr>
              <a:buFont typeface="Wingdings"/>
              <a:buChar char=""/>
              <a:tabLst>
                <a:tab pos="247015" algn="l"/>
              </a:tabLst>
            </a:pPr>
            <a:r>
              <a:rPr sz="1850" spc="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same </a:t>
            </a:r>
            <a:r>
              <a:rPr sz="1850" spc="-35" dirty="0">
                <a:latin typeface="Times New Roman"/>
                <a:cs typeface="Times New Roman"/>
              </a:rPr>
              <a:t>connection </a:t>
            </a:r>
            <a:r>
              <a:rPr sz="1850" spc="-20" dirty="0">
                <a:latin typeface="Times New Roman"/>
                <a:cs typeface="Times New Roman"/>
              </a:rPr>
              <a:t>object </a:t>
            </a:r>
            <a:r>
              <a:rPr sz="1850" spc="-45" dirty="0">
                <a:latin typeface="Times New Roman"/>
                <a:cs typeface="Times New Roman"/>
              </a:rPr>
              <a:t>can </a:t>
            </a:r>
            <a:r>
              <a:rPr sz="1850" spc="15" dirty="0">
                <a:latin typeface="Times New Roman"/>
                <a:cs typeface="Times New Roman"/>
              </a:rPr>
              <a:t>be </a:t>
            </a:r>
            <a:r>
              <a:rPr sz="1850" spc="-20" dirty="0">
                <a:latin typeface="Times New Roman"/>
                <a:cs typeface="Times New Roman"/>
              </a:rPr>
              <a:t>used </a:t>
            </a:r>
            <a:r>
              <a:rPr sz="1850" spc="-60" dirty="0">
                <a:latin typeface="Times New Roman"/>
                <a:cs typeface="Times New Roman"/>
              </a:rPr>
              <a:t>to </a:t>
            </a:r>
            <a:r>
              <a:rPr sz="1850" spc="-30" dirty="0">
                <a:latin typeface="Times New Roman"/>
                <a:cs typeface="Times New Roman"/>
              </a:rPr>
              <a:t>execute </a:t>
            </a:r>
            <a:r>
              <a:rPr sz="1850" spc="-20" dirty="0">
                <a:latin typeface="Times New Roman"/>
                <a:cs typeface="Times New Roman"/>
              </a:rPr>
              <a:t>multiple </a:t>
            </a:r>
            <a:r>
              <a:rPr sz="1850" spc="-15" dirty="0">
                <a:latin typeface="Times New Roman"/>
                <a:cs typeface="Times New Roman"/>
              </a:rPr>
              <a:t>statements </a:t>
            </a:r>
            <a:r>
              <a:rPr sz="1850" spc="-55" dirty="0">
                <a:latin typeface="Times New Roman"/>
                <a:cs typeface="Times New Roman"/>
              </a:rPr>
              <a:t>and </a:t>
            </a:r>
            <a:r>
              <a:rPr sz="1850" spc="-20" dirty="0">
                <a:latin typeface="Times New Roman"/>
                <a:cs typeface="Times New Roman"/>
              </a:rPr>
              <a:t>retrieve many 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result </a:t>
            </a:r>
            <a:r>
              <a:rPr sz="1850" spc="-15" dirty="0">
                <a:latin typeface="Times New Roman"/>
                <a:cs typeface="Times New Roman"/>
              </a:rPr>
              <a:t>sets. </a:t>
            </a:r>
            <a:r>
              <a:rPr sz="1850" spc="-30" dirty="0">
                <a:latin typeface="Times New Roman"/>
                <a:cs typeface="Times New Roman"/>
              </a:rPr>
              <a:t>However, </a:t>
            </a:r>
            <a:r>
              <a:rPr sz="1850" spc="10" dirty="0">
                <a:latin typeface="Times New Roman"/>
                <a:cs typeface="Times New Roman"/>
              </a:rPr>
              <a:t>once </a:t>
            </a:r>
            <a:r>
              <a:rPr sz="1850" spc="-20" dirty="0">
                <a:latin typeface="Times New Roman"/>
                <a:cs typeface="Times New Roman"/>
              </a:rPr>
              <a:t>all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work </a:t>
            </a:r>
            <a:r>
              <a:rPr sz="1850" spc="-15" dirty="0">
                <a:latin typeface="Times New Roman"/>
                <a:cs typeface="Times New Roman"/>
              </a:rPr>
              <a:t>with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database is over, it is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40" dirty="0">
                <a:latin typeface="Times New Roman"/>
                <a:cs typeface="Times New Roman"/>
              </a:rPr>
              <a:t>good </a:t>
            </a:r>
            <a:r>
              <a:rPr sz="1850" spc="-20" dirty="0">
                <a:latin typeface="Times New Roman"/>
                <a:cs typeface="Times New Roman"/>
              </a:rPr>
              <a:t>programming </a:t>
            </a:r>
            <a:r>
              <a:rPr sz="1850" spc="-15" dirty="0">
                <a:latin typeface="Times New Roman"/>
                <a:cs typeface="Times New Roman"/>
              </a:rPr>
              <a:t> practice </a:t>
            </a:r>
            <a:r>
              <a:rPr sz="1850" spc="-60" dirty="0">
                <a:latin typeface="Times New Roman"/>
                <a:cs typeface="Times New Roman"/>
              </a:rPr>
              <a:t>to </a:t>
            </a:r>
            <a:r>
              <a:rPr sz="1850" spc="-25" dirty="0">
                <a:latin typeface="Times New Roman"/>
                <a:cs typeface="Times New Roman"/>
              </a:rPr>
              <a:t>close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30" dirty="0">
                <a:latin typeface="Times New Roman"/>
                <a:cs typeface="Times New Roman"/>
              </a:rPr>
              <a:t>connection </a:t>
            </a:r>
            <a:r>
              <a:rPr sz="1850" spc="-35" dirty="0">
                <a:latin typeface="Times New Roman"/>
                <a:cs typeface="Times New Roman"/>
              </a:rPr>
              <a:t>explicitly. </a:t>
            </a:r>
            <a:r>
              <a:rPr sz="1850" spc="-30" dirty="0">
                <a:latin typeface="Times New Roman"/>
                <a:cs typeface="Times New Roman"/>
              </a:rPr>
              <a:t>If </a:t>
            </a:r>
            <a:r>
              <a:rPr sz="1850" spc="-35" dirty="0">
                <a:latin typeface="Times New Roman"/>
                <a:cs typeface="Times New Roman"/>
              </a:rPr>
              <a:t>this </a:t>
            </a:r>
            <a:r>
              <a:rPr sz="1850" spc="-25" dirty="0">
                <a:latin typeface="Times New Roman"/>
                <a:cs typeface="Times New Roman"/>
              </a:rPr>
              <a:t>is </a:t>
            </a:r>
            <a:r>
              <a:rPr sz="1850" spc="-10" dirty="0">
                <a:latin typeface="Times New Roman"/>
                <a:cs typeface="Times New Roman"/>
              </a:rPr>
              <a:t>not </a:t>
            </a:r>
            <a:r>
              <a:rPr sz="1850" spc="-30" dirty="0">
                <a:latin typeface="Times New Roman"/>
                <a:cs typeface="Times New Roman"/>
              </a:rPr>
              <a:t>closed, after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0" dirty="0">
                <a:latin typeface="Times New Roman"/>
                <a:cs typeface="Times New Roman"/>
              </a:rPr>
              <a:t>particular </a:t>
            </a:r>
            <a:r>
              <a:rPr sz="1850" spc="-30" dirty="0">
                <a:latin typeface="Times New Roman"/>
                <a:cs typeface="Times New Roman"/>
              </a:rPr>
              <a:t>timeout </a:t>
            </a:r>
            <a:r>
              <a:rPr sz="1850" spc="-25" dirty="0">
                <a:latin typeface="Times New Roman"/>
                <a:cs typeface="Times New Roman"/>
              </a:rPr>
              <a:t> period </a:t>
            </a:r>
            <a:r>
              <a:rPr sz="1850" spc="-15" dirty="0">
                <a:latin typeface="Times New Roman"/>
                <a:cs typeface="Times New Roman"/>
              </a:rPr>
              <a:t>defined at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database,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connection is </a:t>
            </a:r>
            <a:r>
              <a:rPr sz="1850" spc="-30" dirty="0">
                <a:latin typeface="Times New Roman"/>
                <a:cs typeface="Times New Roman"/>
              </a:rPr>
              <a:t>automatically </a:t>
            </a:r>
            <a:r>
              <a:rPr sz="1850" spc="-15" dirty="0">
                <a:latin typeface="Times New Roman"/>
                <a:cs typeface="Times New Roman"/>
              </a:rPr>
              <a:t>closed. </a:t>
            </a:r>
            <a:r>
              <a:rPr sz="1850" spc="-25" dirty="0">
                <a:latin typeface="Times New Roman"/>
                <a:cs typeface="Times New Roman"/>
              </a:rPr>
              <a:t>Nevertheless, </a:t>
            </a:r>
            <a:r>
              <a:rPr sz="1850" spc="-35" dirty="0">
                <a:latin typeface="Times New Roman"/>
                <a:cs typeface="Times New Roman"/>
              </a:rPr>
              <a:t>this 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would </a:t>
            </a:r>
            <a:r>
              <a:rPr sz="1850" spc="-35" dirty="0">
                <a:latin typeface="Times New Roman"/>
                <a:cs typeface="Times New Roman"/>
              </a:rPr>
              <a:t>mean </a:t>
            </a:r>
            <a:r>
              <a:rPr sz="1850" spc="-30" dirty="0">
                <a:latin typeface="Times New Roman"/>
                <a:cs typeface="Times New Roman"/>
              </a:rPr>
              <a:t>that till </a:t>
            </a:r>
            <a:r>
              <a:rPr sz="1850" spc="-5" dirty="0">
                <a:latin typeface="Times New Roman"/>
                <a:cs typeface="Times New Roman"/>
              </a:rPr>
              <a:t>the </a:t>
            </a:r>
            <a:r>
              <a:rPr sz="1850" spc="-20" dirty="0">
                <a:latin typeface="Times New Roman"/>
                <a:cs typeface="Times New Roman"/>
              </a:rPr>
              <a:t>timeout, </a:t>
            </a:r>
            <a:r>
              <a:rPr sz="1850" spc="-15" dirty="0">
                <a:latin typeface="Times New Roman"/>
                <a:cs typeface="Times New Roman"/>
              </a:rPr>
              <a:t>this </a:t>
            </a:r>
            <a:r>
              <a:rPr sz="1850" spc="-30" dirty="0">
                <a:latin typeface="Times New Roman"/>
                <a:cs typeface="Times New Roman"/>
              </a:rPr>
              <a:t>connection </a:t>
            </a:r>
            <a:r>
              <a:rPr sz="1850" spc="-20" dirty="0">
                <a:latin typeface="Times New Roman"/>
                <a:cs typeface="Times New Roman"/>
              </a:rPr>
              <a:t>is </a:t>
            </a:r>
            <a:r>
              <a:rPr sz="1850" spc="-10" dirty="0">
                <a:latin typeface="Times New Roman"/>
                <a:cs typeface="Times New Roman"/>
              </a:rPr>
              <a:t>not </a:t>
            </a:r>
            <a:r>
              <a:rPr sz="1850" spc="-25" dirty="0">
                <a:latin typeface="Times New Roman"/>
                <a:cs typeface="Times New Roman"/>
              </a:rPr>
              <a:t>available </a:t>
            </a:r>
            <a:r>
              <a:rPr sz="1850" spc="-20" dirty="0">
                <a:latin typeface="Times New Roman"/>
                <a:cs typeface="Times New Roman"/>
              </a:rPr>
              <a:t>to </a:t>
            </a:r>
            <a:r>
              <a:rPr sz="1850" dirty="0">
                <a:latin typeface="Times New Roman"/>
                <a:cs typeface="Times New Roman"/>
              </a:rPr>
              <a:t>any </a:t>
            </a:r>
            <a:r>
              <a:rPr sz="1850" spc="-20" dirty="0">
                <a:latin typeface="Times New Roman"/>
                <a:cs typeface="Times New Roman"/>
              </a:rPr>
              <a:t>other </a:t>
            </a:r>
            <a:r>
              <a:rPr sz="1850" spc="-15" dirty="0">
                <a:latin typeface="Times New Roman"/>
                <a:cs typeface="Times New Roman"/>
              </a:rPr>
              <a:t>users </a:t>
            </a:r>
            <a:r>
              <a:rPr sz="1850" spc="-25" dirty="0">
                <a:latin typeface="Times New Roman"/>
                <a:cs typeface="Times New Roman"/>
              </a:rPr>
              <a:t>of </a:t>
            </a:r>
            <a:r>
              <a:rPr sz="1850" spc="-30" dirty="0">
                <a:latin typeface="Times New Roman"/>
                <a:cs typeface="Times New Roman"/>
              </a:rPr>
              <a:t>the 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database.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Hence, </a:t>
            </a:r>
            <a:r>
              <a:rPr sz="1850" spc="-25" dirty="0">
                <a:latin typeface="Times New Roman"/>
                <a:cs typeface="Times New Roman"/>
              </a:rPr>
              <a:t>explicit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closing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of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connection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recommended.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49009" y="2380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742950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6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Q</a:t>
            </a:r>
            <a:r>
              <a:rPr u="sng" spc="-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ui</a:t>
            </a:r>
            <a:r>
              <a:rPr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</a:rPr>
              <a:t>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725" y="658073"/>
            <a:ext cx="6533515" cy="29832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8140" indent="-346075">
              <a:lnSpc>
                <a:spcPct val="100000"/>
              </a:lnSpc>
              <a:spcBef>
                <a:spcPts val="775"/>
              </a:spcBef>
              <a:buClr>
                <a:srgbClr val="006FC0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850" spc="-65" dirty="0">
                <a:latin typeface="Times New Roman"/>
                <a:cs typeface="Times New Roman"/>
              </a:rPr>
              <a:t>W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-5" dirty="0">
                <a:latin typeface="Times New Roman"/>
                <a:cs typeface="Times New Roman"/>
              </a:rPr>
              <a:t>h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40" dirty="0">
                <a:latin typeface="Times New Roman"/>
                <a:cs typeface="Times New Roman"/>
              </a:rPr>
              <a:t>ll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20" dirty="0">
                <a:latin typeface="Times New Roman"/>
                <a:cs typeface="Times New Roman"/>
              </a:rPr>
              <a:t>w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g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hod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2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no</a:t>
            </a:r>
            <a:r>
              <a:rPr sz="1850" spc="-5" dirty="0">
                <a:latin typeface="Times New Roman"/>
                <a:cs typeface="Times New Roman"/>
              </a:rPr>
              <a:t>t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r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qu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15" dirty="0">
                <a:latin typeface="Times New Roman"/>
                <a:cs typeface="Times New Roman"/>
              </a:rPr>
              <a:t>r</a:t>
            </a:r>
            <a:r>
              <a:rPr sz="1850" spc="-50" dirty="0">
                <a:latin typeface="Times New Roman"/>
                <a:cs typeface="Times New Roman"/>
              </a:rPr>
              <a:t>y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30" dirty="0">
                <a:latin typeface="Times New Roman"/>
                <a:cs typeface="Times New Roman"/>
              </a:rPr>
              <a:t>n</a:t>
            </a:r>
            <a:r>
              <a:rPr sz="1850" spc="-5" dirty="0">
                <a:latin typeface="Times New Roman"/>
                <a:cs typeface="Times New Roman"/>
              </a:rPr>
              <a:t>g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d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30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?</a:t>
            </a:r>
            <a:endParaRPr sz="1850">
              <a:latin typeface="Times New Roman"/>
              <a:cs typeface="Times New Roman"/>
            </a:endParaRPr>
          </a:p>
          <a:p>
            <a:pPr marL="612775" lvl="1" indent="-254635">
              <a:lnSpc>
                <a:spcPct val="100000"/>
              </a:lnSpc>
              <a:spcBef>
                <a:spcPts val="595"/>
              </a:spcBef>
              <a:buClr>
                <a:srgbClr val="006FC0"/>
              </a:buClr>
              <a:buAutoNum type="alphaLcPeriod"/>
              <a:tabLst>
                <a:tab pos="612775" algn="l"/>
              </a:tabLst>
            </a:pPr>
            <a:r>
              <a:rPr sz="1600" spc="-25" dirty="0">
                <a:latin typeface="Times New Roman"/>
                <a:cs typeface="Times New Roman"/>
              </a:rPr>
              <a:t>executeQuery()</a:t>
            </a:r>
            <a:endParaRPr sz="1600">
              <a:latin typeface="Times New Roman"/>
              <a:cs typeface="Times New Roman"/>
            </a:endParaRPr>
          </a:p>
          <a:p>
            <a:pPr marL="612775" lvl="1" indent="-25463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AutoNum type="alphaLcPeriod"/>
              <a:tabLst>
                <a:tab pos="612775" algn="l"/>
              </a:tabLst>
            </a:pPr>
            <a:r>
              <a:rPr sz="1600" spc="-20" dirty="0">
                <a:latin typeface="Times New Roman"/>
                <a:cs typeface="Times New Roman"/>
              </a:rPr>
              <a:t>executeStatement()</a:t>
            </a:r>
            <a:endParaRPr sz="1600">
              <a:latin typeface="Times New Roman"/>
              <a:cs typeface="Times New Roman"/>
            </a:endParaRPr>
          </a:p>
          <a:p>
            <a:pPr marL="612775" lvl="1" indent="-254635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AutoNum type="alphaLcPeriod"/>
              <a:tabLst>
                <a:tab pos="612775" algn="l"/>
              </a:tabLst>
            </a:pPr>
            <a:r>
              <a:rPr sz="1600" spc="-25" dirty="0">
                <a:latin typeface="Times New Roman"/>
                <a:cs typeface="Times New Roman"/>
              </a:rPr>
              <a:t>executeUpdate()</a:t>
            </a:r>
            <a:endParaRPr sz="1600">
              <a:latin typeface="Times New Roman"/>
              <a:cs typeface="Times New Roman"/>
            </a:endParaRPr>
          </a:p>
          <a:p>
            <a:pPr marL="612775" lvl="1" indent="-25463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AutoNum type="alphaLcPeriod"/>
              <a:tabLst>
                <a:tab pos="612775" algn="l"/>
              </a:tabLst>
            </a:pPr>
            <a:r>
              <a:rPr sz="1600" spc="-20" dirty="0">
                <a:latin typeface="Times New Roman"/>
                <a:cs typeface="Times New Roman"/>
              </a:rPr>
              <a:t>execute()</a:t>
            </a:r>
            <a:endParaRPr sz="1600">
              <a:latin typeface="Times New Roman"/>
              <a:cs typeface="Times New Roman"/>
            </a:endParaRPr>
          </a:p>
          <a:p>
            <a:pPr marL="358140" indent="-346075">
              <a:lnSpc>
                <a:spcPct val="100000"/>
              </a:lnSpc>
              <a:spcBef>
                <a:spcPts val="555"/>
              </a:spcBef>
              <a:buClr>
                <a:srgbClr val="006FC0"/>
              </a:buClr>
              <a:buAutoNum type="arabicPeriod"/>
              <a:tabLst>
                <a:tab pos="358140" algn="l"/>
                <a:tab pos="358775" algn="l"/>
              </a:tabLst>
            </a:pPr>
            <a:r>
              <a:rPr sz="1850" spc="-65" dirty="0">
                <a:latin typeface="Times New Roman"/>
                <a:cs typeface="Times New Roman"/>
              </a:rPr>
              <a:t>W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-5" dirty="0">
                <a:latin typeface="Times New Roman"/>
                <a:cs typeface="Times New Roman"/>
              </a:rPr>
              <a:t>h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</a:t>
            </a:r>
            <a:r>
              <a:rPr sz="1850" spc="-5" dirty="0">
                <a:latin typeface="Times New Roman"/>
                <a:cs typeface="Times New Roman"/>
              </a:rPr>
              <a:t>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e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30" dirty="0">
                <a:latin typeface="Times New Roman"/>
                <a:cs typeface="Times New Roman"/>
              </a:rPr>
              <a:t>ho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i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u</a:t>
            </a:r>
            <a:r>
              <a:rPr sz="1850" spc="-5" dirty="0">
                <a:latin typeface="Times New Roman"/>
                <a:cs typeface="Times New Roman"/>
              </a:rPr>
              <a:t>s</a:t>
            </a:r>
            <a:r>
              <a:rPr sz="1850" spc="-20" dirty="0">
                <a:latin typeface="Times New Roman"/>
                <a:cs typeface="Times New Roman"/>
              </a:rPr>
              <a:t>e</a:t>
            </a:r>
            <a:r>
              <a:rPr sz="1850" spc="-5" dirty="0">
                <a:latin typeface="Times New Roman"/>
                <a:cs typeface="Times New Roman"/>
              </a:rPr>
              <a:t>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t</a:t>
            </a:r>
            <a:r>
              <a:rPr sz="1850" spc="-5" dirty="0">
                <a:latin typeface="Times New Roman"/>
                <a:cs typeface="Times New Roman"/>
              </a:rPr>
              <a:t>o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-40" dirty="0">
                <a:latin typeface="Times New Roman"/>
                <a:cs typeface="Times New Roman"/>
              </a:rPr>
              <a:t>l</a:t>
            </a:r>
            <a:r>
              <a:rPr sz="1850" spc="30" dirty="0">
                <a:latin typeface="Times New Roman"/>
                <a:cs typeface="Times New Roman"/>
              </a:rPr>
              <a:t>o</a:t>
            </a:r>
            <a:r>
              <a:rPr sz="1850" spc="-5" dirty="0">
                <a:latin typeface="Times New Roman"/>
                <a:cs typeface="Times New Roman"/>
              </a:rPr>
              <a:t>se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a </a:t>
            </a:r>
            <a:r>
              <a:rPr sz="1850" spc="-25" dirty="0">
                <a:latin typeface="Times New Roman"/>
                <a:cs typeface="Times New Roman"/>
              </a:rPr>
              <a:t>c</a:t>
            </a:r>
            <a:r>
              <a:rPr sz="1850" spc="30" dirty="0">
                <a:latin typeface="Times New Roman"/>
                <a:cs typeface="Times New Roman"/>
              </a:rPr>
              <a:t>onn</a:t>
            </a:r>
            <a:r>
              <a:rPr sz="1850" spc="-25" dirty="0">
                <a:latin typeface="Times New Roman"/>
                <a:cs typeface="Times New Roman"/>
              </a:rPr>
              <a:t>ec</a:t>
            </a:r>
            <a:r>
              <a:rPr sz="1850" spc="-40" dirty="0">
                <a:latin typeface="Times New Roman"/>
                <a:cs typeface="Times New Roman"/>
              </a:rPr>
              <a:t>ti</a:t>
            </a:r>
            <a:r>
              <a:rPr sz="1850" spc="30" dirty="0">
                <a:latin typeface="Times New Roman"/>
                <a:cs typeface="Times New Roman"/>
              </a:rPr>
              <a:t>on</a:t>
            </a:r>
            <a:r>
              <a:rPr sz="1850" spc="-5" dirty="0">
                <a:latin typeface="Times New Roman"/>
                <a:cs typeface="Times New Roman"/>
              </a:rPr>
              <a:t>?</a:t>
            </a:r>
            <a:endParaRPr sz="1850">
              <a:latin typeface="Times New Roman"/>
              <a:cs typeface="Times New Roman"/>
            </a:endParaRPr>
          </a:p>
          <a:p>
            <a:pPr marL="653415" lvl="1" indent="-254635">
              <a:lnSpc>
                <a:spcPct val="100000"/>
              </a:lnSpc>
              <a:spcBef>
                <a:spcPts val="595"/>
              </a:spcBef>
              <a:buClr>
                <a:srgbClr val="006FC0"/>
              </a:buClr>
              <a:buAutoNum type="alphaLcPeriod"/>
              <a:tabLst>
                <a:tab pos="653415" algn="l"/>
              </a:tabLst>
            </a:pPr>
            <a:r>
              <a:rPr sz="1600" spc="-5" dirty="0">
                <a:latin typeface="Times New Roman"/>
                <a:cs typeface="Times New Roman"/>
              </a:rPr>
              <a:t>connection.close();</a:t>
            </a:r>
            <a:endParaRPr sz="1600">
              <a:latin typeface="Times New Roman"/>
              <a:cs typeface="Times New Roman"/>
            </a:endParaRPr>
          </a:p>
          <a:p>
            <a:pPr marL="653415" lvl="1" indent="-254635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AutoNum type="alphaLcPeriod"/>
              <a:tabLst>
                <a:tab pos="653415" algn="l"/>
              </a:tabLst>
            </a:pPr>
            <a:r>
              <a:rPr sz="1600" spc="-15" dirty="0">
                <a:latin typeface="Times New Roman"/>
                <a:cs typeface="Times New Roman"/>
              </a:rPr>
              <a:t>connection.terminate();</a:t>
            </a:r>
            <a:endParaRPr sz="1600">
              <a:latin typeface="Times New Roman"/>
              <a:cs typeface="Times New Roman"/>
            </a:endParaRPr>
          </a:p>
          <a:p>
            <a:pPr marL="653415" lvl="1" indent="-25463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AutoNum type="alphaLcPeriod"/>
              <a:tabLst>
                <a:tab pos="653415" algn="l"/>
              </a:tabLst>
            </a:pPr>
            <a:r>
              <a:rPr sz="1600" spc="-15" dirty="0">
                <a:latin typeface="Times New Roman"/>
                <a:cs typeface="Times New Roman"/>
              </a:rPr>
              <a:t>connection.exit();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122" y="3697287"/>
            <a:ext cx="17818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FC0"/>
                </a:solidFill>
                <a:latin typeface="Times New Roman"/>
                <a:cs typeface="Times New Roman"/>
              </a:rPr>
              <a:t>d.</a:t>
            </a:r>
            <a:r>
              <a:rPr sz="1600" spc="3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None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45" dirty="0">
                <a:latin typeface="Times New Roman"/>
                <a:cs typeface="Times New Roman"/>
              </a:rPr>
              <a:t>the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above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5858" y="3708093"/>
            <a:ext cx="2809417" cy="9913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41951" y="3745229"/>
            <a:ext cx="975360" cy="855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0"/>
              </a:spcBef>
            </a:pPr>
            <a:r>
              <a:rPr sz="1850" spc="-35" dirty="0">
                <a:latin typeface="Arial MT"/>
                <a:cs typeface="Arial MT"/>
              </a:rPr>
              <a:t>A</a:t>
            </a:r>
            <a:r>
              <a:rPr sz="1850" spc="-70" dirty="0">
                <a:latin typeface="Arial MT"/>
                <a:cs typeface="Arial MT"/>
              </a:rPr>
              <a:t>n</a:t>
            </a:r>
            <a:r>
              <a:rPr sz="1850" spc="30" dirty="0">
                <a:latin typeface="Arial MT"/>
                <a:cs typeface="Arial MT"/>
              </a:rPr>
              <a:t>s</a:t>
            </a:r>
            <a:r>
              <a:rPr sz="1850" spc="-140" dirty="0">
                <a:latin typeface="Arial MT"/>
                <a:cs typeface="Arial MT"/>
              </a:rPr>
              <a:t>w</a:t>
            </a:r>
            <a:r>
              <a:rPr sz="1850" spc="10" dirty="0">
                <a:latin typeface="Arial MT"/>
                <a:cs typeface="Arial MT"/>
              </a:rPr>
              <a:t>e</a:t>
            </a:r>
            <a:r>
              <a:rPr sz="1850" spc="15" dirty="0">
                <a:latin typeface="Arial MT"/>
                <a:cs typeface="Arial MT"/>
              </a:rPr>
              <a:t>r</a:t>
            </a:r>
            <a:r>
              <a:rPr sz="1850" spc="30" dirty="0">
                <a:latin typeface="Arial MT"/>
                <a:cs typeface="Arial MT"/>
              </a:rPr>
              <a:t>s</a:t>
            </a:r>
            <a:r>
              <a:rPr sz="1850" spc="-5" dirty="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  <a:p>
            <a:pPr marL="266700" indent="-254635">
              <a:lnSpc>
                <a:spcPts val="2165"/>
              </a:lnSpc>
              <a:buAutoNum type="arabicPeriod"/>
              <a:tabLst>
                <a:tab pos="267335" algn="l"/>
              </a:tabLst>
            </a:pPr>
            <a:r>
              <a:rPr sz="1850" spc="-5" dirty="0">
                <a:latin typeface="Arial MT"/>
                <a:cs typeface="Arial MT"/>
              </a:rPr>
              <a:t>B</a:t>
            </a:r>
            <a:endParaRPr sz="1850">
              <a:latin typeface="Arial MT"/>
              <a:cs typeface="Arial MT"/>
            </a:endParaRPr>
          </a:p>
          <a:p>
            <a:pPr marL="266700" indent="-254635">
              <a:lnSpc>
                <a:spcPts val="2190"/>
              </a:lnSpc>
              <a:buAutoNum type="arabicPeriod"/>
              <a:tabLst>
                <a:tab pos="267335" algn="l"/>
              </a:tabLst>
            </a:pPr>
            <a:r>
              <a:rPr sz="1850" spc="-5" dirty="0">
                <a:latin typeface="Arial MT"/>
                <a:cs typeface="Arial MT"/>
              </a:rPr>
              <a:t>A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10" dirty="0"/>
              <a:t>29</a:t>
            </a:fld>
            <a:endParaRPr spc="-10" dirty="0"/>
          </a:p>
        </p:txBody>
      </p:sp>
      <p:pic>
        <p:nvPicPr>
          <p:cNvPr id="12" name="Picture 4" descr="F:\HIREMEE\GIET University HD Logo.jpg">
            <a:extLst>
              <a:ext uri="{FF2B5EF4-FFF2-40B4-BE49-F238E27FC236}">
                <a16:creationId xmlns:a16="http://schemas.microsoft.com/office/drawing/2014/main" id="{CA379A7A-DD95-2716-89DD-27E69486B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91359" y="8402"/>
            <a:ext cx="68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1976120" y="0"/>
                </a:moveTo>
                <a:lnTo>
                  <a:pt x="0" y="0"/>
                </a:lnTo>
                <a:lnTo>
                  <a:pt x="0" y="10160"/>
                </a:lnTo>
                <a:lnTo>
                  <a:pt x="1976120" y="10160"/>
                </a:lnTo>
                <a:lnTo>
                  <a:pt x="1976120" y="0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086600" y="1667890"/>
            <a:ext cx="175260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Thank</a:t>
            </a:r>
            <a:r>
              <a:rPr sz="2700" u="sng" spc="-1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You</a:t>
            </a:r>
            <a:endParaRPr sz="270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02" y="57150"/>
            <a:ext cx="688908" cy="6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4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2092</Words>
  <Application>Microsoft Office PowerPoint</Application>
  <PresentationFormat>On-screen Show (16:9)</PresentationFormat>
  <Paragraphs>254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MT</vt:lpstr>
      <vt:lpstr>Calibri</vt:lpstr>
      <vt:lpstr>Courier New</vt:lpstr>
      <vt:lpstr>Times New Roman</vt:lpstr>
      <vt:lpstr>Wingdings</vt:lpstr>
      <vt:lpstr>Office Theme</vt:lpstr>
      <vt:lpstr>JDBC Executing Query &amp; Processing Results</vt:lpstr>
      <vt:lpstr>Objectives</vt:lpstr>
      <vt:lpstr>Stage 2: Query</vt:lpstr>
      <vt:lpstr>Stage 2: Query</vt:lpstr>
      <vt:lpstr>Query: The Statement Object</vt:lpstr>
      <vt:lpstr>Query: The Statement Object</vt:lpstr>
      <vt:lpstr>How to Query the Database?</vt:lpstr>
      <vt:lpstr>How to Query the Database?</vt:lpstr>
      <vt:lpstr>Querying the Database: Examples</vt:lpstr>
      <vt:lpstr>Querying the Database</vt:lpstr>
      <vt:lpstr> Process the Results</vt:lpstr>
      <vt:lpstr>Process the Results: The ResultSet Object</vt:lpstr>
      <vt:lpstr>Process the Results: The ResultSet Object</vt:lpstr>
      <vt:lpstr>Process the Results: The ResultSet Object</vt:lpstr>
      <vt:lpstr>How to Process the Result?</vt:lpstr>
      <vt:lpstr>How to Process the Result?</vt:lpstr>
      <vt:lpstr>Setting up classpath</vt:lpstr>
      <vt:lpstr>Setting up classpath (Contd.).</vt:lpstr>
      <vt:lpstr>Setting up classpath (Contd.).</vt:lpstr>
      <vt:lpstr>Example</vt:lpstr>
      <vt:lpstr>Example (Contd.).</vt:lpstr>
      <vt:lpstr>Example (Contd.).</vt:lpstr>
      <vt:lpstr>Quiz</vt:lpstr>
      <vt:lpstr>Close Connection</vt:lpstr>
      <vt:lpstr>Close Connection</vt:lpstr>
      <vt:lpstr>How to Close the Connection?</vt:lpstr>
      <vt:lpstr>How to Close the Connection?</vt:lpstr>
      <vt:lpstr>How to Close the Connection?</vt:lpstr>
      <vt:lpstr>Quiz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HTML</dc:title>
  <dc:creator>Wipro</dc:creator>
  <cp:lastModifiedBy>staff</cp:lastModifiedBy>
  <cp:revision>6</cp:revision>
  <dcterms:created xsi:type="dcterms:W3CDTF">2024-09-20T05:30:37Z</dcterms:created>
  <dcterms:modified xsi:type="dcterms:W3CDTF">2024-09-20T06:01:30Z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2024-09-20T00:00:00Z</vt:filetime>
  </property>
</Properties>
</file>