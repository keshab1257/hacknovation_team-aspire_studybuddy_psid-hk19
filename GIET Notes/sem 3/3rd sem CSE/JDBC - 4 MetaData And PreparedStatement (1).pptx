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9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0960"/>
          </a:xfrm>
          <a:custGeom>
            <a:avLst/>
            <a:gdLst/>
            <a:ahLst/>
            <a:cxnLst/>
            <a:rect l="l" t="t" r="r" b="b"/>
            <a:pathLst>
              <a:path w="9144000" h="5140960">
                <a:moveTo>
                  <a:pt x="9144000" y="0"/>
                </a:moveTo>
                <a:lnTo>
                  <a:pt x="0" y="0"/>
                </a:lnTo>
                <a:lnTo>
                  <a:pt x="0" y="5140960"/>
                </a:lnTo>
                <a:lnTo>
                  <a:pt x="9144000" y="5140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480" y="1442719"/>
            <a:ext cx="2722880" cy="22860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769359" y="1899919"/>
            <a:ext cx="0" cy="1351280"/>
          </a:xfrm>
          <a:custGeom>
            <a:avLst/>
            <a:gdLst/>
            <a:ahLst/>
            <a:cxnLst/>
            <a:rect l="l" t="t" r="r" b="b"/>
            <a:pathLst>
              <a:path h="1351280">
                <a:moveTo>
                  <a:pt x="0" y="0"/>
                </a:moveTo>
                <a:lnTo>
                  <a:pt x="0" y="1351026"/>
                </a:lnTo>
              </a:path>
            </a:pathLst>
          </a:custGeom>
          <a:ln w="20320">
            <a:solidFill>
              <a:srgbClr val="0038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5499" y="1825624"/>
            <a:ext cx="7493000" cy="550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445" y="229615"/>
            <a:ext cx="6749415" cy="42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heavy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0507" y="996632"/>
            <a:ext cx="8642985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52893" y="4984224"/>
            <a:ext cx="518159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14521" y="4995316"/>
            <a:ext cx="131508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6416" y="4983876"/>
            <a:ext cx="15811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24400" y="1809750"/>
            <a:ext cx="3949065" cy="1039387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955164">
              <a:lnSpc>
                <a:spcPct val="100000"/>
              </a:lnSpc>
              <a:spcBef>
                <a:spcPts val="1145"/>
              </a:spcBef>
            </a:pPr>
            <a:r>
              <a:rPr sz="345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JDBC</a:t>
            </a:r>
            <a:endParaRPr sz="3450" u="sng" dirty="0"/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US" sz="1850" b="0" u="none" spc="-30" dirty="0" err="1" smtClean="0">
                <a:solidFill>
                  <a:srgbClr val="000000"/>
                </a:solidFill>
                <a:latin typeface="Arial MT"/>
                <a:cs typeface="Arial MT"/>
              </a:rPr>
              <a:t>MetaData</a:t>
            </a:r>
            <a:r>
              <a:rPr lang="en-US" sz="1850" b="0" u="none" spc="-30" dirty="0" smtClean="0">
                <a:solidFill>
                  <a:srgbClr val="000000"/>
                </a:solidFill>
                <a:latin typeface="Arial MT"/>
                <a:cs typeface="Arial MT"/>
              </a:rPr>
              <a:t> &amp; </a:t>
            </a:r>
            <a:r>
              <a:rPr lang="en-US" sz="1850" b="0" u="none" spc="-30" dirty="0" err="1" smtClean="0">
                <a:solidFill>
                  <a:srgbClr val="000000"/>
                </a:solidFill>
                <a:latin typeface="Arial MT"/>
                <a:cs typeface="Arial MT"/>
              </a:rPr>
              <a:t>PreparedStatement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36735" y="4983876"/>
            <a:ext cx="121920" cy="1162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z="650" spc="-10" dirty="0">
                <a:solidFill>
                  <a:srgbClr val="4D4E5C"/>
                </a:solidFill>
                <a:latin typeface="Arial MT"/>
                <a:cs typeface="Arial MT"/>
              </a:rPr>
              <a:t>1</a:t>
            </a:fld>
            <a:endParaRPr sz="650">
              <a:latin typeface="Arial MT"/>
              <a:cs typeface="Arial MT"/>
            </a:endParaRPr>
          </a:p>
        </p:txBody>
      </p:sp>
      <p:pic>
        <p:nvPicPr>
          <p:cNvPr id="11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72855" y="7226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79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170751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0" dirty="0"/>
              <a:t>Objectives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744854"/>
            <a:ext cx="8408670" cy="190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5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odu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y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u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il</a:t>
            </a:r>
            <a:r>
              <a:rPr sz="1850" spc="-5" dirty="0">
                <a:latin typeface="Times New Roman"/>
                <a:cs typeface="Times New Roman"/>
              </a:rPr>
              <a:t>l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35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e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755015" marR="5080" indent="-285115">
              <a:lnSpc>
                <a:spcPts val="2160"/>
              </a:lnSpc>
              <a:buClr>
                <a:srgbClr val="00AFEF"/>
              </a:buClr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50" spc="-35" dirty="0">
                <a:latin typeface="Times New Roman"/>
                <a:cs typeface="Times New Roman"/>
              </a:rPr>
              <a:t>Analyze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how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Metadata</a:t>
            </a:r>
            <a:r>
              <a:rPr sz="1850" spc="254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objects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retrieve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more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information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about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4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or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result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AFEF"/>
              </a:buClr>
              <a:buFont typeface="Arial MT"/>
              <a:buChar char="–"/>
            </a:pPr>
            <a:endParaRPr sz="28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buClr>
                <a:srgbClr val="00AFEF"/>
              </a:buClr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50" spc="-20" dirty="0">
                <a:latin typeface="Times New Roman"/>
                <a:cs typeface="Times New Roman"/>
              </a:rPr>
              <a:t>Create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query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using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PreparedStatement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76504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0" dirty="0"/>
              <a:t>The</a:t>
            </a:r>
            <a:r>
              <a:rPr u="sng" spc="-140" dirty="0"/>
              <a:t> </a:t>
            </a:r>
            <a:r>
              <a:rPr u="sng" spc="-25" dirty="0"/>
              <a:t>DatabaseMetaData</a:t>
            </a:r>
            <a:r>
              <a:rPr u="sng" spc="-135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778700"/>
            <a:ext cx="8576945" cy="27539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6379" indent="-234315">
              <a:lnSpc>
                <a:spcPct val="100000"/>
              </a:lnSpc>
              <a:spcBef>
                <a:spcPts val="605"/>
              </a:spcBef>
              <a:buClr>
                <a:srgbClr val="00AFEF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13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bou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  <a:p>
            <a:pPr marL="246379" marR="5080" indent="-234315">
              <a:lnSpc>
                <a:spcPts val="2170"/>
              </a:lnSpc>
              <a:spcBef>
                <a:spcPts val="620"/>
              </a:spcBef>
              <a:buClr>
                <a:srgbClr val="00AFEF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35" dirty="0">
                <a:latin typeface="Times New Roman"/>
                <a:cs typeface="Times New Roman"/>
              </a:rPr>
              <a:t>DatabaseMetaData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to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comprehensive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information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about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database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as </a:t>
            </a:r>
            <a:r>
              <a:rPr sz="1850" spc="-4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5" dirty="0">
                <a:latin typeface="Times New Roman"/>
                <a:cs typeface="Times New Roman"/>
              </a:rPr>
              <a:t>whole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AFEF"/>
              </a:buClr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AFEF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Connection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can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be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-5" dirty="0">
                <a:latin typeface="Times New Roman"/>
                <a:cs typeface="Times New Roman"/>
              </a:rPr>
              <a:t> a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DatabaseMetaData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135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se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onn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-40" dirty="0">
                <a:latin typeface="Times New Roman"/>
                <a:cs typeface="Times New Roman"/>
              </a:rPr>
              <a:t>ti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30" dirty="0">
                <a:latin typeface="Times New Roman"/>
                <a:cs typeface="Times New Roman"/>
              </a:rPr>
              <a:t>n</a:t>
            </a:r>
            <a:r>
              <a:rPr sz="1850" spc="15" dirty="0">
                <a:latin typeface="Times New Roman"/>
                <a:cs typeface="Times New Roman"/>
              </a:rPr>
              <a:t>.</a:t>
            </a:r>
            <a:r>
              <a:rPr sz="1850" spc="-50" dirty="0">
                <a:latin typeface="Times New Roman"/>
                <a:cs typeface="Times New Roman"/>
              </a:rPr>
              <a:t>g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1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6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()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1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5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40" dirty="0">
                <a:latin typeface="Times New Roman"/>
                <a:cs typeface="Times New Roman"/>
              </a:rPr>
              <a:t>j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AFEF"/>
              </a:buClr>
              <a:buFont typeface="Arial MT"/>
              <a:buChar char="•"/>
            </a:pPr>
            <a:endParaRPr sz="2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AFEF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This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provides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more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100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methods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obtain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information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about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database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76631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0" dirty="0"/>
              <a:t>The</a:t>
            </a:r>
            <a:r>
              <a:rPr u="sng" spc="-130" dirty="0"/>
              <a:t> </a:t>
            </a:r>
            <a:r>
              <a:rPr u="sng" spc="-25" dirty="0"/>
              <a:t>DatabaseMetaData</a:t>
            </a:r>
            <a:r>
              <a:rPr u="sng" spc="-135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4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79957"/>
            <a:ext cx="8680450" cy="31000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50" spc="-1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ll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g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me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5" dirty="0">
                <a:latin typeface="Times New Roman"/>
                <a:cs typeface="Times New Roman"/>
              </a:rPr>
              <a:t>p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1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6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hod</a:t>
            </a:r>
            <a:r>
              <a:rPr sz="1850" spc="-5" dirty="0">
                <a:latin typeface="Times New Roman"/>
                <a:cs typeface="Times New Roman"/>
              </a:rPr>
              <a:t>s: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20" dirty="0">
                <a:latin typeface="Times New Roman"/>
                <a:cs typeface="Times New Roman"/>
              </a:rPr>
              <a:t>getColumnPrivileges():</a:t>
            </a:r>
            <a:r>
              <a:rPr sz="1850" b="1" i="1" spc="-9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Get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description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access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rights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table's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columns.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50" dirty="0">
                <a:latin typeface="Times New Roman"/>
                <a:cs typeface="Times New Roman"/>
              </a:rPr>
              <a:t>g</a:t>
            </a:r>
            <a:r>
              <a:rPr sz="1850" b="1" i="1" spc="-25" dirty="0">
                <a:latin typeface="Times New Roman"/>
                <a:cs typeface="Times New Roman"/>
              </a:rPr>
              <a:t>e</a:t>
            </a:r>
            <a:r>
              <a:rPr sz="1850" b="1" i="1" spc="-40" dirty="0">
                <a:latin typeface="Times New Roman"/>
                <a:cs typeface="Times New Roman"/>
              </a:rPr>
              <a:t>t</a:t>
            </a:r>
            <a:r>
              <a:rPr sz="1850" b="1" i="1" spc="-35" dirty="0">
                <a:latin typeface="Times New Roman"/>
                <a:cs typeface="Times New Roman"/>
              </a:rPr>
              <a:t>C</a:t>
            </a:r>
            <a:r>
              <a:rPr sz="1850" b="1" i="1" spc="30" dirty="0">
                <a:latin typeface="Times New Roman"/>
                <a:cs typeface="Times New Roman"/>
              </a:rPr>
              <a:t>o</a:t>
            </a:r>
            <a:r>
              <a:rPr sz="1850" b="1" i="1" spc="-40" dirty="0">
                <a:latin typeface="Times New Roman"/>
                <a:cs typeface="Times New Roman"/>
              </a:rPr>
              <a:t>l</a:t>
            </a:r>
            <a:r>
              <a:rPr sz="1850" b="1" i="1" spc="5" dirty="0">
                <a:latin typeface="Times New Roman"/>
                <a:cs typeface="Times New Roman"/>
              </a:rPr>
              <a:t>u</a:t>
            </a:r>
            <a:r>
              <a:rPr sz="1850" b="1" i="1" spc="-5" dirty="0">
                <a:latin typeface="Times New Roman"/>
                <a:cs typeface="Times New Roman"/>
              </a:rPr>
              <a:t>m</a:t>
            </a:r>
            <a:r>
              <a:rPr sz="1850" b="1" i="1" spc="-70" dirty="0">
                <a:latin typeface="Times New Roman"/>
                <a:cs typeface="Times New Roman"/>
              </a:rPr>
              <a:t>n</a:t>
            </a:r>
            <a:r>
              <a:rPr sz="1850" b="1" i="1" spc="-5" dirty="0">
                <a:latin typeface="Times New Roman"/>
                <a:cs typeface="Times New Roman"/>
              </a:rPr>
              <a:t>s</a:t>
            </a:r>
            <a:r>
              <a:rPr sz="1850" b="1" i="1" spc="20" dirty="0">
                <a:latin typeface="Times New Roman"/>
                <a:cs typeface="Times New Roman"/>
              </a:rPr>
              <a:t>(</a:t>
            </a:r>
            <a:r>
              <a:rPr sz="1850" b="1" i="1" spc="15" dirty="0">
                <a:latin typeface="Times New Roman"/>
                <a:cs typeface="Times New Roman"/>
              </a:rPr>
              <a:t>)</a:t>
            </a:r>
            <a:r>
              <a:rPr sz="1850" b="1" i="1" spc="-5" dirty="0">
                <a:latin typeface="Times New Roman"/>
                <a:cs typeface="Times New Roman"/>
              </a:rPr>
              <a:t>:</a:t>
            </a:r>
            <a:r>
              <a:rPr sz="1850" b="1" i="1" spc="-9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G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0" dirty="0">
                <a:latin typeface="Times New Roman"/>
                <a:cs typeface="Times New Roman"/>
              </a:rPr>
              <a:t>c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p</a:t>
            </a:r>
            <a:r>
              <a:rPr sz="1850" spc="-40" dirty="0">
                <a:latin typeface="Times New Roman"/>
                <a:cs typeface="Times New Roman"/>
              </a:rPr>
              <a:t>ti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s.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9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20" dirty="0">
                <a:latin typeface="Times New Roman"/>
                <a:cs typeface="Times New Roman"/>
              </a:rPr>
              <a:t>getDatabaseProductName():</a:t>
            </a:r>
            <a:r>
              <a:rPr sz="1850" b="1" i="1" spc="-8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Get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name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of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this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product.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50" dirty="0">
                <a:latin typeface="Times New Roman"/>
                <a:cs typeface="Times New Roman"/>
              </a:rPr>
              <a:t>g</a:t>
            </a:r>
            <a:r>
              <a:rPr sz="1850" b="1" i="1" spc="-25" dirty="0">
                <a:latin typeface="Times New Roman"/>
                <a:cs typeface="Times New Roman"/>
              </a:rPr>
              <a:t>e</a:t>
            </a:r>
            <a:r>
              <a:rPr sz="1850" b="1" i="1" spc="-40" dirty="0">
                <a:latin typeface="Times New Roman"/>
                <a:cs typeface="Times New Roman"/>
              </a:rPr>
              <a:t>t</a:t>
            </a:r>
            <a:r>
              <a:rPr sz="1850" b="1" i="1" spc="15" dirty="0">
                <a:latin typeface="Times New Roman"/>
                <a:cs typeface="Times New Roman"/>
              </a:rPr>
              <a:t>D</a:t>
            </a:r>
            <a:r>
              <a:rPr sz="1850" b="1" i="1" spc="-5" dirty="0">
                <a:latin typeface="Times New Roman"/>
                <a:cs typeface="Times New Roman"/>
              </a:rPr>
              <a:t>r</a:t>
            </a:r>
            <a:r>
              <a:rPr sz="1850" b="1" i="1" spc="-35" dirty="0">
                <a:latin typeface="Times New Roman"/>
                <a:cs typeface="Times New Roman"/>
              </a:rPr>
              <a:t>i</a:t>
            </a:r>
            <a:r>
              <a:rPr sz="1850" b="1" i="1" spc="-25" dirty="0">
                <a:latin typeface="Times New Roman"/>
                <a:cs typeface="Times New Roman"/>
              </a:rPr>
              <a:t>ve</a:t>
            </a:r>
            <a:r>
              <a:rPr sz="1850" b="1" i="1" spc="-5" dirty="0">
                <a:latin typeface="Times New Roman"/>
                <a:cs typeface="Times New Roman"/>
              </a:rPr>
              <a:t>r</a:t>
            </a:r>
            <a:r>
              <a:rPr sz="1850" b="1" i="1" spc="20" dirty="0">
                <a:latin typeface="Times New Roman"/>
                <a:cs typeface="Times New Roman"/>
              </a:rPr>
              <a:t>N</a:t>
            </a:r>
            <a:r>
              <a:rPr sz="1850" b="1" i="1" spc="30" dirty="0">
                <a:latin typeface="Times New Roman"/>
                <a:cs typeface="Times New Roman"/>
              </a:rPr>
              <a:t>a</a:t>
            </a:r>
            <a:r>
              <a:rPr sz="1850" b="1" i="1" spc="-5" dirty="0">
                <a:latin typeface="Times New Roman"/>
                <a:cs typeface="Times New Roman"/>
              </a:rPr>
              <a:t>m</a:t>
            </a:r>
            <a:r>
              <a:rPr sz="1850" b="1" i="1" spc="-25" dirty="0">
                <a:latin typeface="Times New Roman"/>
                <a:cs typeface="Times New Roman"/>
              </a:rPr>
              <a:t>e</a:t>
            </a:r>
            <a:r>
              <a:rPr sz="1850" b="1" i="1" spc="15" dirty="0">
                <a:latin typeface="Times New Roman"/>
                <a:cs typeface="Times New Roman"/>
              </a:rPr>
              <a:t>(</a:t>
            </a:r>
            <a:r>
              <a:rPr sz="1850" b="1" i="1" spc="-5" dirty="0">
                <a:latin typeface="Times New Roman"/>
                <a:cs typeface="Times New Roman"/>
              </a:rPr>
              <a:t>)</a:t>
            </a:r>
            <a:r>
              <a:rPr sz="1850" b="1" i="1" spc="-200" dirty="0">
                <a:latin typeface="Times New Roman"/>
                <a:cs typeface="Times New Roman"/>
              </a:rPr>
              <a:t> </a:t>
            </a:r>
            <a:r>
              <a:rPr sz="1850" b="1" i="1" spc="-5" dirty="0">
                <a:latin typeface="Times New Roman"/>
                <a:cs typeface="Times New Roman"/>
              </a:rPr>
              <a:t>:</a:t>
            </a:r>
            <a:r>
              <a:rPr sz="1850" b="1" i="1" spc="-9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G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me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J</a:t>
            </a:r>
            <a:r>
              <a:rPr sz="1850" spc="-60" dirty="0">
                <a:latin typeface="Times New Roman"/>
                <a:cs typeface="Times New Roman"/>
              </a:rPr>
              <a:t>D</a:t>
            </a:r>
            <a:r>
              <a:rPr sz="1850" spc="-114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C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v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60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46379" marR="5080" indent="-234315">
              <a:lnSpc>
                <a:spcPts val="2170"/>
              </a:lnSpc>
              <a:spcBef>
                <a:spcPts val="61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15" dirty="0">
                <a:latin typeface="Times New Roman"/>
                <a:cs typeface="Times New Roman"/>
              </a:rPr>
              <a:t>storesLowerCaseIdentifiers():</a:t>
            </a:r>
            <a:r>
              <a:rPr sz="1850" b="1" i="1" spc="-14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Does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store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mixed-case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SQL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identifiers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lower </a:t>
            </a:r>
            <a:r>
              <a:rPr sz="1850" spc="-44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case?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1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30" dirty="0">
                <a:latin typeface="Times New Roman"/>
                <a:cs typeface="Times New Roman"/>
              </a:rPr>
              <a:t>supportsAlterTableWithAddColumn():</a:t>
            </a:r>
            <a:r>
              <a:rPr sz="1850" b="1" i="1" spc="-6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Is</a:t>
            </a:r>
            <a:r>
              <a:rPr sz="1850" spc="-210" dirty="0">
                <a:latin typeface="Times New Roman"/>
                <a:cs typeface="Times New Roman"/>
              </a:rPr>
              <a:t> </a:t>
            </a:r>
            <a:r>
              <a:rPr sz="1850" spc="-85" dirty="0">
                <a:latin typeface="Times New Roman"/>
                <a:cs typeface="Times New Roman"/>
              </a:rPr>
              <a:t>ALTER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90" dirty="0">
                <a:latin typeface="Times New Roman"/>
                <a:cs typeface="Times New Roman"/>
              </a:rPr>
              <a:t>TABLE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column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supported?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9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20" dirty="0">
                <a:latin typeface="Times New Roman"/>
                <a:cs typeface="Times New Roman"/>
              </a:rPr>
              <a:t>supportsFullOuterJoins():</a:t>
            </a:r>
            <a:r>
              <a:rPr sz="1850" b="1" i="1" spc="-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Are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full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nested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outer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joins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supported?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52958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u="sng" spc="-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to</a:t>
            </a:r>
            <a:r>
              <a:rPr u="sng" spc="-1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obtain</a:t>
            </a:r>
            <a:r>
              <a:rPr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Database</a:t>
            </a:r>
            <a:r>
              <a:rPr u="sng" spc="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Metadata?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5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61632" y="1061783"/>
            <a:ext cx="3757929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140" algn="l"/>
              </a:tabLst>
            </a:pPr>
            <a:r>
              <a:rPr sz="1850" spc="-30" dirty="0">
                <a:solidFill>
                  <a:srgbClr val="00AFEF"/>
                </a:solidFill>
                <a:latin typeface="Times New Roman"/>
                <a:cs typeface="Times New Roman"/>
              </a:rPr>
              <a:t>1.	</a:t>
            </a:r>
            <a:r>
              <a:rPr sz="1850" spc="-90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DatabaseMetaData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1632" y="2466657"/>
            <a:ext cx="446659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140" algn="l"/>
              </a:tabLst>
            </a:pPr>
            <a:r>
              <a:rPr sz="1850" spc="-50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1850" spc="-5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r>
              <a:rPr sz="1850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1850" spc="-140" dirty="0">
                <a:latin typeface="Times New Roman"/>
                <a:cs typeface="Times New Roman"/>
              </a:rPr>
              <a:t>U</a:t>
            </a:r>
            <a:r>
              <a:rPr sz="1850" spc="-10" dirty="0">
                <a:latin typeface="Times New Roman"/>
                <a:cs typeface="Times New Roman"/>
              </a:rPr>
              <a:t>s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40" dirty="0">
                <a:latin typeface="Times New Roman"/>
                <a:cs typeface="Times New Roman"/>
              </a:rPr>
              <a:t>j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140" dirty="0">
                <a:latin typeface="Times New Roman"/>
                <a:cs typeface="Times New Roman"/>
              </a:rPr>
              <a:t>’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hod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o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g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62479" y="2971799"/>
          <a:ext cx="5364477" cy="116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9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48">
                <a:tc gridSpan="4">
                  <a:txBody>
                    <a:bodyPr/>
                    <a:lstStyle/>
                    <a:p>
                      <a:pPr marL="64135" marR="375285">
                        <a:lnSpc>
                          <a:spcPts val="1760"/>
                        </a:lnSpc>
                        <a:spcBef>
                          <a:spcPts val="225"/>
                        </a:spcBef>
                        <a:tabLst>
                          <a:tab pos="969010" algn="l"/>
                        </a:tabLst>
                      </a:pP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DatabaseMetaData</a:t>
                      </a:r>
                      <a:r>
                        <a:rPr sz="1500" spc="-5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dbmd</a:t>
                      </a:r>
                      <a:r>
                        <a:rPr sz="1500" spc="2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1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500" spc="-6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conn.getMetaData(); </a:t>
                      </a:r>
                      <a:r>
                        <a:rPr sz="1500" spc="-88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2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String	</a:t>
                      </a: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s1</a:t>
                      </a:r>
                      <a:r>
                        <a:rPr sz="1500" spc="2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1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500" spc="-4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dbmd</a:t>
                      </a:r>
                      <a:r>
                        <a:rPr sz="1500" spc="1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getURL();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1C2F"/>
                      </a:solidFill>
                      <a:prstDash val="solid"/>
                    </a:lnL>
                    <a:lnR w="12700">
                      <a:solidFill>
                        <a:srgbClr val="001C2F"/>
                      </a:solidFill>
                      <a:prstDash val="solid"/>
                    </a:lnR>
                    <a:lnT w="12700">
                      <a:solidFill>
                        <a:srgbClr val="001C2F"/>
                      </a:solidFill>
                      <a:prstDash val="solid"/>
                    </a:lnT>
                    <a:solidFill>
                      <a:srgbClr val="F8AC8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4">
                <a:tc>
                  <a:txBody>
                    <a:bodyPr/>
                    <a:lstStyle/>
                    <a:p>
                      <a:pPr marL="64135">
                        <a:lnSpc>
                          <a:spcPts val="1630"/>
                        </a:lnSpc>
                      </a:pPr>
                      <a:r>
                        <a:rPr sz="1500" spc="-2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String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1C2F"/>
                      </a:solidFill>
                      <a:prstDash val="solid"/>
                    </a:lnL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s2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630"/>
                        </a:lnSpc>
                      </a:pP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630"/>
                        </a:lnSpc>
                      </a:pP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dbmd.getSQLKeywords();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1C2F"/>
                      </a:solidFill>
                      <a:prstDash val="solid"/>
                    </a:lnR>
                    <a:solidFill>
                      <a:srgbClr val="F8A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753">
                <a:tc>
                  <a:txBody>
                    <a:bodyPr/>
                    <a:lstStyle/>
                    <a:p>
                      <a:pPr marL="6413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1C2F"/>
                      </a:solidFill>
                      <a:prstDash val="solid"/>
                    </a:lnL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b1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dbmd.supportsTransactions();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1C2F"/>
                      </a:solidFill>
                      <a:prstDash val="solid"/>
                    </a:lnR>
                    <a:solidFill>
                      <a:srgbClr val="F8A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53">
                <a:tc>
                  <a:txBody>
                    <a:bodyPr/>
                    <a:lstStyle/>
                    <a:p>
                      <a:pPr marL="6413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1C2F"/>
                      </a:solidFill>
                      <a:prstDash val="solid"/>
                    </a:lnL>
                    <a:lnB w="12700">
                      <a:solidFill>
                        <a:srgbClr val="001C2F"/>
                      </a:solidFill>
                      <a:prstDash val="solid"/>
                    </a:lnB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b2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700">
                      <a:solidFill>
                        <a:srgbClr val="001C2F"/>
                      </a:solidFill>
                      <a:prstDash val="solid"/>
                    </a:lnB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700">
                      <a:solidFill>
                        <a:srgbClr val="001C2F"/>
                      </a:solidFill>
                      <a:prstDash val="solid"/>
                    </a:lnB>
                    <a:solidFill>
                      <a:srgbClr val="F8AC8D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001C2F"/>
                          </a:solidFill>
                          <a:latin typeface="Courier New"/>
                          <a:cs typeface="Courier New"/>
                        </a:rPr>
                        <a:t>dbmd.supportsSelectForUpdate();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1C2F"/>
                      </a:solidFill>
                      <a:prstDash val="solid"/>
                    </a:lnR>
                    <a:lnB w="12700">
                      <a:solidFill>
                        <a:srgbClr val="001C2F"/>
                      </a:solidFill>
                      <a:prstDash val="solid"/>
                    </a:lnB>
                    <a:solidFill>
                      <a:srgbClr val="F8A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79320" y="1722119"/>
            <a:ext cx="4673600" cy="32512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00"/>
              </a:spcBef>
            </a:pPr>
            <a:r>
              <a:rPr sz="1350" spc="-10" dirty="0">
                <a:latin typeface="Courier New"/>
                <a:cs typeface="Courier New"/>
              </a:rPr>
              <a:t>DatabaseMetaData</a:t>
            </a:r>
            <a:r>
              <a:rPr sz="1350" spc="25" dirty="0">
                <a:latin typeface="Courier New"/>
                <a:cs typeface="Courier New"/>
              </a:rPr>
              <a:t> </a:t>
            </a:r>
            <a:r>
              <a:rPr sz="1350" i="1" spc="-10" dirty="0">
                <a:latin typeface="Courier New"/>
                <a:cs typeface="Courier New"/>
              </a:rPr>
              <a:t>dbmd</a:t>
            </a:r>
            <a:r>
              <a:rPr sz="1350" i="1" spc="50" dirty="0">
                <a:latin typeface="Courier New"/>
                <a:cs typeface="Courier New"/>
              </a:rPr>
              <a:t> </a:t>
            </a:r>
            <a:r>
              <a:rPr sz="1350" spc="5" dirty="0">
                <a:latin typeface="Courier New"/>
                <a:cs typeface="Courier New"/>
              </a:rPr>
              <a:t>=</a:t>
            </a:r>
            <a:r>
              <a:rPr sz="1350" spc="-35" dirty="0">
                <a:latin typeface="Courier New"/>
                <a:cs typeface="Courier New"/>
              </a:rPr>
              <a:t> </a:t>
            </a:r>
            <a:r>
              <a:rPr sz="1350" i="1" dirty="0">
                <a:latin typeface="Courier New"/>
                <a:cs typeface="Courier New"/>
              </a:rPr>
              <a:t>conn</a:t>
            </a:r>
            <a:r>
              <a:rPr sz="1350" dirty="0">
                <a:latin typeface="Courier New"/>
                <a:cs typeface="Courier New"/>
              </a:rPr>
              <a:t>.getMetaData();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695" y="156590"/>
            <a:ext cx="476123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0" dirty="0"/>
              <a:t>The</a:t>
            </a:r>
            <a:r>
              <a:rPr u="sng" spc="-160" dirty="0"/>
              <a:t> </a:t>
            </a:r>
            <a:r>
              <a:rPr u="sng" spc="-25" dirty="0"/>
              <a:t>DatabaseMetaData</a:t>
            </a:r>
            <a:r>
              <a:rPr u="sng" spc="-155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80975" y="654049"/>
            <a:ext cx="8692515" cy="435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79" marR="8255" indent="-234315" algn="just">
              <a:lnSpc>
                <a:spcPct val="100000"/>
              </a:lnSpc>
              <a:spcBef>
                <a:spcPts val="1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100" spc="-2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interface </a:t>
            </a:r>
            <a:r>
              <a:rPr sz="1100" spc="1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implemented </a:t>
            </a:r>
            <a:r>
              <a:rPr sz="1100" spc="40" dirty="0">
                <a:latin typeface="Times New Roman"/>
                <a:cs typeface="Times New Roman"/>
              </a:rPr>
              <a:t>by </a:t>
            </a:r>
            <a:r>
              <a:rPr sz="1100" spc="10" dirty="0">
                <a:latin typeface="Times New Roman"/>
                <a:cs typeface="Times New Roman"/>
              </a:rPr>
              <a:t>driver </a:t>
            </a:r>
            <a:r>
              <a:rPr sz="1100" spc="-10" dirty="0">
                <a:latin typeface="Times New Roman"/>
                <a:cs typeface="Times New Roman"/>
              </a:rPr>
              <a:t>vendors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spc="10" dirty="0">
                <a:latin typeface="Times New Roman"/>
                <a:cs typeface="Times New Roman"/>
              </a:rPr>
              <a:t>let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spc="-20" dirty="0">
                <a:latin typeface="Times New Roman"/>
                <a:cs typeface="Times New Roman"/>
              </a:rPr>
              <a:t>know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capabilities </a:t>
            </a:r>
            <a:r>
              <a:rPr sz="1100" dirty="0">
                <a:latin typeface="Times New Roman"/>
                <a:cs typeface="Times New Roman"/>
              </a:rPr>
              <a:t>of a Database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Management </a:t>
            </a:r>
            <a:r>
              <a:rPr sz="1100" spc="5" dirty="0">
                <a:latin typeface="Times New Roman"/>
                <a:cs typeface="Times New Roman"/>
              </a:rPr>
              <a:t>System </a:t>
            </a:r>
            <a:r>
              <a:rPr sz="1100" spc="-10" dirty="0">
                <a:latin typeface="Times New Roman"/>
                <a:cs typeface="Times New Roman"/>
              </a:rPr>
              <a:t>(DBMS)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in </a:t>
            </a:r>
            <a:r>
              <a:rPr sz="1100" spc="5" dirty="0">
                <a:latin typeface="Times New Roman"/>
                <a:cs typeface="Times New Roman"/>
              </a:rPr>
              <a:t>combination </a:t>
            </a:r>
            <a:r>
              <a:rPr sz="1100" spc="25" dirty="0">
                <a:latin typeface="Times New Roman"/>
                <a:cs typeface="Times New Roman"/>
              </a:rPr>
              <a:t>with </a:t>
            </a:r>
            <a:r>
              <a:rPr sz="1100" spc="-2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driver </a:t>
            </a:r>
            <a:r>
              <a:rPr sz="1600" spc="5" dirty="0">
                <a:latin typeface="Times New Roman"/>
                <a:cs typeface="Times New Roman"/>
              </a:rPr>
              <a:t>based </a:t>
            </a:r>
            <a:r>
              <a:rPr sz="1600" spc="-5" dirty="0">
                <a:latin typeface="Times New Roman"/>
                <a:cs typeface="Times New Roman"/>
              </a:rPr>
              <a:t>on </a:t>
            </a:r>
            <a:r>
              <a:rPr sz="1600" spc="-15" dirty="0">
                <a:latin typeface="Times New Roman"/>
                <a:cs typeface="Times New Roman"/>
              </a:rPr>
              <a:t>JDBC </a:t>
            </a:r>
            <a:r>
              <a:rPr sz="1600" spc="-5" dirty="0">
                <a:latin typeface="Times New Roman"/>
                <a:cs typeface="Times New Roman"/>
              </a:rPr>
              <a:t>technology </a:t>
            </a:r>
            <a:r>
              <a:rPr sz="1600" spc="-10" dirty="0">
                <a:latin typeface="Times New Roman"/>
                <a:cs typeface="Times New Roman"/>
              </a:rPr>
              <a:t>("JDBC 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driver") </a:t>
            </a:r>
            <a:r>
              <a:rPr sz="1600" spc="-35" dirty="0">
                <a:latin typeface="Times New Roman"/>
                <a:cs typeface="Times New Roman"/>
              </a:rPr>
              <a:t>that </a:t>
            </a:r>
            <a:r>
              <a:rPr sz="1600" spc="15" dirty="0">
                <a:latin typeface="Times New Roman"/>
                <a:cs typeface="Times New Roman"/>
              </a:rPr>
              <a:t>is </a:t>
            </a:r>
            <a:r>
              <a:rPr sz="1600" spc="-20" dirty="0">
                <a:latin typeface="Times New Roman"/>
                <a:cs typeface="Times New Roman"/>
              </a:rPr>
              <a:t>used </a:t>
            </a:r>
            <a:r>
              <a:rPr sz="1600" spc="5" dirty="0">
                <a:latin typeface="Times New Roman"/>
                <a:cs typeface="Times New Roman"/>
              </a:rPr>
              <a:t>with </a:t>
            </a:r>
            <a:r>
              <a:rPr sz="1600" spc="-10" dirty="0">
                <a:latin typeface="Times New Roman"/>
                <a:cs typeface="Times New Roman"/>
              </a:rPr>
              <a:t>it. Different </a:t>
            </a:r>
            <a:r>
              <a:rPr sz="1600" spc="-5" dirty="0">
                <a:latin typeface="Times New Roman"/>
                <a:cs typeface="Times New Roman"/>
              </a:rPr>
              <a:t>relational </a:t>
            </a:r>
            <a:r>
              <a:rPr sz="1600" spc="-15" dirty="0">
                <a:latin typeface="Times New Roman"/>
                <a:cs typeface="Times New Roman"/>
              </a:rPr>
              <a:t>DBMSs </a:t>
            </a:r>
            <a:r>
              <a:rPr sz="1600" spc="10" dirty="0">
                <a:latin typeface="Times New Roman"/>
                <a:cs typeface="Times New Roman"/>
              </a:rPr>
              <a:t>often </a:t>
            </a:r>
            <a:r>
              <a:rPr sz="1600" spc="5" dirty="0">
                <a:latin typeface="Times New Roman"/>
                <a:cs typeface="Times New Roman"/>
              </a:rPr>
              <a:t>support </a:t>
            </a:r>
            <a:r>
              <a:rPr sz="1600" dirty="0">
                <a:latin typeface="Times New Roman"/>
                <a:cs typeface="Times New Roman"/>
              </a:rPr>
              <a:t>different </a:t>
            </a:r>
            <a:r>
              <a:rPr sz="1600" spc="-10" dirty="0">
                <a:latin typeface="Times New Roman"/>
                <a:cs typeface="Times New Roman"/>
              </a:rPr>
              <a:t>features, </a:t>
            </a:r>
            <a:r>
              <a:rPr sz="1600" spc="5" dirty="0">
                <a:latin typeface="Times New Roman"/>
                <a:cs typeface="Times New Roman"/>
              </a:rPr>
              <a:t>implement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features </a:t>
            </a:r>
            <a:r>
              <a:rPr sz="1600" spc="1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different </a:t>
            </a:r>
            <a:r>
              <a:rPr sz="1600" spc="-5" dirty="0">
                <a:latin typeface="Times New Roman"/>
                <a:cs typeface="Times New Roman"/>
              </a:rPr>
              <a:t>ways, </a:t>
            </a:r>
            <a:r>
              <a:rPr sz="1600" dirty="0">
                <a:latin typeface="Times New Roman"/>
                <a:cs typeface="Times New Roman"/>
              </a:rPr>
              <a:t>and </a:t>
            </a:r>
            <a:r>
              <a:rPr sz="1600" spc="-25" dirty="0">
                <a:latin typeface="Times New Roman"/>
                <a:cs typeface="Times New Roman"/>
              </a:rPr>
              <a:t>use </a:t>
            </a:r>
            <a:r>
              <a:rPr sz="1600" dirty="0">
                <a:latin typeface="Times New Roman"/>
                <a:cs typeface="Times New Roman"/>
              </a:rPr>
              <a:t>different </a:t>
            </a:r>
            <a:r>
              <a:rPr sz="1600" spc="10" dirty="0">
                <a:latin typeface="Times New Roman"/>
                <a:cs typeface="Times New Roman"/>
              </a:rPr>
              <a:t>data </a:t>
            </a:r>
            <a:r>
              <a:rPr sz="1600" spc="-5" dirty="0">
                <a:latin typeface="Times New Roman"/>
                <a:cs typeface="Times New Roman"/>
              </a:rPr>
              <a:t>types. </a:t>
            </a:r>
            <a:r>
              <a:rPr sz="1600" spc="10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addition, a </a:t>
            </a:r>
            <a:r>
              <a:rPr sz="1600" spc="10" dirty="0">
                <a:latin typeface="Times New Roman"/>
                <a:cs typeface="Times New Roman"/>
              </a:rPr>
              <a:t>driver </a:t>
            </a:r>
            <a:r>
              <a:rPr sz="1600" spc="-15" dirty="0">
                <a:latin typeface="Times New Roman"/>
                <a:cs typeface="Times New Roman"/>
              </a:rPr>
              <a:t>may </a:t>
            </a:r>
            <a:r>
              <a:rPr sz="1600" spc="5" dirty="0">
                <a:latin typeface="Times New Roman"/>
                <a:cs typeface="Times New Roman"/>
              </a:rPr>
              <a:t>implement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feature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15" dirty="0">
                <a:latin typeface="Times New Roman"/>
                <a:cs typeface="Times New Roman"/>
              </a:rPr>
              <a:t>top </a:t>
            </a:r>
            <a:r>
              <a:rPr sz="1600" spc="35" dirty="0">
                <a:latin typeface="Times New Roman"/>
                <a:cs typeface="Times New Roman"/>
              </a:rPr>
              <a:t>of </a:t>
            </a:r>
            <a:r>
              <a:rPr sz="1600" spc="10" dirty="0">
                <a:latin typeface="Times New Roman"/>
                <a:cs typeface="Times New Roman"/>
              </a:rPr>
              <a:t>what </a:t>
            </a:r>
            <a:r>
              <a:rPr sz="1600" spc="-20" dirty="0">
                <a:latin typeface="Times New Roman"/>
                <a:cs typeface="Times New Roman"/>
              </a:rPr>
              <a:t>the </a:t>
            </a:r>
            <a:r>
              <a:rPr sz="1600" spc="-15" dirty="0">
                <a:latin typeface="Times New Roman"/>
                <a:cs typeface="Times New Roman"/>
              </a:rPr>
              <a:t>DBMS </a:t>
            </a:r>
            <a:r>
              <a:rPr sz="1600" dirty="0">
                <a:latin typeface="Times New Roman"/>
                <a:cs typeface="Times New Roman"/>
              </a:rPr>
              <a:t>offers. Information returned </a:t>
            </a:r>
            <a:r>
              <a:rPr sz="1600" spc="40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methods </a:t>
            </a:r>
            <a:r>
              <a:rPr sz="1600" spc="15" dirty="0">
                <a:latin typeface="Times New Roman"/>
                <a:cs typeface="Times New Roman"/>
              </a:rPr>
              <a:t>in </a:t>
            </a:r>
            <a:r>
              <a:rPr sz="1600" spc="-5" dirty="0">
                <a:latin typeface="Times New Roman"/>
                <a:cs typeface="Times New Roman"/>
              </a:rPr>
              <a:t>this </a:t>
            </a:r>
            <a:r>
              <a:rPr sz="1600" spc="5" dirty="0">
                <a:latin typeface="Times New Roman"/>
                <a:cs typeface="Times New Roman"/>
              </a:rPr>
              <a:t>interface </a:t>
            </a:r>
            <a:r>
              <a:rPr sz="1600" spc="10" dirty="0">
                <a:latin typeface="Times New Roman"/>
                <a:cs typeface="Times New Roman"/>
              </a:rPr>
              <a:t>applies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20" dirty="0">
                <a:latin typeface="Times New Roman"/>
                <a:cs typeface="Times New Roman"/>
              </a:rPr>
              <a:t>the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capabilities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particular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driver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and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particular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DBMS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working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together.</a:t>
            </a:r>
            <a:endParaRPr sz="1600" dirty="0">
              <a:latin typeface="Times New Roman"/>
              <a:cs typeface="Times New Roman"/>
            </a:endParaRPr>
          </a:p>
          <a:p>
            <a:pPr marL="246379" indent="-234315" algn="just">
              <a:lnSpc>
                <a:spcPct val="100000"/>
              </a:lnSpc>
              <a:spcBef>
                <a:spcPts val="66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user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for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this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interface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commonly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tool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needs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discover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how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deal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with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underlying</a:t>
            </a:r>
          </a:p>
          <a:p>
            <a:pPr marL="246379" algn="just">
              <a:lnSpc>
                <a:spcPct val="100000"/>
              </a:lnSpc>
            </a:pPr>
            <a:r>
              <a:rPr sz="1600" spc="-30" dirty="0">
                <a:latin typeface="Times New Roman"/>
                <a:cs typeface="Times New Roman"/>
              </a:rPr>
              <a:t>DBMS.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This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especially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true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for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applications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that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intended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used</a:t>
            </a:r>
            <a:r>
              <a:rPr sz="1600" spc="5" dirty="0">
                <a:latin typeface="Times New Roman"/>
                <a:cs typeface="Times New Roman"/>
              </a:rPr>
              <a:t> with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more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than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one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DBMS.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65"/>
              </a:spcBef>
            </a:pPr>
            <a:r>
              <a:rPr sz="1600" b="1" spc="-35" dirty="0">
                <a:latin typeface="Times New Roman"/>
                <a:cs typeface="Times New Roman"/>
              </a:rPr>
              <a:t>For</a:t>
            </a:r>
            <a:r>
              <a:rPr sz="1600" b="1" spc="55" dirty="0">
                <a:latin typeface="Times New Roman"/>
                <a:cs typeface="Times New Roman"/>
              </a:rPr>
              <a:t> </a:t>
            </a:r>
            <a:r>
              <a:rPr sz="1600" b="1" spc="-15" dirty="0">
                <a:latin typeface="Times New Roman"/>
                <a:cs typeface="Times New Roman"/>
              </a:rPr>
              <a:t>example:</a:t>
            </a:r>
            <a:endParaRPr sz="1600" dirty="0">
              <a:latin typeface="Times New Roman"/>
              <a:cs typeface="Times New Roman"/>
            </a:endParaRPr>
          </a:p>
          <a:p>
            <a:pPr marL="246379" indent="-234315" algn="just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600" b="1" spc="5" dirty="0">
                <a:latin typeface="Times New Roman"/>
                <a:cs typeface="Times New Roman"/>
              </a:rPr>
              <a:t>getURL():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Returns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URL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for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DBMS</a:t>
            </a:r>
            <a:endParaRPr sz="1600" dirty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  <a:tab pos="24701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getSQLKeywords():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Retrieves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comma-separated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list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all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this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database's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SQL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keywords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that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are</a:t>
            </a:r>
            <a:endParaRPr sz="1600" dirty="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spc="-30" dirty="0">
                <a:latin typeface="Times New Roman"/>
                <a:cs typeface="Times New Roman"/>
              </a:rPr>
              <a:t>NOT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also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SQL92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keywords.</a:t>
            </a:r>
            <a:endParaRPr sz="1600" dirty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  <a:tab pos="24701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supportsTransactions():</a:t>
            </a:r>
            <a:r>
              <a:rPr sz="1600" b="1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Retrieves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whether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database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supports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transactions.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If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not,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invoking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the</a:t>
            </a:r>
            <a:endParaRPr sz="1600" dirty="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spc="-45" dirty="0">
                <a:latin typeface="Times New Roman"/>
                <a:cs typeface="Times New Roman"/>
              </a:rPr>
              <a:t>method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commit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no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use,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isolation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level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TRANSACTION_NONE.</a:t>
            </a:r>
            <a:endParaRPr sz="1600" dirty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  <a:tab pos="247015" algn="l"/>
                <a:tab pos="7905115" algn="l"/>
              </a:tabLst>
            </a:pPr>
            <a:r>
              <a:rPr sz="1600" b="1" dirty="0">
                <a:latin typeface="Times New Roman"/>
                <a:cs typeface="Times New Roman"/>
              </a:rPr>
              <a:t>supportsSelectForUpdate():</a:t>
            </a:r>
            <a:r>
              <a:rPr sz="1600" b="1" spc="5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Retrieves</a:t>
            </a:r>
            <a:r>
              <a:rPr sz="1600" spc="50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whether</a:t>
            </a:r>
            <a:r>
              <a:rPr sz="1600" spc="5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5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5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supports</a:t>
            </a:r>
            <a:r>
              <a:rPr sz="1600" spc="5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5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FOR	</a:t>
            </a:r>
            <a:r>
              <a:rPr sz="1600" spc="-55" dirty="0">
                <a:latin typeface="Times New Roman"/>
                <a:cs typeface="Times New Roman"/>
              </a:rPr>
              <a:t>UPDATE</a:t>
            </a:r>
            <a:endParaRPr sz="1600" dirty="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spc="-30" dirty="0">
                <a:latin typeface="Times New Roman"/>
                <a:cs typeface="Times New Roman"/>
              </a:rPr>
              <a:t>statements.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" y="122618"/>
            <a:ext cx="607060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7020" algn="l"/>
              </a:tabLst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Example	</a:t>
            </a:r>
            <a:r>
              <a:rPr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on</a:t>
            </a:r>
            <a:r>
              <a:rPr u="sng" spc="-6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DatabaseMetaData</a:t>
            </a:r>
            <a:r>
              <a:rPr u="sng" spc="-15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7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61937" y="701738"/>
            <a:ext cx="8662035" cy="410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46520">
              <a:lnSpc>
                <a:spcPct val="1294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import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java.sql.*;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import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java.io.*;</a:t>
            </a:r>
            <a:endParaRPr sz="1600">
              <a:latin typeface="Courier New"/>
              <a:cs typeface="Courier New"/>
            </a:endParaRPr>
          </a:p>
          <a:p>
            <a:pPr marL="470534" marR="5501640" indent="-457834">
              <a:lnSpc>
                <a:spcPct val="131500"/>
              </a:lnSpc>
              <a:spcBef>
                <a:spcPts val="40"/>
              </a:spcBef>
            </a:pPr>
            <a:r>
              <a:rPr sz="1600" spc="-5" dirty="0">
                <a:latin typeface="Courier New"/>
                <a:cs typeface="Courier New"/>
              </a:rPr>
              <a:t>class MakeConnection3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Connection conn;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Statement</a:t>
            </a:r>
            <a:r>
              <a:rPr sz="1600" spc="105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stmt;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String s1, s2;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DatabaseMetaData dbmd;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MakeConnection3()</a:t>
            </a:r>
            <a:r>
              <a:rPr sz="1600" spc="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try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70534" marR="5080" indent="457200">
              <a:lnSpc>
                <a:spcPts val="2570"/>
              </a:lnSpc>
              <a:spcBef>
                <a:spcPts val="110"/>
              </a:spcBef>
            </a:pPr>
            <a:r>
              <a:rPr sz="1600" dirty="0">
                <a:latin typeface="Courier New"/>
                <a:cs typeface="Courier New"/>
              </a:rPr>
              <a:t>Class.forName("oracle.jdbc.driver.OracleDriver");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conn=DriverManager.getConnection("Jdbc:Oracle:thin:@localhost:1521: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25"/>
              </a:lnSpc>
            </a:pPr>
            <a:r>
              <a:rPr sz="1600" spc="-5" dirty="0">
                <a:latin typeface="Courier New"/>
                <a:cs typeface="Courier New"/>
              </a:rPr>
              <a:t>orcl","scott","tiger");</a:t>
            </a:r>
            <a:endParaRPr sz="1600">
              <a:latin typeface="Courier New"/>
              <a:cs typeface="Courier New"/>
            </a:endParaRPr>
          </a:p>
          <a:p>
            <a:pPr marL="6400165">
              <a:lnSpc>
                <a:spcPct val="100000"/>
              </a:lnSpc>
              <a:spcBef>
                <a:spcPts val="565"/>
              </a:spcBef>
            </a:pPr>
            <a:r>
              <a:rPr sz="1600" b="1" spc="-5" dirty="0">
                <a:latin typeface="Courier New"/>
                <a:cs typeface="Courier New"/>
              </a:rPr>
              <a:t>contd..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68052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Example</a:t>
            </a:r>
            <a:r>
              <a:rPr sz="2800" u="sng" spc="2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on 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DatabaseMetadata</a:t>
            </a:r>
            <a:r>
              <a:rPr sz="2800" u="sng" spc="30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  <a:endParaRPr sz="2800" u="sng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8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56932" y="1148778"/>
            <a:ext cx="7216140" cy="3557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3925570">
              <a:lnSpc>
                <a:spcPct val="1336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dbmd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conn.getMetaData();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s1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dbmd.getURL();</a:t>
            </a:r>
            <a:endParaRPr sz="16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Courier New"/>
                <a:cs typeface="Courier New"/>
              </a:rPr>
              <a:t>s2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dbmd.getSQLKeywords();</a:t>
            </a:r>
            <a:endParaRPr sz="1600">
              <a:latin typeface="Courier New"/>
              <a:cs typeface="Courier New"/>
            </a:endParaRPr>
          </a:p>
          <a:p>
            <a:pPr marL="104139" marR="1725295">
              <a:lnSpc>
                <a:spcPct val="130800"/>
              </a:lnSpc>
              <a:spcBef>
                <a:spcPts val="50"/>
              </a:spcBef>
              <a:tabLst>
                <a:tab pos="3403600" algn="l"/>
              </a:tabLst>
            </a:pPr>
            <a:r>
              <a:rPr sz="1600" dirty="0">
                <a:latin typeface="Courier New"/>
                <a:cs typeface="Courier New"/>
              </a:rPr>
              <a:t>boolean b1 = dbmd.supportsTransactions();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boolean b2 = dbmd.supportsSelectForUpdate();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System.out.println("URL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:	"+s1);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System.out.println("SQL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Keywords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:"+s2);</a:t>
            </a:r>
            <a:endParaRPr sz="1600">
              <a:latin typeface="Courier New"/>
              <a:cs typeface="Courier New"/>
            </a:endParaRPr>
          </a:p>
          <a:p>
            <a:pPr marL="104139" marR="5080">
              <a:lnSpc>
                <a:spcPct val="129400"/>
              </a:lnSpc>
              <a:spcBef>
                <a:spcPts val="80"/>
              </a:spcBef>
            </a:pPr>
            <a:r>
              <a:rPr sz="1600" dirty="0">
                <a:latin typeface="Courier New"/>
                <a:cs typeface="Courier New"/>
              </a:rPr>
              <a:t>System.out.println("This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supports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Transactions :</a:t>
            </a:r>
            <a:r>
              <a:rPr sz="1600" spc="7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"+b1);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System.out.println("This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supports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5" dirty="0">
                <a:latin typeface="Courier New"/>
                <a:cs typeface="Courier New"/>
              </a:rPr>
              <a:t>SelectforUpdate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"+b2);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5575935">
              <a:lnSpc>
                <a:spcPct val="100000"/>
              </a:lnSpc>
              <a:spcBef>
                <a:spcPts val="565"/>
              </a:spcBef>
            </a:pPr>
            <a:r>
              <a:rPr sz="1600" b="1" dirty="0">
                <a:latin typeface="Courier New"/>
                <a:cs typeface="Courier New"/>
              </a:rPr>
              <a:t>contd..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34365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Example</a:t>
            </a:r>
            <a:r>
              <a:rPr u="sng" spc="-5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on</a:t>
            </a:r>
            <a:r>
              <a:rPr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DatabaseMetadata</a:t>
            </a:r>
            <a:r>
              <a:rPr u="sng" spc="-204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9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855" y="628713"/>
            <a:ext cx="5372100" cy="322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5570" marR="1533525" indent="-457834">
              <a:lnSpc>
                <a:spcPct val="1294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catch(Exception e)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e.printStackTrace();</a:t>
            </a:r>
            <a:endParaRPr sz="160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class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MetaDataExample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27735" marR="5080" indent="-457834">
              <a:lnSpc>
                <a:spcPct val="129400"/>
              </a:lnSpc>
              <a:spcBef>
                <a:spcPts val="80"/>
              </a:spcBef>
            </a:pPr>
            <a:r>
              <a:rPr sz="1600" dirty="0">
                <a:latin typeface="Courier New"/>
                <a:cs typeface="Courier New"/>
              </a:rPr>
              <a:t>public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static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void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main(String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args[])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new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MakeConnection3();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32" y="196849"/>
            <a:ext cx="679704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Example</a:t>
            </a:r>
            <a:r>
              <a:rPr sz="2800" u="sng" spc="2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on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DatabaseMetadata</a:t>
            </a:r>
            <a:r>
              <a:rPr sz="2800" u="sng" spc="29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  <a:endParaRPr sz="2800" u="sng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971550"/>
            <a:ext cx="6553200" cy="3505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10</a:t>
            </a:fld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81520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55" dirty="0"/>
              <a:t>T</a:t>
            </a:r>
            <a:r>
              <a:rPr u="sng" spc="-20" dirty="0"/>
              <a:t>h</a:t>
            </a:r>
            <a:r>
              <a:rPr u="sng" spc="-5" dirty="0"/>
              <a:t>e</a:t>
            </a:r>
            <a:r>
              <a:rPr u="sng" spc="-130" dirty="0"/>
              <a:t> </a:t>
            </a:r>
            <a:r>
              <a:rPr u="sng" spc="5" dirty="0"/>
              <a:t>R</a:t>
            </a:r>
            <a:r>
              <a:rPr u="sng" spc="-35" dirty="0"/>
              <a:t>es</a:t>
            </a:r>
            <a:r>
              <a:rPr u="sng" spc="-20" dirty="0"/>
              <a:t>u</a:t>
            </a:r>
            <a:r>
              <a:rPr u="sng" spc="-25" dirty="0"/>
              <a:t>l</a:t>
            </a:r>
            <a:r>
              <a:rPr u="sng" spc="-5" dirty="0"/>
              <a:t>tS</a:t>
            </a:r>
            <a:r>
              <a:rPr u="sng" spc="-40" dirty="0"/>
              <a:t>e</a:t>
            </a:r>
            <a:r>
              <a:rPr u="sng" spc="-5" dirty="0"/>
              <a:t>t</a:t>
            </a:r>
            <a:r>
              <a:rPr u="sng" spc="110" dirty="0"/>
              <a:t>M</a:t>
            </a:r>
            <a:r>
              <a:rPr u="sng" spc="-35" dirty="0"/>
              <a:t>e</a:t>
            </a:r>
            <a:r>
              <a:rPr u="sng" spc="-5" dirty="0"/>
              <a:t>t</a:t>
            </a:r>
            <a:r>
              <a:rPr u="sng" spc="-35" dirty="0"/>
              <a:t>a</a:t>
            </a:r>
            <a:r>
              <a:rPr u="sng" spc="-75" dirty="0"/>
              <a:t>D</a:t>
            </a:r>
            <a:r>
              <a:rPr u="sng" spc="-35" dirty="0"/>
              <a:t>a</a:t>
            </a:r>
            <a:r>
              <a:rPr u="sng" spc="-5" dirty="0"/>
              <a:t>ta</a:t>
            </a:r>
            <a:r>
              <a:rPr u="sng" spc="-290" dirty="0"/>
              <a:t> </a:t>
            </a:r>
            <a:r>
              <a:rPr u="sng" spc="-65" dirty="0"/>
              <a:t>O</a:t>
            </a:r>
            <a:r>
              <a:rPr u="sng" spc="-20" dirty="0"/>
              <a:t>b</a:t>
            </a:r>
            <a:r>
              <a:rPr u="sng" spc="-25" dirty="0"/>
              <a:t>j</a:t>
            </a:r>
            <a:r>
              <a:rPr u="sng" spc="-35" dirty="0"/>
              <a:t>ec</a:t>
            </a:r>
            <a:r>
              <a:rPr u="sng" spc="-5" dirty="0"/>
              <a:t>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11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843978"/>
            <a:ext cx="8581390" cy="3238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6379" indent="-234315">
              <a:lnSpc>
                <a:spcPts val="2190"/>
              </a:lnSpc>
              <a:spcBef>
                <a:spcPts val="90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30" dirty="0">
                <a:latin typeface="Times New Roman"/>
                <a:cs typeface="Times New Roman"/>
              </a:rPr>
              <a:t>ResultSetMetaData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interface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which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contains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methods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to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information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about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spc="-20" dirty="0">
                <a:latin typeface="Times New Roman"/>
                <a:cs typeface="Times New Roman"/>
              </a:rPr>
              <a:t>types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properties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columns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3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5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lt</a:t>
            </a:r>
            <a:r>
              <a:rPr sz="1850" spc="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13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6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35" dirty="0">
                <a:latin typeface="Times New Roman"/>
                <a:cs typeface="Times New Roman"/>
              </a:rPr>
              <a:t>j</a:t>
            </a:r>
            <a:r>
              <a:rPr sz="1850" spc="-20" dirty="0">
                <a:latin typeface="Times New Roman"/>
                <a:cs typeface="Times New Roman"/>
              </a:rPr>
              <a:t>ec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p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ov</a:t>
            </a:r>
            <a:r>
              <a:rPr sz="1850" spc="-35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,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ud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35" dirty="0">
                <a:latin typeface="Times New Roman"/>
                <a:cs typeface="Times New Roman"/>
              </a:rPr>
              <a:t>g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1850" spc="-60" dirty="0">
                <a:latin typeface="Times New Roman"/>
                <a:cs typeface="Times New Roman"/>
              </a:rPr>
              <a:t>N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35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1850" spc="-40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mn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0" dirty="0">
                <a:latin typeface="Times New Roman"/>
                <a:cs typeface="Times New Roman"/>
              </a:rPr>
              <a:t>y</a:t>
            </a:r>
            <a:r>
              <a:rPr sz="1850" spc="30" dirty="0">
                <a:latin typeface="Times New Roman"/>
                <a:cs typeface="Times New Roman"/>
              </a:rPr>
              <a:t>p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1850" spc="-40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mn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me</a:t>
            </a:r>
            <a:endParaRPr sz="1850">
              <a:latin typeface="Times New Roman"/>
              <a:cs typeface="Times New Roman"/>
            </a:endParaRPr>
          </a:p>
          <a:p>
            <a:pPr marL="12700" marR="10795" algn="just">
              <a:lnSpc>
                <a:spcPct val="97500"/>
              </a:lnSpc>
              <a:spcBef>
                <a:spcPts val="645"/>
              </a:spcBef>
            </a:pPr>
            <a:r>
              <a:rPr sz="1850" spc="5" dirty="0">
                <a:latin typeface="Times New Roman"/>
                <a:cs typeface="Times New Roman"/>
              </a:rPr>
              <a:t>In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JDBC,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you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ResultSet.getMetaData()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3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return</a:t>
            </a:r>
            <a:r>
              <a:rPr sz="1850" spc="4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45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ResultSetMetaData 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object, which </a:t>
            </a:r>
            <a:r>
              <a:rPr sz="1850" spc="-25" dirty="0">
                <a:latin typeface="Times New Roman"/>
                <a:cs typeface="Times New Roman"/>
              </a:rPr>
              <a:t>describes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data </a:t>
            </a:r>
            <a:r>
              <a:rPr sz="1850" spc="-15" dirty="0">
                <a:latin typeface="Times New Roman"/>
                <a:cs typeface="Times New Roman"/>
              </a:rPr>
              <a:t>coming </a:t>
            </a:r>
            <a:r>
              <a:rPr sz="1850" spc="-25" dirty="0">
                <a:latin typeface="Times New Roman"/>
                <a:cs typeface="Times New Roman"/>
              </a:rPr>
              <a:t>back from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0" dirty="0">
                <a:latin typeface="Times New Roman"/>
                <a:cs typeface="Times New Roman"/>
              </a:rPr>
              <a:t>database </a:t>
            </a:r>
            <a:r>
              <a:rPr sz="1850" spc="-40" dirty="0">
                <a:latin typeface="Times New Roman"/>
                <a:cs typeface="Times New Roman"/>
              </a:rPr>
              <a:t>query. </a:t>
            </a:r>
            <a:r>
              <a:rPr sz="1850" spc="-25" dirty="0">
                <a:latin typeface="Times New Roman"/>
                <a:cs typeface="Times New Roman"/>
              </a:rPr>
              <a:t>This </a:t>
            </a:r>
            <a:r>
              <a:rPr sz="1850" spc="-20" dirty="0">
                <a:latin typeface="Times New Roman"/>
                <a:cs typeface="Times New Roman"/>
              </a:rPr>
              <a:t>object can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used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dirty="0">
                <a:latin typeface="Times New Roman"/>
                <a:cs typeface="Times New Roman"/>
              </a:rPr>
              <a:t>find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out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about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types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properties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columns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49846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u="sng" spc="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u="sng" spc="-10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obtain </a:t>
            </a:r>
            <a:r>
              <a:rPr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ResultSetMetadata?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12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64477" y="1258569"/>
            <a:ext cx="3697604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25" dirty="0">
                <a:solidFill>
                  <a:srgbClr val="00AFEF"/>
                </a:solidFill>
                <a:latin typeface="Times New Roman"/>
                <a:cs typeface="Times New Roman"/>
              </a:rPr>
              <a:t>1.</a:t>
            </a:r>
            <a:r>
              <a:rPr sz="1850" spc="43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50" spc="-9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ResultSetMetaData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477" y="2663761"/>
            <a:ext cx="441706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25" dirty="0">
                <a:solidFill>
                  <a:srgbClr val="00AFEF"/>
                </a:solidFill>
                <a:latin typeface="Times New Roman"/>
                <a:cs typeface="Times New Roman"/>
              </a:rPr>
              <a:t>2.</a:t>
            </a:r>
            <a:r>
              <a:rPr sz="1850" spc="4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Use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object’s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methods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metadata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3879" y="3032759"/>
            <a:ext cx="5415280" cy="1452880"/>
          </a:xfrm>
          <a:prstGeom prst="rect">
            <a:avLst/>
          </a:prstGeom>
          <a:solidFill>
            <a:srgbClr val="F8AC8D"/>
          </a:solidFill>
          <a:ln w="10159">
            <a:solidFill>
              <a:srgbClr val="006FC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64135" marR="1321435" algn="just">
              <a:lnSpc>
                <a:spcPct val="100200"/>
              </a:lnSpc>
              <a:spcBef>
                <a:spcPts val="244"/>
              </a:spcBef>
            </a:pPr>
            <a:r>
              <a:rPr sz="1500" dirty="0">
                <a:latin typeface="Arial MT"/>
                <a:cs typeface="Arial MT"/>
              </a:rPr>
              <a:t>ResultSetMetaData </a:t>
            </a:r>
            <a:r>
              <a:rPr sz="1500" spc="15" dirty="0">
                <a:latin typeface="Arial MT"/>
                <a:cs typeface="Arial MT"/>
              </a:rPr>
              <a:t>rsmd </a:t>
            </a:r>
            <a:r>
              <a:rPr sz="1500" spc="10" dirty="0">
                <a:latin typeface="Arial MT"/>
                <a:cs typeface="Arial MT"/>
              </a:rPr>
              <a:t>= </a:t>
            </a:r>
            <a:r>
              <a:rPr sz="1500" spc="-5" dirty="0">
                <a:latin typeface="Arial MT"/>
                <a:cs typeface="Arial MT"/>
              </a:rPr>
              <a:t>rset.getMetaData(); </a:t>
            </a:r>
            <a:r>
              <a:rPr sz="1500" spc="-405" dirty="0">
                <a:latin typeface="Arial MT"/>
                <a:cs typeface="Arial MT"/>
              </a:rPr>
              <a:t> </a:t>
            </a:r>
            <a:r>
              <a:rPr sz="1500" spc="60" dirty="0">
                <a:latin typeface="Arial MT"/>
                <a:cs typeface="Arial MT"/>
              </a:rPr>
              <a:t>f</a:t>
            </a:r>
            <a:r>
              <a:rPr sz="1500" spc="45" dirty="0">
                <a:latin typeface="Arial MT"/>
                <a:cs typeface="Arial MT"/>
              </a:rPr>
              <a:t>o</a:t>
            </a:r>
            <a:r>
              <a:rPr sz="1500" spc="5" dirty="0">
                <a:latin typeface="Arial MT"/>
                <a:cs typeface="Arial MT"/>
              </a:rPr>
              <a:t>r</a:t>
            </a:r>
            <a:r>
              <a:rPr sz="1500" spc="-12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(i</a:t>
            </a:r>
            <a:r>
              <a:rPr sz="1500" spc="-35" dirty="0">
                <a:latin typeface="Arial MT"/>
                <a:cs typeface="Arial MT"/>
              </a:rPr>
              <a:t>n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40" dirty="0">
                <a:latin typeface="Arial MT"/>
                <a:cs typeface="Arial MT"/>
              </a:rPr>
              <a:t>1</a:t>
            </a:r>
            <a:r>
              <a:rPr sz="1500" spc="5" dirty="0">
                <a:latin typeface="Arial MT"/>
                <a:cs typeface="Arial MT"/>
              </a:rPr>
              <a:t>;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&lt;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45" dirty="0">
                <a:latin typeface="Arial MT"/>
                <a:cs typeface="Arial MT"/>
              </a:rPr>
              <a:t>d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45" dirty="0">
                <a:latin typeface="Arial MT"/>
                <a:cs typeface="Arial MT"/>
              </a:rPr>
              <a:t>ge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35" dirty="0">
                <a:latin typeface="Arial MT"/>
                <a:cs typeface="Arial MT"/>
              </a:rPr>
              <a:t>C</a:t>
            </a:r>
            <a:r>
              <a:rPr sz="1500" spc="45" dirty="0">
                <a:latin typeface="Arial MT"/>
                <a:cs typeface="Arial MT"/>
              </a:rPr>
              <a:t>o</a:t>
            </a:r>
            <a:r>
              <a:rPr sz="1500" spc="-20" dirty="0">
                <a:latin typeface="Arial MT"/>
                <a:cs typeface="Arial MT"/>
              </a:rPr>
              <a:t>l</a:t>
            </a:r>
            <a:r>
              <a:rPr sz="1500" spc="-35" dirty="0">
                <a:latin typeface="Arial MT"/>
                <a:cs typeface="Arial MT"/>
              </a:rPr>
              <a:t>u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-35" dirty="0">
                <a:latin typeface="Arial MT"/>
                <a:cs typeface="Arial MT"/>
              </a:rPr>
              <a:t>n</a:t>
            </a:r>
            <a:r>
              <a:rPr sz="1500" spc="35" dirty="0">
                <a:latin typeface="Arial MT"/>
                <a:cs typeface="Arial MT"/>
              </a:rPr>
              <a:t>C</a:t>
            </a:r>
            <a:r>
              <a:rPr sz="1500" spc="45" dirty="0">
                <a:latin typeface="Arial MT"/>
                <a:cs typeface="Arial MT"/>
              </a:rPr>
              <a:t>o</a:t>
            </a:r>
            <a:r>
              <a:rPr sz="1500" spc="-35" dirty="0">
                <a:latin typeface="Arial MT"/>
                <a:cs typeface="Arial MT"/>
              </a:rPr>
              <a:t>un</a:t>
            </a:r>
            <a:r>
              <a:rPr sz="1500" spc="-25" dirty="0">
                <a:latin typeface="Arial MT"/>
                <a:cs typeface="Arial MT"/>
              </a:rPr>
              <a:t>t()</a:t>
            </a:r>
            <a:r>
              <a:rPr sz="1500" spc="5" dirty="0">
                <a:latin typeface="Arial MT"/>
                <a:cs typeface="Arial MT"/>
              </a:rPr>
              <a:t>;</a:t>
            </a:r>
            <a:r>
              <a:rPr sz="1500" spc="-12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i</a:t>
            </a:r>
            <a:r>
              <a:rPr sz="1500" dirty="0">
                <a:latin typeface="Arial MT"/>
                <a:cs typeface="Arial MT"/>
              </a:rPr>
              <a:t>++</a:t>
            </a:r>
            <a:r>
              <a:rPr sz="1500" spc="5" dirty="0">
                <a:latin typeface="Arial MT"/>
                <a:cs typeface="Arial MT"/>
              </a:rPr>
              <a:t>)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{  </a:t>
            </a:r>
            <a:r>
              <a:rPr sz="1500" spc="-10" dirty="0">
                <a:latin typeface="Arial MT"/>
                <a:cs typeface="Arial MT"/>
              </a:rPr>
              <a:t>String</a:t>
            </a:r>
            <a:r>
              <a:rPr sz="1500" spc="105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colname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rsmd.getColumnName(i);</a:t>
            </a:r>
            <a:endParaRPr sz="1500">
              <a:latin typeface="Arial MT"/>
              <a:cs typeface="Arial MT"/>
            </a:endParaRPr>
          </a:p>
          <a:p>
            <a:pPr marL="166370">
              <a:lnSpc>
                <a:spcPts val="1785"/>
              </a:lnSpc>
              <a:spcBef>
                <a:spcPts val="40"/>
              </a:spcBef>
            </a:pPr>
            <a:r>
              <a:rPr sz="1500" spc="-15" dirty="0">
                <a:latin typeface="Arial MT"/>
                <a:cs typeface="Arial MT"/>
              </a:rPr>
              <a:t>int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coltype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rsmd.getColumnType(i);</a:t>
            </a:r>
            <a:endParaRPr sz="1500">
              <a:latin typeface="Arial MT"/>
              <a:cs typeface="Arial MT"/>
            </a:endParaRPr>
          </a:p>
          <a:p>
            <a:pPr marL="166370">
              <a:lnSpc>
                <a:spcPts val="1785"/>
              </a:lnSpc>
            </a:pPr>
            <a:r>
              <a:rPr sz="1500" spc="20" dirty="0">
                <a:latin typeface="Arial MT"/>
                <a:cs typeface="Arial MT"/>
              </a:rPr>
              <a:t>…</a:t>
            </a:r>
            <a:endParaRPr sz="1500">
              <a:latin typeface="Arial MT"/>
              <a:cs typeface="Arial MT"/>
            </a:endParaRPr>
          </a:p>
          <a:p>
            <a:pPr marL="64135">
              <a:lnSpc>
                <a:spcPct val="100000"/>
              </a:lnSpc>
              <a:spcBef>
                <a:spcPts val="45"/>
              </a:spcBef>
            </a:pPr>
            <a:r>
              <a:rPr sz="1500" spc="5" dirty="0">
                <a:latin typeface="Arial MT"/>
                <a:cs typeface="Arial MT"/>
              </a:rPr>
              <a:t>}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4839" y="1844039"/>
            <a:ext cx="4673600" cy="35560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430"/>
              </a:spcBef>
            </a:pPr>
            <a:r>
              <a:rPr sz="1500" spc="30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-20" dirty="0">
                <a:latin typeface="Arial MT"/>
                <a:cs typeface="Arial MT"/>
              </a:rPr>
              <a:t>lt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5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30" dirty="0">
                <a:latin typeface="Arial MT"/>
                <a:cs typeface="Arial MT"/>
              </a:rPr>
              <a:t>D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10" dirty="0">
                <a:latin typeface="Arial MT"/>
                <a:cs typeface="Arial MT"/>
              </a:rPr>
              <a:t>a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i="1" spc="-20" dirty="0">
                <a:latin typeface="Arial"/>
                <a:cs typeface="Arial"/>
              </a:rPr>
              <a:t>r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105" dirty="0">
                <a:latin typeface="Arial"/>
                <a:cs typeface="Arial"/>
              </a:rPr>
              <a:t>m</a:t>
            </a:r>
            <a:r>
              <a:rPr sz="1500" i="1" spc="10" dirty="0">
                <a:latin typeface="Arial"/>
                <a:cs typeface="Arial"/>
              </a:rPr>
              <a:t>d</a:t>
            </a:r>
            <a:r>
              <a:rPr sz="1500" i="1" spc="-145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i="1" spc="-25" dirty="0">
                <a:latin typeface="Arial"/>
                <a:cs typeface="Arial"/>
              </a:rPr>
              <a:t>r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40" dirty="0">
                <a:latin typeface="Arial"/>
                <a:cs typeface="Arial"/>
              </a:rPr>
              <a:t>e</a:t>
            </a:r>
            <a:r>
              <a:rPr sz="1500" i="1" spc="-15" dirty="0">
                <a:latin typeface="Arial"/>
                <a:cs typeface="Arial"/>
              </a:rPr>
              <a:t>t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40" dirty="0">
                <a:latin typeface="Arial MT"/>
                <a:cs typeface="Arial MT"/>
              </a:rPr>
              <a:t>ge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5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30" dirty="0">
                <a:latin typeface="Arial MT"/>
                <a:cs typeface="Arial MT"/>
              </a:rPr>
              <a:t>D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a();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00253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60" dirty="0"/>
              <a:t> </a:t>
            </a:r>
            <a:r>
              <a:rPr u="sng" spc="-15" dirty="0"/>
              <a:t>on</a:t>
            </a:r>
            <a:r>
              <a:rPr u="sng" spc="-40" dirty="0"/>
              <a:t> </a:t>
            </a:r>
            <a:r>
              <a:rPr u="sng" spc="-15" dirty="0"/>
              <a:t>ResultSetMetaData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13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663638"/>
            <a:ext cx="8438515" cy="410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28335">
              <a:lnSpc>
                <a:spcPct val="1294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import java.sql.*;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class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MakeConnection4{</a:t>
            </a:r>
            <a:endParaRPr sz="1600">
              <a:latin typeface="Courier New"/>
              <a:cs typeface="Courier New"/>
            </a:endParaRPr>
          </a:p>
          <a:p>
            <a:pPr marL="501015" marR="5125085">
              <a:lnSpc>
                <a:spcPct val="131500"/>
              </a:lnSpc>
              <a:spcBef>
                <a:spcPts val="40"/>
              </a:spcBef>
            </a:pPr>
            <a:r>
              <a:rPr sz="1600" spc="-5" dirty="0">
                <a:latin typeface="Courier New"/>
                <a:cs typeface="Courier New"/>
              </a:rPr>
              <a:t>Connection conn;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Statement stmt;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ResultSet rs; 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ResultSetMetaData rsmd;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MakeConnection4(){</a:t>
            </a:r>
            <a:endParaRPr sz="160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65"/>
              </a:spcBef>
            </a:pPr>
            <a:r>
              <a:rPr sz="1600" spc="-5" dirty="0">
                <a:latin typeface="Courier New"/>
                <a:cs typeface="Courier New"/>
              </a:rPr>
              <a:t>try{</a:t>
            </a:r>
            <a:endParaRPr sz="1600">
              <a:latin typeface="Courier New"/>
              <a:cs typeface="Courier New"/>
            </a:endParaRPr>
          </a:p>
          <a:p>
            <a:pPr marL="734695">
              <a:lnSpc>
                <a:spcPct val="100000"/>
              </a:lnSpc>
              <a:spcBef>
                <a:spcPts val="645"/>
              </a:spcBef>
            </a:pPr>
            <a:r>
              <a:rPr sz="1600" spc="-5" dirty="0">
                <a:latin typeface="Courier New"/>
                <a:cs typeface="Courier New"/>
              </a:rPr>
              <a:t>Class.forName("oracle.jdbc.driver.OracleDriver");</a:t>
            </a:r>
            <a:endParaRPr sz="1600">
              <a:latin typeface="Courier New"/>
              <a:cs typeface="Courier New"/>
            </a:endParaRPr>
          </a:p>
          <a:p>
            <a:pPr marL="246379" marR="5080">
              <a:lnSpc>
                <a:spcPct val="100000"/>
              </a:lnSpc>
              <a:spcBef>
                <a:spcPts val="565"/>
              </a:spcBef>
            </a:pPr>
            <a:r>
              <a:rPr sz="1600" spc="-5" dirty="0">
                <a:latin typeface="Courier New"/>
                <a:cs typeface="Courier New"/>
              </a:rPr>
              <a:t>conn=DriverManager.getConnection("Jdbc:Oracle:thin:@localhost:1521: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orcl","scott","tiger");</a:t>
            </a:r>
            <a:endParaRPr sz="1600">
              <a:latin typeface="Courier New"/>
              <a:cs typeface="Courier New"/>
            </a:endParaRPr>
          </a:p>
          <a:p>
            <a:pPr marL="734695">
              <a:lnSpc>
                <a:spcPct val="100000"/>
              </a:lnSpc>
              <a:spcBef>
                <a:spcPts val="645"/>
              </a:spcBef>
            </a:pPr>
            <a:r>
              <a:rPr sz="1600" spc="-5" dirty="0">
                <a:latin typeface="Courier New"/>
                <a:cs typeface="Courier New"/>
              </a:rPr>
              <a:t>stmt=conn.createStatement();</a:t>
            </a:r>
            <a:endParaRPr sz="1600">
              <a:latin typeface="Courier New"/>
              <a:cs typeface="Courier New"/>
            </a:endParaRPr>
          </a:p>
          <a:p>
            <a:pPr marL="734695">
              <a:lnSpc>
                <a:spcPct val="100000"/>
              </a:lnSpc>
              <a:spcBef>
                <a:spcPts val="565"/>
              </a:spcBef>
            </a:pPr>
            <a:r>
              <a:rPr sz="1600" spc="-5" dirty="0">
                <a:latin typeface="Courier New"/>
                <a:cs typeface="Courier New"/>
              </a:rPr>
              <a:t>rs=stmt.executeQuery("Select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*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from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emp");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36397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 </a:t>
            </a:r>
            <a:r>
              <a:rPr u="sng" spc="-15" dirty="0"/>
              <a:t>on</a:t>
            </a:r>
            <a:r>
              <a:rPr u="sng" spc="-5" dirty="0"/>
              <a:t> </a:t>
            </a:r>
            <a:r>
              <a:rPr u="sng" spc="-20" dirty="0"/>
              <a:t>ResultSetMetaData(Contd.).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668" y="1574744"/>
            <a:ext cx="8651875" cy="1824355"/>
            <a:chOff x="233668" y="1574744"/>
            <a:chExt cx="8651875" cy="1824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668" y="1574744"/>
              <a:ext cx="8651263" cy="1823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1818639"/>
              <a:ext cx="8448040" cy="1346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9239" y="1590039"/>
              <a:ext cx="8585200" cy="1747520"/>
            </a:xfrm>
            <a:custGeom>
              <a:avLst/>
              <a:gdLst/>
              <a:ahLst/>
              <a:cxnLst/>
              <a:rect l="l" t="t" r="r" b="b"/>
              <a:pathLst>
                <a:path w="8585200" h="1747520">
                  <a:moveTo>
                    <a:pt x="8585200" y="0"/>
                  </a:moveTo>
                  <a:lnTo>
                    <a:pt x="0" y="0"/>
                  </a:lnTo>
                  <a:lnTo>
                    <a:pt x="0" y="1747520"/>
                  </a:lnTo>
                  <a:lnTo>
                    <a:pt x="8585200" y="1747520"/>
                  </a:lnTo>
                  <a:lnTo>
                    <a:pt x="85852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9239" y="1590039"/>
              <a:ext cx="8585200" cy="1747520"/>
            </a:xfrm>
            <a:custGeom>
              <a:avLst/>
              <a:gdLst/>
              <a:ahLst/>
              <a:cxnLst/>
              <a:rect l="l" t="t" r="r" b="b"/>
              <a:pathLst>
                <a:path w="8585200" h="1747520">
                  <a:moveTo>
                    <a:pt x="0" y="1747520"/>
                  </a:moveTo>
                  <a:lnTo>
                    <a:pt x="8585200" y="1747520"/>
                  </a:lnTo>
                  <a:lnTo>
                    <a:pt x="8585200" y="0"/>
                  </a:lnTo>
                  <a:lnTo>
                    <a:pt x="0" y="0"/>
                  </a:lnTo>
                  <a:lnTo>
                    <a:pt x="0" y="1747520"/>
                  </a:lnTo>
                  <a:close/>
                </a:path>
              </a:pathLst>
            </a:custGeom>
            <a:ln w="10160">
              <a:solidFill>
                <a:srgbClr val="A6A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3695" y="823277"/>
            <a:ext cx="8391525" cy="3879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9580">
              <a:lnSpc>
                <a:spcPts val="1710"/>
              </a:lnSpc>
              <a:spcBef>
                <a:spcPts val="90"/>
              </a:spcBef>
            </a:pPr>
            <a:r>
              <a:rPr sz="1450" spc="-40" dirty="0">
                <a:latin typeface="Courier New"/>
                <a:cs typeface="Courier New"/>
              </a:rPr>
              <a:t>rsmd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rs.getMetaData();</a:t>
            </a:r>
            <a:endParaRPr sz="1450">
              <a:latin typeface="Courier New"/>
              <a:cs typeface="Courier New"/>
            </a:endParaRPr>
          </a:p>
          <a:p>
            <a:pPr marL="541655" marR="2836545">
              <a:lnSpc>
                <a:spcPts val="1680"/>
              </a:lnSpc>
              <a:spcBef>
                <a:spcPts val="80"/>
              </a:spcBef>
            </a:pPr>
            <a:r>
              <a:rPr sz="1450" spc="-25" dirty="0">
                <a:latin typeface="Courier New"/>
                <a:cs typeface="Courier New"/>
              </a:rPr>
              <a:t>int noc </a:t>
            </a:r>
            <a:r>
              <a:rPr sz="1450" spc="-5" dirty="0">
                <a:latin typeface="Courier New"/>
                <a:cs typeface="Courier New"/>
              </a:rPr>
              <a:t>= </a:t>
            </a:r>
            <a:r>
              <a:rPr sz="1450" spc="-35" dirty="0">
                <a:latin typeface="Courier New"/>
                <a:cs typeface="Courier New"/>
              </a:rPr>
              <a:t>rsmd.getColumnCount(); </a:t>
            </a:r>
            <a:r>
              <a:rPr sz="1450" spc="-3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System.out.println("Number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Of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Columns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: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"+noc);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 marL="233679">
              <a:lnSpc>
                <a:spcPts val="1710"/>
              </a:lnSpc>
              <a:spcBef>
                <a:spcPts val="1395"/>
              </a:spcBef>
              <a:tabLst>
                <a:tab pos="2898775" algn="l"/>
              </a:tabLst>
            </a:pPr>
            <a:r>
              <a:rPr sz="1450" spc="-30" dirty="0">
                <a:latin typeface="Courier New"/>
                <a:cs typeface="Courier New"/>
              </a:rPr>
              <a:t>for(int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i=1;i&lt;=noc;i++)	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915035" marR="5080">
              <a:lnSpc>
                <a:spcPts val="1680"/>
              </a:lnSpc>
              <a:spcBef>
                <a:spcPts val="75"/>
              </a:spcBef>
            </a:pPr>
            <a:r>
              <a:rPr sz="1450" spc="-35" dirty="0">
                <a:latin typeface="Courier New"/>
                <a:cs typeface="Courier New"/>
              </a:rPr>
              <a:t>System.out.print("Column </a:t>
            </a:r>
            <a:r>
              <a:rPr sz="1450" spc="-30" dirty="0">
                <a:latin typeface="Courier New"/>
                <a:cs typeface="Courier New"/>
              </a:rPr>
              <a:t>"+i+" </a:t>
            </a:r>
            <a:r>
              <a:rPr sz="1450" spc="-35" dirty="0">
                <a:latin typeface="Courier New"/>
                <a:cs typeface="Courier New"/>
              </a:rPr>
              <a:t>="+rsmd.getColumnName(i)+"; </a:t>
            </a:r>
            <a:r>
              <a:rPr sz="1450" spc="-25" dirty="0">
                <a:latin typeface="Courier New"/>
                <a:cs typeface="Courier New"/>
              </a:rPr>
              <a:t>");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System.out.print("Column </a:t>
            </a:r>
            <a:r>
              <a:rPr sz="1450" spc="-15" dirty="0">
                <a:latin typeface="Courier New"/>
                <a:cs typeface="Courier New"/>
              </a:rPr>
              <a:t>Type </a:t>
            </a:r>
            <a:r>
              <a:rPr sz="1450" spc="-40" dirty="0">
                <a:latin typeface="Courier New"/>
                <a:cs typeface="Courier New"/>
              </a:rPr>
              <a:t>="+rsmd.getColumnType(i)+"; </a:t>
            </a:r>
            <a:r>
              <a:rPr sz="1450" spc="-25" dirty="0">
                <a:latin typeface="Courier New"/>
                <a:cs typeface="Courier New"/>
              </a:rPr>
              <a:t>");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System.out.println("Column </a:t>
            </a:r>
            <a:r>
              <a:rPr sz="1450" spc="-20" dirty="0">
                <a:latin typeface="Courier New"/>
                <a:cs typeface="Courier New"/>
              </a:rPr>
              <a:t>Type</a:t>
            </a:r>
            <a:r>
              <a:rPr sz="1450" spc="-10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Name="+rsmd.getColumnTypeName(i)+";");</a:t>
            </a:r>
            <a:endParaRPr sz="1450">
              <a:latin typeface="Courier New"/>
              <a:cs typeface="Courier New"/>
            </a:endParaRPr>
          </a:p>
          <a:p>
            <a:pPr marL="915035">
              <a:lnSpc>
                <a:spcPts val="1645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ourier New"/>
              <a:cs typeface="Courier New"/>
            </a:endParaRPr>
          </a:p>
          <a:p>
            <a:pPr marL="1843405">
              <a:lnSpc>
                <a:spcPts val="1714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368300" marR="5883275" indent="-356235">
              <a:lnSpc>
                <a:spcPts val="1680"/>
              </a:lnSpc>
              <a:spcBef>
                <a:spcPts val="80"/>
              </a:spcBef>
            </a:pPr>
            <a:r>
              <a:rPr sz="1450" spc="-35" dirty="0">
                <a:latin typeface="Courier New"/>
                <a:cs typeface="Courier New"/>
              </a:rPr>
              <a:t>catch(Exception </a:t>
            </a:r>
            <a:r>
              <a:rPr sz="1450" spc="-25" dirty="0">
                <a:latin typeface="Courier New"/>
                <a:cs typeface="Courier New"/>
              </a:rPr>
              <a:t>e){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5" dirty="0">
                <a:latin typeface="Courier New"/>
                <a:cs typeface="Courier New"/>
              </a:rPr>
              <a:t>e</a:t>
            </a:r>
            <a:r>
              <a:rPr sz="1450" spc="-75" dirty="0">
                <a:latin typeface="Courier New"/>
                <a:cs typeface="Courier New"/>
              </a:rPr>
              <a:t>.</a:t>
            </a:r>
            <a:r>
              <a:rPr sz="1450" spc="5" dirty="0">
                <a:latin typeface="Courier New"/>
                <a:cs typeface="Courier New"/>
              </a:rPr>
              <a:t>p</a:t>
            </a:r>
            <a:r>
              <a:rPr sz="1450" spc="-75" dirty="0">
                <a:latin typeface="Courier New"/>
                <a:cs typeface="Courier New"/>
              </a:rPr>
              <a:t>r</a:t>
            </a:r>
            <a:r>
              <a:rPr sz="1450" spc="5" dirty="0">
                <a:latin typeface="Courier New"/>
                <a:cs typeface="Courier New"/>
              </a:rPr>
              <a:t>i</a:t>
            </a:r>
            <a:r>
              <a:rPr sz="1450" spc="-75" dirty="0">
                <a:latin typeface="Courier New"/>
                <a:cs typeface="Courier New"/>
              </a:rPr>
              <a:t>n</a:t>
            </a:r>
            <a:r>
              <a:rPr sz="1450" spc="5" dirty="0">
                <a:latin typeface="Courier New"/>
                <a:cs typeface="Courier New"/>
              </a:rPr>
              <a:t>t</a:t>
            </a:r>
            <a:r>
              <a:rPr sz="1450" spc="-75" dirty="0">
                <a:latin typeface="Courier New"/>
                <a:cs typeface="Courier New"/>
              </a:rPr>
              <a:t>S</a:t>
            </a:r>
            <a:r>
              <a:rPr sz="1450" spc="5" dirty="0">
                <a:latin typeface="Courier New"/>
                <a:cs typeface="Courier New"/>
              </a:rPr>
              <a:t>t</a:t>
            </a:r>
            <a:r>
              <a:rPr sz="1450" spc="-75" dirty="0">
                <a:latin typeface="Courier New"/>
                <a:cs typeface="Courier New"/>
              </a:rPr>
              <a:t>a</a:t>
            </a:r>
            <a:r>
              <a:rPr sz="1450" spc="5" dirty="0">
                <a:latin typeface="Courier New"/>
                <a:cs typeface="Courier New"/>
              </a:rPr>
              <a:t>c</a:t>
            </a:r>
            <a:r>
              <a:rPr sz="1450" spc="-75" dirty="0">
                <a:latin typeface="Courier New"/>
                <a:cs typeface="Courier New"/>
              </a:rPr>
              <a:t>k</a:t>
            </a:r>
            <a:r>
              <a:rPr sz="1450" spc="5" dirty="0">
                <a:latin typeface="Courier New"/>
                <a:cs typeface="Courier New"/>
              </a:rPr>
              <a:t>T</a:t>
            </a:r>
            <a:r>
              <a:rPr sz="1450" spc="-75" dirty="0">
                <a:latin typeface="Courier New"/>
                <a:cs typeface="Courier New"/>
              </a:rPr>
              <a:t>ra</a:t>
            </a:r>
            <a:r>
              <a:rPr sz="1450" spc="5" dirty="0">
                <a:latin typeface="Courier New"/>
                <a:cs typeface="Courier New"/>
              </a:rPr>
              <a:t>c</a:t>
            </a:r>
            <a:r>
              <a:rPr sz="1450" spc="-75" dirty="0">
                <a:latin typeface="Courier New"/>
                <a:cs typeface="Courier New"/>
              </a:rPr>
              <a:t>e</a:t>
            </a:r>
            <a:r>
              <a:rPr sz="1450" spc="5" dirty="0">
                <a:latin typeface="Courier New"/>
                <a:cs typeface="Courier New"/>
              </a:rPr>
              <a:t>(</a:t>
            </a:r>
            <a:r>
              <a:rPr sz="1450" spc="-75" dirty="0">
                <a:latin typeface="Courier New"/>
                <a:cs typeface="Courier New"/>
              </a:rPr>
              <a:t>)</a:t>
            </a:r>
            <a:r>
              <a:rPr sz="1450" spc="-5" dirty="0">
                <a:latin typeface="Courier New"/>
                <a:cs typeface="Courier New"/>
              </a:rPr>
              <a:t>;</a:t>
            </a:r>
            <a:endParaRPr sz="1450">
              <a:latin typeface="Courier New"/>
              <a:cs typeface="Courier New"/>
            </a:endParaRPr>
          </a:p>
          <a:p>
            <a:pPr marL="22225">
              <a:lnSpc>
                <a:spcPts val="161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368300">
              <a:lnSpc>
                <a:spcPts val="1685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368300">
              <a:lnSpc>
                <a:spcPts val="171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14</a:t>
            </a:fld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52589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8290" algn="l"/>
              </a:tabLst>
            </a:pPr>
            <a:r>
              <a:rPr u="sng" spc="-5" dirty="0"/>
              <a:t>E</a:t>
            </a:r>
            <a:r>
              <a:rPr u="sng" spc="-35" dirty="0"/>
              <a:t>xam</a:t>
            </a:r>
            <a:r>
              <a:rPr u="sng" spc="-20" dirty="0"/>
              <a:t>p</a:t>
            </a:r>
            <a:r>
              <a:rPr u="sng" spc="-25" dirty="0"/>
              <a:t>l</a:t>
            </a:r>
            <a:r>
              <a:rPr u="sng" spc="-5" dirty="0"/>
              <a:t>e</a:t>
            </a:r>
            <a:r>
              <a:rPr u="sng" dirty="0"/>
              <a:t>	</a:t>
            </a:r>
            <a:r>
              <a:rPr u="sng" spc="-20" dirty="0"/>
              <a:t>o</a:t>
            </a:r>
            <a:r>
              <a:rPr u="sng" spc="-5" dirty="0"/>
              <a:t>n</a:t>
            </a:r>
            <a:r>
              <a:rPr u="sng" spc="-30" dirty="0"/>
              <a:t> </a:t>
            </a:r>
            <a:r>
              <a:rPr u="sng" spc="5" dirty="0"/>
              <a:t>R</a:t>
            </a:r>
            <a:r>
              <a:rPr u="sng" spc="-35" dirty="0"/>
              <a:t>es</a:t>
            </a:r>
            <a:r>
              <a:rPr u="sng" spc="-20" dirty="0"/>
              <a:t>u</a:t>
            </a:r>
            <a:r>
              <a:rPr u="sng" spc="-25" dirty="0"/>
              <a:t>l</a:t>
            </a:r>
            <a:r>
              <a:rPr u="sng" spc="-5" dirty="0"/>
              <a:t>tS</a:t>
            </a:r>
            <a:r>
              <a:rPr u="sng" spc="-40" dirty="0"/>
              <a:t>e</a:t>
            </a:r>
            <a:r>
              <a:rPr u="sng" spc="-5" dirty="0"/>
              <a:t>t</a:t>
            </a:r>
            <a:r>
              <a:rPr u="sng" spc="110" dirty="0"/>
              <a:t>M</a:t>
            </a:r>
            <a:r>
              <a:rPr u="sng" spc="-35" dirty="0"/>
              <a:t>e</a:t>
            </a:r>
            <a:r>
              <a:rPr u="sng" spc="-5" dirty="0"/>
              <a:t>t</a:t>
            </a:r>
            <a:r>
              <a:rPr u="sng" spc="-35" dirty="0"/>
              <a:t>a</a:t>
            </a:r>
            <a:r>
              <a:rPr u="sng" spc="-75" dirty="0"/>
              <a:t>D</a:t>
            </a:r>
            <a:r>
              <a:rPr u="sng" spc="-35" dirty="0"/>
              <a:t>a</a:t>
            </a:r>
            <a:r>
              <a:rPr u="sng" spc="-5" dirty="0"/>
              <a:t>ta</a:t>
            </a:r>
            <a:r>
              <a:rPr u="sng" spc="-290" dirty="0"/>
              <a:t> </a:t>
            </a:r>
            <a:r>
              <a:rPr u="sng" spc="-5" dirty="0"/>
              <a:t>(</a:t>
            </a:r>
            <a:r>
              <a:rPr u="sng" spc="5" dirty="0"/>
              <a:t>C</a:t>
            </a:r>
            <a:r>
              <a:rPr u="sng" spc="-20" dirty="0"/>
              <a:t>on</a:t>
            </a:r>
            <a:r>
              <a:rPr u="sng" spc="-5" dirty="0"/>
              <a:t>t</a:t>
            </a:r>
            <a:r>
              <a:rPr u="sng" spc="-20" dirty="0"/>
              <a:t>d</a:t>
            </a:r>
            <a:r>
              <a:rPr u="sng" spc="-25" dirty="0"/>
              <a:t>.</a:t>
            </a:r>
            <a:r>
              <a:rPr u="sng" spc="-5" dirty="0"/>
              <a:t>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15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49237" y="697039"/>
            <a:ext cx="8661400" cy="4067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class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RSMetaDataExample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27735" marR="3300095" indent="-457834">
              <a:lnSpc>
                <a:spcPct val="129400"/>
              </a:lnSpc>
              <a:spcBef>
                <a:spcPts val="80"/>
              </a:spcBef>
            </a:pPr>
            <a:r>
              <a:rPr sz="1600" spc="-5" dirty="0">
                <a:latin typeface="Courier New"/>
                <a:cs typeface="Courier New"/>
              </a:rPr>
              <a:t>public </a:t>
            </a:r>
            <a:r>
              <a:rPr sz="1600" dirty="0">
                <a:latin typeface="Courier New"/>
                <a:cs typeface="Courier New"/>
              </a:rPr>
              <a:t>static void main(String </a:t>
            </a:r>
            <a:r>
              <a:rPr sz="1600" spc="-5" dirty="0">
                <a:latin typeface="Courier New"/>
                <a:cs typeface="Courier New"/>
              </a:rPr>
              <a:t>args[])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new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MakeConnection4();</a:t>
            </a:r>
            <a:endParaRPr sz="160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246379" marR="5080" indent="-234315">
              <a:lnSpc>
                <a:spcPct val="100000"/>
              </a:lnSpc>
              <a:spcBef>
                <a:spcPts val="725"/>
              </a:spcBef>
              <a:buClr>
                <a:srgbClr val="00AFEF"/>
              </a:buClr>
              <a:buFont typeface="Wingdings"/>
              <a:buChar char=""/>
              <a:tabLst>
                <a:tab pos="246379" algn="l"/>
                <a:tab pos="247015" algn="l"/>
              </a:tabLst>
            </a:pPr>
            <a:r>
              <a:rPr sz="1600" spc="-35" dirty="0">
                <a:latin typeface="Times New Roman"/>
                <a:cs typeface="Times New Roman"/>
              </a:rPr>
              <a:t>The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example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shows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how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use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ResultSetMetaData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object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determine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following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information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about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ResultSet:</a:t>
            </a:r>
            <a:endParaRPr sz="1600">
              <a:latin typeface="Times New Roman"/>
              <a:cs typeface="Times New Roman"/>
            </a:endParaRPr>
          </a:p>
          <a:p>
            <a:pPr marL="1161415" lvl="1" indent="-234315">
              <a:lnSpc>
                <a:spcPct val="100000"/>
              </a:lnSpc>
              <a:spcBef>
                <a:spcPts val="650"/>
              </a:spcBef>
              <a:buClr>
                <a:srgbClr val="00AFEF"/>
              </a:buClr>
              <a:buFont typeface="Wingdings"/>
              <a:buChar char=""/>
              <a:tabLst>
                <a:tab pos="1161415" algn="l"/>
                <a:tab pos="1162050" algn="l"/>
              </a:tabLst>
            </a:pPr>
            <a:r>
              <a:rPr sz="1600" spc="-3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number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columns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ResultSet.</a:t>
            </a:r>
            <a:endParaRPr sz="1600">
              <a:latin typeface="Times New Roman"/>
              <a:cs typeface="Times New Roman"/>
            </a:endParaRPr>
          </a:p>
          <a:p>
            <a:pPr marL="1161415" lvl="1" indent="-234315">
              <a:lnSpc>
                <a:spcPct val="100000"/>
              </a:lnSpc>
              <a:spcBef>
                <a:spcPts val="565"/>
              </a:spcBef>
              <a:buClr>
                <a:srgbClr val="00AFEF"/>
              </a:buClr>
              <a:buFont typeface="Wingdings"/>
              <a:buChar char=""/>
              <a:tabLst>
                <a:tab pos="1161415" algn="l"/>
                <a:tab pos="1162050" algn="l"/>
              </a:tabLst>
            </a:pPr>
            <a:r>
              <a:rPr sz="1600" spc="-35" dirty="0">
                <a:latin typeface="Times New Roman"/>
                <a:cs typeface="Times New Roman"/>
              </a:rPr>
              <a:t>The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name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column</a:t>
            </a:r>
            <a:endParaRPr sz="1600">
              <a:latin typeface="Times New Roman"/>
              <a:cs typeface="Times New Roman"/>
            </a:endParaRPr>
          </a:p>
          <a:p>
            <a:pPr marL="1161415" lvl="1" indent="-234315">
              <a:lnSpc>
                <a:spcPct val="100000"/>
              </a:lnSpc>
              <a:spcBef>
                <a:spcPts val="645"/>
              </a:spcBef>
              <a:buClr>
                <a:srgbClr val="00AFEF"/>
              </a:buClr>
              <a:buFont typeface="Wingdings"/>
              <a:buChar char=""/>
              <a:tabLst>
                <a:tab pos="1161415" algn="l"/>
                <a:tab pos="1162050" algn="l"/>
              </a:tabLst>
            </a:pPr>
            <a:r>
              <a:rPr sz="1600" spc="-3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American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National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Standards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Institute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(ANSI)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SQL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type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for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each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column</a:t>
            </a:r>
            <a:endParaRPr sz="16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565"/>
              </a:spcBef>
              <a:buClr>
                <a:srgbClr val="00AFEF"/>
              </a:buClr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1600" b="1" spc="-20" dirty="0">
                <a:latin typeface="Times New Roman"/>
                <a:cs typeface="Times New Roman"/>
              </a:rPr>
              <a:t>java.sql.Types</a:t>
            </a:r>
            <a:endParaRPr sz="1600">
              <a:latin typeface="Times New Roman"/>
              <a:cs typeface="Times New Roman"/>
            </a:endParaRPr>
          </a:p>
          <a:p>
            <a:pPr marL="12700" marR="15240" indent="457834">
              <a:lnSpc>
                <a:spcPct val="100000"/>
              </a:lnSpc>
              <a:spcBef>
                <a:spcPts val="645"/>
              </a:spcBef>
              <a:tabLst>
                <a:tab pos="937894" algn="l"/>
                <a:tab pos="2260600" algn="l"/>
                <a:tab pos="2820035" algn="l"/>
                <a:tab pos="3552190" algn="l"/>
                <a:tab pos="4477385" algn="l"/>
                <a:tab pos="4935220" algn="l"/>
                <a:tab pos="5352415" algn="l"/>
                <a:tab pos="5881370" algn="l"/>
                <a:tab pos="6196330" algn="l"/>
                <a:tab pos="6990080" algn="l"/>
                <a:tab pos="7620000" algn="l"/>
                <a:tab pos="8159750" algn="l"/>
              </a:tabLst>
            </a:pPr>
            <a:r>
              <a:rPr sz="1600" spc="-20" dirty="0">
                <a:latin typeface="Times New Roman"/>
                <a:cs typeface="Times New Roman"/>
              </a:rPr>
              <a:t>T</a:t>
            </a:r>
            <a:r>
              <a:rPr sz="1600" spc="-85" dirty="0">
                <a:latin typeface="Times New Roman"/>
                <a:cs typeface="Times New Roman"/>
              </a:rPr>
              <a:t>h</a:t>
            </a:r>
            <a:r>
              <a:rPr sz="1600" dirty="0">
                <a:latin typeface="Times New Roman"/>
                <a:cs typeface="Times New Roman"/>
              </a:rPr>
              <a:t>e	</a:t>
            </a:r>
            <a:r>
              <a:rPr sz="1600" spc="30" dirty="0">
                <a:latin typeface="Times New Roman"/>
                <a:cs typeface="Times New Roman"/>
              </a:rPr>
              <a:t>j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v</a:t>
            </a:r>
            <a:r>
              <a:rPr sz="1600" spc="1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.</a:t>
            </a:r>
            <a:r>
              <a:rPr sz="1600" spc="1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q</a:t>
            </a:r>
            <a:r>
              <a:rPr sz="1600" spc="30" dirty="0">
                <a:latin typeface="Times New Roman"/>
                <a:cs typeface="Times New Roman"/>
              </a:rPr>
              <a:t>l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r>
              <a:rPr sz="1600" spc="-100" dirty="0">
                <a:latin typeface="Times New Roman"/>
                <a:cs typeface="Times New Roman"/>
              </a:rPr>
              <a:t>T</a:t>
            </a:r>
            <a:r>
              <a:rPr sz="1600" spc="-80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1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	</a:t>
            </a:r>
            <a:r>
              <a:rPr sz="1600" spc="5" dirty="0">
                <a:latin typeface="Times New Roman"/>
                <a:cs typeface="Times New Roman"/>
              </a:rPr>
              <a:t>c</a:t>
            </a:r>
            <a:r>
              <a:rPr sz="1600" spc="30" dirty="0">
                <a:latin typeface="Times New Roman"/>
                <a:cs typeface="Times New Roman"/>
              </a:rPr>
              <a:t>l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	d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spc="-55" dirty="0">
                <a:latin typeface="Times New Roman"/>
                <a:cs typeface="Times New Roman"/>
              </a:rPr>
              <a:t>f</a:t>
            </a:r>
            <a:r>
              <a:rPr sz="1600" spc="30" dirty="0">
                <a:latin typeface="Times New Roman"/>
                <a:cs typeface="Times New Roman"/>
              </a:rPr>
              <a:t>i</a:t>
            </a:r>
            <a:r>
              <a:rPr sz="1600" spc="-85" dirty="0">
                <a:latin typeface="Times New Roman"/>
                <a:cs typeface="Times New Roman"/>
              </a:rPr>
              <a:t>n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	</a:t>
            </a:r>
            <a:r>
              <a:rPr sz="1600" spc="5" dirty="0">
                <a:latin typeface="Times New Roman"/>
                <a:cs typeface="Times New Roman"/>
              </a:rPr>
              <a:t>c</a:t>
            </a:r>
            <a:r>
              <a:rPr sz="1600" spc="75" dirty="0">
                <a:latin typeface="Times New Roman"/>
                <a:cs typeface="Times New Roman"/>
              </a:rPr>
              <a:t>o</a:t>
            </a:r>
            <a:r>
              <a:rPr sz="1600" spc="-85" dirty="0">
                <a:latin typeface="Times New Roman"/>
                <a:cs typeface="Times New Roman"/>
              </a:rPr>
              <a:t>n</a:t>
            </a:r>
            <a:r>
              <a:rPr sz="1600" spc="90" dirty="0">
                <a:latin typeface="Times New Roman"/>
                <a:cs typeface="Times New Roman"/>
              </a:rPr>
              <a:t>s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85" dirty="0">
                <a:latin typeface="Times New Roman"/>
                <a:cs typeface="Times New Roman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n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s	</a:t>
            </a:r>
            <a:r>
              <a:rPr sz="1600" spc="30" dirty="0">
                <a:latin typeface="Times New Roman"/>
                <a:cs typeface="Times New Roman"/>
              </a:rPr>
              <a:t>t</a:t>
            </a:r>
            <a:r>
              <a:rPr sz="1600" spc="-80" dirty="0">
                <a:latin typeface="Times New Roman"/>
                <a:cs typeface="Times New Roman"/>
              </a:rPr>
              <a:t>h</a:t>
            </a:r>
            <a:r>
              <a:rPr sz="1600" spc="8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t	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spc="20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e	</a:t>
            </a:r>
            <a:r>
              <a:rPr sz="1600" spc="-80" dirty="0">
                <a:latin typeface="Times New Roman"/>
                <a:cs typeface="Times New Roman"/>
              </a:rPr>
              <a:t>u</a:t>
            </a:r>
            <a:r>
              <a:rPr sz="1600" spc="15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d	</a:t>
            </a:r>
            <a:r>
              <a:rPr sz="1600" spc="-5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o	</a:t>
            </a:r>
            <a:r>
              <a:rPr sz="1600" spc="30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1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30" dirty="0">
                <a:latin typeface="Times New Roman"/>
                <a:cs typeface="Times New Roman"/>
              </a:rPr>
              <a:t>i</a:t>
            </a:r>
            <a:r>
              <a:rPr sz="1600" spc="20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y	</a:t>
            </a:r>
            <a:r>
              <a:rPr sz="1600" spc="-40" dirty="0">
                <a:latin typeface="Times New Roman"/>
                <a:cs typeface="Times New Roman"/>
              </a:rPr>
              <a:t>AN</a:t>
            </a:r>
            <a:r>
              <a:rPr sz="1600" spc="6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I	</a:t>
            </a:r>
            <a:r>
              <a:rPr sz="1600" spc="-15" dirty="0">
                <a:latin typeface="Times New Roman"/>
                <a:cs typeface="Times New Roman"/>
              </a:rPr>
              <a:t>S</a:t>
            </a:r>
            <a:r>
              <a:rPr sz="1600" spc="40" dirty="0">
                <a:latin typeface="Times New Roman"/>
                <a:cs typeface="Times New Roman"/>
              </a:rPr>
              <a:t>Q</a:t>
            </a:r>
            <a:r>
              <a:rPr sz="1600" dirty="0">
                <a:latin typeface="Times New Roman"/>
                <a:cs typeface="Times New Roman"/>
              </a:rPr>
              <a:t>L	</a:t>
            </a:r>
            <a:r>
              <a:rPr sz="1600" spc="30" dirty="0">
                <a:latin typeface="Times New Roman"/>
                <a:cs typeface="Times New Roman"/>
              </a:rPr>
              <a:t>t</a:t>
            </a:r>
            <a:r>
              <a:rPr sz="1600" spc="-85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spc="20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.  </a:t>
            </a:r>
            <a:r>
              <a:rPr sz="1600" spc="-15" dirty="0">
                <a:latin typeface="Times New Roman"/>
                <a:cs typeface="Times New Roman"/>
              </a:rPr>
              <a:t>ResultSetMetaData.getColumnType()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returns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integer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value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that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corresponds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one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these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constants.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52589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8290" algn="l"/>
              </a:tabLst>
            </a:pPr>
            <a:r>
              <a:rPr u="sng" spc="-5" dirty="0"/>
              <a:t>E</a:t>
            </a:r>
            <a:r>
              <a:rPr u="sng" spc="-35" dirty="0"/>
              <a:t>xam</a:t>
            </a:r>
            <a:r>
              <a:rPr u="sng" spc="-20" dirty="0"/>
              <a:t>p</a:t>
            </a:r>
            <a:r>
              <a:rPr u="sng" spc="-25" dirty="0"/>
              <a:t>l</a:t>
            </a:r>
            <a:r>
              <a:rPr u="sng" spc="-5" dirty="0"/>
              <a:t>e</a:t>
            </a:r>
            <a:r>
              <a:rPr u="sng" dirty="0"/>
              <a:t>	</a:t>
            </a:r>
            <a:r>
              <a:rPr u="sng" spc="-20" dirty="0"/>
              <a:t>o</a:t>
            </a:r>
            <a:r>
              <a:rPr u="sng" spc="-5" dirty="0"/>
              <a:t>n</a:t>
            </a:r>
            <a:r>
              <a:rPr u="sng" spc="-30" dirty="0"/>
              <a:t> </a:t>
            </a:r>
            <a:r>
              <a:rPr u="sng" spc="5" dirty="0"/>
              <a:t>R</a:t>
            </a:r>
            <a:r>
              <a:rPr u="sng" spc="-35" dirty="0"/>
              <a:t>es</a:t>
            </a:r>
            <a:r>
              <a:rPr u="sng" spc="-20" dirty="0"/>
              <a:t>u</a:t>
            </a:r>
            <a:r>
              <a:rPr u="sng" spc="-25" dirty="0"/>
              <a:t>l</a:t>
            </a:r>
            <a:r>
              <a:rPr u="sng" spc="-5" dirty="0"/>
              <a:t>tS</a:t>
            </a:r>
            <a:r>
              <a:rPr u="sng" spc="-40" dirty="0"/>
              <a:t>e</a:t>
            </a:r>
            <a:r>
              <a:rPr u="sng" spc="-5" dirty="0"/>
              <a:t>t</a:t>
            </a:r>
            <a:r>
              <a:rPr u="sng" spc="110" dirty="0"/>
              <a:t>M</a:t>
            </a:r>
            <a:r>
              <a:rPr u="sng" spc="-35" dirty="0"/>
              <a:t>e</a:t>
            </a:r>
            <a:r>
              <a:rPr u="sng" spc="-5" dirty="0"/>
              <a:t>t</a:t>
            </a:r>
            <a:r>
              <a:rPr u="sng" spc="-35" dirty="0"/>
              <a:t>a</a:t>
            </a:r>
            <a:r>
              <a:rPr u="sng" spc="-75" dirty="0"/>
              <a:t>D</a:t>
            </a:r>
            <a:r>
              <a:rPr u="sng" spc="-35" dirty="0"/>
              <a:t>a</a:t>
            </a:r>
            <a:r>
              <a:rPr u="sng" spc="-5" dirty="0"/>
              <a:t>ta</a:t>
            </a:r>
            <a:r>
              <a:rPr u="sng" spc="-290" dirty="0"/>
              <a:t> </a:t>
            </a:r>
            <a:r>
              <a:rPr u="sng" spc="-5" dirty="0"/>
              <a:t>(</a:t>
            </a:r>
            <a:r>
              <a:rPr u="sng" spc="5" dirty="0"/>
              <a:t>C</a:t>
            </a:r>
            <a:r>
              <a:rPr u="sng" spc="-20" dirty="0"/>
              <a:t>on</a:t>
            </a:r>
            <a:r>
              <a:rPr u="sng" spc="-5" dirty="0"/>
              <a:t>t</a:t>
            </a:r>
            <a:r>
              <a:rPr u="sng" spc="-20" dirty="0"/>
              <a:t>d</a:t>
            </a:r>
            <a:r>
              <a:rPr u="sng" spc="-25" dirty="0"/>
              <a:t>.</a:t>
            </a:r>
            <a:r>
              <a:rPr u="sng" spc="-5" dirty="0"/>
              <a:t>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80" y="934719"/>
            <a:ext cx="5974080" cy="383032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16</a:t>
            </a:fld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67017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4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Mapping</a:t>
            </a:r>
            <a:r>
              <a:rPr sz="2800" u="sng" spc="30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Database</a:t>
            </a:r>
            <a:r>
              <a:rPr sz="2800" u="sng" spc="2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6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Types</a:t>
            </a:r>
            <a:r>
              <a:rPr sz="2800" u="sng" spc="6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Java</a:t>
            </a:r>
            <a:r>
              <a:rPr sz="2800" u="sng" spc="14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6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Types</a:t>
            </a:r>
            <a:endParaRPr sz="2800" u="sng" dirty="0"/>
          </a:p>
        </p:txBody>
      </p:sp>
      <p:sp>
        <p:nvSpPr>
          <p:cNvPr id="3" name="object 3"/>
          <p:cNvSpPr txBox="1"/>
          <p:nvPr/>
        </p:nvSpPr>
        <p:spPr>
          <a:xfrm>
            <a:off x="56514" y="735583"/>
            <a:ext cx="8706486" cy="385297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6379" indent="-234315" algn="just">
              <a:lnSpc>
                <a:spcPct val="100000"/>
              </a:lnSpc>
              <a:spcBef>
                <a:spcPts val="605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maps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types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Java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types.</a:t>
            </a:r>
            <a:endParaRPr sz="1850" dirty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ts val="2160"/>
              </a:lnSpc>
              <a:spcBef>
                <a:spcPts val="625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10" dirty="0">
                <a:latin typeface="Times New Roman"/>
                <a:cs typeface="Times New Roman"/>
              </a:rPr>
              <a:t>In </a:t>
            </a:r>
            <a:r>
              <a:rPr sz="1850" spc="-20" dirty="0">
                <a:latin typeface="Times New Roman"/>
                <a:cs typeface="Times New Roman"/>
              </a:rPr>
              <a:t>many </a:t>
            </a:r>
            <a:r>
              <a:rPr sz="1850" spc="-30" dirty="0">
                <a:latin typeface="Times New Roman"/>
                <a:cs typeface="Times New Roman"/>
              </a:rPr>
              <a:t>cases, </a:t>
            </a:r>
            <a:r>
              <a:rPr sz="1850" spc="-35" dirty="0">
                <a:latin typeface="Times New Roman"/>
                <a:cs typeface="Times New Roman"/>
              </a:rPr>
              <a:t>you </a:t>
            </a:r>
            <a:r>
              <a:rPr sz="1850" spc="-20" dirty="0">
                <a:latin typeface="Times New Roman"/>
                <a:cs typeface="Times New Roman"/>
              </a:rPr>
              <a:t>can </a:t>
            </a:r>
            <a:r>
              <a:rPr sz="1850" spc="-25" dirty="0">
                <a:latin typeface="Times New Roman"/>
                <a:cs typeface="Times New Roman"/>
              </a:rPr>
              <a:t>get </a:t>
            </a:r>
            <a:r>
              <a:rPr sz="1850" spc="-20" dirty="0">
                <a:latin typeface="Times New Roman"/>
                <a:cs typeface="Times New Roman"/>
              </a:rPr>
              <a:t>all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columns </a:t>
            </a:r>
            <a:r>
              <a:rPr sz="1850" spc="-60" dirty="0">
                <a:latin typeface="Times New Roman"/>
                <a:cs typeface="Times New Roman"/>
              </a:rPr>
              <a:t>in </a:t>
            </a:r>
            <a:r>
              <a:rPr sz="1850" spc="-35" dirty="0">
                <a:latin typeface="Times New Roman"/>
                <a:cs typeface="Times New Roman"/>
              </a:rPr>
              <a:t>your </a:t>
            </a:r>
            <a:r>
              <a:rPr sz="1850" spc="-20" dirty="0">
                <a:latin typeface="Times New Roman"/>
                <a:cs typeface="Times New Roman"/>
              </a:rPr>
              <a:t>result </a:t>
            </a:r>
            <a:r>
              <a:rPr sz="1850" spc="-10" dirty="0">
                <a:latin typeface="Times New Roman"/>
                <a:cs typeface="Times New Roman"/>
              </a:rPr>
              <a:t>set </a:t>
            </a:r>
            <a:r>
              <a:rPr sz="1850" spc="-15" dirty="0">
                <a:latin typeface="Times New Roman"/>
                <a:cs typeface="Times New Roman"/>
              </a:rPr>
              <a:t>using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getObject() </a:t>
            </a:r>
            <a:r>
              <a:rPr sz="1850" spc="-45" dirty="0">
                <a:latin typeface="Times New Roman"/>
                <a:cs typeface="Times New Roman"/>
              </a:rPr>
              <a:t>or 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getString()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methods </a:t>
            </a:r>
            <a:r>
              <a:rPr sz="1850" spc="15" dirty="0">
                <a:latin typeface="Times New Roman"/>
                <a:cs typeface="Times New Roman"/>
              </a:rPr>
              <a:t>of </a:t>
            </a:r>
            <a:r>
              <a:rPr sz="1850" spc="-25" dirty="0">
                <a:latin typeface="Times New Roman"/>
                <a:cs typeface="Times New Roman"/>
              </a:rPr>
              <a:t>ResultSet.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For performance </a:t>
            </a:r>
            <a:r>
              <a:rPr sz="1850" spc="-20" dirty="0">
                <a:latin typeface="Times New Roman"/>
                <a:cs typeface="Times New Roman"/>
              </a:rPr>
              <a:t>reasons, </a:t>
            </a:r>
            <a:r>
              <a:rPr sz="1850" spc="15" dirty="0">
                <a:latin typeface="Times New Roman"/>
                <a:cs typeface="Times New Roman"/>
              </a:rPr>
              <a:t>or </a:t>
            </a:r>
            <a:r>
              <a:rPr sz="1850" spc="-15" dirty="0">
                <a:latin typeface="Times New Roman"/>
                <a:cs typeface="Times New Roman"/>
              </a:rPr>
              <a:t>because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you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want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114" dirty="0">
                <a:latin typeface="Times New Roman"/>
                <a:cs typeface="Times New Roman"/>
              </a:rPr>
              <a:t>to 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perform </a:t>
            </a:r>
            <a:r>
              <a:rPr sz="1850" spc="-15" dirty="0">
                <a:latin typeface="Times New Roman"/>
                <a:cs typeface="Times New Roman"/>
              </a:rPr>
              <a:t>complex </a:t>
            </a:r>
            <a:r>
              <a:rPr sz="1850" spc="-25" dirty="0">
                <a:latin typeface="Times New Roman"/>
                <a:cs typeface="Times New Roman"/>
              </a:rPr>
              <a:t>calculations, </a:t>
            </a:r>
            <a:r>
              <a:rPr sz="1850" spc="-20" dirty="0">
                <a:latin typeface="Times New Roman"/>
                <a:cs typeface="Times New Roman"/>
              </a:rPr>
              <a:t>it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sometimes </a:t>
            </a:r>
            <a:r>
              <a:rPr sz="1850" spc="-30" dirty="0">
                <a:latin typeface="Times New Roman"/>
                <a:cs typeface="Times New Roman"/>
              </a:rPr>
              <a:t>important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15" dirty="0">
                <a:latin typeface="Times New Roman"/>
                <a:cs typeface="Times New Roman"/>
              </a:rPr>
              <a:t>have </a:t>
            </a:r>
            <a:r>
              <a:rPr sz="1850" spc="-20" dirty="0">
                <a:latin typeface="Times New Roman"/>
                <a:cs typeface="Times New Roman"/>
              </a:rPr>
              <a:t>your </a:t>
            </a:r>
            <a:r>
              <a:rPr sz="1850" spc="-10" dirty="0">
                <a:latin typeface="Times New Roman"/>
                <a:cs typeface="Times New Roman"/>
              </a:rPr>
              <a:t>data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35" dirty="0">
                <a:latin typeface="Times New Roman"/>
                <a:cs typeface="Times New Roman"/>
              </a:rPr>
              <a:t>type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exactly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matches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column.</a:t>
            </a: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607060" marR="3258185" indent="-254635">
              <a:lnSpc>
                <a:spcPct val="101200"/>
              </a:lnSpc>
              <a:spcBef>
                <a:spcPts val="1405"/>
              </a:spcBef>
            </a:pP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ResultSet rset </a:t>
            </a:r>
            <a:r>
              <a:rPr sz="1650" spc="15" dirty="0">
                <a:solidFill>
                  <a:srgbClr val="001C2F"/>
                </a:solidFill>
                <a:latin typeface="Courier New"/>
                <a:cs typeface="Courier New"/>
              </a:rPr>
              <a:t>=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stmt.executeQuery </a:t>
            </a: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("select</a:t>
            </a:r>
            <a:r>
              <a:rPr sz="1650" spc="-25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10" dirty="0">
                <a:solidFill>
                  <a:srgbClr val="001C2F"/>
                </a:solidFill>
                <a:latin typeface="Courier New"/>
                <a:cs typeface="Courier New"/>
              </a:rPr>
              <a:t>ID,</a:t>
            </a:r>
            <a:r>
              <a:rPr sz="1650" spc="-10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5" dirty="0">
                <a:solidFill>
                  <a:srgbClr val="001C2F"/>
                </a:solidFill>
                <a:latin typeface="Courier New"/>
                <a:cs typeface="Courier New"/>
              </a:rPr>
              <a:t>DATE_OF_JOIN,</a:t>
            </a:r>
            <a:r>
              <a:rPr sz="1650" spc="-95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SUPERVISOR </a:t>
            </a:r>
            <a:r>
              <a:rPr sz="1650" spc="-98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from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 STUDENT");</a:t>
            </a:r>
            <a:endParaRPr sz="16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 dirty="0">
              <a:latin typeface="Courier New"/>
              <a:cs typeface="Courier New"/>
            </a:endParaRPr>
          </a:p>
          <a:p>
            <a:pPr marL="353060">
              <a:lnSpc>
                <a:spcPct val="100000"/>
              </a:lnSpc>
              <a:spcBef>
                <a:spcPts val="5"/>
              </a:spcBef>
            </a:pPr>
            <a:r>
              <a:rPr sz="1650" spc="10" dirty="0">
                <a:solidFill>
                  <a:srgbClr val="001C2F"/>
                </a:solidFill>
                <a:latin typeface="Courier New"/>
                <a:cs typeface="Courier New"/>
              </a:rPr>
              <a:t>int</a:t>
            </a:r>
            <a:r>
              <a:rPr sz="1650" spc="-10" dirty="0">
                <a:solidFill>
                  <a:srgbClr val="001C2F"/>
                </a:solidFill>
                <a:latin typeface="Courier New"/>
                <a:cs typeface="Courier New"/>
              </a:rPr>
              <a:t> id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15" dirty="0">
                <a:solidFill>
                  <a:srgbClr val="001C2F"/>
                </a:solidFill>
                <a:latin typeface="Courier New"/>
                <a:cs typeface="Courier New"/>
              </a:rPr>
              <a:t>=</a:t>
            </a:r>
            <a:r>
              <a:rPr sz="1650" spc="-95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rset.getInt(1);</a:t>
            </a:r>
            <a:endParaRPr sz="1650" dirty="0">
              <a:latin typeface="Courier New"/>
              <a:cs typeface="Courier New"/>
            </a:endParaRPr>
          </a:p>
          <a:p>
            <a:pPr marL="353060" marR="3882390">
              <a:lnSpc>
                <a:spcPct val="101099"/>
              </a:lnSpc>
            </a:pP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Date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rentaldate </a:t>
            </a:r>
            <a:r>
              <a:rPr sz="1650" spc="15" dirty="0">
                <a:solidFill>
                  <a:srgbClr val="001C2F"/>
                </a:solidFill>
                <a:latin typeface="Courier New"/>
                <a:cs typeface="Courier New"/>
              </a:rPr>
              <a:t>=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rset.getDate(2); </a:t>
            </a:r>
            <a:r>
              <a:rPr sz="1650" spc="-98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String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001C2F"/>
                </a:solidFill>
                <a:latin typeface="Courier New"/>
                <a:cs typeface="Courier New"/>
              </a:rPr>
              <a:t>status</a:t>
            </a:r>
            <a:r>
              <a:rPr sz="165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15" dirty="0">
                <a:solidFill>
                  <a:srgbClr val="001C2F"/>
                </a:solidFill>
                <a:latin typeface="Courier New"/>
                <a:cs typeface="Courier New"/>
              </a:rPr>
              <a:t>=</a:t>
            </a:r>
            <a:r>
              <a:rPr sz="1650" spc="-20" dirty="0">
                <a:solidFill>
                  <a:srgbClr val="001C2F"/>
                </a:solidFill>
                <a:latin typeface="Courier New"/>
                <a:cs typeface="Courier New"/>
              </a:rPr>
              <a:t> </a:t>
            </a:r>
            <a:r>
              <a:rPr sz="1650" spc="-5" dirty="0">
                <a:solidFill>
                  <a:srgbClr val="001C2F"/>
                </a:solidFill>
                <a:latin typeface="Courier New"/>
                <a:cs typeface="Courier New"/>
              </a:rPr>
              <a:t>rset.getString(3);</a:t>
            </a:r>
            <a:endParaRPr sz="1650" dirty="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488819"/>
              </p:ext>
            </p:extLst>
          </p:nvPr>
        </p:nvGraphicFramePr>
        <p:xfrm>
          <a:off x="5537835" y="2485009"/>
          <a:ext cx="2920364" cy="1696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FC0"/>
                      </a:solidFill>
                      <a:prstDash val="solid"/>
                    </a:lnL>
                    <a:lnT w="38100">
                      <a:solidFill>
                        <a:srgbClr val="006F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589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spc="-20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Col</a:t>
                      </a:r>
                      <a:r>
                        <a:rPr sz="1600" b="1" spc="20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30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R w="53975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spc="-15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539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6FC0"/>
                      </a:solidFill>
                      <a:prstDash val="solid"/>
                    </a:lnL>
                    <a:lnT w="38100">
                      <a:solidFill>
                        <a:srgbClr val="006F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779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600" b="1" spc="-45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R w="53975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600" b="1" spc="-20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NUMBER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539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 gridSpan="2"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600" b="1" spc="-20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DATE_OF_JOIN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38100">
                      <a:solidFill>
                        <a:srgbClr val="006FC0"/>
                      </a:solidFill>
                      <a:prstDash val="solid"/>
                    </a:lnL>
                    <a:lnR w="53975">
                      <a:solidFill>
                        <a:srgbClr val="006FC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600" b="1" spc="-45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539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FC0"/>
                      </a:solidFill>
                      <a:prstDash val="solid"/>
                    </a:lnL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b="1" spc="-25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SUPERVISOR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R w="53975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b="1" spc="-65" dirty="0">
                          <a:solidFill>
                            <a:srgbClr val="00385F"/>
                          </a:solidFill>
                          <a:latin typeface="Arial"/>
                          <a:cs typeface="Arial"/>
                        </a:rPr>
                        <a:t>VARCHAR2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539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38100">
                      <a:solidFill>
                        <a:srgbClr val="006FC0"/>
                      </a:solidFill>
                      <a:prstDash val="solid"/>
                    </a:lnT>
                    <a:lnB w="38100">
                      <a:solidFill>
                        <a:srgbClr val="006F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17</a:t>
            </a:fld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769683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10" dirty="0"/>
              <a:t>M</a:t>
            </a:r>
            <a:r>
              <a:rPr u="sng" spc="-35" dirty="0"/>
              <a:t>a</a:t>
            </a:r>
            <a:r>
              <a:rPr u="sng" spc="-20" dirty="0"/>
              <a:t>pp</a:t>
            </a:r>
            <a:r>
              <a:rPr u="sng" spc="-25" dirty="0"/>
              <a:t>i</a:t>
            </a:r>
            <a:r>
              <a:rPr u="sng" spc="-20" dirty="0"/>
              <a:t>n</a:t>
            </a:r>
            <a:r>
              <a:rPr u="sng" spc="-5" dirty="0"/>
              <a:t>g</a:t>
            </a:r>
            <a:r>
              <a:rPr u="sng" spc="-190" dirty="0"/>
              <a:t> </a:t>
            </a:r>
            <a:r>
              <a:rPr u="sng" spc="-75" dirty="0"/>
              <a:t>D</a:t>
            </a:r>
            <a:r>
              <a:rPr u="sng" spc="-35" dirty="0"/>
              <a:t>a</a:t>
            </a:r>
            <a:r>
              <a:rPr u="sng" spc="-5" dirty="0"/>
              <a:t>t</a:t>
            </a:r>
            <a:r>
              <a:rPr u="sng" spc="-35" dirty="0"/>
              <a:t>a</a:t>
            </a:r>
            <a:r>
              <a:rPr u="sng" spc="-20" dirty="0"/>
              <a:t>b</a:t>
            </a:r>
            <a:r>
              <a:rPr u="sng" spc="-35" dirty="0"/>
              <a:t>as</a:t>
            </a:r>
            <a:r>
              <a:rPr u="sng" spc="-5" dirty="0"/>
              <a:t>e</a:t>
            </a:r>
            <a:r>
              <a:rPr u="sng" spc="-50" dirty="0"/>
              <a:t> </a:t>
            </a:r>
            <a:r>
              <a:rPr u="sng" spc="-100" dirty="0"/>
              <a:t>T</a:t>
            </a:r>
            <a:r>
              <a:rPr u="sng" spc="45" dirty="0"/>
              <a:t>y</a:t>
            </a:r>
            <a:r>
              <a:rPr u="sng" spc="-20" dirty="0"/>
              <a:t>p</a:t>
            </a:r>
            <a:r>
              <a:rPr u="sng" spc="-35" dirty="0"/>
              <a:t>e</a:t>
            </a:r>
            <a:r>
              <a:rPr u="sng" spc="-5" dirty="0"/>
              <a:t>s</a:t>
            </a:r>
            <a:r>
              <a:rPr u="sng" spc="-204" dirty="0"/>
              <a:t> </a:t>
            </a:r>
            <a:r>
              <a:rPr u="sng" spc="-5" dirty="0"/>
              <a:t>to</a:t>
            </a:r>
            <a:r>
              <a:rPr u="sng" spc="-30" dirty="0"/>
              <a:t> </a:t>
            </a:r>
            <a:r>
              <a:rPr u="sng" spc="-35" dirty="0"/>
              <a:t>Ja</a:t>
            </a:r>
            <a:r>
              <a:rPr u="sng" spc="45" dirty="0"/>
              <a:t>v</a:t>
            </a:r>
            <a:r>
              <a:rPr u="sng" spc="-5" dirty="0"/>
              <a:t>a</a:t>
            </a:r>
            <a:r>
              <a:rPr u="sng" spc="-130" dirty="0"/>
              <a:t> </a:t>
            </a:r>
            <a:r>
              <a:rPr u="sng" spc="-100" dirty="0"/>
              <a:t>T</a:t>
            </a:r>
            <a:r>
              <a:rPr u="sng" spc="45" dirty="0"/>
              <a:t>y</a:t>
            </a:r>
            <a:r>
              <a:rPr u="sng" spc="-20" dirty="0"/>
              <a:t>p</a:t>
            </a:r>
            <a:r>
              <a:rPr u="sng" spc="-35" dirty="0"/>
              <a:t>e</a:t>
            </a:r>
            <a:r>
              <a:rPr u="sng" spc="-5" dirty="0"/>
              <a:t>s</a:t>
            </a:r>
            <a:r>
              <a:rPr u="sng" spc="-204" dirty="0"/>
              <a:t> </a:t>
            </a:r>
            <a:r>
              <a:rPr u="sng" spc="-5" dirty="0"/>
              <a:t>(</a:t>
            </a:r>
            <a:r>
              <a:rPr u="sng" spc="5" dirty="0"/>
              <a:t>C</a:t>
            </a:r>
            <a:r>
              <a:rPr u="sng" spc="-20" dirty="0"/>
              <a:t>on</a:t>
            </a:r>
            <a:r>
              <a:rPr u="sng" spc="-5" dirty="0"/>
              <a:t>t</a:t>
            </a:r>
            <a:r>
              <a:rPr u="sng" spc="-20" dirty="0"/>
              <a:t>d</a:t>
            </a:r>
            <a:r>
              <a:rPr u="sng" spc="-25" dirty="0"/>
              <a:t>.</a:t>
            </a:r>
            <a:r>
              <a:rPr u="sng" spc="-5" dirty="0"/>
              <a:t>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18</a:t>
            </a:fld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996155"/>
              </p:ext>
            </p:extLst>
          </p:nvPr>
        </p:nvGraphicFramePr>
        <p:xfrm>
          <a:off x="1371601" y="739774"/>
          <a:ext cx="5652769" cy="4084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9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648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sz="1000" b="1" spc="7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000" b="1" spc="-2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FFFF00"/>
                      </a:solidFill>
                      <a:prstDash val="solid"/>
                    </a:lnL>
                    <a:lnR w="635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000" b="1" spc="4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000" b="1" spc="-2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FFFF00"/>
                      </a:solidFill>
                      <a:prstDash val="solid"/>
                    </a:lnL>
                    <a:lnR w="635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5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6350">
                      <a:solidFill>
                        <a:srgbClr val="FFFF00"/>
                      </a:solidFill>
                      <a:prstDash val="solid"/>
                    </a:lnL>
                    <a:lnR w="635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b="1" spc="2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Simply</a:t>
                      </a:r>
                      <a:r>
                        <a:rPr sz="1000" b="1" spc="-4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mappable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FFFF00"/>
                      </a:solidFill>
                      <a:prstDash val="solid"/>
                    </a:lnL>
                    <a:lnR w="635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b="1" spc="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Object</a:t>
                      </a:r>
                      <a:r>
                        <a:rPr sz="1000" b="1" spc="-1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mappable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FFFF00"/>
                      </a:solidFill>
                      <a:prstDash val="solid"/>
                    </a:lnL>
                    <a:lnR w="635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CHARACTER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VARCHAR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1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1100" spc="-8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1100" spc="50" dirty="0">
                          <a:latin typeface="Arial MT"/>
                          <a:cs typeface="Arial MT"/>
                        </a:rPr>
                        <a:t>VA</a:t>
                      </a:r>
                      <a:r>
                        <a:rPr sz="1100" spc="-80" dirty="0">
                          <a:latin typeface="Arial MT"/>
                          <a:cs typeface="Arial MT"/>
                        </a:rPr>
                        <a:t>RCH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</a:t>
                      </a: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499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NUMERIC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40" dirty="0">
                          <a:latin typeface="Arial MT"/>
                          <a:cs typeface="Arial MT"/>
                        </a:rPr>
                        <a:t>v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1100" spc="-9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10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4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100" spc="-9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spc="7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</a:t>
                      </a: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spc="-30" dirty="0">
                          <a:latin typeface="Arial MT"/>
                          <a:cs typeface="Arial MT"/>
                        </a:rPr>
                        <a:t>DECIMAL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40" dirty="0">
                          <a:latin typeface="Arial MT"/>
                          <a:cs typeface="Arial MT"/>
                        </a:rPr>
                        <a:t>v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1100" spc="-9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100" spc="-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4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100" spc="-9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spc="7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</a:t>
                      </a: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BIT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boolean</a:t>
                      </a: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Boolean</a:t>
                      </a: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TINYINT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15" dirty="0">
                          <a:latin typeface="Arial MT"/>
                          <a:cs typeface="Arial MT"/>
                        </a:rPr>
                        <a:t>byte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Integer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SMALLINT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20" dirty="0">
                          <a:latin typeface="Arial MT"/>
                          <a:cs typeface="Arial MT"/>
                        </a:rPr>
                        <a:t>short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Integer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INTEGER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Integer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40" dirty="0">
                          <a:latin typeface="Arial MT"/>
                          <a:cs typeface="Arial MT"/>
                        </a:rPr>
                        <a:t>BIGINT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long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Long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5" dirty="0">
                          <a:latin typeface="Arial MT"/>
                          <a:cs typeface="Arial MT"/>
                        </a:rPr>
                        <a:t>REAL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10" dirty="0">
                          <a:latin typeface="Arial MT"/>
                          <a:cs typeface="Arial MT"/>
                        </a:rPr>
                        <a:t>float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Float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FLOAT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double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Double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DOUBLE</a:t>
                      </a:r>
                      <a:r>
                        <a:rPr sz="1100" spc="2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PRECISION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double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Double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367">
                <a:tc>
                  <a:txBody>
                    <a:bodyPr/>
                    <a:lstStyle/>
                    <a:p>
                      <a:pPr marL="9525" algn="ctr">
                        <a:lnSpc>
                          <a:spcPts val="1015"/>
                        </a:lnSpc>
                        <a:spcBef>
                          <a:spcPts val="26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BINARY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15"/>
                        </a:lnSpc>
                        <a:spcBef>
                          <a:spcPts val="260"/>
                        </a:spcBef>
                      </a:pPr>
                      <a:r>
                        <a:rPr sz="1100" spc="10" dirty="0">
                          <a:latin typeface="Arial MT"/>
                          <a:cs typeface="Arial MT"/>
                        </a:rPr>
                        <a:t>byte[]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 marL="9525" algn="ctr">
                        <a:lnSpc>
                          <a:spcPts val="1015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VARBINARY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15"/>
                        </a:lnSpc>
                        <a:spcBef>
                          <a:spcPts val="265"/>
                        </a:spcBef>
                      </a:pPr>
                      <a:r>
                        <a:rPr sz="1100" spc="10" dirty="0">
                          <a:latin typeface="Arial MT"/>
                          <a:cs typeface="Arial MT"/>
                        </a:rPr>
                        <a:t>byte[]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3326">
                <a:tc>
                  <a:txBody>
                    <a:bodyPr/>
                    <a:lstStyle/>
                    <a:p>
                      <a:pPr marL="9525" algn="ctr">
                        <a:lnSpc>
                          <a:spcPts val="1010"/>
                        </a:lnSpc>
                        <a:spcBef>
                          <a:spcPts val="26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LONGVARBINARY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10"/>
                        </a:lnSpc>
                        <a:spcBef>
                          <a:spcPts val="265"/>
                        </a:spcBef>
                      </a:pPr>
                      <a:r>
                        <a:rPr sz="1100" spc="15" dirty="0">
                          <a:latin typeface="Arial MT"/>
                          <a:cs typeface="Arial MT"/>
                        </a:rPr>
                        <a:t>byte[]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380">
                <a:tc>
                  <a:txBody>
                    <a:bodyPr/>
                    <a:lstStyle/>
                    <a:p>
                      <a:pPr marL="9525" algn="ctr">
                        <a:lnSpc>
                          <a:spcPts val="1010"/>
                        </a:lnSpc>
                        <a:spcBef>
                          <a:spcPts val="27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DATE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10"/>
                        </a:lnSpc>
                        <a:spcBef>
                          <a:spcPts val="270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java.sql.Date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3380">
                <a:tc>
                  <a:txBody>
                    <a:bodyPr/>
                    <a:lstStyle/>
                    <a:p>
                      <a:pPr marL="9525" algn="ctr">
                        <a:lnSpc>
                          <a:spcPts val="1005"/>
                        </a:lnSpc>
                        <a:spcBef>
                          <a:spcPts val="270"/>
                        </a:spcBef>
                      </a:pPr>
                      <a:r>
                        <a:rPr sz="1100" spc="-45" dirty="0">
                          <a:latin typeface="Arial MT"/>
                          <a:cs typeface="Arial MT"/>
                        </a:rPr>
                        <a:t>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05"/>
                        </a:lnSpc>
                        <a:spcBef>
                          <a:spcPts val="27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java.sql.Time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366">
                <a:tc>
                  <a:txBody>
                    <a:bodyPr/>
                    <a:lstStyle/>
                    <a:p>
                      <a:pPr marL="9525" algn="ctr">
                        <a:lnSpc>
                          <a:spcPts val="1000"/>
                        </a:lnSpc>
                        <a:spcBef>
                          <a:spcPts val="275"/>
                        </a:spcBef>
                      </a:pPr>
                      <a:r>
                        <a:rPr sz="1100" spc="-6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100" spc="-8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100" spc="-9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spc="-11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100" spc="5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java.sql.Timestamp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941816" y="4976177"/>
            <a:ext cx="107314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solidFill>
                  <a:srgbClr val="4D4E5C"/>
                </a:solidFill>
                <a:latin typeface="Arial MT"/>
                <a:cs typeface="Arial MT"/>
              </a:rPr>
              <a:t>21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74295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65" dirty="0"/>
              <a:t>Q</a:t>
            </a:r>
            <a:r>
              <a:rPr u="sng" spc="-20" dirty="0"/>
              <a:t>u</a:t>
            </a:r>
            <a:r>
              <a:rPr u="sng" spc="-25" dirty="0"/>
              <a:t>i</a:t>
            </a:r>
            <a:r>
              <a:rPr u="sng" spc="-5" dirty="0"/>
              <a:t>z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2725" y="744029"/>
            <a:ext cx="8858250" cy="27641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685"/>
              </a:spcBef>
              <a:buClr>
                <a:srgbClr val="00AFEF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b="1" spc="-30" dirty="0">
                <a:latin typeface="Times New Roman"/>
                <a:cs typeface="Times New Roman"/>
              </a:rPr>
              <a:t>Which</a:t>
            </a:r>
            <a:r>
              <a:rPr sz="1850" b="1" spc="-50" dirty="0">
                <a:latin typeface="Times New Roman"/>
                <a:cs typeface="Times New Roman"/>
              </a:rPr>
              <a:t> </a:t>
            </a:r>
            <a:r>
              <a:rPr sz="1850" b="1" spc="10" dirty="0">
                <a:latin typeface="Times New Roman"/>
                <a:cs typeface="Times New Roman"/>
              </a:rPr>
              <a:t>of</a:t>
            </a:r>
            <a:r>
              <a:rPr sz="1850" b="1" spc="-40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the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following</a:t>
            </a:r>
            <a:r>
              <a:rPr sz="1850" b="1" spc="-25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java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type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spc="-65" dirty="0">
                <a:latin typeface="Times New Roman"/>
                <a:cs typeface="Times New Roman"/>
              </a:rPr>
              <a:t>is</a:t>
            </a:r>
            <a:r>
              <a:rPr sz="1850" b="1" spc="15" dirty="0">
                <a:latin typeface="Times New Roman"/>
                <a:cs typeface="Times New Roman"/>
              </a:rPr>
              <a:t> </a:t>
            </a:r>
            <a:r>
              <a:rPr sz="1850" b="1" spc="10" dirty="0">
                <a:latin typeface="Times New Roman"/>
                <a:cs typeface="Times New Roman"/>
              </a:rPr>
              <a:t>mapped</a:t>
            </a:r>
            <a:r>
              <a:rPr sz="1850" b="1" spc="-125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to</a:t>
            </a:r>
            <a:r>
              <a:rPr sz="1850" b="1" spc="-110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the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spc="-5" dirty="0">
                <a:latin typeface="Times New Roman"/>
                <a:cs typeface="Times New Roman"/>
              </a:rPr>
              <a:t>SQL</a:t>
            </a:r>
            <a:r>
              <a:rPr sz="1850" b="1" spc="-254" dirty="0">
                <a:latin typeface="Times New Roman"/>
                <a:cs typeface="Times New Roman"/>
              </a:rPr>
              <a:t> </a:t>
            </a:r>
            <a:r>
              <a:rPr sz="1850" b="1" spc="10" dirty="0">
                <a:latin typeface="Times New Roman"/>
                <a:cs typeface="Times New Roman"/>
              </a:rPr>
              <a:t>data</a:t>
            </a:r>
            <a:r>
              <a:rPr sz="1850" b="1" spc="-18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type</a:t>
            </a:r>
            <a:r>
              <a:rPr sz="1850" b="1" spc="45" dirty="0">
                <a:latin typeface="Times New Roman"/>
                <a:cs typeface="Times New Roman"/>
              </a:rPr>
              <a:t> </a:t>
            </a:r>
            <a:r>
              <a:rPr sz="185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endParaRPr sz="185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850" spc="-5" dirty="0">
                <a:latin typeface="Times New Roman"/>
                <a:cs typeface="Times New Roman"/>
              </a:rPr>
              <a:t>String</a:t>
            </a:r>
            <a:endParaRPr sz="185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850" dirty="0">
                <a:latin typeface="Times New Roman"/>
                <a:cs typeface="Times New Roman"/>
              </a:rPr>
              <a:t>boolean</a:t>
            </a:r>
            <a:endParaRPr sz="185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850" spc="15" dirty="0">
                <a:latin typeface="Times New Roman"/>
                <a:cs typeface="Times New Roman"/>
              </a:rPr>
              <a:t>Int</a:t>
            </a:r>
            <a:endParaRPr sz="185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850" spc="-15" dirty="0">
                <a:latin typeface="Times New Roman"/>
                <a:cs typeface="Times New Roman"/>
              </a:rPr>
              <a:t>byte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AFEF"/>
              </a:buClr>
              <a:buFont typeface="Times New Roman"/>
              <a:buAutoNum type="alphaLcParenR"/>
            </a:pPr>
            <a:endParaRPr sz="2850">
              <a:latin typeface="Times New Roman"/>
              <a:cs typeface="Times New Roman"/>
            </a:endParaRPr>
          </a:p>
          <a:p>
            <a:pPr marL="358140" indent="-346075">
              <a:lnSpc>
                <a:spcPts val="2190"/>
              </a:lnSpc>
              <a:buClr>
                <a:srgbClr val="00AFEF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b="1" spc="-15" dirty="0">
                <a:latin typeface="Times New Roman"/>
                <a:cs typeface="Times New Roman"/>
              </a:rPr>
              <a:t>What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spc="15" dirty="0">
                <a:latin typeface="Times New Roman"/>
                <a:cs typeface="Times New Roman"/>
              </a:rPr>
              <a:t>object</a:t>
            </a:r>
            <a:r>
              <a:rPr sz="1850" b="1" spc="-114" dirty="0">
                <a:latin typeface="Times New Roman"/>
                <a:cs typeface="Times New Roman"/>
              </a:rPr>
              <a:t> </a:t>
            </a:r>
            <a:r>
              <a:rPr sz="1850" b="1" spc="-65" dirty="0">
                <a:latin typeface="Times New Roman"/>
                <a:cs typeface="Times New Roman"/>
              </a:rPr>
              <a:t>is</a:t>
            </a:r>
            <a:r>
              <a:rPr sz="1850" b="1" spc="-5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returned,</a:t>
            </a:r>
            <a:r>
              <a:rPr sz="1850" b="1" spc="-12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when</a:t>
            </a:r>
            <a:r>
              <a:rPr sz="1850" b="1" spc="-20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you</a:t>
            </a:r>
            <a:r>
              <a:rPr sz="1850" b="1" spc="-125" dirty="0">
                <a:latin typeface="Times New Roman"/>
                <a:cs typeface="Times New Roman"/>
              </a:rPr>
              <a:t> </a:t>
            </a:r>
            <a:r>
              <a:rPr sz="1850" b="1" spc="-35" dirty="0">
                <a:latin typeface="Times New Roman"/>
                <a:cs typeface="Times New Roman"/>
              </a:rPr>
              <a:t>invoke</a:t>
            </a:r>
            <a:r>
              <a:rPr sz="1850" b="1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the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getMetaData</a:t>
            </a:r>
            <a:r>
              <a:rPr sz="1850" b="1" spc="-50" dirty="0">
                <a:latin typeface="Times New Roman"/>
                <a:cs typeface="Times New Roman"/>
              </a:rPr>
              <a:t> </a:t>
            </a:r>
            <a:r>
              <a:rPr sz="1850" b="1" spc="-15" dirty="0">
                <a:latin typeface="Times New Roman"/>
                <a:cs typeface="Times New Roman"/>
              </a:rPr>
              <a:t>method</a:t>
            </a:r>
            <a:r>
              <a:rPr sz="1850" b="1" spc="-120" dirty="0">
                <a:latin typeface="Times New Roman"/>
                <a:cs typeface="Times New Roman"/>
              </a:rPr>
              <a:t> </a:t>
            </a:r>
            <a:r>
              <a:rPr sz="1850" b="1" spc="10" dirty="0">
                <a:latin typeface="Times New Roman"/>
                <a:cs typeface="Times New Roman"/>
              </a:rPr>
              <a:t>on</a:t>
            </a:r>
            <a:r>
              <a:rPr sz="1850" b="1" spc="204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the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Connection</a:t>
            </a:r>
            <a:endParaRPr sz="1850">
              <a:latin typeface="Times New Roman"/>
              <a:cs typeface="Times New Roman"/>
            </a:endParaRPr>
          </a:p>
          <a:p>
            <a:pPr marL="358140">
              <a:lnSpc>
                <a:spcPts val="2190"/>
              </a:lnSpc>
            </a:pPr>
            <a:r>
              <a:rPr sz="1850" b="1" spc="10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242" y="3492499"/>
            <a:ext cx="2456180" cy="14204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70534" indent="-457834">
              <a:lnSpc>
                <a:spcPct val="100000"/>
              </a:lnSpc>
              <a:spcBef>
                <a:spcPts val="605"/>
              </a:spcBef>
              <a:buClr>
                <a:srgbClr val="00AFEF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850" spc="-30" dirty="0">
                <a:latin typeface="Times New Roman"/>
                <a:cs typeface="Times New Roman"/>
              </a:rPr>
              <a:t>StatementMetaData</a:t>
            </a:r>
            <a:endParaRPr sz="185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850" spc="-30" dirty="0">
                <a:latin typeface="Times New Roman"/>
                <a:cs typeface="Times New Roman"/>
              </a:rPr>
              <a:t>ResultSetMetaData</a:t>
            </a:r>
            <a:endParaRPr sz="185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850" spc="-35" dirty="0">
                <a:latin typeface="Times New Roman"/>
                <a:cs typeface="Times New Roman"/>
              </a:rPr>
              <a:t>DatabaseMetaData</a:t>
            </a:r>
            <a:endParaRPr sz="185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850" spc="-20" dirty="0">
                <a:latin typeface="Times New Roman"/>
                <a:cs typeface="Times New Roman"/>
              </a:rPr>
              <a:t>ConnectionMetaData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122" y="4962207"/>
            <a:ext cx="8445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5" dirty="0">
                <a:solidFill>
                  <a:srgbClr val="4D4E5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1116" y="3535431"/>
            <a:ext cx="2413224" cy="12655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285104" y="3573462"/>
            <a:ext cx="1026794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35" dirty="0">
                <a:latin typeface="Arial MT"/>
                <a:cs typeface="Arial MT"/>
              </a:rPr>
              <a:t>A</a:t>
            </a:r>
            <a:r>
              <a:rPr sz="1850" spc="-70" dirty="0">
                <a:latin typeface="Arial MT"/>
                <a:cs typeface="Arial MT"/>
              </a:rPr>
              <a:t>n</a:t>
            </a:r>
            <a:r>
              <a:rPr sz="1850" spc="30" dirty="0">
                <a:latin typeface="Arial MT"/>
                <a:cs typeface="Arial MT"/>
              </a:rPr>
              <a:t>s</a:t>
            </a:r>
            <a:r>
              <a:rPr sz="1850" spc="-140" dirty="0">
                <a:latin typeface="Arial MT"/>
                <a:cs typeface="Arial MT"/>
              </a:rPr>
              <a:t>w</a:t>
            </a:r>
            <a:r>
              <a:rPr sz="1850" spc="10" dirty="0">
                <a:latin typeface="Arial MT"/>
                <a:cs typeface="Arial MT"/>
              </a:rPr>
              <a:t>e</a:t>
            </a:r>
            <a:r>
              <a:rPr sz="1850" spc="20" dirty="0">
                <a:latin typeface="Arial MT"/>
                <a:cs typeface="Arial MT"/>
              </a:rPr>
              <a:t>r</a:t>
            </a:r>
            <a:r>
              <a:rPr sz="1850" spc="-5" dirty="0">
                <a:latin typeface="Arial MT"/>
                <a:cs typeface="Arial MT"/>
              </a:rPr>
              <a:t>s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5104" y="4123054"/>
            <a:ext cx="471170" cy="581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675">
              <a:lnSpc>
                <a:spcPts val="2190"/>
              </a:lnSpc>
              <a:spcBef>
                <a:spcPts val="90"/>
              </a:spcBef>
              <a:buAutoNum type="arabicPlain"/>
              <a:tabLst>
                <a:tab pos="206375" algn="l"/>
              </a:tabLst>
            </a:pPr>
            <a:r>
              <a:rPr sz="1850" spc="-5" dirty="0">
                <a:latin typeface="Arial MT"/>
                <a:cs typeface="Arial MT"/>
              </a:rPr>
              <a:t>:</a:t>
            </a:r>
            <a:r>
              <a:rPr sz="1850" spc="-6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b</a:t>
            </a:r>
            <a:endParaRPr sz="1850">
              <a:latin typeface="Arial MT"/>
              <a:cs typeface="Arial MT"/>
            </a:endParaRPr>
          </a:p>
          <a:p>
            <a:pPr marL="205740" indent="-193675">
              <a:lnSpc>
                <a:spcPts val="2190"/>
              </a:lnSpc>
              <a:buAutoNum type="arabicPlain"/>
              <a:tabLst>
                <a:tab pos="206375" algn="l"/>
              </a:tabLst>
            </a:pPr>
            <a:r>
              <a:rPr sz="1850" spc="-5" dirty="0">
                <a:latin typeface="Arial MT"/>
                <a:cs typeface="Arial MT"/>
              </a:rPr>
              <a:t>:</a:t>
            </a:r>
            <a:r>
              <a:rPr sz="1850" spc="-6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c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85584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0" dirty="0"/>
              <a:t>The</a:t>
            </a:r>
            <a:r>
              <a:rPr u="sng" spc="-150" dirty="0"/>
              <a:t> </a:t>
            </a:r>
            <a:r>
              <a:rPr u="sng" spc="-25" dirty="0"/>
              <a:t>PreparedStatement</a:t>
            </a:r>
            <a:r>
              <a:rPr u="sng" spc="-120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20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843978"/>
            <a:ext cx="7277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34315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  <a:tab pos="1019175" algn="l"/>
                <a:tab pos="3134995" algn="l"/>
                <a:tab pos="3500754" algn="l"/>
                <a:tab pos="4212590" algn="l"/>
                <a:tab pos="4599305" algn="l"/>
                <a:tab pos="5799455" algn="l"/>
                <a:tab pos="6867525" algn="l"/>
              </a:tabLst>
            </a:pPr>
            <a:r>
              <a:rPr sz="2000" spc="-90" dirty="0">
                <a:latin typeface="Times New Roman"/>
                <a:cs typeface="Times New Roman"/>
              </a:rPr>
              <a:t>U</a:t>
            </a:r>
            <a:r>
              <a:rPr sz="2000" spc="95" dirty="0">
                <a:latin typeface="Times New Roman"/>
                <a:cs typeface="Times New Roman"/>
              </a:rPr>
              <a:t>s</a:t>
            </a:r>
            <a:r>
              <a:rPr sz="2000" spc="-80" dirty="0">
                <a:latin typeface="Times New Roman"/>
                <a:cs typeface="Times New Roman"/>
              </a:rPr>
              <a:t>i</a:t>
            </a:r>
            <a:r>
              <a:rPr sz="2000" spc="3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	</a:t>
            </a:r>
            <a:r>
              <a:rPr sz="2000" spc="85" dirty="0">
                <a:latin typeface="Times New Roman"/>
                <a:cs typeface="Times New Roman"/>
              </a:rPr>
              <a:t>P</a:t>
            </a:r>
            <a:r>
              <a:rPr sz="2000" spc="-25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4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40" dirty="0">
                <a:latin typeface="Times New Roman"/>
                <a:cs typeface="Times New Roman"/>
              </a:rPr>
              <a:t>d</a:t>
            </a:r>
            <a:r>
              <a:rPr sz="2000" spc="5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tate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4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	</a:t>
            </a:r>
            <a:r>
              <a:rPr sz="2000" spc="-8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35" dirty="0">
                <a:latin typeface="Times New Roman"/>
                <a:cs typeface="Times New Roman"/>
              </a:rPr>
              <a:t>p</a:t>
            </a:r>
            <a:r>
              <a:rPr sz="2000" spc="-8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e	</a:t>
            </a:r>
            <a:r>
              <a:rPr sz="2000" spc="4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Stat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3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	</a:t>
            </a:r>
            <a:r>
              <a:rPr sz="2000" spc="-80" dirty="0">
                <a:latin typeface="Times New Roman"/>
                <a:cs typeface="Times New Roman"/>
              </a:rPr>
              <a:t>i</a:t>
            </a:r>
            <a:r>
              <a:rPr sz="2000" spc="3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te</a:t>
            </a:r>
            <a:r>
              <a:rPr sz="2000" spc="-35" dirty="0">
                <a:latin typeface="Times New Roman"/>
                <a:cs typeface="Times New Roman"/>
              </a:rPr>
              <a:t>r</a:t>
            </a:r>
            <a:r>
              <a:rPr sz="2000" spc="5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e	wi</a:t>
            </a:r>
            <a:r>
              <a:rPr sz="2000" spc="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7685" y="843978"/>
            <a:ext cx="1358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9335" algn="l"/>
              </a:tabLst>
            </a:pPr>
            <a:r>
              <a:rPr sz="2000" spc="-75" dirty="0">
                <a:latin typeface="Times New Roman"/>
                <a:cs typeface="Times New Roman"/>
              </a:rPr>
              <a:t>i</a:t>
            </a:r>
            <a:r>
              <a:rPr sz="2000" spc="40" dirty="0">
                <a:latin typeface="Times New Roman"/>
                <a:cs typeface="Times New Roman"/>
              </a:rPr>
              <a:t>mp</a:t>
            </a:r>
            <a:r>
              <a:rPr sz="2000" spc="-25" dirty="0">
                <a:latin typeface="Times New Roman"/>
                <a:cs typeface="Times New Roman"/>
              </a:rPr>
              <a:t>r</a:t>
            </a:r>
            <a:r>
              <a:rPr sz="2000" spc="40" dirty="0">
                <a:latin typeface="Times New Roman"/>
                <a:cs typeface="Times New Roman"/>
              </a:rPr>
              <a:t>o</a:t>
            </a:r>
            <a:r>
              <a:rPr sz="2000" spc="-40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e	t</a:t>
            </a:r>
            <a:r>
              <a:rPr sz="2000" spc="4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25" y="1068425"/>
            <a:ext cx="8807450" cy="33947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6379" algn="just">
              <a:lnSpc>
                <a:spcPct val="100000"/>
              </a:lnSpc>
              <a:spcBef>
                <a:spcPts val="740"/>
              </a:spcBef>
            </a:pP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JDBC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  <a:p>
            <a:pPr marL="246379" marR="27940" indent="-234315" algn="just">
              <a:lnSpc>
                <a:spcPct val="100000"/>
              </a:lnSpc>
              <a:spcBef>
                <a:spcPts val="645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2000" spc="-5" dirty="0">
                <a:latin typeface="Times New Roman"/>
                <a:cs typeface="Times New Roman"/>
              </a:rPr>
              <a:t>PreparedStatement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inherited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Statement;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difference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that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PreparedStatement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holds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precompiled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statements.</a:t>
            </a:r>
            <a:endParaRPr sz="200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100000"/>
              </a:lnSpc>
              <a:spcBef>
                <a:spcPts val="570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2000" spc="-15" dirty="0">
                <a:latin typeface="Times New Roman"/>
                <a:cs typeface="Times New Roman"/>
              </a:rPr>
              <a:t>If </a:t>
            </a:r>
            <a:r>
              <a:rPr sz="2000" spc="25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execute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Statement </a:t>
            </a:r>
            <a:r>
              <a:rPr sz="2000" spc="10" dirty="0">
                <a:latin typeface="Times New Roman"/>
                <a:cs typeface="Times New Roman"/>
              </a:rPr>
              <a:t>object </a:t>
            </a:r>
            <a:r>
              <a:rPr sz="2000" spc="-5" dirty="0">
                <a:latin typeface="Times New Roman"/>
                <a:cs typeface="Times New Roman"/>
              </a:rPr>
              <a:t>many times, </a:t>
            </a:r>
            <a:r>
              <a:rPr sz="2000" spc="-25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SQL statement </a:t>
            </a:r>
            <a:r>
              <a:rPr sz="2000" spc="-40" dirty="0">
                <a:latin typeface="Times New Roman"/>
                <a:cs typeface="Times New Roman"/>
              </a:rPr>
              <a:t>is </a:t>
            </a:r>
            <a:r>
              <a:rPr sz="2000" spc="-20" dirty="0">
                <a:latin typeface="Times New Roman"/>
                <a:cs typeface="Times New Roman"/>
              </a:rPr>
              <a:t>compiled </a:t>
            </a:r>
            <a:r>
              <a:rPr sz="2000" spc="-10" dirty="0">
                <a:latin typeface="Times New Roman"/>
                <a:cs typeface="Times New Roman"/>
              </a:rPr>
              <a:t>each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 </a:t>
            </a:r>
            <a:r>
              <a:rPr sz="2000" dirty="0">
                <a:latin typeface="Times New Roman"/>
                <a:cs typeface="Times New Roman"/>
              </a:rPr>
              <a:t>PreparedStatement </a:t>
            </a:r>
            <a:r>
              <a:rPr sz="2000" spc="-40" dirty="0">
                <a:latin typeface="Times New Roman"/>
                <a:cs typeface="Times New Roman"/>
              </a:rPr>
              <a:t>is </a:t>
            </a:r>
            <a:r>
              <a:rPr sz="2000" spc="10" dirty="0">
                <a:latin typeface="Times New Roman"/>
                <a:cs typeface="Times New Roman"/>
              </a:rPr>
              <a:t>more </a:t>
            </a:r>
            <a:r>
              <a:rPr sz="2000" spc="-5" dirty="0">
                <a:latin typeface="Times New Roman"/>
                <a:cs typeface="Times New Roman"/>
              </a:rPr>
              <a:t>efficient </a:t>
            </a:r>
            <a:r>
              <a:rPr sz="2000" spc="10" dirty="0">
                <a:latin typeface="Times New Roman"/>
                <a:cs typeface="Times New Roman"/>
              </a:rPr>
              <a:t>because </a:t>
            </a:r>
            <a:r>
              <a:rPr sz="2000" spc="-30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5" dirty="0">
                <a:latin typeface="Times New Roman"/>
                <a:cs typeface="Times New Roman"/>
              </a:rPr>
              <a:t>statement </a:t>
            </a:r>
            <a:r>
              <a:rPr sz="2000" spc="-40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compiled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 </a:t>
            </a:r>
            <a:r>
              <a:rPr sz="2000" spc="10" dirty="0">
                <a:latin typeface="Times New Roman"/>
                <a:cs typeface="Times New Roman"/>
              </a:rPr>
              <a:t>once, </a:t>
            </a:r>
            <a:r>
              <a:rPr sz="2000" spc="-15" dirty="0">
                <a:latin typeface="Times New Roman"/>
                <a:cs typeface="Times New Roman"/>
              </a:rPr>
              <a:t>when </a:t>
            </a:r>
            <a:r>
              <a:rPr sz="2000" spc="-5" dirty="0">
                <a:latin typeface="Times New Roman"/>
                <a:cs typeface="Times New Roman"/>
              </a:rPr>
              <a:t>you </a:t>
            </a:r>
            <a:r>
              <a:rPr sz="2000" spc="-25" dirty="0">
                <a:latin typeface="Times New Roman"/>
                <a:cs typeface="Times New Roman"/>
              </a:rPr>
              <a:t>first </a:t>
            </a:r>
            <a:r>
              <a:rPr sz="2000" dirty="0">
                <a:latin typeface="Times New Roman"/>
                <a:cs typeface="Times New Roman"/>
              </a:rPr>
              <a:t>prepare </a:t>
            </a:r>
            <a:r>
              <a:rPr sz="2000" spc="10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PreparedStatement. </a:t>
            </a:r>
            <a:r>
              <a:rPr sz="2000" spc="-5" dirty="0">
                <a:latin typeface="Times New Roman"/>
                <a:cs typeface="Times New Roman"/>
              </a:rPr>
              <a:t>After </a:t>
            </a:r>
            <a:r>
              <a:rPr sz="2000" spc="5" dirty="0">
                <a:latin typeface="Times New Roman"/>
                <a:cs typeface="Times New Roman"/>
              </a:rPr>
              <a:t>that, </a:t>
            </a:r>
            <a:r>
              <a:rPr sz="2000" spc="-10" dirty="0">
                <a:latin typeface="Times New Roman"/>
                <a:cs typeface="Times New Roman"/>
              </a:rPr>
              <a:t>each time </a:t>
            </a:r>
            <a:r>
              <a:rPr sz="2000" spc="35" dirty="0">
                <a:latin typeface="Times New Roman"/>
                <a:cs typeface="Times New Roman"/>
              </a:rPr>
              <a:t>you 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execute </a:t>
            </a:r>
            <a:r>
              <a:rPr sz="2000" spc="10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5" dirty="0">
                <a:latin typeface="Times New Roman"/>
                <a:cs typeface="Times New Roman"/>
              </a:rPr>
              <a:t>statement </a:t>
            </a:r>
            <a:r>
              <a:rPr sz="2000" spc="-40" dirty="0">
                <a:latin typeface="Times New Roman"/>
                <a:cs typeface="Times New Roman"/>
              </a:rPr>
              <a:t>in </a:t>
            </a:r>
            <a:r>
              <a:rPr sz="2000" spc="10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PreparedStatement, </a:t>
            </a:r>
            <a:r>
              <a:rPr sz="2000" spc="10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10" dirty="0">
                <a:latin typeface="Times New Roman"/>
                <a:cs typeface="Times New Roman"/>
              </a:rPr>
              <a:t>statement </a:t>
            </a:r>
            <a:r>
              <a:rPr sz="2000" spc="15" dirty="0">
                <a:latin typeface="Times New Roman"/>
                <a:cs typeface="Times New Roman"/>
              </a:rPr>
              <a:t>does </a:t>
            </a:r>
            <a:r>
              <a:rPr sz="2000" spc="35" dirty="0">
                <a:latin typeface="Times New Roman"/>
                <a:cs typeface="Times New Roman"/>
              </a:rPr>
              <a:t>not 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be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recompiled.</a:t>
            </a:r>
            <a:endParaRPr sz="2000">
              <a:latin typeface="Times New Roman"/>
              <a:cs typeface="Times New Roman"/>
            </a:endParaRPr>
          </a:p>
          <a:p>
            <a:pPr marL="246379" marR="24765" indent="-234315" algn="just">
              <a:lnSpc>
                <a:spcPct val="100000"/>
              </a:lnSpc>
              <a:spcBef>
                <a:spcPts val="665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2000" spc="-10" dirty="0">
                <a:latin typeface="Times New Roman"/>
                <a:cs typeface="Times New Roman"/>
              </a:rPr>
              <a:t>Therefore, </a:t>
            </a:r>
            <a:r>
              <a:rPr sz="2000" spc="-40" dirty="0">
                <a:latin typeface="Times New Roman"/>
                <a:cs typeface="Times New Roman"/>
              </a:rPr>
              <a:t>if </a:t>
            </a:r>
            <a:r>
              <a:rPr sz="2000" spc="25" dirty="0">
                <a:latin typeface="Times New Roman"/>
                <a:cs typeface="Times New Roman"/>
              </a:rPr>
              <a:t>you </a:t>
            </a:r>
            <a:r>
              <a:rPr sz="2000" spc="-20" dirty="0">
                <a:latin typeface="Times New Roman"/>
                <a:cs typeface="Times New Roman"/>
              </a:rPr>
              <a:t>need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execute </a:t>
            </a:r>
            <a:r>
              <a:rPr sz="2000" spc="-15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-5" dirty="0">
                <a:latin typeface="Times New Roman"/>
                <a:cs typeface="Times New Roman"/>
              </a:rPr>
              <a:t>statement </a:t>
            </a:r>
            <a:r>
              <a:rPr sz="2000" spc="-15" dirty="0">
                <a:latin typeface="Times New Roman"/>
                <a:cs typeface="Times New Roman"/>
              </a:rPr>
              <a:t>several </a:t>
            </a:r>
            <a:r>
              <a:rPr sz="2000" spc="5" dirty="0">
                <a:latin typeface="Times New Roman"/>
                <a:cs typeface="Times New Roman"/>
              </a:rPr>
              <a:t>times </a:t>
            </a:r>
            <a:r>
              <a:rPr sz="2000" spc="-25" dirty="0">
                <a:latin typeface="Times New Roman"/>
                <a:cs typeface="Times New Roman"/>
              </a:rPr>
              <a:t>within </a:t>
            </a:r>
            <a:r>
              <a:rPr sz="2000" spc="-10" dirty="0">
                <a:latin typeface="Times New Roman"/>
                <a:cs typeface="Times New Roman"/>
              </a:rPr>
              <a:t>an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it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is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more</a:t>
            </a:r>
            <a:r>
              <a:rPr sz="2000" spc="-25" dirty="0">
                <a:latin typeface="Times New Roman"/>
                <a:cs typeface="Times New Roman"/>
              </a:rPr>
              <a:t> efficient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PreparedStatement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than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85711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10" dirty="0"/>
              <a:t>The</a:t>
            </a:r>
            <a:r>
              <a:rPr u="sng" spc="-145" dirty="0"/>
              <a:t> </a:t>
            </a:r>
            <a:r>
              <a:rPr u="sng" spc="-25" dirty="0"/>
              <a:t>PreparedStatement</a:t>
            </a:r>
            <a:r>
              <a:rPr u="sng" spc="-120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21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3945" cy="2316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79" marR="7620" indent="-234315" algn="just">
              <a:lnSpc>
                <a:spcPct val="100000"/>
              </a:lnSpc>
              <a:spcBef>
                <a:spcPts val="105"/>
              </a:spcBef>
              <a:buClr>
                <a:srgbClr val="006FC0"/>
              </a:buClr>
              <a:buFont typeface="Arial MT"/>
              <a:buChar char="•"/>
              <a:tabLst>
                <a:tab pos="247015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prepared statement can </a:t>
            </a:r>
            <a:r>
              <a:rPr sz="2000" spc="-15" dirty="0">
                <a:latin typeface="Times New Roman"/>
                <a:cs typeface="Times New Roman"/>
              </a:rPr>
              <a:t>contain variables </a:t>
            </a:r>
            <a:r>
              <a:rPr sz="2000" spc="5" dirty="0">
                <a:latin typeface="Times New Roman"/>
                <a:cs typeface="Times New Roman"/>
              </a:rPr>
              <a:t>that </a:t>
            </a:r>
            <a:r>
              <a:rPr sz="2000" spc="25" dirty="0">
                <a:latin typeface="Times New Roman"/>
                <a:cs typeface="Times New Roman"/>
              </a:rPr>
              <a:t>you </a:t>
            </a:r>
            <a:r>
              <a:rPr sz="2000" spc="-20" dirty="0">
                <a:latin typeface="Times New Roman"/>
                <a:cs typeface="Times New Roman"/>
              </a:rPr>
              <a:t>supply </a:t>
            </a:r>
            <a:r>
              <a:rPr sz="2000" spc="-10" dirty="0">
                <a:latin typeface="Times New Roman"/>
                <a:cs typeface="Times New Roman"/>
              </a:rPr>
              <a:t>each time </a:t>
            </a:r>
            <a:r>
              <a:rPr sz="2000" spc="25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execute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100000"/>
              </a:lnSpc>
              <a:spcBef>
                <a:spcPts val="650"/>
              </a:spcBef>
              <a:buClr>
                <a:srgbClr val="006FC0"/>
              </a:buClr>
              <a:buFont typeface="Arial MT"/>
              <a:buChar char="•"/>
              <a:tabLst>
                <a:tab pos="247015" algn="l"/>
              </a:tabLst>
            </a:pPr>
            <a:r>
              <a:rPr sz="2000" dirty="0">
                <a:latin typeface="Times New Roman"/>
                <a:cs typeface="Times New Roman"/>
              </a:rPr>
              <a:t>A PreparedStatement </a:t>
            </a:r>
            <a:r>
              <a:rPr sz="2000" spc="-5" dirty="0">
                <a:latin typeface="Times New Roman"/>
                <a:cs typeface="Times New Roman"/>
              </a:rPr>
              <a:t>does </a:t>
            </a:r>
            <a:r>
              <a:rPr sz="2000" dirty="0">
                <a:latin typeface="Times New Roman"/>
                <a:cs typeface="Times New Roman"/>
              </a:rPr>
              <a:t>not </a:t>
            </a:r>
            <a:r>
              <a:rPr sz="2000" spc="-5" dirty="0">
                <a:latin typeface="Times New Roman"/>
                <a:cs typeface="Times New Roman"/>
              </a:rPr>
              <a:t>have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execute </a:t>
            </a:r>
            <a:r>
              <a:rPr sz="2000" spc="-10" dirty="0">
                <a:latin typeface="Times New Roman"/>
                <a:cs typeface="Times New Roman"/>
              </a:rPr>
              <a:t>exactly </a:t>
            </a:r>
            <a:r>
              <a:rPr sz="2000" spc="10" dirty="0">
                <a:latin typeface="Times New Roman"/>
                <a:cs typeface="Times New Roman"/>
              </a:rPr>
              <a:t>the same </a:t>
            </a:r>
            <a:r>
              <a:rPr sz="2000" spc="-10" dirty="0">
                <a:latin typeface="Times New Roman"/>
                <a:cs typeface="Times New Roman"/>
              </a:rPr>
              <a:t>query each time.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spc="-25" dirty="0">
                <a:latin typeface="Times New Roman"/>
                <a:cs typeface="Times New Roman"/>
              </a:rPr>
              <a:t>specify </a:t>
            </a:r>
            <a:r>
              <a:rPr sz="2000" spc="-5" dirty="0">
                <a:latin typeface="Times New Roman"/>
                <a:cs typeface="Times New Roman"/>
              </a:rPr>
              <a:t>parameters </a:t>
            </a:r>
            <a:r>
              <a:rPr sz="2000" spc="-40" dirty="0">
                <a:latin typeface="Times New Roman"/>
                <a:cs typeface="Times New Roman"/>
              </a:rPr>
              <a:t>in </a:t>
            </a:r>
            <a:r>
              <a:rPr sz="2000" spc="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PreparedStatement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-10" dirty="0">
                <a:latin typeface="Times New Roman"/>
                <a:cs typeface="Times New Roman"/>
              </a:rPr>
              <a:t>string </a:t>
            </a:r>
            <a:r>
              <a:rPr sz="2000" spc="1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supply </a:t>
            </a:r>
            <a:r>
              <a:rPr sz="2000" spc="-1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values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these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when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the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statement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is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executed.</a:t>
            </a:r>
            <a:endParaRPr sz="2000">
              <a:latin typeface="Times New Roman"/>
              <a:cs typeface="Times New Roman"/>
            </a:endParaRPr>
          </a:p>
          <a:p>
            <a:pPr marL="246379" marR="6350" indent="-234315" algn="just">
              <a:lnSpc>
                <a:spcPct val="100000"/>
              </a:lnSpc>
              <a:spcBef>
                <a:spcPts val="575"/>
              </a:spcBef>
              <a:buClr>
                <a:srgbClr val="006FC0"/>
              </a:buClr>
              <a:buFont typeface="Arial MT"/>
              <a:buChar char="•"/>
              <a:tabLst>
                <a:tab pos="247015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slide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shows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supply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parameters</a:t>
            </a:r>
            <a:r>
              <a:rPr sz="2000" spc="5" dirty="0">
                <a:latin typeface="Times New Roman"/>
                <a:cs typeface="Times New Roman"/>
              </a:rPr>
              <a:t> 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execute</a:t>
            </a:r>
            <a:r>
              <a:rPr sz="2000" dirty="0">
                <a:latin typeface="Times New Roman"/>
                <a:cs typeface="Times New Roman"/>
              </a:rPr>
              <a:t> 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PreparedStatement.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86359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u="sng" spc="-1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Create</a:t>
            </a:r>
            <a:r>
              <a:rPr u="sng" spc="-4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a</a:t>
            </a:r>
            <a:r>
              <a:rPr u="sng" spc="-5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PreparedStatement?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3839" y="1798319"/>
            <a:ext cx="5897880" cy="1793239"/>
            <a:chOff x="1513839" y="1798319"/>
            <a:chExt cx="5897880" cy="1793239"/>
          </a:xfrm>
        </p:grpSpPr>
        <p:sp>
          <p:nvSpPr>
            <p:cNvPr id="4" name="object 4"/>
            <p:cNvSpPr/>
            <p:nvPr/>
          </p:nvSpPr>
          <p:spPr>
            <a:xfrm>
              <a:off x="1650999" y="1813559"/>
              <a:ext cx="5709920" cy="782320"/>
            </a:xfrm>
            <a:custGeom>
              <a:avLst/>
              <a:gdLst/>
              <a:ahLst/>
              <a:cxnLst/>
              <a:rect l="l" t="t" r="r" b="b"/>
              <a:pathLst>
                <a:path w="5709920" h="782319">
                  <a:moveTo>
                    <a:pt x="5709920" y="0"/>
                  </a:moveTo>
                  <a:lnTo>
                    <a:pt x="0" y="0"/>
                  </a:lnTo>
                  <a:lnTo>
                    <a:pt x="0" y="782319"/>
                  </a:lnTo>
                  <a:lnTo>
                    <a:pt x="5709920" y="782319"/>
                  </a:lnTo>
                  <a:lnTo>
                    <a:pt x="5709920" y="0"/>
                  </a:lnTo>
                  <a:close/>
                </a:path>
              </a:pathLst>
            </a:custGeom>
            <a:solidFill>
              <a:srgbClr val="DDD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50999" y="1813559"/>
              <a:ext cx="5709920" cy="782320"/>
            </a:xfrm>
            <a:custGeom>
              <a:avLst/>
              <a:gdLst/>
              <a:ahLst/>
              <a:cxnLst/>
              <a:rect l="l" t="t" r="r" b="b"/>
              <a:pathLst>
                <a:path w="5709920" h="782319">
                  <a:moveTo>
                    <a:pt x="0" y="782319"/>
                  </a:moveTo>
                  <a:lnTo>
                    <a:pt x="5709920" y="782319"/>
                  </a:lnTo>
                  <a:lnTo>
                    <a:pt x="5709920" y="0"/>
                  </a:lnTo>
                  <a:lnTo>
                    <a:pt x="0" y="0"/>
                  </a:lnTo>
                  <a:lnTo>
                    <a:pt x="0" y="782319"/>
                  </a:lnTo>
                  <a:close/>
                </a:path>
              </a:pathLst>
            </a:custGeom>
            <a:ln w="30480">
              <a:solidFill>
                <a:srgbClr val="3637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9" y="2580639"/>
              <a:ext cx="5857240" cy="9296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839" y="2539999"/>
              <a:ext cx="5186680" cy="10515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25599" y="2631439"/>
              <a:ext cx="5720080" cy="792480"/>
            </a:xfrm>
            <a:custGeom>
              <a:avLst/>
              <a:gdLst/>
              <a:ahLst/>
              <a:cxnLst/>
              <a:rect l="l" t="t" r="r" b="b"/>
              <a:pathLst>
                <a:path w="5720080" h="792479">
                  <a:moveTo>
                    <a:pt x="5720080" y="0"/>
                  </a:moveTo>
                  <a:lnTo>
                    <a:pt x="0" y="0"/>
                  </a:lnTo>
                  <a:lnTo>
                    <a:pt x="0" y="792480"/>
                  </a:lnTo>
                  <a:lnTo>
                    <a:pt x="5720080" y="792480"/>
                  </a:lnTo>
                  <a:lnTo>
                    <a:pt x="57200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5599" y="2631439"/>
              <a:ext cx="5720080" cy="792480"/>
            </a:xfrm>
            <a:custGeom>
              <a:avLst/>
              <a:gdLst/>
              <a:ahLst/>
              <a:cxnLst/>
              <a:rect l="l" t="t" r="r" b="b"/>
              <a:pathLst>
                <a:path w="5720080" h="792479">
                  <a:moveTo>
                    <a:pt x="0" y="792480"/>
                  </a:moveTo>
                  <a:lnTo>
                    <a:pt x="5720080" y="792480"/>
                  </a:lnTo>
                  <a:lnTo>
                    <a:pt x="5720080" y="0"/>
                  </a:lnTo>
                  <a:lnTo>
                    <a:pt x="0" y="0"/>
                  </a:lnTo>
                  <a:lnTo>
                    <a:pt x="0" y="792480"/>
                  </a:lnTo>
                  <a:close/>
                </a:path>
              </a:pathLst>
            </a:custGeom>
            <a:ln w="406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5902" y="919200"/>
            <a:ext cx="8642985" cy="40792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610"/>
              </a:spcBef>
              <a:buClr>
                <a:srgbClr val="00AFEF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spc="-30" dirty="0">
                <a:latin typeface="Times New Roman"/>
                <a:cs typeface="Times New Roman"/>
              </a:rPr>
              <a:t>Register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create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connection</a:t>
            </a:r>
            <a:endParaRPr sz="18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509"/>
              </a:spcBef>
              <a:buClr>
                <a:srgbClr val="00AFEF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spc="-20" dirty="0">
                <a:latin typeface="Times New Roman"/>
                <a:cs typeface="Times New Roman"/>
              </a:rPr>
              <a:t>Create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prepared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identifying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variables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question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mark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(?)</a:t>
            </a:r>
            <a:endParaRPr sz="1850">
              <a:latin typeface="Times New Roman"/>
              <a:cs typeface="Times New Roman"/>
            </a:endParaRPr>
          </a:p>
          <a:p>
            <a:pPr marL="1478280" marR="3148965">
              <a:lnSpc>
                <a:spcPct val="101200"/>
              </a:lnSpc>
              <a:spcBef>
                <a:spcPts val="1500"/>
              </a:spcBef>
            </a:pPr>
            <a:r>
              <a:rPr sz="1650" spc="5" dirty="0">
                <a:solidFill>
                  <a:srgbClr val="001F5F"/>
                </a:solidFill>
                <a:latin typeface="Arial MT"/>
                <a:cs typeface="Arial MT"/>
              </a:rPr>
              <a:t>PreparedStatement </a:t>
            </a:r>
            <a:r>
              <a:rPr sz="1650" spc="-10" dirty="0">
                <a:solidFill>
                  <a:srgbClr val="001F5F"/>
                </a:solidFill>
                <a:latin typeface="Arial MT"/>
                <a:cs typeface="Arial MT"/>
              </a:rPr>
              <a:t>pstmt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=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001F5F"/>
                </a:solidFill>
                <a:latin typeface="Arial MT"/>
                <a:cs typeface="Arial MT"/>
              </a:rPr>
              <a:t>c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o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nn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.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p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p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100" dirty="0">
                <a:solidFill>
                  <a:srgbClr val="001F5F"/>
                </a:solidFill>
                <a:latin typeface="Arial MT"/>
                <a:cs typeface="Arial MT"/>
              </a:rPr>
              <a:t>m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n</a:t>
            </a:r>
            <a:r>
              <a:rPr sz="1650" spc="5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(</a:t>
            </a:r>
            <a:r>
              <a:rPr sz="1650" spc="-25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650" spc="-40" dirty="0">
                <a:solidFill>
                  <a:srgbClr val="001F5F"/>
                </a:solidFill>
                <a:latin typeface="Arial MT"/>
                <a:cs typeface="Arial MT"/>
              </a:rPr>
              <a:t>upd</a:t>
            </a:r>
            <a:r>
              <a:rPr sz="1650" spc="4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te</a:t>
            </a:r>
            <a:r>
              <a:rPr sz="1650" spc="-11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-5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75" dirty="0">
                <a:solidFill>
                  <a:srgbClr val="001F5F"/>
                </a:solidFill>
                <a:latin typeface="Arial MT"/>
                <a:cs typeface="Arial MT"/>
              </a:rPr>
              <a:t>U</a:t>
            </a:r>
            <a:r>
              <a:rPr sz="1650" spc="5" dirty="0">
                <a:solidFill>
                  <a:srgbClr val="001F5F"/>
                </a:solidFill>
                <a:latin typeface="Arial MT"/>
                <a:cs typeface="Arial MT"/>
              </a:rPr>
              <a:t>D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75" dirty="0">
                <a:solidFill>
                  <a:srgbClr val="001F5F"/>
                </a:solidFill>
                <a:latin typeface="Arial MT"/>
                <a:cs typeface="Arial MT"/>
              </a:rPr>
              <a:t>N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T  </a:t>
            </a:r>
            <a:r>
              <a:rPr sz="1650" spc="5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5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-80" dirty="0">
                <a:solidFill>
                  <a:srgbClr val="001F5F"/>
                </a:solidFill>
                <a:latin typeface="Arial MT"/>
                <a:cs typeface="Arial MT"/>
              </a:rPr>
              <a:t>U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PE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-65" dirty="0">
                <a:solidFill>
                  <a:srgbClr val="001F5F"/>
                </a:solidFill>
                <a:latin typeface="Arial MT"/>
                <a:cs typeface="Arial MT"/>
              </a:rPr>
              <a:t>V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I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-10" dirty="0">
                <a:solidFill>
                  <a:srgbClr val="001F5F"/>
                </a:solidFill>
                <a:latin typeface="Arial MT"/>
                <a:cs typeface="Arial MT"/>
              </a:rPr>
              <a:t>O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65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?</a:t>
            </a:r>
            <a:r>
              <a:rPr sz="165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w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h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re</a:t>
            </a:r>
            <a:r>
              <a:rPr sz="165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I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D</a:t>
            </a:r>
            <a:r>
              <a:rPr sz="1650" spc="-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65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?</a:t>
            </a:r>
            <a:r>
              <a:rPr sz="1650" spc="-3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);</a:t>
            </a:r>
            <a:endParaRPr sz="1650">
              <a:latin typeface="Arial MT"/>
              <a:cs typeface="Arial MT"/>
            </a:endParaRPr>
          </a:p>
          <a:p>
            <a:pPr marL="1461135" marR="2377440">
              <a:lnSpc>
                <a:spcPct val="101200"/>
              </a:lnSpc>
              <a:spcBef>
                <a:spcPts val="505"/>
              </a:spcBef>
            </a:pPr>
            <a:r>
              <a:rPr sz="1650" spc="5" dirty="0">
                <a:solidFill>
                  <a:srgbClr val="001F5F"/>
                </a:solidFill>
                <a:latin typeface="Arial MT"/>
                <a:cs typeface="Arial MT"/>
              </a:rPr>
              <a:t>PreparedStatement </a:t>
            </a:r>
            <a:r>
              <a:rPr sz="1650" spc="-15" dirty="0">
                <a:solidFill>
                  <a:srgbClr val="001F5F"/>
                </a:solidFill>
                <a:latin typeface="Arial MT"/>
                <a:cs typeface="Arial MT"/>
              </a:rPr>
              <a:t>pstmt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=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001F5F"/>
                </a:solidFill>
                <a:latin typeface="Arial MT"/>
                <a:cs typeface="Arial MT"/>
              </a:rPr>
              <a:t>c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o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nn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.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p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p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100" dirty="0">
                <a:solidFill>
                  <a:srgbClr val="001F5F"/>
                </a:solidFill>
                <a:latin typeface="Arial MT"/>
                <a:cs typeface="Arial MT"/>
              </a:rPr>
              <a:t>m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n</a:t>
            </a:r>
            <a:r>
              <a:rPr sz="1650" spc="55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(</a:t>
            </a:r>
            <a:r>
              <a:rPr sz="1650" spc="-3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650" spc="5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50" dirty="0">
                <a:solidFill>
                  <a:srgbClr val="001F5F"/>
                </a:solidFill>
                <a:latin typeface="Arial MT"/>
                <a:cs typeface="Arial MT"/>
              </a:rPr>
              <a:t>l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30" dirty="0">
                <a:solidFill>
                  <a:srgbClr val="001F5F"/>
                </a:solidFill>
                <a:latin typeface="Arial MT"/>
                <a:cs typeface="Arial MT"/>
              </a:rPr>
              <a:t>c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-75" dirty="0">
                <a:solidFill>
                  <a:srgbClr val="001F5F"/>
                </a:solidFill>
                <a:latin typeface="Arial MT"/>
                <a:cs typeface="Arial MT"/>
              </a:rPr>
              <a:t>U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PE</a:t>
            </a:r>
            <a:r>
              <a:rPr sz="1650" spc="5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-65" dirty="0">
                <a:solidFill>
                  <a:srgbClr val="001F5F"/>
                </a:solidFill>
                <a:latin typeface="Arial MT"/>
                <a:cs typeface="Arial MT"/>
              </a:rPr>
              <a:t>V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650" spc="-10" dirty="0">
                <a:solidFill>
                  <a:srgbClr val="001F5F"/>
                </a:solidFill>
                <a:latin typeface="Arial MT"/>
                <a:cs typeface="Arial MT"/>
              </a:rPr>
              <a:t>O</a:t>
            </a:r>
            <a:r>
              <a:rPr sz="1650" spc="25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-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f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o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m  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S</a:t>
            </a:r>
            <a:r>
              <a:rPr sz="1650" spc="-55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-75" dirty="0">
                <a:solidFill>
                  <a:srgbClr val="001F5F"/>
                </a:solidFill>
                <a:latin typeface="Arial MT"/>
                <a:cs typeface="Arial MT"/>
              </a:rPr>
              <a:t>U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D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-80" dirty="0">
                <a:solidFill>
                  <a:srgbClr val="001F5F"/>
                </a:solidFill>
                <a:latin typeface="Arial MT"/>
                <a:cs typeface="Arial MT"/>
              </a:rPr>
              <a:t>N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T</a:t>
            </a:r>
            <a:r>
              <a:rPr sz="165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w</a:t>
            </a:r>
            <a:r>
              <a:rPr sz="1650" spc="-45" dirty="0">
                <a:solidFill>
                  <a:srgbClr val="001F5F"/>
                </a:solidFill>
                <a:latin typeface="Arial MT"/>
                <a:cs typeface="Arial MT"/>
              </a:rPr>
              <a:t>h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e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re</a:t>
            </a:r>
            <a:r>
              <a:rPr sz="1650" spc="-1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I</a:t>
            </a:r>
            <a:r>
              <a:rPr sz="1650" spc="20" dirty="0">
                <a:solidFill>
                  <a:srgbClr val="001F5F"/>
                </a:solidFill>
                <a:latin typeface="Arial MT"/>
                <a:cs typeface="Arial MT"/>
              </a:rPr>
              <a:t>D</a:t>
            </a:r>
            <a:r>
              <a:rPr sz="16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15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65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50" spc="35" dirty="0">
                <a:solidFill>
                  <a:srgbClr val="001F5F"/>
                </a:solidFill>
                <a:latin typeface="Arial MT"/>
                <a:cs typeface="Arial MT"/>
              </a:rPr>
              <a:t>?</a:t>
            </a:r>
            <a:r>
              <a:rPr sz="1650" spc="-3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650" spc="10" dirty="0">
                <a:solidFill>
                  <a:srgbClr val="001F5F"/>
                </a:solidFill>
                <a:latin typeface="Arial MT"/>
                <a:cs typeface="Arial MT"/>
              </a:rPr>
              <a:t>);</a:t>
            </a:r>
            <a:endParaRPr sz="1650">
              <a:latin typeface="Arial MT"/>
              <a:cs typeface="Arial MT"/>
            </a:endParaRPr>
          </a:p>
          <a:p>
            <a:pPr marL="34925" marR="5080" algn="just">
              <a:lnSpc>
                <a:spcPct val="97500"/>
              </a:lnSpc>
              <a:spcBef>
                <a:spcPts val="1610"/>
              </a:spcBef>
            </a:pPr>
            <a:r>
              <a:rPr sz="1850" spc="-15" dirty="0">
                <a:latin typeface="Times New Roman"/>
                <a:cs typeface="Times New Roman"/>
              </a:rPr>
              <a:t>Once </a:t>
            </a:r>
            <a:r>
              <a:rPr sz="1850" spc="-30" dirty="0">
                <a:latin typeface="Times New Roman"/>
                <a:cs typeface="Times New Roman"/>
              </a:rPr>
              <a:t>the connection </a:t>
            </a:r>
            <a:r>
              <a:rPr sz="1850" spc="-5" dirty="0">
                <a:latin typeface="Times New Roman"/>
                <a:cs typeface="Times New Roman"/>
              </a:rPr>
              <a:t>object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obtained,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prepareStatement </a:t>
            </a:r>
            <a:r>
              <a:rPr sz="1850" spc="-30" dirty="0">
                <a:latin typeface="Times New Roman"/>
                <a:cs typeface="Times New Roman"/>
              </a:rPr>
              <a:t>method </a:t>
            </a:r>
            <a:r>
              <a:rPr sz="1850" spc="-25" dirty="0">
                <a:latin typeface="Times New Roman"/>
                <a:cs typeface="Times New Roman"/>
              </a:rPr>
              <a:t>is called </a:t>
            </a:r>
            <a:r>
              <a:rPr sz="1850" spc="-30" dirty="0">
                <a:latin typeface="Times New Roman"/>
                <a:cs typeface="Times New Roman"/>
              </a:rPr>
              <a:t>on </a:t>
            </a:r>
            <a:r>
              <a:rPr sz="1850" spc="-20" dirty="0">
                <a:latin typeface="Times New Roman"/>
                <a:cs typeface="Times New Roman"/>
              </a:rPr>
              <a:t>it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20" dirty="0">
                <a:latin typeface="Times New Roman"/>
                <a:cs typeface="Times New Roman"/>
              </a:rPr>
              <a:t>obtain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PreparedStatement</a:t>
            </a:r>
            <a:r>
              <a:rPr sz="1850" spc="-20" dirty="0">
                <a:latin typeface="Times New Roman"/>
                <a:cs typeface="Times New Roman"/>
              </a:rPr>
              <a:t> object.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However,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in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this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case,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while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creating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it,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itself,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 </a:t>
            </a:r>
            <a:r>
              <a:rPr sz="1850" spc="-15" dirty="0">
                <a:latin typeface="Times New Roman"/>
                <a:cs typeface="Times New Roman"/>
              </a:rPr>
              <a:t> statement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provided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0" dirty="0">
                <a:latin typeface="Times New Roman"/>
                <a:cs typeface="Times New Roman"/>
              </a:rPr>
              <a:t>parameter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method.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</a:t>
            </a:r>
            <a:r>
              <a:rPr sz="1850" spc="-15" dirty="0">
                <a:latin typeface="Times New Roman"/>
                <a:cs typeface="Times New Roman"/>
              </a:rPr>
              <a:t> variable portions </a:t>
            </a:r>
            <a:r>
              <a:rPr sz="1850" spc="15" dirty="0">
                <a:latin typeface="Times New Roman"/>
                <a:cs typeface="Times New Roman"/>
              </a:rPr>
              <a:t>of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 </a:t>
            </a:r>
            <a:r>
              <a:rPr sz="1850" spc="-15" dirty="0">
                <a:latin typeface="Times New Roman"/>
                <a:cs typeface="Times New Roman"/>
              </a:rPr>
              <a:t> statement </a:t>
            </a:r>
            <a:r>
              <a:rPr sz="1850" spc="-30" dirty="0">
                <a:latin typeface="Times New Roman"/>
                <a:cs typeface="Times New Roman"/>
              </a:rPr>
              <a:t>are provided </a:t>
            </a:r>
            <a:r>
              <a:rPr sz="1850" spc="-55" dirty="0">
                <a:latin typeface="Times New Roman"/>
                <a:cs typeface="Times New Roman"/>
              </a:rPr>
              <a:t>as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question mark </a:t>
            </a:r>
            <a:r>
              <a:rPr sz="1850" spc="-5" dirty="0">
                <a:latin typeface="Times New Roman"/>
                <a:cs typeface="Times New Roman"/>
              </a:rPr>
              <a:t>(?) </a:t>
            </a:r>
            <a:r>
              <a:rPr sz="1850" spc="-45" dirty="0">
                <a:latin typeface="Times New Roman"/>
                <a:cs typeface="Times New Roman"/>
              </a:rPr>
              <a:t>so </a:t>
            </a:r>
            <a:r>
              <a:rPr sz="1850" spc="-30" dirty="0">
                <a:latin typeface="Times New Roman"/>
                <a:cs typeface="Times New Roman"/>
              </a:rPr>
              <a:t>that the </a:t>
            </a:r>
            <a:r>
              <a:rPr sz="1850" spc="-20" dirty="0">
                <a:latin typeface="Times New Roman"/>
                <a:cs typeface="Times New Roman"/>
              </a:rPr>
              <a:t>values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10" dirty="0">
                <a:latin typeface="Times New Roman"/>
                <a:cs typeface="Times New Roman"/>
              </a:rPr>
              <a:t>be </a:t>
            </a:r>
            <a:r>
              <a:rPr sz="1850" spc="-35" dirty="0">
                <a:latin typeface="Times New Roman"/>
                <a:cs typeface="Times New Roman"/>
              </a:rPr>
              <a:t>supplied </a:t>
            </a:r>
            <a:r>
              <a:rPr sz="1850" spc="-25" dirty="0">
                <a:latin typeface="Times New Roman"/>
                <a:cs typeface="Times New Roman"/>
              </a:rPr>
              <a:t>dynamically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before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execution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22</a:t>
            </a:fld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61810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sz="2800" u="sng" spc="6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sz="2800" u="sng" spc="-10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execute</a:t>
            </a:r>
            <a:r>
              <a:rPr sz="2800" u="sng" spc="27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PreparedStatement?</a:t>
            </a:r>
            <a:endParaRPr sz="2800" u="sng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23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5902" y="932560"/>
            <a:ext cx="3597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sz="2000" spc="-25" dirty="0">
                <a:solidFill>
                  <a:srgbClr val="4D4E5C"/>
                </a:solidFill>
                <a:latin typeface="Times New Roman"/>
                <a:cs typeface="Times New Roman"/>
              </a:rPr>
              <a:t>1.	</a:t>
            </a:r>
            <a:r>
              <a:rPr sz="2000" spc="5" dirty="0">
                <a:latin typeface="Times New Roman"/>
                <a:cs typeface="Times New Roman"/>
              </a:rPr>
              <a:t>Supply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values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variables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4839" y="1437639"/>
            <a:ext cx="3423920" cy="32512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85"/>
              </a:spcBef>
            </a:pPr>
            <a:r>
              <a:rPr sz="1350" b="1" i="1" spc="-5" dirty="0">
                <a:latin typeface="Courier New"/>
                <a:cs typeface="Courier New"/>
              </a:rPr>
              <a:t>pstmt</a:t>
            </a:r>
            <a:r>
              <a:rPr sz="1350" b="1" spc="-5" dirty="0">
                <a:latin typeface="Courier New"/>
                <a:cs typeface="Courier New"/>
              </a:rPr>
              <a:t>.set</a:t>
            </a:r>
            <a:r>
              <a:rPr sz="1350" b="1" i="1" spc="-5" dirty="0">
                <a:latin typeface="Courier New"/>
                <a:cs typeface="Courier New"/>
              </a:rPr>
              <a:t>XXX</a:t>
            </a:r>
            <a:r>
              <a:rPr sz="1350" b="1" spc="-5" dirty="0">
                <a:latin typeface="Courier New"/>
                <a:cs typeface="Courier New"/>
              </a:rPr>
              <a:t>(</a:t>
            </a:r>
            <a:r>
              <a:rPr sz="1350" b="1" i="1" spc="-5" dirty="0">
                <a:latin typeface="Courier New"/>
                <a:cs typeface="Courier New"/>
              </a:rPr>
              <a:t>index,</a:t>
            </a:r>
            <a:r>
              <a:rPr sz="1350" b="1" i="1" spc="-55" dirty="0">
                <a:latin typeface="Courier New"/>
                <a:cs typeface="Courier New"/>
              </a:rPr>
              <a:t> </a:t>
            </a:r>
            <a:r>
              <a:rPr sz="1350" b="1" i="1" dirty="0">
                <a:latin typeface="Courier New"/>
                <a:cs typeface="Courier New"/>
              </a:rPr>
              <a:t>valu</a:t>
            </a:r>
            <a:r>
              <a:rPr sz="1350" b="1" dirty="0">
                <a:latin typeface="Courier New"/>
                <a:cs typeface="Courier New"/>
              </a:rPr>
              <a:t>);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445" y="1898014"/>
            <a:ext cx="8612505" cy="3055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ts val="2190"/>
              </a:lnSpc>
              <a:spcBef>
                <a:spcPts val="95"/>
              </a:spcBef>
            </a:pPr>
            <a:r>
              <a:rPr sz="1850" b="1" spc="5" dirty="0">
                <a:latin typeface="Times New Roman"/>
                <a:cs typeface="Times New Roman"/>
              </a:rPr>
              <a:t>Sp</a:t>
            </a:r>
            <a:r>
              <a:rPr sz="1850" b="1" spc="50" dirty="0">
                <a:latin typeface="Times New Roman"/>
                <a:cs typeface="Times New Roman"/>
              </a:rPr>
              <a:t>ec</a:t>
            </a:r>
            <a:r>
              <a:rPr sz="1850" b="1" spc="-120" dirty="0">
                <a:latin typeface="Times New Roman"/>
                <a:cs typeface="Times New Roman"/>
              </a:rPr>
              <a:t>i</a:t>
            </a:r>
            <a:r>
              <a:rPr sz="1850" b="1" spc="15" dirty="0">
                <a:latin typeface="Times New Roman"/>
                <a:cs typeface="Times New Roman"/>
              </a:rPr>
              <a:t>f</a:t>
            </a:r>
            <a:r>
              <a:rPr sz="1850" b="1" spc="-50" dirty="0">
                <a:latin typeface="Times New Roman"/>
                <a:cs typeface="Times New Roman"/>
              </a:rPr>
              <a:t>y</a:t>
            </a:r>
            <a:r>
              <a:rPr sz="1850" b="1" spc="-120" dirty="0">
                <a:latin typeface="Times New Roman"/>
                <a:cs typeface="Times New Roman"/>
              </a:rPr>
              <a:t>i</a:t>
            </a:r>
            <a:r>
              <a:rPr sz="1850" b="1" spc="5" dirty="0">
                <a:latin typeface="Times New Roman"/>
                <a:cs typeface="Times New Roman"/>
              </a:rPr>
              <a:t>n</a:t>
            </a:r>
            <a:r>
              <a:rPr sz="1850" b="1" spc="-5" dirty="0">
                <a:latin typeface="Times New Roman"/>
                <a:cs typeface="Times New Roman"/>
              </a:rPr>
              <a:t>g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spc="-220" dirty="0">
                <a:latin typeface="Times New Roman"/>
                <a:cs typeface="Times New Roman"/>
              </a:rPr>
              <a:t>V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-120" dirty="0">
                <a:latin typeface="Times New Roman"/>
                <a:cs typeface="Times New Roman"/>
              </a:rPr>
              <a:t>l</a:t>
            </a:r>
            <a:r>
              <a:rPr sz="1850" b="1" spc="5" dirty="0">
                <a:latin typeface="Times New Roman"/>
                <a:cs typeface="Times New Roman"/>
              </a:rPr>
              <a:t>u</a:t>
            </a:r>
            <a:r>
              <a:rPr sz="1850" b="1" spc="50" dirty="0">
                <a:latin typeface="Times New Roman"/>
                <a:cs typeface="Times New Roman"/>
              </a:rPr>
              <a:t>e</a:t>
            </a:r>
            <a:r>
              <a:rPr sz="1850" b="1" spc="-5" dirty="0">
                <a:latin typeface="Times New Roman"/>
                <a:cs typeface="Times New Roman"/>
              </a:rPr>
              <a:t>s</a:t>
            </a:r>
            <a:r>
              <a:rPr sz="1850" b="1" spc="-130" dirty="0">
                <a:latin typeface="Times New Roman"/>
                <a:cs typeface="Times New Roman"/>
              </a:rPr>
              <a:t> </a:t>
            </a:r>
            <a:r>
              <a:rPr sz="1850" b="1" spc="15" dirty="0">
                <a:latin typeface="Times New Roman"/>
                <a:cs typeface="Times New Roman"/>
              </a:rPr>
              <a:t>f</a:t>
            </a:r>
            <a:r>
              <a:rPr sz="1850" b="1" spc="30" dirty="0">
                <a:latin typeface="Times New Roman"/>
                <a:cs typeface="Times New Roman"/>
              </a:rPr>
              <a:t>o</a:t>
            </a:r>
            <a:r>
              <a:rPr sz="1850" b="1" spc="-5" dirty="0">
                <a:latin typeface="Times New Roman"/>
                <a:cs typeface="Times New Roman"/>
              </a:rPr>
              <a:t>r</a:t>
            </a:r>
            <a:r>
              <a:rPr sz="1850" b="1" spc="-155" dirty="0">
                <a:latin typeface="Times New Roman"/>
                <a:cs typeface="Times New Roman"/>
              </a:rPr>
              <a:t> </a:t>
            </a:r>
            <a:r>
              <a:rPr sz="1850" b="1" spc="15" dirty="0">
                <a:latin typeface="Times New Roman"/>
                <a:cs typeface="Times New Roman"/>
              </a:rPr>
              <a:t>t</a:t>
            </a:r>
            <a:r>
              <a:rPr sz="1850" b="1" spc="5" dirty="0">
                <a:latin typeface="Times New Roman"/>
                <a:cs typeface="Times New Roman"/>
              </a:rPr>
              <a:t>h</a:t>
            </a:r>
            <a:r>
              <a:rPr sz="1850" b="1" spc="-5" dirty="0">
                <a:latin typeface="Times New Roman"/>
                <a:cs typeface="Times New Roman"/>
              </a:rPr>
              <a:t>e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spc="40" dirty="0">
                <a:latin typeface="Times New Roman"/>
                <a:cs typeface="Times New Roman"/>
              </a:rPr>
              <a:t>B</a:t>
            </a:r>
            <a:r>
              <a:rPr sz="1850" b="1" spc="-120" dirty="0">
                <a:latin typeface="Times New Roman"/>
                <a:cs typeface="Times New Roman"/>
              </a:rPr>
              <a:t>i</a:t>
            </a:r>
            <a:r>
              <a:rPr sz="1850" b="1" spc="5" dirty="0">
                <a:latin typeface="Times New Roman"/>
                <a:cs typeface="Times New Roman"/>
              </a:rPr>
              <a:t>n</a:t>
            </a:r>
            <a:r>
              <a:rPr sz="1850" b="1" spc="-5" dirty="0">
                <a:latin typeface="Times New Roman"/>
                <a:cs typeface="Times New Roman"/>
              </a:rPr>
              <a:t>d</a:t>
            </a:r>
            <a:r>
              <a:rPr sz="1850" b="1" spc="-125" dirty="0">
                <a:latin typeface="Times New Roman"/>
                <a:cs typeface="Times New Roman"/>
              </a:rPr>
              <a:t> </a:t>
            </a:r>
            <a:r>
              <a:rPr sz="1850" b="1" spc="-220" dirty="0">
                <a:latin typeface="Times New Roman"/>
                <a:cs typeface="Times New Roman"/>
              </a:rPr>
              <a:t>V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-25" dirty="0">
                <a:latin typeface="Times New Roman"/>
                <a:cs typeface="Times New Roman"/>
              </a:rPr>
              <a:t>r</a:t>
            </a:r>
            <a:r>
              <a:rPr sz="1850" b="1" spc="-120" dirty="0">
                <a:latin typeface="Times New Roman"/>
                <a:cs typeface="Times New Roman"/>
              </a:rPr>
              <a:t>i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5" dirty="0">
                <a:latin typeface="Times New Roman"/>
                <a:cs typeface="Times New Roman"/>
              </a:rPr>
              <a:t>b</a:t>
            </a:r>
            <a:r>
              <a:rPr sz="1850" b="1" spc="-120" dirty="0">
                <a:latin typeface="Times New Roman"/>
                <a:cs typeface="Times New Roman"/>
              </a:rPr>
              <a:t>l</a:t>
            </a:r>
            <a:r>
              <a:rPr sz="1850" b="1" spc="55" dirty="0">
                <a:latin typeface="Times New Roman"/>
                <a:cs typeface="Times New Roman"/>
              </a:rPr>
              <a:t>e</a:t>
            </a:r>
            <a:r>
              <a:rPr sz="1850" b="1" spc="-5" dirty="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160"/>
              </a:lnSpc>
              <a:spcBef>
                <a:spcPts val="95"/>
              </a:spcBef>
            </a:pPr>
            <a:r>
              <a:rPr sz="1850" spc="-90" dirty="0">
                <a:latin typeface="Times New Roman"/>
                <a:cs typeface="Times New Roman"/>
              </a:rPr>
              <a:t>You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PreparedStatement.set</a:t>
            </a:r>
            <a:r>
              <a:rPr sz="1850" i="1" spc="-25" dirty="0">
                <a:latin typeface="Times New Roman"/>
                <a:cs typeface="Times New Roman"/>
              </a:rPr>
              <a:t>XXX</a:t>
            </a:r>
            <a:r>
              <a:rPr sz="1850" spc="-25" dirty="0">
                <a:latin typeface="Times New Roman"/>
                <a:cs typeface="Times New Roman"/>
              </a:rPr>
              <a:t>() </a:t>
            </a:r>
            <a:r>
              <a:rPr sz="1850" spc="-20" dirty="0">
                <a:latin typeface="Times New Roman"/>
                <a:cs typeface="Times New Roman"/>
              </a:rPr>
              <a:t>methods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35" dirty="0">
                <a:latin typeface="Times New Roman"/>
                <a:cs typeface="Times New Roman"/>
              </a:rPr>
              <a:t>supply </a:t>
            </a:r>
            <a:r>
              <a:rPr sz="1850" spc="-20" dirty="0">
                <a:latin typeface="Times New Roman"/>
                <a:cs typeface="Times New Roman"/>
              </a:rPr>
              <a:t>values </a:t>
            </a:r>
            <a:r>
              <a:rPr sz="1850" spc="-35" dirty="0">
                <a:latin typeface="Times New Roman"/>
                <a:cs typeface="Times New Roman"/>
              </a:rPr>
              <a:t>for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variables </a:t>
            </a:r>
            <a:r>
              <a:rPr sz="1850" spc="-65" dirty="0">
                <a:latin typeface="Times New Roman"/>
                <a:cs typeface="Times New Roman"/>
              </a:rPr>
              <a:t>in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prepared </a:t>
            </a:r>
            <a:r>
              <a:rPr sz="1850" spc="-25" dirty="0">
                <a:latin typeface="Times New Roman"/>
                <a:cs typeface="Times New Roman"/>
              </a:rPr>
              <a:t>statement. </a:t>
            </a:r>
            <a:r>
              <a:rPr sz="1850" spc="-15" dirty="0">
                <a:latin typeface="Times New Roman"/>
                <a:cs typeface="Times New Roman"/>
              </a:rPr>
              <a:t>There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one </a:t>
            </a:r>
            <a:r>
              <a:rPr sz="1850" spc="-30" dirty="0">
                <a:latin typeface="Times New Roman"/>
                <a:cs typeface="Times New Roman"/>
              </a:rPr>
              <a:t>setXXX() </a:t>
            </a:r>
            <a:r>
              <a:rPr sz="1850" spc="-25" dirty="0">
                <a:latin typeface="Times New Roman"/>
                <a:cs typeface="Times New Roman"/>
              </a:rPr>
              <a:t>method </a:t>
            </a:r>
            <a:r>
              <a:rPr sz="1850" spc="-10" dirty="0">
                <a:latin typeface="Times New Roman"/>
                <a:cs typeface="Times New Roman"/>
              </a:rPr>
              <a:t>for </a:t>
            </a:r>
            <a:r>
              <a:rPr sz="1850" spc="-40" dirty="0">
                <a:latin typeface="Times New Roman"/>
                <a:cs typeface="Times New Roman"/>
              </a:rPr>
              <a:t>each </a:t>
            </a:r>
            <a:r>
              <a:rPr sz="1850" dirty="0">
                <a:latin typeface="Times New Roman"/>
                <a:cs typeface="Times New Roman"/>
              </a:rPr>
              <a:t>Java </a:t>
            </a:r>
            <a:r>
              <a:rPr sz="1850" spc="-15" dirty="0">
                <a:latin typeface="Times New Roman"/>
                <a:cs typeface="Times New Roman"/>
              </a:rPr>
              <a:t>type: </a:t>
            </a:r>
            <a:r>
              <a:rPr sz="1850" spc="-20" dirty="0">
                <a:latin typeface="Times New Roman"/>
                <a:cs typeface="Times New Roman"/>
              </a:rPr>
              <a:t>setString(), setInt(),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so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on.</a:t>
            </a:r>
            <a:endParaRPr sz="1850">
              <a:latin typeface="Times New Roman"/>
              <a:cs typeface="Times New Roman"/>
            </a:endParaRPr>
          </a:p>
          <a:p>
            <a:pPr marL="12700" algn="just">
              <a:lnSpc>
                <a:spcPts val="2085"/>
              </a:lnSpc>
            </a:pPr>
            <a:r>
              <a:rPr sz="1850" spc="-90" dirty="0">
                <a:latin typeface="Times New Roman"/>
                <a:cs typeface="Times New Roman"/>
              </a:rPr>
              <a:t>You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must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setXXX()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compatible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type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of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variable.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In</a:t>
            </a:r>
            <a:endParaRPr sz="1850">
              <a:latin typeface="Times New Roman"/>
              <a:cs typeface="Times New Roman"/>
            </a:endParaRPr>
          </a:p>
          <a:p>
            <a:pPr marL="12700" marR="6350" algn="just">
              <a:lnSpc>
                <a:spcPct val="97500"/>
              </a:lnSpc>
              <a:spcBef>
                <a:spcPts val="25"/>
              </a:spcBef>
            </a:pP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example </a:t>
            </a:r>
            <a:r>
              <a:rPr sz="1850" spc="15" dirty="0">
                <a:latin typeface="Times New Roman"/>
                <a:cs typeface="Times New Roman"/>
              </a:rPr>
              <a:t>on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slide,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first variable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updating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90" dirty="0">
                <a:latin typeface="Times New Roman"/>
                <a:cs typeface="Times New Roman"/>
              </a:rPr>
              <a:t>VARCHAR </a:t>
            </a:r>
            <a:r>
              <a:rPr sz="1850" spc="-20" dirty="0">
                <a:latin typeface="Times New Roman"/>
                <a:cs typeface="Times New Roman"/>
              </a:rPr>
              <a:t>column, </a:t>
            </a:r>
            <a:r>
              <a:rPr sz="1850" spc="-45" dirty="0">
                <a:latin typeface="Times New Roman"/>
                <a:cs typeface="Times New Roman"/>
              </a:rPr>
              <a:t>so </a:t>
            </a:r>
            <a:r>
              <a:rPr sz="1850" spc="10" dirty="0">
                <a:latin typeface="Times New Roman"/>
                <a:cs typeface="Times New Roman"/>
              </a:rPr>
              <a:t>we </a:t>
            </a:r>
            <a:r>
              <a:rPr sz="1850" spc="-25" dirty="0">
                <a:latin typeface="Times New Roman"/>
                <a:cs typeface="Times New Roman"/>
              </a:rPr>
              <a:t>need </a:t>
            </a:r>
            <a:r>
              <a:rPr sz="1850" spc="-40" dirty="0">
                <a:latin typeface="Times New Roman"/>
                <a:cs typeface="Times New Roman"/>
              </a:rPr>
              <a:t>to 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 </a:t>
            </a:r>
            <a:r>
              <a:rPr sz="1850" spc="-25" dirty="0">
                <a:latin typeface="Times New Roman"/>
                <a:cs typeface="Times New Roman"/>
              </a:rPr>
              <a:t>setString()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spc="-35" dirty="0">
                <a:latin typeface="Times New Roman"/>
                <a:cs typeface="Times New Roman"/>
              </a:rPr>
              <a:t>supply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dirty="0">
                <a:latin typeface="Times New Roman"/>
                <a:cs typeface="Times New Roman"/>
              </a:rPr>
              <a:t>value </a:t>
            </a:r>
            <a:r>
              <a:rPr sz="1850" spc="-40" dirty="0">
                <a:latin typeface="Times New Roman"/>
                <a:cs typeface="Times New Roman"/>
              </a:rPr>
              <a:t>for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variable. </a:t>
            </a:r>
            <a:r>
              <a:rPr sz="1850" spc="-90" dirty="0">
                <a:latin typeface="Times New Roman"/>
                <a:cs typeface="Times New Roman"/>
              </a:rPr>
              <a:t>You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-20" dirty="0">
                <a:latin typeface="Times New Roman"/>
                <a:cs typeface="Times New Roman"/>
              </a:rPr>
              <a:t>use setObject() </a:t>
            </a:r>
            <a:r>
              <a:rPr sz="1850" spc="-15" dirty="0">
                <a:latin typeface="Times New Roman"/>
                <a:cs typeface="Times New Roman"/>
              </a:rPr>
              <a:t>with </a:t>
            </a:r>
            <a:r>
              <a:rPr sz="1850" spc="-25" dirty="0">
                <a:latin typeface="Times New Roman"/>
                <a:cs typeface="Times New Roman"/>
              </a:rPr>
              <a:t>any </a:t>
            </a:r>
            <a:r>
              <a:rPr sz="1850" spc="-15" dirty="0">
                <a:latin typeface="Times New Roman"/>
                <a:cs typeface="Times New Roman"/>
              </a:rPr>
              <a:t>variable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type.</a:t>
            </a: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ct val="97500"/>
              </a:lnSpc>
            </a:pPr>
            <a:r>
              <a:rPr sz="1850" spc="-40" dirty="0">
                <a:latin typeface="Times New Roman"/>
                <a:cs typeface="Times New Roman"/>
              </a:rPr>
              <a:t>Each </a:t>
            </a:r>
            <a:r>
              <a:rPr sz="1850" spc="-20" dirty="0">
                <a:latin typeface="Times New Roman"/>
                <a:cs typeface="Times New Roman"/>
              </a:rPr>
              <a:t>variable </a:t>
            </a:r>
            <a:r>
              <a:rPr sz="1850" spc="-30" dirty="0">
                <a:latin typeface="Times New Roman"/>
                <a:cs typeface="Times New Roman"/>
              </a:rPr>
              <a:t>has </a:t>
            </a:r>
            <a:r>
              <a:rPr sz="1850" spc="-55" dirty="0">
                <a:latin typeface="Times New Roman"/>
                <a:cs typeface="Times New Roman"/>
              </a:rPr>
              <a:t>an </a:t>
            </a:r>
            <a:r>
              <a:rPr sz="1850" spc="-25" dirty="0">
                <a:latin typeface="Times New Roman"/>
                <a:cs typeface="Times New Roman"/>
              </a:rPr>
              <a:t>index. The </a:t>
            </a:r>
            <a:r>
              <a:rPr sz="1850" spc="-20" dirty="0">
                <a:latin typeface="Times New Roman"/>
                <a:cs typeface="Times New Roman"/>
              </a:rPr>
              <a:t>index </a:t>
            </a:r>
            <a:r>
              <a:rPr sz="1850" spc="-25" dirty="0">
                <a:latin typeface="Times New Roman"/>
                <a:cs typeface="Times New Roman"/>
              </a:rPr>
              <a:t>of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first </a:t>
            </a:r>
            <a:r>
              <a:rPr sz="1850" spc="-20" dirty="0">
                <a:latin typeface="Times New Roman"/>
                <a:cs typeface="Times New Roman"/>
              </a:rPr>
              <a:t>variable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prepared </a:t>
            </a:r>
            <a:r>
              <a:rPr sz="1850" spc="-25" dirty="0">
                <a:latin typeface="Times New Roman"/>
                <a:cs typeface="Times New Roman"/>
              </a:rPr>
              <a:t>statement is </a:t>
            </a:r>
            <a:r>
              <a:rPr sz="1850" spc="-30" dirty="0">
                <a:latin typeface="Times New Roman"/>
                <a:cs typeface="Times New Roman"/>
              </a:rPr>
              <a:t>1,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index </a:t>
            </a:r>
            <a:r>
              <a:rPr sz="1850" spc="-30" dirty="0">
                <a:latin typeface="Times New Roman"/>
                <a:cs typeface="Times New Roman"/>
              </a:rPr>
              <a:t>of the </a:t>
            </a:r>
            <a:r>
              <a:rPr sz="1850" spc="-25" dirty="0">
                <a:latin typeface="Times New Roman"/>
                <a:cs typeface="Times New Roman"/>
              </a:rPr>
              <a:t>second </a:t>
            </a:r>
            <a:r>
              <a:rPr sz="1850" spc="-20" dirty="0">
                <a:latin typeface="Times New Roman"/>
                <a:cs typeface="Times New Roman"/>
              </a:rPr>
              <a:t>is </a:t>
            </a:r>
            <a:r>
              <a:rPr sz="1850" spc="-30" dirty="0">
                <a:latin typeface="Times New Roman"/>
                <a:cs typeface="Times New Roman"/>
              </a:rPr>
              <a:t>2, and </a:t>
            </a:r>
            <a:r>
              <a:rPr sz="1850" spc="-45" dirty="0">
                <a:latin typeface="Times New Roman"/>
                <a:cs typeface="Times New Roman"/>
              </a:rPr>
              <a:t>so </a:t>
            </a:r>
            <a:r>
              <a:rPr sz="1850" spc="-5" dirty="0">
                <a:latin typeface="Times New Roman"/>
                <a:cs typeface="Times New Roman"/>
              </a:rPr>
              <a:t>on. </a:t>
            </a:r>
            <a:r>
              <a:rPr sz="1850" spc="10" dirty="0">
                <a:latin typeface="Times New Roman"/>
                <a:cs typeface="Times New Roman"/>
              </a:rPr>
              <a:t>If </a:t>
            </a:r>
            <a:r>
              <a:rPr sz="1850" spc="-20" dirty="0">
                <a:latin typeface="Times New Roman"/>
                <a:cs typeface="Times New Roman"/>
              </a:rPr>
              <a:t>there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15" dirty="0">
                <a:latin typeface="Times New Roman"/>
                <a:cs typeface="Times New Roman"/>
              </a:rPr>
              <a:t>only </a:t>
            </a:r>
            <a:r>
              <a:rPr sz="1850" spc="-10" dirty="0">
                <a:latin typeface="Times New Roman"/>
                <a:cs typeface="Times New Roman"/>
              </a:rPr>
              <a:t>one </a:t>
            </a:r>
            <a:r>
              <a:rPr sz="1850" spc="-15" dirty="0">
                <a:latin typeface="Times New Roman"/>
                <a:cs typeface="Times New Roman"/>
              </a:rPr>
              <a:t>variable, </a:t>
            </a:r>
            <a:r>
              <a:rPr sz="1850" spc="-25" dirty="0">
                <a:latin typeface="Times New Roman"/>
                <a:cs typeface="Times New Roman"/>
              </a:rPr>
              <a:t>its </a:t>
            </a:r>
            <a:r>
              <a:rPr sz="1850" spc="-15" dirty="0">
                <a:latin typeface="Times New Roman"/>
                <a:cs typeface="Times New Roman"/>
              </a:rPr>
              <a:t>index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30" dirty="0">
                <a:latin typeface="Times New Roman"/>
                <a:cs typeface="Times New Roman"/>
              </a:rPr>
              <a:t>one. </a:t>
            </a:r>
            <a:r>
              <a:rPr sz="1850" spc="-25" dirty="0">
                <a:latin typeface="Times New Roman"/>
                <a:cs typeface="Times New Roman"/>
              </a:rPr>
              <a:t>The </a:t>
            </a:r>
            <a:r>
              <a:rPr sz="1850" spc="-35" dirty="0">
                <a:latin typeface="Times New Roman"/>
                <a:cs typeface="Times New Roman"/>
              </a:rPr>
              <a:t>index </a:t>
            </a:r>
            <a:r>
              <a:rPr sz="1850" spc="-50" dirty="0">
                <a:latin typeface="Times New Roman"/>
                <a:cs typeface="Times New Roman"/>
              </a:rPr>
              <a:t>of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variable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passed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setXXX()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method.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61810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sz="2800" u="sng" spc="6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sz="2800" u="sng" spc="-10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execute</a:t>
            </a:r>
            <a:r>
              <a:rPr sz="2800" u="sng" spc="27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PreparedStatement?</a:t>
            </a:r>
            <a:endParaRPr sz="2800" u="sng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24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5902" y="888428"/>
            <a:ext cx="2716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000" spc="-20" dirty="0">
                <a:latin typeface="Times New Roman"/>
                <a:cs typeface="Times New Roman"/>
              </a:rPr>
              <a:t>2.	</a:t>
            </a:r>
            <a:r>
              <a:rPr sz="2000" dirty="0">
                <a:latin typeface="Times New Roman"/>
                <a:cs typeface="Times New Roman"/>
              </a:rPr>
              <a:t>Execute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the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4839" y="1376679"/>
            <a:ext cx="3413760" cy="58928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60960" marR="1085850">
              <a:lnSpc>
                <a:spcPct val="123800"/>
              </a:lnSpc>
              <a:spcBef>
                <a:spcPts val="30"/>
              </a:spcBef>
            </a:pPr>
            <a:r>
              <a:rPr sz="1350" b="1" i="1" spc="-10" dirty="0">
                <a:latin typeface="Courier New"/>
                <a:cs typeface="Courier New"/>
              </a:rPr>
              <a:t>pstmt</a:t>
            </a:r>
            <a:r>
              <a:rPr sz="1350" b="1" spc="-10" dirty="0">
                <a:latin typeface="Courier New"/>
                <a:cs typeface="Courier New"/>
              </a:rPr>
              <a:t>.executeQuery(); </a:t>
            </a:r>
            <a:r>
              <a:rPr sz="1350" b="1" spc="-5" dirty="0">
                <a:latin typeface="Courier New"/>
                <a:cs typeface="Courier New"/>
              </a:rPr>
              <a:t> </a:t>
            </a:r>
            <a:r>
              <a:rPr sz="1350" b="1" i="1" spc="-10" dirty="0">
                <a:latin typeface="Courier New"/>
                <a:cs typeface="Courier New"/>
              </a:rPr>
              <a:t>pstmt</a:t>
            </a:r>
            <a:r>
              <a:rPr sz="1350" b="1" spc="-10" dirty="0">
                <a:latin typeface="Courier New"/>
                <a:cs typeface="Courier New"/>
              </a:rPr>
              <a:t>.executeUpdate();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1160" y="2118359"/>
            <a:ext cx="6116320" cy="17475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313055" marR="1561465" indent="-224154">
              <a:lnSpc>
                <a:spcPct val="100200"/>
              </a:lnSpc>
              <a:spcBef>
                <a:spcPts val="180"/>
              </a:spcBef>
            </a:pPr>
            <a:r>
              <a:rPr sz="1500" spc="-10" dirty="0">
                <a:latin typeface="Courier New"/>
                <a:cs typeface="Courier New"/>
              </a:rPr>
              <a:t>PreparedStatement </a:t>
            </a:r>
            <a:r>
              <a:rPr sz="1500" dirty="0">
                <a:latin typeface="Courier New"/>
                <a:cs typeface="Courier New"/>
              </a:rPr>
              <a:t>pstmt </a:t>
            </a:r>
            <a:r>
              <a:rPr sz="1500" spc="15" dirty="0">
                <a:latin typeface="Courier New"/>
                <a:cs typeface="Courier New"/>
              </a:rPr>
              <a:t>= 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conn.prepareStatement("update </a:t>
            </a:r>
            <a:r>
              <a:rPr sz="1500" spc="5" dirty="0">
                <a:latin typeface="Courier New"/>
                <a:cs typeface="Courier New"/>
              </a:rPr>
              <a:t>STUDENT </a:t>
            </a:r>
            <a:r>
              <a:rPr sz="1500" spc="-8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set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SUPERVISOR</a:t>
            </a:r>
            <a:r>
              <a:rPr sz="1500" spc="-60" dirty="0">
                <a:latin typeface="Courier New"/>
                <a:cs typeface="Courier New"/>
              </a:rPr>
              <a:t> </a:t>
            </a:r>
            <a:r>
              <a:rPr sz="1500" spc="10" dirty="0">
                <a:latin typeface="Courier New"/>
                <a:cs typeface="Courier New"/>
              </a:rPr>
              <a:t>=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spc="10" dirty="0">
                <a:latin typeface="Courier New"/>
                <a:cs typeface="Courier New"/>
              </a:rPr>
              <a:t>?</a:t>
            </a:r>
            <a:r>
              <a:rPr sz="1500" spc="-6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Where</a:t>
            </a:r>
            <a:r>
              <a:rPr sz="1500" spc="2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ID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spc="10" dirty="0">
                <a:latin typeface="Courier New"/>
                <a:cs typeface="Courier New"/>
              </a:rPr>
              <a:t>=</a:t>
            </a:r>
            <a:r>
              <a:rPr sz="1500" spc="-60" dirty="0">
                <a:latin typeface="Courier New"/>
                <a:cs typeface="Courier New"/>
              </a:rPr>
              <a:t> </a:t>
            </a:r>
            <a:r>
              <a:rPr sz="1500" spc="5" dirty="0">
                <a:latin typeface="Courier New"/>
                <a:cs typeface="Courier New"/>
              </a:rPr>
              <a:t>?");</a:t>
            </a:r>
            <a:endParaRPr sz="1500">
              <a:latin typeface="Courier New"/>
              <a:cs typeface="Courier New"/>
            </a:endParaRPr>
          </a:p>
          <a:p>
            <a:pPr marL="88900">
              <a:lnSpc>
                <a:spcPts val="1764"/>
              </a:lnSpc>
            </a:pPr>
            <a:r>
              <a:rPr sz="1500" spc="-10" dirty="0">
                <a:latin typeface="Courier New"/>
                <a:cs typeface="Courier New"/>
              </a:rPr>
              <a:t>pstmt.setString(1,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“Jeetendra");</a:t>
            </a:r>
            <a:endParaRPr sz="1500">
              <a:latin typeface="Courier New"/>
              <a:cs typeface="Courier New"/>
            </a:endParaRPr>
          </a:p>
          <a:p>
            <a:pPr marL="88900" marR="3517900">
              <a:lnSpc>
                <a:spcPts val="1760"/>
              </a:lnSpc>
              <a:spcBef>
                <a:spcPts val="135"/>
              </a:spcBef>
            </a:pPr>
            <a:r>
              <a:rPr sz="1500" spc="-5" dirty="0">
                <a:latin typeface="Courier New"/>
                <a:cs typeface="Courier New"/>
              </a:rPr>
              <a:t>pstmt.setInt(2, </a:t>
            </a:r>
            <a:r>
              <a:rPr sz="1500" spc="5" dirty="0">
                <a:latin typeface="Courier New"/>
                <a:cs typeface="Courier New"/>
              </a:rPr>
              <a:t>id); 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pstmt.executeUpdate();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75" y="3916997"/>
            <a:ext cx="6184265" cy="581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0"/>
              </a:spcBef>
            </a:pPr>
            <a:r>
              <a:rPr sz="1850" b="1" spc="15" dirty="0">
                <a:latin typeface="Times New Roman"/>
                <a:cs typeface="Times New Roman"/>
              </a:rPr>
              <a:t>C</a:t>
            </a:r>
            <a:r>
              <a:rPr sz="1850" b="1" spc="-120" dirty="0">
                <a:latin typeface="Times New Roman"/>
                <a:cs typeface="Times New Roman"/>
              </a:rPr>
              <a:t>l</a:t>
            </a:r>
            <a:r>
              <a:rPr sz="1850" b="1" spc="30" dirty="0">
                <a:latin typeface="Times New Roman"/>
                <a:cs typeface="Times New Roman"/>
              </a:rPr>
              <a:t>o</a:t>
            </a:r>
            <a:r>
              <a:rPr sz="1850" b="1" spc="-5" dirty="0">
                <a:latin typeface="Times New Roman"/>
                <a:cs typeface="Times New Roman"/>
              </a:rPr>
              <a:t>s</a:t>
            </a:r>
            <a:r>
              <a:rPr sz="1850" b="1" spc="-114" dirty="0">
                <a:latin typeface="Times New Roman"/>
                <a:cs typeface="Times New Roman"/>
              </a:rPr>
              <a:t>i</a:t>
            </a:r>
            <a:r>
              <a:rPr sz="1850" b="1" spc="5" dirty="0">
                <a:latin typeface="Times New Roman"/>
                <a:cs typeface="Times New Roman"/>
              </a:rPr>
              <a:t>n</a:t>
            </a:r>
            <a:r>
              <a:rPr sz="1850" b="1" spc="-5" dirty="0">
                <a:latin typeface="Times New Roman"/>
                <a:cs typeface="Times New Roman"/>
              </a:rPr>
              <a:t>g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-5" dirty="0">
                <a:latin typeface="Times New Roman"/>
                <a:cs typeface="Times New Roman"/>
              </a:rPr>
              <a:t>a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65" dirty="0">
                <a:latin typeface="Times New Roman"/>
                <a:cs typeface="Times New Roman"/>
              </a:rPr>
              <a:t>P</a:t>
            </a:r>
            <a:r>
              <a:rPr sz="1850" b="1" spc="-25" dirty="0">
                <a:latin typeface="Times New Roman"/>
                <a:cs typeface="Times New Roman"/>
              </a:rPr>
              <a:t>r</a:t>
            </a:r>
            <a:r>
              <a:rPr sz="1850" b="1" spc="55" dirty="0">
                <a:latin typeface="Times New Roman"/>
                <a:cs typeface="Times New Roman"/>
              </a:rPr>
              <a:t>e</a:t>
            </a:r>
            <a:r>
              <a:rPr sz="1850" b="1" spc="5" dirty="0">
                <a:latin typeface="Times New Roman"/>
                <a:cs typeface="Times New Roman"/>
              </a:rPr>
              <a:t>p</a:t>
            </a:r>
            <a:r>
              <a:rPr sz="1850" b="1" spc="-50" dirty="0">
                <a:latin typeface="Times New Roman"/>
                <a:cs typeface="Times New Roman"/>
              </a:rPr>
              <a:t>a</a:t>
            </a:r>
            <a:r>
              <a:rPr sz="1850" b="1" spc="-25" dirty="0">
                <a:latin typeface="Times New Roman"/>
                <a:cs typeface="Times New Roman"/>
              </a:rPr>
              <a:t>re</a:t>
            </a:r>
            <a:r>
              <a:rPr sz="1850" b="1" spc="-5" dirty="0">
                <a:latin typeface="Times New Roman"/>
                <a:cs typeface="Times New Roman"/>
              </a:rPr>
              <a:t>d</a:t>
            </a:r>
            <a:r>
              <a:rPr sz="1850" b="1" spc="-210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S</a:t>
            </a:r>
            <a:r>
              <a:rPr sz="1850" b="1" spc="15" dirty="0">
                <a:latin typeface="Times New Roman"/>
                <a:cs typeface="Times New Roman"/>
              </a:rPr>
              <a:t>t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15" dirty="0">
                <a:latin typeface="Times New Roman"/>
                <a:cs typeface="Times New Roman"/>
              </a:rPr>
              <a:t>t</a:t>
            </a:r>
            <a:r>
              <a:rPr sz="1850" b="1" spc="-25" dirty="0">
                <a:latin typeface="Times New Roman"/>
                <a:cs typeface="Times New Roman"/>
              </a:rPr>
              <a:t>e</a:t>
            </a:r>
            <a:r>
              <a:rPr sz="1850" b="1" spc="-105" dirty="0">
                <a:latin typeface="Times New Roman"/>
                <a:cs typeface="Times New Roman"/>
              </a:rPr>
              <a:t>m</a:t>
            </a:r>
            <a:r>
              <a:rPr sz="1850" b="1" spc="-25" dirty="0">
                <a:latin typeface="Times New Roman"/>
                <a:cs typeface="Times New Roman"/>
              </a:rPr>
              <a:t>e</a:t>
            </a:r>
            <a:r>
              <a:rPr sz="1850" b="1" spc="5" dirty="0">
                <a:latin typeface="Times New Roman"/>
                <a:cs typeface="Times New Roman"/>
              </a:rPr>
              <a:t>n</a:t>
            </a:r>
            <a:r>
              <a:rPr sz="1850" b="1" spc="-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2190"/>
              </a:lnSpc>
            </a:pPr>
            <a:r>
              <a:rPr sz="1850" spc="5" dirty="0">
                <a:latin typeface="Times New Roman"/>
                <a:cs typeface="Times New Roman"/>
              </a:rPr>
              <a:t>If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close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prepared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statement,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have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prepare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again.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29336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60" dirty="0"/>
              <a:t> </a:t>
            </a:r>
            <a:r>
              <a:rPr u="sng" spc="-5" dirty="0"/>
              <a:t>1</a:t>
            </a:r>
            <a:r>
              <a:rPr u="sng" spc="-55" dirty="0"/>
              <a:t> </a:t>
            </a:r>
            <a:r>
              <a:rPr u="sng" spc="-15" dirty="0"/>
              <a:t>on</a:t>
            </a:r>
            <a:r>
              <a:rPr u="sng" spc="-35" dirty="0"/>
              <a:t> </a:t>
            </a:r>
            <a:r>
              <a:rPr u="sng" spc="-25" dirty="0"/>
              <a:t>PreparedStatement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25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532955"/>
            <a:ext cx="8557895" cy="351980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spc="15" dirty="0">
                <a:latin typeface="Times New Roman"/>
                <a:cs typeface="Times New Roman"/>
              </a:rPr>
              <a:t>/*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class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executed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manner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645"/>
              </a:spcBef>
            </a:pPr>
            <a:r>
              <a:rPr sz="1600" spc="15" dirty="0">
                <a:latin typeface="Times New Roman"/>
                <a:cs typeface="Times New Roman"/>
              </a:rPr>
              <a:t>if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you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want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table,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you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will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execute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java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JCreate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table1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table1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name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table. </a:t>
            </a:r>
            <a:r>
              <a:rPr sz="1600" spc="-35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table1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created </a:t>
            </a:r>
            <a:r>
              <a:rPr sz="1600" spc="5" dirty="0">
                <a:latin typeface="Times New Roman"/>
                <a:cs typeface="Times New Roman"/>
              </a:rPr>
              <a:t>with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columns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empid,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empname,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dept,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joindate,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salary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600" spc="-80" dirty="0">
                <a:latin typeface="Times New Roman"/>
                <a:cs typeface="Times New Roman"/>
              </a:rPr>
              <a:t>*/</a:t>
            </a:r>
            <a:endParaRPr sz="1600">
              <a:latin typeface="Times New Roman"/>
              <a:cs typeface="Times New Roman"/>
            </a:endParaRPr>
          </a:p>
          <a:p>
            <a:pPr marL="12700" marR="6293485">
              <a:lnSpc>
                <a:spcPts val="2570"/>
              </a:lnSpc>
              <a:spcBef>
                <a:spcPts val="110"/>
              </a:spcBef>
            </a:pPr>
            <a:r>
              <a:rPr sz="1600" dirty="0">
                <a:latin typeface="Courier New"/>
                <a:cs typeface="Courier New"/>
              </a:rPr>
              <a:t>import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50" dirty="0">
                <a:latin typeface="Courier New"/>
                <a:cs typeface="Courier New"/>
              </a:rPr>
              <a:t>java.sql.*; </a:t>
            </a:r>
            <a:r>
              <a:rPr sz="1650" spc="-975" dirty="0">
                <a:latin typeface="Courier New"/>
                <a:cs typeface="Courier New"/>
              </a:rPr>
              <a:t> </a:t>
            </a:r>
            <a:r>
              <a:rPr sz="1650" spc="10" dirty="0">
                <a:latin typeface="Courier New"/>
                <a:cs typeface="Courier New"/>
              </a:rPr>
              <a:t>class</a:t>
            </a:r>
            <a:r>
              <a:rPr sz="1650" spc="-95" dirty="0">
                <a:latin typeface="Courier New"/>
                <a:cs typeface="Courier New"/>
              </a:rPr>
              <a:t> </a:t>
            </a:r>
            <a:r>
              <a:rPr sz="1650" spc="-5" dirty="0">
                <a:latin typeface="Courier New"/>
                <a:cs typeface="Courier New"/>
              </a:rPr>
              <a:t>JCreate</a:t>
            </a:r>
            <a:r>
              <a:rPr sz="1650" spc="-10" dirty="0">
                <a:latin typeface="Courier New"/>
                <a:cs typeface="Courier New"/>
              </a:rPr>
              <a:t> </a:t>
            </a:r>
            <a:r>
              <a:rPr sz="1650" spc="15" dirty="0">
                <a:latin typeface="Courier New"/>
                <a:cs typeface="Courier New"/>
              </a:rPr>
              <a:t>{</a:t>
            </a:r>
            <a:endParaRPr sz="16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395"/>
              </a:spcBef>
            </a:pPr>
            <a:r>
              <a:rPr sz="1650" dirty="0">
                <a:latin typeface="Courier New"/>
                <a:cs typeface="Courier New"/>
              </a:rPr>
              <a:t>public </a:t>
            </a:r>
            <a:r>
              <a:rPr sz="1650" spc="-10" dirty="0">
                <a:latin typeface="Courier New"/>
                <a:cs typeface="Courier New"/>
              </a:rPr>
              <a:t>static</a:t>
            </a:r>
            <a:r>
              <a:rPr sz="1650" dirty="0">
                <a:latin typeface="Courier New"/>
                <a:cs typeface="Courier New"/>
              </a:rPr>
              <a:t> void</a:t>
            </a:r>
            <a:r>
              <a:rPr sz="1650" spc="5" dirty="0">
                <a:latin typeface="Courier New"/>
                <a:cs typeface="Courier New"/>
              </a:rPr>
              <a:t> </a:t>
            </a:r>
            <a:r>
              <a:rPr sz="1650" spc="-10" dirty="0">
                <a:latin typeface="Courier New"/>
                <a:cs typeface="Courier New"/>
              </a:rPr>
              <a:t>main(String</a:t>
            </a:r>
            <a:r>
              <a:rPr sz="1650" spc="40" dirty="0">
                <a:latin typeface="Courier New"/>
                <a:cs typeface="Courier New"/>
              </a:rPr>
              <a:t> </a:t>
            </a:r>
            <a:r>
              <a:rPr sz="1650" spc="-5" dirty="0">
                <a:latin typeface="Courier New"/>
                <a:cs typeface="Courier New"/>
              </a:rPr>
              <a:t>args[])</a:t>
            </a:r>
            <a:r>
              <a:rPr sz="1650" spc="10" dirty="0">
                <a:latin typeface="Courier New"/>
                <a:cs typeface="Courier New"/>
              </a:rPr>
              <a:t> </a:t>
            </a:r>
            <a:r>
              <a:rPr sz="1650" spc="-10" dirty="0">
                <a:latin typeface="Courier New"/>
                <a:cs typeface="Courier New"/>
              </a:rPr>
              <a:t>throws</a:t>
            </a:r>
            <a:r>
              <a:rPr sz="1650" spc="-5" dirty="0">
                <a:latin typeface="Courier New"/>
                <a:cs typeface="Courier New"/>
              </a:rPr>
              <a:t> SQLException</a:t>
            </a:r>
            <a:r>
              <a:rPr sz="1650" spc="20" dirty="0">
                <a:latin typeface="Courier New"/>
                <a:cs typeface="Courier New"/>
              </a:rPr>
              <a:t> </a:t>
            </a:r>
            <a:r>
              <a:rPr sz="1650" spc="15" dirty="0">
                <a:latin typeface="Courier New"/>
                <a:cs typeface="Courier New"/>
              </a:rPr>
              <a:t>{</a:t>
            </a:r>
            <a:endParaRPr sz="1650">
              <a:latin typeface="Courier New"/>
              <a:cs typeface="Courier New"/>
            </a:endParaRPr>
          </a:p>
          <a:p>
            <a:pPr marL="470534" marR="4316095">
              <a:lnSpc>
                <a:spcPts val="2640"/>
              </a:lnSpc>
              <a:spcBef>
                <a:spcPts val="120"/>
              </a:spcBef>
            </a:pPr>
            <a:r>
              <a:rPr sz="1650" dirty="0">
                <a:latin typeface="Courier New"/>
                <a:cs typeface="Courier New"/>
              </a:rPr>
              <a:t>JdbcCalls </a:t>
            </a:r>
            <a:r>
              <a:rPr sz="1650" spc="15" dirty="0">
                <a:latin typeface="Courier New"/>
                <a:cs typeface="Courier New"/>
              </a:rPr>
              <a:t>e</a:t>
            </a:r>
            <a:r>
              <a:rPr sz="1650" spc="-85" dirty="0">
                <a:latin typeface="Courier New"/>
                <a:cs typeface="Courier New"/>
              </a:rPr>
              <a:t> </a:t>
            </a:r>
            <a:r>
              <a:rPr sz="1650" spc="15" dirty="0">
                <a:latin typeface="Courier New"/>
                <a:cs typeface="Courier New"/>
              </a:rPr>
              <a:t>=</a:t>
            </a:r>
            <a:r>
              <a:rPr sz="1650" spc="-5" dirty="0">
                <a:latin typeface="Courier New"/>
                <a:cs typeface="Courier New"/>
              </a:rPr>
              <a:t> </a:t>
            </a:r>
            <a:r>
              <a:rPr sz="1650" spc="10" dirty="0">
                <a:latin typeface="Courier New"/>
                <a:cs typeface="Courier New"/>
              </a:rPr>
              <a:t>new</a:t>
            </a:r>
            <a:r>
              <a:rPr sz="1650" spc="-15" dirty="0">
                <a:latin typeface="Courier New"/>
                <a:cs typeface="Courier New"/>
              </a:rPr>
              <a:t> JdbcCalls(); </a:t>
            </a:r>
            <a:r>
              <a:rPr sz="1650" spc="-975" dirty="0">
                <a:latin typeface="Courier New"/>
                <a:cs typeface="Courier New"/>
              </a:rPr>
              <a:t> </a:t>
            </a:r>
            <a:r>
              <a:rPr sz="1650" spc="-5" dirty="0">
                <a:latin typeface="Courier New"/>
                <a:cs typeface="Courier New"/>
              </a:rPr>
              <a:t>e.create(args);</a:t>
            </a:r>
            <a:endParaRPr sz="16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395"/>
              </a:spcBef>
            </a:pPr>
            <a:r>
              <a:rPr sz="1650" spc="15" dirty="0">
                <a:latin typeface="Courier New"/>
                <a:cs typeface="Courier New"/>
              </a:rPr>
              <a:t>}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50" spc="15" dirty="0">
                <a:latin typeface="Courier New"/>
                <a:cs typeface="Courier New"/>
              </a:rPr>
              <a:t>}</a:t>
            </a:r>
            <a:endParaRPr sz="16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66813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1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0" dirty="0"/>
              <a:t>PreparedStatement(Contd.).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4655" y="4745609"/>
            <a:ext cx="135890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4655" y="649414"/>
            <a:ext cx="6655434" cy="401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78935">
              <a:lnSpc>
                <a:spcPct val="133600"/>
              </a:lnSpc>
              <a:spcBef>
                <a:spcPts val="100"/>
              </a:spcBef>
            </a:pPr>
            <a:r>
              <a:rPr sz="1450" spc="-25" dirty="0">
                <a:latin typeface="Courier New"/>
                <a:cs typeface="Courier New"/>
              </a:rPr>
              <a:t>import</a:t>
            </a:r>
            <a:r>
              <a:rPr sz="1450" spc="7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java.sql.*; </a:t>
            </a:r>
            <a:r>
              <a:rPr sz="1450" spc="-3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class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ConnectionClass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500"/>
              </a:spcBef>
            </a:pP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75" dirty="0">
                <a:latin typeface="Courier New"/>
                <a:cs typeface="Courier New"/>
              </a:rPr>
              <a:t> </a:t>
            </a:r>
            <a:r>
              <a:rPr sz="1450" spc="-20" dirty="0">
                <a:latin typeface="Courier New"/>
                <a:cs typeface="Courier New"/>
              </a:rPr>
              <a:t>con;</a:t>
            </a:r>
            <a:endParaRPr sz="1450">
              <a:latin typeface="Courier New"/>
              <a:cs typeface="Courier New"/>
            </a:endParaRPr>
          </a:p>
          <a:p>
            <a:pPr marL="469900" marR="2797810" indent="-30480">
              <a:lnSpc>
                <a:spcPct val="129099"/>
              </a:lnSpc>
              <a:spcBef>
                <a:spcPts val="80"/>
              </a:spcBef>
            </a:pP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connectionFactory()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try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795655">
              <a:lnSpc>
                <a:spcPct val="100000"/>
              </a:lnSpc>
              <a:spcBef>
                <a:spcPts val="585"/>
              </a:spcBef>
            </a:pPr>
            <a:r>
              <a:rPr sz="1450" spc="-35" dirty="0">
                <a:latin typeface="Courier New"/>
                <a:cs typeface="Courier New"/>
              </a:rPr>
              <a:t>Class.forName("oracle.jdbc.driver.OracleDriver");</a:t>
            </a:r>
            <a:endParaRPr sz="1450">
              <a:latin typeface="Courier New"/>
              <a:cs typeface="Courier New"/>
            </a:endParaRPr>
          </a:p>
          <a:p>
            <a:pPr marL="1192530">
              <a:lnSpc>
                <a:spcPts val="1714"/>
              </a:lnSpc>
              <a:spcBef>
                <a:spcPts val="505"/>
              </a:spcBef>
            </a:pPr>
            <a:r>
              <a:rPr sz="1450" spc="-35" dirty="0">
                <a:latin typeface="Courier New"/>
                <a:cs typeface="Courier New"/>
              </a:rPr>
              <a:t>con=DriverManager.getConnection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ts val="1714"/>
              </a:lnSpc>
            </a:pPr>
            <a:r>
              <a:rPr sz="1450" spc="-40" dirty="0">
                <a:latin typeface="Courier New"/>
                <a:cs typeface="Courier New"/>
              </a:rPr>
              <a:t>("Jdbc:Oracle:thin:@localhost:1521:ORCL","scott","tiger");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450" spc="-35" dirty="0">
                <a:latin typeface="Courier New"/>
                <a:cs typeface="Courier New"/>
              </a:rPr>
              <a:t>catch(Exception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e)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897255">
              <a:lnSpc>
                <a:spcPct val="100000"/>
              </a:lnSpc>
              <a:spcBef>
                <a:spcPts val="585"/>
              </a:spcBef>
            </a:pPr>
            <a:r>
              <a:rPr sz="1450" spc="-35" dirty="0">
                <a:latin typeface="Courier New"/>
                <a:cs typeface="Courier New"/>
              </a:rPr>
              <a:t>System.out.println(e);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25" dirty="0">
                <a:latin typeface="Courier New"/>
                <a:cs typeface="Courier New"/>
              </a:rPr>
              <a:t>return</a:t>
            </a:r>
            <a:r>
              <a:rPr sz="1450" spc="-11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con;</a:t>
            </a:r>
            <a:endParaRPr sz="145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1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5" dirty="0"/>
              <a:t>PreparedStatement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4655" y="4745609"/>
            <a:ext cx="135890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27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49414"/>
            <a:ext cx="8910955" cy="3944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6379" marR="7053580" indent="-234315" algn="just">
              <a:lnSpc>
                <a:spcPct val="131200"/>
              </a:lnSpc>
              <a:spcBef>
                <a:spcPts val="140"/>
              </a:spcBef>
            </a:pPr>
            <a:r>
              <a:rPr sz="1450" spc="-30" dirty="0">
                <a:latin typeface="Courier New"/>
                <a:cs typeface="Courier New"/>
              </a:rPr>
              <a:t>class </a:t>
            </a:r>
            <a:r>
              <a:rPr sz="1450" spc="-35" dirty="0">
                <a:latin typeface="Courier New"/>
                <a:cs typeface="Courier New"/>
              </a:rPr>
              <a:t>JdbcCalls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2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69900" marR="3944620" algn="just">
              <a:lnSpc>
                <a:spcPct val="129099"/>
              </a:lnSpc>
              <a:spcBef>
                <a:spcPts val="80"/>
              </a:spcBef>
            </a:pPr>
            <a:r>
              <a:rPr sz="1450" spc="-30" dirty="0">
                <a:latin typeface="Courier New"/>
                <a:cs typeface="Courier New"/>
              </a:rPr>
              <a:t>ConnectionClass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x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ConnectionClass();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con=x.connectionFactory();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5"/>
              </a:spcBef>
            </a:pPr>
            <a:r>
              <a:rPr sz="1450" spc="-20" dirty="0">
                <a:latin typeface="Courier New"/>
                <a:cs typeface="Courier New"/>
              </a:rPr>
              <a:t>void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create(String[]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args)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throws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SQLException</a:t>
            </a:r>
            <a:r>
              <a:rPr sz="1450" spc="-13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20" dirty="0">
                <a:latin typeface="Courier New"/>
                <a:cs typeface="Courier New"/>
              </a:rPr>
              <a:t>String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tablename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args[0];</a:t>
            </a:r>
            <a:endParaRPr sz="1450">
              <a:latin typeface="Courier New"/>
              <a:cs typeface="Courier New"/>
            </a:endParaRPr>
          </a:p>
          <a:p>
            <a:pPr marL="246379" marR="5080" indent="223520">
              <a:lnSpc>
                <a:spcPts val="1680"/>
              </a:lnSpc>
              <a:spcBef>
                <a:spcPts val="610"/>
              </a:spcBef>
            </a:pPr>
            <a:r>
              <a:rPr sz="1450" spc="-30" dirty="0">
                <a:latin typeface="Courier New"/>
                <a:cs typeface="Courier New"/>
              </a:rPr>
              <a:t>PreparedStatement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pst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con.prepareStatement("Create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table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"+tablename+"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(empid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number(4), </a:t>
            </a:r>
            <a:r>
              <a:rPr sz="1450" spc="-45" dirty="0">
                <a:latin typeface="Courier New"/>
                <a:cs typeface="Courier New"/>
              </a:rPr>
              <a:t>empname </a:t>
            </a:r>
            <a:r>
              <a:rPr sz="1450" spc="-30" dirty="0">
                <a:latin typeface="Courier New"/>
                <a:cs typeface="Courier New"/>
              </a:rPr>
              <a:t>varchar(20), </a:t>
            </a:r>
            <a:r>
              <a:rPr sz="1450" spc="-20" dirty="0">
                <a:latin typeface="Courier New"/>
                <a:cs typeface="Courier New"/>
              </a:rPr>
              <a:t>dept </a:t>
            </a:r>
            <a:r>
              <a:rPr sz="1450" spc="-40" dirty="0">
                <a:latin typeface="Courier New"/>
                <a:cs typeface="Courier New"/>
              </a:rPr>
              <a:t>varchar2(10), </a:t>
            </a:r>
            <a:r>
              <a:rPr sz="1450" spc="-25" dirty="0">
                <a:latin typeface="Courier New"/>
                <a:cs typeface="Courier New"/>
              </a:rPr>
              <a:t>joindate </a:t>
            </a:r>
            <a:r>
              <a:rPr sz="1450" spc="-45" dirty="0">
                <a:latin typeface="Courier New"/>
                <a:cs typeface="Courier New"/>
              </a:rPr>
              <a:t>date, </a:t>
            </a:r>
            <a:r>
              <a:rPr sz="1450" spc="-25" dirty="0">
                <a:latin typeface="Courier New"/>
                <a:cs typeface="Courier New"/>
              </a:rPr>
              <a:t>salary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number(10,2))");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</a:pPr>
            <a:r>
              <a:rPr sz="1450" spc="-35" dirty="0">
                <a:latin typeface="Courier New"/>
                <a:cs typeface="Courier New"/>
              </a:rPr>
              <a:t>pst.executeUpdate();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1450" spc="-30" dirty="0">
                <a:latin typeface="Courier New"/>
                <a:cs typeface="Courier New"/>
              </a:rPr>
              <a:t>System.out.println(“Table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created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successfully”);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74941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Example</a:t>
            </a:r>
            <a:r>
              <a:rPr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1</a:t>
            </a:r>
            <a:r>
              <a:rPr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on</a:t>
            </a:r>
            <a:r>
              <a:rPr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PreparedStatement</a:t>
            </a:r>
            <a:r>
              <a:rPr u="sng" spc="-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(Contd.).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303" y="1031636"/>
            <a:ext cx="7081520" cy="3952240"/>
            <a:chOff x="2062479" y="853439"/>
            <a:chExt cx="7081520" cy="3952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39" y="853439"/>
              <a:ext cx="5140960" cy="2001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2479" y="2854959"/>
              <a:ext cx="5140960" cy="195072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28</a:t>
            </a:fld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38480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8290" algn="l"/>
              </a:tabLst>
            </a:pPr>
            <a:r>
              <a:rPr u="sng" spc="-25" dirty="0"/>
              <a:t>Example	</a:t>
            </a:r>
            <a:r>
              <a:rPr u="sng" spc="-5" dirty="0"/>
              <a:t>2</a:t>
            </a:r>
            <a:r>
              <a:rPr u="sng" spc="-75" dirty="0"/>
              <a:t> </a:t>
            </a:r>
            <a:r>
              <a:rPr u="sng" spc="-15" dirty="0"/>
              <a:t>on</a:t>
            </a:r>
            <a:r>
              <a:rPr u="sng" spc="-50" dirty="0"/>
              <a:t> </a:t>
            </a:r>
            <a:r>
              <a:rPr u="sng" spc="-25" dirty="0"/>
              <a:t>PreparedStatement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29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663638"/>
            <a:ext cx="8404225" cy="43891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spc="15" dirty="0">
                <a:latin typeface="Times New Roman"/>
                <a:cs typeface="Times New Roman"/>
              </a:rPr>
              <a:t>/*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This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class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executed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following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manner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</a:p>
          <a:p>
            <a:pPr marL="246379" marR="5080" indent="-234315">
              <a:lnSpc>
                <a:spcPct val="100000"/>
              </a:lnSpc>
              <a:spcBef>
                <a:spcPts val="645"/>
              </a:spcBef>
            </a:pPr>
            <a:r>
              <a:rPr sz="1600" spc="-30" dirty="0">
                <a:latin typeface="Times New Roman"/>
                <a:cs typeface="Times New Roman"/>
              </a:rPr>
              <a:t>If you </a:t>
            </a:r>
            <a:r>
              <a:rPr sz="1600" spc="-10" dirty="0">
                <a:latin typeface="Times New Roman"/>
                <a:cs typeface="Times New Roman"/>
              </a:rPr>
              <a:t>want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insert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5" dirty="0">
                <a:latin typeface="Times New Roman"/>
                <a:cs typeface="Times New Roman"/>
              </a:rPr>
              <a:t>row </a:t>
            </a:r>
            <a:r>
              <a:rPr sz="1600" spc="-5" dirty="0">
                <a:latin typeface="Times New Roman"/>
                <a:cs typeface="Times New Roman"/>
              </a:rPr>
              <a:t>within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table, </a:t>
            </a:r>
            <a:r>
              <a:rPr sz="1600" spc="-30" dirty="0">
                <a:latin typeface="Times New Roman"/>
                <a:cs typeface="Times New Roman"/>
              </a:rPr>
              <a:t>you </a:t>
            </a:r>
            <a:r>
              <a:rPr sz="1600" spc="25" dirty="0">
                <a:latin typeface="Times New Roman"/>
                <a:cs typeface="Times New Roman"/>
              </a:rPr>
              <a:t>will </a:t>
            </a:r>
            <a:r>
              <a:rPr sz="1600" spc="-30" dirty="0">
                <a:latin typeface="Times New Roman"/>
                <a:cs typeface="Times New Roman"/>
              </a:rPr>
              <a:t>execute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 </a:t>
            </a:r>
            <a:r>
              <a:rPr sz="1600" spc="5" dirty="0">
                <a:latin typeface="Times New Roman"/>
                <a:cs typeface="Times New Roman"/>
              </a:rPr>
              <a:t>java </a:t>
            </a:r>
            <a:r>
              <a:rPr sz="1600" spc="-15" dirty="0">
                <a:latin typeface="Times New Roman"/>
                <a:cs typeface="Times New Roman"/>
              </a:rPr>
              <a:t>JInsert</a:t>
            </a:r>
            <a:r>
              <a:rPr sz="1600" spc="-10" dirty="0">
                <a:latin typeface="Times New Roman"/>
                <a:cs typeface="Times New Roman"/>
              </a:rPr>
              <a:t> jdbcdemotable </a:t>
            </a:r>
            <a:r>
              <a:rPr sz="1600" dirty="0">
                <a:latin typeface="Times New Roman"/>
                <a:cs typeface="Times New Roman"/>
              </a:rPr>
              <a:t>1001 </a:t>
            </a:r>
            <a:r>
              <a:rPr sz="1600" spc="-10" dirty="0">
                <a:latin typeface="Times New Roman"/>
                <a:cs typeface="Times New Roman"/>
              </a:rPr>
              <a:t>anish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admin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23-dec-2008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50000.00 </a:t>
            </a:r>
            <a:r>
              <a:rPr sz="1600" spc="-40" dirty="0">
                <a:latin typeface="Times New Roman"/>
                <a:cs typeface="Times New Roman"/>
              </a:rPr>
              <a:t>*/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450" spc="-20" dirty="0">
                <a:latin typeface="Courier New"/>
                <a:cs typeface="Courier New"/>
              </a:rPr>
              <a:t>import</a:t>
            </a:r>
            <a:r>
              <a:rPr sz="1450" spc="-11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java.sql.*;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25" dirty="0">
                <a:latin typeface="Courier New"/>
                <a:cs typeface="Courier New"/>
              </a:rPr>
              <a:t>class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JInsert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470534" marR="3997325" indent="-224154">
              <a:lnSpc>
                <a:spcPts val="2320"/>
              </a:lnSpc>
              <a:spcBef>
                <a:spcPts val="100"/>
              </a:spcBef>
            </a:pPr>
            <a:r>
              <a:rPr sz="1450" spc="-25" dirty="0">
                <a:latin typeface="Courier New"/>
                <a:cs typeface="Courier New"/>
              </a:rPr>
              <a:t>public </a:t>
            </a:r>
            <a:r>
              <a:rPr sz="1450" spc="-40" dirty="0">
                <a:latin typeface="Courier New"/>
                <a:cs typeface="Courier New"/>
              </a:rPr>
              <a:t>static void </a:t>
            </a:r>
            <a:r>
              <a:rPr sz="1450" spc="-35" dirty="0">
                <a:latin typeface="Courier New"/>
                <a:cs typeface="Courier New"/>
              </a:rPr>
              <a:t>main(String </a:t>
            </a:r>
            <a:r>
              <a:rPr sz="1450" spc="-40" dirty="0">
                <a:latin typeface="Courier New"/>
                <a:cs typeface="Courier New"/>
              </a:rPr>
              <a:t>args[]){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try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334"/>
              </a:spcBef>
            </a:pPr>
            <a:r>
              <a:rPr sz="1450" spc="-30" dirty="0">
                <a:latin typeface="Courier New"/>
                <a:cs typeface="Courier New"/>
              </a:rPr>
              <a:t>JdbcCalls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e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JdbcCalls();</a:t>
            </a:r>
            <a:endParaRPr sz="1450" dirty="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585"/>
              </a:spcBef>
            </a:pPr>
            <a:r>
              <a:rPr sz="1450" spc="-30" dirty="0">
                <a:latin typeface="Courier New"/>
                <a:cs typeface="Courier New"/>
              </a:rPr>
              <a:t>e.insert(args);</a:t>
            </a:r>
            <a:endParaRPr sz="1450" dirty="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927735" marR="3947160" indent="-457834">
              <a:lnSpc>
                <a:spcPct val="129000"/>
              </a:lnSpc>
              <a:spcBef>
                <a:spcPts val="80"/>
              </a:spcBef>
            </a:pPr>
            <a:r>
              <a:rPr sz="1450" spc="-40" dirty="0">
                <a:latin typeface="Courier New"/>
                <a:cs typeface="Courier New"/>
              </a:rPr>
              <a:t>catch(SQLException </a:t>
            </a:r>
            <a:r>
              <a:rPr sz="1450" dirty="0">
                <a:latin typeface="Courier New"/>
                <a:cs typeface="Courier New"/>
              </a:rPr>
              <a:t>e)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System.out.println(e.toString());</a:t>
            </a:r>
            <a:endParaRPr sz="1450" dirty="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80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74941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2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5" dirty="0"/>
              <a:t>PreparedStatement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30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824420"/>
            <a:ext cx="5365750" cy="380237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6379" marR="3508375" indent="-234315" algn="just">
              <a:lnSpc>
                <a:spcPct val="131200"/>
              </a:lnSpc>
              <a:spcBef>
                <a:spcPts val="140"/>
              </a:spcBef>
            </a:pPr>
            <a:r>
              <a:rPr sz="1450" spc="-30" dirty="0">
                <a:latin typeface="Courier New"/>
                <a:cs typeface="Courier New"/>
              </a:rPr>
              <a:t>class </a:t>
            </a:r>
            <a:r>
              <a:rPr sz="1450" spc="-35" dirty="0">
                <a:latin typeface="Courier New"/>
                <a:cs typeface="Courier New"/>
              </a:rPr>
              <a:t>JdbcCalls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2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69900" marR="400050" algn="just">
              <a:lnSpc>
                <a:spcPct val="129000"/>
              </a:lnSpc>
              <a:spcBef>
                <a:spcPts val="85"/>
              </a:spcBef>
            </a:pPr>
            <a:r>
              <a:rPr sz="1450" spc="-30" dirty="0">
                <a:latin typeface="Courier New"/>
                <a:cs typeface="Courier New"/>
              </a:rPr>
              <a:t>ConnectionClass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x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ConnectionClass();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con=x.connectionFactory();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5"/>
              </a:spcBef>
            </a:pPr>
            <a:r>
              <a:rPr sz="1450" spc="-20" dirty="0">
                <a:latin typeface="Courier New"/>
                <a:cs typeface="Courier New"/>
              </a:rPr>
              <a:t>void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insert(String[]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args)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throws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SQLException</a:t>
            </a:r>
            <a:r>
              <a:rPr sz="1450" spc="-13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1450" spc="-25" dirty="0">
                <a:latin typeface="Courier New"/>
                <a:cs typeface="Courier New"/>
              </a:rPr>
              <a:t>String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tablename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args[0];</a:t>
            </a:r>
            <a:endParaRPr sz="1450">
              <a:latin typeface="Courier New"/>
              <a:cs typeface="Courier New"/>
            </a:endParaRPr>
          </a:p>
          <a:p>
            <a:pPr marL="469900" marR="827405">
              <a:lnSpc>
                <a:spcPts val="2330"/>
              </a:lnSpc>
              <a:spcBef>
                <a:spcPts val="90"/>
              </a:spcBef>
            </a:pPr>
            <a:r>
              <a:rPr sz="1450" spc="-25" dirty="0">
                <a:latin typeface="Courier New"/>
                <a:cs typeface="Courier New"/>
              </a:rPr>
              <a:t>int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empid</a:t>
            </a:r>
            <a:r>
              <a:rPr sz="1450" spc="-4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Integer.parseInt(args[1]);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0" dirty="0">
                <a:latin typeface="Courier New"/>
                <a:cs typeface="Courier New"/>
              </a:rPr>
              <a:t>String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empname</a:t>
            </a:r>
            <a:r>
              <a:rPr sz="1450" spc="-13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args[2];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25"/>
              </a:spcBef>
            </a:pPr>
            <a:r>
              <a:rPr sz="1450" spc="-20" dirty="0">
                <a:latin typeface="Courier New"/>
                <a:cs typeface="Courier New"/>
              </a:rPr>
              <a:t>String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dept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args[3];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20" dirty="0">
                <a:latin typeface="Courier New"/>
                <a:cs typeface="Courier New"/>
              </a:rPr>
              <a:t>String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dat=args[4];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1450" spc="-25" dirty="0">
                <a:latin typeface="Courier New"/>
                <a:cs typeface="Courier New"/>
              </a:rPr>
              <a:t>Float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0" dirty="0">
                <a:latin typeface="Courier New"/>
                <a:cs typeface="Courier New"/>
              </a:rPr>
              <a:t>salary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12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Float.parseFloat(args[5]);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74941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2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5" dirty="0"/>
              <a:t>PreparedStatement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31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937958"/>
            <a:ext cx="8055609" cy="30759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46379" marR="5080" indent="223520">
              <a:lnSpc>
                <a:spcPts val="1680"/>
              </a:lnSpc>
              <a:spcBef>
                <a:spcPts val="195"/>
              </a:spcBef>
            </a:pPr>
            <a:r>
              <a:rPr sz="1450" spc="-30" dirty="0">
                <a:latin typeface="Courier New"/>
                <a:cs typeface="Courier New"/>
              </a:rPr>
              <a:t>PreparedStatement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pst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con.prepareStatement("insert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15" dirty="0">
                <a:latin typeface="Courier New"/>
                <a:cs typeface="Courier New"/>
              </a:rPr>
              <a:t>into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"+tablename+"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values(?,?,?,?,?)");</a:t>
            </a:r>
            <a:endParaRPr sz="1450">
              <a:latin typeface="Courier New"/>
              <a:cs typeface="Courier New"/>
            </a:endParaRPr>
          </a:p>
          <a:p>
            <a:pPr marL="469900" marR="4799965">
              <a:lnSpc>
                <a:spcPct val="129000"/>
              </a:lnSpc>
              <a:spcBef>
                <a:spcPts val="40"/>
              </a:spcBef>
            </a:pPr>
            <a:r>
              <a:rPr sz="1450" spc="-30" dirty="0">
                <a:latin typeface="Courier New"/>
                <a:cs typeface="Courier New"/>
              </a:rPr>
              <a:t>pst.setInt(1, empid); </a:t>
            </a:r>
            <a:r>
              <a:rPr sz="1450" spc="-2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pst.setString(2,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empname);</a:t>
            </a:r>
            <a:endParaRPr sz="1450">
              <a:latin typeface="Courier New"/>
              <a:cs typeface="Courier New"/>
            </a:endParaRPr>
          </a:p>
          <a:p>
            <a:pPr marL="469900" marR="5013960">
              <a:lnSpc>
                <a:spcPct val="130500"/>
              </a:lnSpc>
              <a:spcBef>
                <a:spcPts val="55"/>
              </a:spcBef>
            </a:pPr>
            <a:r>
              <a:rPr sz="1450" spc="-35" dirty="0">
                <a:latin typeface="Courier New"/>
                <a:cs typeface="Courier New"/>
              </a:rPr>
              <a:t>pst.setString(3, </a:t>
            </a:r>
            <a:r>
              <a:rPr sz="1450" spc="-20" dirty="0">
                <a:latin typeface="Courier New"/>
                <a:cs typeface="Courier New"/>
              </a:rPr>
              <a:t>dept);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pst.setString(4, </a:t>
            </a:r>
            <a:r>
              <a:rPr sz="1450" spc="-25" dirty="0">
                <a:latin typeface="Courier New"/>
                <a:cs typeface="Courier New"/>
              </a:rPr>
              <a:t>dat);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pst.setFloat(5,</a:t>
            </a:r>
            <a:r>
              <a:rPr sz="1450" spc="-9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salary);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pst.executeUpdate();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35" dirty="0">
                <a:latin typeface="Courier New"/>
                <a:cs typeface="Courier New"/>
              </a:rPr>
              <a:t>System.out.println(“Record</a:t>
            </a:r>
            <a:r>
              <a:rPr sz="1450" spc="-2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inserted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successfully”);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674941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2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5" dirty="0"/>
              <a:t>PreparedStatement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1520" y="690879"/>
            <a:ext cx="4795520" cy="39928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32</a:t>
            </a:fld>
            <a:endParaRPr spc="-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941816" y="4976177"/>
            <a:ext cx="107314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solidFill>
                  <a:srgbClr val="4D4E5C"/>
                </a:solidFill>
                <a:latin typeface="Arial MT"/>
                <a:cs typeface="Arial MT"/>
              </a:rPr>
              <a:t>35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38480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8290" algn="l"/>
              </a:tabLst>
            </a:pPr>
            <a:r>
              <a:rPr u="sng" spc="-25" dirty="0"/>
              <a:t>Example	</a:t>
            </a:r>
            <a:r>
              <a:rPr u="sng" spc="-5" dirty="0"/>
              <a:t>3</a:t>
            </a:r>
            <a:r>
              <a:rPr u="sng" spc="-75" dirty="0"/>
              <a:t> </a:t>
            </a:r>
            <a:r>
              <a:rPr u="sng" spc="-15" dirty="0"/>
              <a:t>on</a:t>
            </a:r>
            <a:r>
              <a:rPr u="sng" spc="-50" dirty="0"/>
              <a:t> </a:t>
            </a:r>
            <a:r>
              <a:rPr u="sng" spc="-25" dirty="0"/>
              <a:t>PreparedStatement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6880" y="663638"/>
            <a:ext cx="6913880" cy="4175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spc="15" dirty="0">
                <a:latin typeface="Times New Roman"/>
                <a:cs typeface="Times New Roman"/>
              </a:rPr>
              <a:t>/*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This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class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is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executed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in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 </a:t>
            </a:r>
            <a:r>
              <a:rPr sz="1600" spc="-50" dirty="0">
                <a:latin typeface="Times New Roman"/>
                <a:cs typeface="Times New Roman"/>
              </a:rPr>
              <a:t>manner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600" spc="-30" dirty="0">
                <a:latin typeface="Times New Roman"/>
                <a:cs typeface="Times New Roman"/>
              </a:rPr>
              <a:t>If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you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want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display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all</a:t>
            </a:r>
            <a:r>
              <a:rPr sz="1600" spc="-45" dirty="0">
                <a:latin typeface="Times New Roman"/>
                <a:cs typeface="Times New Roman"/>
              </a:rPr>
              <a:t> the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rows,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you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will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execute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java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JDisplay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jdbcdemotable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85" dirty="0">
                <a:latin typeface="Times New Roman"/>
                <a:cs typeface="Times New Roman"/>
              </a:rPr>
              <a:t>*/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450" spc="-25" dirty="0">
                <a:latin typeface="Courier New"/>
                <a:cs typeface="Courier New"/>
              </a:rPr>
              <a:t>import</a:t>
            </a:r>
            <a:r>
              <a:rPr sz="1450" spc="-11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java.sql.*;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450" spc="-30" dirty="0">
                <a:latin typeface="Courier New"/>
                <a:cs typeface="Courier New"/>
              </a:rPr>
              <a:t>class</a:t>
            </a:r>
            <a:r>
              <a:rPr sz="1450" spc="-9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JDisplay</a:t>
            </a:r>
            <a:r>
              <a:rPr sz="1450" spc="-1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69900" marR="2385695" indent="-224154">
              <a:lnSpc>
                <a:spcPct val="129000"/>
              </a:lnSpc>
              <a:spcBef>
                <a:spcPts val="80"/>
              </a:spcBef>
            </a:pPr>
            <a:r>
              <a:rPr sz="1450" spc="-20" dirty="0">
                <a:latin typeface="Courier New"/>
                <a:cs typeface="Courier New"/>
              </a:rPr>
              <a:t>public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static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void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main(String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args[])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try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927735" marR="2780665">
              <a:lnSpc>
                <a:spcPct val="129000"/>
              </a:lnSpc>
              <a:spcBef>
                <a:spcPts val="80"/>
              </a:spcBef>
            </a:pPr>
            <a:r>
              <a:rPr sz="1450" spc="-35" dirty="0">
                <a:latin typeface="Courier New"/>
                <a:cs typeface="Courier New"/>
              </a:rPr>
              <a:t>JdbcCalls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e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JdbcCalls();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e.display(args);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927735" marR="3634104" indent="-457834">
              <a:lnSpc>
                <a:spcPts val="2330"/>
              </a:lnSpc>
              <a:spcBef>
                <a:spcPts val="90"/>
              </a:spcBef>
            </a:pPr>
            <a:r>
              <a:rPr sz="1450" spc="-30" dirty="0">
                <a:latin typeface="Courier New"/>
                <a:cs typeface="Courier New"/>
              </a:rPr>
              <a:t>catch(Exception </a:t>
            </a:r>
            <a:r>
              <a:rPr sz="1450" spc="-40" dirty="0">
                <a:latin typeface="Courier New"/>
                <a:cs typeface="Courier New"/>
              </a:rPr>
              <a:t>e)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dirty="0">
                <a:latin typeface="Courier New"/>
                <a:cs typeface="Courier New"/>
              </a:rPr>
              <a:t> </a:t>
            </a:r>
            <a:r>
              <a:rPr sz="1450" spc="5" dirty="0">
                <a:latin typeface="Courier New"/>
                <a:cs typeface="Courier New"/>
              </a:rPr>
              <a:t>S</a:t>
            </a:r>
            <a:r>
              <a:rPr sz="1450" spc="-75" dirty="0">
                <a:latin typeface="Courier New"/>
                <a:cs typeface="Courier New"/>
              </a:rPr>
              <a:t>y</a:t>
            </a:r>
            <a:r>
              <a:rPr sz="1450" spc="5" dirty="0">
                <a:latin typeface="Courier New"/>
                <a:cs typeface="Courier New"/>
              </a:rPr>
              <a:t>s</a:t>
            </a:r>
            <a:r>
              <a:rPr sz="1450" spc="-75" dirty="0">
                <a:latin typeface="Courier New"/>
                <a:cs typeface="Courier New"/>
              </a:rPr>
              <a:t>t</a:t>
            </a:r>
            <a:r>
              <a:rPr sz="1450" spc="5" dirty="0">
                <a:latin typeface="Courier New"/>
                <a:cs typeface="Courier New"/>
              </a:rPr>
              <a:t>e</a:t>
            </a:r>
            <a:r>
              <a:rPr sz="1450" spc="-75" dirty="0">
                <a:latin typeface="Courier New"/>
                <a:cs typeface="Courier New"/>
              </a:rPr>
              <a:t>m</a:t>
            </a:r>
            <a:r>
              <a:rPr sz="1450" spc="5" dirty="0">
                <a:latin typeface="Courier New"/>
                <a:cs typeface="Courier New"/>
              </a:rPr>
              <a:t>.</a:t>
            </a:r>
            <a:r>
              <a:rPr sz="1450" spc="-75" dirty="0">
                <a:latin typeface="Courier New"/>
                <a:cs typeface="Courier New"/>
              </a:rPr>
              <a:t>o</a:t>
            </a:r>
            <a:r>
              <a:rPr sz="1450" spc="5" dirty="0">
                <a:latin typeface="Courier New"/>
                <a:cs typeface="Courier New"/>
              </a:rPr>
              <a:t>u</a:t>
            </a:r>
            <a:r>
              <a:rPr sz="1450" spc="-75" dirty="0">
                <a:latin typeface="Courier New"/>
                <a:cs typeface="Courier New"/>
              </a:rPr>
              <a:t>t</a:t>
            </a:r>
            <a:r>
              <a:rPr sz="1450" spc="5" dirty="0">
                <a:latin typeface="Courier New"/>
                <a:cs typeface="Courier New"/>
              </a:rPr>
              <a:t>.</a:t>
            </a:r>
            <a:r>
              <a:rPr sz="1450" spc="-75" dirty="0">
                <a:latin typeface="Courier New"/>
                <a:cs typeface="Courier New"/>
              </a:rPr>
              <a:t>p</a:t>
            </a:r>
            <a:r>
              <a:rPr sz="1450" spc="5" dirty="0">
                <a:latin typeface="Courier New"/>
                <a:cs typeface="Courier New"/>
              </a:rPr>
              <a:t>r</a:t>
            </a:r>
            <a:r>
              <a:rPr sz="1450" spc="-75" dirty="0">
                <a:latin typeface="Courier New"/>
                <a:cs typeface="Courier New"/>
              </a:rPr>
              <a:t>in</a:t>
            </a:r>
            <a:r>
              <a:rPr sz="1450" spc="5" dirty="0">
                <a:latin typeface="Courier New"/>
                <a:cs typeface="Courier New"/>
              </a:rPr>
              <a:t>t</a:t>
            </a:r>
            <a:r>
              <a:rPr sz="1450" spc="-75" dirty="0">
                <a:latin typeface="Courier New"/>
                <a:cs typeface="Courier New"/>
              </a:rPr>
              <a:t>l</a:t>
            </a:r>
            <a:r>
              <a:rPr sz="1450" spc="5" dirty="0">
                <a:latin typeface="Courier New"/>
                <a:cs typeface="Courier New"/>
              </a:rPr>
              <a:t>n</a:t>
            </a:r>
            <a:r>
              <a:rPr sz="1450" spc="-75" dirty="0">
                <a:latin typeface="Courier New"/>
                <a:cs typeface="Courier New"/>
              </a:rPr>
              <a:t>(</a:t>
            </a:r>
            <a:r>
              <a:rPr sz="1450" spc="5" dirty="0">
                <a:latin typeface="Courier New"/>
                <a:cs typeface="Courier New"/>
              </a:rPr>
              <a:t>e</a:t>
            </a:r>
            <a:r>
              <a:rPr sz="1450" spc="-75" dirty="0">
                <a:latin typeface="Courier New"/>
                <a:cs typeface="Courier New"/>
              </a:rPr>
              <a:t>)</a:t>
            </a:r>
            <a:r>
              <a:rPr sz="1450" spc="-5" dirty="0">
                <a:latin typeface="Courier New"/>
                <a:cs typeface="Courier New"/>
              </a:rPr>
              <a:t>;</a:t>
            </a:r>
            <a:endParaRPr sz="14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2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880" y="4877752"/>
            <a:ext cx="135890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55546"/>
            <a:ext cx="674941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5" dirty="0"/>
              <a:t>3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</a:t>
            </a:r>
            <a:r>
              <a:rPr u="sng" spc="-25" dirty="0"/>
              <a:t>PreparedStatement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34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66700" y="668464"/>
            <a:ext cx="8478901" cy="434830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6379" marR="6392545" indent="-234315" algn="just">
              <a:lnSpc>
                <a:spcPct val="131200"/>
              </a:lnSpc>
              <a:spcBef>
                <a:spcPts val="140"/>
              </a:spcBef>
            </a:pPr>
            <a:r>
              <a:rPr sz="1450" spc="-30" dirty="0">
                <a:latin typeface="Courier New"/>
                <a:cs typeface="Courier New"/>
              </a:rPr>
              <a:t>class </a:t>
            </a:r>
            <a:r>
              <a:rPr sz="1450" spc="-35" dirty="0">
                <a:latin typeface="Courier New"/>
                <a:cs typeface="Courier New"/>
              </a:rPr>
              <a:t>JdbcCalls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2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470534" marR="3295015" algn="just">
              <a:lnSpc>
                <a:spcPct val="129099"/>
              </a:lnSpc>
              <a:spcBef>
                <a:spcPts val="80"/>
              </a:spcBef>
            </a:pPr>
            <a:r>
              <a:rPr sz="1450" spc="-35" dirty="0">
                <a:latin typeface="Courier New"/>
                <a:cs typeface="Courier New"/>
              </a:rPr>
              <a:t>ConnectionClass </a:t>
            </a:r>
            <a:r>
              <a:rPr sz="1450" spc="-5" dirty="0">
                <a:latin typeface="Courier New"/>
                <a:cs typeface="Courier New"/>
              </a:rPr>
              <a:t>x = </a:t>
            </a:r>
            <a:r>
              <a:rPr sz="1450" spc="-25" dirty="0">
                <a:latin typeface="Courier New"/>
                <a:cs typeface="Courier New"/>
              </a:rPr>
              <a:t>new </a:t>
            </a:r>
            <a:r>
              <a:rPr lang="en-US" sz="1450" spc="-25" dirty="0" err="1" smtClean="0">
                <a:latin typeface="Courier New"/>
                <a:cs typeface="Courier New"/>
              </a:rPr>
              <a:t>C</a:t>
            </a:r>
            <a:r>
              <a:rPr sz="1450" spc="-40" dirty="0" err="1" smtClean="0">
                <a:latin typeface="Courier New"/>
                <a:cs typeface="Courier New"/>
              </a:rPr>
              <a:t>onnectionClass</a:t>
            </a:r>
            <a:r>
              <a:rPr sz="1450" spc="-40" dirty="0">
                <a:latin typeface="Courier New"/>
                <a:cs typeface="Courier New"/>
              </a:rPr>
              <a:t>();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con=x.connectionFactory();</a:t>
            </a:r>
            <a:endParaRPr sz="1450" dirty="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50" spc="-20" dirty="0">
                <a:latin typeface="Courier New"/>
                <a:cs typeface="Courier New"/>
              </a:rPr>
              <a:t>void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display(String[]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args)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throws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SQLException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85"/>
              </a:spcBef>
            </a:pPr>
            <a:r>
              <a:rPr sz="1450" spc="-25" dirty="0">
                <a:latin typeface="Courier New"/>
                <a:cs typeface="Courier New"/>
              </a:rPr>
              <a:t>String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tablename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args[0];</a:t>
            </a:r>
            <a:endParaRPr sz="1450" dirty="0">
              <a:latin typeface="Courier New"/>
              <a:cs typeface="Courier New"/>
            </a:endParaRPr>
          </a:p>
          <a:p>
            <a:pPr marL="470534" marR="5080">
              <a:lnSpc>
                <a:spcPts val="2330"/>
              </a:lnSpc>
              <a:spcBef>
                <a:spcPts val="90"/>
              </a:spcBef>
            </a:pPr>
            <a:r>
              <a:rPr sz="1450" spc="-35" dirty="0">
                <a:latin typeface="Courier New"/>
                <a:cs typeface="Courier New"/>
              </a:rPr>
              <a:t>PreparedStatement </a:t>
            </a:r>
            <a:r>
              <a:rPr sz="1450" spc="-25" dirty="0">
                <a:latin typeface="Courier New"/>
                <a:cs typeface="Courier New"/>
              </a:rPr>
              <a:t>pst </a:t>
            </a:r>
            <a:r>
              <a:rPr sz="1450" spc="-5" dirty="0">
                <a:latin typeface="Courier New"/>
                <a:cs typeface="Courier New"/>
              </a:rPr>
              <a:t>= </a:t>
            </a:r>
            <a:r>
              <a:rPr sz="1450" spc="-40" dirty="0">
                <a:latin typeface="Courier New"/>
                <a:cs typeface="Courier New"/>
              </a:rPr>
              <a:t>con.prepareStatement("select </a:t>
            </a:r>
            <a:r>
              <a:rPr sz="1450" spc="-5" dirty="0">
                <a:latin typeface="Courier New"/>
                <a:cs typeface="Courier New"/>
              </a:rPr>
              <a:t>* </a:t>
            </a:r>
            <a:r>
              <a:rPr sz="1450" spc="-20" dirty="0">
                <a:latin typeface="Courier New"/>
                <a:cs typeface="Courier New"/>
              </a:rPr>
              <a:t>from </a:t>
            </a:r>
            <a:r>
              <a:rPr sz="1450" spc="-40" dirty="0">
                <a:latin typeface="Courier New"/>
                <a:cs typeface="Courier New"/>
              </a:rPr>
              <a:t>"+tablename);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ResultSet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rs=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pst.executeQuery();</a:t>
            </a:r>
            <a:endParaRPr sz="1450" dirty="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325"/>
              </a:spcBef>
            </a:pPr>
            <a:r>
              <a:rPr sz="1450" spc="-40" dirty="0">
                <a:latin typeface="Courier New"/>
                <a:cs typeface="Courier New"/>
              </a:rPr>
              <a:t>while(rs.next())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246379" marR="228600">
              <a:lnSpc>
                <a:spcPts val="1680"/>
              </a:lnSpc>
              <a:spcBef>
                <a:spcPts val="690"/>
              </a:spcBef>
            </a:pPr>
            <a:r>
              <a:rPr sz="1450" spc="-40" dirty="0">
                <a:latin typeface="Courier New"/>
                <a:cs typeface="Courier New"/>
              </a:rPr>
              <a:t>System.out.println(rs.getInt(1)+"</a:t>
            </a:r>
            <a:r>
              <a:rPr sz="1450" spc="-1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"+rs.getString(2)+"</a:t>
            </a:r>
            <a:r>
              <a:rPr sz="1450" spc="-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"+rs.getString(3)+"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"+rs.getDate(4)+"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"+rs.getFloat(5));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459"/>
              </a:spcBef>
            </a:pPr>
            <a:r>
              <a:rPr sz="1450" spc="-30" dirty="0">
                <a:latin typeface="Courier New"/>
                <a:cs typeface="Courier New"/>
              </a:rPr>
              <a:t>con.close();</a:t>
            </a:r>
            <a:endParaRPr sz="1450" dirty="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r>
              <a:rPr sz="1450" spc="-12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070" y="137540"/>
            <a:ext cx="674243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70" dirty="0"/>
              <a:t> </a:t>
            </a:r>
            <a:r>
              <a:rPr u="sng" spc="-5" dirty="0"/>
              <a:t>3</a:t>
            </a:r>
            <a:r>
              <a:rPr u="sng" spc="-70" dirty="0"/>
              <a:t> </a:t>
            </a:r>
            <a:r>
              <a:rPr u="sng" spc="-15" dirty="0"/>
              <a:t>on</a:t>
            </a:r>
            <a:r>
              <a:rPr u="sng" spc="-50" dirty="0"/>
              <a:t> </a:t>
            </a:r>
            <a:r>
              <a:rPr u="sng" spc="-25" dirty="0"/>
              <a:t>PreparedStatement</a:t>
            </a:r>
            <a:r>
              <a:rPr u="sng" spc="-120" dirty="0"/>
              <a:t> </a:t>
            </a:r>
            <a:r>
              <a:rPr u="sng" spc="-10" dirty="0"/>
              <a:t>(Contd.).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600" y="629919"/>
            <a:ext cx="5323840" cy="42265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35</a:t>
            </a:fld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81266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5" dirty="0"/>
              <a:t>E</a:t>
            </a:r>
            <a:r>
              <a:rPr u="sng" spc="-35" dirty="0"/>
              <a:t>xam</a:t>
            </a:r>
            <a:r>
              <a:rPr u="sng" spc="-20" dirty="0"/>
              <a:t>p</a:t>
            </a:r>
            <a:r>
              <a:rPr u="sng" spc="-25" dirty="0"/>
              <a:t>l</a:t>
            </a:r>
            <a:r>
              <a:rPr u="sng" spc="-5" dirty="0"/>
              <a:t>e</a:t>
            </a:r>
            <a:r>
              <a:rPr u="sng" spc="-50" dirty="0"/>
              <a:t> </a:t>
            </a:r>
            <a:r>
              <a:rPr u="sng" spc="-20" dirty="0"/>
              <a:t>o</a:t>
            </a:r>
            <a:r>
              <a:rPr u="sng" spc="-5" dirty="0"/>
              <a:t>n</a:t>
            </a:r>
            <a:r>
              <a:rPr u="sng" spc="-30" dirty="0"/>
              <a:t> </a:t>
            </a:r>
            <a:r>
              <a:rPr u="sng" spc="110" dirty="0"/>
              <a:t>M</a:t>
            </a:r>
            <a:r>
              <a:rPr u="sng" spc="-20" dirty="0"/>
              <a:t>od</a:t>
            </a:r>
            <a:r>
              <a:rPr u="sng" spc="-25" dirty="0"/>
              <a:t>i</a:t>
            </a:r>
            <a:r>
              <a:rPr u="sng" spc="-5" dirty="0"/>
              <a:t>f</a:t>
            </a:r>
            <a:r>
              <a:rPr u="sng" spc="-35" dirty="0"/>
              <a:t>y</a:t>
            </a:r>
            <a:r>
              <a:rPr u="sng" spc="-25" dirty="0"/>
              <a:t>i</a:t>
            </a:r>
            <a:r>
              <a:rPr u="sng" spc="-20" dirty="0"/>
              <a:t>n</a:t>
            </a:r>
            <a:r>
              <a:rPr u="sng" spc="-5" dirty="0"/>
              <a:t>g</a:t>
            </a:r>
            <a:r>
              <a:rPr u="sng" spc="-275" dirty="0"/>
              <a:t> </a:t>
            </a:r>
            <a:r>
              <a:rPr u="sng" spc="-5" dirty="0"/>
              <a:t>t</a:t>
            </a:r>
            <a:r>
              <a:rPr u="sng" spc="-20" dirty="0"/>
              <a:t>h</a:t>
            </a:r>
            <a:r>
              <a:rPr u="sng" spc="-5" dirty="0"/>
              <a:t>e</a:t>
            </a:r>
            <a:r>
              <a:rPr u="sng" spc="-50" dirty="0"/>
              <a:t> </a:t>
            </a:r>
            <a:r>
              <a:rPr u="sng" dirty="0"/>
              <a:t>r</a:t>
            </a:r>
            <a:r>
              <a:rPr u="sng" spc="-20" dirty="0"/>
              <a:t>o</a:t>
            </a:r>
            <a:r>
              <a:rPr u="sng" spc="-5" dirty="0"/>
              <a:t>w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68300" y="667702"/>
            <a:ext cx="8424545" cy="42627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350" spc="10" dirty="0">
                <a:latin typeface="Arial MT"/>
                <a:cs typeface="Arial MT"/>
              </a:rPr>
              <a:t>/*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30" dirty="0">
                <a:latin typeface="Arial MT"/>
                <a:cs typeface="Arial MT"/>
              </a:rPr>
              <a:t>This</a:t>
            </a:r>
            <a:r>
              <a:rPr sz="1350" spc="70" dirty="0">
                <a:latin typeface="Arial MT"/>
                <a:cs typeface="Arial MT"/>
              </a:rPr>
              <a:t> </a:t>
            </a:r>
            <a:r>
              <a:rPr sz="1350" spc="-20" dirty="0">
                <a:latin typeface="Arial MT"/>
                <a:cs typeface="Arial MT"/>
              </a:rPr>
              <a:t>class</a:t>
            </a:r>
            <a:r>
              <a:rPr sz="1350" spc="70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is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spc="-35" dirty="0">
                <a:latin typeface="Arial MT"/>
                <a:cs typeface="Arial MT"/>
              </a:rPr>
              <a:t>executed</a:t>
            </a:r>
            <a:r>
              <a:rPr sz="1350" spc="240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in</a:t>
            </a:r>
            <a:r>
              <a:rPr sz="1350" spc="-10" dirty="0">
                <a:latin typeface="Arial MT"/>
                <a:cs typeface="Arial MT"/>
              </a:rPr>
              <a:t> </a:t>
            </a:r>
            <a:r>
              <a:rPr sz="1350" spc="-30" dirty="0">
                <a:latin typeface="Arial MT"/>
                <a:cs typeface="Arial MT"/>
              </a:rPr>
              <a:t>the</a:t>
            </a:r>
            <a:r>
              <a:rPr sz="1350" spc="75" dirty="0">
                <a:latin typeface="Arial MT"/>
                <a:cs typeface="Arial MT"/>
              </a:rPr>
              <a:t> </a:t>
            </a:r>
            <a:r>
              <a:rPr sz="1350" spc="-35" dirty="0">
                <a:latin typeface="Arial MT"/>
                <a:cs typeface="Arial MT"/>
              </a:rPr>
              <a:t>following</a:t>
            </a:r>
            <a:r>
              <a:rPr sz="1350" spc="-20" dirty="0">
                <a:latin typeface="Arial MT"/>
                <a:cs typeface="Arial MT"/>
              </a:rPr>
              <a:t> </a:t>
            </a:r>
            <a:r>
              <a:rPr sz="1350" spc="-40" dirty="0">
                <a:latin typeface="Arial MT"/>
                <a:cs typeface="Arial MT"/>
              </a:rPr>
              <a:t>manner</a:t>
            </a:r>
            <a:r>
              <a:rPr sz="1350" spc="13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: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ts val="1600"/>
              </a:lnSpc>
              <a:spcBef>
                <a:spcPts val="695"/>
              </a:spcBef>
            </a:pPr>
            <a:r>
              <a:rPr sz="1350" spc="10" dirty="0">
                <a:latin typeface="Arial MT"/>
                <a:cs typeface="Arial MT"/>
              </a:rPr>
              <a:t>If </a:t>
            </a:r>
            <a:r>
              <a:rPr sz="1350" dirty="0">
                <a:latin typeface="Arial MT"/>
                <a:cs typeface="Arial MT"/>
              </a:rPr>
              <a:t>you </a:t>
            </a:r>
            <a:r>
              <a:rPr sz="1350" spc="-40" dirty="0">
                <a:latin typeface="Arial MT"/>
                <a:cs typeface="Arial MT"/>
              </a:rPr>
              <a:t>want</a:t>
            </a:r>
            <a:r>
              <a:rPr sz="1350" spc="-35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to </a:t>
            </a:r>
            <a:r>
              <a:rPr sz="1350" spc="-20" dirty="0">
                <a:latin typeface="Arial MT"/>
                <a:cs typeface="Arial MT"/>
              </a:rPr>
              <a:t>modify </a:t>
            </a:r>
            <a:r>
              <a:rPr sz="1350" spc="5" dirty="0">
                <a:latin typeface="Arial MT"/>
                <a:cs typeface="Arial MT"/>
              </a:rPr>
              <a:t>a </a:t>
            </a:r>
            <a:r>
              <a:rPr sz="1350" spc="-45" dirty="0">
                <a:latin typeface="Arial MT"/>
                <a:cs typeface="Arial MT"/>
              </a:rPr>
              <a:t>row,</a:t>
            </a:r>
            <a:r>
              <a:rPr sz="1350" spc="-4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you </a:t>
            </a:r>
            <a:r>
              <a:rPr sz="1350" spc="-35" dirty="0">
                <a:latin typeface="Arial MT"/>
                <a:cs typeface="Arial MT"/>
              </a:rPr>
              <a:t>will execute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spc="-15" dirty="0">
                <a:latin typeface="Arial MT"/>
                <a:cs typeface="Arial MT"/>
              </a:rPr>
              <a:t>as </a:t>
            </a:r>
            <a:r>
              <a:rPr sz="1350" spc="-30" dirty="0">
                <a:latin typeface="Arial MT"/>
                <a:cs typeface="Arial MT"/>
              </a:rPr>
              <a:t>Java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JModify</a:t>
            </a:r>
            <a:r>
              <a:rPr sz="1350" spc="-5" dirty="0">
                <a:latin typeface="Arial MT"/>
                <a:cs typeface="Arial MT"/>
              </a:rPr>
              <a:t> </a:t>
            </a:r>
            <a:r>
              <a:rPr sz="1350" spc="-40" dirty="0">
                <a:latin typeface="Arial MT"/>
                <a:cs typeface="Arial MT"/>
              </a:rPr>
              <a:t>table1</a:t>
            </a:r>
            <a:r>
              <a:rPr sz="1350" spc="-35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1001 60000.00 </a:t>
            </a:r>
            <a:r>
              <a:rPr sz="1350" spc="-30" dirty="0">
                <a:latin typeface="Arial MT"/>
                <a:cs typeface="Arial MT"/>
              </a:rPr>
              <a:t>where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modifying </a:t>
            </a:r>
            <a:r>
              <a:rPr sz="1350" spc="5" dirty="0">
                <a:latin typeface="Arial MT"/>
                <a:cs typeface="Arial MT"/>
              </a:rPr>
              <a:t>a </a:t>
            </a:r>
            <a:r>
              <a:rPr sz="1350" spc="-5" dirty="0">
                <a:latin typeface="Arial MT"/>
                <a:cs typeface="Arial MT"/>
              </a:rPr>
              <a:t>row </a:t>
            </a:r>
            <a:r>
              <a:rPr sz="1350" spc="-35" dirty="0">
                <a:latin typeface="Arial MT"/>
                <a:cs typeface="Arial MT"/>
              </a:rPr>
              <a:t>will </a:t>
            </a:r>
            <a:r>
              <a:rPr sz="1350" spc="-365" dirty="0">
                <a:latin typeface="Arial MT"/>
                <a:cs typeface="Arial MT"/>
              </a:rPr>
              <a:t> </a:t>
            </a:r>
            <a:r>
              <a:rPr sz="1350" spc="-40" dirty="0">
                <a:latin typeface="Arial MT"/>
                <a:cs typeface="Arial MT"/>
              </a:rPr>
              <a:t>allow</a:t>
            </a:r>
            <a:r>
              <a:rPr sz="1350" spc="16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you</a:t>
            </a:r>
            <a:r>
              <a:rPr sz="1350" spc="-10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to</a:t>
            </a:r>
            <a:r>
              <a:rPr sz="1350" spc="70" dirty="0">
                <a:latin typeface="Arial MT"/>
                <a:cs typeface="Arial MT"/>
              </a:rPr>
              <a:t> </a:t>
            </a:r>
            <a:r>
              <a:rPr sz="1350" spc="-15" dirty="0">
                <a:latin typeface="Arial MT"/>
                <a:cs typeface="Arial MT"/>
              </a:rPr>
              <a:t>change</a:t>
            </a:r>
            <a:r>
              <a:rPr sz="1350" spc="70" dirty="0">
                <a:latin typeface="Arial MT"/>
                <a:cs typeface="Arial MT"/>
              </a:rPr>
              <a:t> </a:t>
            </a:r>
            <a:r>
              <a:rPr sz="1350" spc="-30" dirty="0">
                <a:latin typeface="Arial MT"/>
                <a:cs typeface="Arial MT"/>
              </a:rPr>
              <a:t>the</a:t>
            </a:r>
            <a:r>
              <a:rPr sz="1350" spc="70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salary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50" spc="30" dirty="0">
                <a:latin typeface="Arial MT"/>
                <a:cs typeface="Arial MT"/>
              </a:rPr>
              <a:t>*/</a:t>
            </a:r>
            <a:endParaRPr sz="1350">
              <a:latin typeface="Arial MT"/>
              <a:cs typeface="Arial MT"/>
            </a:endParaRPr>
          </a:p>
          <a:p>
            <a:pPr marL="12700" marR="6483350">
              <a:lnSpc>
                <a:spcPts val="2240"/>
              </a:lnSpc>
              <a:spcBef>
                <a:spcPts val="100"/>
              </a:spcBef>
            </a:pPr>
            <a:r>
              <a:rPr sz="1450" spc="-20" dirty="0">
                <a:latin typeface="Courier New"/>
                <a:cs typeface="Courier New"/>
              </a:rPr>
              <a:t>import</a:t>
            </a:r>
            <a:r>
              <a:rPr sz="1450" spc="-13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java.sql.*;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class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JModify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70534" marR="3900804" indent="-224154">
              <a:lnSpc>
                <a:spcPts val="2240"/>
              </a:lnSpc>
              <a:spcBef>
                <a:spcPts val="90"/>
              </a:spcBef>
            </a:pPr>
            <a:r>
              <a:rPr sz="1450" spc="-20" dirty="0">
                <a:latin typeface="Courier New"/>
                <a:cs typeface="Courier New"/>
              </a:rPr>
              <a:t>public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static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void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main(String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args[])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try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430"/>
              </a:spcBef>
            </a:pPr>
            <a:r>
              <a:rPr sz="1450" spc="-30" dirty="0">
                <a:latin typeface="Courier New"/>
                <a:cs typeface="Courier New"/>
              </a:rPr>
              <a:t>JdbcCalls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e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JdbcCalls();</a:t>
            </a:r>
            <a:endParaRPr sz="145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505"/>
              </a:spcBef>
            </a:pPr>
            <a:r>
              <a:rPr sz="1450" spc="-35" dirty="0">
                <a:latin typeface="Courier New"/>
                <a:cs typeface="Courier New"/>
              </a:rPr>
              <a:t>e.modify(args);</a:t>
            </a:r>
            <a:endParaRPr sz="145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927735" marR="5140960" indent="-457834">
              <a:lnSpc>
                <a:spcPts val="2330"/>
              </a:lnSpc>
              <a:spcBef>
                <a:spcPts val="90"/>
              </a:spcBef>
            </a:pPr>
            <a:r>
              <a:rPr sz="1450" spc="-35" dirty="0">
                <a:latin typeface="Courier New"/>
                <a:cs typeface="Courier New"/>
              </a:rPr>
              <a:t>catch(SQLException </a:t>
            </a:r>
            <a:r>
              <a:rPr sz="1450" dirty="0">
                <a:latin typeface="Courier New"/>
                <a:cs typeface="Courier New"/>
              </a:rPr>
              <a:t>e)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System.out.println(e);</a:t>
            </a:r>
            <a:endParaRPr sz="1450">
              <a:latin typeface="Courier New"/>
              <a:cs typeface="Courier New"/>
            </a:endParaRPr>
          </a:p>
          <a:p>
            <a:pPr marR="7835900" algn="r">
              <a:lnSpc>
                <a:spcPct val="100000"/>
              </a:lnSpc>
              <a:spcBef>
                <a:spcPts val="320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R="7846059" algn="r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r>
              <a:rPr sz="1450" spc="-12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941816" y="4976177"/>
            <a:ext cx="107314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solidFill>
                  <a:srgbClr val="4D4E5C"/>
                </a:solidFill>
                <a:latin typeface="Arial MT"/>
                <a:cs typeface="Arial MT"/>
              </a:rPr>
              <a:t>39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257" y="49910"/>
            <a:ext cx="626491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5" dirty="0"/>
              <a:t>E</a:t>
            </a:r>
            <a:r>
              <a:rPr u="sng" spc="-40" dirty="0"/>
              <a:t>xam</a:t>
            </a:r>
            <a:r>
              <a:rPr u="sng" spc="-25" dirty="0"/>
              <a:t>pl</a:t>
            </a:r>
            <a:r>
              <a:rPr u="sng" spc="-5" dirty="0"/>
              <a:t>e</a:t>
            </a:r>
            <a:r>
              <a:rPr u="sng" spc="-50" dirty="0"/>
              <a:t> </a:t>
            </a:r>
            <a:r>
              <a:rPr u="sng" spc="-25" dirty="0"/>
              <a:t>o</a:t>
            </a:r>
            <a:r>
              <a:rPr u="sng" spc="-5" dirty="0"/>
              <a:t>n</a:t>
            </a:r>
            <a:r>
              <a:rPr u="sng" spc="-35" dirty="0"/>
              <a:t> </a:t>
            </a:r>
            <a:r>
              <a:rPr u="sng" spc="110" dirty="0"/>
              <a:t>M</a:t>
            </a:r>
            <a:r>
              <a:rPr u="sng" spc="-25" dirty="0"/>
              <a:t>odi</a:t>
            </a:r>
            <a:r>
              <a:rPr u="sng" spc="-5" dirty="0"/>
              <a:t>f</a:t>
            </a:r>
            <a:r>
              <a:rPr u="sng" spc="-40" dirty="0"/>
              <a:t>y</a:t>
            </a:r>
            <a:r>
              <a:rPr u="sng" spc="-25" dirty="0"/>
              <a:t>in</a:t>
            </a:r>
            <a:r>
              <a:rPr u="sng" spc="-5" dirty="0"/>
              <a:t>g</a:t>
            </a:r>
            <a:r>
              <a:rPr u="sng" spc="-275" dirty="0"/>
              <a:t> </a:t>
            </a:r>
            <a:r>
              <a:rPr u="sng" spc="-5" dirty="0"/>
              <a:t>t</a:t>
            </a:r>
            <a:r>
              <a:rPr u="sng" spc="-25" dirty="0"/>
              <a:t>h</a:t>
            </a:r>
            <a:r>
              <a:rPr u="sng" spc="-5" dirty="0"/>
              <a:t>e</a:t>
            </a:r>
            <a:r>
              <a:rPr u="sng" spc="-50" dirty="0"/>
              <a:t> </a:t>
            </a:r>
            <a:r>
              <a:rPr u="sng" dirty="0"/>
              <a:t>r</a:t>
            </a:r>
            <a:r>
              <a:rPr u="sng" spc="-25" dirty="0"/>
              <a:t>o</a:t>
            </a:r>
            <a:r>
              <a:rPr u="sng" spc="-5" dirty="0"/>
              <a:t>w</a:t>
            </a:r>
            <a:r>
              <a:rPr u="sng" spc="-75" dirty="0"/>
              <a:t> </a:t>
            </a:r>
            <a:r>
              <a:rPr u="sng" spc="-5" dirty="0"/>
              <a:t>(</a:t>
            </a:r>
            <a:r>
              <a:rPr u="sng" dirty="0"/>
              <a:t>C</a:t>
            </a:r>
            <a:r>
              <a:rPr u="sng" spc="-25" dirty="0"/>
              <a:t>on</a:t>
            </a:r>
            <a:r>
              <a:rPr u="sng" spc="-5" dirty="0"/>
              <a:t>t</a:t>
            </a:r>
            <a:r>
              <a:rPr u="sng" spc="-25" dirty="0"/>
              <a:t>d.</a:t>
            </a:r>
            <a:r>
              <a:rPr u="sng" spc="-5" dirty="0"/>
              <a:t>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4479" y="498284"/>
            <a:ext cx="7701280" cy="43116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864860">
              <a:lnSpc>
                <a:spcPct val="131300"/>
              </a:lnSpc>
              <a:spcBef>
                <a:spcPts val="140"/>
              </a:spcBef>
            </a:pPr>
            <a:r>
              <a:rPr sz="1450" spc="-30" dirty="0">
                <a:latin typeface="Courier New"/>
                <a:cs typeface="Courier New"/>
              </a:rPr>
              <a:t>class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Connection </a:t>
            </a:r>
            <a:r>
              <a:rPr sz="1450" spc="-40" dirty="0">
                <a:latin typeface="Courier New"/>
                <a:cs typeface="Courier New"/>
              </a:rPr>
              <a:t>con; </a:t>
            </a:r>
            <a:r>
              <a:rPr sz="1450" spc="-35" dirty="0">
                <a:latin typeface="Courier New"/>
                <a:cs typeface="Courier New"/>
              </a:rPr>
              <a:t> JdbcCalls()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236220" marR="2980055">
              <a:lnSpc>
                <a:spcPct val="129000"/>
              </a:lnSpc>
              <a:spcBef>
                <a:spcPts val="80"/>
              </a:spcBef>
            </a:pPr>
            <a:r>
              <a:rPr sz="1450" spc="-35" dirty="0">
                <a:latin typeface="Courier New"/>
                <a:cs typeface="Courier New"/>
              </a:rPr>
              <a:t>ConnectionClass </a:t>
            </a:r>
            <a:r>
              <a:rPr sz="1450" spc="-5" dirty="0">
                <a:latin typeface="Courier New"/>
                <a:cs typeface="Courier New"/>
              </a:rPr>
              <a:t>x = </a:t>
            </a:r>
            <a:r>
              <a:rPr sz="1450" spc="-25" dirty="0">
                <a:latin typeface="Courier New"/>
                <a:cs typeface="Courier New"/>
              </a:rPr>
              <a:t>new </a:t>
            </a:r>
            <a:r>
              <a:rPr sz="1450" spc="-40" dirty="0">
                <a:latin typeface="Courier New"/>
                <a:cs typeface="Courier New"/>
              </a:rPr>
              <a:t>ConnectionClass();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con=x.connectionFactory();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50" spc="-20" dirty="0">
                <a:latin typeface="Courier New"/>
                <a:cs typeface="Courier New"/>
              </a:rPr>
              <a:t>void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modify(String[]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args)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throws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SQLException{</a:t>
            </a:r>
            <a:endParaRPr sz="1450" dirty="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585"/>
              </a:spcBef>
            </a:pPr>
            <a:r>
              <a:rPr sz="1450" spc="-25" dirty="0">
                <a:latin typeface="Courier New"/>
                <a:cs typeface="Courier New"/>
              </a:rPr>
              <a:t>String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tablename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args[0];</a:t>
            </a:r>
            <a:endParaRPr sz="1450" dirty="0">
              <a:latin typeface="Courier New"/>
              <a:cs typeface="Courier New"/>
            </a:endParaRPr>
          </a:p>
          <a:p>
            <a:pPr marL="236220" marR="3406775">
              <a:lnSpc>
                <a:spcPts val="2330"/>
              </a:lnSpc>
              <a:spcBef>
                <a:spcPts val="90"/>
              </a:spcBef>
            </a:pPr>
            <a:r>
              <a:rPr sz="1450" spc="-25" dirty="0">
                <a:latin typeface="Courier New"/>
                <a:cs typeface="Courier New"/>
              </a:rPr>
              <a:t>int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empid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Integer.parseInt(args[1]);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Float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sal</a:t>
            </a:r>
            <a:r>
              <a:rPr sz="1450" spc="-8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Float.parseFloat(args[2]);</a:t>
            </a:r>
            <a:endParaRPr sz="1450" dirty="0">
              <a:latin typeface="Courier New"/>
              <a:cs typeface="Courier New"/>
            </a:endParaRPr>
          </a:p>
          <a:p>
            <a:pPr marL="12700" marR="5080" indent="223520">
              <a:lnSpc>
                <a:spcPts val="1680"/>
              </a:lnSpc>
              <a:spcBef>
                <a:spcPts val="430"/>
              </a:spcBef>
            </a:pPr>
            <a:r>
              <a:rPr sz="1450" spc="-35" dirty="0">
                <a:latin typeface="Courier New"/>
                <a:cs typeface="Courier New"/>
              </a:rPr>
              <a:t>PreparedStatement </a:t>
            </a:r>
            <a:r>
              <a:rPr sz="1450" spc="-25" dirty="0">
                <a:latin typeface="Courier New"/>
                <a:cs typeface="Courier New"/>
              </a:rPr>
              <a:t>pst </a:t>
            </a:r>
            <a:r>
              <a:rPr sz="1450" spc="-5" dirty="0">
                <a:latin typeface="Courier New"/>
                <a:cs typeface="Courier New"/>
              </a:rPr>
              <a:t>= </a:t>
            </a:r>
            <a:r>
              <a:rPr sz="1450" spc="-40" dirty="0">
                <a:latin typeface="Courier New"/>
                <a:cs typeface="Courier New"/>
              </a:rPr>
              <a:t>con.prepareStatement("update </a:t>
            </a:r>
            <a:r>
              <a:rPr sz="1450" spc="-35" dirty="0">
                <a:latin typeface="Courier New"/>
                <a:cs typeface="Courier New"/>
              </a:rPr>
              <a:t>"+tablename+" </a:t>
            </a:r>
            <a:r>
              <a:rPr sz="1450" spc="-25" dirty="0">
                <a:latin typeface="Courier New"/>
                <a:cs typeface="Courier New"/>
              </a:rPr>
              <a:t>set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salary="+sal+"</a:t>
            </a:r>
            <a:r>
              <a:rPr sz="1450" spc="-14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where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empid="+empid);</a:t>
            </a:r>
            <a:endParaRPr sz="1450" dirty="0">
              <a:latin typeface="Courier New"/>
              <a:cs typeface="Courier New"/>
            </a:endParaRPr>
          </a:p>
          <a:p>
            <a:pPr marL="236220" marR="4574540">
              <a:lnSpc>
                <a:spcPct val="129000"/>
              </a:lnSpc>
              <a:spcBef>
                <a:spcPts val="35"/>
              </a:spcBef>
            </a:pPr>
            <a:r>
              <a:rPr sz="1450" spc="-25" dirty="0">
                <a:latin typeface="Courier New"/>
                <a:cs typeface="Courier New"/>
              </a:rPr>
              <a:t>int</a:t>
            </a:r>
            <a:r>
              <a:rPr sz="1450" spc="-110" dirty="0">
                <a:latin typeface="Courier New"/>
                <a:cs typeface="Courier New"/>
              </a:rPr>
              <a:t> </a:t>
            </a:r>
            <a:r>
              <a:rPr sz="1450" dirty="0">
                <a:latin typeface="Courier New"/>
                <a:cs typeface="Courier New"/>
              </a:rPr>
              <a:t>i=</a:t>
            </a:r>
            <a:r>
              <a:rPr sz="1450" spc="-10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pst.executeUpdate();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con.close();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82" y="4849177"/>
            <a:ext cx="13589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24307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5" dirty="0"/>
              <a:t> </a:t>
            </a:r>
            <a:r>
              <a:rPr u="sng" spc="-15" dirty="0"/>
              <a:t>on</a:t>
            </a:r>
            <a:r>
              <a:rPr u="sng" spc="-35" dirty="0"/>
              <a:t> </a:t>
            </a:r>
            <a:r>
              <a:rPr u="sng" spc="-30" dirty="0"/>
              <a:t>Deleting </a:t>
            </a:r>
            <a:r>
              <a:rPr u="sng" spc="-5" dirty="0"/>
              <a:t>a</a:t>
            </a:r>
            <a:r>
              <a:rPr u="sng" spc="-55" dirty="0"/>
              <a:t> </a:t>
            </a:r>
            <a:r>
              <a:rPr u="sng" spc="-10" dirty="0"/>
              <a:t>row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2434" y="4549341"/>
            <a:ext cx="13589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37" y="4844616"/>
            <a:ext cx="13589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38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42900" y="614425"/>
            <a:ext cx="8023225" cy="3818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5"/>
              </a:spcBef>
            </a:pPr>
            <a:r>
              <a:rPr sz="1850" spc="-20" dirty="0">
                <a:latin typeface="Times New Roman"/>
                <a:cs typeface="Times New Roman"/>
              </a:rPr>
              <a:t>/*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This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class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executed in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manner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If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want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spc="-15" dirty="0">
                <a:latin typeface="Times New Roman"/>
                <a:cs typeface="Times New Roman"/>
              </a:rPr>
              <a:t>delete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row,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spc="-20" dirty="0">
                <a:latin typeface="Times New Roman"/>
                <a:cs typeface="Times New Roman"/>
              </a:rPr>
              <a:t>execute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java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JDelete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table1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1001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50" spc="35" dirty="0">
                <a:latin typeface="Times New Roman"/>
                <a:cs typeface="Times New Roman"/>
              </a:rPr>
              <a:t>*/</a:t>
            </a:r>
            <a:endParaRPr sz="1850">
              <a:latin typeface="Times New Roman"/>
              <a:cs typeface="Times New Roman"/>
            </a:endParaRPr>
          </a:p>
          <a:p>
            <a:pPr marL="12700" marR="6080125">
              <a:lnSpc>
                <a:spcPts val="2330"/>
              </a:lnSpc>
              <a:spcBef>
                <a:spcPts val="10"/>
              </a:spcBef>
            </a:pPr>
            <a:r>
              <a:rPr sz="1450" spc="-20" dirty="0">
                <a:latin typeface="Courier New"/>
                <a:cs typeface="Courier New"/>
              </a:rPr>
              <a:t>import</a:t>
            </a:r>
            <a:r>
              <a:rPr sz="1450" spc="-14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java.sql.*;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class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JDelete{</a:t>
            </a:r>
            <a:endParaRPr sz="145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325"/>
              </a:spcBef>
            </a:pPr>
            <a:r>
              <a:rPr sz="1450" spc="-25" dirty="0">
                <a:latin typeface="Courier New"/>
                <a:cs typeface="Courier New"/>
              </a:rPr>
              <a:t>public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static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void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main(String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args[])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80"/>
              </a:spcBef>
            </a:pPr>
            <a:r>
              <a:rPr sz="1450" spc="-25" dirty="0">
                <a:latin typeface="Courier New"/>
                <a:cs typeface="Courier New"/>
              </a:rPr>
              <a:t>try</a:t>
            </a:r>
            <a:r>
              <a:rPr sz="1450" spc="-12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927735" marR="3882390">
              <a:lnSpc>
                <a:spcPts val="2330"/>
              </a:lnSpc>
              <a:spcBef>
                <a:spcPts val="90"/>
              </a:spcBef>
            </a:pPr>
            <a:r>
              <a:rPr sz="1450" spc="-30" dirty="0">
                <a:latin typeface="Courier New"/>
                <a:cs typeface="Courier New"/>
              </a:rPr>
              <a:t>JdbcCalls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e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e.delete(args);</a:t>
            </a:r>
            <a:endParaRPr sz="145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32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927735" marR="4737100" indent="-457834">
              <a:lnSpc>
                <a:spcPct val="128899"/>
              </a:lnSpc>
              <a:spcBef>
                <a:spcPts val="85"/>
              </a:spcBef>
            </a:pPr>
            <a:r>
              <a:rPr sz="1450" spc="-40" dirty="0">
                <a:latin typeface="Courier New"/>
                <a:cs typeface="Courier New"/>
              </a:rPr>
              <a:t>catch(SQLException </a:t>
            </a:r>
            <a:r>
              <a:rPr sz="1450" dirty="0">
                <a:latin typeface="Courier New"/>
                <a:cs typeface="Courier New"/>
              </a:rPr>
              <a:t>e)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System.out.println(e);</a:t>
            </a:r>
            <a:endParaRPr sz="1450">
              <a:latin typeface="Courier New"/>
              <a:cs typeface="Courier New"/>
            </a:endParaRPr>
          </a:p>
          <a:p>
            <a:pPr marL="470534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70230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50" dirty="0"/>
              <a:t> </a:t>
            </a:r>
            <a:r>
              <a:rPr u="sng" spc="-15" dirty="0"/>
              <a:t>on</a:t>
            </a:r>
            <a:r>
              <a:rPr u="sng" spc="-30" dirty="0"/>
              <a:t> Deleting </a:t>
            </a:r>
            <a:r>
              <a:rPr u="sng" spc="-5" dirty="0"/>
              <a:t>a</a:t>
            </a:r>
            <a:r>
              <a:rPr u="sng" spc="-50" dirty="0"/>
              <a:t> </a:t>
            </a:r>
            <a:r>
              <a:rPr u="sng" spc="-10" dirty="0"/>
              <a:t>row</a:t>
            </a:r>
            <a:r>
              <a:rPr u="sng" spc="-75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2434" y="4549341"/>
            <a:ext cx="13589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37" y="4844616"/>
            <a:ext cx="13589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39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32434" y="747839"/>
            <a:ext cx="7821930" cy="37312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984875">
              <a:lnSpc>
                <a:spcPct val="131300"/>
              </a:lnSpc>
              <a:spcBef>
                <a:spcPts val="140"/>
              </a:spcBef>
            </a:pPr>
            <a:r>
              <a:rPr sz="1450" spc="-30" dirty="0">
                <a:latin typeface="Courier New"/>
                <a:cs typeface="Courier New"/>
              </a:rPr>
              <a:t>class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JdbcCalls</a:t>
            </a:r>
            <a:r>
              <a:rPr sz="1450" spc="-9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Connection </a:t>
            </a:r>
            <a:r>
              <a:rPr sz="1450" spc="-40" dirty="0">
                <a:latin typeface="Courier New"/>
                <a:cs typeface="Courier New"/>
              </a:rPr>
              <a:t>con; </a:t>
            </a:r>
            <a:r>
              <a:rPr sz="1450" spc="-35" dirty="0">
                <a:latin typeface="Courier New"/>
                <a:cs typeface="Courier New"/>
              </a:rPr>
              <a:t> JdbcCalls()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236220" marR="3089910">
              <a:lnSpc>
                <a:spcPct val="129000"/>
              </a:lnSpc>
              <a:spcBef>
                <a:spcPts val="80"/>
              </a:spcBef>
            </a:pPr>
            <a:r>
              <a:rPr sz="1450" spc="-30" dirty="0">
                <a:latin typeface="Courier New"/>
                <a:cs typeface="Courier New"/>
              </a:rPr>
              <a:t>ConnectionClass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x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ConnectionClass();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con=x.connectionFactory();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236220" marR="2694305" indent="-223520">
              <a:lnSpc>
                <a:spcPts val="2330"/>
              </a:lnSpc>
              <a:spcBef>
                <a:spcPts val="90"/>
              </a:spcBef>
            </a:pPr>
            <a:r>
              <a:rPr sz="1450" spc="-20" dirty="0">
                <a:latin typeface="Courier New"/>
                <a:cs typeface="Courier New"/>
              </a:rPr>
              <a:t>void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delete(String[]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args)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throws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SQLException</a:t>
            </a:r>
            <a:r>
              <a:rPr sz="1450" spc="-13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{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20" dirty="0">
                <a:latin typeface="Courier New"/>
                <a:cs typeface="Courier New"/>
              </a:rPr>
              <a:t>String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tablename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args[0];</a:t>
            </a:r>
            <a:endParaRPr sz="145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325"/>
              </a:spcBef>
            </a:pPr>
            <a:r>
              <a:rPr sz="1450" spc="-25" dirty="0">
                <a:latin typeface="Courier New"/>
                <a:cs typeface="Courier New"/>
              </a:rPr>
              <a:t>int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empid</a:t>
            </a:r>
            <a:r>
              <a:rPr sz="1450" spc="-45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4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Integer.parseInt(args[1]);</a:t>
            </a:r>
            <a:endParaRPr sz="1450">
              <a:latin typeface="Courier New"/>
              <a:cs typeface="Courier New"/>
            </a:endParaRPr>
          </a:p>
          <a:p>
            <a:pPr marL="12700" marR="5080" indent="223520">
              <a:lnSpc>
                <a:spcPts val="1680"/>
              </a:lnSpc>
              <a:spcBef>
                <a:spcPts val="690"/>
              </a:spcBef>
            </a:pPr>
            <a:r>
              <a:rPr sz="1450" spc="-30" dirty="0">
                <a:latin typeface="Courier New"/>
                <a:cs typeface="Courier New"/>
              </a:rPr>
              <a:t>PreparedStatement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pst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5" dirty="0">
                <a:latin typeface="Courier New"/>
                <a:cs typeface="Courier New"/>
              </a:rPr>
              <a:t>=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con.prepareStatement("delete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15" dirty="0">
                <a:latin typeface="Courier New"/>
                <a:cs typeface="Courier New"/>
              </a:rPr>
              <a:t>from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"+tablename+"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where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empid="+empid);</a:t>
            </a:r>
            <a:endParaRPr sz="145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459"/>
              </a:spcBef>
            </a:pPr>
            <a:r>
              <a:rPr sz="1450" spc="-25" dirty="0">
                <a:latin typeface="Courier New"/>
                <a:cs typeface="Courier New"/>
              </a:rPr>
              <a:t>int</a:t>
            </a:r>
            <a:r>
              <a:rPr sz="1450" spc="-55" dirty="0">
                <a:latin typeface="Courier New"/>
                <a:cs typeface="Courier New"/>
              </a:rPr>
              <a:t> </a:t>
            </a:r>
            <a:r>
              <a:rPr sz="1450" dirty="0">
                <a:latin typeface="Courier New"/>
                <a:cs typeface="Courier New"/>
              </a:rPr>
              <a:t>i=</a:t>
            </a:r>
            <a:r>
              <a:rPr sz="1450" spc="-5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pst.executeUpdate();</a:t>
            </a:r>
            <a:endParaRPr sz="145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585"/>
              </a:spcBef>
            </a:pPr>
            <a:r>
              <a:rPr sz="1450" spc="-30" dirty="0">
                <a:latin typeface="Courier New"/>
                <a:cs typeface="Courier New"/>
              </a:rPr>
              <a:t>con.close();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0960"/>
          </a:xfrm>
          <a:custGeom>
            <a:avLst/>
            <a:gdLst/>
            <a:ahLst/>
            <a:cxnLst/>
            <a:rect l="l" t="t" r="r" b="b"/>
            <a:pathLst>
              <a:path w="9144000" h="5140960">
                <a:moveTo>
                  <a:pt x="9144000" y="0"/>
                </a:moveTo>
                <a:lnTo>
                  <a:pt x="0" y="0"/>
                </a:lnTo>
                <a:lnTo>
                  <a:pt x="0" y="5140960"/>
                </a:lnTo>
                <a:lnTo>
                  <a:pt x="9144000" y="5140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1976120" y="0"/>
                </a:moveTo>
                <a:lnTo>
                  <a:pt x="0" y="0"/>
                </a:lnTo>
                <a:lnTo>
                  <a:pt x="0" y="10160"/>
                </a:lnTo>
                <a:lnTo>
                  <a:pt x="1976120" y="10160"/>
                </a:lnTo>
                <a:lnTo>
                  <a:pt x="1976120" y="0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086600" y="1667890"/>
            <a:ext cx="175260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u="heavy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Thank</a:t>
            </a:r>
            <a:r>
              <a:rPr sz="2700" u="heavy" spc="-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heavy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You</a:t>
            </a:r>
            <a:endParaRPr sz="27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40</a:t>
            </a:fld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2463</Words>
  <Application>Microsoft Office PowerPoint</Application>
  <PresentationFormat>On-screen Show (16:9)</PresentationFormat>
  <Paragraphs>425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MT</vt:lpstr>
      <vt:lpstr>Calibri</vt:lpstr>
      <vt:lpstr>Courier New</vt:lpstr>
      <vt:lpstr>Times New Roman</vt:lpstr>
      <vt:lpstr>Wingdings</vt:lpstr>
      <vt:lpstr>Office Theme</vt:lpstr>
      <vt:lpstr>JDBC MetaData &amp; PreparedStatement</vt:lpstr>
      <vt:lpstr>Objectives</vt:lpstr>
      <vt:lpstr>The DatabaseMetaData Object</vt:lpstr>
      <vt:lpstr>The DatabaseMetaData Object</vt:lpstr>
      <vt:lpstr>How to obtain Database Metadata?</vt:lpstr>
      <vt:lpstr>The DatabaseMetaData Object</vt:lpstr>
      <vt:lpstr>Example on DatabaseMetaData object</vt:lpstr>
      <vt:lpstr>Example on DatabaseMetadata (Contd.).</vt:lpstr>
      <vt:lpstr>Example on DatabaseMetadata (Contd.).</vt:lpstr>
      <vt:lpstr>Example on DatabaseMetadata (Contd.).</vt:lpstr>
      <vt:lpstr>The ResultSetMetaData Object</vt:lpstr>
      <vt:lpstr>How to obtain ResultSetMetadata?</vt:lpstr>
      <vt:lpstr>Example on ResultSetMetaData</vt:lpstr>
      <vt:lpstr>Example on ResultSetMetaData(Contd.).</vt:lpstr>
      <vt:lpstr>Example on ResultSetMetaData (Contd.).</vt:lpstr>
      <vt:lpstr>Example on ResultSetMetaData (Contd.).</vt:lpstr>
      <vt:lpstr>Mapping Database Types to Java Types</vt:lpstr>
      <vt:lpstr>Mapping Database Types to Java Types (Contd.).</vt:lpstr>
      <vt:lpstr>Quiz</vt:lpstr>
      <vt:lpstr>The PreparedStatement Object</vt:lpstr>
      <vt:lpstr>The PreparedStatement Object</vt:lpstr>
      <vt:lpstr>How to Create a PreparedStatement?</vt:lpstr>
      <vt:lpstr>How to execute PreparedStatement?</vt:lpstr>
      <vt:lpstr>How to execute PreparedStatement?</vt:lpstr>
      <vt:lpstr>Example 1 on PreparedStatement</vt:lpstr>
      <vt:lpstr>Example 1 on PreparedStatement(Contd.).</vt:lpstr>
      <vt:lpstr>Example 1 on PreparedStatement (Contd.).</vt:lpstr>
      <vt:lpstr>Example 1 on PreparedStatement (Contd.).</vt:lpstr>
      <vt:lpstr>Example 2 on PreparedStatement</vt:lpstr>
      <vt:lpstr>Example 2 on PreparedStatement (Contd.).</vt:lpstr>
      <vt:lpstr>Example 2 on PreparedStatement (Contd.).</vt:lpstr>
      <vt:lpstr>Example 2 on PreparedStatement (Contd.).</vt:lpstr>
      <vt:lpstr>Example 3 on PreparedStatement</vt:lpstr>
      <vt:lpstr>Example 3 on PreparedStatement (Contd.).</vt:lpstr>
      <vt:lpstr>Example 3 on PreparedStatement (Contd.).</vt:lpstr>
      <vt:lpstr>Example on Modifying the row</vt:lpstr>
      <vt:lpstr>Example on Modifying the row (Contd.).</vt:lpstr>
      <vt:lpstr>Example on Deleting a row</vt:lpstr>
      <vt:lpstr>Example on Deleting a row (Contd.).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HTML</dc:title>
  <dc:creator>Wipro</dc:creator>
  <cp:lastModifiedBy>staff</cp:lastModifiedBy>
  <cp:revision>4</cp:revision>
  <dcterms:created xsi:type="dcterms:W3CDTF">2024-09-20T06:06:03Z</dcterms:created>
  <dcterms:modified xsi:type="dcterms:W3CDTF">2024-09-20T06:28:20Z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2024-09-20T00:00:00Z</vt:filetime>
  </property>
</Properties>
</file>