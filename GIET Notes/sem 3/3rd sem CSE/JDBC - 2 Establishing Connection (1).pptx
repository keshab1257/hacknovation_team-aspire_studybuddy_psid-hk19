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78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182880" y="0"/>
                </a:lnTo>
                <a:lnTo>
                  <a:pt x="0" y="0"/>
                </a:lnTo>
                <a:lnTo>
                  <a:pt x="0" y="20320"/>
                </a:lnTo>
                <a:lnTo>
                  <a:pt x="18288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E21E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8287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E32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6575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E439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486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E746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3151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E85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144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EA5D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728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EB6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8016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ED74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46303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EE7D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64592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08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8288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39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201167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49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219456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6A6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237743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8A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256032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A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7432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AB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292607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FAB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310896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B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32918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B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347472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BC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36576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C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384047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CC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402335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CC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42062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DC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438912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DC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45720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AC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475487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3C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493775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EBC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51206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E3C5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530352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DCC5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54864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D4C3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566927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CCC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585215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B8BB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60350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A2B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621792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8BB1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64008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0A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658368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51A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676655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1DA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69494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009D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713231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0097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73152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008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749808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0080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768095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0071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78638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0062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804671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1752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82296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2D42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841248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303D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859535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333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87782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353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8961119" y="568959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79" h="20320">
                <a:moveTo>
                  <a:pt x="182879" y="0"/>
                </a:moveTo>
                <a:lnTo>
                  <a:pt x="0" y="0"/>
                </a:lnTo>
                <a:lnTo>
                  <a:pt x="0" y="20320"/>
                </a:lnTo>
                <a:lnTo>
                  <a:pt x="182879" y="20320"/>
                </a:lnTo>
                <a:lnTo>
                  <a:pt x="182879" y="0"/>
                </a:lnTo>
                <a:close/>
              </a:path>
            </a:pathLst>
          </a:custGeom>
          <a:solidFill>
            <a:srgbClr val="393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457" y="46735"/>
            <a:ext cx="1240155" cy="428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sng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0960"/>
          </a:xfrm>
          <a:custGeom>
            <a:avLst/>
            <a:gdLst/>
            <a:ahLst/>
            <a:cxnLst/>
            <a:rect l="l" t="t" r="r" b="b"/>
            <a:pathLst>
              <a:path w="9144000" h="5140960">
                <a:moveTo>
                  <a:pt x="9144000" y="0"/>
                </a:moveTo>
                <a:lnTo>
                  <a:pt x="0" y="0"/>
                </a:lnTo>
                <a:lnTo>
                  <a:pt x="0" y="5140960"/>
                </a:lnTo>
                <a:lnTo>
                  <a:pt x="9144000" y="514096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445" y="214248"/>
            <a:ext cx="5082540" cy="453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sng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2725" y="915517"/>
            <a:ext cx="8511540" cy="1104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152893" y="4984224"/>
            <a:ext cx="518159" cy="116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336026" y="4984224"/>
            <a:ext cx="409575" cy="116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16416" y="4983876"/>
            <a:ext cx="170815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05245" y="1708439"/>
            <a:ext cx="2494915" cy="101155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709295">
              <a:lnSpc>
                <a:spcPct val="100000"/>
              </a:lnSpc>
              <a:spcBef>
                <a:spcPts val="1015"/>
              </a:spcBef>
            </a:pPr>
            <a:r>
              <a:rPr sz="3450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JDBC</a:t>
            </a:r>
            <a:endParaRPr sz="345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850" b="0" u="none" spc="-30" dirty="0">
                <a:solidFill>
                  <a:srgbClr val="000000"/>
                </a:solidFill>
                <a:latin typeface="Arial MT"/>
                <a:cs typeface="Arial MT"/>
              </a:rPr>
              <a:t>Establishing</a:t>
            </a:r>
            <a:r>
              <a:rPr sz="1850" b="0" u="none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50" b="0" u="none" spc="-10" dirty="0">
                <a:solidFill>
                  <a:srgbClr val="000000"/>
                </a:solidFill>
                <a:latin typeface="Arial MT"/>
                <a:cs typeface="Arial MT"/>
              </a:rPr>
              <a:t>Connection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189" y="7226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Connect:</a:t>
            </a:r>
            <a:r>
              <a:rPr u="sng" spc="-18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About</a:t>
            </a:r>
            <a:r>
              <a:rPr u="sng" spc="-16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JDBC</a:t>
            </a:r>
            <a:r>
              <a:rPr u="sng" spc="-114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URL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6540" y="797305"/>
            <a:ext cx="57588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URL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represents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protocol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connect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database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35200" y="1828799"/>
            <a:ext cx="4683760" cy="477520"/>
            <a:chOff x="2235200" y="1828799"/>
            <a:chExt cx="4683760" cy="477520"/>
          </a:xfrm>
        </p:grpSpPr>
        <p:sp>
          <p:nvSpPr>
            <p:cNvPr id="5" name="object 5"/>
            <p:cNvSpPr/>
            <p:nvPr/>
          </p:nvSpPr>
          <p:spPr>
            <a:xfrm>
              <a:off x="2240280" y="1833879"/>
              <a:ext cx="4673600" cy="467359"/>
            </a:xfrm>
            <a:custGeom>
              <a:avLst/>
              <a:gdLst/>
              <a:ahLst/>
              <a:cxnLst/>
              <a:rect l="l" t="t" r="r" b="b"/>
              <a:pathLst>
                <a:path w="4673600" h="467360">
                  <a:moveTo>
                    <a:pt x="4673600" y="0"/>
                  </a:moveTo>
                  <a:lnTo>
                    <a:pt x="0" y="0"/>
                  </a:lnTo>
                  <a:lnTo>
                    <a:pt x="0" y="467359"/>
                  </a:lnTo>
                  <a:lnTo>
                    <a:pt x="4673600" y="467359"/>
                  </a:lnTo>
                  <a:lnTo>
                    <a:pt x="4673600" y="0"/>
                  </a:lnTo>
                  <a:close/>
                </a:path>
              </a:pathLst>
            </a:custGeom>
            <a:solidFill>
              <a:srgbClr val="FFDC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40280" y="1833879"/>
              <a:ext cx="4673600" cy="467359"/>
            </a:xfrm>
            <a:custGeom>
              <a:avLst/>
              <a:gdLst/>
              <a:ahLst/>
              <a:cxnLst/>
              <a:rect l="l" t="t" r="r" b="b"/>
              <a:pathLst>
                <a:path w="4673600" h="467360">
                  <a:moveTo>
                    <a:pt x="0" y="467359"/>
                  </a:moveTo>
                  <a:lnTo>
                    <a:pt x="4673600" y="467359"/>
                  </a:lnTo>
                  <a:lnTo>
                    <a:pt x="4673600" y="0"/>
                  </a:lnTo>
                  <a:lnTo>
                    <a:pt x="0" y="0"/>
                  </a:lnTo>
                  <a:lnTo>
                    <a:pt x="0" y="467359"/>
                  </a:lnTo>
                  <a:close/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91333" y="1883409"/>
            <a:ext cx="452755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b="1" spc="-10" dirty="0">
                <a:latin typeface="Courier New"/>
                <a:cs typeface="Courier New"/>
              </a:rPr>
              <a:t>jdbc:&lt;</a:t>
            </a:r>
            <a:r>
              <a:rPr sz="2050" b="1" i="1" spc="-10" dirty="0">
                <a:latin typeface="Courier New"/>
                <a:cs typeface="Courier New"/>
              </a:rPr>
              <a:t>subprotocol</a:t>
            </a:r>
            <a:r>
              <a:rPr sz="2050" b="1" spc="-10" dirty="0">
                <a:latin typeface="Courier New"/>
                <a:cs typeface="Courier New"/>
              </a:rPr>
              <a:t>&gt;:&lt;</a:t>
            </a:r>
            <a:r>
              <a:rPr sz="2050" b="1" i="1" spc="-10" dirty="0">
                <a:latin typeface="Courier New"/>
                <a:cs typeface="Courier New"/>
              </a:rPr>
              <a:t>subname</a:t>
            </a:r>
            <a:r>
              <a:rPr sz="2050" b="1" spc="-10" dirty="0">
                <a:latin typeface="Courier New"/>
                <a:cs typeface="Courier New"/>
              </a:rPr>
              <a:t>&gt;</a:t>
            </a:r>
            <a:endParaRPr sz="205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2605" y="2863734"/>
            <a:ext cx="941189" cy="2013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92705" y="2794634"/>
            <a:ext cx="97409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0" dirty="0">
                <a:solidFill>
                  <a:srgbClr val="121217"/>
                </a:solidFill>
                <a:latin typeface="Arial"/>
                <a:cs typeface="Arial"/>
              </a:rPr>
              <a:t>Protocol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67279" y="1991359"/>
            <a:ext cx="4333240" cy="1447800"/>
            <a:chOff x="2367279" y="1991359"/>
            <a:chExt cx="4333240" cy="14478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7279" y="1991359"/>
              <a:ext cx="492759" cy="8178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99359" y="2199639"/>
              <a:ext cx="152400" cy="568960"/>
            </a:xfrm>
            <a:custGeom>
              <a:avLst/>
              <a:gdLst/>
              <a:ahLst/>
              <a:cxnLst/>
              <a:rect l="l" t="t" r="r" b="b"/>
              <a:pathLst>
                <a:path w="152400" h="568960">
                  <a:moveTo>
                    <a:pt x="76200" y="152400"/>
                  </a:moveTo>
                  <a:lnTo>
                    <a:pt x="50800" y="186266"/>
                  </a:lnTo>
                  <a:lnTo>
                    <a:pt x="50800" y="568959"/>
                  </a:lnTo>
                  <a:lnTo>
                    <a:pt x="101600" y="568959"/>
                  </a:lnTo>
                  <a:lnTo>
                    <a:pt x="101600" y="186266"/>
                  </a:lnTo>
                  <a:lnTo>
                    <a:pt x="76200" y="152400"/>
                  </a:lnTo>
                  <a:close/>
                </a:path>
                <a:path w="152400" h="568960">
                  <a:moveTo>
                    <a:pt x="76200" y="0"/>
                  </a:moveTo>
                  <a:lnTo>
                    <a:pt x="0" y="254000"/>
                  </a:lnTo>
                  <a:lnTo>
                    <a:pt x="50800" y="186266"/>
                  </a:lnTo>
                  <a:lnTo>
                    <a:pt x="50800" y="152400"/>
                  </a:lnTo>
                  <a:lnTo>
                    <a:pt x="121919" y="152400"/>
                  </a:lnTo>
                  <a:lnTo>
                    <a:pt x="76200" y="0"/>
                  </a:lnTo>
                  <a:close/>
                </a:path>
                <a:path w="152400" h="568960">
                  <a:moveTo>
                    <a:pt x="121919" y="152400"/>
                  </a:moveTo>
                  <a:lnTo>
                    <a:pt x="101600" y="152400"/>
                  </a:lnTo>
                  <a:lnTo>
                    <a:pt x="101600" y="186266"/>
                  </a:lnTo>
                  <a:lnTo>
                    <a:pt x="152400" y="254000"/>
                  </a:lnTo>
                  <a:lnTo>
                    <a:pt x="121919" y="152400"/>
                  </a:lnTo>
                  <a:close/>
                </a:path>
                <a:path w="152400" h="568960">
                  <a:moveTo>
                    <a:pt x="76200" y="152400"/>
                  </a:moveTo>
                  <a:lnTo>
                    <a:pt x="50800" y="152400"/>
                  </a:lnTo>
                  <a:lnTo>
                    <a:pt x="50800" y="186266"/>
                  </a:lnTo>
                  <a:lnTo>
                    <a:pt x="76200" y="152400"/>
                  </a:lnTo>
                  <a:close/>
                </a:path>
                <a:path w="152400" h="568960">
                  <a:moveTo>
                    <a:pt x="101600" y="152400"/>
                  </a:moveTo>
                  <a:lnTo>
                    <a:pt x="76200" y="152400"/>
                  </a:lnTo>
                  <a:lnTo>
                    <a:pt x="101600" y="186266"/>
                  </a:lnTo>
                  <a:lnTo>
                    <a:pt x="101600" y="1524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1359" y="1991359"/>
              <a:ext cx="492760" cy="75691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933439" y="2199639"/>
              <a:ext cx="152400" cy="508000"/>
            </a:xfrm>
            <a:custGeom>
              <a:avLst/>
              <a:gdLst/>
              <a:ahLst/>
              <a:cxnLst/>
              <a:rect l="l" t="t" r="r" b="b"/>
              <a:pathLst>
                <a:path w="152400" h="508000">
                  <a:moveTo>
                    <a:pt x="76200" y="152400"/>
                  </a:moveTo>
                  <a:lnTo>
                    <a:pt x="50800" y="186266"/>
                  </a:lnTo>
                  <a:lnTo>
                    <a:pt x="50800" y="508000"/>
                  </a:lnTo>
                  <a:lnTo>
                    <a:pt x="101600" y="508000"/>
                  </a:lnTo>
                  <a:lnTo>
                    <a:pt x="101600" y="186266"/>
                  </a:lnTo>
                  <a:lnTo>
                    <a:pt x="76200" y="152400"/>
                  </a:lnTo>
                  <a:close/>
                </a:path>
                <a:path w="152400" h="508000">
                  <a:moveTo>
                    <a:pt x="76200" y="0"/>
                  </a:moveTo>
                  <a:lnTo>
                    <a:pt x="0" y="254000"/>
                  </a:lnTo>
                  <a:lnTo>
                    <a:pt x="50800" y="186266"/>
                  </a:lnTo>
                  <a:lnTo>
                    <a:pt x="50800" y="152400"/>
                  </a:lnTo>
                  <a:lnTo>
                    <a:pt x="121920" y="152400"/>
                  </a:lnTo>
                  <a:lnTo>
                    <a:pt x="76200" y="0"/>
                  </a:lnTo>
                  <a:close/>
                </a:path>
                <a:path w="152400" h="508000">
                  <a:moveTo>
                    <a:pt x="121920" y="152400"/>
                  </a:moveTo>
                  <a:lnTo>
                    <a:pt x="101600" y="152400"/>
                  </a:lnTo>
                  <a:lnTo>
                    <a:pt x="101600" y="186266"/>
                  </a:lnTo>
                  <a:lnTo>
                    <a:pt x="152400" y="254000"/>
                  </a:lnTo>
                  <a:lnTo>
                    <a:pt x="121920" y="152400"/>
                  </a:lnTo>
                  <a:close/>
                </a:path>
                <a:path w="152400" h="508000">
                  <a:moveTo>
                    <a:pt x="76200" y="152400"/>
                  </a:moveTo>
                  <a:lnTo>
                    <a:pt x="50800" y="152400"/>
                  </a:lnTo>
                  <a:lnTo>
                    <a:pt x="50800" y="186266"/>
                  </a:lnTo>
                  <a:lnTo>
                    <a:pt x="76200" y="152400"/>
                  </a:lnTo>
                  <a:close/>
                </a:path>
                <a:path w="152400" h="508000">
                  <a:moveTo>
                    <a:pt x="101600" y="152400"/>
                  </a:moveTo>
                  <a:lnTo>
                    <a:pt x="76200" y="152400"/>
                  </a:lnTo>
                  <a:lnTo>
                    <a:pt x="101600" y="186266"/>
                  </a:lnTo>
                  <a:lnTo>
                    <a:pt x="101600" y="1524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3679" y="2611119"/>
              <a:ext cx="1386840" cy="5537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4000" y="2885439"/>
              <a:ext cx="1336040" cy="55371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462904" y="2692018"/>
            <a:ext cx="10693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95"/>
              </a:lnSpc>
              <a:spcBef>
                <a:spcPts val="95"/>
              </a:spcBef>
            </a:pPr>
            <a:r>
              <a:rPr sz="1850" b="1" spc="-10" dirty="0">
                <a:solidFill>
                  <a:srgbClr val="121217"/>
                </a:solidFill>
                <a:latin typeface="Arial"/>
                <a:cs typeface="Arial"/>
              </a:rPr>
              <a:t>Database</a:t>
            </a:r>
            <a:endParaRPr sz="1850">
              <a:latin typeface="Arial"/>
              <a:cs typeface="Arial"/>
            </a:endParaRPr>
          </a:p>
          <a:p>
            <a:pPr marL="33020">
              <a:lnSpc>
                <a:spcPts val="2195"/>
              </a:lnSpc>
            </a:pPr>
            <a:r>
              <a:rPr sz="1850" b="1" spc="-10" dirty="0">
                <a:solidFill>
                  <a:srgbClr val="121217"/>
                </a:solidFill>
                <a:latin typeface="Arial"/>
                <a:cs typeface="Arial"/>
              </a:rPr>
              <a:t>identifier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28800" y="3830319"/>
            <a:ext cx="5435600" cy="477520"/>
            <a:chOff x="1828800" y="3830319"/>
            <a:chExt cx="5435600" cy="477520"/>
          </a:xfrm>
        </p:grpSpPr>
        <p:sp>
          <p:nvSpPr>
            <p:cNvPr id="19" name="object 19"/>
            <p:cNvSpPr/>
            <p:nvPr/>
          </p:nvSpPr>
          <p:spPr>
            <a:xfrm>
              <a:off x="1833880" y="3835399"/>
              <a:ext cx="5425440" cy="467359"/>
            </a:xfrm>
            <a:custGeom>
              <a:avLst/>
              <a:gdLst/>
              <a:ahLst/>
              <a:cxnLst/>
              <a:rect l="l" t="t" r="r" b="b"/>
              <a:pathLst>
                <a:path w="5425440" h="467360">
                  <a:moveTo>
                    <a:pt x="5425440" y="0"/>
                  </a:moveTo>
                  <a:lnTo>
                    <a:pt x="0" y="0"/>
                  </a:lnTo>
                  <a:lnTo>
                    <a:pt x="0" y="467360"/>
                  </a:lnTo>
                  <a:lnTo>
                    <a:pt x="5425440" y="467360"/>
                  </a:lnTo>
                  <a:lnTo>
                    <a:pt x="5425440" y="0"/>
                  </a:lnTo>
                  <a:close/>
                </a:path>
              </a:pathLst>
            </a:custGeom>
            <a:solidFill>
              <a:srgbClr val="AAAB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33880" y="3835399"/>
              <a:ext cx="5425440" cy="467359"/>
            </a:xfrm>
            <a:custGeom>
              <a:avLst/>
              <a:gdLst/>
              <a:ahLst/>
              <a:cxnLst/>
              <a:rect l="l" t="t" r="r" b="b"/>
              <a:pathLst>
                <a:path w="5425440" h="467360">
                  <a:moveTo>
                    <a:pt x="0" y="467360"/>
                  </a:moveTo>
                  <a:lnTo>
                    <a:pt x="5425440" y="467360"/>
                  </a:lnTo>
                  <a:lnTo>
                    <a:pt x="5425440" y="0"/>
                  </a:lnTo>
                  <a:lnTo>
                    <a:pt x="0" y="0"/>
                  </a:lnTo>
                  <a:lnTo>
                    <a:pt x="0" y="467360"/>
                  </a:lnTo>
                  <a:close/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62404" y="3888104"/>
            <a:ext cx="516826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b="1" spc="-10" dirty="0">
                <a:solidFill>
                  <a:srgbClr val="006FC0"/>
                </a:solidFill>
                <a:latin typeface="Courier New"/>
                <a:cs typeface="Courier New"/>
              </a:rPr>
              <a:t>jdbc:oracle:&lt;</a:t>
            </a:r>
            <a:r>
              <a:rPr sz="2050" b="1" i="1" spc="-10" dirty="0">
                <a:solidFill>
                  <a:srgbClr val="006FC0"/>
                </a:solidFill>
                <a:latin typeface="Courier New"/>
                <a:cs typeface="Courier New"/>
              </a:rPr>
              <a:t>driver</a:t>
            </a:r>
            <a:r>
              <a:rPr sz="2050" b="1" spc="-10" dirty="0">
                <a:solidFill>
                  <a:srgbClr val="006FC0"/>
                </a:solidFill>
                <a:latin typeface="Courier New"/>
                <a:cs typeface="Courier New"/>
              </a:rPr>
              <a:t>&gt;:@&lt;</a:t>
            </a:r>
            <a:r>
              <a:rPr sz="2050" b="1" i="1" spc="-10" dirty="0">
                <a:solidFill>
                  <a:srgbClr val="006FC0"/>
                </a:solidFill>
                <a:latin typeface="Courier New"/>
                <a:cs typeface="Courier New"/>
              </a:rPr>
              <a:t>database</a:t>
            </a:r>
            <a:r>
              <a:rPr sz="2050" b="1" spc="-10" dirty="0">
                <a:solidFill>
                  <a:srgbClr val="006FC0"/>
                </a:solidFill>
                <a:latin typeface="Courier New"/>
                <a:cs typeface="Courier New"/>
              </a:rPr>
              <a:t>&gt;</a:t>
            </a:r>
            <a:endParaRPr sz="205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31969" y="2863734"/>
            <a:ext cx="2962275" cy="1276985"/>
            <a:chOff x="3331969" y="2863734"/>
            <a:chExt cx="2962275" cy="1276985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01360" y="3159759"/>
              <a:ext cx="492760" cy="9804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33440" y="3134359"/>
              <a:ext cx="152400" cy="721360"/>
            </a:xfrm>
            <a:custGeom>
              <a:avLst/>
              <a:gdLst/>
              <a:ahLst/>
              <a:cxnLst/>
              <a:rect l="l" t="t" r="r" b="b"/>
              <a:pathLst>
                <a:path w="152400" h="721360">
                  <a:moveTo>
                    <a:pt x="0" y="467359"/>
                  </a:moveTo>
                  <a:lnTo>
                    <a:pt x="76200" y="721360"/>
                  </a:lnTo>
                  <a:lnTo>
                    <a:pt x="121920" y="568960"/>
                  </a:lnTo>
                  <a:lnTo>
                    <a:pt x="50800" y="568960"/>
                  </a:lnTo>
                  <a:lnTo>
                    <a:pt x="50800" y="535093"/>
                  </a:lnTo>
                  <a:lnTo>
                    <a:pt x="0" y="467359"/>
                  </a:lnTo>
                  <a:close/>
                </a:path>
                <a:path w="152400" h="721360">
                  <a:moveTo>
                    <a:pt x="50800" y="535093"/>
                  </a:moveTo>
                  <a:lnTo>
                    <a:pt x="50800" y="568960"/>
                  </a:lnTo>
                  <a:lnTo>
                    <a:pt x="76200" y="568960"/>
                  </a:lnTo>
                  <a:lnTo>
                    <a:pt x="50800" y="535093"/>
                  </a:lnTo>
                  <a:close/>
                </a:path>
                <a:path w="152400" h="721360">
                  <a:moveTo>
                    <a:pt x="101600" y="0"/>
                  </a:moveTo>
                  <a:lnTo>
                    <a:pt x="50800" y="0"/>
                  </a:lnTo>
                  <a:lnTo>
                    <a:pt x="50800" y="535093"/>
                  </a:lnTo>
                  <a:lnTo>
                    <a:pt x="76200" y="568960"/>
                  </a:lnTo>
                  <a:lnTo>
                    <a:pt x="101600" y="535093"/>
                  </a:lnTo>
                  <a:lnTo>
                    <a:pt x="101600" y="0"/>
                  </a:lnTo>
                  <a:close/>
                </a:path>
                <a:path w="152400" h="721360">
                  <a:moveTo>
                    <a:pt x="101600" y="535093"/>
                  </a:moveTo>
                  <a:lnTo>
                    <a:pt x="76200" y="568960"/>
                  </a:lnTo>
                  <a:lnTo>
                    <a:pt x="101600" y="568960"/>
                  </a:lnTo>
                  <a:lnTo>
                    <a:pt x="101600" y="535093"/>
                  </a:lnTo>
                  <a:close/>
                </a:path>
                <a:path w="152400" h="721360">
                  <a:moveTo>
                    <a:pt x="152400" y="467359"/>
                  </a:moveTo>
                  <a:lnTo>
                    <a:pt x="101600" y="535093"/>
                  </a:lnTo>
                  <a:lnTo>
                    <a:pt x="101600" y="568960"/>
                  </a:lnTo>
                  <a:lnTo>
                    <a:pt x="121920" y="568960"/>
                  </a:lnTo>
                  <a:lnTo>
                    <a:pt x="152400" y="467359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31969" y="2863734"/>
              <a:ext cx="1377671" cy="24162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314446" y="2794634"/>
            <a:ext cx="140462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0" dirty="0">
                <a:solidFill>
                  <a:srgbClr val="121217"/>
                </a:solidFill>
                <a:latin typeface="Arial"/>
                <a:cs typeface="Arial"/>
              </a:rPr>
              <a:t>Subprotocol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799840" y="1991359"/>
            <a:ext cx="492759" cy="817880"/>
            <a:chOff x="3799840" y="1991359"/>
            <a:chExt cx="492759" cy="81788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9840" y="1991359"/>
              <a:ext cx="492760" cy="8178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31920" y="2199639"/>
              <a:ext cx="152400" cy="568960"/>
            </a:xfrm>
            <a:custGeom>
              <a:avLst/>
              <a:gdLst/>
              <a:ahLst/>
              <a:cxnLst/>
              <a:rect l="l" t="t" r="r" b="b"/>
              <a:pathLst>
                <a:path w="152400" h="568960">
                  <a:moveTo>
                    <a:pt x="76200" y="152400"/>
                  </a:moveTo>
                  <a:lnTo>
                    <a:pt x="50800" y="186266"/>
                  </a:lnTo>
                  <a:lnTo>
                    <a:pt x="50800" y="568959"/>
                  </a:lnTo>
                  <a:lnTo>
                    <a:pt x="101600" y="568959"/>
                  </a:lnTo>
                  <a:lnTo>
                    <a:pt x="101600" y="186266"/>
                  </a:lnTo>
                  <a:lnTo>
                    <a:pt x="76200" y="152400"/>
                  </a:lnTo>
                  <a:close/>
                </a:path>
                <a:path w="152400" h="568960">
                  <a:moveTo>
                    <a:pt x="76200" y="0"/>
                  </a:moveTo>
                  <a:lnTo>
                    <a:pt x="0" y="254000"/>
                  </a:lnTo>
                  <a:lnTo>
                    <a:pt x="50800" y="186266"/>
                  </a:lnTo>
                  <a:lnTo>
                    <a:pt x="50800" y="152400"/>
                  </a:lnTo>
                  <a:lnTo>
                    <a:pt x="121920" y="152400"/>
                  </a:lnTo>
                  <a:lnTo>
                    <a:pt x="76200" y="0"/>
                  </a:lnTo>
                  <a:close/>
                </a:path>
                <a:path w="152400" h="568960">
                  <a:moveTo>
                    <a:pt x="121920" y="152400"/>
                  </a:moveTo>
                  <a:lnTo>
                    <a:pt x="101600" y="152400"/>
                  </a:lnTo>
                  <a:lnTo>
                    <a:pt x="101600" y="186266"/>
                  </a:lnTo>
                  <a:lnTo>
                    <a:pt x="152400" y="254000"/>
                  </a:lnTo>
                  <a:lnTo>
                    <a:pt x="121920" y="152400"/>
                  </a:lnTo>
                  <a:close/>
                </a:path>
                <a:path w="152400" h="568960">
                  <a:moveTo>
                    <a:pt x="76200" y="152400"/>
                  </a:moveTo>
                  <a:lnTo>
                    <a:pt x="50800" y="152400"/>
                  </a:lnTo>
                  <a:lnTo>
                    <a:pt x="50800" y="186266"/>
                  </a:lnTo>
                  <a:lnTo>
                    <a:pt x="76200" y="152400"/>
                  </a:lnTo>
                  <a:close/>
                </a:path>
                <a:path w="152400" h="568960">
                  <a:moveTo>
                    <a:pt x="101600" y="152400"/>
                  </a:moveTo>
                  <a:lnTo>
                    <a:pt x="76200" y="152400"/>
                  </a:lnTo>
                  <a:lnTo>
                    <a:pt x="101600" y="186266"/>
                  </a:lnTo>
                  <a:lnTo>
                    <a:pt x="101600" y="1524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2021839" y="3027679"/>
            <a:ext cx="624840" cy="1163320"/>
            <a:chOff x="2021839" y="3027679"/>
            <a:chExt cx="624840" cy="1163320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21839" y="3058159"/>
              <a:ext cx="624839" cy="113284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153919" y="3027679"/>
              <a:ext cx="446405" cy="878205"/>
            </a:xfrm>
            <a:custGeom>
              <a:avLst/>
              <a:gdLst/>
              <a:ahLst/>
              <a:cxnLst/>
              <a:rect l="l" t="t" r="r" b="b"/>
              <a:pathLst>
                <a:path w="446405" h="878204">
                  <a:moveTo>
                    <a:pt x="0" y="623697"/>
                  </a:moveTo>
                  <a:lnTo>
                    <a:pt x="76200" y="877658"/>
                  </a:lnTo>
                  <a:lnTo>
                    <a:pt x="114294" y="750697"/>
                  </a:lnTo>
                  <a:lnTo>
                    <a:pt x="76200" y="750697"/>
                  </a:lnTo>
                  <a:lnTo>
                    <a:pt x="66337" y="748692"/>
                  </a:lnTo>
                  <a:lnTo>
                    <a:pt x="58261" y="743235"/>
                  </a:lnTo>
                  <a:lnTo>
                    <a:pt x="52804" y="735159"/>
                  </a:lnTo>
                  <a:lnTo>
                    <a:pt x="50800" y="725297"/>
                  </a:lnTo>
                  <a:lnTo>
                    <a:pt x="50800" y="691430"/>
                  </a:lnTo>
                  <a:lnTo>
                    <a:pt x="0" y="623697"/>
                  </a:lnTo>
                  <a:close/>
                </a:path>
                <a:path w="446405" h="878204">
                  <a:moveTo>
                    <a:pt x="101600" y="691430"/>
                  </a:moveTo>
                  <a:lnTo>
                    <a:pt x="76200" y="725297"/>
                  </a:lnTo>
                  <a:lnTo>
                    <a:pt x="50800" y="725297"/>
                  </a:lnTo>
                  <a:lnTo>
                    <a:pt x="52804" y="735159"/>
                  </a:lnTo>
                  <a:lnTo>
                    <a:pt x="58261" y="743235"/>
                  </a:lnTo>
                  <a:lnTo>
                    <a:pt x="66337" y="748692"/>
                  </a:lnTo>
                  <a:lnTo>
                    <a:pt x="76200" y="750697"/>
                  </a:lnTo>
                  <a:lnTo>
                    <a:pt x="86062" y="748692"/>
                  </a:lnTo>
                  <a:lnTo>
                    <a:pt x="94138" y="743235"/>
                  </a:lnTo>
                  <a:lnTo>
                    <a:pt x="99595" y="735159"/>
                  </a:lnTo>
                  <a:lnTo>
                    <a:pt x="101600" y="725297"/>
                  </a:lnTo>
                  <a:lnTo>
                    <a:pt x="76200" y="725297"/>
                  </a:lnTo>
                  <a:lnTo>
                    <a:pt x="50800" y="691430"/>
                  </a:lnTo>
                  <a:lnTo>
                    <a:pt x="101600" y="691430"/>
                  </a:lnTo>
                  <a:close/>
                </a:path>
                <a:path w="446405" h="878204">
                  <a:moveTo>
                    <a:pt x="152400" y="623697"/>
                  </a:moveTo>
                  <a:lnTo>
                    <a:pt x="101600" y="691430"/>
                  </a:lnTo>
                  <a:lnTo>
                    <a:pt x="101600" y="725297"/>
                  </a:lnTo>
                  <a:lnTo>
                    <a:pt x="99595" y="735159"/>
                  </a:lnTo>
                  <a:lnTo>
                    <a:pt x="94138" y="743235"/>
                  </a:lnTo>
                  <a:lnTo>
                    <a:pt x="86062" y="748692"/>
                  </a:lnTo>
                  <a:lnTo>
                    <a:pt x="76200" y="750697"/>
                  </a:lnTo>
                  <a:lnTo>
                    <a:pt x="114294" y="750697"/>
                  </a:lnTo>
                  <a:lnTo>
                    <a:pt x="152400" y="623697"/>
                  </a:lnTo>
                  <a:close/>
                </a:path>
                <a:path w="446405" h="878204">
                  <a:moveTo>
                    <a:pt x="395097" y="304165"/>
                  </a:moveTo>
                  <a:lnTo>
                    <a:pt x="76200" y="304165"/>
                  </a:lnTo>
                  <a:lnTo>
                    <a:pt x="66337" y="306169"/>
                  </a:lnTo>
                  <a:lnTo>
                    <a:pt x="58261" y="311626"/>
                  </a:lnTo>
                  <a:lnTo>
                    <a:pt x="52804" y="319702"/>
                  </a:lnTo>
                  <a:lnTo>
                    <a:pt x="50800" y="329565"/>
                  </a:lnTo>
                  <a:lnTo>
                    <a:pt x="50800" y="691430"/>
                  </a:lnTo>
                  <a:lnTo>
                    <a:pt x="76200" y="725297"/>
                  </a:lnTo>
                  <a:lnTo>
                    <a:pt x="101600" y="691430"/>
                  </a:lnTo>
                  <a:lnTo>
                    <a:pt x="101600" y="354965"/>
                  </a:lnTo>
                  <a:lnTo>
                    <a:pt x="76200" y="354965"/>
                  </a:lnTo>
                  <a:lnTo>
                    <a:pt x="101600" y="329565"/>
                  </a:lnTo>
                  <a:lnTo>
                    <a:pt x="395097" y="329565"/>
                  </a:lnTo>
                  <a:lnTo>
                    <a:pt x="395097" y="304165"/>
                  </a:lnTo>
                  <a:close/>
                </a:path>
                <a:path w="446405" h="878204">
                  <a:moveTo>
                    <a:pt x="101600" y="329565"/>
                  </a:moveTo>
                  <a:lnTo>
                    <a:pt x="76200" y="354965"/>
                  </a:lnTo>
                  <a:lnTo>
                    <a:pt x="101600" y="354965"/>
                  </a:lnTo>
                  <a:lnTo>
                    <a:pt x="101600" y="329565"/>
                  </a:lnTo>
                  <a:close/>
                </a:path>
                <a:path w="446405" h="878204">
                  <a:moveTo>
                    <a:pt x="445897" y="304165"/>
                  </a:moveTo>
                  <a:lnTo>
                    <a:pt x="420497" y="304165"/>
                  </a:lnTo>
                  <a:lnTo>
                    <a:pt x="395097" y="329565"/>
                  </a:lnTo>
                  <a:lnTo>
                    <a:pt x="101600" y="329565"/>
                  </a:lnTo>
                  <a:lnTo>
                    <a:pt x="101600" y="354965"/>
                  </a:lnTo>
                  <a:lnTo>
                    <a:pt x="420497" y="354965"/>
                  </a:lnTo>
                  <a:lnTo>
                    <a:pt x="430359" y="352978"/>
                  </a:lnTo>
                  <a:lnTo>
                    <a:pt x="438435" y="347551"/>
                  </a:lnTo>
                  <a:lnTo>
                    <a:pt x="443892" y="339480"/>
                  </a:lnTo>
                  <a:lnTo>
                    <a:pt x="445897" y="329565"/>
                  </a:lnTo>
                  <a:lnTo>
                    <a:pt x="445897" y="304165"/>
                  </a:lnTo>
                  <a:close/>
                </a:path>
                <a:path w="446405" h="878204">
                  <a:moveTo>
                    <a:pt x="420497" y="0"/>
                  </a:moveTo>
                  <a:lnTo>
                    <a:pt x="410581" y="2004"/>
                  </a:lnTo>
                  <a:lnTo>
                    <a:pt x="402510" y="7461"/>
                  </a:lnTo>
                  <a:lnTo>
                    <a:pt x="397083" y="15537"/>
                  </a:lnTo>
                  <a:lnTo>
                    <a:pt x="395097" y="25400"/>
                  </a:lnTo>
                  <a:lnTo>
                    <a:pt x="395097" y="329565"/>
                  </a:lnTo>
                  <a:lnTo>
                    <a:pt x="420497" y="304165"/>
                  </a:lnTo>
                  <a:lnTo>
                    <a:pt x="445897" y="304165"/>
                  </a:lnTo>
                  <a:lnTo>
                    <a:pt x="445897" y="25400"/>
                  </a:lnTo>
                  <a:lnTo>
                    <a:pt x="443892" y="15537"/>
                  </a:lnTo>
                  <a:lnTo>
                    <a:pt x="438435" y="7461"/>
                  </a:lnTo>
                  <a:lnTo>
                    <a:pt x="430359" y="2004"/>
                  </a:lnTo>
                  <a:lnTo>
                    <a:pt x="420497" y="0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3058160" y="3027679"/>
            <a:ext cx="4160520" cy="1163320"/>
            <a:chOff x="3058160" y="3027679"/>
            <a:chExt cx="4160520" cy="1163320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58160" y="3058159"/>
              <a:ext cx="1021080" cy="113284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190240" y="3027679"/>
              <a:ext cx="842644" cy="878205"/>
            </a:xfrm>
            <a:custGeom>
              <a:avLst/>
              <a:gdLst/>
              <a:ahLst/>
              <a:cxnLst/>
              <a:rect l="l" t="t" r="r" b="b"/>
              <a:pathLst>
                <a:path w="842645" h="878204">
                  <a:moveTo>
                    <a:pt x="0" y="623697"/>
                  </a:moveTo>
                  <a:lnTo>
                    <a:pt x="76200" y="877658"/>
                  </a:lnTo>
                  <a:lnTo>
                    <a:pt x="114294" y="750697"/>
                  </a:lnTo>
                  <a:lnTo>
                    <a:pt x="76200" y="750697"/>
                  </a:lnTo>
                  <a:lnTo>
                    <a:pt x="66337" y="748692"/>
                  </a:lnTo>
                  <a:lnTo>
                    <a:pt x="58261" y="743235"/>
                  </a:lnTo>
                  <a:lnTo>
                    <a:pt x="52804" y="735159"/>
                  </a:lnTo>
                  <a:lnTo>
                    <a:pt x="50800" y="725297"/>
                  </a:lnTo>
                  <a:lnTo>
                    <a:pt x="50800" y="691430"/>
                  </a:lnTo>
                  <a:lnTo>
                    <a:pt x="0" y="623697"/>
                  </a:lnTo>
                  <a:close/>
                </a:path>
                <a:path w="842645" h="878204">
                  <a:moveTo>
                    <a:pt x="101600" y="691430"/>
                  </a:moveTo>
                  <a:lnTo>
                    <a:pt x="76200" y="725297"/>
                  </a:lnTo>
                  <a:lnTo>
                    <a:pt x="50800" y="725297"/>
                  </a:lnTo>
                  <a:lnTo>
                    <a:pt x="52804" y="735159"/>
                  </a:lnTo>
                  <a:lnTo>
                    <a:pt x="58261" y="743235"/>
                  </a:lnTo>
                  <a:lnTo>
                    <a:pt x="66337" y="748692"/>
                  </a:lnTo>
                  <a:lnTo>
                    <a:pt x="76200" y="750697"/>
                  </a:lnTo>
                  <a:lnTo>
                    <a:pt x="86062" y="748692"/>
                  </a:lnTo>
                  <a:lnTo>
                    <a:pt x="94138" y="743235"/>
                  </a:lnTo>
                  <a:lnTo>
                    <a:pt x="99595" y="735159"/>
                  </a:lnTo>
                  <a:lnTo>
                    <a:pt x="101600" y="725297"/>
                  </a:lnTo>
                  <a:lnTo>
                    <a:pt x="76200" y="725297"/>
                  </a:lnTo>
                  <a:lnTo>
                    <a:pt x="50800" y="691430"/>
                  </a:lnTo>
                  <a:lnTo>
                    <a:pt x="101600" y="691430"/>
                  </a:lnTo>
                  <a:close/>
                </a:path>
                <a:path w="842645" h="878204">
                  <a:moveTo>
                    <a:pt x="152400" y="623697"/>
                  </a:moveTo>
                  <a:lnTo>
                    <a:pt x="101600" y="691430"/>
                  </a:lnTo>
                  <a:lnTo>
                    <a:pt x="101600" y="725297"/>
                  </a:lnTo>
                  <a:lnTo>
                    <a:pt x="99595" y="735159"/>
                  </a:lnTo>
                  <a:lnTo>
                    <a:pt x="94138" y="743235"/>
                  </a:lnTo>
                  <a:lnTo>
                    <a:pt x="86062" y="748692"/>
                  </a:lnTo>
                  <a:lnTo>
                    <a:pt x="76200" y="750697"/>
                  </a:lnTo>
                  <a:lnTo>
                    <a:pt x="114294" y="750697"/>
                  </a:lnTo>
                  <a:lnTo>
                    <a:pt x="152400" y="623697"/>
                  </a:lnTo>
                  <a:close/>
                </a:path>
                <a:path w="842645" h="878204">
                  <a:moveTo>
                    <a:pt x="791337" y="304165"/>
                  </a:moveTo>
                  <a:lnTo>
                    <a:pt x="76200" y="304165"/>
                  </a:lnTo>
                  <a:lnTo>
                    <a:pt x="66337" y="306169"/>
                  </a:lnTo>
                  <a:lnTo>
                    <a:pt x="58261" y="311626"/>
                  </a:lnTo>
                  <a:lnTo>
                    <a:pt x="52804" y="319702"/>
                  </a:lnTo>
                  <a:lnTo>
                    <a:pt x="50800" y="329565"/>
                  </a:lnTo>
                  <a:lnTo>
                    <a:pt x="50800" y="691430"/>
                  </a:lnTo>
                  <a:lnTo>
                    <a:pt x="76200" y="725297"/>
                  </a:lnTo>
                  <a:lnTo>
                    <a:pt x="101600" y="691430"/>
                  </a:lnTo>
                  <a:lnTo>
                    <a:pt x="101600" y="354965"/>
                  </a:lnTo>
                  <a:lnTo>
                    <a:pt x="76200" y="354965"/>
                  </a:lnTo>
                  <a:lnTo>
                    <a:pt x="101600" y="329565"/>
                  </a:lnTo>
                  <a:lnTo>
                    <a:pt x="791337" y="329565"/>
                  </a:lnTo>
                  <a:lnTo>
                    <a:pt x="791337" y="304165"/>
                  </a:lnTo>
                  <a:close/>
                </a:path>
                <a:path w="842645" h="878204">
                  <a:moveTo>
                    <a:pt x="101600" y="329565"/>
                  </a:moveTo>
                  <a:lnTo>
                    <a:pt x="76200" y="354965"/>
                  </a:lnTo>
                  <a:lnTo>
                    <a:pt x="101600" y="354965"/>
                  </a:lnTo>
                  <a:lnTo>
                    <a:pt x="101600" y="329565"/>
                  </a:lnTo>
                  <a:close/>
                </a:path>
                <a:path w="842645" h="878204">
                  <a:moveTo>
                    <a:pt x="842137" y="304165"/>
                  </a:moveTo>
                  <a:lnTo>
                    <a:pt x="816737" y="304165"/>
                  </a:lnTo>
                  <a:lnTo>
                    <a:pt x="791337" y="329565"/>
                  </a:lnTo>
                  <a:lnTo>
                    <a:pt x="101600" y="329565"/>
                  </a:lnTo>
                  <a:lnTo>
                    <a:pt x="101600" y="354965"/>
                  </a:lnTo>
                  <a:lnTo>
                    <a:pt x="816737" y="354965"/>
                  </a:lnTo>
                  <a:lnTo>
                    <a:pt x="826599" y="352978"/>
                  </a:lnTo>
                  <a:lnTo>
                    <a:pt x="834675" y="347551"/>
                  </a:lnTo>
                  <a:lnTo>
                    <a:pt x="840132" y="339480"/>
                  </a:lnTo>
                  <a:lnTo>
                    <a:pt x="842137" y="329565"/>
                  </a:lnTo>
                  <a:lnTo>
                    <a:pt x="842137" y="304165"/>
                  </a:lnTo>
                  <a:close/>
                </a:path>
                <a:path w="842645" h="878204">
                  <a:moveTo>
                    <a:pt x="816737" y="0"/>
                  </a:moveTo>
                  <a:lnTo>
                    <a:pt x="806821" y="2004"/>
                  </a:lnTo>
                  <a:lnTo>
                    <a:pt x="798750" y="7461"/>
                  </a:lnTo>
                  <a:lnTo>
                    <a:pt x="793323" y="15537"/>
                  </a:lnTo>
                  <a:lnTo>
                    <a:pt x="791337" y="25400"/>
                  </a:lnTo>
                  <a:lnTo>
                    <a:pt x="791337" y="329565"/>
                  </a:lnTo>
                  <a:lnTo>
                    <a:pt x="816737" y="304165"/>
                  </a:lnTo>
                  <a:lnTo>
                    <a:pt x="842137" y="304165"/>
                  </a:lnTo>
                  <a:lnTo>
                    <a:pt x="842137" y="25400"/>
                  </a:lnTo>
                  <a:lnTo>
                    <a:pt x="840132" y="15537"/>
                  </a:lnTo>
                  <a:lnTo>
                    <a:pt x="834675" y="7461"/>
                  </a:lnTo>
                  <a:lnTo>
                    <a:pt x="826599" y="2004"/>
                  </a:lnTo>
                  <a:lnTo>
                    <a:pt x="816737" y="0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01440" y="3901439"/>
              <a:ext cx="3317240" cy="1778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896360" y="3896359"/>
              <a:ext cx="3250565" cy="111125"/>
            </a:xfrm>
            <a:custGeom>
              <a:avLst/>
              <a:gdLst/>
              <a:ahLst/>
              <a:cxnLst/>
              <a:rect l="l" t="t" r="r" b="b"/>
              <a:pathLst>
                <a:path w="3250565" h="111125">
                  <a:moveTo>
                    <a:pt x="0" y="110604"/>
                  </a:moveTo>
                  <a:lnTo>
                    <a:pt x="0" y="0"/>
                  </a:lnTo>
                  <a:lnTo>
                    <a:pt x="3250057" y="0"/>
                  </a:lnTo>
                  <a:lnTo>
                    <a:pt x="3250057" y="70281"/>
                  </a:lnTo>
                  <a:lnTo>
                    <a:pt x="3250057" y="110604"/>
                  </a:lnTo>
                </a:path>
              </a:pathLst>
            </a:custGeom>
            <a:ln w="508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8323" y="25619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Connect:</a:t>
            </a:r>
            <a:r>
              <a:rPr sz="2400" u="sng" spc="-17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About</a:t>
            </a:r>
            <a:r>
              <a:rPr sz="2400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JDBC</a:t>
            </a:r>
            <a:r>
              <a:rPr sz="2400" u="sng" spc="-10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400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URL</a:t>
            </a:r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smtClean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705850" cy="3513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379" indent="-233679">
              <a:lnSpc>
                <a:spcPts val="2195"/>
              </a:lnSpc>
              <a:spcBef>
                <a:spcPts val="95"/>
              </a:spcBef>
              <a:buClr>
                <a:srgbClr val="006FC0"/>
              </a:buClr>
              <a:buChar char="•"/>
              <a:tabLst>
                <a:tab pos="246379" algn="l"/>
              </a:tabLst>
            </a:pPr>
            <a:r>
              <a:rPr sz="1850" dirty="0">
                <a:latin typeface="Arial MT"/>
                <a:cs typeface="Arial MT"/>
              </a:rPr>
              <a:t>A</a:t>
            </a:r>
            <a:r>
              <a:rPr sz="1850" spc="-7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JDBC</a:t>
            </a:r>
            <a:r>
              <a:rPr sz="1850" spc="5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driver</a:t>
            </a:r>
            <a:r>
              <a:rPr sz="1850" spc="5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uses a</a:t>
            </a:r>
            <a:r>
              <a:rPr sz="1850" spc="-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JDBC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URL</a:t>
            </a:r>
            <a:r>
              <a:rPr sz="1850" spc="-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4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identify</a:t>
            </a:r>
            <a:r>
              <a:rPr sz="1850" spc="-7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and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connect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-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4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particular</a:t>
            </a:r>
            <a:r>
              <a:rPr sz="1850" spc="6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database.</a:t>
            </a:r>
            <a:endParaRPr sz="1850">
              <a:latin typeface="Arial MT"/>
              <a:cs typeface="Arial MT"/>
            </a:endParaRPr>
          </a:p>
          <a:p>
            <a:pPr marL="246379">
              <a:lnSpc>
                <a:spcPts val="2195"/>
              </a:lnSpc>
            </a:pPr>
            <a:r>
              <a:rPr sz="1850" spc="-10" dirty="0">
                <a:latin typeface="Arial MT"/>
                <a:cs typeface="Arial MT"/>
              </a:rPr>
              <a:t>These</a:t>
            </a:r>
            <a:r>
              <a:rPr sz="1850" spc="-1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URLs</a:t>
            </a:r>
            <a:r>
              <a:rPr sz="1850" spc="-15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are</a:t>
            </a:r>
            <a:r>
              <a:rPr sz="1850" spc="-175" dirty="0">
                <a:latin typeface="Arial MT"/>
                <a:cs typeface="Arial MT"/>
              </a:rPr>
              <a:t> </a:t>
            </a:r>
            <a:r>
              <a:rPr sz="1850" spc="-30" dirty="0">
                <a:latin typeface="Arial MT"/>
                <a:cs typeface="Arial MT"/>
              </a:rPr>
              <a:t>generally</a:t>
            </a:r>
            <a:r>
              <a:rPr sz="1850" spc="-6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of</a:t>
            </a:r>
            <a:r>
              <a:rPr sz="1850" spc="-9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2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form:</a:t>
            </a:r>
            <a:endParaRPr sz="1850">
              <a:latin typeface="Arial MT"/>
              <a:cs typeface="Arial MT"/>
            </a:endParaRPr>
          </a:p>
          <a:p>
            <a:pPr marL="927735">
              <a:lnSpc>
                <a:spcPts val="2190"/>
              </a:lnSpc>
              <a:spcBef>
                <a:spcPts val="505"/>
              </a:spcBef>
              <a:tabLst>
                <a:tab pos="4731385" algn="l"/>
              </a:tabLst>
            </a:pPr>
            <a:r>
              <a:rPr sz="1850" b="1" spc="-10" dirty="0">
                <a:latin typeface="Arial"/>
                <a:cs typeface="Arial"/>
              </a:rPr>
              <a:t>jdbc:&lt;subprotocol&gt;:&lt;subname&gt;</a:t>
            </a:r>
            <a:r>
              <a:rPr sz="1850" b="1" dirty="0">
                <a:latin typeface="Arial"/>
                <a:cs typeface="Arial"/>
              </a:rPr>
              <a:t>	</a:t>
            </a:r>
            <a:r>
              <a:rPr sz="1850" spc="-25" dirty="0">
                <a:latin typeface="Arial MT"/>
                <a:cs typeface="Arial MT"/>
              </a:rPr>
              <a:t>or</a:t>
            </a:r>
            <a:endParaRPr sz="1850">
              <a:latin typeface="Arial MT"/>
              <a:cs typeface="Arial MT"/>
            </a:endParaRPr>
          </a:p>
          <a:p>
            <a:pPr marL="927735">
              <a:lnSpc>
                <a:spcPts val="2190"/>
              </a:lnSpc>
            </a:pPr>
            <a:r>
              <a:rPr sz="1850" b="1" spc="-10" dirty="0">
                <a:latin typeface="Arial"/>
                <a:cs typeface="Arial"/>
              </a:rPr>
              <a:t>jdbc:</a:t>
            </a:r>
            <a:r>
              <a:rPr sz="1850" b="1" i="1" spc="-10" dirty="0">
                <a:latin typeface="Arial"/>
                <a:cs typeface="Arial"/>
              </a:rPr>
              <a:t>driver</a:t>
            </a:r>
            <a:r>
              <a:rPr sz="1850" b="1" spc="-10" dirty="0">
                <a:latin typeface="Arial"/>
                <a:cs typeface="Arial"/>
              </a:rPr>
              <a:t>:</a:t>
            </a:r>
            <a:r>
              <a:rPr sz="1850" b="1" i="1" spc="-10" dirty="0">
                <a:latin typeface="Arial"/>
                <a:cs typeface="Arial"/>
              </a:rPr>
              <a:t>databasename</a:t>
            </a:r>
            <a:endParaRPr sz="1850">
              <a:latin typeface="Arial"/>
              <a:cs typeface="Arial"/>
            </a:endParaRPr>
          </a:p>
          <a:p>
            <a:pPr marL="245110" marR="13335" indent="-233045" algn="just">
              <a:lnSpc>
                <a:spcPct val="97500"/>
              </a:lnSpc>
              <a:spcBef>
                <a:spcPts val="640"/>
              </a:spcBef>
              <a:buClr>
                <a:srgbClr val="006FC0"/>
              </a:buClr>
              <a:buChar char="•"/>
              <a:tabLst>
                <a:tab pos="246379" algn="l"/>
              </a:tabLst>
            </a:pPr>
            <a:r>
              <a:rPr sz="1850" dirty="0">
                <a:latin typeface="Arial MT"/>
                <a:cs typeface="Arial MT"/>
              </a:rPr>
              <a:t>The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actual</a:t>
            </a:r>
            <a:r>
              <a:rPr sz="1850" spc="-11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standard</a:t>
            </a:r>
            <a:r>
              <a:rPr sz="1850" spc="-8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 </a:t>
            </a:r>
            <a:r>
              <a:rPr sz="1850" spc="-10" dirty="0">
                <a:latin typeface="Arial MT"/>
                <a:cs typeface="Arial MT"/>
              </a:rPr>
              <a:t>quite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fluid,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-30" dirty="0">
                <a:latin typeface="Arial MT"/>
                <a:cs typeface="Arial MT"/>
              </a:rPr>
              <a:t>however,</a:t>
            </a:r>
            <a:r>
              <a:rPr sz="1850" spc="-5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as </a:t>
            </a:r>
            <a:r>
              <a:rPr sz="1850" spc="-10" dirty="0">
                <a:latin typeface="Arial MT"/>
                <a:cs typeface="Arial MT"/>
              </a:rPr>
              <a:t>different</a:t>
            </a:r>
            <a:r>
              <a:rPr sz="1850" spc="-60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databases</a:t>
            </a:r>
            <a:r>
              <a:rPr sz="1850" spc="-7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require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different 	</a:t>
            </a:r>
            <a:r>
              <a:rPr sz="1850" dirty="0">
                <a:latin typeface="Arial MT"/>
                <a:cs typeface="Arial MT"/>
              </a:rPr>
              <a:t>information</a:t>
            </a:r>
            <a:r>
              <a:rPr sz="1850" spc="2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19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connect</a:t>
            </a:r>
            <a:r>
              <a:rPr sz="1850" spc="17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successfully.</a:t>
            </a:r>
            <a:r>
              <a:rPr sz="1850" spc="2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For</a:t>
            </a:r>
            <a:r>
              <a:rPr sz="1850" spc="27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example,</a:t>
            </a:r>
            <a:r>
              <a:rPr sz="1850" spc="2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254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Oracle</a:t>
            </a:r>
            <a:r>
              <a:rPr sz="1850" spc="204" dirty="0">
                <a:latin typeface="Arial MT"/>
                <a:cs typeface="Arial MT"/>
              </a:rPr>
              <a:t> </a:t>
            </a:r>
            <a:r>
              <a:rPr sz="1850" spc="-30" dirty="0">
                <a:latin typeface="Arial MT"/>
                <a:cs typeface="Arial MT"/>
              </a:rPr>
              <a:t>JDBC-</a:t>
            </a:r>
            <a:r>
              <a:rPr sz="1850" dirty="0">
                <a:latin typeface="Arial MT"/>
                <a:cs typeface="Arial MT"/>
              </a:rPr>
              <a:t>Thin</a:t>
            </a:r>
            <a:r>
              <a:rPr sz="1850" spc="19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driver 	</a:t>
            </a:r>
            <a:r>
              <a:rPr sz="1850" dirty="0">
                <a:latin typeface="Arial MT"/>
                <a:cs typeface="Arial MT"/>
              </a:rPr>
              <a:t>uses</a:t>
            </a:r>
            <a:r>
              <a:rPr sz="1850" spc="-114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-1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URL</a:t>
            </a:r>
            <a:r>
              <a:rPr sz="1850" spc="-18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of</a:t>
            </a:r>
            <a:r>
              <a:rPr sz="1850" spc="-9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-50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form:</a:t>
            </a:r>
            <a:endParaRPr sz="1850">
              <a:latin typeface="Arial MT"/>
              <a:cs typeface="Arial MT"/>
            </a:endParaRPr>
          </a:p>
          <a:p>
            <a:pPr marL="927735">
              <a:lnSpc>
                <a:spcPct val="100000"/>
              </a:lnSpc>
              <a:spcBef>
                <a:spcPts val="505"/>
              </a:spcBef>
            </a:pPr>
            <a:r>
              <a:rPr sz="1850" b="1" spc="-10" dirty="0">
                <a:latin typeface="Arial"/>
                <a:cs typeface="Arial"/>
              </a:rPr>
              <a:t>jdbc:oracle:thin:@</a:t>
            </a:r>
            <a:r>
              <a:rPr sz="1850" b="1" i="1" spc="-10" dirty="0">
                <a:latin typeface="Arial"/>
                <a:cs typeface="Arial"/>
              </a:rPr>
              <a:t>site</a:t>
            </a:r>
            <a:r>
              <a:rPr sz="1850" b="1" spc="-10" dirty="0">
                <a:latin typeface="Arial"/>
                <a:cs typeface="Arial"/>
              </a:rPr>
              <a:t>:</a:t>
            </a:r>
            <a:r>
              <a:rPr sz="1850" b="1" i="1" spc="-10" dirty="0">
                <a:latin typeface="Arial"/>
                <a:cs typeface="Arial"/>
              </a:rPr>
              <a:t>port</a:t>
            </a:r>
            <a:r>
              <a:rPr sz="1850" b="1" spc="-10" dirty="0">
                <a:latin typeface="Arial"/>
                <a:cs typeface="Arial"/>
              </a:rPr>
              <a:t>:</a:t>
            </a:r>
            <a:r>
              <a:rPr sz="1850" b="1" i="1" spc="-10" dirty="0">
                <a:latin typeface="Arial"/>
                <a:cs typeface="Arial"/>
              </a:rPr>
              <a:t>database</a:t>
            </a:r>
            <a:endParaRPr sz="1850">
              <a:latin typeface="Arial"/>
              <a:cs typeface="Arial"/>
            </a:endParaRPr>
          </a:p>
          <a:p>
            <a:pPr marL="246379" indent="-233679">
              <a:lnSpc>
                <a:spcPct val="100000"/>
              </a:lnSpc>
              <a:spcBef>
                <a:spcPts val="585"/>
              </a:spcBef>
              <a:buClr>
                <a:srgbClr val="006FC0"/>
              </a:buClr>
              <a:buChar char="•"/>
              <a:tabLst>
                <a:tab pos="246379" algn="l"/>
              </a:tabLst>
            </a:pPr>
            <a:r>
              <a:rPr sz="1850" spc="-30" dirty="0">
                <a:latin typeface="Arial MT"/>
                <a:cs typeface="Arial MT"/>
              </a:rPr>
              <a:t>while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-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JDBC-</a:t>
            </a:r>
            <a:r>
              <a:rPr sz="1850" spc="-40" dirty="0">
                <a:latin typeface="Arial MT"/>
                <a:cs typeface="Arial MT"/>
              </a:rPr>
              <a:t>ODBC</a:t>
            </a:r>
            <a:r>
              <a:rPr sz="1850" spc="-245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Bridge</a:t>
            </a:r>
            <a:r>
              <a:rPr sz="1850" spc="-9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uses:</a:t>
            </a:r>
            <a:endParaRPr sz="1850">
              <a:latin typeface="Arial MT"/>
              <a:cs typeface="Arial MT"/>
            </a:endParaRPr>
          </a:p>
          <a:p>
            <a:pPr marL="927735">
              <a:lnSpc>
                <a:spcPct val="100000"/>
              </a:lnSpc>
              <a:spcBef>
                <a:spcPts val="505"/>
              </a:spcBef>
            </a:pPr>
            <a:r>
              <a:rPr sz="1850" b="1" spc="-10" dirty="0">
                <a:latin typeface="Arial"/>
                <a:cs typeface="Arial"/>
              </a:rPr>
              <a:t>jdbc:odbc:</a:t>
            </a:r>
            <a:r>
              <a:rPr sz="1850" b="1" i="1" spc="-10" dirty="0">
                <a:latin typeface="Arial"/>
                <a:cs typeface="Arial"/>
              </a:rPr>
              <a:t>datasource:odbcoptions</a:t>
            </a:r>
            <a:endParaRPr sz="1850">
              <a:latin typeface="Arial"/>
              <a:cs typeface="Arial"/>
            </a:endParaRPr>
          </a:p>
          <a:p>
            <a:pPr marL="246379" indent="-233679">
              <a:lnSpc>
                <a:spcPct val="100000"/>
              </a:lnSpc>
              <a:spcBef>
                <a:spcPts val="585"/>
              </a:spcBef>
              <a:buClr>
                <a:srgbClr val="006FC0"/>
              </a:buClr>
              <a:buChar char="•"/>
              <a:tabLst>
                <a:tab pos="246379" algn="l"/>
              </a:tabLst>
            </a:pPr>
            <a:r>
              <a:rPr sz="1850" dirty="0">
                <a:latin typeface="Arial MT"/>
                <a:cs typeface="Arial MT"/>
              </a:rPr>
              <a:t>The</a:t>
            </a:r>
            <a:r>
              <a:rPr sz="1850" spc="-130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only</a:t>
            </a:r>
            <a:r>
              <a:rPr sz="1850" spc="-105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requirement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</a:t>
            </a:r>
            <a:r>
              <a:rPr sz="1850" spc="-1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that</a:t>
            </a:r>
            <a:r>
              <a:rPr sz="1850" spc="-5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-85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driver</a:t>
            </a:r>
            <a:r>
              <a:rPr sz="1850" spc="-1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be</a:t>
            </a:r>
            <a:r>
              <a:rPr sz="1850" spc="-8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able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-85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recognize</a:t>
            </a:r>
            <a:r>
              <a:rPr sz="1850" spc="-10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its</a:t>
            </a:r>
            <a:r>
              <a:rPr sz="1850" spc="-65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own</a:t>
            </a:r>
            <a:r>
              <a:rPr sz="1850" spc="-8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URLs.</a:t>
            </a:r>
            <a:endParaRPr sz="1850">
              <a:latin typeface="Arial MT"/>
              <a:cs typeface="Arial M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543" y="9853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Host</a:t>
            </a:r>
            <a:r>
              <a:rPr u="sng" spc="-18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Details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35902" y="734123"/>
            <a:ext cx="8672830" cy="31565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45110" marR="15240" indent="-233045">
              <a:lnSpc>
                <a:spcPts val="2160"/>
              </a:lnSpc>
              <a:spcBef>
                <a:spcPts val="215"/>
              </a:spcBef>
              <a:buClr>
                <a:srgbClr val="00AFEF"/>
              </a:buClr>
              <a:buFont typeface="Wingdings"/>
              <a:buChar char=""/>
              <a:tabLst>
                <a:tab pos="246379" algn="l"/>
              </a:tabLst>
            </a:pPr>
            <a:r>
              <a:rPr sz="1850" spc="-30" dirty="0">
                <a:latin typeface="Times New Roman"/>
                <a:cs typeface="Times New Roman"/>
              </a:rPr>
              <a:t>You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should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aware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IP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address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system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host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name,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from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where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Oracle 	</a:t>
            </a:r>
            <a:r>
              <a:rPr sz="1850" spc="-25" dirty="0">
                <a:latin typeface="Times New Roman"/>
                <a:cs typeface="Times New Roman"/>
              </a:rPr>
              <a:t>Database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being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accessed.</a:t>
            </a:r>
            <a:endParaRPr sz="1850">
              <a:latin typeface="Times New Roman"/>
              <a:cs typeface="Times New Roman"/>
            </a:endParaRPr>
          </a:p>
          <a:p>
            <a:pPr marL="245745" indent="-233045">
              <a:lnSpc>
                <a:spcPts val="2190"/>
              </a:lnSpc>
              <a:spcBef>
                <a:spcPts val="445"/>
              </a:spcBef>
              <a:buClr>
                <a:srgbClr val="00AFEF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dirty="0">
                <a:latin typeface="Times New Roman"/>
                <a:cs typeface="Times New Roman"/>
              </a:rPr>
              <a:t>If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your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Oracle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database is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running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10" dirty="0">
                <a:latin typeface="Times New Roman"/>
                <a:cs typeface="Times New Roman"/>
              </a:rPr>
              <a:t> same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system,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where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you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executing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your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jdbc</a:t>
            </a:r>
            <a:endParaRPr sz="1850">
              <a:latin typeface="Times New Roman"/>
              <a:cs typeface="Times New Roman"/>
            </a:endParaRPr>
          </a:p>
          <a:p>
            <a:pPr marL="246379">
              <a:lnSpc>
                <a:spcPts val="2190"/>
              </a:lnSpc>
            </a:pPr>
            <a:r>
              <a:rPr sz="1850" spc="-10" dirty="0">
                <a:latin typeface="Times New Roman"/>
                <a:cs typeface="Times New Roman"/>
              </a:rPr>
              <a:t>program,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then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you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can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@localhost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(in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place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IP</a:t>
            </a:r>
            <a:r>
              <a:rPr sz="1850" spc="-2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address),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in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your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JDBC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URL</a:t>
            </a:r>
            <a:endParaRPr sz="1850">
              <a:latin typeface="Times New Roman"/>
              <a:cs typeface="Times New Roman"/>
            </a:endParaRPr>
          </a:p>
          <a:p>
            <a:pPr marL="1385570">
              <a:lnSpc>
                <a:spcPct val="100000"/>
              </a:lnSpc>
              <a:spcBef>
                <a:spcPts val="590"/>
              </a:spcBef>
            </a:pPr>
            <a:r>
              <a:rPr sz="1850" b="1" i="1" spc="-10" dirty="0">
                <a:latin typeface="Times New Roman"/>
                <a:cs typeface="Times New Roman"/>
              </a:rPr>
              <a:t>jdbc:oracle:thin:@localhost</a:t>
            </a:r>
            <a:endParaRPr sz="1850">
              <a:latin typeface="Times New Roman"/>
              <a:cs typeface="Times New Roman"/>
            </a:endParaRPr>
          </a:p>
          <a:p>
            <a:pPr marL="245745" indent="-233045">
              <a:lnSpc>
                <a:spcPts val="2190"/>
              </a:lnSpc>
              <a:spcBef>
                <a:spcPts val="505"/>
              </a:spcBef>
              <a:buClr>
                <a:srgbClr val="00AFEF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dirty="0">
                <a:latin typeface="Times New Roman"/>
                <a:cs typeface="Times New Roman"/>
              </a:rPr>
              <a:t>If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Oracle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database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running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different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system,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then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you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need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find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out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IP</a:t>
            </a:r>
            <a:endParaRPr sz="1850">
              <a:latin typeface="Times New Roman"/>
              <a:cs typeface="Times New Roman"/>
            </a:endParaRPr>
          </a:p>
          <a:p>
            <a:pPr marL="246379">
              <a:lnSpc>
                <a:spcPts val="2190"/>
              </a:lnSpc>
            </a:pPr>
            <a:r>
              <a:rPr sz="1850" dirty="0">
                <a:latin typeface="Times New Roman"/>
                <a:cs typeface="Times New Roman"/>
              </a:rPr>
              <a:t>address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system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and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include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@IPAddress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-10" dirty="0">
                <a:latin typeface="Times New Roman"/>
                <a:cs typeface="Times New Roman"/>
              </a:rPr>
              <a:t> your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JDBC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URL.</a:t>
            </a:r>
            <a:endParaRPr sz="1850">
              <a:latin typeface="Times New Roman"/>
              <a:cs typeface="Times New Roman"/>
            </a:endParaRPr>
          </a:p>
          <a:p>
            <a:pPr marL="245745" indent="-233045">
              <a:lnSpc>
                <a:spcPts val="2190"/>
              </a:lnSpc>
              <a:spcBef>
                <a:spcPts val="585"/>
              </a:spcBef>
              <a:buClr>
                <a:srgbClr val="00AFEF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e.g.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if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IP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address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system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hosting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Oracle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database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192.168.10.5,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then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your</a:t>
            </a:r>
            <a:endParaRPr sz="1850">
              <a:latin typeface="Times New Roman"/>
              <a:cs typeface="Times New Roman"/>
            </a:endParaRPr>
          </a:p>
          <a:p>
            <a:pPr marL="246379">
              <a:lnSpc>
                <a:spcPts val="2190"/>
              </a:lnSpc>
            </a:pPr>
            <a:r>
              <a:rPr sz="1850" spc="-10" dirty="0">
                <a:latin typeface="Times New Roman"/>
                <a:cs typeface="Times New Roman"/>
              </a:rPr>
              <a:t>JDBC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URL,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will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begin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with</a:t>
            </a:r>
            <a:endParaRPr sz="1850">
              <a:latin typeface="Times New Roman"/>
              <a:cs typeface="Times New Roman"/>
            </a:endParaRPr>
          </a:p>
          <a:p>
            <a:pPr marL="1385570">
              <a:lnSpc>
                <a:spcPct val="100000"/>
              </a:lnSpc>
              <a:spcBef>
                <a:spcPts val="505"/>
              </a:spcBef>
            </a:pPr>
            <a:r>
              <a:rPr sz="1850" b="1" i="1" spc="-10" dirty="0">
                <a:latin typeface="Times New Roman"/>
                <a:cs typeface="Times New Roman"/>
                <a:hlinkClick r:id=""/>
              </a:rPr>
              <a:t>jdbc:oracle:thin:@192.168.10.5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440" y="0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Service</a:t>
            </a:r>
            <a:r>
              <a:rPr sz="2800" u="sng" spc="-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Name</a:t>
            </a:r>
            <a:r>
              <a:rPr sz="2800" u="sng" spc="-1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and</a:t>
            </a:r>
            <a:r>
              <a:rPr sz="2800" u="sng" spc="-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Port</a:t>
            </a:r>
            <a:r>
              <a:rPr sz="2800" u="sng" spc="-16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No.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1168400" y="1554479"/>
            <a:ext cx="6327775" cy="2946400"/>
            <a:chOff x="1168400" y="1554479"/>
            <a:chExt cx="6327775" cy="2946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9288" y="1645919"/>
              <a:ext cx="1436319" cy="28549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8400" y="1554479"/>
              <a:ext cx="4902200" cy="17424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4280" y="1590039"/>
              <a:ext cx="4798949" cy="16352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24280" y="1590039"/>
              <a:ext cx="4799330" cy="1635760"/>
            </a:xfrm>
            <a:custGeom>
              <a:avLst/>
              <a:gdLst/>
              <a:ahLst/>
              <a:cxnLst/>
              <a:rect l="l" t="t" r="r" b="b"/>
              <a:pathLst>
                <a:path w="4799330" h="1635760">
                  <a:moveTo>
                    <a:pt x="0" y="225171"/>
                  </a:moveTo>
                  <a:lnTo>
                    <a:pt x="4575" y="179798"/>
                  </a:lnTo>
                  <a:lnTo>
                    <a:pt x="17698" y="137535"/>
                  </a:lnTo>
                  <a:lnTo>
                    <a:pt x="38462" y="99286"/>
                  </a:lnTo>
                  <a:lnTo>
                    <a:pt x="65960" y="65960"/>
                  </a:lnTo>
                  <a:lnTo>
                    <a:pt x="99286" y="38462"/>
                  </a:lnTo>
                  <a:lnTo>
                    <a:pt x="137535" y="17698"/>
                  </a:lnTo>
                  <a:lnTo>
                    <a:pt x="179798" y="4575"/>
                  </a:lnTo>
                  <a:lnTo>
                    <a:pt x="225170" y="0"/>
                  </a:lnTo>
                  <a:lnTo>
                    <a:pt x="2222499" y="0"/>
                  </a:lnTo>
                  <a:lnTo>
                    <a:pt x="3174999" y="0"/>
                  </a:lnTo>
                  <a:lnTo>
                    <a:pt x="3584829" y="0"/>
                  </a:lnTo>
                  <a:lnTo>
                    <a:pt x="3630201" y="4575"/>
                  </a:lnTo>
                  <a:lnTo>
                    <a:pt x="3672464" y="17698"/>
                  </a:lnTo>
                  <a:lnTo>
                    <a:pt x="3710713" y="38462"/>
                  </a:lnTo>
                  <a:lnTo>
                    <a:pt x="3744039" y="65960"/>
                  </a:lnTo>
                  <a:lnTo>
                    <a:pt x="3771537" y="99286"/>
                  </a:lnTo>
                  <a:lnTo>
                    <a:pt x="3792301" y="137535"/>
                  </a:lnTo>
                  <a:lnTo>
                    <a:pt x="3805424" y="179798"/>
                  </a:lnTo>
                  <a:lnTo>
                    <a:pt x="3810000" y="225171"/>
                  </a:lnTo>
                  <a:lnTo>
                    <a:pt x="3810000" y="788289"/>
                  </a:lnTo>
                  <a:lnTo>
                    <a:pt x="4798949" y="1635252"/>
                  </a:lnTo>
                  <a:lnTo>
                    <a:pt x="3810000" y="1126109"/>
                  </a:lnTo>
                  <a:lnTo>
                    <a:pt x="3805424" y="1171481"/>
                  </a:lnTo>
                  <a:lnTo>
                    <a:pt x="3792301" y="1213744"/>
                  </a:lnTo>
                  <a:lnTo>
                    <a:pt x="3771537" y="1251993"/>
                  </a:lnTo>
                  <a:lnTo>
                    <a:pt x="3744039" y="1285319"/>
                  </a:lnTo>
                  <a:lnTo>
                    <a:pt x="3710713" y="1312817"/>
                  </a:lnTo>
                  <a:lnTo>
                    <a:pt x="3672464" y="1333581"/>
                  </a:lnTo>
                  <a:lnTo>
                    <a:pt x="3630201" y="1346704"/>
                  </a:lnTo>
                  <a:lnTo>
                    <a:pt x="3584829" y="1351280"/>
                  </a:lnTo>
                  <a:lnTo>
                    <a:pt x="3174999" y="1351280"/>
                  </a:lnTo>
                  <a:lnTo>
                    <a:pt x="2222499" y="1351280"/>
                  </a:lnTo>
                  <a:lnTo>
                    <a:pt x="225170" y="1351280"/>
                  </a:lnTo>
                  <a:lnTo>
                    <a:pt x="179798" y="1346704"/>
                  </a:lnTo>
                  <a:lnTo>
                    <a:pt x="137535" y="1333581"/>
                  </a:lnTo>
                  <a:lnTo>
                    <a:pt x="99286" y="1312817"/>
                  </a:lnTo>
                  <a:lnTo>
                    <a:pt x="65960" y="1285319"/>
                  </a:lnTo>
                  <a:lnTo>
                    <a:pt x="38462" y="1251993"/>
                  </a:lnTo>
                  <a:lnTo>
                    <a:pt x="17698" y="1213744"/>
                  </a:lnTo>
                  <a:lnTo>
                    <a:pt x="4575" y="1171481"/>
                  </a:lnTo>
                  <a:lnTo>
                    <a:pt x="0" y="1126109"/>
                  </a:lnTo>
                  <a:lnTo>
                    <a:pt x="0" y="788289"/>
                  </a:lnTo>
                  <a:lnTo>
                    <a:pt x="0" y="225171"/>
                  </a:lnTo>
                  <a:close/>
                </a:path>
              </a:pathLst>
            </a:custGeom>
            <a:ln w="10160">
              <a:solidFill>
                <a:srgbClr val="A6A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8114" y="740155"/>
            <a:ext cx="8161020" cy="2154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5" dirty="0">
                <a:latin typeface="Times New Roman"/>
                <a:cs typeface="Times New Roman"/>
              </a:rPr>
              <a:t>You</a:t>
            </a:r>
            <a:r>
              <a:rPr sz="2000" dirty="0">
                <a:latin typeface="Times New Roman"/>
                <a:cs typeface="Times New Roman"/>
              </a:rPr>
              <a:t> should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aware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port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 oracle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running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000">
              <a:latin typeface="Times New Roman"/>
              <a:cs typeface="Times New Roman"/>
            </a:endParaRPr>
          </a:p>
          <a:p>
            <a:pPr marL="1739264" marR="3857625" indent="19685" algn="ctr">
              <a:lnSpc>
                <a:spcPts val="2170"/>
              </a:lnSpc>
            </a:pPr>
            <a:r>
              <a:rPr sz="1850" b="1" dirty="0">
                <a:solidFill>
                  <a:srgbClr val="001F5F"/>
                </a:solidFill>
                <a:latin typeface="Arial"/>
                <a:cs typeface="Arial"/>
              </a:rPr>
              <a:t>How</a:t>
            </a:r>
            <a:r>
              <a:rPr sz="1850" b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001F5F"/>
                </a:solidFill>
                <a:latin typeface="Arial"/>
                <a:cs typeface="Arial"/>
              </a:rPr>
              <a:t>to</a:t>
            </a:r>
            <a:r>
              <a:rPr sz="1850" b="1" spc="-6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001F5F"/>
                </a:solidFill>
                <a:latin typeface="Arial"/>
                <a:cs typeface="Arial"/>
              </a:rPr>
              <a:t>find</a:t>
            </a:r>
            <a:r>
              <a:rPr sz="1850" b="1" spc="-1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850" b="1" spc="-1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001F5F"/>
                </a:solidFill>
                <a:latin typeface="Arial"/>
                <a:cs typeface="Arial"/>
              </a:rPr>
              <a:t>service </a:t>
            </a:r>
            <a:r>
              <a:rPr sz="1850" b="1" spc="-20" dirty="0">
                <a:solidFill>
                  <a:srgbClr val="001F5F"/>
                </a:solidFill>
                <a:latin typeface="Arial"/>
                <a:cs typeface="Arial"/>
              </a:rPr>
              <a:t>name</a:t>
            </a:r>
            <a:r>
              <a:rPr sz="1850" b="1" spc="-6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001F5F"/>
                </a:solidFill>
                <a:latin typeface="Arial"/>
                <a:cs typeface="Arial"/>
              </a:rPr>
              <a:t>and</a:t>
            </a:r>
            <a:r>
              <a:rPr sz="1850" b="1" spc="-1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850" b="1" spc="-1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001F5F"/>
                </a:solidFill>
                <a:latin typeface="Arial"/>
                <a:cs typeface="Arial"/>
              </a:rPr>
              <a:t>port</a:t>
            </a:r>
            <a:r>
              <a:rPr sz="185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spc="-25" dirty="0">
                <a:solidFill>
                  <a:srgbClr val="001F5F"/>
                </a:solidFill>
                <a:latin typeface="Arial"/>
                <a:cs typeface="Arial"/>
              </a:rPr>
              <a:t>no. </a:t>
            </a:r>
            <a:r>
              <a:rPr sz="185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185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850" b="1" spc="-1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001F5F"/>
                </a:solidFill>
                <a:latin typeface="Arial"/>
                <a:cs typeface="Arial"/>
              </a:rPr>
              <a:t>database</a:t>
            </a:r>
            <a:r>
              <a:rPr sz="1850" b="1" spc="-1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001F5F"/>
                </a:solidFill>
                <a:latin typeface="Arial"/>
                <a:cs typeface="Arial"/>
              </a:rPr>
              <a:t>service</a:t>
            </a:r>
            <a:endParaRPr sz="1850">
              <a:latin typeface="Arial"/>
              <a:cs typeface="Arial"/>
            </a:endParaRPr>
          </a:p>
          <a:p>
            <a:pPr marR="2109470" algn="ctr">
              <a:lnSpc>
                <a:spcPts val="2090"/>
              </a:lnSpc>
            </a:pPr>
            <a:r>
              <a:rPr sz="1850" b="1" spc="-50" dirty="0">
                <a:solidFill>
                  <a:srgbClr val="001F5F"/>
                </a:solidFill>
                <a:latin typeface="Arial"/>
                <a:cs typeface="Arial"/>
              </a:rPr>
              <a:t>?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344" y="16431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Service</a:t>
            </a:r>
            <a:r>
              <a:rPr spc="-175" dirty="0"/>
              <a:t> </a:t>
            </a:r>
            <a:r>
              <a:rPr dirty="0"/>
              <a:t>Name</a:t>
            </a:r>
            <a:r>
              <a:rPr spc="-135" dirty="0"/>
              <a:t> </a:t>
            </a:r>
            <a:r>
              <a:rPr dirty="0"/>
              <a:t>and</a:t>
            </a:r>
            <a:r>
              <a:rPr spc="-140" dirty="0"/>
              <a:t> </a:t>
            </a:r>
            <a:r>
              <a:rPr dirty="0"/>
              <a:t>Port</a:t>
            </a:r>
            <a:r>
              <a:rPr spc="-130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01612" y="910335"/>
            <a:ext cx="8711565" cy="33610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indent="-233045" algn="just">
              <a:lnSpc>
                <a:spcPts val="2195"/>
              </a:lnSpc>
              <a:spcBef>
                <a:spcPts val="95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spc="-70" dirty="0">
                <a:latin typeface="Times New Roman"/>
                <a:cs typeface="Times New Roman"/>
              </a:rPr>
              <a:t>You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find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service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name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and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port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no.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database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you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want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connect,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by</a:t>
            </a:r>
            <a:endParaRPr sz="1850">
              <a:latin typeface="Times New Roman"/>
              <a:cs typeface="Times New Roman"/>
            </a:endParaRPr>
          </a:p>
          <a:p>
            <a:pPr marL="246379" algn="just">
              <a:lnSpc>
                <a:spcPts val="2195"/>
              </a:lnSpc>
            </a:pPr>
            <a:r>
              <a:rPr sz="1850" dirty="0">
                <a:latin typeface="Times New Roman"/>
                <a:cs typeface="Times New Roman"/>
              </a:rPr>
              <a:t>opening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file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called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tnsnames.ora</a:t>
            </a:r>
            <a:endParaRPr sz="1850">
              <a:latin typeface="Times New Roman"/>
              <a:cs typeface="Times New Roman"/>
            </a:endParaRPr>
          </a:p>
          <a:p>
            <a:pPr marL="245110" marR="13335" indent="-233045" algn="just">
              <a:lnSpc>
                <a:spcPts val="2160"/>
              </a:lnSpc>
              <a:spcBef>
                <a:spcPts val="62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850" dirty="0">
                <a:latin typeface="Times New Roman"/>
                <a:cs typeface="Times New Roman"/>
              </a:rPr>
              <a:t>This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file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will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found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within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subdirectories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Oracle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installation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directory.</a:t>
            </a:r>
            <a:r>
              <a:rPr sz="1850" spc="-25" dirty="0">
                <a:latin typeface="Times New Roman"/>
                <a:cs typeface="Times New Roman"/>
              </a:rPr>
              <a:t> You 	</a:t>
            </a:r>
            <a:r>
              <a:rPr sz="1850" dirty="0">
                <a:latin typeface="Times New Roman"/>
                <a:cs typeface="Times New Roman"/>
              </a:rPr>
              <a:t>will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have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look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folder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called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app,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which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contains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files and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folders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related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Oracle 	</a:t>
            </a:r>
            <a:r>
              <a:rPr sz="1850" dirty="0">
                <a:latin typeface="Times New Roman"/>
                <a:cs typeface="Times New Roman"/>
              </a:rPr>
              <a:t>Software.</a:t>
            </a:r>
            <a:r>
              <a:rPr sz="1850" spc="4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2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one</a:t>
            </a:r>
            <a:r>
              <a:rPr sz="1850" spc="4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5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0" dirty="0">
                <a:latin typeface="Times New Roman"/>
                <a:cs typeface="Times New Roman"/>
              </a:rPr>
              <a:t>  </a:t>
            </a:r>
            <a:r>
              <a:rPr sz="1850" spc="-30" dirty="0">
                <a:latin typeface="Times New Roman"/>
                <a:cs typeface="Times New Roman"/>
              </a:rPr>
              <a:t>sub-</a:t>
            </a:r>
            <a:r>
              <a:rPr sz="1850" dirty="0">
                <a:latin typeface="Times New Roman"/>
                <a:cs typeface="Times New Roman"/>
              </a:rPr>
              <a:t>directories</a:t>
            </a:r>
            <a:r>
              <a:rPr sz="1850" spc="8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6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this</a:t>
            </a:r>
            <a:r>
              <a:rPr sz="1850" spc="4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hierarchy,</a:t>
            </a:r>
            <a:r>
              <a:rPr sz="1850" spc="4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ADMIN,</a:t>
            </a:r>
            <a:r>
              <a:rPr sz="1850" spc="260" dirty="0">
                <a:latin typeface="Times New Roman"/>
                <a:cs typeface="Times New Roman"/>
              </a:rPr>
              <a:t>   </a:t>
            </a:r>
            <a:r>
              <a:rPr sz="1850" dirty="0">
                <a:latin typeface="Times New Roman"/>
                <a:cs typeface="Times New Roman"/>
              </a:rPr>
              <a:t>you</a:t>
            </a:r>
            <a:r>
              <a:rPr sz="1850" spc="2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will</a:t>
            </a:r>
            <a:r>
              <a:rPr sz="1850" spc="65" dirty="0">
                <a:latin typeface="Times New Roman"/>
                <a:cs typeface="Times New Roman"/>
              </a:rPr>
              <a:t>  </a:t>
            </a:r>
            <a:r>
              <a:rPr sz="1850" spc="-20" dirty="0">
                <a:latin typeface="Times New Roman"/>
                <a:cs typeface="Times New Roman"/>
              </a:rPr>
              <a:t>find 	</a:t>
            </a:r>
            <a:r>
              <a:rPr sz="1850" i="1" spc="-10" dirty="0">
                <a:latin typeface="Times New Roman"/>
                <a:cs typeface="Times New Roman"/>
              </a:rPr>
              <a:t>tnsnames.ora</a:t>
            </a:r>
            <a:r>
              <a:rPr sz="1850" i="1" spc="-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file.</a:t>
            </a:r>
            <a:endParaRPr sz="1850">
              <a:latin typeface="Times New Roman"/>
              <a:cs typeface="Times New Roman"/>
            </a:endParaRPr>
          </a:p>
          <a:p>
            <a:pPr marL="245745" indent="-233045" algn="just">
              <a:lnSpc>
                <a:spcPct val="100000"/>
              </a:lnSpc>
              <a:spcBef>
                <a:spcPts val="535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e.g.</a:t>
            </a:r>
            <a:r>
              <a:rPr sz="1850" dirty="0">
                <a:latin typeface="Times New Roman"/>
                <a:cs typeface="Times New Roman"/>
              </a:rPr>
              <a:t> in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my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machine,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Times New Roman"/>
                <a:cs typeface="Times New Roman"/>
              </a:rPr>
              <a:t>tnsnames.ora</a:t>
            </a:r>
            <a:r>
              <a:rPr sz="1850" i="1" spc="-6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is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found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within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the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following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path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:</a:t>
            </a:r>
            <a:endParaRPr sz="1850">
              <a:latin typeface="Times New Roman"/>
              <a:cs typeface="Times New Roman"/>
            </a:endParaRPr>
          </a:p>
          <a:p>
            <a:pPr marL="1384935">
              <a:lnSpc>
                <a:spcPct val="100000"/>
              </a:lnSpc>
              <a:spcBef>
                <a:spcPts val="505"/>
              </a:spcBef>
            </a:pPr>
            <a:r>
              <a:rPr sz="1850" b="1" spc="-10" dirty="0">
                <a:latin typeface="Times New Roman"/>
                <a:cs typeface="Times New Roman"/>
              </a:rPr>
              <a:t>E:\app\harb\product\11.1.0\db_1\NETWORK\ADMIN</a:t>
            </a:r>
            <a:endParaRPr sz="1850">
              <a:latin typeface="Times New Roman"/>
              <a:cs typeface="Times New Roman"/>
            </a:endParaRPr>
          </a:p>
          <a:p>
            <a:pPr marL="245110" marR="12700" indent="-233045" algn="just">
              <a:lnSpc>
                <a:spcPts val="2160"/>
              </a:lnSpc>
              <a:spcBef>
                <a:spcPts val="710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850" i="1" dirty="0">
                <a:latin typeface="Times New Roman"/>
                <a:cs typeface="Times New Roman"/>
              </a:rPr>
              <a:t>Note</a:t>
            </a:r>
            <a:r>
              <a:rPr sz="1850" i="1" spc="2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:</a:t>
            </a:r>
            <a:r>
              <a:rPr sz="1850" i="1" spc="6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Please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do</a:t>
            </a:r>
            <a:r>
              <a:rPr sz="1850" i="1" spc="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not</a:t>
            </a:r>
            <a:r>
              <a:rPr sz="1850" i="1" spc="8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change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any</a:t>
            </a:r>
            <a:r>
              <a:rPr sz="1850" i="1" spc="25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configuration</a:t>
            </a:r>
            <a:r>
              <a:rPr sz="1850" i="1" spc="2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parameters</a:t>
            </a:r>
            <a:r>
              <a:rPr sz="1850" i="1" spc="4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stored</a:t>
            </a:r>
            <a:r>
              <a:rPr sz="1850" i="1" spc="7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within</a:t>
            </a:r>
            <a:r>
              <a:rPr sz="1850" i="1" spc="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this</a:t>
            </a:r>
            <a:r>
              <a:rPr sz="1850" i="1" spc="4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file.</a:t>
            </a:r>
            <a:r>
              <a:rPr sz="1850" i="1" spc="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Even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a 	</a:t>
            </a:r>
            <a:r>
              <a:rPr sz="1850" i="1" dirty="0">
                <a:latin typeface="Times New Roman"/>
                <a:cs typeface="Times New Roman"/>
              </a:rPr>
              <a:t>small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change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in</a:t>
            </a:r>
            <a:r>
              <a:rPr sz="1850" i="1" spc="-4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this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file</a:t>
            </a:r>
            <a:r>
              <a:rPr sz="1850" i="1" spc="-80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could</a:t>
            </a:r>
            <a:r>
              <a:rPr sz="1850" i="1" spc="-40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disrupt</a:t>
            </a:r>
            <a:r>
              <a:rPr sz="1850" i="1" spc="-3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the</a:t>
            </a:r>
            <a:r>
              <a:rPr sz="1850" i="1" spc="-80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Oracle</a:t>
            </a:r>
            <a:r>
              <a:rPr sz="1850" i="1" spc="-8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Service.</a:t>
            </a:r>
            <a:r>
              <a:rPr sz="1850" i="1" spc="-5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Just</a:t>
            </a:r>
            <a:r>
              <a:rPr sz="1850" i="1" spc="-9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open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the</a:t>
            </a:r>
            <a:r>
              <a:rPr sz="1850" i="1" spc="-8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file,</a:t>
            </a:r>
            <a:r>
              <a:rPr sz="1850" i="1" spc="-4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note</a:t>
            </a:r>
            <a:r>
              <a:rPr sz="1850" i="1" spc="-8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down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the 	</a:t>
            </a:r>
            <a:r>
              <a:rPr sz="1850" i="1" spc="-10" dirty="0">
                <a:latin typeface="Times New Roman"/>
                <a:cs typeface="Times New Roman"/>
              </a:rPr>
              <a:t>configuration</a:t>
            </a:r>
            <a:r>
              <a:rPr sz="1850" i="1" spc="-135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parameters</a:t>
            </a:r>
            <a:r>
              <a:rPr sz="1850" i="1" spc="-100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for</a:t>
            </a:r>
            <a:r>
              <a:rPr sz="1850" i="1" spc="-10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port</a:t>
            </a:r>
            <a:r>
              <a:rPr sz="1850" i="1" spc="-4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no.</a:t>
            </a:r>
            <a:r>
              <a:rPr sz="1850" i="1" spc="-17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and</a:t>
            </a:r>
            <a:r>
              <a:rPr sz="1850" i="1" spc="-7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service_name</a:t>
            </a:r>
            <a:r>
              <a:rPr sz="1850" i="1" spc="-12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and</a:t>
            </a:r>
            <a:r>
              <a:rPr sz="1850" i="1" spc="-16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close</a:t>
            </a:r>
            <a:r>
              <a:rPr sz="1850" i="1" spc="-12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the</a:t>
            </a:r>
            <a:r>
              <a:rPr sz="1850" i="1" spc="-130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file</a:t>
            </a:r>
            <a:r>
              <a:rPr sz="1850" i="1" spc="-130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without</a:t>
            </a:r>
            <a:r>
              <a:rPr sz="1850" i="1" spc="-55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saving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it.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164" y="30874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941816" y="4976177"/>
            <a:ext cx="107314" cy="1115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650" dirty="0" smtClean="0">
                <a:latin typeface="Arial MT"/>
                <a:cs typeface="Arial MT"/>
              </a:rPr>
              <a:t>8</a:t>
            </a:r>
            <a:endParaRPr sz="650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8445" y="15874"/>
            <a:ext cx="29476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spc="-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tnsnames.ora</a:t>
            </a:r>
            <a:r>
              <a:rPr sz="2800" u="sng" spc="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file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>
            <a:off x="467994" y="586168"/>
            <a:ext cx="5544820" cy="39281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dirty="0">
                <a:latin typeface="Times New Roman"/>
                <a:cs typeface="Times New Roman"/>
              </a:rPr>
              <a:t>A</a:t>
            </a:r>
            <a:r>
              <a:rPr sz="1650" b="1" spc="-10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typical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tnsnames.ora</a:t>
            </a:r>
            <a:r>
              <a:rPr sz="1650" b="1" spc="-6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file</a:t>
            </a:r>
            <a:r>
              <a:rPr sz="1650" b="1" spc="95" dirty="0">
                <a:latin typeface="Times New Roman"/>
                <a:cs typeface="Times New Roman"/>
              </a:rPr>
              <a:t> </a:t>
            </a:r>
            <a:r>
              <a:rPr sz="1650" b="1" spc="-50" dirty="0"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271780">
              <a:lnSpc>
                <a:spcPct val="101299"/>
              </a:lnSpc>
            </a:pPr>
            <a:r>
              <a:rPr sz="1650" dirty="0">
                <a:latin typeface="Times New Roman"/>
                <a:cs typeface="Times New Roman"/>
              </a:rPr>
              <a:t>#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tnsnames.ora</a:t>
            </a:r>
            <a:r>
              <a:rPr sz="1650" spc="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Network</a:t>
            </a:r>
            <a:r>
              <a:rPr sz="1650" spc="-10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Configuration</a:t>
            </a:r>
            <a:r>
              <a:rPr sz="1650" spc="-19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File: E:\app\harb\product\11.1.0\db_1\network\admin\tnsnames.ora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650" dirty="0">
                <a:latin typeface="Times New Roman"/>
                <a:cs typeface="Times New Roman"/>
              </a:rPr>
              <a:t>#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Generated</a:t>
            </a:r>
            <a:r>
              <a:rPr sz="1650" spc="10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by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Oracle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configuration</a:t>
            </a:r>
            <a:r>
              <a:rPr sz="1650" spc="-21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tools.</a:t>
            </a:r>
            <a:endParaRPr sz="1650">
              <a:latin typeface="Times New Roman"/>
              <a:cs typeface="Times New Roman"/>
            </a:endParaRPr>
          </a:p>
          <a:p>
            <a:pPr marL="134620" marR="4084954" indent="-122555">
              <a:lnSpc>
                <a:spcPct val="178100"/>
              </a:lnSpc>
              <a:spcBef>
                <a:spcPts val="825"/>
              </a:spcBef>
            </a:pPr>
            <a:r>
              <a:rPr sz="1350" dirty="0">
                <a:latin typeface="Times New Roman"/>
                <a:cs typeface="Times New Roman"/>
              </a:rPr>
              <a:t>ORCL</a:t>
            </a:r>
            <a:r>
              <a:rPr sz="1350" spc="-60" dirty="0">
                <a:latin typeface="Times New Roman"/>
                <a:cs typeface="Times New Roman"/>
              </a:rPr>
              <a:t> </a:t>
            </a:r>
            <a:r>
              <a:rPr sz="1350" spc="-50" dirty="0">
                <a:latin typeface="Times New Roman"/>
                <a:cs typeface="Times New Roman"/>
              </a:rPr>
              <a:t>= </a:t>
            </a:r>
            <a:r>
              <a:rPr sz="1350" spc="-20" dirty="0">
                <a:latin typeface="Times New Roman"/>
                <a:cs typeface="Times New Roman"/>
              </a:rPr>
              <a:t>(DESCRIPTION</a:t>
            </a:r>
            <a:r>
              <a:rPr sz="1350" spc="180" dirty="0">
                <a:latin typeface="Times New Roman"/>
                <a:cs typeface="Times New Roman"/>
              </a:rPr>
              <a:t> </a:t>
            </a:r>
            <a:r>
              <a:rPr sz="1350" spc="-50" dirty="0">
                <a:latin typeface="Times New Roman"/>
                <a:cs typeface="Times New Roman"/>
              </a:rPr>
              <a:t>=</a:t>
            </a:r>
            <a:endParaRPr sz="1350">
              <a:latin typeface="Times New Roman"/>
              <a:cs typeface="Times New Roman"/>
            </a:endParaRPr>
          </a:p>
          <a:p>
            <a:pPr marL="185420">
              <a:lnSpc>
                <a:spcPct val="133500"/>
              </a:lnSpc>
              <a:spcBef>
                <a:spcPts val="240"/>
              </a:spcBef>
            </a:pPr>
            <a:r>
              <a:rPr sz="1350" spc="-10" dirty="0">
                <a:latin typeface="Times New Roman"/>
                <a:cs typeface="Times New Roman"/>
              </a:rPr>
              <a:t>(ADDRESS</a:t>
            </a:r>
            <a:r>
              <a:rPr sz="1350" spc="1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=</a:t>
            </a:r>
            <a:r>
              <a:rPr sz="1350" spc="-85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(PROTOCOL</a:t>
            </a:r>
            <a:r>
              <a:rPr sz="1350" spc="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=</a:t>
            </a:r>
            <a:r>
              <a:rPr sz="1350" spc="-10" dirty="0">
                <a:latin typeface="Times New Roman"/>
                <a:cs typeface="Times New Roman"/>
              </a:rPr>
              <a:t> TCP)(HOST</a:t>
            </a:r>
            <a:r>
              <a:rPr sz="1350" spc="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=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L-</a:t>
            </a:r>
            <a:r>
              <a:rPr sz="1350" spc="-10" dirty="0">
                <a:latin typeface="Times New Roman"/>
                <a:cs typeface="Times New Roman"/>
              </a:rPr>
              <a:t>156012383)(PORT</a:t>
            </a:r>
            <a:r>
              <a:rPr sz="1350" spc="-2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= </a:t>
            </a:r>
            <a:r>
              <a:rPr sz="1350" spc="-10" dirty="0">
                <a:latin typeface="Times New Roman"/>
                <a:cs typeface="Times New Roman"/>
              </a:rPr>
              <a:t>1521)) </a:t>
            </a:r>
            <a:r>
              <a:rPr sz="1350" spc="-45" dirty="0">
                <a:latin typeface="Times New Roman"/>
                <a:cs typeface="Times New Roman"/>
              </a:rPr>
              <a:t>(CONNECT_DATA</a:t>
            </a:r>
            <a:r>
              <a:rPr sz="1350" spc="140" dirty="0">
                <a:latin typeface="Times New Roman"/>
                <a:cs typeface="Times New Roman"/>
              </a:rPr>
              <a:t> </a:t>
            </a:r>
            <a:r>
              <a:rPr sz="1350" spc="-50" dirty="0">
                <a:latin typeface="Times New Roman"/>
                <a:cs typeface="Times New Roman"/>
              </a:rPr>
              <a:t>=</a:t>
            </a:r>
            <a:endParaRPr sz="1350">
              <a:latin typeface="Times New Roman"/>
              <a:cs typeface="Times New Roman"/>
            </a:endParaRPr>
          </a:p>
          <a:p>
            <a:pPr marL="266700" marR="3391535">
              <a:lnSpc>
                <a:spcPct val="138600"/>
              </a:lnSpc>
            </a:pPr>
            <a:r>
              <a:rPr sz="1350" spc="-30" dirty="0">
                <a:latin typeface="Times New Roman"/>
                <a:cs typeface="Times New Roman"/>
              </a:rPr>
              <a:t>(SERVER</a:t>
            </a:r>
            <a:r>
              <a:rPr sz="1350" spc="6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=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spc="-40" dirty="0">
                <a:latin typeface="Times New Roman"/>
                <a:cs typeface="Times New Roman"/>
              </a:rPr>
              <a:t>DEDICATED) </a:t>
            </a:r>
            <a:r>
              <a:rPr sz="1350" spc="-30" dirty="0">
                <a:latin typeface="Times New Roman"/>
                <a:cs typeface="Times New Roman"/>
              </a:rPr>
              <a:t>(SERVICE_NAME</a:t>
            </a:r>
            <a:r>
              <a:rPr sz="1350" spc="20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=</a:t>
            </a:r>
            <a:r>
              <a:rPr sz="1350" spc="-10" dirty="0">
                <a:latin typeface="Times New Roman"/>
                <a:cs typeface="Times New Roman"/>
              </a:rPr>
              <a:t> orcl)</a:t>
            </a:r>
            <a:endParaRPr sz="1350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  <a:spcBef>
                <a:spcPts val="625"/>
              </a:spcBef>
            </a:pPr>
            <a:r>
              <a:rPr sz="1350" spc="-50" dirty="0"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93345">
              <a:lnSpc>
                <a:spcPct val="100000"/>
              </a:lnSpc>
              <a:spcBef>
                <a:spcPts val="540"/>
              </a:spcBef>
            </a:pPr>
            <a:r>
              <a:rPr sz="1350" spc="-50" dirty="0"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360" y="15874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8445" y="214248"/>
            <a:ext cx="3875404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JDBC</a:t>
            </a: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URLs:</a:t>
            </a:r>
            <a:r>
              <a:rPr sz="2800" u="sng" spc="-4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Examples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8902" y="1212849"/>
            <a:ext cx="60566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6379" indent="-233679">
              <a:lnSpc>
                <a:spcPct val="100000"/>
              </a:lnSpc>
              <a:spcBef>
                <a:spcPts val="105"/>
              </a:spcBef>
              <a:buClr>
                <a:srgbClr val="00AFEF"/>
              </a:buClr>
              <a:buFont typeface="Arial MT"/>
              <a:buChar char="•"/>
              <a:tabLst>
                <a:tab pos="246379" algn="l"/>
              </a:tabLst>
            </a:pPr>
            <a:r>
              <a:rPr sz="2000" spc="-65" dirty="0">
                <a:latin typeface="Times New Roman"/>
                <a:cs typeface="Times New Roman"/>
              </a:rPr>
              <a:t>To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oracle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Oracle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0360" y="1803399"/>
            <a:ext cx="4531360" cy="31496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400"/>
              </a:spcBef>
            </a:pPr>
            <a:r>
              <a:rPr sz="1350" b="1" i="1" spc="-10" dirty="0">
                <a:latin typeface="Courier New"/>
                <a:cs typeface="Courier New"/>
              </a:rPr>
              <a:t>jdbc:oracle:thin:@192.168.49.107:1521:orcl</a:t>
            </a:r>
            <a:endParaRPr sz="1350">
              <a:latin typeface="Courier New"/>
              <a:cs typeface="Courier New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0"/>
            <a:ext cx="688908" cy="688908"/>
          </a:xfrm>
          <a:prstGeom prst="rect">
            <a:avLst/>
          </a:prstGeom>
        </p:spPr>
      </p:pic>
      <p:sp>
        <p:nvSpPr>
          <p:cNvPr id="11" name="object 5"/>
          <p:cNvSpPr txBox="1"/>
          <p:nvPr/>
        </p:nvSpPr>
        <p:spPr>
          <a:xfrm>
            <a:off x="8941816" y="4976177"/>
            <a:ext cx="107314" cy="1115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650" dirty="0">
                <a:latin typeface="Arial MT"/>
                <a:cs typeface="Arial MT"/>
              </a:rPr>
              <a:t>9</a:t>
            </a:r>
            <a:endParaRPr sz="65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How</a:t>
            </a:r>
            <a:r>
              <a:rPr sz="2800" u="sng" spc="-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to</a:t>
            </a:r>
            <a:r>
              <a:rPr sz="2800" u="sng" spc="-15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make</a:t>
            </a:r>
            <a:r>
              <a:rPr sz="2800" u="sng" spc="5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the</a:t>
            </a:r>
            <a:r>
              <a:rPr sz="2800"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Connection?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235902" y="953135"/>
            <a:ext cx="521525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90"/>
              </a:lnSpc>
              <a:spcBef>
                <a:spcPts val="95"/>
              </a:spcBef>
              <a:tabLst>
                <a:tab pos="663575" algn="l"/>
                <a:tab pos="1579245" algn="l"/>
                <a:tab pos="2046605" algn="l"/>
                <a:tab pos="2830195" algn="l"/>
                <a:tab pos="3145155" algn="l"/>
                <a:tab pos="3510915" algn="l"/>
                <a:tab pos="4121785" algn="l"/>
                <a:tab pos="4589780" algn="l"/>
              </a:tabLst>
            </a:pPr>
            <a:r>
              <a:rPr sz="1850" b="1" dirty="0">
                <a:latin typeface="Times New Roman"/>
                <a:cs typeface="Times New Roman"/>
              </a:rPr>
              <a:t>1.</a:t>
            </a:r>
            <a:r>
              <a:rPr sz="1850" b="1" spc="-20" dirty="0">
                <a:latin typeface="Times New Roman"/>
                <a:cs typeface="Times New Roman"/>
              </a:rPr>
              <a:t> </a:t>
            </a:r>
            <a:r>
              <a:rPr sz="1850" b="1" spc="-25" dirty="0">
                <a:latin typeface="Times New Roman"/>
                <a:cs typeface="Times New Roman"/>
              </a:rPr>
              <a:t>To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10" dirty="0">
                <a:latin typeface="Times New Roman"/>
                <a:cs typeface="Times New Roman"/>
              </a:rPr>
              <a:t>register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25" dirty="0">
                <a:latin typeface="Times New Roman"/>
                <a:cs typeface="Times New Roman"/>
              </a:rPr>
              <a:t>the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10" dirty="0">
                <a:latin typeface="Times New Roman"/>
                <a:cs typeface="Times New Roman"/>
              </a:rPr>
              <a:t>driver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25" dirty="0">
                <a:latin typeface="Times New Roman"/>
                <a:cs typeface="Times New Roman"/>
              </a:rPr>
              <a:t>is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25" dirty="0">
                <a:latin typeface="Times New Roman"/>
                <a:cs typeface="Times New Roman"/>
              </a:rPr>
              <a:t>to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20" dirty="0">
                <a:latin typeface="Times New Roman"/>
                <a:cs typeface="Times New Roman"/>
              </a:rPr>
              <a:t>send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25" dirty="0">
                <a:latin typeface="Times New Roman"/>
                <a:cs typeface="Times New Roman"/>
              </a:rPr>
              <a:t>the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20" dirty="0">
                <a:latin typeface="Times New Roman"/>
                <a:cs typeface="Times New Roman"/>
              </a:rPr>
              <a:t>driver</a:t>
            </a:r>
            <a:endParaRPr sz="1850">
              <a:latin typeface="Times New Roman"/>
              <a:cs typeface="Times New Roman"/>
            </a:endParaRPr>
          </a:p>
          <a:p>
            <a:pPr marL="246379">
              <a:lnSpc>
                <a:spcPts val="2190"/>
              </a:lnSpc>
            </a:pPr>
            <a:r>
              <a:rPr sz="1850" b="1" spc="-20" dirty="0">
                <a:latin typeface="Times New Roman"/>
                <a:cs typeface="Times New Roman"/>
              </a:rPr>
              <a:t>Class.forName()</a:t>
            </a:r>
            <a:r>
              <a:rPr sz="1850" b="1" spc="-4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method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6095" y="953135"/>
            <a:ext cx="322135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2620" algn="l"/>
                <a:tab pos="1344295" algn="l"/>
                <a:tab pos="1720850" algn="l"/>
                <a:tab pos="2910840" algn="l"/>
              </a:tabLst>
            </a:pPr>
            <a:r>
              <a:rPr sz="1850" b="1" spc="-10" dirty="0">
                <a:latin typeface="Times New Roman"/>
                <a:cs typeface="Times New Roman"/>
              </a:rPr>
              <a:t>class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20" dirty="0">
                <a:latin typeface="Times New Roman"/>
                <a:cs typeface="Times New Roman"/>
              </a:rPr>
              <a:t>name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25" dirty="0">
                <a:latin typeface="Times New Roman"/>
                <a:cs typeface="Times New Roman"/>
              </a:rPr>
              <a:t>as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10" dirty="0">
                <a:latin typeface="Times New Roman"/>
                <a:cs typeface="Times New Roman"/>
              </a:rPr>
              <a:t>parameter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sz="1850" b="1" spc="-25" dirty="0">
                <a:latin typeface="Times New Roman"/>
                <a:cs typeface="Times New Roman"/>
              </a:rPr>
              <a:t>for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1000" y="1762759"/>
            <a:ext cx="6228080" cy="28448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150"/>
              </a:spcBef>
            </a:pPr>
            <a:r>
              <a:rPr sz="1500" i="1" dirty="0">
                <a:latin typeface="Arial"/>
                <a:cs typeface="Arial"/>
              </a:rPr>
              <a:t>Class</a:t>
            </a:r>
            <a:r>
              <a:rPr sz="1500" i="1" spc="-9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c =</a:t>
            </a:r>
            <a:r>
              <a:rPr sz="1500" i="1" spc="45" dirty="0">
                <a:latin typeface="Arial"/>
                <a:cs typeface="Arial"/>
              </a:rPr>
              <a:t> </a:t>
            </a:r>
            <a:r>
              <a:rPr sz="1500" i="1" spc="-10" dirty="0">
                <a:latin typeface="Arial"/>
                <a:cs typeface="Arial"/>
              </a:rPr>
              <a:t>Class.forName("oracle.jdbc.driver.OracleDriver");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0679" y="3032759"/>
            <a:ext cx="6248400" cy="35560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459"/>
              </a:spcBef>
            </a:pPr>
            <a:r>
              <a:rPr sz="1500" i="1" spc="10" dirty="0">
                <a:latin typeface="Arial"/>
                <a:cs typeface="Arial"/>
              </a:rPr>
              <a:t>Connection</a:t>
            </a:r>
            <a:r>
              <a:rPr sz="1500" i="1" spc="-95" dirty="0">
                <a:latin typeface="Arial"/>
                <a:cs typeface="Arial"/>
              </a:rPr>
              <a:t> </a:t>
            </a:r>
            <a:r>
              <a:rPr sz="1500" i="1" spc="-10" dirty="0">
                <a:latin typeface="Arial"/>
                <a:cs typeface="Arial"/>
              </a:rPr>
              <a:t>conn=DriverManager.getConnection(URL,userid,password);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0679" y="3835400"/>
            <a:ext cx="6248400" cy="1016000"/>
          </a:xfrm>
          <a:prstGeom prst="rect">
            <a:avLst/>
          </a:prstGeom>
          <a:solidFill>
            <a:srgbClr val="EAEAEA"/>
          </a:solidFill>
          <a:ln w="10159">
            <a:solidFill>
              <a:srgbClr val="006FC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62865" marR="702945">
              <a:lnSpc>
                <a:spcPts val="2730"/>
              </a:lnSpc>
              <a:spcBef>
                <a:spcPts val="90"/>
              </a:spcBef>
            </a:pPr>
            <a:r>
              <a:rPr sz="1850" i="1" spc="-20" dirty="0">
                <a:latin typeface="Arial"/>
                <a:cs typeface="Arial"/>
              </a:rPr>
              <a:t>Connection</a:t>
            </a:r>
            <a:r>
              <a:rPr sz="1850" i="1" spc="-15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conn</a:t>
            </a:r>
            <a:r>
              <a:rPr sz="1850" i="1" spc="-15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=</a:t>
            </a:r>
            <a:r>
              <a:rPr sz="1850" i="1" spc="-70" dirty="0">
                <a:latin typeface="Arial"/>
                <a:cs typeface="Arial"/>
              </a:rPr>
              <a:t> </a:t>
            </a:r>
            <a:r>
              <a:rPr sz="1850" i="1" spc="-10" dirty="0">
                <a:latin typeface="Arial"/>
                <a:cs typeface="Arial"/>
              </a:rPr>
              <a:t>DriverManager.getConnection </a:t>
            </a:r>
            <a:r>
              <a:rPr sz="1850" i="1" spc="-30" dirty="0">
                <a:latin typeface="Arial"/>
                <a:cs typeface="Arial"/>
              </a:rPr>
              <a:t>("jdbc:oracle:thin:@myhost:1521:orcl",</a:t>
            </a:r>
            <a:r>
              <a:rPr sz="1850" i="1" spc="-80" dirty="0">
                <a:latin typeface="Arial"/>
                <a:cs typeface="Arial"/>
              </a:rPr>
              <a:t> </a:t>
            </a:r>
            <a:r>
              <a:rPr sz="1850" i="1" spc="-10" dirty="0">
                <a:latin typeface="Arial"/>
                <a:cs typeface="Arial"/>
              </a:rPr>
              <a:t>"scott",</a:t>
            </a:r>
            <a:r>
              <a:rPr sz="1850" i="1" spc="-80" dirty="0">
                <a:latin typeface="Arial"/>
                <a:cs typeface="Arial"/>
              </a:rPr>
              <a:t> </a:t>
            </a:r>
            <a:r>
              <a:rPr sz="1850" i="1" spc="-10" dirty="0">
                <a:latin typeface="Arial"/>
                <a:cs typeface="Arial"/>
              </a:rPr>
              <a:t>"tiger");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482" y="2567939"/>
            <a:ext cx="545338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dirty="0">
                <a:latin typeface="Times New Roman"/>
                <a:cs typeface="Times New Roman"/>
              </a:rPr>
              <a:t>2.</a:t>
            </a:r>
            <a:r>
              <a:rPr sz="1850" b="1" spc="-105" dirty="0">
                <a:latin typeface="Times New Roman"/>
                <a:cs typeface="Times New Roman"/>
              </a:rPr>
              <a:t> </a:t>
            </a:r>
            <a:r>
              <a:rPr sz="1850" b="1" spc="-114" dirty="0">
                <a:latin typeface="Times New Roman"/>
                <a:cs typeface="Times New Roman"/>
              </a:rPr>
              <a:t>To</a:t>
            </a:r>
            <a:r>
              <a:rPr sz="1850" b="1" spc="1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connect</a:t>
            </a:r>
            <a:r>
              <a:rPr sz="1850" b="1" spc="-9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to</a:t>
            </a:r>
            <a:r>
              <a:rPr sz="1850" b="1" spc="-7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a</a:t>
            </a:r>
            <a:r>
              <a:rPr sz="1850" b="1" spc="-8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database</a:t>
            </a:r>
            <a:r>
              <a:rPr sz="1850" b="1" spc="-13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use</a:t>
            </a:r>
            <a:r>
              <a:rPr sz="1850" b="1" spc="-130" dirty="0">
                <a:latin typeface="Times New Roman"/>
                <a:cs typeface="Times New Roman"/>
              </a:rPr>
              <a:t> </a:t>
            </a:r>
            <a:r>
              <a:rPr sz="1850" b="1" spc="-25" dirty="0">
                <a:latin typeface="Times New Roman"/>
                <a:cs typeface="Times New Roman"/>
              </a:rPr>
              <a:t>getConnection()</a:t>
            </a:r>
            <a:r>
              <a:rPr sz="1850" b="1" spc="-9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method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51000" y="2047239"/>
            <a:ext cx="6228080" cy="29464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165"/>
              </a:spcBef>
            </a:pPr>
            <a:r>
              <a:rPr sz="1500" i="1" dirty="0">
                <a:latin typeface="Arial"/>
                <a:cs typeface="Arial"/>
              </a:rPr>
              <a:t>Class</a:t>
            </a:r>
            <a:r>
              <a:rPr sz="1500" i="1" spc="-9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c =</a:t>
            </a:r>
            <a:r>
              <a:rPr sz="1500" i="1" spc="45" dirty="0">
                <a:latin typeface="Arial"/>
                <a:cs typeface="Arial"/>
              </a:rPr>
              <a:t> </a:t>
            </a:r>
            <a:r>
              <a:rPr sz="1500" i="1" spc="-10" dirty="0">
                <a:latin typeface="Arial"/>
                <a:cs typeface="Arial"/>
              </a:rPr>
              <a:t>Class.forName(”sun.jdbc.odbc.JdbcOdbcDriver");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0"/>
            <a:ext cx="688908" cy="688908"/>
          </a:xfrm>
          <a:prstGeom prst="rect">
            <a:avLst/>
          </a:prstGeom>
        </p:spPr>
      </p:pic>
      <p:sp>
        <p:nvSpPr>
          <p:cNvPr id="15" name="object 5"/>
          <p:cNvSpPr txBox="1"/>
          <p:nvPr/>
        </p:nvSpPr>
        <p:spPr>
          <a:xfrm>
            <a:off x="8941816" y="4976177"/>
            <a:ext cx="107314" cy="1115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650" dirty="0" smtClean="0">
                <a:latin typeface="Arial MT"/>
                <a:cs typeface="Arial MT"/>
              </a:rPr>
              <a:t>10</a:t>
            </a:r>
            <a:endParaRPr sz="65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25" dirty="0"/>
              <a:t> </a:t>
            </a:r>
            <a:r>
              <a:rPr dirty="0"/>
              <a:t>to</a:t>
            </a:r>
            <a:r>
              <a:rPr spc="-185" dirty="0"/>
              <a:t> </a:t>
            </a:r>
            <a:r>
              <a:rPr dirty="0"/>
              <a:t>make</a:t>
            </a:r>
            <a:r>
              <a:rPr spc="-65" dirty="0"/>
              <a:t> </a:t>
            </a:r>
            <a:r>
              <a:rPr spc="-10" dirty="0"/>
              <a:t>the</a:t>
            </a:r>
            <a:r>
              <a:rPr spc="-175" dirty="0"/>
              <a:t> </a:t>
            </a:r>
            <a:r>
              <a:rPr spc="-10" dirty="0"/>
              <a:t>Connection?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707755" cy="2774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6379" marR="5080" indent="-234315" algn="just">
              <a:lnSpc>
                <a:spcPct val="100000"/>
              </a:lnSpc>
              <a:spcBef>
                <a:spcPts val="10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2000" dirty="0">
                <a:latin typeface="Times New Roman"/>
                <a:cs typeface="Times New Roman"/>
              </a:rPr>
              <a:t>Loading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want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just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one </a:t>
            </a: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code.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If,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example,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want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JDBC-</a:t>
            </a:r>
            <a:r>
              <a:rPr sz="2000" dirty="0">
                <a:latin typeface="Times New Roman"/>
                <a:cs typeface="Times New Roman"/>
              </a:rPr>
              <a:t>ODBC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Bridge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driver,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it: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55"/>
              </a:spcBef>
            </a:pPr>
            <a:r>
              <a:rPr sz="2000" b="1" i="1" spc="-10" dirty="0">
                <a:latin typeface="Times New Roman"/>
                <a:cs typeface="Times New Roman"/>
              </a:rPr>
              <a:t>Class.forName("sun.jdbc.odbc.JdbcOdbcDriver");</a:t>
            </a:r>
            <a:endParaRPr sz="200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2000" spc="-45" dirty="0">
                <a:latin typeface="Times New Roman"/>
                <a:cs typeface="Times New Roman"/>
              </a:rPr>
              <a:t>Your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documentation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use.</a:t>
            </a:r>
            <a:endParaRPr sz="200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64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2000" dirty="0">
                <a:latin typeface="Times New Roman"/>
                <a:cs typeface="Times New Roman"/>
              </a:rPr>
              <a:t>Class.forName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automatically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register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DriverManager.</a:t>
            </a:r>
            <a:endParaRPr sz="200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570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loaded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driver,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making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DBMS.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323" y="17338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25" dirty="0"/>
              <a:t> </a:t>
            </a:r>
            <a:r>
              <a:rPr dirty="0"/>
              <a:t>to</a:t>
            </a:r>
            <a:r>
              <a:rPr spc="-185" dirty="0"/>
              <a:t> </a:t>
            </a:r>
            <a:r>
              <a:rPr dirty="0"/>
              <a:t>make</a:t>
            </a:r>
            <a:r>
              <a:rPr spc="-65" dirty="0"/>
              <a:t> </a:t>
            </a:r>
            <a:r>
              <a:rPr spc="-10" dirty="0"/>
              <a:t>the</a:t>
            </a:r>
            <a:r>
              <a:rPr spc="-175" dirty="0"/>
              <a:t> </a:t>
            </a:r>
            <a:r>
              <a:rPr spc="-10" dirty="0"/>
              <a:t>Connection?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7026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6379" indent="-233679">
              <a:lnSpc>
                <a:spcPct val="100000"/>
              </a:lnSpc>
              <a:spcBef>
                <a:spcPts val="105"/>
              </a:spcBef>
              <a:buClr>
                <a:srgbClr val="006FC0"/>
              </a:buClr>
              <a:buFont typeface="Arial MT"/>
              <a:buChar char="•"/>
              <a:tabLst>
                <a:tab pos="246379" algn="l"/>
                <a:tab pos="774700" algn="l"/>
                <a:tab pos="2951480" algn="l"/>
                <a:tab pos="3775710" algn="l"/>
                <a:tab pos="4538345" algn="l"/>
                <a:tab pos="5962015" algn="l"/>
                <a:tab pos="6216650" algn="l"/>
                <a:tab pos="6958965" algn="l"/>
                <a:tab pos="8230234" algn="l"/>
                <a:tab pos="8576310" algn="l"/>
              </a:tabLst>
            </a:pP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java.sql.Connection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object,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which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encapsulates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single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connection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722" y="1050289"/>
            <a:ext cx="84486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41095" algn="l"/>
                <a:tab pos="2249805" algn="l"/>
                <a:tab pos="3012440" algn="l"/>
                <a:tab pos="3491229" algn="l"/>
                <a:tab pos="4162425" algn="l"/>
                <a:tab pos="4548505" algn="l"/>
                <a:tab pos="4965700" algn="l"/>
                <a:tab pos="5758815" algn="l"/>
                <a:tab pos="7325359" algn="l"/>
                <a:tab pos="8047355" algn="l"/>
              </a:tabLst>
            </a:pPr>
            <a:r>
              <a:rPr sz="2000" spc="-10" dirty="0">
                <a:latin typeface="Times New Roman"/>
                <a:cs typeface="Times New Roman"/>
              </a:rPr>
              <a:t>particular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database,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forms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basis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all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JDBC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data-handling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code.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725" y="1245452"/>
            <a:ext cx="8695055" cy="151066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246379">
              <a:lnSpc>
                <a:spcPct val="100000"/>
              </a:lnSpc>
              <a:spcBef>
                <a:spcPts val="969"/>
              </a:spcBef>
            </a:pPr>
            <a:r>
              <a:rPr sz="2000" spc="-10" dirty="0">
                <a:latin typeface="Times New Roman"/>
                <a:cs typeface="Times New Roman"/>
              </a:rPr>
              <a:t>DriverManager.getConnection(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connection: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95"/>
              </a:spcBef>
            </a:pPr>
            <a:r>
              <a:rPr sz="1850" b="1" i="1" spc="-25" dirty="0">
                <a:latin typeface="Times New Roman"/>
                <a:cs typeface="Times New Roman"/>
              </a:rPr>
              <a:t>Connection</a:t>
            </a:r>
            <a:r>
              <a:rPr sz="1850" b="1" i="1" spc="215" dirty="0">
                <a:latin typeface="Times New Roman"/>
                <a:cs typeface="Times New Roman"/>
              </a:rPr>
              <a:t> </a:t>
            </a:r>
            <a:r>
              <a:rPr sz="1850" b="1" i="1" spc="-25" dirty="0">
                <a:latin typeface="Times New Roman"/>
                <a:cs typeface="Times New Roman"/>
              </a:rPr>
              <a:t>con=DriverManager.getConnection(“url”,“username”,</a:t>
            </a:r>
            <a:r>
              <a:rPr sz="1850" b="1" i="1" spc="-35" dirty="0">
                <a:latin typeface="Times New Roman"/>
                <a:cs typeface="Times New Roman"/>
              </a:rPr>
              <a:t> </a:t>
            </a:r>
            <a:r>
              <a:rPr sz="1850" b="1" i="1" spc="-10" dirty="0">
                <a:latin typeface="Times New Roman"/>
                <a:cs typeface="Times New Roman"/>
              </a:rPr>
              <a:t>“password”):</a:t>
            </a:r>
            <a:endParaRPr sz="1850"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00000"/>
              </a:lnSpc>
              <a:spcBef>
                <a:spcPts val="600"/>
              </a:spcBef>
              <a:tabLst>
                <a:tab pos="1029335" algn="l"/>
                <a:tab pos="1619250" algn="l"/>
                <a:tab pos="2259965" algn="l"/>
                <a:tab pos="3460115" algn="l"/>
                <a:tab pos="3806190" algn="l"/>
                <a:tab pos="5514975" algn="l"/>
                <a:tab pos="5799455" algn="l"/>
                <a:tab pos="6054090" algn="l"/>
                <a:tab pos="6826884" algn="l"/>
                <a:tab pos="7538720" algn="l"/>
                <a:tab pos="7793355" algn="l"/>
              </a:tabLst>
            </a:pPr>
            <a:r>
              <a:rPr sz="2000" spc="-25" dirty="0">
                <a:latin typeface="Times New Roman"/>
                <a:cs typeface="Times New Roman"/>
              </a:rPr>
              <a:t>You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pass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three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arguments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getConnection(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):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JDBC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URL,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database </a:t>
            </a:r>
            <a:r>
              <a:rPr sz="2000" dirty="0">
                <a:latin typeface="Times New Roman"/>
                <a:cs typeface="Times New Roman"/>
              </a:rPr>
              <a:t>username,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password.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don't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explicit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logins,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2725" y="2730563"/>
            <a:ext cx="8702675" cy="1552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password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strings</a:t>
            </a:r>
            <a:r>
              <a:rPr sz="2000" spc="1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1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left</a:t>
            </a:r>
            <a:r>
              <a:rPr sz="2000" spc="1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blank.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1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called,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DriverManager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queries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registered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asking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understands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URL.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driver</a:t>
            </a:r>
            <a:r>
              <a:rPr sz="2000" spc="3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recognizes</a:t>
            </a:r>
            <a:r>
              <a:rPr sz="2000" spc="3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URL,</a:t>
            </a:r>
            <a:r>
              <a:rPr sz="2000" spc="3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returns</a:t>
            </a:r>
            <a:r>
              <a:rPr sz="2000" spc="3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3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object.</a:t>
            </a:r>
            <a:r>
              <a:rPr sz="2000" spc="3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32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getConnection(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turn,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avoid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loading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more </a:t>
            </a:r>
            <a:r>
              <a:rPr sz="2000" dirty="0">
                <a:latin typeface="Times New Roman"/>
                <a:cs typeface="Times New Roman"/>
              </a:rPr>
              <a:t>drivers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necessary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323" y="13413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74295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Quiz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725" y="772604"/>
            <a:ext cx="7442834" cy="28454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685"/>
              </a:spcBef>
              <a:buClr>
                <a:srgbClr val="00AFEF"/>
              </a:buClr>
              <a:buAutoNum type="arabicPeriod"/>
              <a:tabLst>
                <a:tab pos="358140" algn="l"/>
              </a:tabLst>
            </a:pPr>
            <a:r>
              <a:rPr sz="1850" b="1" spc="-30" dirty="0">
                <a:latin typeface="Times New Roman"/>
                <a:cs typeface="Times New Roman"/>
              </a:rPr>
              <a:t>Which </a:t>
            </a:r>
            <a:r>
              <a:rPr sz="1850" b="1" dirty="0">
                <a:latin typeface="Times New Roman"/>
                <a:cs typeface="Times New Roman"/>
              </a:rPr>
              <a:t>one</a:t>
            </a:r>
            <a:r>
              <a:rPr sz="1850" b="1" spc="-6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of</a:t>
            </a:r>
            <a:r>
              <a:rPr sz="1850" b="1" spc="-10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the</a:t>
            </a:r>
            <a:r>
              <a:rPr sz="1850" b="1" spc="-60" dirty="0">
                <a:latin typeface="Times New Roman"/>
                <a:cs typeface="Times New Roman"/>
              </a:rPr>
              <a:t> </a:t>
            </a:r>
            <a:r>
              <a:rPr sz="1850" b="1" spc="-30" dirty="0">
                <a:latin typeface="Times New Roman"/>
                <a:cs typeface="Times New Roman"/>
              </a:rPr>
              <a:t>following</a:t>
            </a:r>
            <a:r>
              <a:rPr sz="1850" b="1" spc="1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statements</a:t>
            </a:r>
            <a:r>
              <a:rPr sz="1850" b="1" spc="-120" dirty="0">
                <a:latin typeface="Times New Roman"/>
                <a:cs typeface="Times New Roman"/>
              </a:rPr>
              <a:t> </a:t>
            </a:r>
            <a:r>
              <a:rPr sz="1850" b="1" spc="-70" dirty="0">
                <a:latin typeface="Times New Roman"/>
                <a:cs typeface="Times New Roman"/>
              </a:rPr>
              <a:t>is</a:t>
            </a:r>
            <a:r>
              <a:rPr sz="1850" b="1" spc="-4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used</a:t>
            </a:r>
            <a:r>
              <a:rPr sz="1850" b="1" spc="-10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to</a:t>
            </a:r>
            <a:r>
              <a:rPr sz="1850" b="1" spc="-9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register</a:t>
            </a:r>
            <a:r>
              <a:rPr sz="1850" b="1" spc="-14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the</a:t>
            </a:r>
            <a:r>
              <a:rPr sz="1850" b="1" spc="35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jdbc</a:t>
            </a:r>
            <a:r>
              <a:rPr sz="1850" b="1" spc="-5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driver</a:t>
            </a:r>
            <a:endParaRPr sz="1850">
              <a:latin typeface="Times New Roman"/>
              <a:cs typeface="Times New Roman"/>
            </a:endParaRPr>
          </a:p>
          <a:p>
            <a:pPr marL="744220" lvl="1" indent="-345440">
              <a:lnSpc>
                <a:spcPct val="100000"/>
              </a:lnSpc>
              <a:spcBef>
                <a:spcPts val="585"/>
              </a:spcBef>
              <a:buClr>
                <a:srgbClr val="00AFEF"/>
              </a:buClr>
              <a:buAutoNum type="alphaLcParenR"/>
              <a:tabLst>
                <a:tab pos="744220" algn="l"/>
              </a:tabLst>
            </a:pPr>
            <a:r>
              <a:rPr sz="1850" spc="-10" dirty="0">
                <a:latin typeface="Times New Roman"/>
                <a:cs typeface="Times New Roman"/>
              </a:rPr>
              <a:t>Claas.Forname(“oracle.jdbc.driver.OracleDriver”);</a:t>
            </a:r>
            <a:endParaRPr sz="1850">
              <a:latin typeface="Times New Roman"/>
              <a:cs typeface="Times New Roman"/>
            </a:endParaRPr>
          </a:p>
          <a:p>
            <a:pPr marL="744220" lvl="1" indent="-345440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AutoNum type="alphaLcParenR"/>
              <a:tabLst>
                <a:tab pos="744220" algn="l"/>
              </a:tabLst>
            </a:pPr>
            <a:r>
              <a:rPr sz="1850" spc="-10" dirty="0">
                <a:latin typeface="Times New Roman"/>
                <a:cs typeface="Times New Roman"/>
              </a:rPr>
              <a:t>Class.forName(“oracle.jdbc.driver.OracleDriver”);</a:t>
            </a:r>
            <a:endParaRPr sz="1850">
              <a:latin typeface="Times New Roman"/>
              <a:cs typeface="Times New Roman"/>
            </a:endParaRPr>
          </a:p>
          <a:p>
            <a:pPr marL="744220" lvl="1" indent="-345440">
              <a:lnSpc>
                <a:spcPct val="100000"/>
              </a:lnSpc>
              <a:spcBef>
                <a:spcPts val="585"/>
              </a:spcBef>
              <a:buClr>
                <a:srgbClr val="00AFEF"/>
              </a:buClr>
              <a:buAutoNum type="alphaLcParenR"/>
              <a:tabLst>
                <a:tab pos="744220" algn="l"/>
              </a:tabLst>
            </a:pPr>
            <a:r>
              <a:rPr sz="1850" spc="-10" dirty="0">
                <a:latin typeface="Times New Roman"/>
                <a:cs typeface="Times New Roman"/>
              </a:rPr>
              <a:t>class.forname(“oracle.jdbc.driver.OracleDriver”);</a:t>
            </a:r>
            <a:endParaRPr sz="1850">
              <a:latin typeface="Times New Roman"/>
              <a:cs typeface="Times New Roman"/>
            </a:endParaRPr>
          </a:p>
          <a:p>
            <a:pPr marL="744220" lvl="1" indent="-345440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AutoNum type="alphaLcParenR"/>
              <a:tabLst>
                <a:tab pos="744220" algn="l"/>
              </a:tabLst>
            </a:pPr>
            <a:r>
              <a:rPr sz="1850" spc="-10" dirty="0">
                <a:latin typeface="Times New Roman"/>
                <a:cs typeface="Times New Roman"/>
              </a:rPr>
              <a:t>Class.ForName(“oracle.jdbc.driver.OracleDriver”);</a:t>
            </a:r>
            <a:endParaRPr sz="18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85"/>
              </a:spcBef>
              <a:buAutoNum type="alphaLcParenR"/>
            </a:pPr>
            <a:endParaRPr sz="1850">
              <a:latin typeface="Times New Roman"/>
              <a:cs typeface="Times New Roman"/>
            </a:endParaRPr>
          </a:p>
          <a:p>
            <a:pPr marL="408940" indent="-396240">
              <a:lnSpc>
                <a:spcPct val="100000"/>
              </a:lnSpc>
              <a:buClr>
                <a:srgbClr val="00AFEF"/>
              </a:buClr>
              <a:buAutoNum type="arabicPeriod"/>
              <a:tabLst>
                <a:tab pos="408940" algn="l"/>
              </a:tabLst>
            </a:pPr>
            <a:r>
              <a:rPr sz="1850" b="1" spc="-10" dirty="0">
                <a:latin typeface="Times New Roman"/>
                <a:cs typeface="Times New Roman"/>
              </a:rPr>
              <a:t>Which</a:t>
            </a:r>
            <a:r>
              <a:rPr sz="1850" b="1" spc="2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is</a:t>
            </a:r>
            <a:r>
              <a:rPr sz="1850" b="1" spc="1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the</a:t>
            </a:r>
            <a:r>
              <a:rPr sz="1850" b="1" spc="-8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correct</a:t>
            </a:r>
            <a:r>
              <a:rPr sz="1850" b="1" spc="-18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syntax</a:t>
            </a:r>
            <a:r>
              <a:rPr sz="1850" b="1" spc="-18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for</a:t>
            </a:r>
            <a:r>
              <a:rPr sz="1850" b="1" spc="-155" dirty="0">
                <a:latin typeface="Times New Roman"/>
                <a:cs typeface="Times New Roman"/>
              </a:rPr>
              <a:t> </a:t>
            </a:r>
            <a:r>
              <a:rPr sz="1850" b="1" spc="-25" dirty="0">
                <a:latin typeface="Times New Roman"/>
                <a:cs typeface="Times New Roman"/>
              </a:rPr>
              <a:t>creating</a:t>
            </a:r>
            <a:r>
              <a:rPr sz="1850" b="1" spc="-9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the</a:t>
            </a:r>
            <a:r>
              <a:rPr sz="1850" b="1" spc="-80" dirty="0">
                <a:latin typeface="Times New Roman"/>
                <a:cs typeface="Times New Roman"/>
              </a:rPr>
              <a:t> </a:t>
            </a:r>
            <a:r>
              <a:rPr sz="1850" b="1" spc="-30" dirty="0">
                <a:latin typeface="Times New Roman"/>
                <a:cs typeface="Times New Roman"/>
              </a:rPr>
              <a:t>Connection</a:t>
            </a:r>
            <a:r>
              <a:rPr sz="1850" b="1" spc="-11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object</a:t>
            </a:r>
            <a:endParaRPr sz="1850">
              <a:latin typeface="Times New Roman"/>
              <a:cs typeface="Times New Roman"/>
            </a:endParaRPr>
          </a:p>
          <a:p>
            <a:pPr marL="702310" lvl="1" indent="-232410">
              <a:lnSpc>
                <a:spcPct val="100000"/>
              </a:lnSpc>
              <a:spcBef>
                <a:spcPts val="585"/>
              </a:spcBef>
              <a:buAutoNum type="alphaLcParenR"/>
              <a:tabLst>
                <a:tab pos="702310" algn="l"/>
              </a:tabLst>
            </a:pPr>
            <a:r>
              <a:rPr sz="1850" spc="-35" dirty="0">
                <a:latin typeface="Times New Roman"/>
                <a:cs typeface="Times New Roman"/>
              </a:rPr>
              <a:t>Connection.getConnection(URL,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username,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password);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242" y="3582225"/>
            <a:ext cx="5990590" cy="108458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55904" indent="-243204">
              <a:lnSpc>
                <a:spcPct val="100000"/>
              </a:lnSpc>
              <a:spcBef>
                <a:spcPts val="685"/>
              </a:spcBef>
              <a:buAutoNum type="alphaLcParenR" startAt="2"/>
              <a:tabLst>
                <a:tab pos="255904" algn="l"/>
              </a:tabLst>
            </a:pPr>
            <a:r>
              <a:rPr sz="1850" spc="-30" dirty="0">
                <a:latin typeface="Times New Roman"/>
                <a:cs typeface="Times New Roman"/>
              </a:rPr>
              <a:t>Connection.createConnection(URL,</a:t>
            </a:r>
            <a:r>
              <a:rPr sz="1850" spc="-10" dirty="0">
                <a:latin typeface="Times New Roman"/>
                <a:cs typeface="Times New Roman"/>
              </a:rPr>
              <a:t> username,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password);</a:t>
            </a:r>
            <a:endParaRPr sz="1850">
              <a:latin typeface="Times New Roman"/>
              <a:cs typeface="Times New Roman"/>
            </a:endParaRPr>
          </a:p>
          <a:p>
            <a:pPr marL="245745" indent="-233045">
              <a:lnSpc>
                <a:spcPct val="100000"/>
              </a:lnSpc>
              <a:spcBef>
                <a:spcPts val="585"/>
              </a:spcBef>
              <a:buAutoNum type="alphaLcParenR" startAt="2"/>
              <a:tabLst>
                <a:tab pos="245745" algn="l"/>
              </a:tabLst>
            </a:pPr>
            <a:r>
              <a:rPr sz="1850" spc="-35" dirty="0">
                <a:latin typeface="Times New Roman"/>
                <a:cs typeface="Times New Roman"/>
              </a:rPr>
              <a:t>DriverManager.createConnection(URL,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username,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password);</a:t>
            </a:r>
            <a:endParaRPr sz="1850">
              <a:latin typeface="Times New Roman"/>
              <a:cs typeface="Times New Roman"/>
            </a:endParaRPr>
          </a:p>
          <a:p>
            <a:pPr marL="255904" indent="-243204">
              <a:lnSpc>
                <a:spcPct val="100000"/>
              </a:lnSpc>
              <a:spcBef>
                <a:spcPts val="505"/>
              </a:spcBef>
              <a:buAutoNum type="alphaLcParenR" startAt="2"/>
              <a:tabLst>
                <a:tab pos="255904" algn="l"/>
              </a:tabLst>
            </a:pPr>
            <a:r>
              <a:rPr sz="1850" spc="-35" dirty="0">
                <a:latin typeface="Times New Roman"/>
                <a:cs typeface="Times New Roman"/>
              </a:rPr>
              <a:t>DriverManager.getConnection(URL,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username,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password);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122" y="4716462"/>
            <a:ext cx="8445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50" dirty="0">
                <a:solidFill>
                  <a:srgbClr val="4D4E5C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6814" y="3769097"/>
            <a:ext cx="1712270" cy="10015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15784" y="3821112"/>
            <a:ext cx="1024255" cy="856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90"/>
              </a:lnSpc>
              <a:spcBef>
                <a:spcPts val="95"/>
              </a:spcBef>
            </a:pPr>
            <a:r>
              <a:rPr sz="1850" spc="-30" dirty="0">
                <a:latin typeface="Arial MT"/>
                <a:cs typeface="Arial MT"/>
              </a:rPr>
              <a:t>Answers</a:t>
            </a:r>
            <a:r>
              <a:rPr sz="1850" spc="-90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:</a:t>
            </a:r>
            <a:endParaRPr sz="1850">
              <a:latin typeface="Arial MT"/>
              <a:cs typeface="Arial MT"/>
            </a:endParaRPr>
          </a:p>
          <a:p>
            <a:pPr marL="204470" indent="-191770">
              <a:lnSpc>
                <a:spcPts val="2165"/>
              </a:lnSpc>
              <a:buAutoNum type="arabicPlain"/>
              <a:tabLst>
                <a:tab pos="204470" algn="l"/>
              </a:tabLst>
            </a:pPr>
            <a:r>
              <a:rPr sz="1850" dirty="0">
                <a:latin typeface="Arial MT"/>
                <a:cs typeface="Arial MT"/>
              </a:rPr>
              <a:t>:</a:t>
            </a:r>
            <a:r>
              <a:rPr sz="1850" spc="-7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b</a:t>
            </a:r>
            <a:endParaRPr sz="1850">
              <a:latin typeface="Arial MT"/>
              <a:cs typeface="Arial MT"/>
            </a:endParaRPr>
          </a:p>
          <a:p>
            <a:pPr marL="204470" indent="-191770">
              <a:lnSpc>
                <a:spcPts val="2195"/>
              </a:lnSpc>
              <a:buAutoNum type="arabicPlain"/>
              <a:tabLst>
                <a:tab pos="204470" algn="l"/>
              </a:tabLst>
            </a:pPr>
            <a:r>
              <a:rPr sz="1850" dirty="0">
                <a:latin typeface="Arial MT"/>
                <a:cs typeface="Arial MT"/>
              </a:rPr>
              <a:t>:</a:t>
            </a:r>
            <a:r>
              <a:rPr sz="1850" spc="-7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d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302" y="12481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1976120" y="0"/>
                </a:moveTo>
                <a:lnTo>
                  <a:pt x="0" y="0"/>
                </a:lnTo>
                <a:lnTo>
                  <a:pt x="0" y="10160"/>
                </a:lnTo>
                <a:lnTo>
                  <a:pt x="1976120" y="10160"/>
                </a:lnTo>
                <a:lnTo>
                  <a:pt x="1976120" y="0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086600" y="1667890"/>
            <a:ext cx="175260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Thank</a:t>
            </a:r>
            <a:r>
              <a:rPr sz="2700" u="sng" spc="-1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You</a:t>
            </a:r>
            <a:endParaRPr sz="27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302" y="57150"/>
            <a:ext cx="688908" cy="688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576</Words>
  <Application>Microsoft Office PowerPoint</Application>
  <PresentationFormat>On-screen Show (16:9)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Courier New</vt:lpstr>
      <vt:lpstr>Times New Roman</vt:lpstr>
      <vt:lpstr>Wingdings</vt:lpstr>
      <vt:lpstr>Office Theme</vt:lpstr>
      <vt:lpstr>JDBC Establishing Connection</vt:lpstr>
      <vt:lpstr>Connect: About JDBC URL</vt:lpstr>
      <vt:lpstr>Connect: About JDBC URL</vt:lpstr>
      <vt:lpstr>Host Details</vt:lpstr>
      <vt:lpstr>Service Name and Port No.</vt:lpstr>
      <vt:lpstr>Service Name and Port No.</vt:lpstr>
      <vt:lpstr>tnsnames.ora file</vt:lpstr>
      <vt:lpstr>JDBC URLs: Examples</vt:lpstr>
      <vt:lpstr>How to make the Connection?</vt:lpstr>
      <vt:lpstr>How to make the Connection?</vt:lpstr>
      <vt:lpstr>How to make the Connection?</vt:lpstr>
      <vt:lpstr>Quiz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HTML</dc:title>
  <dc:creator>Wipro</dc:creator>
  <cp:lastModifiedBy>staff</cp:lastModifiedBy>
  <cp:revision>4</cp:revision>
  <dcterms:created xsi:type="dcterms:W3CDTF">2024-09-20T05:12:01Z</dcterms:created>
  <dcterms:modified xsi:type="dcterms:W3CDTF">2024-09-20T05:30:10Z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2024-09-20T00:00:00Z</vt:filetime>
  </property>
  <property fmtid="{D5CDD505-2E9C-101B-9397-08002B2CF9AE}" pid="5" name="Producer">
    <vt:lpwstr>Microsoft® PowerPoint® 2016</vt:lpwstr>
  </property>
</Properties>
</file>