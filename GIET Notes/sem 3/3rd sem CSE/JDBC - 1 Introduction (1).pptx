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8" r:id="rId20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786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8C0AB-B886-4DE9-A73B-53B36EA14A22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8B0D66-4511-43B7-A89F-44269DFF49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30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28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32C2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28016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ED741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459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0871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8288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392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219456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6A60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23774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8AF0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2918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BC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4747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BC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6576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CC4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4048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CC5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7548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F3C9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9377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EBC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530351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DCC5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548639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D4C30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58521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B8BB2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603503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60" h="20320">
                <a:moveTo>
                  <a:pt x="365760" y="0"/>
                </a:moveTo>
                <a:lnTo>
                  <a:pt x="0" y="0"/>
                </a:lnTo>
                <a:lnTo>
                  <a:pt x="0" y="20320"/>
                </a:lnTo>
                <a:lnTo>
                  <a:pt x="365760" y="20320"/>
                </a:lnTo>
                <a:lnTo>
                  <a:pt x="365760" y="0"/>
                </a:lnTo>
                <a:close/>
              </a:path>
            </a:pathLst>
          </a:custGeom>
          <a:solidFill>
            <a:srgbClr val="A2B82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64008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70AC3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bg object 34"/>
          <p:cNvSpPr/>
          <p:nvPr/>
        </p:nvSpPr>
        <p:spPr>
          <a:xfrm>
            <a:off x="65836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51A73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bg object 35"/>
          <p:cNvSpPr/>
          <p:nvPr/>
        </p:nvSpPr>
        <p:spPr>
          <a:xfrm>
            <a:off x="694943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9D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bg object 36"/>
          <p:cNvSpPr/>
          <p:nvPr/>
        </p:nvSpPr>
        <p:spPr>
          <a:xfrm>
            <a:off x="713231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97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bg object 37"/>
          <p:cNvSpPr/>
          <p:nvPr/>
        </p:nvSpPr>
        <p:spPr>
          <a:xfrm>
            <a:off x="749807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806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bg object 38"/>
          <p:cNvSpPr/>
          <p:nvPr/>
        </p:nvSpPr>
        <p:spPr>
          <a:xfrm>
            <a:off x="7680959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00717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bg object 39"/>
          <p:cNvSpPr/>
          <p:nvPr/>
        </p:nvSpPr>
        <p:spPr>
          <a:xfrm>
            <a:off x="804672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17528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bg object 40"/>
          <p:cNvSpPr/>
          <p:nvPr/>
        </p:nvSpPr>
        <p:spPr>
          <a:xfrm>
            <a:off x="822960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2D42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bg object 41"/>
          <p:cNvSpPr/>
          <p:nvPr/>
        </p:nvSpPr>
        <p:spPr>
          <a:xfrm>
            <a:off x="8778240" y="568959"/>
            <a:ext cx="365760" cy="20320"/>
          </a:xfrm>
          <a:custGeom>
            <a:avLst/>
            <a:gdLst/>
            <a:ahLst/>
            <a:cxnLst/>
            <a:rect l="l" t="t" r="r" b="b"/>
            <a:pathLst>
              <a:path w="365759" h="20320">
                <a:moveTo>
                  <a:pt x="365759" y="0"/>
                </a:moveTo>
                <a:lnTo>
                  <a:pt x="0" y="0"/>
                </a:lnTo>
                <a:lnTo>
                  <a:pt x="0" y="20320"/>
                </a:lnTo>
                <a:lnTo>
                  <a:pt x="365759" y="20320"/>
                </a:lnTo>
                <a:lnTo>
                  <a:pt x="365759" y="0"/>
                </a:lnTo>
                <a:close/>
              </a:path>
            </a:pathLst>
          </a:custGeom>
          <a:solidFill>
            <a:srgbClr val="3538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bg object 42"/>
          <p:cNvSpPr/>
          <p:nvPr/>
        </p:nvSpPr>
        <p:spPr>
          <a:xfrm>
            <a:off x="8961120" y="568959"/>
            <a:ext cx="182880" cy="20320"/>
          </a:xfrm>
          <a:custGeom>
            <a:avLst/>
            <a:gdLst/>
            <a:ahLst/>
            <a:cxnLst/>
            <a:rect l="l" t="t" r="r" b="b"/>
            <a:pathLst>
              <a:path w="182879" h="20320">
                <a:moveTo>
                  <a:pt x="182879" y="0"/>
                </a:moveTo>
                <a:lnTo>
                  <a:pt x="0" y="0"/>
                </a:lnTo>
                <a:lnTo>
                  <a:pt x="0" y="20320"/>
                </a:lnTo>
                <a:lnTo>
                  <a:pt x="182879" y="20320"/>
                </a:lnTo>
                <a:lnTo>
                  <a:pt x="182879" y="0"/>
                </a:lnTo>
                <a:close/>
              </a:path>
            </a:pathLst>
          </a:custGeom>
          <a:solidFill>
            <a:srgbClr val="3930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327" y="153415"/>
            <a:ext cx="8983344" cy="4286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0960"/>
          </a:xfrm>
          <a:custGeom>
            <a:avLst/>
            <a:gdLst/>
            <a:ahLst/>
            <a:cxnLst/>
            <a:rect l="l" t="t" r="r" b="b"/>
            <a:pathLst>
              <a:path w="9144000" h="5140960">
                <a:moveTo>
                  <a:pt x="9144000" y="0"/>
                </a:moveTo>
                <a:lnTo>
                  <a:pt x="0" y="0"/>
                </a:lnTo>
                <a:lnTo>
                  <a:pt x="0" y="5140960"/>
                </a:lnTo>
                <a:lnTo>
                  <a:pt x="9144000" y="5140960"/>
                </a:lnTo>
                <a:lnTo>
                  <a:pt x="9144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15874"/>
            <a:ext cx="6112510" cy="6423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50" b="1" i="0" u="sng">
                <a:solidFill>
                  <a:srgbClr val="001F5F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970404" y="2038730"/>
            <a:ext cx="4147820" cy="20459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152893" y="4984224"/>
            <a:ext cx="518159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/>
              <a:t>©</a:t>
            </a:r>
            <a:r>
              <a:rPr spc="-45" dirty="0"/>
              <a:t> </a:t>
            </a:r>
            <a:r>
              <a:rPr spc="-20" dirty="0"/>
              <a:t>2017</a:t>
            </a:r>
            <a:r>
              <a:rPr spc="50" dirty="0"/>
              <a:t> </a:t>
            </a:r>
            <a:r>
              <a:rPr spc="-10" dirty="0"/>
              <a:t>Wipro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336026" y="4984224"/>
            <a:ext cx="409575" cy="116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pc="-25" dirty="0"/>
              <a:t>confidential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16416" y="4983876"/>
            <a:ext cx="170815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50" b="0" i="0">
                <a:solidFill>
                  <a:srgbClr val="4D4E5C"/>
                </a:solidFill>
                <a:latin typeface="Arial MT"/>
                <a:cs typeface="Arial MT"/>
              </a:defRPr>
            </a:lvl1pPr>
          </a:lstStyle>
          <a:p>
            <a:pPr marL="57785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2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1976120" y="0"/>
                </a:moveTo>
                <a:lnTo>
                  <a:pt x="0" y="0"/>
                </a:lnTo>
                <a:lnTo>
                  <a:pt x="0" y="10160"/>
                </a:lnTo>
                <a:lnTo>
                  <a:pt x="1976120" y="10160"/>
                </a:lnTo>
                <a:lnTo>
                  <a:pt x="1976120" y="0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98100" y="1962150"/>
            <a:ext cx="3657600" cy="44691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IN" sz="2800" u="none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Introduction</a:t>
            </a:r>
            <a:r>
              <a:rPr lang="en-IN" sz="2800" u="none" spc="-6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IN" sz="2800" u="none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to</a:t>
            </a:r>
            <a:r>
              <a:rPr lang="en-IN" sz="2800" u="none" dirty="0"/>
              <a:t> </a:t>
            </a:r>
            <a:r>
              <a:rPr lang="en-IN" sz="2800" u="none" spc="-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JDBC</a:t>
            </a:r>
            <a:endParaRPr sz="27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</a:t>
            </a:fld>
            <a:endParaRPr spc="-25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0"/>
            <a:ext cx="688908" cy="6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78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3340100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Introduction</a:t>
            </a:r>
            <a:r>
              <a:rPr spc="-100" dirty="0"/>
              <a:t> </a:t>
            </a:r>
            <a:r>
              <a:rPr dirty="0"/>
              <a:t>to</a:t>
            </a:r>
            <a:r>
              <a:rPr spc="-95" dirty="0"/>
              <a:t> </a:t>
            </a:r>
            <a:r>
              <a:rPr spc="-20" dirty="0"/>
              <a:t>JDBC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725" y="919860"/>
            <a:ext cx="8697595" cy="12839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indent="-233045">
              <a:lnSpc>
                <a:spcPts val="2195"/>
              </a:lnSpc>
              <a:spcBef>
                <a:spcPts val="95"/>
              </a:spcBef>
              <a:buClr>
                <a:srgbClr val="00AFEF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spc="-35" dirty="0">
                <a:latin typeface="Times New Roman"/>
                <a:cs typeface="Times New Roman"/>
              </a:rPr>
              <a:t>JDBC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API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that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helps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programmer</a:t>
            </a:r>
            <a:r>
              <a:rPr sz="1850" dirty="0">
                <a:latin typeface="Times New Roman"/>
                <a:cs typeface="Times New Roman"/>
              </a:rPr>
              <a:t> to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write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java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programs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any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database,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5"/>
              </a:lnSpc>
            </a:pPr>
            <a:r>
              <a:rPr sz="1850" spc="-10" dirty="0">
                <a:latin typeface="Times New Roman"/>
                <a:cs typeface="Times New Roman"/>
              </a:rPr>
              <a:t>retrieve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ct val="100000"/>
              </a:lnSpc>
              <a:buClr>
                <a:srgbClr val="00AFEF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i="1" dirty="0">
                <a:latin typeface="Times New Roman"/>
                <a:cs typeface="Times New Roman"/>
              </a:rPr>
              <a:t>java.sql</a:t>
            </a:r>
            <a:r>
              <a:rPr sz="1850" i="1" spc="-8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package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contains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specify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JDBC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API</a:t>
            </a:r>
            <a:endParaRPr sz="185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438400" y="2590799"/>
            <a:ext cx="2091689" cy="994410"/>
            <a:chOff x="2438400" y="2590799"/>
            <a:chExt cx="2091689" cy="994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38400" y="2590799"/>
              <a:ext cx="862076" cy="50660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32480" y="3129279"/>
              <a:ext cx="1197610" cy="455930"/>
            </a:xfrm>
            <a:custGeom>
              <a:avLst/>
              <a:gdLst/>
              <a:ahLst/>
              <a:cxnLst/>
              <a:rect l="l" t="t" r="r" b="b"/>
              <a:pathLst>
                <a:path w="1197610" h="455929">
                  <a:moveTo>
                    <a:pt x="0" y="0"/>
                  </a:moveTo>
                  <a:lnTo>
                    <a:pt x="326644" y="121919"/>
                  </a:lnTo>
                  <a:lnTo>
                    <a:pt x="232029" y="206121"/>
                  </a:lnTo>
                  <a:lnTo>
                    <a:pt x="532130" y="227837"/>
                  </a:lnTo>
                  <a:lnTo>
                    <a:pt x="436118" y="335280"/>
                  </a:lnTo>
                  <a:lnTo>
                    <a:pt x="1197356" y="455803"/>
                  </a:lnTo>
                  <a:lnTo>
                    <a:pt x="677037" y="290322"/>
                  </a:lnTo>
                  <a:lnTo>
                    <a:pt x="819023" y="211962"/>
                  </a:lnTo>
                  <a:lnTo>
                    <a:pt x="504063" y="136398"/>
                  </a:lnTo>
                  <a:lnTo>
                    <a:pt x="558800" y="1002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8F91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653279" y="3220741"/>
            <a:ext cx="983615" cy="763905"/>
            <a:chOff x="4653279" y="3220741"/>
            <a:chExt cx="983615" cy="763905"/>
          </a:xfrm>
        </p:grpSpPr>
        <p:sp>
          <p:nvSpPr>
            <p:cNvPr id="8" name="object 8"/>
            <p:cNvSpPr/>
            <p:nvPr/>
          </p:nvSpPr>
          <p:spPr>
            <a:xfrm>
              <a:off x="4655286" y="3357081"/>
              <a:ext cx="979169" cy="628015"/>
            </a:xfrm>
            <a:custGeom>
              <a:avLst/>
              <a:gdLst/>
              <a:ahLst/>
              <a:cxnLst/>
              <a:rect l="l" t="t" r="r" b="b"/>
              <a:pathLst>
                <a:path w="979170" h="628014">
                  <a:moveTo>
                    <a:pt x="979161" y="0"/>
                  </a:moveTo>
                  <a:lnTo>
                    <a:pt x="0" y="0"/>
                  </a:lnTo>
                  <a:lnTo>
                    <a:pt x="0" y="445637"/>
                  </a:lnTo>
                  <a:lnTo>
                    <a:pt x="6019" y="445637"/>
                  </a:lnTo>
                  <a:lnTo>
                    <a:pt x="4013" y="457369"/>
                  </a:lnTo>
                  <a:lnTo>
                    <a:pt x="4013" y="466163"/>
                  </a:lnTo>
                  <a:lnTo>
                    <a:pt x="6019" y="474956"/>
                  </a:lnTo>
                  <a:lnTo>
                    <a:pt x="10032" y="483750"/>
                  </a:lnTo>
                  <a:lnTo>
                    <a:pt x="14045" y="491080"/>
                  </a:lnTo>
                  <a:lnTo>
                    <a:pt x="18058" y="499874"/>
                  </a:lnTo>
                  <a:lnTo>
                    <a:pt x="26083" y="507203"/>
                  </a:lnTo>
                  <a:lnTo>
                    <a:pt x="34110" y="515997"/>
                  </a:lnTo>
                  <a:lnTo>
                    <a:pt x="42136" y="523332"/>
                  </a:lnTo>
                  <a:lnTo>
                    <a:pt x="86278" y="552651"/>
                  </a:lnTo>
                  <a:lnTo>
                    <a:pt x="146466" y="577571"/>
                  </a:lnTo>
                  <a:lnTo>
                    <a:pt x="256828" y="606890"/>
                  </a:lnTo>
                  <a:lnTo>
                    <a:pt x="300975" y="614220"/>
                  </a:lnTo>
                  <a:lnTo>
                    <a:pt x="345109" y="620083"/>
                  </a:lnTo>
                  <a:lnTo>
                    <a:pt x="391263" y="624481"/>
                  </a:lnTo>
                  <a:lnTo>
                    <a:pt x="489581" y="627413"/>
                  </a:lnTo>
                  <a:lnTo>
                    <a:pt x="587898" y="624481"/>
                  </a:lnTo>
                  <a:lnTo>
                    <a:pt x="634053" y="620083"/>
                  </a:lnTo>
                  <a:lnTo>
                    <a:pt x="678187" y="614220"/>
                  </a:lnTo>
                  <a:lnTo>
                    <a:pt x="722334" y="606890"/>
                  </a:lnTo>
                  <a:lnTo>
                    <a:pt x="798585" y="589299"/>
                  </a:lnTo>
                  <a:lnTo>
                    <a:pt x="864799" y="565844"/>
                  </a:lnTo>
                  <a:lnTo>
                    <a:pt x="916962" y="537991"/>
                  </a:lnTo>
                  <a:lnTo>
                    <a:pt x="953080" y="507203"/>
                  </a:lnTo>
                  <a:lnTo>
                    <a:pt x="961109" y="499874"/>
                  </a:lnTo>
                  <a:lnTo>
                    <a:pt x="965110" y="491080"/>
                  </a:lnTo>
                  <a:lnTo>
                    <a:pt x="969124" y="483750"/>
                  </a:lnTo>
                  <a:lnTo>
                    <a:pt x="973139" y="474956"/>
                  </a:lnTo>
                  <a:lnTo>
                    <a:pt x="975146" y="466163"/>
                  </a:lnTo>
                  <a:lnTo>
                    <a:pt x="975146" y="457369"/>
                  </a:lnTo>
                  <a:lnTo>
                    <a:pt x="973139" y="445637"/>
                  </a:lnTo>
                  <a:lnTo>
                    <a:pt x="979161" y="445637"/>
                  </a:lnTo>
                  <a:lnTo>
                    <a:pt x="979161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653279" y="3220741"/>
              <a:ext cx="983615" cy="274320"/>
            </a:xfrm>
            <a:custGeom>
              <a:avLst/>
              <a:gdLst/>
              <a:ahLst/>
              <a:cxnLst/>
              <a:rect l="l" t="t" r="r" b="b"/>
              <a:pathLst>
                <a:path w="983614" h="274320">
                  <a:moveTo>
                    <a:pt x="541743" y="0"/>
                  </a:moveTo>
                  <a:lnTo>
                    <a:pt x="441431" y="0"/>
                  </a:lnTo>
                  <a:lnTo>
                    <a:pt x="345108" y="5866"/>
                  </a:lnTo>
                  <a:lnTo>
                    <a:pt x="300974" y="10268"/>
                  </a:lnTo>
                  <a:lnTo>
                    <a:pt x="256827" y="16134"/>
                  </a:lnTo>
                  <a:lnTo>
                    <a:pt x="216694" y="23453"/>
                  </a:lnTo>
                  <a:lnTo>
                    <a:pt x="178582" y="30783"/>
                  </a:lnTo>
                  <a:lnTo>
                    <a:pt x="112363" y="49845"/>
                  </a:lnTo>
                  <a:lnTo>
                    <a:pt x="48155" y="77700"/>
                  </a:lnTo>
                  <a:lnTo>
                    <a:pt x="10032" y="108484"/>
                  </a:lnTo>
                  <a:lnTo>
                    <a:pt x="0" y="129010"/>
                  </a:lnTo>
                  <a:lnTo>
                    <a:pt x="0" y="143669"/>
                  </a:lnTo>
                  <a:lnTo>
                    <a:pt x="22070" y="177380"/>
                  </a:lnTo>
                  <a:lnTo>
                    <a:pt x="30097" y="183246"/>
                  </a:lnTo>
                  <a:lnTo>
                    <a:pt x="38122" y="190576"/>
                  </a:lnTo>
                  <a:lnTo>
                    <a:pt x="48155" y="196442"/>
                  </a:lnTo>
                  <a:lnTo>
                    <a:pt x="60194" y="202298"/>
                  </a:lnTo>
                  <a:lnTo>
                    <a:pt x="112363" y="224287"/>
                  </a:lnTo>
                  <a:lnTo>
                    <a:pt x="144472" y="233081"/>
                  </a:lnTo>
                  <a:lnTo>
                    <a:pt x="178582" y="243349"/>
                  </a:lnTo>
                  <a:lnTo>
                    <a:pt x="216694" y="250679"/>
                  </a:lnTo>
                  <a:lnTo>
                    <a:pt x="256827" y="256545"/>
                  </a:lnTo>
                  <a:lnTo>
                    <a:pt x="345108" y="268267"/>
                  </a:lnTo>
                  <a:lnTo>
                    <a:pt x="393270" y="271205"/>
                  </a:lnTo>
                  <a:lnTo>
                    <a:pt x="491587" y="274133"/>
                  </a:lnTo>
                  <a:lnTo>
                    <a:pt x="589905" y="271205"/>
                  </a:lnTo>
                  <a:lnTo>
                    <a:pt x="638067" y="268267"/>
                  </a:lnTo>
                  <a:lnTo>
                    <a:pt x="726347" y="256545"/>
                  </a:lnTo>
                  <a:lnTo>
                    <a:pt x="766480" y="250679"/>
                  </a:lnTo>
                  <a:lnTo>
                    <a:pt x="804592" y="243349"/>
                  </a:lnTo>
                  <a:lnTo>
                    <a:pt x="838702" y="233081"/>
                  </a:lnTo>
                  <a:lnTo>
                    <a:pt x="870806" y="224287"/>
                  </a:lnTo>
                  <a:lnTo>
                    <a:pt x="922982" y="202298"/>
                  </a:lnTo>
                  <a:lnTo>
                    <a:pt x="953078" y="183246"/>
                  </a:lnTo>
                  <a:lnTo>
                    <a:pt x="961108" y="177380"/>
                  </a:lnTo>
                  <a:lnTo>
                    <a:pt x="983175" y="143669"/>
                  </a:lnTo>
                  <a:lnTo>
                    <a:pt x="983175" y="129010"/>
                  </a:lnTo>
                  <a:lnTo>
                    <a:pt x="961108" y="96752"/>
                  </a:lnTo>
                  <a:lnTo>
                    <a:pt x="898908" y="60102"/>
                  </a:lnTo>
                  <a:lnTo>
                    <a:pt x="838702" y="39587"/>
                  </a:lnTo>
                  <a:lnTo>
                    <a:pt x="766480" y="23453"/>
                  </a:lnTo>
                  <a:lnTo>
                    <a:pt x="726347" y="16134"/>
                  </a:lnTo>
                  <a:lnTo>
                    <a:pt x="682200" y="10268"/>
                  </a:lnTo>
                  <a:lnTo>
                    <a:pt x="638066" y="5866"/>
                  </a:lnTo>
                  <a:lnTo>
                    <a:pt x="541743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2</a:t>
            </a:fld>
            <a:endParaRPr spc="-25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6206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02247"/>
            <a:ext cx="3339465" cy="4292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0" dirty="0"/>
              <a:t>Introduction</a:t>
            </a:r>
            <a:r>
              <a:rPr spc="-120" dirty="0"/>
              <a:t> </a:t>
            </a:r>
            <a:r>
              <a:rPr dirty="0"/>
              <a:t>to</a:t>
            </a:r>
            <a:r>
              <a:rPr spc="-114" dirty="0"/>
              <a:t> </a:t>
            </a:r>
            <a:r>
              <a:rPr spc="-20" dirty="0"/>
              <a:t>JDBC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73183" y="1026159"/>
            <a:ext cx="6142355" cy="818515"/>
            <a:chOff x="1473183" y="1026159"/>
            <a:chExt cx="6142355" cy="8185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83" y="1340931"/>
              <a:ext cx="6141753" cy="503296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7200" y="1026159"/>
              <a:ext cx="5176520" cy="69596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12725" y="601218"/>
            <a:ext cx="5825490" cy="893444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122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spc="-25" dirty="0">
                <a:latin typeface="Times New Roman"/>
                <a:cs typeface="Times New Roman"/>
              </a:rPr>
              <a:t>Using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JDBC,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you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write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code</a:t>
            </a:r>
            <a:r>
              <a:rPr sz="1850" spc="-1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that:</a:t>
            </a:r>
            <a:endParaRPr sz="1850">
              <a:latin typeface="Times New Roman"/>
              <a:cs typeface="Times New Roman"/>
            </a:endParaRPr>
          </a:p>
          <a:p>
            <a:pPr marL="1770380">
              <a:lnSpc>
                <a:spcPct val="100000"/>
              </a:lnSpc>
              <a:spcBef>
                <a:spcPts val="1200"/>
              </a:spcBef>
            </a:pP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Connects</a:t>
            </a:r>
            <a:r>
              <a:rPr sz="19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19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sz="1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or</a:t>
            </a:r>
            <a:r>
              <a:rPr sz="19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more</a:t>
            </a:r>
            <a:r>
              <a:rPr sz="19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19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Arial MT"/>
                <a:cs typeface="Arial MT"/>
              </a:rPr>
              <a:t>servers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473183" y="1889759"/>
            <a:ext cx="6142355" cy="1671955"/>
            <a:chOff x="1473183" y="1889759"/>
            <a:chExt cx="6142355" cy="167195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83" y="2194371"/>
              <a:ext cx="6141753" cy="5032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27200" y="1889759"/>
              <a:ext cx="5176520" cy="68580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83" y="3057971"/>
              <a:ext cx="6141753" cy="50329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27200" y="2682239"/>
              <a:ext cx="5176520" cy="86868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1473183" y="3616959"/>
            <a:ext cx="6142355" cy="808355"/>
            <a:chOff x="1473183" y="3616959"/>
            <a:chExt cx="6142355" cy="80835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3183" y="3921571"/>
              <a:ext cx="6141753" cy="50329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27200" y="3616959"/>
              <a:ext cx="5176520" cy="685800"/>
            </a:xfrm>
            <a:prstGeom prst="rect">
              <a:avLst/>
            </a:prstGeom>
          </p:spPr>
        </p:pic>
      </p:grpSp>
      <p:sp>
        <p:nvSpPr>
          <p:cNvPr id="15" name="object 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Executes</a:t>
            </a:r>
            <a:r>
              <a:rPr spc="-50" dirty="0"/>
              <a:t> </a:t>
            </a:r>
            <a:r>
              <a:rPr dirty="0"/>
              <a:t>any</a:t>
            </a:r>
            <a:r>
              <a:rPr spc="-50" dirty="0"/>
              <a:t> </a:t>
            </a:r>
            <a:r>
              <a:rPr dirty="0"/>
              <a:t>SQL</a:t>
            </a:r>
            <a:r>
              <a:rPr spc="-155" dirty="0"/>
              <a:t> </a:t>
            </a:r>
            <a:r>
              <a:rPr spc="-10" dirty="0"/>
              <a:t>statement</a:t>
            </a:r>
          </a:p>
          <a:p>
            <a:pPr>
              <a:lnSpc>
                <a:spcPct val="100000"/>
              </a:lnSpc>
              <a:spcBef>
                <a:spcPts val="1350"/>
              </a:spcBef>
            </a:pPr>
            <a:endParaRPr spc="-10" dirty="0"/>
          </a:p>
          <a:p>
            <a:pPr marL="12700">
              <a:lnSpc>
                <a:spcPts val="2100"/>
              </a:lnSpc>
            </a:pPr>
            <a:r>
              <a:rPr dirty="0"/>
              <a:t>Obtains</a:t>
            </a:r>
            <a:r>
              <a:rPr spc="-200" dirty="0"/>
              <a:t> </a:t>
            </a:r>
            <a:r>
              <a:rPr dirty="0"/>
              <a:t>a</a:t>
            </a:r>
            <a:r>
              <a:rPr spc="25" dirty="0"/>
              <a:t> </a:t>
            </a:r>
            <a:r>
              <a:rPr dirty="0"/>
              <a:t>result</a:t>
            </a:r>
            <a:r>
              <a:rPr spc="-80" dirty="0"/>
              <a:t> </a:t>
            </a:r>
            <a:r>
              <a:rPr dirty="0"/>
              <a:t>set so</a:t>
            </a:r>
            <a:r>
              <a:rPr spc="25" dirty="0"/>
              <a:t> </a:t>
            </a:r>
            <a:r>
              <a:rPr dirty="0"/>
              <a:t>that</a:t>
            </a:r>
            <a:r>
              <a:rPr spc="-80" dirty="0"/>
              <a:t> </a:t>
            </a:r>
            <a:r>
              <a:rPr dirty="0"/>
              <a:t>you</a:t>
            </a:r>
            <a:r>
              <a:rPr spc="25" dirty="0"/>
              <a:t> </a:t>
            </a:r>
            <a:r>
              <a:rPr spc="-25" dirty="0"/>
              <a:t>can</a:t>
            </a:r>
          </a:p>
          <a:p>
            <a:pPr marL="12700">
              <a:lnSpc>
                <a:spcPts val="2100"/>
              </a:lnSpc>
            </a:pPr>
            <a:r>
              <a:rPr dirty="0"/>
              <a:t>navigate</a:t>
            </a:r>
            <a:r>
              <a:rPr spc="-35" dirty="0"/>
              <a:t> </a:t>
            </a:r>
            <a:r>
              <a:rPr dirty="0"/>
              <a:t>through</a:t>
            </a:r>
            <a:r>
              <a:rPr spc="-114" dirty="0"/>
              <a:t> </a:t>
            </a:r>
            <a:r>
              <a:rPr dirty="0"/>
              <a:t>query</a:t>
            </a:r>
            <a:r>
              <a:rPr spc="-85" dirty="0"/>
              <a:t> </a:t>
            </a:r>
            <a:r>
              <a:rPr spc="-10" dirty="0"/>
              <a:t>results</a:t>
            </a:r>
          </a:p>
          <a:p>
            <a:pPr>
              <a:lnSpc>
                <a:spcPct val="100000"/>
              </a:lnSpc>
              <a:spcBef>
                <a:spcPts val="1395"/>
              </a:spcBef>
            </a:pPr>
            <a:endParaRPr spc="-10" dirty="0"/>
          </a:p>
          <a:p>
            <a:pPr marL="12700">
              <a:lnSpc>
                <a:spcPct val="100000"/>
              </a:lnSpc>
            </a:pPr>
            <a:r>
              <a:rPr dirty="0"/>
              <a:t>Obtains</a:t>
            </a:r>
            <a:r>
              <a:rPr spc="-190" dirty="0"/>
              <a:t> </a:t>
            </a:r>
            <a:r>
              <a:rPr dirty="0"/>
              <a:t>metadata</a:t>
            </a:r>
            <a:r>
              <a:rPr spc="-40" dirty="0"/>
              <a:t> </a:t>
            </a:r>
            <a:r>
              <a:rPr dirty="0"/>
              <a:t>from</a:t>
            </a:r>
            <a:r>
              <a:rPr spc="-1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data</a:t>
            </a:r>
            <a:r>
              <a:rPr spc="-40" dirty="0"/>
              <a:t> </a:t>
            </a:r>
            <a:r>
              <a:rPr spc="-10" dirty="0"/>
              <a:t>server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3</a:t>
            </a:fld>
            <a:endParaRPr spc="-25" dirty="0"/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8323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Architecture</a:t>
            </a:r>
            <a:r>
              <a:rPr u="sng" spc="-9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and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Querying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with</a:t>
            </a:r>
            <a:r>
              <a:rPr u="sng" spc="-7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2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466079" y="2092959"/>
            <a:ext cx="1493520" cy="406400"/>
            <a:chOff x="5466079" y="2092959"/>
            <a:chExt cx="1493520" cy="4064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71159" y="2098039"/>
              <a:ext cx="1483360" cy="39623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471159" y="2098039"/>
              <a:ext cx="1483360" cy="396240"/>
            </a:xfrm>
            <a:custGeom>
              <a:avLst/>
              <a:gdLst/>
              <a:ahLst/>
              <a:cxnLst/>
              <a:rect l="l" t="t" r="r" b="b"/>
              <a:pathLst>
                <a:path w="1483359" h="396239">
                  <a:moveTo>
                    <a:pt x="0" y="396239"/>
                  </a:moveTo>
                  <a:lnTo>
                    <a:pt x="1483360" y="396239"/>
                  </a:lnTo>
                  <a:lnTo>
                    <a:pt x="1483360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5435600" y="4013200"/>
            <a:ext cx="1554480" cy="426720"/>
            <a:chOff x="5435600" y="4013200"/>
            <a:chExt cx="1554480" cy="42672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0680" y="4018280"/>
              <a:ext cx="1544320" cy="41656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5440680" y="4018280"/>
              <a:ext cx="1544320" cy="416559"/>
            </a:xfrm>
            <a:custGeom>
              <a:avLst/>
              <a:gdLst/>
              <a:ahLst/>
              <a:cxnLst/>
              <a:rect l="l" t="t" r="r" b="b"/>
              <a:pathLst>
                <a:path w="1544320" h="416560">
                  <a:moveTo>
                    <a:pt x="0" y="416559"/>
                  </a:moveTo>
                  <a:lnTo>
                    <a:pt x="1544320" y="416559"/>
                  </a:lnTo>
                  <a:lnTo>
                    <a:pt x="1544320" y="0"/>
                  </a:lnTo>
                  <a:lnTo>
                    <a:pt x="0" y="0"/>
                  </a:lnTo>
                  <a:lnTo>
                    <a:pt x="0" y="41655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61000" y="1275079"/>
            <a:ext cx="1503679" cy="41656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461000" y="1275079"/>
            <a:ext cx="1503680" cy="416559"/>
          </a:xfrm>
          <a:prstGeom prst="rect">
            <a:avLst/>
          </a:prstGeom>
          <a:ln w="10159">
            <a:solidFill>
              <a:srgbClr val="006FC0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455"/>
              </a:spcBef>
            </a:pPr>
            <a:r>
              <a:rPr sz="1850" b="1" spc="-10" dirty="0">
                <a:solidFill>
                  <a:srgbClr val="404040"/>
                </a:solidFill>
                <a:latin typeface="Arial"/>
                <a:cs typeface="Arial"/>
              </a:rPr>
              <a:t>Connect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25440" y="2915919"/>
            <a:ext cx="1564640" cy="660400"/>
            <a:chOff x="5425440" y="2915919"/>
            <a:chExt cx="1564640" cy="660400"/>
          </a:xfrm>
        </p:grpSpPr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0520" y="2920999"/>
              <a:ext cx="1554479" cy="65024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30520" y="2920999"/>
              <a:ext cx="1554480" cy="650240"/>
            </a:xfrm>
            <a:custGeom>
              <a:avLst/>
              <a:gdLst/>
              <a:ahLst/>
              <a:cxnLst/>
              <a:rect l="l" t="t" r="r" b="b"/>
              <a:pathLst>
                <a:path w="1554479" h="650239">
                  <a:moveTo>
                    <a:pt x="0" y="650240"/>
                  </a:moveTo>
                  <a:lnTo>
                    <a:pt x="1554479" y="650240"/>
                  </a:lnTo>
                  <a:lnTo>
                    <a:pt x="1554479" y="0"/>
                  </a:lnTo>
                  <a:lnTo>
                    <a:pt x="0" y="0"/>
                  </a:lnTo>
                  <a:lnTo>
                    <a:pt x="0" y="65024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735701" y="2134234"/>
            <a:ext cx="939165" cy="2242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solidFill>
                  <a:srgbClr val="404040"/>
                </a:solidFill>
                <a:latin typeface="Arial"/>
                <a:cs typeface="Arial"/>
              </a:rPr>
              <a:t>Query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85"/>
              </a:spcBef>
            </a:pPr>
            <a:endParaRPr sz="1850">
              <a:latin typeface="Arial"/>
              <a:cs typeface="Arial"/>
            </a:endParaRPr>
          </a:p>
          <a:p>
            <a:pPr algn="ctr">
              <a:lnSpc>
                <a:spcPts val="2190"/>
              </a:lnSpc>
            </a:pPr>
            <a:r>
              <a:rPr sz="1850" b="1" spc="-10" dirty="0">
                <a:solidFill>
                  <a:srgbClr val="001C2F"/>
                </a:solidFill>
                <a:latin typeface="Arial"/>
                <a:cs typeface="Arial"/>
              </a:rPr>
              <a:t>Process</a:t>
            </a:r>
            <a:endParaRPr sz="1850">
              <a:latin typeface="Arial"/>
              <a:cs typeface="Arial"/>
            </a:endParaRPr>
          </a:p>
          <a:p>
            <a:pPr marL="8890" algn="ctr">
              <a:lnSpc>
                <a:spcPts val="2190"/>
              </a:lnSpc>
            </a:pPr>
            <a:r>
              <a:rPr sz="1850" b="1" spc="-10" dirty="0">
                <a:solidFill>
                  <a:srgbClr val="001C2F"/>
                </a:solidFill>
                <a:latin typeface="Arial"/>
                <a:cs typeface="Arial"/>
              </a:rPr>
              <a:t>results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1850">
              <a:latin typeface="Arial"/>
              <a:cs typeface="Arial"/>
            </a:endParaRPr>
          </a:p>
          <a:p>
            <a:pPr marL="12700" algn="ctr">
              <a:lnSpc>
                <a:spcPct val="100000"/>
              </a:lnSpc>
            </a:pPr>
            <a:r>
              <a:rPr sz="1850" b="1" spc="-10" dirty="0">
                <a:solidFill>
                  <a:srgbClr val="001C2F"/>
                </a:solidFill>
                <a:latin typeface="Arial"/>
                <a:cs typeface="Arial"/>
              </a:rPr>
              <a:t>Close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004559" y="3581400"/>
            <a:ext cx="492759" cy="680720"/>
            <a:chOff x="6004559" y="3581400"/>
            <a:chExt cx="492759" cy="68072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3606800"/>
              <a:ext cx="492760" cy="65532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36639" y="3581400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40"/>
                  </a:moveTo>
                  <a:lnTo>
                    <a:pt x="76200" y="396240"/>
                  </a:lnTo>
                  <a:lnTo>
                    <a:pt x="121920" y="243840"/>
                  </a:lnTo>
                  <a:lnTo>
                    <a:pt x="50800" y="243840"/>
                  </a:lnTo>
                  <a:lnTo>
                    <a:pt x="50800" y="209973"/>
                  </a:lnTo>
                  <a:lnTo>
                    <a:pt x="0" y="142240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40"/>
                  </a:lnTo>
                  <a:lnTo>
                    <a:pt x="76200" y="243840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40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40"/>
                  </a:lnTo>
                  <a:lnTo>
                    <a:pt x="101600" y="243840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40"/>
                  </a:moveTo>
                  <a:lnTo>
                    <a:pt x="101600" y="209973"/>
                  </a:lnTo>
                  <a:lnTo>
                    <a:pt x="101600" y="243840"/>
                  </a:lnTo>
                  <a:lnTo>
                    <a:pt x="121920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6004559" y="2494279"/>
            <a:ext cx="492759" cy="680720"/>
            <a:chOff x="6004559" y="2494279"/>
            <a:chExt cx="492759" cy="680720"/>
          </a:xfrm>
        </p:grpSpPr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04559" y="2519679"/>
              <a:ext cx="492760" cy="655319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36639" y="249427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40"/>
                  </a:moveTo>
                  <a:lnTo>
                    <a:pt x="76200" y="396240"/>
                  </a:lnTo>
                  <a:lnTo>
                    <a:pt x="121920" y="243840"/>
                  </a:lnTo>
                  <a:lnTo>
                    <a:pt x="50800" y="243840"/>
                  </a:lnTo>
                  <a:lnTo>
                    <a:pt x="50800" y="209973"/>
                  </a:lnTo>
                  <a:lnTo>
                    <a:pt x="0" y="142240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40"/>
                  </a:lnTo>
                  <a:lnTo>
                    <a:pt x="76200" y="243840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40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40"/>
                  </a:lnTo>
                  <a:lnTo>
                    <a:pt x="101600" y="243840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40"/>
                  </a:moveTo>
                  <a:lnTo>
                    <a:pt x="101600" y="209973"/>
                  </a:lnTo>
                  <a:lnTo>
                    <a:pt x="101600" y="243840"/>
                  </a:lnTo>
                  <a:lnTo>
                    <a:pt x="121920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5974079" y="1681479"/>
            <a:ext cx="492759" cy="680720"/>
            <a:chOff x="5974079" y="1681479"/>
            <a:chExt cx="492759" cy="680720"/>
          </a:xfrm>
        </p:grpSpPr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74079" y="1706879"/>
              <a:ext cx="492760" cy="65532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106159" y="168147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39"/>
                  </a:moveTo>
                  <a:lnTo>
                    <a:pt x="76200" y="396239"/>
                  </a:lnTo>
                  <a:lnTo>
                    <a:pt x="121920" y="243839"/>
                  </a:lnTo>
                  <a:lnTo>
                    <a:pt x="50800" y="243839"/>
                  </a:lnTo>
                  <a:lnTo>
                    <a:pt x="50800" y="209973"/>
                  </a:lnTo>
                  <a:lnTo>
                    <a:pt x="0" y="142239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39"/>
                  </a:lnTo>
                  <a:lnTo>
                    <a:pt x="76200" y="243839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39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39"/>
                  </a:lnTo>
                  <a:lnTo>
                    <a:pt x="101600" y="243839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39"/>
                  </a:moveTo>
                  <a:lnTo>
                    <a:pt x="101600" y="209973"/>
                  </a:lnTo>
                  <a:lnTo>
                    <a:pt x="101600" y="243839"/>
                  </a:lnTo>
                  <a:lnTo>
                    <a:pt x="121920" y="243839"/>
                  </a:lnTo>
                  <a:lnTo>
                    <a:pt x="152400" y="14223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40560" y="1026159"/>
            <a:ext cx="2357119" cy="3484879"/>
          </a:xfrm>
          <a:prstGeom prst="rect">
            <a:avLst/>
          </a:prstGeom>
        </p:spPr>
      </p:pic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4</a:t>
            </a:fld>
            <a:endParaRPr spc="-25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7226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Architecture</a:t>
            </a:r>
            <a:r>
              <a:rPr spc="-125" dirty="0"/>
              <a:t> </a:t>
            </a:r>
            <a:r>
              <a:rPr dirty="0"/>
              <a:t>and</a:t>
            </a:r>
            <a:r>
              <a:rPr spc="-175" dirty="0"/>
              <a:t> </a:t>
            </a:r>
            <a:r>
              <a:rPr spc="-20" dirty="0"/>
              <a:t>Querying</a:t>
            </a:r>
            <a:r>
              <a:rPr spc="-165" dirty="0"/>
              <a:t> </a:t>
            </a:r>
            <a:r>
              <a:rPr dirty="0"/>
              <a:t>with</a:t>
            </a:r>
            <a:r>
              <a:rPr spc="-100" dirty="0"/>
              <a:t> </a:t>
            </a:r>
            <a:r>
              <a:rPr spc="-20" dirty="0"/>
              <a:t>JDBC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1201" y="971550"/>
            <a:ext cx="8705215" cy="251968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JDBC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API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consists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two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major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sets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interfaces:</a:t>
            </a:r>
            <a:endParaRPr sz="18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Char char="•"/>
              <a:tabLst>
                <a:tab pos="29718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JDBC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API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applications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writers,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</a:t>
            </a:r>
            <a:endParaRPr sz="1850" dirty="0">
              <a:latin typeface="Times New Roman"/>
              <a:cs typeface="Times New Roman"/>
            </a:endParaRPr>
          </a:p>
          <a:p>
            <a:pPr marL="297180" indent="-284480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Char char="•"/>
              <a:tabLst>
                <a:tab pos="297180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second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lower-</a:t>
            </a:r>
            <a:r>
              <a:rPr sz="1850" spc="-25" dirty="0">
                <a:latin typeface="Times New Roman"/>
                <a:cs typeface="Times New Roman"/>
              </a:rPr>
              <a:t>level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55" dirty="0">
                <a:latin typeface="Times New Roman"/>
                <a:cs typeface="Times New Roman"/>
              </a:rPr>
              <a:t>JDBC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1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API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writers.</a:t>
            </a:r>
            <a:endParaRPr sz="1850" dirty="0">
              <a:latin typeface="Times New Roman"/>
              <a:cs typeface="Times New Roman"/>
            </a:endParaRPr>
          </a:p>
          <a:p>
            <a:pPr marL="245110" marR="5080" indent="-233045" algn="just">
              <a:lnSpc>
                <a:spcPct val="975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dirty="0">
                <a:latin typeface="Times New Roman"/>
                <a:cs typeface="Times New Roman"/>
              </a:rPr>
              <a:t>As seen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 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previous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diagram,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DriverManager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class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 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traditional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management 	</a:t>
            </a:r>
            <a:r>
              <a:rPr sz="1850" dirty="0">
                <a:latin typeface="Times New Roman"/>
                <a:cs typeface="Times New Roman"/>
              </a:rPr>
              <a:t>layer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JDBC,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working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between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user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drivers.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It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keeps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track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that 	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available and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handles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establishing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connection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between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appropriate 	</a:t>
            </a:r>
            <a:r>
              <a:rPr sz="1850" dirty="0">
                <a:latin typeface="Times New Roman"/>
                <a:cs typeface="Times New Roman"/>
              </a:rPr>
              <a:t>driver.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addition,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DriverManager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class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attends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things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like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login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time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limits 	and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printing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tracing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messages.</a:t>
            </a:r>
            <a:endParaRPr sz="185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Stage</a:t>
            </a:r>
            <a:r>
              <a:rPr sz="2800" u="sng" spc="-4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1:</a:t>
            </a:r>
            <a:r>
              <a:rPr sz="2800" u="sng" spc="-5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4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Connect</a:t>
            </a:r>
            <a:endParaRPr sz="2800"/>
          </a:p>
        </p:txBody>
      </p:sp>
      <p:grpSp>
        <p:nvGrpSpPr>
          <p:cNvPr id="3" name="object 3"/>
          <p:cNvGrpSpPr/>
          <p:nvPr/>
        </p:nvGrpSpPr>
        <p:grpSpPr>
          <a:xfrm>
            <a:off x="1554480" y="1305559"/>
            <a:ext cx="1503680" cy="828040"/>
            <a:chOff x="1554480" y="1305559"/>
            <a:chExt cx="1503680" cy="8280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53861" y="1341041"/>
              <a:ext cx="160901" cy="403273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25040" y="130555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39"/>
                  </a:moveTo>
                  <a:lnTo>
                    <a:pt x="76200" y="396239"/>
                  </a:lnTo>
                  <a:lnTo>
                    <a:pt x="121919" y="243839"/>
                  </a:lnTo>
                  <a:lnTo>
                    <a:pt x="50800" y="243839"/>
                  </a:lnTo>
                  <a:lnTo>
                    <a:pt x="50800" y="209973"/>
                  </a:lnTo>
                  <a:lnTo>
                    <a:pt x="0" y="142239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39"/>
                  </a:lnTo>
                  <a:lnTo>
                    <a:pt x="76200" y="243839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39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39"/>
                  </a:lnTo>
                  <a:lnTo>
                    <a:pt x="101600" y="243839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39"/>
                  </a:moveTo>
                  <a:lnTo>
                    <a:pt x="101600" y="209973"/>
                  </a:lnTo>
                  <a:lnTo>
                    <a:pt x="101600" y="243839"/>
                  </a:lnTo>
                  <a:lnTo>
                    <a:pt x="121919" y="243839"/>
                  </a:lnTo>
                  <a:lnTo>
                    <a:pt x="152400" y="142239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59560" y="1742439"/>
              <a:ext cx="1493519" cy="38607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59560" y="1742439"/>
              <a:ext cx="1493520" cy="386080"/>
            </a:xfrm>
            <a:custGeom>
              <a:avLst/>
              <a:gdLst/>
              <a:ahLst/>
              <a:cxnLst/>
              <a:rect l="l" t="t" r="r" b="b"/>
              <a:pathLst>
                <a:path w="1493520" h="386080">
                  <a:moveTo>
                    <a:pt x="0" y="386079"/>
                  </a:moveTo>
                  <a:lnTo>
                    <a:pt x="1493519" y="386079"/>
                  </a:lnTo>
                  <a:lnTo>
                    <a:pt x="1493519" y="0"/>
                  </a:lnTo>
                  <a:lnTo>
                    <a:pt x="0" y="0"/>
                  </a:lnTo>
                  <a:lnTo>
                    <a:pt x="0" y="38607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43429" y="1809432"/>
            <a:ext cx="518159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10" dirty="0">
                <a:latin typeface="Arial"/>
                <a:cs typeface="Arial"/>
              </a:rPr>
              <a:t>Query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34160" y="3657600"/>
            <a:ext cx="1544320" cy="416559"/>
            <a:chOff x="1534160" y="3657600"/>
            <a:chExt cx="1544320" cy="416559"/>
          </a:xfrm>
        </p:grpSpPr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39240" y="3662680"/>
              <a:ext cx="1534160" cy="4064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539240" y="3662680"/>
              <a:ext cx="1534160" cy="406400"/>
            </a:xfrm>
            <a:custGeom>
              <a:avLst/>
              <a:gdLst/>
              <a:ahLst/>
              <a:cxnLst/>
              <a:rect l="l" t="t" r="r" b="b"/>
              <a:pathLst>
                <a:path w="1534160" h="406400">
                  <a:moveTo>
                    <a:pt x="0" y="406399"/>
                  </a:moveTo>
                  <a:lnTo>
                    <a:pt x="1534160" y="406399"/>
                  </a:lnTo>
                  <a:lnTo>
                    <a:pt x="1534160" y="0"/>
                  </a:lnTo>
                  <a:lnTo>
                    <a:pt x="0" y="0"/>
                  </a:lnTo>
                  <a:lnTo>
                    <a:pt x="0" y="40639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066670" y="3745229"/>
            <a:ext cx="47879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20" dirty="0">
                <a:latin typeface="Arial"/>
                <a:cs typeface="Arial"/>
              </a:rPr>
              <a:t>Close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544319" y="914399"/>
            <a:ext cx="2118995" cy="416559"/>
            <a:chOff x="1544319" y="914399"/>
            <a:chExt cx="2118995" cy="416559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97127" y="1127759"/>
              <a:ext cx="665770" cy="566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053080" y="1122679"/>
              <a:ext cx="518159" cy="0"/>
            </a:xfrm>
            <a:custGeom>
              <a:avLst/>
              <a:gdLst/>
              <a:ahLst/>
              <a:cxnLst/>
              <a:rect l="l" t="t" r="r" b="b"/>
              <a:pathLst>
                <a:path w="518160">
                  <a:moveTo>
                    <a:pt x="0" y="0"/>
                  </a:moveTo>
                  <a:lnTo>
                    <a:pt x="518159" y="0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9399" y="919479"/>
              <a:ext cx="1503680" cy="40640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549399" y="919479"/>
              <a:ext cx="1503680" cy="406400"/>
            </a:xfrm>
            <a:custGeom>
              <a:avLst/>
              <a:gdLst/>
              <a:ahLst/>
              <a:cxnLst/>
              <a:rect l="l" t="t" r="r" b="b"/>
              <a:pathLst>
                <a:path w="1503680" h="406400">
                  <a:moveTo>
                    <a:pt x="0" y="406400"/>
                  </a:moveTo>
                  <a:lnTo>
                    <a:pt x="1503680" y="406400"/>
                  </a:lnTo>
                  <a:lnTo>
                    <a:pt x="1503680" y="0"/>
                  </a:lnTo>
                  <a:lnTo>
                    <a:pt x="0" y="0"/>
                  </a:lnTo>
                  <a:lnTo>
                    <a:pt x="0" y="40640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554480" y="995997"/>
            <a:ext cx="1493520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10"/>
              </a:spcBef>
            </a:pPr>
            <a:r>
              <a:rPr sz="1350" b="1" spc="-10" dirty="0">
                <a:latin typeface="Arial"/>
                <a:cs typeface="Arial"/>
              </a:rPr>
              <a:t>Connect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24000" y="1107439"/>
            <a:ext cx="2331720" cy="2113280"/>
            <a:chOff x="1524000" y="1107439"/>
            <a:chExt cx="2331720" cy="211328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383279" y="1137919"/>
              <a:ext cx="472439" cy="89915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378200" y="1132839"/>
              <a:ext cx="405765" cy="832485"/>
            </a:xfrm>
            <a:custGeom>
              <a:avLst/>
              <a:gdLst/>
              <a:ahLst/>
              <a:cxnLst/>
              <a:rect l="l" t="t" r="r" b="b"/>
              <a:pathLst>
                <a:path w="405764" h="832485">
                  <a:moveTo>
                    <a:pt x="0" y="0"/>
                  </a:moveTo>
                  <a:lnTo>
                    <a:pt x="0" y="831977"/>
                  </a:lnTo>
                  <a:lnTo>
                    <a:pt x="405257" y="831977"/>
                  </a:lnTo>
                </a:path>
              </a:pathLst>
            </a:custGeom>
            <a:ln w="508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529080" y="2565399"/>
              <a:ext cx="1554480" cy="65024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1529080" y="2565399"/>
              <a:ext cx="1554480" cy="650240"/>
            </a:xfrm>
            <a:custGeom>
              <a:avLst/>
              <a:gdLst/>
              <a:ahLst/>
              <a:cxnLst/>
              <a:rect l="l" t="t" r="r" b="b"/>
              <a:pathLst>
                <a:path w="1554480" h="650239">
                  <a:moveTo>
                    <a:pt x="0" y="650240"/>
                  </a:moveTo>
                  <a:lnTo>
                    <a:pt x="1554480" y="650240"/>
                  </a:lnTo>
                  <a:lnTo>
                    <a:pt x="1554480" y="0"/>
                  </a:lnTo>
                  <a:lnTo>
                    <a:pt x="0" y="0"/>
                  </a:lnTo>
                  <a:lnTo>
                    <a:pt x="0" y="650240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958975" y="2660014"/>
            <a:ext cx="682625" cy="4476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350" b="1" spc="-10" dirty="0">
                <a:latin typeface="Arial"/>
                <a:cs typeface="Arial"/>
              </a:rPr>
              <a:t>Process</a:t>
            </a:r>
            <a:endParaRPr sz="135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65"/>
              </a:spcBef>
            </a:pPr>
            <a:r>
              <a:rPr sz="1350" b="1" spc="-10" dirty="0">
                <a:latin typeface="Arial"/>
                <a:cs typeface="Arial"/>
              </a:rPr>
              <a:t>results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566159" y="924559"/>
            <a:ext cx="3251200" cy="406400"/>
            <a:chOff x="3566159" y="924559"/>
            <a:chExt cx="3251200" cy="406400"/>
          </a:xfrm>
        </p:grpSpPr>
        <p:pic>
          <p:nvPicPr>
            <p:cNvPr id="26" name="object 2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71239" y="929639"/>
              <a:ext cx="3241040" cy="39623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71239" y="929639"/>
              <a:ext cx="3241040" cy="396240"/>
            </a:xfrm>
            <a:custGeom>
              <a:avLst/>
              <a:gdLst/>
              <a:ahLst/>
              <a:cxnLst/>
              <a:rect l="l" t="t" r="r" b="b"/>
              <a:pathLst>
                <a:path w="3241040" h="396240">
                  <a:moveTo>
                    <a:pt x="0" y="396239"/>
                  </a:moveTo>
                  <a:lnTo>
                    <a:pt x="3241040" y="396239"/>
                  </a:lnTo>
                  <a:lnTo>
                    <a:pt x="3241040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71240" y="998600"/>
            <a:ext cx="3235960" cy="233679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858519">
              <a:lnSpc>
                <a:spcPct val="100000"/>
              </a:lnSpc>
              <a:spcBef>
                <a:spcPts val="115"/>
              </a:spcBef>
            </a:pPr>
            <a:r>
              <a:rPr sz="1350" b="1" dirty="0">
                <a:latin typeface="Arial"/>
                <a:cs typeface="Arial"/>
              </a:rPr>
              <a:t>Register</a:t>
            </a:r>
            <a:r>
              <a:rPr sz="1350" b="1" spc="3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90" dirty="0">
                <a:latin typeface="Arial"/>
                <a:cs typeface="Arial"/>
              </a:rPr>
              <a:t> </a:t>
            </a:r>
            <a:r>
              <a:rPr sz="1350" b="1" spc="-10" dirty="0">
                <a:latin typeface="Arial"/>
                <a:cs typeface="Arial"/>
              </a:rPr>
              <a:t>driver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556000" y="1706879"/>
            <a:ext cx="3261360" cy="406400"/>
            <a:chOff x="3556000" y="1706879"/>
            <a:chExt cx="3261360" cy="406400"/>
          </a:xfrm>
        </p:grpSpPr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1080" y="1711959"/>
              <a:ext cx="3251200" cy="39623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61080" y="1711959"/>
              <a:ext cx="3251200" cy="396240"/>
            </a:xfrm>
            <a:custGeom>
              <a:avLst/>
              <a:gdLst/>
              <a:ahLst/>
              <a:cxnLst/>
              <a:rect l="l" t="t" r="r" b="b"/>
              <a:pathLst>
                <a:path w="3251200" h="396239">
                  <a:moveTo>
                    <a:pt x="0" y="396239"/>
                  </a:moveTo>
                  <a:lnTo>
                    <a:pt x="3251200" y="396239"/>
                  </a:lnTo>
                  <a:lnTo>
                    <a:pt x="3251200" y="0"/>
                  </a:lnTo>
                  <a:lnTo>
                    <a:pt x="0" y="0"/>
                  </a:lnTo>
                  <a:lnTo>
                    <a:pt x="0" y="396239"/>
                  </a:lnTo>
                  <a:close/>
                </a:path>
              </a:pathLst>
            </a:custGeom>
            <a:ln w="1016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184396" y="1778952"/>
            <a:ext cx="1999614" cy="2330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350" b="1" spc="-10" dirty="0">
                <a:latin typeface="Arial"/>
                <a:cs typeface="Arial"/>
              </a:rPr>
              <a:t>Connect</a:t>
            </a:r>
            <a:r>
              <a:rPr sz="1350" b="1" spc="75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to</a:t>
            </a:r>
            <a:r>
              <a:rPr sz="1350" b="1" spc="-40" dirty="0">
                <a:latin typeface="Arial"/>
                <a:cs typeface="Arial"/>
              </a:rPr>
              <a:t> </a:t>
            </a:r>
            <a:r>
              <a:rPr sz="1350" b="1" dirty="0">
                <a:latin typeface="Arial"/>
                <a:cs typeface="Arial"/>
              </a:rPr>
              <a:t>the</a:t>
            </a:r>
            <a:r>
              <a:rPr sz="1350" b="1" spc="-50" dirty="0">
                <a:latin typeface="Arial"/>
                <a:cs typeface="Arial"/>
              </a:rPr>
              <a:t> </a:t>
            </a:r>
            <a:r>
              <a:rPr sz="1350" b="1" spc="-10" dirty="0">
                <a:latin typeface="Arial"/>
                <a:cs typeface="Arial"/>
              </a:rPr>
              <a:t>database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92960" y="2138679"/>
            <a:ext cx="5801360" cy="2697480"/>
            <a:chOff x="2092960" y="2138679"/>
            <a:chExt cx="5801360" cy="2697480"/>
          </a:xfrm>
        </p:grpSpPr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2960" y="3251199"/>
              <a:ext cx="492760" cy="65532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225040" y="322579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40"/>
                  </a:moveTo>
                  <a:lnTo>
                    <a:pt x="76200" y="396240"/>
                  </a:lnTo>
                  <a:lnTo>
                    <a:pt x="121919" y="243840"/>
                  </a:lnTo>
                  <a:lnTo>
                    <a:pt x="50800" y="243840"/>
                  </a:lnTo>
                  <a:lnTo>
                    <a:pt x="50800" y="209973"/>
                  </a:lnTo>
                  <a:lnTo>
                    <a:pt x="0" y="142240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40"/>
                  </a:lnTo>
                  <a:lnTo>
                    <a:pt x="76200" y="243840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40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40"/>
                  </a:lnTo>
                  <a:lnTo>
                    <a:pt x="101600" y="243840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40"/>
                  </a:moveTo>
                  <a:lnTo>
                    <a:pt x="101600" y="209973"/>
                  </a:lnTo>
                  <a:lnTo>
                    <a:pt x="101600" y="243840"/>
                  </a:lnTo>
                  <a:lnTo>
                    <a:pt x="121919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092960" y="2164079"/>
              <a:ext cx="492760" cy="655319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2225040" y="2138679"/>
              <a:ext cx="152400" cy="396240"/>
            </a:xfrm>
            <a:custGeom>
              <a:avLst/>
              <a:gdLst/>
              <a:ahLst/>
              <a:cxnLst/>
              <a:rect l="l" t="t" r="r" b="b"/>
              <a:pathLst>
                <a:path w="152400" h="396239">
                  <a:moveTo>
                    <a:pt x="0" y="142240"/>
                  </a:moveTo>
                  <a:lnTo>
                    <a:pt x="76200" y="396240"/>
                  </a:lnTo>
                  <a:lnTo>
                    <a:pt x="121919" y="243840"/>
                  </a:lnTo>
                  <a:lnTo>
                    <a:pt x="50800" y="243840"/>
                  </a:lnTo>
                  <a:lnTo>
                    <a:pt x="50800" y="209973"/>
                  </a:lnTo>
                  <a:lnTo>
                    <a:pt x="0" y="142240"/>
                  </a:lnTo>
                  <a:close/>
                </a:path>
                <a:path w="152400" h="396239">
                  <a:moveTo>
                    <a:pt x="50800" y="209973"/>
                  </a:moveTo>
                  <a:lnTo>
                    <a:pt x="50800" y="243840"/>
                  </a:lnTo>
                  <a:lnTo>
                    <a:pt x="76200" y="243840"/>
                  </a:lnTo>
                  <a:lnTo>
                    <a:pt x="50800" y="209973"/>
                  </a:lnTo>
                  <a:close/>
                </a:path>
                <a:path w="152400" h="396239">
                  <a:moveTo>
                    <a:pt x="101600" y="0"/>
                  </a:moveTo>
                  <a:lnTo>
                    <a:pt x="50800" y="0"/>
                  </a:lnTo>
                  <a:lnTo>
                    <a:pt x="50800" y="209973"/>
                  </a:lnTo>
                  <a:lnTo>
                    <a:pt x="76200" y="243840"/>
                  </a:lnTo>
                  <a:lnTo>
                    <a:pt x="101600" y="209973"/>
                  </a:lnTo>
                  <a:lnTo>
                    <a:pt x="101600" y="0"/>
                  </a:lnTo>
                  <a:close/>
                </a:path>
                <a:path w="152400" h="396239">
                  <a:moveTo>
                    <a:pt x="101600" y="209973"/>
                  </a:moveTo>
                  <a:lnTo>
                    <a:pt x="76200" y="243840"/>
                  </a:lnTo>
                  <a:lnTo>
                    <a:pt x="101600" y="243840"/>
                  </a:lnTo>
                  <a:lnTo>
                    <a:pt x="101600" y="209973"/>
                  </a:lnTo>
                  <a:close/>
                </a:path>
                <a:path w="152400" h="396239">
                  <a:moveTo>
                    <a:pt x="152400" y="142240"/>
                  </a:moveTo>
                  <a:lnTo>
                    <a:pt x="101600" y="209973"/>
                  </a:lnTo>
                  <a:lnTo>
                    <a:pt x="101600" y="243840"/>
                  </a:lnTo>
                  <a:lnTo>
                    <a:pt x="121919" y="243840"/>
                  </a:lnTo>
                  <a:lnTo>
                    <a:pt x="152400" y="14224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53560" y="2504439"/>
              <a:ext cx="3525520" cy="2316480"/>
            </a:xfrm>
            <a:custGeom>
              <a:avLst/>
              <a:gdLst/>
              <a:ahLst/>
              <a:cxnLst/>
              <a:rect l="l" t="t" r="r" b="b"/>
              <a:pathLst>
                <a:path w="3525520" h="2316479">
                  <a:moveTo>
                    <a:pt x="0" y="2316480"/>
                  </a:moveTo>
                  <a:lnTo>
                    <a:pt x="3525520" y="2316480"/>
                  </a:lnTo>
                  <a:lnTo>
                    <a:pt x="3525520" y="0"/>
                  </a:lnTo>
                  <a:lnTo>
                    <a:pt x="0" y="0"/>
                  </a:lnTo>
                  <a:lnTo>
                    <a:pt x="0" y="2316480"/>
                  </a:lnTo>
                  <a:close/>
                </a:path>
              </a:pathLst>
            </a:custGeom>
            <a:ln w="30479">
              <a:solidFill>
                <a:srgbClr val="F3744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439665" y="2531109"/>
            <a:ext cx="337566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thing</a:t>
            </a:r>
            <a:r>
              <a:rPr sz="1850" spc="3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</a:t>
            </a:r>
            <a:r>
              <a:rPr sz="1850" spc="3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need</a:t>
            </a:r>
            <a:r>
              <a:rPr sz="1850" spc="4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do</a:t>
            </a:r>
            <a:r>
              <a:rPr sz="1850" spc="44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6</a:t>
            </a:fld>
            <a:endParaRPr spc="-25" dirty="0"/>
          </a:p>
        </p:txBody>
      </p:sp>
      <p:sp>
        <p:nvSpPr>
          <p:cNvPr id="40" name="object 40"/>
          <p:cNvSpPr txBox="1"/>
          <p:nvPr/>
        </p:nvSpPr>
        <p:spPr>
          <a:xfrm>
            <a:off x="5436615" y="2806382"/>
            <a:ext cx="2384425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294640" algn="l"/>
                <a:tab pos="1484630" algn="l"/>
                <a:tab pos="2084705" algn="l"/>
              </a:tabLst>
            </a:pPr>
            <a:r>
              <a:rPr sz="1850" spc="-50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10" dirty="0">
                <a:latin typeface="Times New Roman"/>
                <a:cs typeface="Times New Roman"/>
              </a:rPr>
              <a:t>connection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with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the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385815" y="3081337"/>
            <a:ext cx="242570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1219835" algn="l"/>
              </a:tabLst>
            </a:pPr>
            <a:r>
              <a:rPr sz="1850" spc="-10" dirty="0">
                <a:latin typeface="Times New Roman"/>
                <a:cs typeface="Times New Roman"/>
              </a:rPr>
              <a:t>(Database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30" dirty="0">
                <a:latin typeface="Times New Roman"/>
                <a:cs typeface="Times New Roman"/>
              </a:rPr>
              <a:t>Management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39665" y="2806382"/>
            <a:ext cx="822325" cy="8559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R="5080">
              <a:lnSpc>
                <a:spcPts val="2160"/>
              </a:lnSpc>
              <a:spcBef>
                <a:spcPts val="215"/>
              </a:spcBef>
            </a:pPr>
            <a:r>
              <a:rPr sz="1850" spc="-25" dirty="0">
                <a:latin typeface="Times New Roman"/>
                <a:cs typeface="Times New Roman"/>
              </a:rPr>
              <a:t>establish </a:t>
            </a:r>
            <a:r>
              <a:rPr sz="1850" spc="-20" dirty="0">
                <a:latin typeface="Times New Roman"/>
                <a:cs typeface="Times New Roman"/>
              </a:rPr>
              <a:t>DBMS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ts val="2105"/>
              </a:lnSpc>
            </a:pPr>
            <a:r>
              <a:rPr sz="1850" spc="-10" dirty="0">
                <a:latin typeface="Times New Roman"/>
                <a:cs typeface="Times New Roman"/>
              </a:rPr>
              <a:t>System)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375528" y="3355720"/>
            <a:ext cx="244348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  <a:tabLst>
                <a:tab pos="508000" algn="l"/>
                <a:tab pos="1128395" algn="l"/>
                <a:tab pos="1474470" algn="l"/>
                <a:tab pos="2013585" algn="l"/>
              </a:tabLst>
            </a:pPr>
            <a:r>
              <a:rPr sz="1850" spc="-25" dirty="0">
                <a:latin typeface="Times New Roman"/>
                <a:cs typeface="Times New Roman"/>
              </a:rPr>
              <a:t>you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want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5" dirty="0">
                <a:latin typeface="Times New Roman"/>
                <a:cs typeface="Times New Roman"/>
              </a:rPr>
              <a:t>to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use.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spc="-20" dirty="0">
                <a:latin typeface="Times New Roman"/>
                <a:cs typeface="Times New Roman"/>
              </a:rPr>
              <a:t>This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439665" y="3630929"/>
            <a:ext cx="2451735" cy="855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ts val="2195"/>
              </a:lnSpc>
              <a:spcBef>
                <a:spcPts val="90"/>
              </a:spcBef>
            </a:pPr>
            <a:r>
              <a:rPr sz="1850" spc="-10" dirty="0">
                <a:latin typeface="Times New Roman"/>
                <a:cs typeface="Times New Roman"/>
              </a:rPr>
              <a:t>involves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two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steps:</a:t>
            </a:r>
            <a:endParaRPr sz="1850">
              <a:latin typeface="Times New Roman"/>
              <a:cs typeface="Times New Roman"/>
            </a:endParaRPr>
          </a:p>
          <a:p>
            <a:pPr marL="262890" indent="-262890">
              <a:lnSpc>
                <a:spcPts val="2165"/>
              </a:lnSpc>
              <a:buSzPct val="89189"/>
              <a:buAutoNum type="arabicParenBoth"/>
              <a:tabLst>
                <a:tab pos="262890" algn="l"/>
              </a:tabLst>
            </a:pPr>
            <a:r>
              <a:rPr sz="1850" spc="-10" dirty="0">
                <a:latin typeface="Times New Roman"/>
                <a:cs typeface="Times New Roman"/>
              </a:rPr>
              <a:t>loading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</a:t>
            </a:r>
            <a:endParaRPr sz="1850">
              <a:latin typeface="Times New Roman"/>
              <a:cs typeface="Times New Roman"/>
            </a:endParaRPr>
          </a:p>
          <a:p>
            <a:pPr marL="263525" indent="-263525">
              <a:lnSpc>
                <a:spcPts val="2190"/>
              </a:lnSpc>
              <a:buSzPct val="89189"/>
              <a:buAutoNum type="arabicParenBoth"/>
              <a:tabLst>
                <a:tab pos="263525" algn="l"/>
              </a:tabLst>
            </a:pPr>
            <a:r>
              <a:rPr sz="1850" spc="-10" dirty="0">
                <a:latin typeface="Times New Roman"/>
                <a:cs typeface="Times New Roman"/>
              </a:rPr>
              <a:t>making</a:t>
            </a:r>
            <a:r>
              <a:rPr sz="1850" spc="-1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connection.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98323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5806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Connect:</a:t>
            </a:r>
            <a:r>
              <a:rPr spc="-180" dirty="0"/>
              <a:t> </a:t>
            </a:r>
            <a:r>
              <a:rPr dirty="0"/>
              <a:t>A</a:t>
            </a:r>
            <a:r>
              <a:rPr spc="-185" dirty="0"/>
              <a:t> </a:t>
            </a:r>
            <a:r>
              <a:rPr spc="-25" dirty="0"/>
              <a:t>JDBC</a:t>
            </a:r>
            <a:r>
              <a:rPr spc="-114" dirty="0"/>
              <a:t> </a:t>
            </a:r>
            <a:r>
              <a:rPr spc="-10" dirty="0"/>
              <a:t>Driver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598535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set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classes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interfaces,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written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according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JDBC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API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communicate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database.</a:t>
            </a:r>
            <a:endParaRPr sz="20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636520" y="2539999"/>
            <a:ext cx="1474470" cy="189865"/>
            <a:chOff x="2636520" y="2539999"/>
            <a:chExt cx="1474470" cy="1898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2049" y="2578877"/>
              <a:ext cx="1438400" cy="15084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636520" y="2539999"/>
              <a:ext cx="1432560" cy="152400"/>
            </a:xfrm>
            <a:custGeom>
              <a:avLst/>
              <a:gdLst/>
              <a:ahLst/>
              <a:cxnLst/>
              <a:rect l="l" t="t" r="r" b="b"/>
              <a:pathLst>
                <a:path w="1432560" h="152400">
                  <a:moveTo>
                    <a:pt x="1280159" y="76200"/>
                  </a:moveTo>
                  <a:lnTo>
                    <a:pt x="1178559" y="152400"/>
                  </a:lnTo>
                  <a:lnTo>
                    <a:pt x="1347893" y="101600"/>
                  </a:lnTo>
                  <a:lnTo>
                    <a:pt x="1280159" y="101600"/>
                  </a:lnTo>
                  <a:lnTo>
                    <a:pt x="1280159" y="76200"/>
                  </a:lnTo>
                  <a:close/>
                </a:path>
                <a:path w="1432560" h="152400">
                  <a:moveTo>
                    <a:pt x="1246293" y="50800"/>
                  </a:moveTo>
                  <a:lnTo>
                    <a:pt x="0" y="50800"/>
                  </a:lnTo>
                  <a:lnTo>
                    <a:pt x="0" y="101600"/>
                  </a:lnTo>
                  <a:lnTo>
                    <a:pt x="1246293" y="101600"/>
                  </a:lnTo>
                  <a:lnTo>
                    <a:pt x="1280159" y="76200"/>
                  </a:lnTo>
                  <a:lnTo>
                    <a:pt x="1246293" y="50800"/>
                  </a:lnTo>
                  <a:close/>
                </a:path>
                <a:path w="1432560" h="152400">
                  <a:moveTo>
                    <a:pt x="1347893" y="50800"/>
                  </a:moveTo>
                  <a:lnTo>
                    <a:pt x="1280159" y="50800"/>
                  </a:lnTo>
                  <a:lnTo>
                    <a:pt x="1280159" y="101600"/>
                  </a:lnTo>
                  <a:lnTo>
                    <a:pt x="1347893" y="101600"/>
                  </a:lnTo>
                  <a:lnTo>
                    <a:pt x="1432559" y="76200"/>
                  </a:lnTo>
                  <a:lnTo>
                    <a:pt x="1347893" y="50800"/>
                  </a:lnTo>
                  <a:close/>
                </a:path>
                <a:path w="1432560" h="152400">
                  <a:moveTo>
                    <a:pt x="1178559" y="0"/>
                  </a:moveTo>
                  <a:lnTo>
                    <a:pt x="1280159" y="76200"/>
                  </a:lnTo>
                  <a:lnTo>
                    <a:pt x="1280159" y="50800"/>
                  </a:lnTo>
                  <a:lnTo>
                    <a:pt x="1347893" y="50800"/>
                  </a:lnTo>
                  <a:lnTo>
                    <a:pt x="1178559" y="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5085079" y="2539999"/>
            <a:ext cx="1352550" cy="189865"/>
            <a:chOff x="5085079" y="2539999"/>
            <a:chExt cx="1352550" cy="18986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20607" y="2578877"/>
              <a:ext cx="1316539" cy="150844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085079" y="2539999"/>
              <a:ext cx="1310640" cy="152400"/>
            </a:xfrm>
            <a:custGeom>
              <a:avLst/>
              <a:gdLst/>
              <a:ahLst/>
              <a:cxnLst/>
              <a:rect l="l" t="t" r="r" b="b"/>
              <a:pathLst>
                <a:path w="1310639" h="152400">
                  <a:moveTo>
                    <a:pt x="1158240" y="76200"/>
                  </a:moveTo>
                  <a:lnTo>
                    <a:pt x="1056640" y="152400"/>
                  </a:lnTo>
                  <a:lnTo>
                    <a:pt x="1225973" y="101600"/>
                  </a:lnTo>
                  <a:lnTo>
                    <a:pt x="1158240" y="101600"/>
                  </a:lnTo>
                  <a:lnTo>
                    <a:pt x="1158240" y="76200"/>
                  </a:lnTo>
                  <a:close/>
                </a:path>
                <a:path w="1310639" h="152400">
                  <a:moveTo>
                    <a:pt x="1124373" y="50800"/>
                  </a:moveTo>
                  <a:lnTo>
                    <a:pt x="0" y="50800"/>
                  </a:lnTo>
                  <a:lnTo>
                    <a:pt x="0" y="101600"/>
                  </a:lnTo>
                  <a:lnTo>
                    <a:pt x="1124373" y="101600"/>
                  </a:lnTo>
                  <a:lnTo>
                    <a:pt x="1158240" y="76200"/>
                  </a:lnTo>
                  <a:lnTo>
                    <a:pt x="1124373" y="50800"/>
                  </a:lnTo>
                  <a:close/>
                </a:path>
                <a:path w="1310639" h="152400">
                  <a:moveTo>
                    <a:pt x="1225973" y="50800"/>
                  </a:moveTo>
                  <a:lnTo>
                    <a:pt x="1158240" y="50800"/>
                  </a:lnTo>
                  <a:lnTo>
                    <a:pt x="1158240" y="101600"/>
                  </a:lnTo>
                  <a:lnTo>
                    <a:pt x="1225973" y="101600"/>
                  </a:lnTo>
                  <a:lnTo>
                    <a:pt x="1310640" y="76200"/>
                  </a:lnTo>
                  <a:lnTo>
                    <a:pt x="1225973" y="50800"/>
                  </a:lnTo>
                  <a:close/>
                </a:path>
                <a:path w="1310639" h="152400">
                  <a:moveTo>
                    <a:pt x="1056640" y="0"/>
                  </a:moveTo>
                  <a:lnTo>
                    <a:pt x="1158240" y="76200"/>
                  </a:lnTo>
                  <a:lnTo>
                    <a:pt x="1158240" y="50800"/>
                  </a:lnTo>
                  <a:lnTo>
                    <a:pt x="1225973" y="50800"/>
                  </a:lnTo>
                  <a:lnTo>
                    <a:pt x="1056640" y="0"/>
                  </a:lnTo>
                  <a:close/>
                </a:path>
              </a:pathLst>
            </a:custGeom>
            <a:solidFill>
              <a:srgbClr val="1E1E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064000" y="2235199"/>
            <a:ext cx="975360" cy="619760"/>
          </a:xfrm>
          <a:prstGeom prst="rect">
            <a:avLst/>
          </a:prstGeom>
          <a:solidFill>
            <a:srgbClr val="DDDDDD"/>
          </a:solidFill>
        </p:spPr>
        <p:txBody>
          <a:bodyPr vert="horz" wrap="square" lIns="0" tIns="16764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1320"/>
              </a:spcBef>
            </a:pPr>
            <a:r>
              <a:rPr sz="1850" b="1" spc="-10" dirty="0">
                <a:solidFill>
                  <a:srgbClr val="00385F"/>
                </a:solidFill>
                <a:latin typeface="Arial"/>
                <a:cs typeface="Arial"/>
              </a:rPr>
              <a:t>Driver</a:t>
            </a:r>
            <a:endParaRPr sz="185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001520" y="2040682"/>
            <a:ext cx="1925320" cy="975994"/>
            <a:chOff x="2001520" y="2040682"/>
            <a:chExt cx="1925320" cy="975994"/>
          </a:xfrm>
        </p:grpSpPr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01520" y="2092959"/>
              <a:ext cx="963168" cy="92316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58963" y="2040682"/>
              <a:ext cx="657162" cy="19128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48000" y="2153919"/>
              <a:ext cx="878839" cy="553719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5029200" y="1869439"/>
            <a:ext cx="2639060" cy="1140460"/>
            <a:chOff x="5029200" y="1869439"/>
            <a:chExt cx="2639060" cy="1140460"/>
          </a:xfrm>
        </p:grpSpPr>
        <p:sp>
          <p:nvSpPr>
            <p:cNvPr id="16" name="object 16"/>
            <p:cNvSpPr/>
            <p:nvPr/>
          </p:nvSpPr>
          <p:spPr>
            <a:xfrm>
              <a:off x="6403385" y="2289955"/>
              <a:ext cx="1262380" cy="719455"/>
            </a:xfrm>
            <a:custGeom>
              <a:avLst/>
              <a:gdLst/>
              <a:ahLst/>
              <a:cxnLst/>
              <a:rect l="l" t="t" r="r" b="b"/>
              <a:pathLst>
                <a:path w="1262379" h="719455">
                  <a:moveTo>
                    <a:pt x="1261789" y="0"/>
                  </a:moveTo>
                  <a:lnTo>
                    <a:pt x="0" y="0"/>
                  </a:lnTo>
                  <a:lnTo>
                    <a:pt x="0" y="511001"/>
                  </a:lnTo>
                  <a:lnTo>
                    <a:pt x="7756" y="511001"/>
                  </a:lnTo>
                  <a:lnTo>
                    <a:pt x="5171" y="524454"/>
                  </a:lnTo>
                  <a:lnTo>
                    <a:pt x="5171" y="534538"/>
                  </a:lnTo>
                  <a:lnTo>
                    <a:pt x="7756" y="544621"/>
                  </a:lnTo>
                  <a:lnTo>
                    <a:pt x="12928" y="554705"/>
                  </a:lnTo>
                  <a:lnTo>
                    <a:pt x="18099" y="563110"/>
                  </a:lnTo>
                  <a:lnTo>
                    <a:pt x="23270" y="573193"/>
                  </a:lnTo>
                  <a:lnTo>
                    <a:pt x="33612" y="581598"/>
                  </a:lnTo>
                  <a:lnTo>
                    <a:pt x="43955" y="591682"/>
                  </a:lnTo>
                  <a:lnTo>
                    <a:pt x="54299" y="600093"/>
                  </a:lnTo>
                  <a:lnTo>
                    <a:pt x="111182" y="633712"/>
                  </a:lnTo>
                  <a:lnTo>
                    <a:pt x="147380" y="648840"/>
                  </a:lnTo>
                  <a:lnTo>
                    <a:pt x="188743" y="662288"/>
                  </a:lnTo>
                  <a:lnTo>
                    <a:pt x="232699" y="675736"/>
                  </a:lnTo>
                  <a:lnTo>
                    <a:pt x="330959" y="695906"/>
                  </a:lnTo>
                  <a:lnTo>
                    <a:pt x="387849" y="704311"/>
                  </a:lnTo>
                  <a:lnTo>
                    <a:pt x="444722" y="711035"/>
                  </a:lnTo>
                  <a:lnTo>
                    <a:pt x="504199" y="716078"/>
                  </a:lnTo>
                  <a:lnTo>
                    <a:pt x="630895" y="719440"/>
                  </a:lnTo>
                  <a:lnTo>
                    <a:pt x="757591" y="716078"/>
                  </a:lnTo>
                  <a:lnTo>
                    <a:pt x="817068" y="711035"/>
                  </a:lnTo>
                  <a:lnTo>
                    <a:pt x="873941" y="704311"/>
                  </a:lnTo>
                  <a:lnTo>
                    <a:pt x="930831" y="695906"/>
                  </a:lnTo>
                  <a:lnTo>
                    <a:pt x="1029091" y="675736"/>
                  </a:lnTo>
                  <a:lnTo>
                    <a:pt x="1073047" y="662288"/>
                  </a:lnTo>
                  <a:lnTo>
                    <a:pt x="1114417" y="648840"/>
                  </a:lnTo>
                  <a:lnTo>
                    <a:pt x="1150613" y="633712"/>
                  </a:lnTo>
                  <a:lnTo>
                    <a:pt x="1207486" y="600093"/>
                  </a:lnTo>
                  <a:lnTo>
                    <a:pt x="1228180" y="581598"/>
                  </a:lnTo>
                  <a:lnTo>
                    <a:pt x="1238526" y="573193"/>
                  </a:lnTo>
                  <a:lnTo>
                    <a:pt x="1243682" y="563110"/>
                  </a:lnTo>
                  <a:lnTo>
                    <a:pt x="1248856" y="554705"/>
                  </a:lnTo>
                  <a:lnTo>
                    <a:pt x="1254029" y="544621"/>
                  </a:lnTo>
                  <a:lnTo>
                    <a:pt x="1256616" y="534538"/>
                  </a:lnTo>
                  <a:lnTo>
                    <a:pt x="1256616" y="524454"/>
                  </a:lnTo>
                  <a:lnTo>
                    <a:pt x="1254029" y="511001"/>
                  </a:lnTo>
                  <a:lnTo>
                    <a:pt x="1261789" y="511001"/>
                  </a:lnTo>
                  <a:lnTo>
                    <a:pt x="1261789" y="0"/>
                  </a:lnTo>
                  <a:close/>
                </a:path>
              </a:pathLst>
            </a:custGeom>
            <a:solidFill>
              <a:srgbClr val="B1B1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00800" y="2133617"/>
              <a:ext cx="1267460" cy="314960"/>
            </a:xfrm>
            <a:custGeom>
              <a:avLst/>
              <a:gdLst/>
              <a:ahLst/>
              <a:cxnLst/>
              <a:rect l="l" t="t" r="r" b="b"/>
              <a:pathLst>
                <a:path w="1267459" h="314960">
                  <a:moveTo>
                    <a:pt x="698113" y="0"/>
                  </a:moveTo>
                  <a:lnTo>
                    <a:pt x="568848" y="0"/>
                  </a:lnTo>
                  <a:lnTo>
                    <a:pt x="444721" y="6726"/>
                  </a:lnTo>
                  <a:lnTo>
                    <a:pt x="387848" y="11774"/>
                  </a:lnTo>
                  <a:lnTo>
                    <a:pt x="330958" y="18500"/>
                  </a:lnTo>
                  <a:lnTo>
                    <a:pt x="279241" y="26893"/>
                  </a:lnTo>
                  <a:lnTo>
                    <a:pt x="230129" y="35298"/>
                  </a:lnTo>
                  <a:lnTo>
                    <a:pt x="186173" y="45394"/>
                  </a:lnTo>
                  <a:lnTo>
                    <a:pt x="144796" y="57156"/>
                  </a:lnTo>
                  <a:lnTo>
                    <a:pt x="62054" y="89097"/>
                  </a:lnTo>
                  <a:lnTo>
                    <a:pt x="28441" y="110943"/>
                  </a:lnTo>
                  <a:lnTo>
                    <a:pt x="2585" y="141206"/>
                  </a:lnTo>
                  <a:lnTo>
                    <a:pt x="0" y="147932"/>
                  </a:lnTo>
                  <a:lnTo>
                    <a:pt x="0" y="164742"/>
                  </a:lnTo>
                  <a:lnTo>
                    <a:pt x="28441" y="203398"/>
                  </a:lnTo>
                  <a:lnTo>
                    <a:pt x="38784" y="210124"/>
                  </a:lnTo>
                  <a:lnTo>
                    <a:pt x="49126" y="218529"/>
                  </a:lnTo>
                  <a:lnTo>
                    <a:pt x="62054" y="225256"/>
                  </a:lnTo>
                  <a:lnTo>
                    <a:pt x="77569" y="231970"/>
                  </a:lnTo>
                  <a:lnTo>
                    <a:pt x="144796" y="257185"/>
                  </a:lnTo>
                  <a:lnTo>
                    <a:pt x="186173" y="267269"/>
                  </a:lnTo>
                  <a:lnTo>
                    <a:pt x="230129" y="279043"/>
                  </a:lnTo>
                  <a:lnTo>
                    <a:pt x="279241" y="287448"/>
                  </a:lnTo>
                  <a:lnTo>
                    <a:pt x="330958" y="294174"/>
                  </a:lnTo>
                  <a:lnTo>
                    <a:pt x="444721" y="307615"/>
                  </a:lnTo>
                  <a:lnTo>
                    <a:pt x="506784" y="310984"/>
                  </a:lnTo>
                  <a:lnTo>
                    <a:pt x="633481" y="314341"/>
                  </a:lnTo>
                  <a:lnTo>
                    <a:pt x="760177" y="310984"/>
                  </a:lnTo>
                  <a:lnTo>
                    <a:pt x="822240" y="307615"/>
                  </a:lnTo>
                  <a:lnTo>
                    <a:pt x="936003" y="294174"/>
                  </a:lnTo>
                  <a:lnTo>
                    <a:pt x="987720" y="287448"/>
                  </a:lnTo>
                  <a:lnTo>
                    <a:pt x="1036832" y="279043"/>
                  </a:lnTo>
                  <a:lnTo>
                    <a:pt x="1080789" y="267269"/>
                  </a:lnTo>
                  <a:lnTo>
                    <a:pt x="1122158" y="257185"/>
                  </a:lnTo>
                  <a:lnTo>
                    <a:pt x="1158372" y="243744"/>
                  </a:lnTo>
                  <a:lnTo>
                    <a:pt x="1204898" y="225256"/>
                  </a:lnTo>
                  <a:lnTo>
                    <a:pt x="1228179" y="210124"/>
                  </a:lnTo>
                  <a:lnTo>
                    <a:pt x="1238525" y="203398"/>
                  </a:lnTo>
                  <a:lnTo>
                    <a:pt x="1264375" y="173147"/>
                  </a:lnTo>
                  <a:lnTo>
                    <a:pt x="1266962" y="164742"/>
                  </a:lnTo>
                  <a:lnTo>
                    <a:pt x="1266962" y="147932"/>
                  </a:lnTo>
                  <a:lnTo>
                    <a:pt x="1238525" y="110943"/>
                  </a:lnTo>
                  <a:lnTo>
                    <a:pt x="1204898" y="89097"/>
                  </a:lnTo>
                  <a:lnTo>
                    <a:pt x="1158372" y="68918"/>
                  </a:lnTo>
                  <a:lnTo>
                    <a:pt x="1080789" y="45394"/>
                  </a:lnTo>
                  <a:lnTo>
                    <a:pt x="1036832" y="35298"/>
                  </a:lnTo>
                  <a:lnTo>
                    <a:pt x="987720" y="26893"/>
                  </a:lnTo>
                  <a:lnTo>
                    <a:pt x="936003" y="18500"/>
                  </a:lnTo>
                  <a:lnTo>
                    <a:pt x="879113" y="11774"/>
                  </a:lnTo>
                  <a:lnTo>
                    <a:pt x="822240" y="6726"/>
                  </a:lnTo>
                  <a:lnTo>
                    <a:pt x="698113" y="0"/>
                  </a:lnTo>
                  <a:close/>
                </a:path>
              </a:pathLst>
            </a:custGeom>
            <a:solidFill>
              <a:srgbClr val="E4E4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20639" y="1869439"/>
              <a:ext cx="1427480" cy="55372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29200" y="2143759"/>
              <a:ext cx="1559559" cy="553719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3147441" y="1964689"/>
            <a:ext cx="672465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5"/>
              </a:spcBef>
            </a:pPr>
            <a:r>
              <a:rPr sz="1850" b="1" spc="-20" dirty="0">
                <a:solidFill>
                  <a:srgbClr val="4D4E5C"/>
                </a:solidFill>
                <a:latin typeface="Arial"/>
                <a:cs typeface="Arial"/>
              </a:rPr>
              <a:t>JDBC</a:t>
            </a:r>
            <a:endParaRPr sz="1850">
              <a:latin typeface="Arial"/>
              <a:cs typeface="Arial"/>
            </a:endParaRPr>
          </a:p>
          <a:p>
            <a:pPr marL="63500">
              <a:lnSpc>
                <a:spcPts val="2190"/>
              </a:lnSpc>
            </a:pPr>
            <a:r>
              <a:rPr sz="1850" b="1" spc="-10" dirty="0">
                <a:solidFill>
                  <a:srgbClr val="4D4E5C"/>
                </a:solidFill>
                <a:latin typeface="Arial"/>
                <a:cs typeface="Arial"/>
              </a:rPr>
              <a:t>calls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21" name="object 21"/>
          <p:cNvSpPr txBox="1"/>
          <p:nvPr/>
        </p:nvSpPr>
        <p:spPr>
          <a:xfrm>
            <a:off x="5179695" y="1951989"/>
            <a:ext cx="1245235" cy="5816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080" indent="91440">
              <a:lnSpc>
                <a:spcPts val="2160"/>
              </a:lnSpc>
              <a:spcBef>
                <a:spcPts val="215"/>
              </a:spcBef>
            </a:pPr>
            <a:r>
              <a:rPr sz="1850" b="1" spc="-10" dirty="0">
                <a:solidFill>
                  <a:srgbClr val="4D4E5C"/>
                </a:solidFill>
                <a:latin typeface="Arial"/>
                <a:cs typeface="Arial"/>
              </a:rPr>
              <a:t>Database </a:t>
            </a:r>
            <a:r>
              <a:rPr sz="1850" b="1" spc="-30" dirty="0">
                <a:solidFill>
                  <a:srgbClr val="4D4E5C"/>
                </a:solidFill>
                <a:latin typeface="Arial"/>
                <a:cs typeface="Arial"/>
              </a:rPr>
              <a:t>commands</a:t>
            </a:r>
            <a:endParaRPr sz="185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512306" y="2569209"/>
            <a:ext cx="1071245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solidFill>
                  <a:srgbClr val="00385F"/>
                </a:solidFill>
                <a:latin typeface="Arial"/>
                <a:cs typeface="Arial"/>
              </a:rPr>
              <a:t>Database</a:t>
            </a:r>
            <a:endParaRPr sz="1850">
              <a:latin typeface="Arial"/>
              <a:cs typeface="Arial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98323" y="2310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0" y="10159"/>
                </a:moveTo>
                <a:lnTo>
                  <a:pt x="1976120" y="10159"/>
                </a:lnTo>
                <a:lnTo>
                  <a:pt x="1976120" y="0"/>
                </a:lnTo>
                <a:lnTo>
                  <a:pt x="0" y="0"/>
                </a:lnTo>
                <a:lnTo>
                  <a:pt x="0" y="10159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30" dirty="0"/>
              <a:t>Connect:</a:t>
            </a:r>
            <a:r>
              <a:rPr spc="-185" dirty="0"/>
              <a:t> </a:t>
            </a:r>
            <a:r>
              <a:rPr dirty="0"/>
              <a:t>A</a:t>
            </a:r>
            <a:r>
              <a:rPr spc="-185" dirty="0"/>
              <a:t> </a:t>
            </a:r>
            <a:r>
              <a:rPr spc="-25" dirty="0"/>
              <a:t>JDBC</a:t>
            </a:r>
            <a:r>
              <a:rPr spc="-95" dirty="0"/>
              <a:t> </a:t>
            </a:r>
            <a:r>
              <a:rPr spc="-10" dirty="0"/>
              <a:t>Driver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5280" y="579119"/>
            <a:ext cx="4856480" cy="429768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23" y="28355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185" dirty="0"/>
              <a:t> </a:t>
            </a:r>
            <a:r>
              <a:rPr dirty="0"/>
              <a:t>JDBC</a:t>
            </a:r>
            <a:r>
              <a:rPr spc="-180" dirty="0"/>
              <a:t> </a:t>
            </a:r>
            <a:r>
              <a:rPr spc="-10" dirty="0"/>
              <a:t>Driver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4854"/>
            <a:ext cx="8703945" cy="25361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indent="-233045">
              <a:lnSpc>
                <a:spcPts val="2195"/>
              </a:lnSpc>
              <a:spcBef>
                <a:spcPts val="9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35" dirty="0">
                <a:latin typeface="Times New Roman"/>
                <a:cs typeface="Times New Roman"/>
              </a:rPr>
              <a:t> JDBC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API defines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set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encapsulate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major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functionality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like</a:t>
            </a:r>
            <a:endParaRPr sz="1850">
              <a:latin typeface="Times New Roman"/>
              <a:cs typeface="Times New Roman"/>
            </a:endParaRPr>
          </a:p>
          <a:p>
            <a:pPr marL="246379">
              <a:lnSpc>
                <a:spcPts val="2195"/>
              </a:lnSpc>
            </a:pPr>
            <a:r>
              <a:rPr sz="1850" i="1" dirty="0">
                <a:latin typeface="Times New Roman"/>
                <a:cs typeface="Times New Roman"/>
              </a:rPr>
              <a:t>running</a:t>
            </a:r>
            <a:r>
              <a:rPr sz="1850" i="1" spc="-13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queries</a:t>
            </a:r>
            <a:r>
              <a:rPr sz="1850" spc="-10" dirty="0">
                <a:latin typeface="Times New Roman"/>
                <a:cs typeface="Times New Roman"/>
              </a:rPr>
              <a:t>,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i="1" spc="-30" dirty="0">
                <a:latin typeface="Times New Roman"/>
                <a:cs typeface="Times New Roman"/>
              </a:rPr>
              <a:t>processing</a:t>
            </a:r>
            <a:r>
              <a:rPr sz="1850" i="1" spc="-12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results</a:t>
            </a:r>
            <a:r>
              <a:rPr sz="1850" i="1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determining</a:t>
            </a:r>
            <a:r>
              <a:rPr sz="1850" i="1" spc="-13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configuration</a:t>
            </a:r>
            <a:r>
              <a:rPr sz="1850" i="1" spc="-130" dirty="0">
                <a:latin typeface="Times New Roman"/>
                <a:cs typeface="Times New Roman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information</a:t>
            </a:r>
            <a:r>
              <a:rPr sz="1850" spc="-10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245110" marR="6350" indent="-233045">
              <a:lnSpc>
                <a:spcPts val="2160"/>
              </a:lnSpc>
              <a:spcBef>
                <a:spcPts val="62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vendor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45" dirty="0">
                <a:latin typeface="Times New Roman"/>
                <a:cs typeface="Times New Roman"/>
              </a:rPr>
              <a:t>third-</a:t>
            </a:r>
            <a:r>
              <a:rPr sz="1850" dirty="0">
                <a:latin typeface="Times New Roman"/>
                <a:cs typeface="Times New Roman"/>
              </a:rPr>
              <a:t>party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developer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writes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JDBC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driver,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which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set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classes 	that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implements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these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interfaces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particular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database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system.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ct val="100000"/>
              </a:lnSpc>
              <a:spcBef>
                <a:spcPts val="530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application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can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number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drivers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interchangeably.</a:t>
            </a:r>
            <a:endParaRPr sz="1850">
              <a:latin typeface="Times New Roman"/>
              <a:cs typeface="Times New Roman"/>
            </a:endParaRPr>
          </a:p>
          <a:p>
            <a:pPr marL="245110" marR="5080" indent="-233045">
              <a:lnSpc>
                <a:spcPts val="2170"/>
              </a:lnSpc>
              <a:spcBef>
                <a:spcPts val="61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850" spc="-40" dirty="0">
                <a:latin typeface="Times New Roman"/>
                <a:cs typeface="Times New Roman"/>
              </a:rPr>
              <a:t>JDBC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available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most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platforms,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number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vendors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a 	</a:t>
            </a:r>
            <a:r>
              <a:rPr sz="1850" dirty="0">
                <a:latin typeface="Times New Roman"/>
                <a:cs typeface="Times New Roman"/>
              </a:rPr>
              <a:t>number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different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flavors.</a:t>
            </a:r>
            <a:endParaRPr sz="1850">
              <a:latin typeface="Times New Roman"/>
              <a:cs typeface="Times New Roman"/>
            </a:endParaRPr>
          </a:p>
          <a:p>
            <a:pPr marL="245745" indent="-233045">
              <a:lnSpc>
                <a:spcPct val="100000"/>
              </a:lnSpc>
              <a:spcBef>
                <a:spcPts val="520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spc="-10" dirty="0">
                <a:latin typeface="Times New Roman"/>
                <a:cs typeface="Times New Roman"/>
              </a:rPr>
              <a:t>There</a:t>
            </a:r>
            <a:r>
              <a:rPr sz="1850" spc="-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four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types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drivers,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discussed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in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subsequent</a:t>
            </a:r>
            <a:r>
              <a:rPr sz="1850" spc="-14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sections.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915" y="20472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31114"/>
            <a:ext cx="344360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Driver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1920" y="819150"/>
            <a:ext cx="2011679" cy="375284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39407" y="644524"/>
            <a:ext cx="5389880" cy="2509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dirty="0">
                <a:latin typeface="Times New Roman"/>
                <a:cs typeface="Times New Roman"/>
              </a:rPr>
              <a:t>JDBC-</a:t>
            </a:r>
            <a:r>
              <a:rPr sz="1850" b="1" spc="-40" dirty="0">
                <a:latin typeface="Times New Roman"/>
                <a:cs typeface="Times New Roman"/>
              </a:rPr>
              <a:t>ODBC</a:t>
            </a:r>
            <a:r>
              <a:rPr sz="1850" b="1" spc="-175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Bridge</a:t>
            </a:r>
            <a:r>
              <a:rPr sz="1850" b="1" spc="-5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Driver</a:t>
            </a:r>
            <a:r>
              <a:rPr sz="1850" b="1" spc="-135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(Type </a:t>
            </a:r>
            <a:r>
              <a:rPr sz="1850" b="1" dirty="0">
                <a:latin typeface="Times New Roman"/>
                <a:cs typeface="Times New Roman"/>
              </a:rPr>
              <a:t>I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Driver)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850">
              <a:latin typeface="Times New Roman"/>
              <a:cs typeface="Times New Roman"/>
            </a:endParaRPr>
          </a:p>
          <a:p>
            <a:pPr marL="319405" marR="5080" indent="-285115">
              <a:lnSpc>
                <a:spcPts val="2160"/>
              </a:lnSpc>
              <a:spcBef>
                <a:spcPts val="5"/>
              </a:spcBef>
              <a:buClr>
                <a:srgbClr val="00AFEF"/>
              </a:buClr>
              <a:buFont typeface="Arial MT"/>
              <a:buChar char="•"/>
              <a:tabLst>
                <a:tab pos="319405" algn="l"/>
              </a:tabLst>
            </a:pPr>
            <a:r>
              <a:rPr sz="1850" dirty="0">
                <a:latin typeface="Times New Roman"/>
                <a:cs typeface="Times New Roman"/>
              </a:rPr>
              <a:t>Type</a:t>
            </a:r>
            <a:r>
              <a:rPr sz="1850" spc="2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bridge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technology</a:t>
            </a:r>
            <a:r>
              <a:rPr sz="1850" spc="1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connect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a </a:t>
            </a:r>
            <a:r>
              <a:rPr sz="1850" dirty="0">
                <a:latin typeface="Times New Roman"/>
                <a:cs typeface="Times New Roman"/>
              </a:rPr>
              <a:t>Java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client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ODBC</a:t>
            </a:r>
            <a:r>
              <a:rPr sz="1850" spc="-20" dirty="0">
                <a:latin typeface="Times New Roman"/>
                <a:cs typeface="Times New Roman"/>
              </a:rPr>
              <a:t> database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system.</a:t>
            </a:r>
            <a:endParaRPr sz="1850">
              <a:latin typeface="Times New Roman"/>
              <a:cs typeface="Times New Roman"/>
            </a:endParaRPr>
          </a:p>
          <a:p>
            <a:pPr marL="319405" marR="5080" indent="-285115">
              <a:lnSpc>
                <a:spcPts val="2160"/>
              </a:lnSpc>
              <a:spcBef>
                <a:spcPts val="5"/>
              </a:spcBef>
              <a:buClr>
                <a:srgbClr val="00AFEF"/>
              </a:buClr>
              <a:buFont typeface="Arial MT"/>
              <a:buChar char="•"/>
              <a:tabLst>
                <a:tab pos="319405" algn="l"/>
              </a:tabLst>
            </a:pP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4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JDBC-</a:t>
            </a:r>
            <a:r>
              <a:rPr sz="1850" spc="-40" dirty="0">
                <a:latin typeface="Times New Roman"/>
                <a:cs typeface="Times New Roman"/>
              </a:rPr>
              <a:t>ODBC </a:t>
            </a:r>
            <a:r>
              <a:rPr sz="1850" spc="-20" dirty="0">
                <a:latin typeface="Times New Roman"/>
                <a:cs typeface="Times New Roman"/>
              </a:rPr>
              <a:t>Bridge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 Sun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example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50" dirty="0">
                <a:latin typeface="Times New Roman"/>
                <a:cs typeface="Times New Roman"/>
              </a:rPr>
              <a:t>a </a:t>
            </a:r>
            <a:r>
              <a:rPr sz="1850" spc="-60" dirty="0">
                <a:latin typeface="Times New Roman"/>
                <a:cs typeface="Times New Roman"/>
              </a:rPr>
              <a:t>Type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spc="-10" dirty="0">
                <a:latin typeface="Times New Roman"/>
                <a:cs typeface="Times New Roman"/>
              </a:rPr>
              <a:t> driver.</a:t>
            </a:r>
            <a:endParaRPr sz="1850">
              <a:latin typeface="Times New Roman"/>
              <a:cs typeface="Times New Roman"/>
            </a:endParaRPr>
          </a:p>
          <a:p>
            <a:pPr marL="319405" indent="-284480">
              <a:lnSpc>
                <a:spcPts val="2080"/>
              </a:lnSpc>
              <a:buClr>
                <a:srgbClr val="00AFEF"/>
              </a:buClr>
              <a:buFont typeface="Arial MT"/>
              <a:buChar char="•"/>
              <a:tabLst>
                <a:tab pos="319405" algn="l"/>
              </a:tabLst>
            </a:pPr>
            <a:r>
              <a:rPr sz="1850" spc="-10" dirty="0">
                <a:latin typeface="Times New Roman"/>
                <a:cs typeface="Times New Roman"/>
              </a:rPr>
              <a:t>Type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require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some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sort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40" dirty="0">
                <a:latin typeface="Times New Roman"/>
                <a:cs typeface="Times New Roman"/>
              </a:rPr>
              <a:t> </a:t>
            </a:r>
            <a:r>
              <a:rPr sz="1850" spc="-40" dirty="0">
                <a:latin typeface="Times New Roman"/>
                <a:cs typeface="Times New Roman"/>
              </a:rPr>
              <a:t>non-</a:t>
            </a:r>
            <a:r>
              <a:rPr sz="1850" dirty="0">
                <a:latin typeface="Times New Roman"/>
                <a:cs typeface="Times New Roman"/>
              </a:rPr>
              <a:t>Java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software</a:t>
            </a:r>
            <a:endParaRPr sz="1850">
              <a:latin typeface="Times New Roman"/>
              <a:cs typeface="Times New Roman"/>
            </a:endParaRPr>
          </a:p>
          <a:p>
            <a:pPr marL="319405" marR="12065">
              <a:lnSpc>
                <a:spcPts val="2170"/>
              </a:lnSpc>
              <a:spcBef>
                <a:spcPts val="85"/>
              </a:spcBef>
            </a:pP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installed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machine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running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your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code,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and </a:t>
            </a:r>
            <a:r>
              <a:rPr sz="1850" spc="-20" dirty="0">
                <a:latin typeface="Times New Roman"/>
                <a:cs typeface="Times New Roman"/>
              </a:rPr>
              <a:t>they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-5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implemented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using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native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code.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2915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JDBC</a:t>
            </a:r>
            <a:r>
              <a:rPr spc="-155" dirty="0"/>
              <a:t> </a:t>
            </a:r>
            <a:r>
              <a:rPr dirty="0"/>
              <a:t>Driver</a:t>
            </a:r>
            <a:r>
              <a:rPr spc="-155" dirty="0"/>
              <a:t> </a:t>
            </a:r>
            <a:r>
              <a:rPr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73798"/>
            <a:ext cx="8690610" cy="408749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Characteristics</a:t>
            </a:r>
            <a:r>
              <a:rPr sz="1600" b="1" spc="114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25" dirty="0">
                <a:latin typeface="Times New Roman"/>
                <a:cs typeface="Times New Roman"/>
              </a:rPr>
              <a:t> </a:t>
            </a:r>
            <a:r>
              <a:rPr sz="1600" b="1" spc="-35" dirty="0">
                <a:latin typeface="Times New Roman"/>
                <a:cs typeface="Times New Roman"/>
              </a:rPr>
              <a:t>Type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drivers: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JDBC-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bridge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limited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running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locally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0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 ODBC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installed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computer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specific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computer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Generally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can’t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run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inside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applet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calls</a:t>
            </a:r>
            <a:endParaRPr sz="1600" dirty="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484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dirty="0">
                <a:latin typeface="Times New Roman"/>
                <a:cs typeface="Times New Roman"/>
              </a:rPr>
              <a:t>When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use?</a:t>
            </a:r>
            <a:endParaRPr sz="1600" dirty="0">
              <a:latin typeface="Times New Roman"/>
              <a:cs typeface="Times New Roman"/>
            </a:endParaRPr>
          </a:p>
          <a:p>
            <a:pPr marL="755015" marR="5080" lvl="1" indent="-285115" algn="just">
              <a:lnSpc>
                <a:spcPct val="89700"/>
              </a:lnSpc>
              <a:spcBef>
                <a:spcPts val="605"/>
              </a:spcBef>
              <a:buFont typeface="Arial MT"/>
              <a:buChar char="•"/>
              <a:tabLst>
                <a:tab pos="755015" algn="l"/>
                <a:tab pos="756920" algn="l"/>
              </a:tabLst>
            </a:pPr>
            <a:r>
              <a:rPr sz="1600" dirty="0">
                <a:solidFill>
                  <a:srgbClr val="006FC0"/>
                </a:solidFill>
                <a:latin typeface="Times New Roman"/>
                <a:cs typeface="Times New Roman"/>
              </a:rPr>
              <a:t>	</a:t>
            </a:r>
            <a:r>
              <a:rPr sz="1600" dirty="0">
                <a:latin typeface="Times New Roman"/>
                <a:cs typeface="Times New Roman"/>
              </a:rPr>
              <a:t>Using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your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existing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databases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don't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drivers,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Access.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option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good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if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already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database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support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quick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prototyping.</a:t>
            </a:r>
            <a:endParaRPr sz="1600" dirty="0">
              <a:latin typeface="Times New Roman"/>
              <a:cs typeface="Times New Roman"/>
            </a:endParaRPr>
          </a:p>
          <a:p>
            <a:pPr marL="245110" marR="10795" indent="-233045" algn="just">
              <a:lnSpc>
                <a:spcPts val="1760"/>
              </a:lnSpc>
              <a:spcBef>
                <a:spcPts val="59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dirty="0">
                <a:latin typeface="Times New Roman"/>
                <a:cs typeface="Times New Roman"/>
              </a:rPr>
              <a:t>The</a:t>
            </a:r>
            <a:r>
              <a:rPr sz="1600" b="1" spc="1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disadvantage</a:t>
            </a:r>
            <a:r>
              <a:rPr sz="1600" b="1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get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pure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solution.</a:t>
            </a:r>
            <a:r>
              <a:rPr sz="1600" spc="1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12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ODBC 	</a:t>
            </a:r>
            <a:r>
              <a:rPr sz="1600" dirty="0">
                <a:latin typeface="Times New Roman"/>
                <a:cs typeface="Times New Roman"/>
              </a:rPr>
              <a:t>binaries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every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system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want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use.</a:t>
            </a:r>
            <a:endParaRPr sz="1600" dirty="0">
              <a:latin typeface="Times New Roman"/>
              <a:cs typeface="Times New Roman"/>
            </a:endParaRPr>
          </a:p>
          <a:p>
            <a:pPr marL="245110" marR="5080" indent="-233045" algn="just">
              <a:lnSpc>
                <a:spcPct val="89800"/>
              </a:lnSpc>
              <a:spcBef>
                <a:spcPts val="570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JDBC-ODBC</a:t>
            </a:r>
            <a:r>
              <a:rPr sz="1600" spc="1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2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provided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JavaSoft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2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part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JDK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sun.jdbc.odbc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package. 	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vendors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4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required</a:t>
            </a:r>
            <a:r>
              <a:rPr sz="1600" spc="3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43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port</a:t>
            </a:r>
            <a:r>
              <a:rPr sz="1600" spc="3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package.</a:t>
            </a:r>
            <a:r>
              <a:rPr sz="1600" spc="43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</a:t>
            </a:r>
            <a:r>
              <a:rPr sz="1600" spc="4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intended</a:t>
            </a:r>
            <a:r>
              <a:rPr sz="1600" spc="4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production 	environments.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9420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31114"/>
            <a:ext cx="3443604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2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Driver</a:t>
            </a:r>
            <a:r>
              <a:rPr u="sng" spc="-15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3813" y="1153891"/>
            <a:ext cx="4704754" cy="205042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2775" y="560768"/>
            <a:ext cx="3652520" cy="306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850" b="1" spc="-20" dirty="0">
                <a:latin typeface="Times New Roman"/>
                <a:cs typeface="Times New Roman"/>
              </a:rPr>
              <a:t>Native</a:t>
            </a:r>
            <a:r>
              <a:rPr sz="1850" b="1" spc="-6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JDBC</a:t>
            </a:r>
            <a:r>
              <a:rPr sz="1850" b="1" spc="-9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Driver</a:t>
            </a:r>
            <a:r>
              <a:rPr sz="1850" b="1" spc="-140" dirty="0">
                <a:latin typeface="Times New Roman"/>
                <a:cs typeface="Times New Roman"/>
              </a:rPr>
              <a:t> </a:t>
            </a:r>
            <a:r>
              <a:rPr sz="1850" b="1" spc="-55" dirty="0">
                <a:latin typeface="Times New Roman"/>
                <a:cs typeface="Times New Roman"/>
              </a:rPr>
              <a:t>(Type</a:t>
            </a:r>
            <a:r>
              <a:rPr sz="1850" b="1" spc="-6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II</a:t>
            </a:r>
            <a:r>
              <a:rPr sz="1850" b="1" spc="-3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383857" y="3439858"/>
            <a:ext cx="8495030" cy="113093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 marR="5080" algn="just">
              <a:lnSpc>
                <a:spcPct val="97500"/>
              </a:lnSpc>
              <a:spcBef>
                <a:spcPts val="145"/>
              </a:spcBef>
            </a:pPr>
            <a:r>
              <a:rPr sz="1850" spc="-10" dirty="0">
                <a:latin typeface="Times New Roman"/>
                <a:cs typeface="Times New Roman"/>
              </a:rPr>
              <a:t>Type </a:t>
            </a:r>
            <a:r>
              <a:rPr sz="1850" dirty="0">
                <a:latin typeface="Times New Roman"/>
                <a:cs typeface="Times New Roman"/>
              </a:rPr>
              <a:t>2</a:t>
            </a:r>
            <a:r>
              <a:rPr sz="1850" spc="-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-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use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native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code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library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access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database,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wrapping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thin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layer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Java </a:t>
            </a:r>
            <a:r>
              <a:rPr sz="1850" dirty="0">
                <a:latin typeface="Times New Roman"/>
                <a:cs typeface="Times New Roman"/>
              </a:rPr>
              <a:t>around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native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library.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8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example,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with</a:t>
            </a:r>
            <a:r>
              <a:rPr sz="1850" spc="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Oracle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databases,</a:t>
            </a:r>
            <a:r>
              <a:rPr sz="1850" spc="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native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access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might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be </a:t>
            </a:r>
            <a:r>
              <a:rPr sz="1850" dirty="0">
                <a:latin typeface="Times New Roman"/>
                <a:cs typeface="Times New Roman"/>
              </a:rPr>
              <a:t>through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Oracle</a:t>
            </a:r>
            <a:r>
              <a:rPr sz="1850" spc="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Call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Interface</a:t>
            </a:r>
            <a:r>
              <a:rPr sz="1850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(OCI)</a:t>
            </a:r>
            <a:r>
              <a:rPr sz="1850" spc="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libraries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were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originally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designed</a:t>
            </a:r>
            <a:r>
              <a:rPr sz="1850" spc="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for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C/C++ programmers.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23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JDBC</a:t>
            </a:r>
            <a:r>
              <a:rPr spc="-155" dirty="0"/>
              <a:t> </a:t>
            </a:r>
            <a:r>
              <a:rPr dirty="0"/>
              <a:t>Driver</a:t>
            </a:r>
            <a:r>
              <a:rPr spc="-155" dirty="0"/>
              <a:t> </a:t>
            </a:r>
            <a:r>
              <a:rPr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745172"/>
            <a:ext cx="8623300" cy="4138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100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spc="-10" dirty="0">
                <a:latin typeface="Times New Roman"/>
                <a:cs typeface="Times New Roman"/>
              </a:rPr>
              <a:t>Type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2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-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implemented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code,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they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may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perform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better</a:t>
            </a:r>
            <a:r>
              <a:rPr sz="1600" spc="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-Java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drivers,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but</a:t>
            </a:r>
            <a:endParaRPr sz="1600" dirty="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Times New Roman"/>
                <a:cs typeface="Times New Roman"/>
              </a:rPr>
              <a:t>they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element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risk,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defect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code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crash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Virtual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Machine.</a:t>
            </a:r>
            <a:endParaRPr sz="1600" dirty="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Characteristics</a:t>
            </a:r>
            <a:r>
              <a:rPr sz="1600" b="1" spc="8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35" dirty="0">
                <a:latin typeface="Times New Roman"/>
                <a:cs typeface="Times New Roman"/>
              </a:rPr>
              <a:t> </a:t>
            </a:r>
            <a:r>
              <a:rPr sz="1600" b="1" spc="-45" dirty="0">
                <a:latin typeface="Times New Roman"/>
                <a:cs typeface="Times New Roman"/>
              </a:rPr>
              <a:t>Type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II</a:t>
            </a:r>
            <a:r>
              <a:rPr sz="1600" b="1" spc="20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drives: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library</a:t>
            </a:r>
            <a:r>
              <a:rPr sz="1600" spc="-1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Uses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library</a:t>
            </a:r>
            <a:r>
              <a:rPr sz="1600" spc="-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computer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database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Generally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can’t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run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inside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applet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calls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Must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library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installed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client</a:t>
            </a:r>
            <a:endParaRPr sz="1600" dirty="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spc="-10" dirty="0">
                <a:latin typeface="Times New Roman"/>
                <a:cs typeface="Times New Roman"/>
              </a:rPr>
              <a:t>example: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DB-</a:t>
            </a:r>
            <a:r>
              <a:rPr sz="1600" dirty="0">
                <a:latin typeface="Times New Roman"/>
                <a:cs typeface="Times New Roman"/>
              </a:rPr>
              <a:t>lib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Sybase,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Oracle,</a:t>
            </a:r>
            <a:r>
              <a:rPr sz="1600" spc="-35" dirty="0">
                <a:latin typeface="Times New Roman"/>
                <a:cs typeface="Times New Roman"/>
              </a:rPr>
              <a:t> MS-</a:t>
            </a:r>
            <a:r>
              <a:rPr sz="1600" dirty="0">
                <a:latin typeface="Times New Roman"/>
                <a:cs typeface="Times New Roman"/>
              </a:rPr>
              <a:t>SQL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server</a:t>
            </a:r>
            <a:endParaRPr sz="1600" dirty="0">
              <a:latin typeface="Times New Roman"/>
              <a:cs typeface="Times New Roman"/>
            </a:endParaRPr>
          </a:p>
          <a:p>
            <a:pPr marL="245745" indent="-233045" algn="just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600" b="1" dirty="0">
                <a:latin typeface="Times New Roman"/>
                <a:cs typeface="Times New Roman"/>
              </a:rPr>
              <a:t>When</a:t>
            </a:r>
            <a:r>
              <a:rPr sz="1600" b="1" spc="1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45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use?</a:t>
            </a:r>
            <a:endParaRPr sz="1600" dirty="0">
              <a:latin typeface="Times New Roman"/>
              <a:cs typeface="Times New Roman"/>
            </a:endParaRPr>
          </a:p>
          <a:p>
            <a:pPr marL="245110" marR="295910" indent="-233045" algn="just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simply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converts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calls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 calls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database. Like for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JDBC- 	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have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install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libraries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every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system.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Another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disadvantage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is,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that 	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untrusted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applets.</a:t>
            </a:r>
            <a:endParaRPr sz="1600" dirty="0">
              <a:latin typeface="Times New Roman"/>
              <a:cs typeface="Times New Roman"/>
            </a:endParaRPr>
          </a:p>
          <a:p>
            <a:pPr marL="245745" indent="-233045" algn="just">
              <a:lnSpc>
                <a:spcPct val="100000"/>
              </a:lnSpc>
              <a:spcBef>
                <a:spcPts val="650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600" dirty="0">
                <a:latin typeface="Times New Roman"/>
                <a:cs typeface="Times New Roman"/>
              </a:rPr>
              <a:t>But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option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faster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than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ODBC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bridge,</a:t>
            </a:r>
            <a:r>
              <a:rPr sz="1600" spc="-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interact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database’s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client</a:t>
            </a:r>
            <a:endParaRPr sz="1600" dirty="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libraries.</a:t>
            </a:r>
            <a:endParaRPr sz="1600" dirty="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15874"/>
            <a:ext cx="38747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sz="2800"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Drivers</a:t>
            </a:r>
            <a:r>
              <a:rPr sz="2800"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  <a:endParaRPr sz="28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1625" y="979905"/>
            <a:ext cx="6076265" cy="22628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58445" y="595375"/>
            <a:ext cx="439928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10" dirty="0">
                <a:latin typeface="Times New Roman"/>
                <a:cs typeface="Times New Roman"/>
              </a:rPr>
              <a:t>All</a:t>
            </a:r>
            <a:r>
              <a:rPr sz="1850" b="1" spc="6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Java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JDBC</a:t>
            </a:r>
            <a:r>
              <a:rPr sz="1850" b="1" spc="-114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Net</a:t>
            </a:r>
            <a:r>
              <a:rPr sz="1850" b="1" spc="-20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Drivers</a:t>
            </a:r>
            <a:r>
              <a:rPr sz="1850" b="1" spc="-135" dirty="0">
                <a:latin typeface="Times New Roman"/>
                <a:cs typeface="Times New Roman"/>
              </a:rPr>
              <a:t> </a:t>
            </a:r>
            <a:r>
              <a:rPr sz="1850" b="1" spc="-50" dirty="0">
                <a:latin typeface="Times New Roman"/>
                <a:cs typeface="Times New Roman"/>
              </a:rPr>
              <a:t>(Type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III</a:t>
            </a:r>
            <a:r>
              <a:rPr sz="1850" b="1" spc="-5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Driver)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5" name="object 5"/>
          <p:cNvSpPr txBox="1"/>
          <p:nvPr/>
        </p:nvSpPr>
        <p:spPr>
          <a:xfrm>
            <a:off x="402907" y="3425507"/>
            <a:ext cx="8234045" cy="1247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spc="-25" dirty="0">
                <a:latin typeface="Times New Roman"/>
                <a:cs typeface="Times New Roman"/>
              </a:rPr>
              <a:t>Type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3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define</a:t>
            </a:r>
            <a:r>
              <a:rPr sz="1600" dirty="0">
                <a:latin typeface="Times New Roman"/>
                <a:cs typeface="Times New Roman"/>
              </a:rPr>
              <a:t> a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generic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protocol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interfaces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piece of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custom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middleware.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middleware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component</a:t>
            </a:r>
            <a:r>
              <a:rPr sz="1600" spc="4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might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other</a:t>
            </a:r>
            <a:r>
              <a:rPr sz="1600" spc="3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2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of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actual</a:t>
            </a:r>
            <a:r>
              <a:rPr sz="1600" spc="3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database </a:t>
            </a:r>
            <a:r>
              <a:rPr sz="1600" dirty="0">
                <a:latin typeface="Times New Roman"/>
                <a:cs typeface="Times New Roman"/>
              </a:rPr>
              <a:t>access.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BEA's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WebLogic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product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line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(formerly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known</a:t>
            </a:r>
            <a:r>
              <a:rPr sz="1600" spc="1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WebLogic</a:t>
            </a:r>
            <a:r>
              <a:rPr sz="1600" spc="2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Tengah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before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as </a:t>
            </a:r>
            <a:r>
              <a:rPr sz="1600" dirty="0">
                <a:latin typeface="Times New Roman"/>
                <a:cs typeface="Times New Roman"/>
              </a:rPr>
              <a:t>jdbcKona/T3)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example.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especially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useful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applet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deployment,</a:t>
            </a:r>
            <a:r>
              <a:rPr sz="1600" spc="1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since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</a:t>
            </a:r>
            <a:r>
              <a:rPr sz="1600" dirty="0">
                <a:latin typeface="Times New Roman"/>
                <a:cs typeface="Times New Roman"/>
              </a:rPr>
              <a:t>actual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classes</a:t>
            </a:r>
            <a:r>
              <a:rPr sz="1600" spc="-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written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entirely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downloaded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client on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fly.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323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JDBC</a:t>
            </a:r>
            <a:r>
              <a:rPr spc="-130" dirty="0"/>
              <a:t> </a:t>
            </a:r>
            <a:r>
              <a:rPr spc="-10" dirty="0"/>
              <a:t>Drivers</a:t>
            </a:r>
            <a:r>
              <a:rPr spc="-160" dirty="0"/>
              <a:t> </a:t>
            </a:r>
            <a:r>
              <a:rPr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73798"/>
            <a:ext cx="8700135" cy="372110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6379" indent="-233679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spc="-10" dirty="0">
                <a:latin typeface="Times New Roman"/>
                <a:cs typeface="Times New Roman"/>
              </a:rPr>
              <a:t>Characteristics</a:t>
            </a:r>
            <a:r>
              <a:rPr sz="1600" b="1" spc="80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of</a:t>
            </a:r>
            <a:r>
              <a:rPr sz="1600" b="1" spc="-55" dirty="0">
                <a:latin typeface="Times New Roman"/>
                <a:cs typeface="Times New Roman"/>
              </a:rPr>
              <a:t> </a:t>
            </a:r>
            <a:r>
              <a:rPr sz="1600" b="1" spc="-35" dirty="0">
                <a:latin typeface="Times New Roman"/>
                <a:cs typeface="Times New Roman"/>
              </a:rPr>
              <a:t>Type</a:t>
            </a:r>
            <a:r>
              <a:rPr sz="1600" b="1" spc="-6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III</a:t>
            </a:r>
            <a:r>
              <a:rPr sz="1600" b="1" spc="65" dirty="0">
                <a:latin typeface="Times New Roman"/>
                <a:cs typeface="Times New Roman"/>
              </a:rPr>
              <a:t> </a:t>
            </a:r>
            <a:r>
              <a:rPr sz="1600" b="1" spc="-10" dirty="0">
                <a:latin typeface="Times New Roman"/>
                <a:cs typeface="Times New Roman"/>
              </a:rPr>
              <a:t>driver:</a:t>
            </a:r>
            <a:endParaRPr sz="160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100%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Driver,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native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methods</a:t>
            </a:r>
            <a:endParaRPr sz="160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require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pre-</a:t>
            </a:r>
            <a:r>
              <a:rPr sz="1600" spc="-10" dirty="0">
                <a:latin typeface="Times New Roman"/>
                <a:cs typeface="Times New Roman"/>
              </a:rPr>
              <a:t>installation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on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client</a:t>
            </a:r>
            <a:endParaRPr sz="160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0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downloaded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configured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‘on-</a:t>
            </a:r>
            <a:r>
              <a:rPr sz="1600" spc="-35" dirty="0">
                <a:latin typeface="Times New Roman"/>
                <a:cs typeface="Times New Roman"/>
              </a:rPr>
              <a:t>the-</a:t>
            </a:r>
            <a:r>
              <a:rPr sz="1600" dirty="0">
                <a:latin typeface="Times New Roman"/>
                <a:cs typeface="Times New Roman"/>
              </a:rPr>
              <a:t>fly’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just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like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file</a:t>
            </a:r>
            <a:endParaRPr sz="160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Uses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proprietary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protocol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talking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middleware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server</a:t>
            </a:r>
            <a:endParaRPr sz="1600">
              <a:latin typeface="Times New Roman"/>
              <a:cs typeface="Times New Roman"/>
            </a:endParaRPr>
          </a:p>
          <a:p>
            <a:pPr marL="805815" lvl="1" indent="-335915">
              <a:lnSpc>
                <a:spcPct val="100000"/>
              </a:lnSpc>
              <a:spcBef>
                <a:spcPts val="405"/>
              </a:spcBef>
              <a:buClr>
                <a:srgbClr val="006FC0"/>
              </a:buClr>
              <a:buChar char="•"/>
              <a:tabLst>
                <a:tab pos="805815" algn="l"/>
              </a:tabLst>
            </a:pPr>
            <a:r>
              <a:rPr sz="1600" dirty="0">
                <a:latin typeface="Times New Roman"/>
                <a:cs typeface="Times New Roman"/>
              </a:rPr>
              <a:t>Middleware</a:t>
            </a:r>
            <a:r>
              <a:rPr sz="1600" spc="-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server</a:t>
            </a:r>
            <a:r>
              <a:rPr sz="1600" spc="-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converts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proprietary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DBMS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specific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calls</a:t>
            </a:r>
            <a:endParaRPr sz="16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484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b="1" dirty="0">
                <a:latin typeface="Times New Roman"/>
                <a:cs typeface="Times New Roman"/>
              </a:rPr>
              <a:t>When</a:t>
            </a:r>
            <a:r>
              <a:rPr sz="1600" b="1" spc="25" dirty="0">
                <a:latin typeface="Times New Roman"/>
                <a:cs typeface="Times New Roman"/>
              </a:rPr>
              <a:t> </a:t>
            </a:r>
            <a:r>
              <a:rPr sz="1600" b="1" dirty="0">
                <a:latin typeface="Times New Roman"/>
                <a:cs typeface="Times New Roman"/>
              </a:rPr>
              <a:t>to</a:t>
            </a:r>
            <a:r>
              <a:rPr sz="1600" b="1" spc="-50" dirty="0">
                <a:latin typeface="Times New Roman"/>
                <a:cs typeface="Times New Roman"/>
              </a:rPr>
              <a:t> </a:t>
            </a:r>
            <a:r>
              <a:rPr sz="1600" b="1" spc="-20" dirty="0">
                <a:latin typeface="Times New Roman"/>
                <a:cs typeface="Times New Roman"/>
              </a:rPr>
              <a:t>use?</a:t>
            </a:r>
            <a:endParaRPr sz="1600">
              <a:latin typeface="Times New Roman"/>
              <a:cs typeface="Times New Roman"/>
            </a:endParaRPr>
          </a:p>
          <a:p>
            <a:pPr marL="246379" indent="-233679">
              <a:lnSpc>
                <a:spcPct val="100000"/>
              </a:lnSpc>
              <a:spcBef>
                <a:spcPts val="56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3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III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3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adds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security,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caching,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connection</a:t>
            </a:r>
            <a:r>
              <a:rPr sz="1600" spc="2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control.</a:t>
            </a:r>
            <a:r>
              <a:rPr sz="1600" spc="2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As</a:t>
            </a:r>
            <a:r>
              <a:rPr sz="1600" spc="3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does</a:t>
            </a:r>
            <a:r>
              <a:rPr sz="1600" spc="3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not</a:t>
            </a:r>
            <a:r>
              <a:rPr sz="1600" spc="3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require</a:t>
            </a:r>
            <a:r>
              <a:rPr sz="1600" spc="3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204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pre-</a:t>
            </a:r>
            <a:endParaRPr sz="1600">
              <a:latin typeface="Times New Roman"/>
              <a:cs typeface="Times New Roman"/>
            </a:endParaRPr>
          </a:p>
          <a:p>
            <a:pPr marL="246379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Times New Roman"/>
                <a:cs typeface="Times New Roman"/>
              </a:rPr>
              <a:t>installation,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it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 used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web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applications.</a:t>
            </a:r>
            <a:endParaRPr sz="1600">
              <a:latin typeface="Times New Roman"/>
              <a:cs typeface="Times New Roman"/>
            </a:endParaRPr>
          </a:p>
          <a:p>
            <a:pPr marL="245110" marR="5080" indent="-233045" algn="just">
              <a:lnSpc>
                <a:spcPct val="100000"/>
              </a:lnSpc>
              <a:spcBef>
                <a:spcPts val="645"/>
              </a:spcBef>
              <a:buClr>
                <a:srgbClr val="006FC0"/>
              </a:buClr>
              <a:buFont typeface="Wingdings"/>
              <a:buChar char=""/>
              <a:tabLst>
                <a:tab pos="246379" algn="l"/>
              </a:tabLst>
            </a:pPr>
            <a:r>
              <a:rPr sz="1600" dirty="0">
                <a:latin typeface="Times New Roman"/>
                <a:cs typeface="Times New Roman"/>
              </a:rPr>
              <a:t>Here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converted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protocol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transmitted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server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which</a:t>
            </a:r>
            <a:r>
              <a:rPr sz="1600" spc="-3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makes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the 	</a:t>
            </a:r>
            <a:r>
              <a:rPr sz="1600" spc="-10" dirty="0">
                <a:latin typeface="Times New Roman"/>
                <a:cs typeface="Times New Roman"/>
              </a:rPr>
              <a:t>actual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calls.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This</a:t>
            </a:r>
            <a:r>
              <a:rPr sz="1600" spc="-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most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flexible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solution,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because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clients are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written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pure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-1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and 	</a:t>
            </a:r>
            <a:r>
              <a:rPr sz="1600" dirty="0">
                <a:latin typeface="Times New Roman"/>
                <a:cs typeface="Times New Roman"/>
              </a:rPr>
              <a:t>you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1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from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middle</a:t>
            </a:r>
            <a:r>
              <a:rPr sz="1600" spc="1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tier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without</a:t>
            </a:r>
            <a:r>
              <a:rPr sz="1600" spc="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changing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client.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1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are 	</a:t>
            </a:r>
            <a:r>
              <a:rPr sz="1600" dirty="0">
                <a:latin typeface="Times New Roman"/>
                <a:cs typeface="Times New Roman"/>
              </a:rPr>
              <a:t>developed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by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some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companies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be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quite</a:t>
            </a:r>
            <a:r>
              <a:rPr sz="1600" spc="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costly.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15874"/>
            <a:ext cx="3874770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JDBC</a:t>
            </a:r>
            <a:r>
              <a:rPr sz="2800"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Drivers</a:t>
            </a:r>
            <a:r>
              <a:rPr sz="2800" u="sng" spc="-35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 </a:t>
            </a:r>
            <a:r>
              <a:rPr sz="2800" u="sng" spc="-1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(Contd.).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35902" y="638174"/>
            <a:ext cx="489839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spc="-20" dirty="0">
                <a:latin typeface="Times New Roman"/>
                <a:cs typeface="Times New Roman"/>
              </a:rPr>
              <a:t>Native</a:t>
            </a:r>
            <a:r>
              <a:rPr sz="1850" b="1" spc="-100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Protocol</a:t>
            </a:r>
            <a:r>
              <a:rPr sz="1850" b="1" spc="-33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All</a:t>
            </a:r>
            <a:r>
              <a:rPr sz="1850" b="1" spc="-40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Java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Drivers</a:t>
            </a:r>
            <a:r>
              <a:rPr sz="1850" b="1" spc="-140" dirty="0">
                <a:latin typeface="Times New Roman"/>
                <a:cs typeface="Times New Roman"/>
              </a:rPr>
              <a:t> </a:t>
            </a:r>
            <a:r>
              <a:rPr sz="1850" b="1" spc="-30" dirty="0">
                <a:latin typeface="Times New Roman"/>
                <a:cs typeface="Times New Roman"/>
              </a:rPr>
              <a:t>(Type</a:t>
            </a:r>
            <a:r>
              <a:rPr sz="1850" b="1" spc="-2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IV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Driver)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5012" y="1137355"/>
            <a:ext cx="5574552" cy="25919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83857" y="3916997"/>
            <a:ext cx="8310245" cy="100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Type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4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written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entirely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Java.</a:t>
            </a:r>
            <a:r>
              <a:rPr sz="1600" spc="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They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understand</a:t>
            </a:r>
            <a:r>
              <a:rPr sz="1600" spc="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database-specific</a:t>
            </a:r>
            <a:r>
              <a:rPr sz="1600" spc="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networking</a:t>
            </a:r>
            <a:r>
              <a:rPr sz="1600" spc="7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protocols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2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can</a:t>
            </a:r>
            <a:r>
              <a:rPr sz="1600" spc="1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access</a:t>
            </a:r>
            <a:r>
              <a:rPr sz="1600" spc="26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database</a:t>
            </a:r>
            <a:r>
              <a:rPr sz="1600" spc="2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directly</a:t>
            </a:r>
            <a:r>
              <a:rPr sz="1600" spc="1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without</a:t>
            </a:r>
            <a:r>
              <a:rPr sz="1600" spc="1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any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additional</a:t>
            </a:r>
            <a:r>
              <a:rPr sz="1600" spc="2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software.</a:t>
            </a:r>
            <a:r>
              <a:rPr sz="1600" spc="229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These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drivers</a:t>
            </a:r>
            <a:r>
              <a:rPr sz="1600" spc="2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17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20" dirty="0">
                <a:latin typeface="Times New Roman"/>
                <a:cs typeface="Times New Roman"/>
              </a:rPr>
              <a:t>well </a:t>
            </a:r>
            <a:r>
              <a:rPr sz="1600" dirty="0">
                <a:latin typeface="Times New Roman"/>
                <a:cs typeface="Times New Roman"/>
              </a:rPr>
              <a:t>suited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for</a:t>
            </a:r>
            <a:r>
              <a:rPr sz="1600" spc="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applet</a:t>
            </a:r>
            <a:r>
              <a:rPr sz="1600" spc="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programming,</a:t>
            </a:r>
            <a:r>
              <a:rPr sz="1600" spc="8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provided</a:t>
            </a:r>
            <a:r>
              <a:rPr sz="1600" spc="8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that</a:t>
            </a:r>
            <a:r>
              <a:rPr sz="1600" spc="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Java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security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manager</a:t>
            </a:r>
            <a:r>
              <a:rPr sz="1600" spc="1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allows</a:t>
            </a:r>
            <a:r>
              <a:rPr sz="1600" spc="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TCP/IP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connections </a:t>
            </a:r>
            <a:r>
              <a:rPr sz="1600" dirty="0">
                <a:latin typeface="Times New Roman"/>
                <a:cs typeface="Times New Roman"/>
              </a:rPr>
              <a:t>to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 database</a:t>
            </a:r>
            <a:r>
              <a:rPr sz="1600" spc="-6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server.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648" y="41493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8437" rIns="0" bIns="0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95"/>
              </a:spcBef>
            </a:pPr>
            <a:r>
              <a:rPr spc="-25" dirty="0"/>
              <a:t>JDBC</a:t>
            </a:r>
            <a:r>
              <a:rPr spc="-130" dirty="0"/>
              <a:t> </a:t>
            </a:r>
            <a:r>
              <a:rPr spc="-10" dirty="0"/>
              <a:t>Drivers</a:t>
            </a:r>
            <a:r>
              <a:rPr spc="-160" dirty="0"/>
              <a:t> </a:t>
            </a:r>
            <a:r>
              <a:rPr spc="-10" dirty="0"/>
              <a:t>(Contd.).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212725" y="679957"/>
            <a:ext cx="8698230" cy="400621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245745" indent="-233045">
              <a:lnSpc>
                <a:spcPct val="100000"/>
              </a:lnSpc>
              <a:spcBef>
                <a:spcPts val="60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b="1" spc="-20" dirty="0">
                <a:latin typeface="Times New Roman"/>
                <a:cs typeface="Times New Roman"/>
              </a:rPr>
              <a:t>Characteristics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of</a:t>
            </a:r>
            <a:r>
              <a:rPr sz="1850" b="1" spc="-70" dirty="0">
                <a:latin typeface="Times New Roman"/>
                <a:cs typeface="Times New Roman"/>
              </a:rPr>
              <a:t> Type</a:t>
            </a:r>
            <a:r>
              <a:rPr sz="1850" b="1" spc="-30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IV</a:t>
            </a:r>
            <a:r>
              <a:rPr sz="1850" b="1" spc="-75" dirty="0">
                <a:latin typeface="Times New Roman"/>
                <a:cs typeface="Times New Roman"/>
              </a:rPr>
              <a:t> </a:t>
            </a:r>
            <a:r>
              <a:rPr sz="1850" b="1" spc="-10" dirty="0">
                <a:latin typeface="Times New Roman"/>
                <a:cs typeface="Times New Roman"/>
              </a:rPr>
              <a:t>driver:</a:t>
            </a:r>
            <a:endParaRPr sz="1850">
              <a:latin typeface="Times New Roman"/>
              <a:cs typeface="Times New Roman"/>
            </a:endParaRPr>
          </a:p>
          <a:p>
            <a:pPr marL="815975" lvl="1" indent="-346075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Char char="•"/>
              <a:tabLst>
                <a:tab pos="815975" algn="l"/>
              </a:tabLst>
            </a:pPr>
            <a:r>
              <a:rPr sz="1850" spc="-20" dirty="0">
                <a:latin typeface="Times New Roman"/>
                <a:cs typeface="Times New Roman"/>
              </a:rPr>
              <a:t>100%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Java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spc="-30" dirty="0">
                <a:latin typeface="Times New Roman"/>
                <a:cs typeface="Times New Roman"/>
              </a:rPr>
              <a:t>Driver,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native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methods</a:t>
            </a:r>
            <a:endParaRPr sz="1850">
              <a:latin typeface="Times New Roman"/>
              <a:cs typeface="Times New Roman"/>
            </a:endParaRPr>
          </a:p>
          <a:p>
            <a:pPr marL="815975" lvl="1" indent="-346075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Char char="•"/>
              <a:tabLst>
                <a:tab pos="815975" algn="l"/>
              </a:tabLst>
            </a:pPr>
            <a:r>
              <a:rPr sz="1850" spc="-30" dirty="0">
                <a:latin typeface="Times New Roman"/>
                <a:cs typeface="Times New Roman"/>
              </a:rPr>
              <a:t>Does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NOT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require</a:t>
            </a:r>
            <a:r>
              <a:rPr sz="1850" spc="-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pre-</a:t>
            </a:r>
            <a:r>
              <a:rPr sz="1850" spc="-25" dirty="0">
                <a:latin typeface="Times New Roman"/>
                <a:cs typeface="Times New Roman"/>
              </a:rPr>
              <a:t>installation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client</a:t>
            </a:r>
            <a:endParaRPr sz="1850">
              <a:latin typeface="Times New Roman"/>
              <a:cs typeface="Times New Roman"/>
            </a:endParaRPr>
          </a:p>
          <a:p>
            <a:pPr marL="815975" lvl="1" indent="-346075">
              <a:lnSpc>
                <a:spcPct val="100000"/>
              </a:lnSpc>
              <a:spcBef>
                <a:spcPts val="509"/>
              </a:spcBef>
              <a:buClr>
                <a:srgbClr val="006FC0"/>
              </a:buClr>
              <a:buChar char="•"/>
              <a:tabLst>
                <a:tab pos="815975" algn="l"/>
              </a:tabLst>
            </a:pPr>
            <a:r>
              <a:rPr sz="1850" spc="-30" dirty="0">
                <a:latin typeface="Times New Roman"/>
                <a:cs typeface="Times New Roman"/>
              </a:rPr>
              <a:t>Can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downloaded</a:t>
            </a:r>
            <a:r>
              <a:rPr sz="1850" spc="-1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configured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‘on-</a:t>
            </a:r>
            <a:r>
              <a:rPr sz="1850" spc="-30" dirty="0">
                <a:latin typeface="Times New Roman"/>
                <a:cs typeface="Times New Roman"/>
              </a:rPr>
              <a:t>the-</a:t>
            </a:r>
            <a:r>
              <a:rPr sz="1850" spc="-10" dirty="0">
                <a:latin typeface="Times New Roman"/>
                <a:cs typeface="Times New Roman"/>
              </a:rPr>
              <a:t>fly’just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like any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Java</a:t>
            </a:r>
            <a:r>
              <a:rPr sz="1850" spc="-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class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file</a:t>
            </a:r>
            <a:endParaRPr sz="1850">
              <a:latin typeface="Times New Roman"/>
              <a:cs typeface="Times New Roman"/>
            </a:endParaRPr>
          </a:p>
          <a:p>
            <a:pPr marL="815975" lvl="1" indent="-346075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Char char="•"/>
              <a:tabLst>
                <a:tab pos="815975" algn="l"/>
              </a:tabLst>
            </a:pPr>
            <a:r>
              <a:rPr sz="1850" spc="-30" dirty="0">
                <a:latin typeface="Times New Roman"/>
                <a:cs typeface="Times New Roman"/>
              </a:rPr>
              <a:t>Unlike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Type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III</a:t>
            </a:r>
            <a:r>
              <a:rPr sz="1850" spc="-4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driver,</a:t>
            </a:r>
            <a:r>
              <a:rPr sz="1850" spc="-114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talks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65" dirty="0">
                <a:latin typeface="Times New Roman"/>
                <a:cs typeface="Times New Roman"/>
              </a:rPr>
              <a:t>DIRECTLY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with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35" dirty="0">
                <a:latin typeface="Times New Roman"/>
                <a:cs typeface="Times New Roman"/>
              </a:rPr>
              <a:t>DBMS</a:t>
            </a:r>
            <a:r>
              <a:rPr sz="1850" spc="1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server</a:t>
            </a:r>
            <a:endParaRPr sz="1850">
              <a:latin typeface="Times New Roman"/>
              <a:cs typeface="Times New Roman"/>
            </a:endParaRPr>
          </a:p>
          <a:p>
            <a:pPr marL="815340" lvl="1" indent="-345440" algn="just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Char char="•"/>
              <a:tabLst>
                <a:tab pos="815340" algn="l"/>
              </a:tabLst>
            </a:pPr>
            <a:r>
              <a:rPr sz="1850" spc="-10" dirty="0">
                <a:latin typeface="Times New Roman"/>
                <a:cs typeface="Times New Roman"/>
              </a:rPr>
              <a:t>Converts</a:t>
            </a:r>
            <a:r>
              <a:rPr sz="1850" spc="-125" dirty="0">
                <a:latin typeface="Times New Roman"/>
                <a:cs typeface="Times New Roman"/>
              </a:rPr>
              <a:t> </a:t>
            </a:r>
            <a:r>
              <a:rPr sz="1850" spc="-60" dirty="0">
                <a:latin typeface="Times New Roman"/>
                <a:cs typeface="Times New Roman"/>
              </a:rPr>
              <a:t>JDBC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calls</a:t>
            </a:r>
            <a:r>
              <a:rPr sz="1850" spc="3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directly</a:t>
            </a:r>
            <a:r>
              <a:rPr sz="1850" spc="-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database</a:t>
            </a:r>
            <a:r>
              <a:rPr sz="1850" spc="-6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specific</a:t>
            </a:r>
            <a:r>
              <a:rPr sz="1850" spc="-15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calls</a:t>
            </a:r>
            <a:endParaRPr sz="1850">
              <a:latin typeface="Times New Roman"/>
              <a:cs typeface="Times New Roman"/>
            </a:endParaRPr>
          </a:p>
          <a:p>
            <a:pPr marL="245745" indent="-233045" algn="just">
              <a:lnSpc>
                <a:spcPct val="100000"/>
              </a:lnSpc>
              <a:spcBef>
                <a:spcPts val="58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b="1" spc="-20" dirty="0">
                <a:latin typeface="Times New Roman"/>
                <a:cs typeface="Times New Roman"/>
              </a:rPr>
              <a:t>When</a:t>
            </a:r>
            <a:r>
              <a:rPr sz="1850" b="1" spc="-105" dirty="0">
                <a:latin typeface="Times New Roman"/>
                <a:cs typeface="Times New Roman"/>
              </a:rPr>
              <a:t> </a:t>
            </a:r>
            <a:r>
              <a:rPr sz="1850" b="1" dirty="0">
                <a:latin typeface="Times New Roman"/>
                <a:cs typeface="Times New Roman"/>
              </a:rPr>
              <a:t>to</a:t>
            </a:r>
            <a:r>
              <a:rPr sz="1850" b="1" spc="-85" dirty="0">
                <a:latin typeface="Times New Roman"/>
                <a:cs typeface="Times New Roman"/>
              </a:rPr>
              <a:t> </a:t>
            </a:r>
            <a:r>
              <a:rPr sz="1850" b="1" spc="-20" dirty="0">
                <a:latin typeface="Times New Roman"/>
                <a:cs typeface="Times New Roman"/>
              </a:rPr>
              <a:t>use?</a:t>
            </a:r>
            <a:endParaRPr sz="1850">
              <a:latin typeface="Times New Roman"/>
              <a:cs typeface="Times New Roman"/>
            </a:endParaRPr>
          </a:p>
          <a:p>
            <a:pPr marL="245745" indent="-233045" algn="just">
              <a:lnSpc>
                <a:spcPct val="100000"/>
              </a:lnSpc>
              <a:spcBef>
                <a:spcPts val="505"/>
              </a:spcBef>
              <a:buClr>
                <a:srgbClr val="006FC0"/>
              </a:buClr>
              <a:buFont typeface="Wingdings"/>
              <a:buChar char=""/>
              <a:tabLst>
                <a:tab pos="245745" algn="l"/>
              </a:tabLst>
            </a:pPr>
            <a:r>
              <a:rPr sz="1850" spc="-60" dirty="0">
                <a:latin typeface="Times New Roman"/>
                <a:cs typeface="Times New Roman"/>
              </a:rPr>
              <a:t>Type</a:t>
            </a:r>
            <a:r>
              <a:rPr sz="1850" spc="-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IV</a:t>
            </a:r>
            <a:r>
              <a:rPr sz="1850" spc="-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drivers</a:t>
            </a:r>
            <a:r>
              <a:rPr sz="1850" spc="-12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need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</a:t>
            </a:r>
            <a:r>
              <a:rPr sz="1850" spc="-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pre-</a:t>
            </a:r>
            <a:r>
              <a:rPr sz="1850" spc="-25" dirty="0">
                <a:latin typeface="Times New Roman"/>
                <a:cs typeface="Times New Roman"/>
              </a:rPr>
              <a:t>installation</a:t>
            </a:r>
            <a:r>
              <a:rPr sz="1850" spc="-6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and</a:t>
            </a:r>
            <a:r>
              <a:rPr sz="1850" spc="-7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are</a:t>
            </a:r>
            <a:r>
              <a:rPr sz="1850" spc="-13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hence,</a:t>
            </a:r>
            <a:r>
              <a:rPr sz="1850" spc="-9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truly</a:t>
            </a:r>
            <a:r>
              <a:rPr sz="1850" spc="-7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portable.</a:t>
            </a:r>
            <a:endParaRPr sz="1850">
              <a:latin typeface="Times New Roman"/>
              <a:cs typeface="Times New Roman"/>
            </a:endParaRPr>
          </a:p>
          <a:p>
            <a:pPr marL="753745" marR="5080" lvl="1" indent="-283845" algn="just">
              <a:lnSpc>
                <a:spcPct val="97500"/>
              </a:lnSpc>
              <a:spcBef>
                <a:spcPts val="640"/>
              </a:spcBef>
              <a:buClr>
                <a:srgbClr val="006FC0"/>
              </a:buClr>
              <a:buFont typeface="Arial MT"/>
              <a:buChar char="•"/>
              <a:tabLst>
                <a:tab pos="755015" algn="l"/>
              </a:tabLst>
            </a:pP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this</a:t>
            </a:r>
            <a:r>
              <a:rPr sz="1850" spc="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case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JDBC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calls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directly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converted</a:t>
            </a:r>
            <a:r>
              <a:rPr sz="1850" spc="16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into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network</a:t>
            </a:r>
            <a:r>
              <a:rPr sz="1850" spc="9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protocol</a:t>
            </a:r>
            <a:r>
              <a:rPr sz="1850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that</a:t>
            </a:r>
            <a:r>
              <a:rPr sz="1850" spc="100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is 	</a:t>
            </a:r>
            <a:r>
              <a:rPr sz="1850" dirty="0">
                <a:latin typeface="Times New Roman"/>
                <a:cs typeface="Times New Roman"/>
              </a:rPr>
              <a:t>used</a:t>
            </a:r>
            <a:r>
              <a:rPr sz="1850" spc="3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by</a:t>
            </a:r>
            <a:r>
              <a:rPr sz="1850" spc="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</a:t>
            </a:r>
            <a:r>
              <a:rPr sz="1850" spc="30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specific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database.</a:t>
            </a:r>
            <a:r>
              <a:rPr sz="1850" spc="2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This</a:t>
            </a:r>
            <a:r>
              <a:rPr sz="1850" spc="3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3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2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fastest</a:t>
            </a:r>
            <a:r>
              <a:rPr sz="1850" spc="2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alternative,</a:t>
            </a:r>
            <a:r>
              <a:rPr sz="1850" spc="28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because</a:t>
            </a:r>
            <a:r>
              <a:rPr sz="1850" spc="38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there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are</a:t>
            </a:r>
            <a:r>
              <a:rPr sz="1850" spc="305" dirty="0">
                <a:latin typeface="Times New Roman"/>
                <a:cs typeface="Times New Roman"/>
              </a:rPr>
              <a:t> </a:t>
            </a:r>
            <a:r>
              <a:rPr sz="1850" spc="-25" dirty="0">
                <a:latin typeface="Times New Roman"/>
                <a:cs typeface="Times New Roman"/>
              </a:rPr>
              <a:t>no 	</a:t>
            </a:r>
            <a:r>
              <a:rPr sz="1850" dirty="0">
                <a:latin typeface="Times New Roman"/>
                <a:cs typeface="Times New Roman"/>
              </a:rPr>
              <a:t>additional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layers</a:t>
            </a:r>
            <a:r>
              <a:rPr sz="1850" spc="17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included</a:t>
            </a:r>
            <a:r>
              <a:rPr sz="1850" spc="2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hence</a:t>
            </a:r>
            <a:r>
              <a:rPr sz="1850" spc="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most</a:t>
            </a:r>
            <a:r>
              <a:rPr sz="1850" spc="14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preferred</a:t>
            </a:r>
            <a:r>
              <a:rPr sz="1850" spc="2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in</a:t>
            </a:r>
            <a:r>
              <a:rPr sz="1850" spc="20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many</a:t>
            </a:r>
            <a:r>
              <a:rPr sz="1850" spc="7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of</a:t>
            </a:r>
            <a:r>
              <a:rPr sz="1850" spc="19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the</a:t>
            </a:r>
            <a:r>
              <a:rPr sz="1850" spc="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J2EE</a:t>
            </a:r>
            <a:r>
              <a:rPr sz="1850" spc="16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or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Times New Roman"/>
                <a:cs typeface="Times New Roman"/>
              </a:rPr>
              <a:t>web- 	</a:t>
            </a:r>
            <a:r>
              <a:rPr sz="1850" spc="-10" dirty="0">
                <a:latin typeface="Times New Roman"/>
                <a:cs typeface="Times New Roman"/>
              </a:rPr>
              <a:t>based</a:t>
            </a:r>
            <a:r>
              <a:rPr sz="1850" spc="-10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applications.</a:t>
            </a:r>
            <a:endParaRPr sz="1850">
              <a:latin typeface="Times New Roman"/>
              <a:cs typeface="Times New Roman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15874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445" y="229615"/>
            <a:ext cx="810895" cy="428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sng" spc="-30" dirty="0">
                <a:solidFill>
                  <a:srgbClr val="0D356F"/>
                </a:solidFill>
                <a:uFill>
                  <a:solidFill>
                    <a:srgbClr val="0D356F"/>
                  </a:solidFill>
                </a:uFill>
              </a:rPr>
              <a:t>QUIZ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6514" y="731964"/>
            <a:ext cx="5890260" cy="251968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745"/>
              </a:spcBef>
              <a:buClr>
                <a:srgbClr val="00AFEF"/>
              </a:buClr>
              <a:buAutoNum type="arabicPeriod"/>
              <a:tabLst>
                <a:tab pos="358140" algn="l"/>
              </a:tabLst>
            </a:pP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30" dirty="0">
                <a:latin typeface="Times New Roman"/>
                <a:cs typeface="Times New Roman"/>
              </a:rPr>
              <a:t> </a:t>
            </a:r>
            <a:r>
              <a:rPr sz="1600" spc="-30" dirty="0">
                <a:latin typeface="Times New Roman"/>
                <a:cs typeface="Times New Roman"/>
              </a:rPr>
              <a:t>Type </a:t>
            </a:r>
            <a:r>
              <a:rPr sz="1600" dirty="0">
                <a:latin typeface="Times New Roman"/>
                <a:cs typeface="Times New Roman"/>
              </a:rPr>
              <a:t>I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driver</a:t>
            </a:r>
            <a:r>
              <a:rPr sz="1600" spc="-9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is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also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known</a:t>
            </a:r>
            <a:r>
              <a:rPr sz="1600" spc="35" dirty="0">
                <a:latin typeface="Times New Roman"/>
                <a:cs typeface="Times New Roman"/>
              </a:rPr>
              <a:t> </a:t>
            </a:r>
            <a:r>
              <a:rPr sz="1600" spc="-25" dirty="0">
                <a:latin typeface="Times New Roman"/>
                <a:cs typeface="Times New Roman"/>
              </a:rPr>
              <a:t>as</a:t>
            </a:r>
            <a:endParaRPr sz="160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64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600" dirty="0">
                <a:latin typeface="Times New Roman"/>
                <a:cs typeface="Times New Roman"/>
              </a:rPr>
              <a:t>Net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</a:t>
            </a:r>
            <a:endParaRPr sz="160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6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600" dirty="0">
                <a:latin typeface="Times New Roman"/>
                <a:cs typeface="Times New Roman"/>
              </a:rPr>
              <a:t>Simple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</a:t>
            </a:r>
            <a:endParaRPr sz="160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64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600" spc="-25" dirty="0">
                <a:latin typeface="Times New Roman"/>
                <a:cs typeface="Times New Roman"/>
              </a:rPr>
              <a:t>JDBC-</a:t>
            </a:r>
            <a:r>
              <a:rPr sz="1600" dirty="0">
                <a:latin typeface="Times New Roman"/>
                <a:cs typeface="Times New Roman"/>
              </a:rPr>
              <a:t>ODBC</a:t>
            </a:r>
            <a:r>
              <a:rPr sz="1600" spc="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</a:t>
            </a:r>
            <a:endParaRPr sz="1600">
              <a:latin typeface="Times New Roman"/>
              <a:cs typeface="Times New Roman"/>
            </a:endParaRPr>
          </a:p>
          <a:p>
            <a:pPr marL="744220" lvl="1" indent="-345440">
              <a:lnSpc>
                <a:spcPct val="100000"/>
              </a:lnSpc>
              <a:spcBef>
                <a:spcPts val="565"/>
              </a:spcBef>
              <a:buClr>
                <a:srgbClr val="00AFEF"/>
              </a:buClr>
              <a:buAutoNum type="alphaLcParenR"/>
              <a:tabLst>
                <a:tab pos="744220" algn="l"/>
              </a:tabLst>
            </a:pPr>
            <a:r>
              <a:rPr sz="1600" spc="-25" dirty="0">
                <a:latin typeface="Times New Roman"/>
                <a:cs typeface="Times New Roman"/>
              </a:rPr>
              <a:t>JDBC-</a:t>
            </a:r>
            <a:r>
              <a:rPr sz="1600" dirty="0">
                <a:latin typeface="Times New Roman"/>
                <a:cs typeface="Times New Roman"/>
              </a:rPr>
              <a:t>Oracle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Bridge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Driver</a:t>
            </a:r>
            <a:endParaRPr sz="1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Clr>
                <a:srgbClr val="00AFEF"/>
              </a:buClr>
              <a:buFont typeface="Times New Roman"/>
              <a:buAutoNum type="alphaLcParenR"/>
            </a:pPr>
            <a:endParaRPr sz="1600">
              <a:latin typeface="Times New Roman"/>
              <a:cs typeface="Times New Roman"/>
            </a:endParaRPr>
          </a:p>
          <a:p>
            <a:pPr marL="12700" marR="5080" indent="243204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255904" algn="l"/>
              </a:tabLst>
            </a:pPr>
            <a:r>
              <a:rPr sz="1600" dirty="0">
                <a:latin typeface="Times New Roman"/>
                <a:cs typeface="Times New Roman"/>
              </a:rPr>
              <a:t>All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classes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and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interfaces</a:t>
            </a:r>
            <a:r>
              <a:rPr sz="1600" spc="2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used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jdbc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programs</a:t>
            </a:r>
            <a:r>
              <a:rPr sz="1600" spc="9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are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found</a:t>
            </a:r>
            <a:r>
              <a:rPr sz="1600" spc="150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within </a:t>
            </a:r>
            <a:r>
              <a:rPr sz="1600" dirty="0">
                <a:latin typeface="Times New Roman"/>
                <a:cs typeface="Times New Roman"/>
              </a:rPr>
              <a:t>the</a:t>
            </a:r>
            <a:r>
              <a:rPr sz="1600" spc="1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inbuilt</a:t>
            </a:r>
            <a:r>
              <a:rPr sz="1600" spc="-8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package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2912" y="3236404"/>
            <a:ext cx="1193800" cy="129794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665"/>
              </a:spcBef>
              <a:buClr>
                <a:srgbClr val="00AFEF"/>
              </a:buClr>
              <a:buAutoNum type="alphaLcParenR"/>
              <a:tabLst>
                <a:tab pos="358140" algn="l"/>
              </a:tabLst>
            </a:pPr>
            <a:r>
              <a:rPr sz="1600" spc="-10" dirty="0">
                <a:latin typeface="Times New Roman"/>
                <a:cs typeface="Times New Roman"/>
              </a:rPr>
              <a:t>java.sql</a:t>
            </a:r>
            <a:endParaRPr sz="16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565"/>
              </a:spcBef>
              <a:buClr>
                <a:srgbClr val="00AFEF"/>
              </a:buClr>
              <a:buAutoNum type="alphaLcParenR"/>
              <a:tabLst>
                <a:tab pos="358140" algn="l"/>
              </a:tabLst>
            </a:pPr>
            <a:r>
              <a:rPr sz="1600" spc="-10" dirty="0">
                <a:latin typeface="Times New Roman"/>
                <a:cs typeface="Times New Roman"/>
              </a:rPr>
              <a:t>java.net</a:t>
            </a:r>
            <a:endParaRPr sz="16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645"/>
              </a:spcBef>
              <a:buClr>
                <a:srgbClr val="00AFEF"/>
              </a:buClr>
              <a:buAutoNum type="alphaLcParenR"/>
              <a:tabLst>
                <a:tab pos="358140" algn="l"/>
              </a:tabLst>
            </a:pPr>
            <a:r>
              <a:rPr sz="1600" spc="-10" dirty="0">
                <a:latin typeface="Times New Roman"/>
                <a:cs typeface="Times New Roman"/>
              </a:rPr>
              <a:t>java.jdbc</a:t>
            </a:r>
            <a:endParaRPr sz="1600">
              <a:latin typeface="Times New Roman"/>
              <a:cs typeface="Times New Roman"/>
            </a:endParaRPr>
          </a:p>
          <a:p>
            <a:pPr marL="358140" indent="-345440">
              <a:lnSpc>
                <a:spcPct val="100000"/>
              </a:lnSpc>
              <a:spcBef>
                <a:spcPts val="560"/>
              </a:spcBef>
              <a:buClr>
                <a:srgbClr val="00AFEF"/>
              </a:buClr>
              <a:buAutoNum type="alphaLcParenR"/>
              <a:tabLst>
                <a:tab pos="358140" algn="l"/>
              </a:tabLst>
            </a:pPr>
            <a:r>
              <a:rPr sz="1600" spc="-10" dirty="0">
                <a:latin typeface="Times New Roman"/>
                <a:cs typeface="Times New Roman"/>
              </a:rPr>
              <a:t>java.dbms</a:t>
            </a:r>
            <a:endParaRPr sz="16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0329" y="3484616"/>
            <a:ext cx="2626566" cy="126529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227954" y="3523297"/>
            <a:ext cx="1026160" cy="855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2190"/>
              </a:lnSpc>
              <a:spcBef>
                <a:spcPts val="90"/>
              </a:spcBef>
            </a:pPr>
            <a:r>
              <a:rPr sz="1850" spc="-30" dirty="0">
                <a:latin typeface="Arial MT"/>
                <a:cs typeface="Arial MT"/>
              </a:rPr>
              <a:t>Answers</a:t>
            </a:r>
            <a:r>
              <a:rPr sz="1850" spc="-90" dirty="0">
                <a:latin typeface="Arial MT"/>
                <a:cs typeface="Arial MT"/>
              </a:rPr>
              <a:t> </a:t>
            </a:r>
            <a:r>
              <a:rPr sz="1850" spc="-50" dirty="0">
                <a:latin typeface="Arial MT"/>
                <a:cs typeface="Arial MT"/>
              </a:rPr>
              <a:t>:</a:t>
            </a:r>
            <a:endParaRPr sz="1850">
              <a:latin typeface="Arial MT"/>
              <a:cs typeface="Arial MT"/>
            </a:endParaRPr>
          </a:p>
          <a:p>
            <a:pPr marL="215900" indent="-211454">
              <a:lnSpc>
                <a:spcPts val="2165"/>
              </a:lnSpc>
              <a:buSzPct val="94594"/>
              <a:buAutoNum type="arabicParenR"/>
              <a:tabLst>
                <a:tab pos="215900" algn="l"/>
              </a:tabLst>
            </a:pPr>
            <a:r>
              <a:rPr sz="1850" spc="-25" dirty="0">
                <a:latin typeface="Arial MT"/>
                <a:cs typeface="Arial MT"/>
              </a:rPr>
              <a:t>c.</a:t>
            </a:r>
            <a:endParaRPr sz="1850">
              <a:latin typeface="Arial MT"/>
              <a:cs typeface="Arial MT"/>
            </a:endParaRPr>
          </a:p>
          <a:p>
            <a:pPr marL="215265" indent="-210820">
              <a:lnSpc>
                <a:spcPts val="2190"/>
              </a:lnSpc>
              <a:buSzPct val="94594"/>
              <a:buAutoNum type="arabicParenR"/>
              <a:tabLst>
                <a:tab pos="215265" algn="l"/>
              </a:tabLst>
            </a:pPr>
            <a:r>
              <a:rPr sz="1850" spc="-25" dirty="0">
                <a:latin typeface="Arial MT"/>
                <a:cs typeface="Arial MT"/>
              </a:rPr>
              <a:t>a.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997" y="31889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67880" y="4947919"/>
            <a:ext cx="1976120" cy="10160"/>
          </a:xfrm>
          <a:custGeom>
            <a:avLst/>
            <a:gdLst/>
            <a:ahLst/>
            <a:cxnLst/>
            <a:rect l="l" t="t" r="r" b="b"/>
            <a:pathLst>
              <a:path w="1976120" h="10160">
                <a:moveTo>
                  <a:pt x="1976120" y="0"/>
                </a:moveTo>
                <a:lnTo>
                  <a:pt x="0" y="0"/>
                </a:lnTo>
                <a:lnTo>
                  <a:pt x="0" y="10160"/>
                </a:lnTo>
                <a:lnTo>
                  <a:pt x="1976120" y="10160"/>
                </a:lnTo>
                <a:lnTo>
                  <a:pt x="1976120" y="0"/>
                </a:lnTo>
                <a:close/>
              </a:path>
            </a:pathLst>
          </a:custGeom>
          <a:solidFill>
            <a:srgbClr val="4D4E5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197229" y="1962150"/>
            <a:ext cx="175260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u="sng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Thank</a:t>
            </a:r>
            <a:r>
              <a:rPr sz="2700" u="sng" spc="-12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 </a:t>
            </a:r>
            <a:r>
              <a:rPr sz="2700" u="sng" spc="-25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</a:rPr>
              <a:t>You</a:t>
            </a:r>
            <a:endParaRPr sz="270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0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8323" y="0"/>
            <a:ext cx="688908" cy="688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Words>1006</Words>
  <Application>Microsoft Office PowerPoint</Application>
  <PresentationFormat>On-screen Show (16:9)</PresentationFormat>
  <Paragraphs>157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Arial MT</vt:lpstr>
      <vt:lpstr>Calibri</vt:lpstr>
      <vt:lpstr>Times New Roman</vt:lpstr>
      <vt:lpstr>Wingdings</vt:lpstr>
      <vt:lpstr>Office Theme</vt:lpstr>
      <vt:lpstr>Introduction to JDBC</vt:lpstr>
      <vt:lpstr>Introduction to JDBC</vt:lpstr>
      <vt:lpstr>Introduction to JDBC</vt:lpstr>
      <vt:lpstr>Architecture and Querying with JDBC</vt:lpstr>
      <vt:lpstr>Architecture and Querying with JDBC</vt:lpstr>
      <vt:lpstr>Stage 1: Connect</vt:lpstr>
      <vt:lpstr>Connect: A JDBC Driver</vt:lpstr>
      <vt:lpstr>Connect: A JDBC Driver</vt:lpstr>
      <vt:lpstr>A JDBC Driver</vt:lpstr>
      <vt:lpstr>JDBC Driver (Contd.).</vt:lpstr>
      <vt:lpstr>JDBC Driver (Contd.).</vt:lpstr>
      <vt:lpstr>JDBC Driver (Contd.).</vt:lpstr>
      <vt:lpstr>JDBC Driver (Contd.).</vt:lpstr>
      <vt:lpstr>JDBC Drivers (Contd.).</vt:lpstr>
      <vt:lpstr>JDBC Drivers (Contd.).</vt:lpstr>
      <vt:lpstr>JDBC Drivers (Contd.).</vt:lpstr>
      <vt:lpstr>JDBC Drivers (Contd.).</vt:lpstr>
      <vt:lpstr>QUIZ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HTML</dc:title>
  <dc:creator>Wipro</dc:creator>
  <cp:lastModifiedBy>staff</cp:lastModifiedBy>
  <cp:revision>4</cp:revision>
  <dcterms:created xsi:type="dcterms:W3CDTF">2024-09-20T04:56:53Z</dcterms:created>
  <dcterms:modified xsi:type="dcterms:W3CDTF">2024-09-20T05:29:32Z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2019-01-04T00:00:00Z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2024-09-20T00:00:00Z</vt:filetime>
  </property>
  <property fmtid="{D5CDD505-2E9C-101B-9397-08002B2CF9AE}" pid="5" name="Producer">
    <vt:lpwstr>Microsoft® PowerPoint® 2016</vt:lpwstr>
  </property>
</Properties>
</file>